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AqkTi+afy5xmTCNsv9134oBCq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C9B091-4C68-48B3-80CB-482A996AAFFE}">
  <a:tblStyle styleId="{22C9B091-4C68-48B3-80CB-482A996AAF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27c95869_0_5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a27c95869_0_5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a27c95869_0_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ca27c95869_0_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ca27c95869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a27c95869_0_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ca27c95869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ca27c95869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ca27c95869_0_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ca27c95869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a27c95869_0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ca27c95869_0_1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ca27c95869_0_1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ca27c95869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a27c95869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ca27c95869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a27c95869_0_2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ca27c95869_0_2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ca27c95869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a27c95869_0_27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ca27c95869_0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a27c95869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ca27c95869_0_30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ca27c95869_0_30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ca27c95869_0_30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3ca27c95869_0_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a27c95869_0_3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ca27c95869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a27c95869_0_39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ca27c95869_0_39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ca27c95869_0_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a27c95869_0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a27c95869_0_45"/>
          <p:cNvSpPr txBox="1"/>
          <p:nvPr>
            <p:ph type="title"/>
          </p:nvPr>
        </p:nvSpPr>
        <p:spPr>
          <a:xfrm>
            <a:off x="1153800" y="365040"/>
            <a:ext cx="102000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g3ca27c95869_0_45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ca27c95869_0_45"/>
          <p:cNvSpPr txBox="1"/>
          <p:nvPr>
            <p:ph idx="11" type="ftr"/>
          </p:nvPr>
        </p:nvSpPr>
        <p:spPr>
          <a:xfrm>
            <a:off x="4038480" y="635652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ca27c95869_0_45"/>
          <p:cNvSpPr txBox="1"/>
          <p:nvPr>
            <p:ph idx="12" type="sldNum"/>
          </p:nvPr>
        </p:nvSpPr>
        <p:spPr>
          <a:xfrm>
            <a:off x="8610480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ca27c95869_0_45"/>
          <p:cNvSpPr txBox="1"/>
          <p:nvPr>
            <p:ph idx="10" type="dt"/>
          </p:nvPr>
        </p:nvSpPr>
        <p:spPr>
          <a:xfrm>
            <a:off x="838080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ca27c95869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ca27c95869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ca27c95869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27c95869_0_5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Основы CSS</a:t>
            </a:r>
            <a:endParaRPr/>
          </a:p>
        </p:txBody>
      </p:sp>
      <p:sp>
        <p:nvSpPr>
          <p:cNvPr id="61" name="Google Shape;61;g3ca27c95869_0_5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Введение в CSS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>
            <p:ph idx="4294967295" type="body"/>
          </p:nvPr>
        </p:nvSpPr>
        <p:spPr>
          <a:xfrm>
            <a:off x="678600" y="1825560"/>
            <a:ext cx="1092312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CSS (Cascading Style Sheets) каскадные таблицы стилей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формальный язык описания внешнего вида документа, написанного с использованием языка разметки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язык стилей, определяющий отображение HTML-документов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работает со шрифтами, цветом, полями, строками, высотой, шириной, фоновыми изображениями, позиционированием элементов и многими другим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История появления СSS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73040" y="1728360"/>
            <a:ext cx="11413800" cy="264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начало 1990 - браузеры обладали собственными стилями для отображения HTML-страниц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1994 - Хокон Виум Ли предложил использовать для HTML-страниц концепцию «каскадных таблиц стилей»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середина 1990-х - технологии CSS поддержана Консорциумом Всемирной Паутины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Преимущества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>
            <p:ph idx="4294967295" type="body"/>
          </p:nvPr>
        </p:nvSpPr>
        <p:spPr>
          <a:xfrm>
            <a:off x="1609560" y="1825560"/>
            <a:ext cx="999216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расширенные способы оформления элементов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единое стилевое оформление множества документов (разделение кода от оформления)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разное оформление для разных устройств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ускорение загрузки сайта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централизованное хранение описание оформления элементов страниц</a:t>
            </a:r>
            <a:endParaRPr/>
          </a:p>
        </p:txBody>
      </p:sp>
      <p:sp>
        <p:nvSpPr>
          <p:cNvPr id="82" name="Google Shape;82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Синтаксис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>
            <p:ph idx="4294967295" type="body"/>
          </p:nvPr>
        </p:nvSpPr>
        <p:spPr>
          <a:xfrm>
            <a:off x="1091880" y="1600200"/>
            <a:ext cx="10509840" cy="4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Селектор определяет элементы страницы, для которых задается стиль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59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селектор [, селекторы]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		{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			свойство: значение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Стиль описывается набором свойств и их значений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body {background: #ffc910}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(!) CSS не чувствителен к регистру, переносу строк, пробелам и символам табуляции, поэтому форма записи зависит от желания разработчика</a:t>
            </a:r>
            <a:endParaRPr/>
          </a:p>
        </p:txBody>
      </p:sp>
      <p:sp>
        <p:nvSpPr>
          <p:cNvPr id="89" name="Google Shape;89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/>
        </p:nvSpPr>
        <p:spPr>
          <a:xfrm>
            <a:off x="1153800" y="37080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Добавление стилей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1511640" y="1426320"/>
            <a:ext cx="999216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Файл стилей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Описание селекторов и их значений располагается в отдельном файле обычно с расширением css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Связывание html-страницы с файлом со стилями происходит посредством тега </a:t>
            </a: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&lt;link&gt;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разделе </a:t>
            </a: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6"/>
          <p:cNvGraphicFramePr/>
          <p:nvPr/>
        </p:nvGraphicFramePr>
        <p:xfrm>
          <a:off x="1973160" y="383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{22C9B091-4C68-48B3-80CB-482A996AAFFE}</a:tableStyleId>
              </a:tblPr>
              <a:tblGrid>
                <a:gridCol w="4372200"/>
                <a:gridCol w="4372200"/>
              </a:tblGrid>
              <a:tr h="240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&lt;html&gt;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&lt;head&gt;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&lt;link rel="stylesheet"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href="mystyle.css"&gt;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&lt;title&gt;Style Test&lt;/title&gt;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&lt;/head&gt;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&lt;/html&gt;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h1{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color: gray;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font-size: 200%;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p{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padding-left: 20px;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color: red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5597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2F559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Добавление стилей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>
            <p:ph idx="4294967295" type="body"/>
          </p:nvPr>
        </p:nvSpPr>
        <p:spPr>
          <a:xfrm>
            <a:off x="1609560" y="1825560"/>
            <a:ext cx="999216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41046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Стили CSS описываются в самом документе</a:t>
            </a:r>
            <a:endParaRPr/>
          </a:p>
          <a:p>
            <a:pPr indent="-239268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Описание стилей располагается в разделе &lt;head&gt; веб-страницы посредством тега &lt;style&gt;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9268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&lt;html&gt;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&lt;head&gt;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  &lt;title&gt;Style Test 2&lt;/title&gt;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  &lt;style&gt;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h1{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  font-size: 120%;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  color: green;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}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  &lt;/style&gt;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&lt;/head&gt;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160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&lt;/html&gt;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Правила применения стилей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 txBox="1"/>
          <p:nvPr>
            <p:ph idx="4294967295" type="body"/>
          </p:nvPr>
        </p:nvSpPr>
        <p:spPr>
          <a:xfrm>
            <a:off x="372240" y="1825560"/>
            <a:ext cx="1122948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3934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Допускается добавлять стилевое свойство и его значение по отдельности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9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td { background: olive;}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td {color: white;}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td {border: 1px solid black;}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934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Удобнее группировать</a:t>
            </a:r>
            <a:endParaRPr/>
          </a:p>
          <a:p>
            <a:pPr indent="-233172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9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td {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	background: olive;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	color: white;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	border: 1px solid black;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1600"/>
              </a:spcAft>
              <a:buClr>
                <a:srgbClr val="2F559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}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Правила применения стилей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 txBox="1"/>
          <p:nvPr>
            <p:ph idx="4294967295" type="body"/>
          </p:nvPr>
        </p:nvSpPr>
        <p:spPr>
          <a:xfrm>
            <a:off x="692280" y="1825560"/>
            <a:ext cx="1090944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Приоритет за тем, что ниже по коду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(!) Повторные записи лучше избегать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 каждого свойства могут быть только соответствующие его функции значения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Комментарии: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/*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пример комментариев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они могут быть многостраничные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*/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Селекторы тегов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 txBox="1"/>
          <p:nvPr>
            <p:ph idx="4294967295" type="body"/>
          </p:nvPr>
        </p:nvSpPr>
        <p:spPr>
          <a:xfrm>
            <a:off x="777240" y="1825560"/>
            <a:ext cx="1082448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качестве селектора может выступать любой тег HTML, для которого определяются правила форматирования, такие как: цвет, фон, размер и т. д.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Правила задаются в следующем виде: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Тег { свойство1: значение; свойство2: значение; ... }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 text-align: justify; /* Выравнивание по ширине */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 color: green; /* Зеленый цвет текста */&gt;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Классы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 txBox="1"/>
          <p:nvPr>
            <p:ph idx="4294967295" type="body"/>
          </p:nvPr>
        </p:nvSpPr>
        <p:spPr>
          <a:xfrm>
            <a:off x="607320" y="1825560"/>
            <a:ext cx="1099440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3749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Применяют, когда необходимо определить стиль для индивидуального элемента или задать разные стили для одного тега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Синтаксис: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ct val="1000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-US" sz="2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Тег.Имя класса { свойство1: значение; свойство2: значение; ... }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ct val="100000"/>
              <a:buFont typeface="Arial"/>
              <a:buNone/>
            </a:pPr>
            <a:r>
              <a:rPr b="1" i="0" lang="en-US" sz="18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Использование русских букв в именах классов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недопустимо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749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Чтобы указать в коде HTML, что тег используется с определённым классом, к тегу добавляется атрибут </a:t>
            </a:r>
            <a:r>
              <a:rPr b="1" i="0" lang="en-US" sz="2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class="Имя класса"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749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Можно использовать классы без указания тега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Синтаксис: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.Имя класса { свойство1: значение; свойство2: значение; ... }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Одновременное использование классов 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 txBox="1"/>
          <p:nvPr>
            <p:ph idx="4294967295" type="body"/>
          </p:nvPr>
        </p:nvSpPr>
        <p:spPr>
          <a:xfrm>
            <a:off x="947160" y="1825560"/>
            <a:ext cx="1099188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 любому тегу одновременно можно добавить несколько классов, перечисляя их в атрибуте </a:t>
            </a:r>
            <a:r>
              <a:rPr b="1" i="0" lang="en-US" sz="2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через пробел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 элементу применяется стиль, описанный в правилах каждого класса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Если при добавлении нескольких классов стили могут содержать одинаковые стилевые свойства, но с разными значениями, то берётся значение у класса, который описан в коде ниже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563C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Идентификаторы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>
            <p:ph idx="4294967295" type="body"/>
          </p:nvPr>
        </p:nvSpPr>
        <p:spPr>
          <a:xfrm>
            <a:off x="594360" y="1690560"/>
            <a:ext cx="11007360" cy="480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4003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Идентификатор (называемый также «ID селектор») определяет уникальное имя элемента, которое используется для изменения его стиля и обращения к нему через скрипты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Синтаксис: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#Имя ид. { свойство1: значение; свойство2: значение; ... 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Обращение к идентификатору происходит аналогично классам, но в качестве ключевого слова у тега используется атрибут </a:t>
            </a:r>
            <a:r>
              <a:rPr b="1" i="0" lang="en-US" sz="2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значением которого выступает имя идентификатора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(!) Символ решётки при этом не указывается</a:t>
            </a:r>
            <a:endParaRPr/>
          </a:p>
          <a:p>
            <a:pPr indent="-24003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Можно применять к конкретному тегу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Синтаксис: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Тег#Имя ид. { свойство1: значение; свойство2: значение; ... 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563C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Контекстные селекторы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>
            <p:ph idx="4294967295" type="body"/>
          </p:nvPr>
        </p:nvSpPr>
        <p:spPr>
          <a:xfrm>
            <a:off x="1609560" y="1825560"/>
            <a:ext cx="999216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 создании веб-страницы часто приходится вкладывать одни теги внутрь други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х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Чтобы стили для вложенных тегов использовались корректно, необходимы селекторы, которые работают только в определённом контексте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Например, задать стиль для тега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&lt;b&gt;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только когда он располагается внутри тега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Таким образом можно одновременно установить стиль для отдельного тега, а также для тега, который находится внутри другого</a:t>
            </a:r>
            <a:endParaRPr/>
          </a:p>
        </p:txBody>
      </p:sp>
      <p:sp>
        <p:nvSpPr>
          <p:cNvPr id="153" name="Google Shape;153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Контекстные селекторы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>
            <p:ph idx="4294967295" type="body"/>
          </p:nvPr>
        </p:nvSpPr>
        <p:spPr>
          <a:xfrm>
            <a:off x="1609560" y="1825560"/>
            <a:ext cx="999216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Синтаксис: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	Тег1 Тег2 { ... }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будет применяться в случае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&lt;Тег1&gt; &lt;Тег2&gt; ... &lt;/Тег2&gt; &lt;/Тег1&gt;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563C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(!) Не обязательно, что контекстные селекторы содержат только один вложенный тег. В зависимости от ситуации допустимо применять два и более последовательно вложенных друг в друга тегов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Идентификаторы и классы можно использовать совместно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563C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Основные виды селекторов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>
            <p:ph idx="4294967295" type="body"/>
          </p:nvPr>
        </p:nvSpPr>
        <p:spPr>
          <a:xfrm>
            <a:off x="1609560" y="1825560"/>
            <a:ext cx="999216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любые элементы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элементы данного тега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#id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элементы с данным id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.class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элементы с данным классом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[name="value"]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селекторы на атрибут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:visited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“псевдоклассы”, остальные разные условия на элемент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Селекторы можно комбинировать, записывая последовательно, без пробелов: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.c1.c2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элементы одновременно с двумя классами c1 и c2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a#id.c1.c2:visited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элемент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с идентификатором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и классами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c1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c2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а также псевдоклассом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visited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Отношения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>
            <p:ph idx="4294967295" type="body"/>
          </p:nvPr>
        </p:nvSpPr>
        <p:spPr>
          <a:xfrm>
            <a:off x="810000" y="1825560"/>
            <a:ext cx="1079172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CSS предусмотрено 4-е вида отношений между элементами: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div p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элементы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являющиеся потомками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div &gt; p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только непосредственные потомки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div ~ p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правые соседи: все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на том же уровне вложенности, которые идут после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div + p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первый правый сосед: p на том же уровне вложенности, который идёт сразу после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div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(если есть)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03282"/>
            <a:ext cx="4590854" cy="349254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019600" y="136800"/>
            <a:ext cx="4172400" cy="2220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&lt;style&gt;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#languages li {color: brown;}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#languages &gt; li {color: black;}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#e-slavic {font-style: italic;}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#e-slavic ~ li {color: red;}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#latvian {font-style: italic;}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#latvian * {font-weight: bold;}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#latvian + li {color: green;}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code {border: 1px solid black;}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&lt;/style&gt;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3508381" y="1702429"/>
            <a:ext cx="8549048" cy="5046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&lt;h3&gt;Балтославянские языки&lt;/h3&gt;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&lt;ol </a:t>
            </a:r>
            <a:r>
              <a:rPr b="1" i="0" lang="en-US" sz="1400" u="sng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id="languages"</a:t>
            </a: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&lt;li&gt;Славянские языки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&lt;ol&gt;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&lt;li&gt;Славянские микроязыки&lt;/li&gt;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&lt;li&gt;Праславянский язык&lt;/li&gt;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 </a:t>
            </a:r>
            <a:r>
              <a:rPr b="1" i="0" lang="en-US" sz="1400" u="sng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id="e-slavic"</a:t>
            </a: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&gt;Восточнославянские языки &lt;code&gt;#e-slavic&lt;/code&gt;&lt;/li&gt;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&lt;li&gt;Западнославянские языки &lt;code&gt;#e-slavic ~ li&lt;/code&gt;&lt;/li&gt;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&lt;li&gt;Южнославянские языки &lt;code&gt;#e-slavic ~ li&lt;/code&gt;&lt;/li&gt;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&lt;li&gt; ... &lt;code&gt;#e-slavic ~ li&lt;/code&gt;&lt;/li&gt;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&lt;/ol&gt;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&lt;li&gt;Балтийские языки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&lt;ol&gt;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&lt;li&gt;Литовский язык&lt;/li&gt;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 </a:t>
            </a:r>
            <a:r>
              <a:rPr b="1" i="0" lang="en-US" sz="1400" u="sng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id="latvian"</a:t>
            </a: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&gt;Латышский язык &lt;code&gt;#latvian&lt;/code&gt;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  &lt;ol&gt;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&lt;li&gt;Латгальский язык &lt;code&gt;#latvian *&lt;/code&gt;&lt;/li&gt;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  &lt;/ol&gt;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&lt;li&gt;Прусский язык &lt;code&gt;#latvian + li &lt;/code&gt;&lt;/li&gt;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&lt;li&gt;... (следующий элемент уже не &lt;code&gt;#latvian + li&lt;/code&gt;)&lt;/li&gt;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&lt;/ol&gt;&lt;/li&gt;&lt;/ol&gt;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Фильтр по месту среди соседей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>
            <p:ph idx="4294967295" type="body"/>
          </p:nvPr>
        </p:nvSpPr>
        <p:spPr>
          <a:xfrm>
            <a:off x="365760" y="1825560"/>
            <a:ext cx="1163988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 выборе элемента можно указать его место среди соседей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Псевдоклассы: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:first-child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первый потомок своего родителя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:last-child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последний потомок своего родителя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:only-child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единственный потомок своего родителя, соседних элементов нет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потомок номер a своего родителя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Например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:nth-child(2)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второй потомок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(!) Нумерация начинается с 1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:nth-child(an+b)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указание номера потомка формулой, где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константы, а под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подразумевается любое целое число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Например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:nth-child(2n)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потомки под чётными номерами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  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:nth-child(2n+1)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потомки под нечётными номерами</a:t>
            </a:r>
            <a:endParaRPr/>
          </a:p>
        </p:txBody>
      </p:sp>
      <p:sp>
        <p:nvSpPr>
          <p:cNvPr id="190" name="Google Shape;190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>
            <p:ph idx="4294967295" type="body"/>
          </p:nvPr>
        </p:nvSpPr>
        <p:spPr>
          <a:xfrm>
            <a:off x="4901040" y="744718"/>
            <a:ext cx="7013160" cy="5747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1" i="0" sz="2000" u="none" cap="none" strike="noStrike">
              <a:solidFill>
                <a:srgbClr val="2F55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li:nth-child(2n) {background: #888;}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li:nth-child(2n+1) {color: red;}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code {border: 1px solid black;}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&lt;/style&gt;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1" i="0" sz="2000" u="none" cap="none" strike="noStrike">
              <a:solidFill>
                <a:srgbClr val="2F55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&lt;ul&gt;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&lt;li&gt;Древнерусский язык&lt;/li&gt;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&lt;li&gt;Древненовгородский диалект&lt;/li&gt;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&lt;li&gt;Западнорусский письменный язык&lt;/li&gt;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&lt;li&gt;Украинский язык&lt;/code&gt;&lt;/li&gt;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&lt;li&gt;Белорусский язык&lt;/li&gt;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&lt;li&gt;Другие языки&lt;/li&gt;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&lt;/ul&gt;</a:t>
            </a:r>
            <a:endParaRPr b="1" i="0" sz="2000" u="none" cap="none" strike="noStrike">
              <a:solidFill>
                <a:srgbClr val="2F55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1" i="0" sz="2000" u="none" cap="none" strike="noStrike">
              <a:solidFill>
                <a:srgbClr val="2F55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200" y="2481120"/>
            <a:ext cx="4276440" cy="176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Фильтр по месту среди соседей с тем же тегом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>
            <p:ph idx="4294967295" type="body"/>
          </p:nvPr>
        </p:nvSpPr>
        <p:spPr>
          <a:xfrm>
            <a:off x="350640" y="1825560"/>
            <a:ext cx="1125108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Псевдоклассы, которые учитывают не всех соседей, а только с тем же тегом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:first-of-type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:last_of_type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:only-of-type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:nth-of-type(odd | even | &lt;число&gt; | &lt;выражение&gt;)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:nth-last-of-type(odd | even | &lt;число&gt; | &lt;выражение&gt;)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>
            <p:ph idx="4294967295" type="body"/>
          </p:nvPr>
        </p:nvSpPr>
        <p:spPr>
          <a:xfrm>
            <a:off x="1153800" y="1642621"/>
            <a:ext cx="10447920" cy="5078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1" i="0" sz="2000" u="none" cap="none" strike="noStrike">
              <a:solidFill>
                <a:srgbClr val="2F55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&lt;head&gt;&lt;title&gt;nth-of-type&lt;/title&gt;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img:nth-of-type(2n+1) {float: left;}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img:nth-of-type(2n) {float: right;}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div {width:600px;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text-align: center;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    font-size: 24pt}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&lt;/style&gt;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&lt;/head&gt;</a:t>
            </a:r>
            <a:endParaRPr b="1" i="0" sz="2000" u="none" cap="none" strike="noStrike">
              <a:solidFill>
                <a:srgbClr val="2F55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&lt;div&gt;&lt;img src="img2.png" width=100px&gt;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&lt;img src="img1.png" width=100px&gt;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Исторический турнир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&lt;/div&gt;</a:t>
            </a:r>
            <a:endParaRPr b="1" i="0" sz="2000" u="none" cap="none" strike="noStrike">
              <a:solidFill>
                <a:srgbClr val="2F55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1" i="0" sz="2000" u="none" cap="none" strike="noStrike">
              <a:solidFill>
                <a:srgbClr val="2F55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0600" y="969198"/>
            <a:ext cx="6339759" cy="1075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Селекторы атрибутов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>
            <p:ph idx="4294967295" type="body"/>
          </p:nvPr>
        </p:nvSpPr>
        <p:spPr>
          <a:xfrm>
            <a:off x="746640" y="1825560"/>
            <a:ext cx="1085508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 атрибут целиком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[attr]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атрибут установлен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[attr="val"]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атрибут равен val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 начало атрибута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[attr^="val"]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атрибут начинается с val, например «value»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[attr|="val"]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атрибут равен val или начинается с val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 содержание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[attr*="val"]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атрибут содержит подстроку val, например, «myvalue»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[attr~="val"]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атрибут содержит val как одно из значений через пробел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 конец атрибута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[attr$="val"]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атрибут заканчивается на val, например, «myval»</a:t>
            </a:r>
            <a:endParaRPr/>
          </a:p>
        </p:txBody>
      </p:sp>
      <p:sp>
        <p:nvSpPr>
          <p:cNvPr id="220" name="Google Shape;220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>
            <p:ph idx="4294967295" type="body"/>
          </p:nvPr>
        </p:nvSpPr>
        <p:spPr>
          <a:xfrm>
            <a:off x="1401838" y="1825560"/>
            <a:ext cx="10199881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&lt;head&gt;  &lt;title&gt;Селекторы атрибутов&lt;/title&gt;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a[target="_blank"] {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background: url(blank.png) 0 2px no-repeat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padding-left: 25px;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&lt;/style&gt;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&lt;/head&gt; &lt;body&gt;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&lt;p&gt;&lt;a href="http://google.com"&gt;GOOGLE&lt;/a&gt; |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&lt;a href="http://yandex.ru" target="_blank"&gt;Yandex&lt;/a&gt;&lt;/p&gt;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&lt;/body&gt;&lt;/html&gt;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7760" y="547200"/>
            <a:ext cx="4362120" cy="75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Другие псевдоклассы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>
            <p:ph idx="4294967295" type="body"/>
          </p:nvPr>
        </p:nvSpPr>
        <p:spPr>
          <a:xfrm>
            <a:off x="1609560" y="1825560"/>
            <a:ext cx="999216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:not(селектор)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все кроме подходящих под селектор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:focus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в фокусе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:hover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под указателем мыши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:empty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без потомков (даже без текстовых)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:checked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:disabled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:enabled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состояния input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:target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фильтр сработает для элемента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которого совпадает с анкором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#...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текущего url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Например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если на странице есть элемент с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id="intro"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то правило 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:target {color: red}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подсветит его в том случае, если текущий URL имеет вид http://...#intro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Псевдоэлементы ::before и ::after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 txBox="1"/>
          <p:nvPr>
            <p:ph idx="4294967295" type="body"/>
          </p:nvPr>
        </p:nvSpPr>
        <p:spPr>
          <a:xfrm>
            <a:off x="1153800" y="1825560"/>
            <a:ext cx="1044792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Псевдоэлементы – различные вспомогательные элементы, которые браузер может записать в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документ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 помощи ::before и ::after можно добавить содержимое в начало или конец элемента</a:t>
            </a:r>
            <a:endParaRPr/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&lt;html&gt;&lt;head&gt;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&lt;style&gt;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li::before{content: "**[["}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li::after{content: "]]**"}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&lt;/style&gt;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&lt;/head&gt;&lt;body&gt;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&lt;ul&gt;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&lt;li&gt;First element&lt;/li&gt;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	&lt;li&gt;Second element&lt;/li&gt;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&lt;/ul&gt;&lt;/body&gt;&lt;/html&gt;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3588" y="3654360"/>
            <a:ext cx="3438000" cy="10094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Значения свойств селекторов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 txBox="1"/>
          <p:nvPr>
            <p:ph idx="4294967295" type="body"/>
          </p:nvPr>
        </p:nvSpPr>
        <p:spPr>
          <a:xfrm>
            <a:off x="758880" y="1825560"/>
            <a:ext cx="1084284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Строки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Любые строки необходимо брать в двойные или одинарные кавычки. Если внутри строки требуется оставить одну или несколько кавычек, то можно комбинировать типы кавычек или добавить перед кавычкой слэш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Числа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Значением может выступать целое число, содержащее цифры от 0 до 9 и десятичная дробь, в которой целая и десятичная часть разделяются точкой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Проценты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Процентная запись обычно применяется, когда надо изменить значение относительно родительского элемента или когда размеры зависят от внешних условий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417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Значения свойств селекторов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8"/>
          <p:cNvSpPr txBox="1"/>
          <p:nvPr>
            <p:ph idx="4294967295" type="body"/>
          </p:nvPr>
        </p:nvSpPr>
        <p:spPr>
          <a:xfrm>
            <a:off x="758880" y="1825560"/>
            <a:ext cx="10842840" cy="113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Размеры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Для задания размеров различных элементов в CSS используются абсолютные и относительные единицы измерения</a:t>
            </a:r>
            <a:endParaRPr/>
          </a:p>
        </p:txBody>
      </p:sp>
      <p:graphicFrame>
        <p:nvGraphicFramePr>
          <p:cNvPr id="257" name="Google Shape;257;p28"/>
          <p:cNvGraphicFramePr/>
          <p:nvPr/>
        </p:nvGraphicFramePr>
        <p:xfrm>
          <a:off x="420480" y="296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{22C9B091-4C68-48B3-80CB-482A996AAFFE}</a:tableStyleId>
              </a:tblPr>
              <a:tblGrid>
                <a:gridCol w="4987450"/>
                <a:gridCol w="4987450"/>
              </a:tblGrid>
              <a:tr h="37080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lang="en-US" sz="2400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Относительные единицы</a:t>
                      </a:r>
                      <a:endParaRPr b="0" sz="24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lang="en-US" sz="2400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Абсолютные единицы</a:t>
                      </a:r>
                      <a:endParaRPr b="0" sz="24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определяют размер элемента относительно значения другого размера</a:t>
                      </a:r>
                      <a:endParaRPr b="0" sz="20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 зависят от устройства вывода</a:t>
                      </a:r>
                      <a:endParaRPr b="0" sz="20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8" name="Google Shape;2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0200" y="3767760"/>
            <a:ext cx="4768560" cy="213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480" y="4023360"/>
            <a:ext cx="4991760" cy="187452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Значения свойств селекторов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 txBox="1"/>
          <p:nvPr>
            <p:ph idx="4294967295" type="body"/>
          </p:nvPr>
        </p:nvSpPr>
        <p:spPr>
          <a:xfrm>
            <a:off x="758880" y="1463040"/>
            <a:ext cx="10842840" cy="502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987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Цвет задается:</a:t>
            </a:r>
            <a:endParaRPr/>
          </a:p>
          <a:p>
            <a:pPr indent="-229869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 16-ому значению,</a:t>
            </a:r>
            <a:endParaRPr/>
          </a:p>
          <a:p>
            <a:pPr indent="-229869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 названию</a:t>
            </a:r>
            <a:endParaRPr/>
          </a:p>
          <a:p>
            <a:pPr indent="-229869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формате RGB</a:t>
            </a:r>
            <a:endParaRPr/>
          </a:p>
          <a:p>
            <a:pPr indent="-102869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&lt;head&gt;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  body{background-color: #3366CC;}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h1{background-color: rgb(249, 201, 16);}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p{background-color: maroon;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  color: white;}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  &lt;/style&gt;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&lt;h1&gt;Деконструктивизм&lt;/h1&gt;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&lt;p&gt;...&lt;/p&gt;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&lt;/body&gt;&lt;/html&gt;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480" y="1463040"/>
            <a:ext cx="4866840" cy="203796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>
            <p:ph idx="4294967295" type="title"/>
          </p:nvPr>
        </p:nvSpPr>
        <p:spPr>
          <a:xfrm>
            <a:off x="1153800" y="365040"/>
            <a:ext cx="10199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Значения свойств селекторов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0"/>
          <p:cNvSpPr txBox="1"/>
          <p:nvPr>
            <p:ph idx="4294967295" type="body"/>
          </p:nvPr>
        </p:nvSpPr>
        <p:spPr>
          <a:xfrm>
            <a:off x="758880" y="1825560"/>
            <a:ext cx="11219400" cy="466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Адреса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URI, Uniform Resource Identifiers, унифицированный идентификатор ресурсов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Применяются для указания пути к файлу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Используется ключевое слово url(), внутри скобок пишется адрес файла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Ключевые слова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качестве значений активно применяются ключевые слова, которые определяют желаемый результат действия стилевых свойств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Ключевые слова пишутся без кавычек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p {text-align: right;}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59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-US" sz="2000" u="none" cap="none" strike="sngStrike">
                <a:solidFill>
                  <a:srgbClr val="2F5597"/>
                </a:solidFill>
                <a:latin typeface="Courier New"/>
                <a:ea typeface="Courier New"/>
                <a:cs typeface="Courier New"/>
                <a:sym typeface="Courier New"/>
              </a:rPr>
              <a:t>p {text-align: "right";}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417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2023-07-03T13:16:46Z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40</vt:i4>
  </property>
</Properties>
</file>