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63" r:id="rId3"/>
    <p:sldId id="272" r:id="rId4"/>
    <p:sldId id="257" r:id="rId5"/>
    <p:sldId id="258" r:id="rId6"/>
    <p:sldId id="259" r:id="rId7"/>
    <p:sldId id="260" r:id="rId8"/>
    <p:sldId id="261" r:id="rId9"/>
    <p:sldId id="273" r:id="rId10"/>
    <p:sldId id="279" r:id="rId11"/>
    <p:sldId id="262" r:id="rId12"/>
    <p:sldId id="280" r:id="rId13"/>
    <p:sldId id="282" r:id="rId14"/>
    <p:sldId id="283" r:id="rId15"/>
    <p:sldId id="289" r:id="rId16"/>
    <p:sldId id="274" r:id="rId17"/>
    <p:sldId id="267" r:id="rId18"/>
    <p:sldId id="284" r:id="rId19"/>
    <p:sldId id="285" r:id="rId20"/>
    <p:sldId id="290" r:id="rId21"/>
    <p:sldId id="286" r:id="rId22"/>
    <p:sldId id="291" r:id="rId23"/>
    <p:sldId id="287" r:id="rId24"/>
    <p:sldId id="292" r:id="rId25"/>
    <p:sldId id="275" r:id="rId26"/>
    <p:sldId id="288" r:id="rId27"/>
    <p:sldId id="269" r:id="rId28"/>
    <p:sldId id="276" r:id="rId29"/>
    <p:sldId id="271" r:id="rId30"/>
    <p:sldId id="295" r:id="rId31"/>
    <p:sldId id="294" r:id="rId32"/>
    <p:sldId id="296" r:id="rId33"/>
    <p:sldId id="297" r:id="rId34"/>
    <p:sldId id="298" r:id="rId35"/>
    <p:sldId id="277" r:id="rId36"/>
    <p:sldId id="278" r:id="rId37"/>
    <p:sldId id="293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Вакансии </a:t>
            </a:r>
            <a:r>
              <a:rPr lang="en-US" dirty="0" err="1"/>
              <a:t>HeadHunter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Без Git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Лист1!$A$2:$A$8</c:f>
              <c:strCache>
                <c:ptCount val="7"/>
                <c:pt idx="0">
                  <c:v>Python</c:v>
                </c:pt>
                <c:pt idx="1">
                  <c:v>JavaScript</c:v>
                </c:pt>
                <c:pt idx="2">
                  <c:v>Java</c:v>
                </c:pt>
                <c:pt idx="3">
                  <c:v>C++</c:v>
                </c:pt>
                <c:pt idx="4">
                  <c:v>C#</c:v>
                </c:pt>
                <c:pt idx="5">
                  <c:v>Тестировщик</c:v>
                </c:pt>
                <c:pt idx="6">
                  <c:v>Системный администратор</c:v>
                </c:pt>
              </c:strCache>
            </c:strRef>
          </c:cat>
          <c:val>
            <c:numRef>
              <c:f>Лист1!$B$2:$B$8</c:f>
              <c:numCache>
                <c:formatCode>General</c:formatCode>
                <c:ptCount val="7"/>
                <c:pt idx="0">
                  <c:v>5999</c:v>
                </c:pt>
                <c:pt idx="1">
                  <c:v>3681</c:v>
                </c:pt>
                <c:pt idx="2">
                  <c:v>3774</c:v>
                </c:pt>
                <c:pt idx="3">
                  <c:v>2091</c:v>
                </c:pt>
                <c:pt idx="4">
                  <c:v>1975</c:v>
                </c:pt>
                <c:pt idx="5">
                  <c:v>2707</c:v>
                </c:pt>
                <c:pt idx="6">
                  <c:v>5281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5A-4EB4-B540-DAF587DEBA4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Git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1371761972983942"/>
                </c:manualLayout>
              </c:layout>
              <c:tx>
                <c:rich>
                  <a:bodyPr/>
                  <a:lstStyle/>
                  <a:p>
                    <a:fld id="{D05697A3-2F39-4E29-87B9-ECDDEDC6C83D}" type="CELLRANGE">
                      <a:rPr lang="en-US"/>
                      <a:pPr/>
                      <a:t>[ДИАПАЗОН ЯЧЕЕК]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685A-4EB4-B540-DAF587DEBA4F}"/>
                </c:ext>
              </c:extLst>
            </c:dLbl>
            <c:dLbl>
              <c:idx val="1"/>
              <c:layout>
                <c:manualLayout>
                  <c:x val="0"/>
                  <c:y val="-0.14885076728123631"/>
                </c:manualLayout>
              </c:layout>
              <c:tx>
                <c:rich>
                  <a:bodyPr/>
                  <a:lstStyle/>
                  <a:p>
                    <a:fld id="{E799243C-291A-44F2-828C-C55C0C3D6309}" type="CELLRANGE">
                      <a:rPr lang="en-US"/>
                      <a:pPr/>
                      <a:t>[ДИАПАЗОН ЯЧЕЕК]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685A-4EB4-B540-DAF587DEBA4F}"/>
                </c:ext>
              </c:extLst>
            </c:dLbl>
            <c:dLbl>
              <c:idx val="2"/>
              <c:layout>
                <c:manualLayout>
                  <c:x val="-5.9043869718353595E-17"/>
                  <c:y val="-0.11090841483699951"/>
                </c:manualLayout>
              </c:layout>
              <c:tx>
                <c:rich>
                  <a:bodyPr/>
                  <a:lstStyle/>
                  <a:p>
                    <a:fld id="{4660D531-2846-4E2F-AF08-5382C01A8B85}" type="CELLRANGE">
                      <a:rPr lang="en-US"/>
                      <a:pPr/>
                      <a:t>[ДИАПАЗОН ЯЧЕЕК]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685A-4EB4-B540-DAF587DEBA4F}"/>
                </c:ext>
              </c:extLst>
            </c:dLbl>
            <c:dLbl>
              <c:idx val="3"/>
              <c:layout>
                <c:manualLayout>
                  <c:x val="0"/>
                  <c:y val="-7.2966062392762876E-2"/>
                </c:manualLayout>
              </c:layout>
              <c:tx>
                <c:rich>
                  <a:bodyPr/>
                  <a:lstStyle/>
                  <a:p>
                    <a:fld id="{C88CAD44-E14C-487D-8383-538239ABE56E}" type="CELLRANGE">
                      <a:rPr lang="en-US"/>
                      <a:pPr/>
                      <a:t>[ДИАПАЗОН ЯЧЕЕК]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685A-4EB4-B540-DAF587DEBA4F}"/>
                </c:ext>
              </c:extLst>
            </c:dLbl>
            <c:dLbl>
              <c:idx val="4"/>
              <c:layout>
                <c:manualLayout>
                  <c:x val="0"/>
                  <c:y val="-7.2966062392762876E-2"/>
                </c:manualLayout>
              </c:layout>
              <c:tx>
                <c:rich>
                  <a:bodyPr/>
                  <a:lstStyle/>
                  <a:p>
                    <a:fld id="{F628C565-D456-4BD3-8628-B0201A79C711}" type="CELLRANGE">
                      <a:rPr lang="en-US"/>
                      <a:pPr/>
                      <a:t>[ДИАПАЗОН ЯЧЕЕК]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685A-4EB4-B540-DAF587DEBA4F}"/>
                </c:ext>
              </c:extLst>
            </c:dLbl>
            <c:dLbl>
              <c:idx val="5"/>
              <c:layout>
                <c:manualLayout>
                  <c:x val="0"/>
                  <c:y val="-7.0047419897052349E-2"/>
                </c:manualLayout>
              </c:layout>
              <c:tx>
                <c:rich>
                  <a:bodyPr/>
                  <a:lstStyle/>
                  <a:p>
                    <a:fld id="{22DB5169-8F90-4CC0-B696-8907D3E0917A}" type="CELLRANGE">
                      <a:rPr lang="en-US"/>
                      <a:pPr/>
                      <a:t>[ДИАПАЗОН ЯЧЕЕК]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685A-4EB4-B540-DAF587DEBA4F}"/>
                </c:ext>
              </c:extLst>
            </c:dLbl>
            <c:dLbl>
              <c:idx val="6"/>
              <c:layout>
                <c:manualLayout>
                  <c:x val="-1.1808773943670719E-16"/>
                  <c:y val="-3.5023709948526174E-2"/>
                </c:manualLayout>
              </c:layout>
              <c:tx>
                <c:rich>
                  <a:bodyPr/>
                  <a:lstStyle/>
                  <a:p>
                    <a:fld id="{D3C1491C-8934-4E2E-A631-8244A8A0FC5C}" type="CELLRANGE">
                      <a:rPr lang="en-US"/>
                      <a:pPr/>
                      <a:t>[ДИАПАЗОН ЯЧЕЕК]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685A-4EB4-B540-DAF587DEBA4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Python</c:v>
                </c:pt>
                <c:pt idx="1">
                  <c:v>JavaScript</c:v>
                </c:pt>
                <c:pt idx="2">
                  <c:v>Java</c:v>
                </c:pt>
                <c:pt idx="3">
                  <c:v>C++</c:v>
                </c:pt>
                <c:pt idx="4">
                  <c:v>C#</c:v>
                </c:pt>
                <c:pt idx="5">
                  <c:v>Тестировщик</c:v>
                </c:pt>
                <c:pt idx="6">
                  <c:v>Системный администратор</c:v>
                </c:pt>
              </c:strCache>
            </c:strRef>
          </c:cat>
          <c:val>
            <c:numRef>
              <c:f>Лист1!$C$2:$C$8</c:f>
              <c:numCache>
                <c:formatCode>General</c:formatCode>
                <c:ptCount val="7"/>
                <c:pt idx="0">
                  <c:v>3051</c:v>
                </c:pt>
                <c:pt idx="1">
                  <c:v>3359</c:v>
                </c:pt>
                <c:pt idx="2">
                  <c:v>2341</c:v>
                </c:pt>
                <c:pt idx="3">
                  <c:v>1208</c:v>
                </c:pt>
                <c:pt idx="4">
                  <c:v>1143</c:v>
                </c:pt>
                <c:pt idx="5">
                  <c:v>1153</c:v>
                </c:pt>
                <c:pt idx="6">
                  <c:v>380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Лист1!$D$2:$D$8</c15:f>
                <c15:dlblRangeCache>
                  <c:ptCount val="7"/>
                  <c:pt idx="0">
                    <c:v>34%</c:v>
                  </c:pt>
                  <c:pt idx="1">
                    <c:v>48%</c:v>
                  </c:pt>
                  <c:pt idx="2">
                    <c:v>38%</c:v>
                  </c:pt>
                  <c:pt idx="3">
                    <c:v>37%</c:v>
                  </c:pt>
                  <c:pt idx="4">
                    <c:v>37%</c:v>
                  </c:pt>
                  <c:pt idx="5">
                    <c:v>30%</c:v>
                  </c:pt>
                  <c:pt idx="6">
                    <c:v>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685A-4EB4-B540-DAF587DEBA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70293744"/>
        <c:axId val="370299144"/>
      </c:barChart>
      <c:catAx>
        <c:axId val="370293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0299144"/>
        <c:crosses val="autoZero"/>
        <c:auto val="1"/>
        <c:lblAlgn val="ctr"/>
        <c:lblOffset val="100"/>
        <c:noMultiLvlLbl val="0"/>
      </c:catAx>
      <c:valAx>
        <c:axId val="370299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0293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8D4AB-7557-4C84-AEF9-2C406E0A6782}" type="datetimeFigureOut">
              <a:rPr lang="ru-RU" smtClean="0"/>
              <a:t>01.04.2024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28497-8254-41F2-8FF8-B377CE9D71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46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710B8-2884-450B-B885-31D48122E130}" type="datetime1">
              <a:rPr lang="ru-RU" smtClean="0"/>
              <a:t>01.04.2024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15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DC1B-F85F-4639-BC44-C43CF5E26064}" type="datetime1">
              <a:rPr lang="ru-RU" smtClean="0"/>
              <a:t>01.04.2024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306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50054-4912-4C35-8A40-E8D2C110138D}" type="datetime1">
              <a:rPr lang="ru-RU" smtClean="0"/>
              <a:t>01.04.2024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40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BFD0-345B-45A3-B696-E1A4EF8E4D79}" type="datetime1">
              <a:rPr lang="ru-RU" smtClean="0"/>
              <a:t>01.04.2024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31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F2DC-C233-4589-80D7-AD808DD703DB}" type="datetime1">
              <a:rPr lang="ru-RU" smtClean="0"/>
              <a:t>01.04.2024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4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2227A-D115-42D2-AC7E-68D45E7B1C5D}" type="datetime1">
              <a:rPr lang="ru-RU" smtClean="0"/>
              <a:t>01.04.2024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38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B9CFD-34BB-403B-BBF5-D4A414EBA40C}" type="datetime1">
              <a:rPr lang="ru-RU" smtClean="0"/>
              <a:t>01.04.2024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2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ABB7-CB86-4E23-868F-16571225CF3F}" type="datetime1">
              <a:rPr lang="ru-RU" smtClean="0"/>
              <a:t>01.04.2024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314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CC57-2EE1-4ED6-9F16-8C89E807DD56}" type="datetime1">
              <a:rPr lang="ru-RU" smtClean="0"/>
              <a:t>01.04.2024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77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E2496-83C5-4F17-B2CB-053DF4118A3A}" type="datetime1">
              <a:rPr lang="ru-RU" smtClean="0"/>
              <a:t>01.04.2024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299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684F0-7D6C-492B-9551-CEED79CFD663}" type="datetime1">
              <a:rPr lang="ru-RU" smtClean="0"/>
              <a:t>01.04.2024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5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2C36E-C66A-42A7-B26B-6291BDB93ACF}" type="datetime1">
              <a:rPr lang="ru-RU" smtClean="0"/>
              <a:t>01.04.2024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CA087-2626-4CBB-8D5B-06D9B903E9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89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ortoisegit.org/" TargetMode="External"/><Relationship Id="rId2" Type="http://schemas.openxmlformats.org/officeDocument/2006/relationships/hyperlink" Target="https://desktop.github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verse.ru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gitbranching.js.org/?locale=ru_RU" TargetMode="External"/><Relationship Id="rId2" Type="http://schemas.openxmlformats.org/officeDocument/2006/relationships/hyperlink" Target="https://git-scm.com/book/ru/v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ducation.github.com/pack" TargetMode="External"/><Relationship Id="rId5" Type="http://schemas.openxmlformats.org/officeDocument/2006/relationships/hyperlink" Target="https://profy.dev/project/github-minesweeper" TargetMode="External"/><Relationship Id="rId4" Type="http://schemas.openxmlformats.org/officeDocument/2006/relationships/hyperlink" Target="https://ohmygit.org/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.wikimedia.org/wikipedia/commons/thumb/e/e0/...">
            <a:extLst>
              <a:ext uri="{FF2B5EF4-FFF2-40B4-BE49-F238E27FC236}">
                <a16:creationId xmlns:a16="http://schemas.microsoft.com/office/drawing/2014/main" id="{5268A440-359A-2488-7911-A51B0F307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52" y="1904226"/>
            <a:ext cx="4180367" cy="174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90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F4DF1-59BE-D775-27E6-608D2B9D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D9D0C2-DAFA-E629-0915-2F3D9268E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46891"/>
            <a:ext cx="7886700" cy="4351338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Что такое </a:t>
            </a:r>
            <a:r>
              <a:rPr lang="en-US" dirty="0"/>
              <a:t>Git?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Хранение данных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Ветки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Удаленные репозитории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Модели ветвления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Заключение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C1E7D8-F1DC-6AD5-B182-BD5A0E6C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09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F4DF1-59BE-D775-27E6-608D2B9D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D9D0C2-DAFA-E629-0915-2F3D9268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b="1" dirty="0"/>
              <a:t>Что такое </a:t>
            </a:r>
            <a:r>
              <a:rPr lang="en-US" b="1" dirty="0"/>
              <a:t>Git?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Хранение данных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Ветки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Удаленные репозитории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Модели ветвления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Заключение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C1E7D8-F1DC-6AD5-B182-BD5A0E6C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634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CDCB9-8A21-1E07-40BE-32DD1E30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Git</a:t>
            </a:r>
            <a:r>
              <a:rPr lang="ru-RU" dirty="0"/>
              <a:t>?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61A5A16D-E57F-7756-681F-02E0FF71C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451750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Git – </a:t>
            </a:r>
            <a:r>
              <a:rPr lang="ru-RU" dirty="0"/>
              <a:t>система контроля версий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Позволяет хранить несколько версий проекта и при необходимости возвращаться к ним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1D38DF-951D-294A-585A-7C530BCF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4</a:t>
            </a:fld>
            <a:endParaRPr lang="ru-RU" dirty="0"/>
          </a:p>
        </p:txBody>
      </p:sp>
      <p:pic>
        <p:nvPicPr>
          <p:cNvPr id="2058" name="Picture 10" descr="r/ProgrammerHumor - Git?">
            <a:extLst>
              <a:ext uri="{FF2B5EF4-FFF2-40B4-BE49-F238E27FC236}">
                <a16:creationId xmlns:a16="http://schemas.microsoft.com/office/drawing/2014/main" id="{3A249E3C-E702-F280-F66F-85EEDA2D754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24" y="1155595"/>
            <a:ext cx="3581130" cy="502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84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71823BA-3BEC-DB08-E0E3-80A7C49E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чего </a:t>
            </a:r>
            <a:r>
              <a:rPr lang="en-US" dirty="0"/>
              <a:t>Git</a:t>
            </a:r>
            <a:r>
              <a:rPr lang="ru-RU" dirty="0"/>
              <a:t>?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FCB0A18-6687-006F-23D3-58330D2D6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Иметь историю изменений файлов</a:t>
            </a:r>
          </a:p>
          <a:p>
            <a:r>
              <a:rPr lang="ru-RU" dirty="0"/>
              <a:t>Параллельно изменять разные версии файлов</a:t>
            </a:r>
          </a:p>
          <a:p>
            <a:r>
              <a:rPr lang="ru-RU" dirty="0"/>
              <a:t>Работать в команде и не мешать друг другу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6466E0-EAB7-E09B-F529-0E9B3EB3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5</a:t>
            </a:fld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4742C88-DCAE-C492-C68D-F6AC86365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1" y="3592968"/>
            <a:ext cx="8907118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54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3FC67-716B-1F0D-F45E-34EC7B01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Оно мне надо?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67B17F-A3CD-79C7-9758-8B75C358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6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69E13C-0EB3-903F-085C-816D07BB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9" y="1608463"/>
            <a:ext cx="5225367" cy="113055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50AE21-371C-CB2F-1699-AEF5A29E6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191" y="2704904"/>
            <a:ext cx="4733579" cy="183059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8AF3C10-2133-5573-1E88-3BB6546C7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33" y="3521312"/>
            <a:ext cx="4115358" cy="12769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0B04403-FCD5-65E3-13A2-A82B46736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2490" y="4969527"/>
            <a:ext cx="4682860" cy="16443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BBC6F7-C079-2D6D-0ADF-C0A6658B4AEC}"/>
              </a:ext>
            </a:extLst>
          </p:cNvPr>
          <p:cNvSpPr txBox="1"/>
          <p:nvPr/>
        </p:nvSpPr>
        <p:spPr>
          <a:xfrm>
            <a:off x="6641980" y="1144318"/>
            <a:ext cx="16145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dirty="0">
                <a:solidFill>
                  <a:srgbClr val="FF0000"/>
                </a:solidFill>
              </a:rPr>
              <a:t>ДА!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17FCB51-1E65-4CF6-86FB-77CC791C1E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745" y="5283370"/>
            <a:ext cx="3238952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7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E2B93-A712-F872-625D-607BBAAC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Оно мне надо?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970C3057-7777-1D61-2D81-6F4DEE483E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66431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192FC9-1023-8DEA-A70A-61DA4FD2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843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E2B93-A712-F872-625D-607BBAAC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использовать</a:t>
            </a:r>
            <a:r>
              <a:rPr lang="en-US" dirty="0"/>
              <a:t> Git?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570F36-B306-5781-0ABA-C36C3FC05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Работать из командной строки</a:t>
            </a:r>
          </a:p>
          <a:p>
            <a:pPr>
              <a:lnSpc>
                <a:spcPct val="150000"/>
              </a:lnSpc>
            </a:pPr>
            <a:r>
              <a:rPr lang="ru-RU" dirty="0"/>
              <a:t>Скачать клиент с графическим интерфейсом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hlinkClick r:id="rId2"/>
              </a:rPr>
              <a:t>GitHub Desktop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>
                <a:hlinkClick r:id="rId3"/>
              </a:rPr>
              <a:t>TortoiseGit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Использовать встроенный в </a:t>
            </a:r>
            <a:r>
              <a:rPr lang="en-US" dirty="0"/>
              <a:t>IDE </a:t>
            </a:r>
            <a:r>
              <a:rPr lang="ru-RU" dirty="0"/>
              <a:t>клиент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192FC9-1023-8DEA-A70A-61DA4FD2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845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F4DF1-59BE-D775-27E6-608D2B9D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D9D0C2-DAFA-E629-0915-2F3D9268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Что такое </a:t>
            </a:r>
            <a:r>
              <a:rPr lang="en-US" dirty="0"/>
              <a:t>Git?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b="1" dirty="0"/>
              <a:t>Хранение данных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Ветки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Удаленные репозитории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Модели ветвления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Заключение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C1E7D8-F1DC-6AD5-B182-BD5A0E6C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88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4E68B4-8700-C1AD-757B-78899D6A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FD69CC-CD34-43DF-5AE7-B4B7EC7BD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Структурно репозиторий представляет собой дерево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Узел – сохраненные в истории файлы проекта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Ребра – изменения файлов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Ветки – параллельные версии файлов</a:t>
            </a:r>
          </a:p>
          <a:p>
            <a:pPr>
              <a:lnSpc>
                <a:spcPct val="150000"/>
              </a:lnSpc>
            </a:pPr>
            <a:r>
              <a:rPr lang="ru-RU" dirty="0"/>
              <a:t>Создание репозитория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	</a:t>
            </a:r>
            <a:r>
              <a:rPr lang="en-US" sz="2000" dirty="0">
                <a:latin typeface="Consolas" panose="020B0609020204030204" pitchFamily="49" charset="0"/>
              </a:rPr>
              <a:t>&gt;&gt; git </a:t>
            </a:r>
            <a:r>
              <a:rPr lang="en-US" sz="2000" dirty="0" err="1">
                <a:latin typeface="Consolas" panose="020B0609020204030204" pitchFamily="49" charset="0"/>
              </a:rPr>
              <a:t>init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F903E1-5EF1-1E92-62E7-D8DBCC03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168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44C88-0A0D-EAA6-5AD0-D42B77CA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Коммиты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6786D8-6FB1-60B3-DC10-DC97FD02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11</a:t>
            </a:fld>
            <a:endParaRPr lang="ru-RU"/>
          </a:p>
        </p:txBody>
      </p:sp>
      <p:sp>
        <p:nvSpPr>
          <p:cNvPr id="5" name="AutoShape 2" descr="Um Actually GIF - Um Actually GIFs">
            <a:extLst>
              <a:ext uri="{FF2B5EF4-FFF2-40B4-BE49-F238E27FC236}">
                <a16:creationId xmlns:a16="http://schemas.microsoft.com/office/drawing/2014/main" id="{D7996210-6F8D-4B6E-2D94-7CB2FF5AF258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244549" y="1825625"/>
            <a:ext cx="889945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Коммит (</a:t>
            </a:r>
            <a:r>
              <a:rPr lang="en-US" sz="2400" dirty="0"/>
              <a:t>commit)</a:t>
            </a:r>
            <a:r>
              <a:rPr lang="ru-RU" sz="2400" dirty="0"/>
              <a:t> – информация об изменениях файлов проекта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Коммит хранит ссылку на родительский коммит, что позволяет перемещаться по истории</a:t>
            </a:r>
          </a:p>
          <a:p>
            <a:pPr>
              <a:lnSpc>
                <a:spcPct val="150000"/>
              </a:lnSpc>
            </a:pPr>
            <a:endParaRPr lang="ru-RU" sz="2000" dirty="0"/>
          </a:p>
          <a:p>
            <a:pPr>
              <a:lnSpc>
                <a:spcPct val="150000"/>
              </a:lnSpc>
            </a:pPr>
            <a:endParaRPr lang="ru-RU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8E2DADE-0AE9-C2F7-BC19-516B34488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991855"/>
            <a:ext cx="7300735" cy="286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83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B4D060-38DE-8BB9-2358-97565C9D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сохранить изменения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7CEE87-EE36-27EC-85D5-4E56D6B19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503078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Узнать статус репозитория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&gt;&gt; git status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ru-RU" dirty="0"/>
              <a:t>Добавить файлы в коммит, отслеживать файл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&gt;&gt; git add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FILES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&gt;&gt; git add </a:t>
            </a:r>
            <a:r>
              <a:rPr lang="ru-RU" sz="2000" dirty="0">
                <a:latin typeface="Consolas" panose="020B0609020204030204" pitchFamily="49" charset="0"/>
              </a:rPr>
              <a:t>–</a:t>
            </a:r>
            <a:r>
              <a:rPr lang="en-US" sz="2000" dirty="0">
                <a:latin typeface="Consolas" panose="020B0609020204030204" pitchFamily="49" charset="0"/>
              </a:rPr>
              <a:t>A // </a:t>
            </a:r>
            <a:r>
              <a:rPr lang="ru-RU" sz="2000" dirty="0">
                <a:latin typeface="Consolas" panose="020B0609020204030204" pitchFamily="49" charset="0"/>
              </a:rPr>
              <a:t>добавить все файлы</a:t>
            </a:r>
          </a:p>
          <a:p>
            <a:pPr>
              <a:lnSpc>
                <a:spcPct val="150000"/>
              </a:lnSpc>
            </a:pPr>
            <a:r>
              <a:rPr lang="ru-RU" dirty="0"/>
              <a:t>Создать коммит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&gt;&gt; git commit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&gt;&gt; git commit -m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MESSAGE</a:t>
            </a:r>
          </a:p>
          <a:p>
            <a:pPr>
              <a:lnSpc>
                <a:spcPct val="150000"/>
              </a:lnSpc>
            </a:pPr>
            <a:r>
              <a:rPr lang="ru-RU" dirty="0"/>
              <a:t>Посмотреть историю изменений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&gt;&gt; git log</a:t>
            </a:r>
            <a:endParaRPr lang="ru-RU" sz="2000" dirty="0">
              <a:latin typeface="Consolas" panose="020B0609020204030204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A8C8F2-972C-D4F6-B3C0-EFA57DD8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760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ECA55-F987-1492-3AB1-88FB253A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коммитам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67F525-F546-9BD7-A975-C637489A5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Один коммит – одно изменение логики</a:t>
            </a:r>
          </a:p>
          <a:p>
            <a:pPr lvl="1">
              <a:lnSpc>
                <a:spcPct val="150000"/>
              </a:lnSpc>
            </a:pPr>
            <a:r>
              <a:rPr lang="ru-RU" b="1" dirty="0"/>
              <a:t>Не надо решать много задач в одном коммите!</a:t>
            </a:r>
          </a:p>
          <a:p>
            <a:pPr>
              <a:lnSpc>
                <a:spcPct val="150000"/>
              </a:lnSpc>
            </a:pPr>
            <a:r>
              <a:rPr lang="ru-RU" dirty="0"/>
              <a:t>Не разбивать одну задачу на несколько коммитов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Можно откатиться на один коммит и все будет работать</a:t>
            </a:r>
          </a:p>
          <a:p>
            <a:pPr>
              <a:lnSpc>
                <a:spcPct val="150000"/>
              </a:lnSpc>
            </a:pPr>
            <a:r>
              <a:rPr lang="ru-RU" dirty="0"/>
              <a:t>Писать осмысленные комментарии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ru-RU" dirty="0"/>
              <a:t>Коротко и по делу (желательно до 72 символов)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Желательно на английском языке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ru-RU" dirty="0"/>
              <a:t>Используйте ключевые слова </a:t>
            </a:r>
            <a:r>
              <a:rPr lang="en-US" i="1" dirty="0"/>
              <a:t>add</a:t>
            </a:r>
            <a:r>
              <a:rPr lang="en-US" dirty="0"/>
              <a:t>, </a:t>
            </a:r>
            <a:r>
              <a:rPr lang="en-US" i="1" dirty="0"/>
              <a:t>fix</a:t>
            </a:r>
            <a:r>
              <a:rPr lang="en-US" dirty="0"/>
              <a:t>, </a:t>
            </a:r>
            <a:r>
              <a:rPr lang="en-US" i="1" dirty="0"/>
              <a:t>update</a:t>
            </a:r>
            <a:r>
              <a:rPr lang="en-US" dirty="0"/>
              <a:t>…</a:t>
            </a:r>
          </a:p>
          <a:p>
            <a:pPr>
              <a:lnSpc>
                <a:spcPct val="150000"/>
              </a:lnSpc>
            </a:pPr>
            <a:r>
              <a:rPr lang="ru-RU" dirty="0"/>
              <a:t>Если работаете в команде – согласовать регламент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54C1BA-DA5C-580D-3840-38511394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204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4F5BC-B585-22E2-79DC-8802E89F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удалить изменения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A5251-BCE3-907D-29B1-E26CCFBEA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Откатить изменения (рекомендуется</a:t>
            </a:r>
            <a:r>
              <a:rPr lang="en-US" dirty="0"/>
              <a:t>)</a:t>
            </a:r>
            <a:endParaRPr lang="ru-RU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latin typeface="Consolas" panose="020B0609020204030204" pitchFamily="49" charset="0"/>
              </a:rPr>
              <a:t>&gt;&gt; git revert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COMMIT</a:t>
            </a:r>
            <a:endParaRPr lang="ru-RU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dirty="0"/>
              <a:t>Удалить изменения из истории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latin typeface="Consolas" panose="020B0609020204030204" pitchFamily="49" charset="0"/>
              </a:rPr>
              <a:t>&gt;&gt; git reset --soft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PREV_COMMIT</a:t>
            </a:r>
            <a:r>
              <a:rPr lang="en-US" sz="1800" dirty="0">
                <a:latin typeface="Consolas" panose="020B0609020204030204" pitchFamily="49" charset="0"/>
              </a:rPr>
              <a:t> //</a:t>
            </a:r>
            <a:r>
              <a:rPr lang="ru-RU" sz="1800" dirty="0">
                <a:latin typeface="Consolas" panose="020B0609020204030204" pitchFamily="49" charset="0"/>
              </a:rPr>
              <a:t> сохранить индексы</a:t>
            </a: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latin typeface="Consolas" panose="020B0609020204030204" pitchFamily="49" charset="0"/>
              </a:rPr>
              <a:t>&gt;&gt; git reset --mixed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PREV_COMMIT</a:t>
            </a:r>
            <a:r>
              <a:rPr lang="ru-RU" sz="1800" dirty="0">
                <a:latin typeface="Consolas" panose="020B0609020204030204" pitchFamily="49" charset="0"/>
              </a:rPr>
              <a:t>  </a:t>
            </a: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ru-RU" sz="1800" dirty="0">
                <a:latin typeface="Consolas" panose="020B0609020204030204" pitchFamily="49" charset="0"/>
              </a:rPr>
              <a:t>обновить индексы</a:t>
            </a: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latin typeface="Consolas" panose="020B0609020204030204" pitchFamily="49" charset="0"/>
              </a:rPr>
              <a:t>&gt;&gt; git reset --hard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PREV_COMMIT</a:t>
            </a:r>
            <a:r>
              <a:rPr lang="ru-RU" sz="1800" dirty="0">
                <a:latin typeface="Consolas" panose="020B0609020204030204" pitchFamily="49" charset="0"/>
              </a:rPr>
              <a:t>  </a:t>
            </a: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ru-RU" sz="1800" dirty="0">
                <a:latin typeface="Consolas" panose="020B0609020204030204" pitchFamily="49" charset="0"/>
              </a:rPr>
              <a:t>удалить изменения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09535F-8A40-2540-37EC-0A18092B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4523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F9376-3B29-3BEA-A272-4E4FC247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 </a:t>
            </a:r>
            <a:r>
              <a:rPr lang="en-US" dirty="0"/>
              <a:t>.</a:t>
            </a:r>
            <a:r>
              <a:rPr lang="en-US" dirty="0" err="1"/>
              <a:t>gitignore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2E5F6D-2415-72C4-5ACA-617A66B79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Файл </a:t>
            </a:r>
            <a:r>
              <a:rPr lang="en-US" dirty="0"/>
              <a:t>.</a:t>
            </a:r>
            <a:r>
              <a:rPr lang="en-US" dirty="0" err="1"/>
              <a:t>gitignore</a:t>
            </a:r>
            <a:r>
              <a:rPr lang="en-US" dirty="0"/>
              <a:t> </a:t>
            </a:r>
            <a:r>
              <a:rPr lang="ru-RU" dirty="0"/>
              <a:t>позволяет указать файлы и папки, которые не будут отслеживаться и </a:t>
            </a:r>
            <a:r>
              <a:rPr lang="ru-RU" dirty="0" err="1"/>
              <a:t>коммититься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Например, не коммитить файл с паролями или папку с результатами компиляции</a:t>
            </a:r>
          </a:p>
          <a:p>
            <a:pPr>
              <a:lnSpc>
                <a:spcPct val="150000"/>
              </a:lnSpc>
            </a:pPr>
            <a:r>
              <a:rPr lang="ru-RU" dirty="0"/>
              <a:t>Можно использовать шаблоны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? – </a:t>
            </a:r>
            <a:r>
              <a:rPr lang="ru-RU" dirty="0"/>
              <a:t>один любой символ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* – любая последовательность символов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! в начале – отрицание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59F3A6-A92D-9440-A589-B280E18B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989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F4DF1-59BE-D775-27E6-608D2B9D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D9D0C2-DAFA-E629-0915-2F3D9268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Что такое </a:t>
            </a:r>
            <a:r>
              <a:rPr lang="en-US" dirty="0"/>
              <a:t>Git?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Хранение данных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b="1" dirty="0"/>
              <a:t>Ветки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Удаленные репозитории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Модели ветвления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Заключение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C1E7D8-F1DC-6AD5-B182-BD5A0E6C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255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44C88-0A0D-EAA6-5AD0-D42B77CA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ветки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795442-DD0C-A245-3BF0-5175B5A8A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Ветки (</a:t>
            </a:r>
            <a:r>
              <a:rPr lang="en-US" dirty="0"/>
              <a:t>branches) – </a:t>
            </a:r>
            <a:r>
              <a:rPr lang="ru-RU" dirty="0"/>
              <a:t>параллельные версии репозитория</a:t>
            </a:r>
          </a:p>
          <a:p>
            <a:pPr>
              <a:lnSpc>
                <a:spcPct val="150000"/>
              </a:lnSpc>
            </a:pPr>
            <a:r>
              <a:rPr lang="ru-RU" dirty="0"/>
              <a:t>Позволяют работать с файлами в отдельном окружении, не влияя на основные данные</a:t>
            </a:r>
          </a:p>
          <a:p>
            <a:pPr>
              <a:lnSpc>
                <a:spcPct val="150000"/>
              </a:lnSpc>
            </a:pPr>
            <a:r>
              <a:rPr lang="ru-RU" dirty="0"/>
              <a:t>Например, разрабатывать новую функциональность в другой ветке, пока основная используется для формирования релизов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Основная ветка – </a:t>
            </a:r>
            <a:r>
              <a:rPr lang="en-US" dirty="0"/>
              <a:t>main </a:t>
            </a:r>
            <a:r>
              <a:rPr lang="ru-RU" dirty="0"/>
              <a:t>или </a:t>
            </a:r>
            <a:r>
              <a:rPr lang="en-US" dirty="0"/>
              <a:t>master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6786D8-6FB1-60B3-DC10-DC97FD02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108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0E099-34E2-94E1-A08A-85859658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 ветками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DC3BD5-B81B-D9A6-FF83-DFBB86443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Создание ветки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300" dirty="0">
                <a:latin typeface="Consolas" panose="020B0609020204030204" pitchFamily="49" charset="0"/>
              </a:rPr>
              <a:t>&gt;&gt; git branch </a:t>
            </a:r>
            <a:r>
              <a:rPr lang="en-US" sz="23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300" dirty="0">
                <a:latin typeface="Consolas" panose="020B0609020204030204" pitchFamily="49" charset="0"/>
              </a:rPr>
              <a:t>&gt;&gt; git checkout –b </a:t>
            </a:r>
            <a:r>
              <a:rPr lang="en-US" sz="23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2300" dirty="0">
                <a:latin typeface="Consolas" panose="020B0609020204030204" pitchFamily="49" charset="0"/>
              </a:rPr>
              <a:t> // </a:t>
            </a:r>
            <a:r>
              <a:rPr lang="ru-RU" sz="2300" dirty="0">
                <a:latin typeface="Consolas" panose="020B0609020204030204" pitchFamily="49" charset="0"/>
              </a:rPr>
              <a:t>создание и переход</a:t>
            </a:r>
            <a:endParaRPr lang="en-US" sz="23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dirty="0"/>
              <a:t>Переход между ветками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300" dirty="0">
                <a:latin typeface="Consolas" panose="020B0609020204030204" pitchFamily="49" charset="0"/>
              </a:rPr>
              <a:t>&gt;&gt; git checkout </a:t>
            </a:r>
            <a:r>
              <a:rPr lang="en-US" sz="23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endParaRPr lang="ru-RU" sz="23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dirty="0"/>
              <a:t>Список веток в репозитории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300" dirty="0">
                <a:latin typeface="Consolas" panose="020B0609020204030204" pitchFamily="49" charset="0"/>
              </a:rPr>
              <a:t>&gt;&gt; git branch --list</a:t>
            </a:r>
            <a:endParaRPr lang="ru-RU" sz="23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dirty="0"/>
              <a:t>Удаление ветки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300" dirty="0">
                <a:latin typeface="Consolas" panose="020B0609020204030204" pitchFamily="49" charset="0"/>
              </a:rPr>
              <a:t>&gt;&gt; git branch –D </a:t>
            </a:r>
            <a:r>
              <a:rPr lang="en-US" sz="23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0F837E-850D-C58B-1AFB-E2E4FDC1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421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43A52-FA81-9758-1F8A-8D670F47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Объединение веток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B77F64-E0DB-1002-688D-F749459E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Merge – </a:t>
            </a:r>
            <a:r>
              <a:rPr lang="ru-RU" dirty="0"/>
              <a:t>объединить изменения отдельным коммитом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ru-RU" dirty="0"/>
              <a:t>История коммитов не теряется, но создаются лишние коммиты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merge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BRANCH</a:t>
            </a:r>
          </a:p>
          <a:p>
            <a:pPr>
              <a:lnSpc>
                <a:spcPct val="150000"/>
              </a:lnSpc>
            </a:pPr>
            <a:r>
              <a:rPr lang="en-US" dirty="0"/>
              <a:t>Rebase</a:t>
            </a:r>
            <a:r>
              <a:rPr lang="ru-RU" dirty="0"/>
              <a:t> – поочередно применить коммиты к ветке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История коммитов теряется, но лишние коммиты не создаются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rebase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BRANCH</a:t>
            </a:r>
            <a:endParaRPr lang="ru-RU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ru-RU" dirty="0"/>
              <a:t>Объединение всегда происходит к текущей ветке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B62D3E-1E3C-B308-5D7F-56C4E926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463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5B2791-7F3C-3F1F-A35D-28092C69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vs Rebase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2FAD1A-A9D7-EB8B-5550-EDE648BC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20</a:t>
            </a:fld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C98880E-5AF9-001E-3DEC-87139372C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842" y="1600423"/>
            <a:ext cx="7328316" cy="4755928"/>
          </a:xfrm>
        </p:spPr>
      </p:pic>
    </p:spTree>
    <p:extLst>
      <p:ext uri="{BB962C8B-B14F-4D97-AF65-F5344CB8AC3E}">
        <p14:creationId xmlns:p14="http://schemas.microsoft.com/office/powerpoint/2010/main" val="1536627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CE1A4-32AA-7990-A054-34917AE7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Конфликты слияния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086003-F92F-A34E-8AD9-B6E00B3CC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Когда при слиянии в разных ветках изменены одинаковые файлы, возникает конфликт слияния</a:t>
            </a:r>
          </a:p>
          <a:p>
            <a:pPr>
              <a:lnSpc>
                <a:spcPct val="150000"/>
              </a:lnSpc>
            </a:pPr>
            <a:r>
              <a:rPr lang="ru-RU" dirty="0"/>
              <a:t>Для разрешения конфликта нужно отредактировать все конфликтующие файлы, оставив финальную версию</a:t>
            </a:r>
          </a:p>
          <a:p>
            <a:pPr>
              <a:lnSpc>
                <a:spcPct val="150000"/>
              </a:lnSpc>
            </a:pPr>
            <a:r>
              <a:rPr lang="ru-RU" dirty="0"/>
              <a:t>Удобно пользоваться клиентами с графическим интерфейсом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01D86D-EBF8-D598-CCDA-514059A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340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155921-C7C4-23B6-A39F-33582E71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при конфликте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16F53C-1C75-5CF2-282E-A054743E4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Посмотреть список конфликтующих файлов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status</a:t>
            </a:r>
            <a:endParaRPr lang="ru-RU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dirty="0"/>
              <a:t>Пометить файлы разрешенными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add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FILE</a:t>
            </a:r>
            <a:endParaRPr lang="ru-RU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dirty="0"/>
              <a:t>Завершить разрешение конфликта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При </a:t>
            </a:r>
            <a:r>
              <a:rPr lang="en-US" dirty="0"/>
              <a:t>Merge – </a:t>
            </a:r>
            <a:r>
              <a:rPr lang="ru-RU" dirty="0"/>
              <a:t>создать коммит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commit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dirty="0"/>
              <a:t>При </a:t>
            </a:r>
            <a:r>
              <a:rPr lang="en-US" dirty="0"/>
              <a:t>Rebase – </a:t>
            </a:r>
            <a:r>
              <a:rPr lang="ru-RU" dirty="0"/>
              <a:t>продолжить выполнение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rebase --continue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421A4C-D14E-9CC9-7F79-EEF0BB20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22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6FA531C-0E91-A49C-9C33-D2948E47B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679" y="2504304"/>
            <a:ext cx="3485321" cy="385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32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EEB452-48FC-979D-3E05-A5FB3F73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Отложенные изменения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8DB9FB-877C-8329-9B55-C5736B4F0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Иногда бывает нужно «спрятать» изменения, чтобы потом к ним вернуться</a:t>
            </a:r>
          </a:p>
          <a:p>
            <a:pPr>
              <a:lnSpc>
                <a:spcPct val="150000"/>
              </a:lnSpc>
            </a:pPr>
            <a:r>
              <a:rPr lang="ru-RU" dirty="0"/>
              <a:t>Например, нельзя сменить ветку, если в ней есть </a:t>
            </a:r>
            <a:r>
              <a:rPr lang="ru-RU" dirty="0" err="1"/>
              <a:t>незакоммиченные</a:t>
            </a:r>
            <a:r>
              <a:rPr lang="ru-RU" dirty="0"/>
              <a:t> файлы, поэтому их нужно отложить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55D460-3811-C3E7-D34B-2C553E8E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123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D13439-0CB7-E50F-1438-5D0A8FB1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Отложенные изменения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3A14A7-A670-D5F5-53EC-E95F520A8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Отложить изменения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500" dirty="0">
                <a:latin typeface="Consolas" panose="020B0609020204030204" pitchFamily="49" charset="0"/>
              </a:rPr>
              <a:t>&gt;&gt; git stash push // </a:t>
            </a:r>
            <a:r>
              <a:rPr lang="ru-RU" sz="2500" dirty="0">
                <a:latin typeface="Consolas" panose="020B0609020204030204" pitchFamily="49" charset="0"/>
              </a:rPr>
              <a:t>только отслеживаемые</a:t>
            </a:r>
            <a:endParaRPr lang="en-US" sz="25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500" dirty="0">
                <a:latin typeface="Consolas" panose="020B0609020204030204" pitchFamily="49" charset="0"/>
              </a:rPr>
              <a:t>&gt;&gt; git stash push -u  // </a:t>
            </a:r>
            <a:r>
              <a:rPr lang="ru-RU" sz="2500" dirty="0">
                <a:latin typeface="Consolas" panose="020B0609020204030204" pitchFamily="49" charset="0"/>
              </a:rPr>
              <a:t>включить </a:t>
            </a:r>
            <a:r>
              <a:rPr lang="ru-RU" sz="2500" dirty="0" err="1">
                <a:latin typeface="Consolas" panose="020B0609020204030204" pitchFamily="49" charset="0"/>
              </a:rPr>
              <a:t>неотслеживаемые</a:t>
            </a:r>
            <a:endParaRPr lang="en-US" sz="25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500" dirty="0">
                <a:latin typeface="Consolas" panose="020B0609020204030204" pitchFamily="49" charset="0"/>
              </a:rPr>
              <a:t>&gt;&gt; git stash push –m </a:t>
            </a:r>
            <a:r>
              <a:rPr lang="en-US" sz="2500" dirty="0">
                <a:solidFill>
                  <a:srgbClr val="FF0000"/>
                </a:solidFill>
                <a:latin typeface="Consolas" panose="020B0609020204030204" pitchFamily="49" charset="0"/>
              </a:rPr>
              <a:t>MESSAGE</a:t>
            </a:r>
            <a:r>
              <a:rPr lang="en-US" sz="2500" dirty="0">
                <a:latin typeface="Consolas" panose="020B0609020204030204" pitchFamily="49" charset="0"/>
              </a:rPr>
              <a:t>  // </a:t>
            </a:r>
            <a:r>
              <a:rPr lang="ru-RU" sz="2500" dirty="0">
                <a:latin typeface="Consolas" panose="020B0609020204030204" pitchFamily="49" charset="0"/>
              </a:rPr>
              <a:t>добавить сообщение</a:t>
            </a:r>
          </a:p>
          <a:p>
            <a:pPr>
              <a:lnSpc>
                <a:spcPct val="150000"/>
              </a:lnSpc>
            </a:pPr>
            <a:r>
              <a:rPr lang="ru-RU" dirty="0"/>
              <a:t>Вернуть изменения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stash pop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INDEX</a:t>
            </a:r>
            <a:r>
              <a:rPr lang="en-US" dirty="0">
                <a:latin typeface="Consolas" panose="020B0609020204030204" pitchFamily="49" charset="0"/>
              </a:rPr>
              <a:t>  // </a:t>
            </a:r>
            <a:r>
              <a:rPr lang="ru-RU" dirty="0">
                <a:latin typeface="Consolas" panose="020B0609020204030204" pitchFamily="49" charset="0"/>
              </a:rPr>
              <a:t>удалить из отложенных</a:t>
            </a: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stash apply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INDEX</a:t>
            </a: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ru-RU" dirty="0">
                <a:latin typeface="Consolas" panose="020B0609020204030204" pitchFamily="49" charset="0"/>
              </a:rPr>
              <a:t>сохранить в отложенных</a:t>
            </a:r>
          </a:p>
          <a:p>
            <a:pPr>
              <a:lnSpc>
                <a:spcPct val="150000"/>
              </a:lnSpc>
            </a:pPr>
            <a:r>
              <a:rPr lang="ru-RU" dirty="0"/>
              <a:t>Список отложенных изменений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stash list</a:t>
            </a:r>
            <a:endParaRPr lang="ru-RU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5B4370-7233-0706-F8C8-598109D1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279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F4DF1-59BE-D775-27E6-608D2B9D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D9D0C2-DAFA-E629-0915-2F3D9268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Что такое </a:t>
            </a:r>
            <a:r>
              <a:rPr lang="en-US" dirty="0"/>
              <a:t>Git?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Хранение данных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Ветки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b="1" dirty="0"/>
              <a:t>Удаленные репозитории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Модели ветвления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Заключение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C1E7D8-F1DC-6AD5-B182-BD5A0E6C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306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A4D34-F06A-186A-AF82-2E5E8FF2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Удаленный репозиторий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D8CCED-0590-3A43-9456-3EF59B1E4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ru-RU" dirty="0"/>
              <a:t>Удаленный репозиторий – версия репозитория, сохраненная в другом месте: в другой папке, на другом компьютере (сервере), в Интернете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ru-RU" dirty="0"/>
              <a:t>Сервисы для хранения </a:t>
            </a:r>
            <a:r>
              <a:rPr lang="en-US" dirty="0"/>
              <a:t>Git </a:t>
            </a:r>
            <a:r>
              <a:rPr lang="ru-RU" dirty="0"/>
              <a:t>репозиториев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hlinkClick r:id="rId2"/>
              </a:rPr>
              <a:t>GitHub</a:t>
            </a:r>
            <a:endParaRPr lang="en-US" dirty="0"/>
          </a:p>
          <a:p>
            <a:pPr lvl="1">
              <a:lnSpc>
                <a:spcPct val="160000"/>
              </a:lnSpc>
            </a:pPr>
            <a:r>
              <a:rPr lang="en-US" dirty="0">
                <a:hlinkClick r:id="rId3"/>
              </a:rPr>
              <a:t>GitLab</a:t>
            </a:r>
            <a:endParaRPr lang="en-US" dirty="0"/>
          </a:p>
          <a:p>
            <a:pPr lvl="1">
              <a:lnSpc>
                <a:spcPct val="160000"/>
              </a:lnSpc>
            </a:pPr>
            <a:r>
              <a:rPr lang="en-US" dirty="0" err="1">
                <a:hlinkClick r:id="rId4"/>
              </a:rPr>
              <a:t>GitVerse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F905B0-F2CF-9507-9B7B-6979B641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20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44C88-0A0D-EAA6-5AD0-D42B77CA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удаленным репозиторием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795442-DD0C-A245-3BF0-5175B5A8A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9585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Скачать репозиторий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clone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URL</a:t>
            </a:r>
            <a:endParaRPr lang="ru-RU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dirty="0"/>
              <a:t>Посмотреть список связанных удаленных репозиториев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remote -v</a:t>
            </a:r>
            <a:endParaRPr lang="ru-RU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dirty="0"/>
              <a:t>Скачать изменения из удаленного репозитория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pull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REMOTE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BRANCH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ru-RU" dirty="0">
                <a:latin typeface="Consolas" panose="020B0609020204030204" pitchFamily="49" charset="0"/>
              </a:rPr>
              <a:t>Пример: </a:t>
            </a:r>
            <a:r>
              <a:rPr lang="en-US" dirty="0">
                <a:latin typeface="Consolas" panose="020B0609020204030204" pitchFamily="49" charset="0"/>
              </a:rPr>
              <a:t>&gt;&gt; git pull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origin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main</a:t>
            </a:r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dirty="0"/>
              <a:t>Загрузить изменения в удаленный репозиторий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&gt;&gt; git push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REMOTE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BRANCH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ru-RU" dirty="0">
                <a:latin typeface="Consolas" panose="020B0609020204030204" pitchFamily="49" charset="0"/>
              </a:rPr>
              <a:t>Пример: </a:t>
            </a:r>
            <a:r>
              <a:rPr lang="en-US" dirty="0">
                <a:latin typeface="Consolas" panose="020B0609020204030204" pitchFamily="49" charset="0"/>
              </a:rPr>
              <a:t>&gt;&gt; git push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origin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main</a:t>
            </a:r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6786D8-6FB1-60B3-DC10-DC97FD02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897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F4DF1-59BE-D775-27E6-608D2B9D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D9D0C2-DAFA-E629-0915-2F3D9268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Что такое </a:t>
            </a:r>
            <a:r>
              <a:rPr lang="en-US" dirty="0"/>
              <a:t>Git?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Хранение данных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Ветки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Удаленные репозитории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b="1" dirty="0"/>
              <a:t>Модели ветвления</a:t>
            </a:r>
            <a:endParaRPr lang="en-US" b="1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C1E7D8-F1DC-6AD5-B182-BD5A0E6C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173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44C88-0A0D-EAA6-5AD0-D42B77CA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ветвления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795442-DD0C-A245-3BF0-5175B5A8A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ru-RU" dirty="0"/>
              <a:t>В командах часто применяется определенная модель ветвления, которая задает способы организации веток и методы их слияния</a:t>
            </a:r>
          </a:p>
          <a:p>
            <a:pPr>
              <a:lnSpc>
                <a:spcPct val="170000"/>
              </a:lnSpc>
            </a:pPr>
            <a:r>
              <a:rPr lang="ru-RU" dirty="0"/>
              <a:t>Популярные модели ветвления</a:t>
            </a:r>
          </a:p>
          <a:p>
            <a:pPr lvl="1">
              <a:lnSpc>
                <a:spcPct val="170000"/>
              </a:lnSpc>
            </a:pPr>
            <a:r>
              <a:rPr lang="en-US" dirty="0" err="1"/>
              <a:t>GitFlow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dirty="0"/>
              <a:t>GitHub Flow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Forking Workflow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Trunk-based Development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6786D8-6FB1-60B3-DC10-DC97FD02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107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A69A3-9BF0-DAB6-48C1-58EECFFE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 веток в </a:t>
            </a:r>
            <a:r>
              <a:rPr lang="en-US" dirty="0" err="1"/>
              <a:t>GitFlow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68115FE-FFFF-B26E-B28C-673569895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999" y="1690689"/>
            <a:ext cx="8468286" cy="432423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AC3052-6DEE-B17F-AA1F-781256D9F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825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B9FD6-2709-07E6-2899-2586E2F3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 веток в </a:t>
            </a:r>
            <a:r>
              <a:rPr lang="en-US" dirty="0" err="1"/>
              <a:t>GitFlow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06DA6D-6FCC-53D2-E392-741630AF3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Master – </a:t>
            </a:r>
            <a:r>
              <a:rPr lang="ru-RU" dirty="0"/>
              <a:t>основная (</a:t>
            </a:r>
            <a:r>
              <a:rPr lang="en-US" dirty="0"/>
              <a:t>production) </a:t>
            </a:r>
            <a:r>
              <a:rPr lang="ru-RU" dirty="0"/>
              <a:t>ветка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Develop </a:t>
            </a:r>
            <a:r>
              <a:rPr lang="ru-RU" dirty="0"/>
              <a:t>– ветка, в которой ведется разработка, сливается с </a:t>
            </a:r>
            <a:r>
              <a:rPr lang="en-US" dirty="0"/>
              <a:t>Release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en-US" dirty="0"/>
              <a:t>Feature – </a:t>
            </a:r>
            <a:r>
              <a:rPr lang="ru-RU" dirty="0"/>
              <a:t>ветка, в которой разрабатывается определенный функционал, сливается с </a:t>
            </a:r>
            <a:r>
              <a:rPr lang="en-US" dirty="0"/>
              <a:t>Develop</a:t>
            </a:r>
          </a:p>
          <a:p>
            <a:pPr>
              <a:lnSpc>
                <a:spcPct val="150000"/>
              </a:lnSpc>
            </a:pPr>
            <a:r>
              <a:rPr lang="en-US" dirty="0"/>
              <a:t>Release – </a:t>
            </a:r>
            <a:r>
              <a:rPr lang="ru-RU" dirty="0"/>
              <a:t>ветка, в которой продукт готовится к релизу, сливается с </a:t>
            </a:r>
            <a:r>
              <a:rPr lang="en-US" dirty="0"/>
              <a:t>Main </a:t>
            </a:r>
            <a:r>
              <a:rPr lang="ru-RU" dirty="0"/>
              <a:t>и </a:t>
            </a:r>
            <a:r>
              <a:rPr lang="en-US" dirty="0"/>
              <a:t>Develop</a:t>
            </a:r>
          </a:p>
          <a:p>
            <a:pPr>
              <a:lnSpc>
                <a:spcPct val="150000"/>
              </a:lnSpc>
            </a:pPr>
            <a:r>
              <a:rPr lang="en-US" dirty="0"/>
              <a:t>Hotfix – </a:t>
            </a:r>
            <a:r>
              <a:rPr lang="ru-RU" dirty="0"/>
              <a:t>ветка, в которой исправляются срочные ошибки, сливается с </a:t>
            </a:r>
            <a:r>
              <a:rPr lang="en-US" dirty="0"/>
              <a:t>Main </a:t>
            </a:r>
            <a:r>
              <a:rPr lang="ru-RU" dirty="0"/>
              <a:t>и </a:t>
            </a:r>
            <a:r>
              <a:rPr lang="en-US" dirty="0"/>
              <a:t>Develop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85C70D-7D20-CFF3-9114-CE2EB297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117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CE22D-35D1-BC11-CC0E-F8A8CA26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Flow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C5416D-4772-E703-D501-26525F5AB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75108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Имеется основная ветка </a:t>
            </a:r>
            <a:r>
              <a:rPr lang="en-US" dirty="0"/>
              <a:t>Main</a:t>
            </a:r>
          </a:p>
          <a:p>
            <a:pPr>
              <a:lnSpc>
                <a:spcPct val="150000"/>
              </a:lnSpc>
            </a:pPr>
            <a:r>
              <a:rPr lang="ru-RU" dirty="0"/>
              <a:t>Создаются ветки </a:t>
            </a:r>
            <a:r>
              <a:rPr lang="en-US" dirty="0"/>
              <a:t>Feature</a:t>
            </a:r>
            <a:r>
              <a:rPr lang="ru-RU" dirty="0"/>
              <a:t>, в который создается новый функционал</a:t>
            </a:r>
          </a:p>
          <a:p>
            <a:pPr>
              <a:lnSpc>
                <a:spcPct val="150000"/>
              </a:lnSpc>
            </a:pPr>
            <a:r>
              <a:rPr lang="ru-RU" dirty="0"/>
              <a:t>Для слияния </a:t>
            </a:r>
            <a:r>
              <a:rPr lang="en-US" dirty="0"/>
              <a:t>Feature </a:t>
            </a:r>
            <a:r>
              <a:rPr lang="ru-RU" dirty="0"/>
              <a:t>ветки в </a:t>
            </a:r>
            <a:r>
              <a:rPr lang="en-US" dirty="0"/>
              <a:t>Main </a:t>
            </a:r>
            <a:r>
              <a:rPr lang="ru-RU" dirty="0"/>
              <a:t>выполняется </a:t>
            </a:r>
            <a:r>
              <a:rPr lang="en-US" dirty="0"/>
              <a:t>Pull Request </a:t>
            </a:r>
            <a:r>
              <a:rPr lang="ru-RU" dirty="0"/>
              <a:t>(запрос на слияние) – команда тестирует изменения и выносит вердикт – сливать ветку или нет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5E6FBA-28C6-E075-0A1E-BBEF45BD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696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83B7C1-749C-EE3D-BF9F-F525B589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Forking Workflow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D47CCE-FF44-8DE0-2500-861830B48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Аналогично </a:t>
            </a:r>
            <a:r>
              <a:rPr lang="en-US" dirty="0"/>
              <a:t>GitHub</a:t>
            </a:r>
            <a:r>
              <a:rPr lang="ru-RU" dirty="0"/>
              <a:t>, только на уровне репозиториев</a:t>
            </a:r>
          </a:p>
          <a:p>
            <a:pPr>
              <a:lnSpc>
                <a:spcPct val="150000"/>
              </a:lnSpc>
            </a:pPr>
            <a:r>
              <a:rPr lang="ru-RU" dirty="0"/>
              <a:t>Каждый разработчик имеет личную копию репозитория (</a:t>
            </a:r>
            <a:r>
              <a:rPr lang="en-US" dirty="0"/>
              <a:t>fork)</a:t>
            </a:r>
            <a:r>
              <a:rPr lang="ru-RU" dirty="0"/>
              <a:t>, в котором разрабатывает новую функциональность</a:t>
            </a:r>
          </a:p>
          <a:p>
            <a:pPr>
              <a:lnSpc>
                <a:spcPct val="150000"/>
              </a:lnSpc>
            </a:pPr>
            <a:r>
              <a:rPr lang="ru-RU" dirty="0"/>
              <a:t>Для загрузки данных в основной репозиторий выполняется </a:t>
            </a:r>
            <a:r>
              <a:rPr lang="en-US" dirty="0"/>
              <a:t>Pull Request</a:t>
            </a:r>
            <a:endParaRPr lang="ru-RU" dirty="0"/>
          </a:p>
          <a:p>
            <a:pPr>
              <a:lnSpc>
                <a:spcPct val="150000"/>
              </a:lnSpc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EABBC2-EEEA-E74D-6BD1-5CAA5C17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18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D0B7E-5C93-555D-45AB-A304A423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Trunk-based Development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D97CE1-9EEB-5F0C-96FC-4E0988F06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634466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Имеется одна ветка основная ветка </a:t>
            </a:r>
            <a:r>
              <a:rPr lang="en-US" dirty="0"/>
              <a:t>Trunk</a:t>
            </a:r>
            <a:r>
              <a:rPr lang="ru-RU" dirty="0"/>
              <a:t>, в которую сразу записываются все изменения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Нет отдельных веток для </a:t>
            </a:r>
            <a:r>
              <a:rPr lang="ru-RU" dirty="0" err="1"/>
              <a:t>функциональностей</a:t>
            </a:r>
            <a:r>
              <a:rPr lang="ru-RU" dirty="0"/>
              <a:t>, релизов и разработки</a:t>
            </a:r>
          </a:p>
          <a:p>
            <a:pPr>
              <a:lnSpc>
                <a:spcPct val="150000"/>
              </a:lnSpc>
            </a:pPr>
            <a:r>
              <a:rPr lang="ru-RU" dirty="0"/>
              <a:t>Позволяет максимально быстро готовить проект к выпускам новых версий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CDD363-1E24-5288-5F97-1638860D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34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5CF4F3-352F-CBF5-CF87-5919B8B3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213" y="1919290"/>
            <a:ext cx="3373699" cy="403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653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F4DF1-59BE-D775-27E6-608D2B9D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D9D0C2-DAFA-E629-0915-2F3D9268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Что такое </a:t>
            </a:r>
            <a:r>
              <a:rPr lang="en-US" dirty="0"/>
              <a:t>Git?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Хранение данных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Ветки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Удаленные репозитории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Модели ветвления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b="1" dirty="0"/>
              <a:t>Заключение</a:t>
            </a:r>
            <a:endParaRPr lang="en-US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C1E7D8-F1DC-6AD5-B182-BD5A0E6C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3038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44C88-0A0D-EAA6-5AD0-D42B77CA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Полезные ссылки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795442-DD0C-A245-3BF0-5175B5A8A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Официальная книга на русском языке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hlinkClick r:id="rId2"/>
              </a:rPr>
              <a:t>https://git-scm.com/book/ru/v2</a:t>
            </a:r>
            <a:r>
              <a:rPr lang="ru-RU" dirty="0"/>
              <a:t> </a:t>
            </a:r>
          </a:p>
          <a:p>
            <a:pPr>
              <a:lnSpc>
                <a:spcPct val="150000"/>
              </a:lnSpc>
            </a:pPr>
            <a:r>
              <a:rPr lang="ru-RU" dirty="0"/>
              <a:t>Игры про </a:t>
            </a:r>
            <a:r>
              <a:rPr lang="en-US" dirty="0"/>
              <a:t>Git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hlinkClick r:id="rId3"/>
              </a:rPr>
              <a:t>https://learngitbranching.js.org/?locale=ru_RU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>
                <a:hlinkClick r:id="rId4"/>
              </a:rPr>
              <a:t>https://ohmygit.org/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hlinkClick r:id="rId5"/>
              </a:rPr>
              <a:t>https://profy.dev/project/github-minesweeper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Полезные плюшки от компаний для студентов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hlinkClick r:id="rId6"/>
              </a:rPr>
              <a:t>https://education.github.com/pack</a:t>
            </a: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6786D8-6FB1-60B3-DC10-DC97FD02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A087-2626-4CBB-8D5B-06D9B903E9C6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55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3C3DE8C-F74B-F5BA-B019-07AA424ED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2" y="292201"/>
            <a:ext cx="7222674" cy="64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267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566</TotalTime>
  <Words>1125</Words>
  <PresentationFormat>Экран (4:3)</PresentationFormat>
  <Paragraphs>257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Consolas</vt:lpstr>
      <vt:lpstr>Тема Office</vt:lpstr>
      <vt:lpstr>Презентация PowerPoint</vt:lpstr>
      <vt:lpstr>План</vt:lpstr>
      <vt:lpstr>План</vt:lpstr>
      <vt:lpstr>Что такое Git?</vt:lpstr>
      <vt:lpstr>Для чего Git?</vt:lpstr>
      <vt:lpstr>Оно мне надо?</vt:lpstr>
      <vt:lpstr>Оно мне надо?</vt:lpstr>
      <vt:lpstr>Как использовать Git?</vt:lpstr>
      <vt:lpstr>План</vt:lpstr>
      <vt:lpstr>Структура проекта</vt:lpstr>
      <vt:lpstr>Коммиты</vt:lpstr>
      <vt:lpstr>Как сохранить изменения</vt:lpstr>
      <vt:lpstr>Рекомендации по коммитам</vt:lpstr>
      <vt:lpstr>Как удалить изменения</vt:lpstr>
      <vt:lpstr>Файл .gitignore</vt:lpstr>
      <vt:lpstr>План</vt:lpstr>
      <vt:lpstr>Что такое ветки</vt:lpstr>
      <vt:lpstr>Операции с ветками</vt:lpstr>
      <vt:lpstr>Объединение веток</vt:lpstr>
      <vt:lpstr>Merge vs Rebase</vt:lpstr>
      <vt:lpstr>Конфликты слияния</vt:lpstr>
      <vt:lpstr>Команды при конфликте</vt:lpstr>
      <vt:lpstr>Отложенные изменения</vt:lpstr>
      <vt:lpstr>Отложенные изменения</vt:lpstr>
      <vt:lpstr>План</vt:lpstr>
      <vt:lpstr>Удаленный репозиторий</vt:lpstr>
      <vt:lpstr>Работа с удаленным репозиторием</vt:lpstr>
      <vt:lpstr>План</vt:lpstr>
      <vt:lpstr>Модели ветвления</vt:lpstr>
      <vt:lpstr>Организация веток в GitFlow</vt:lpstr>
      <vt:lpstr>Организация веток в GitFlow</vt:lpstr>
      <vt:lpstr>GitHub Flow</vt:lpstr>
      <vt:lpstr>Forking Workflow</vt:lpstr>
      <vt:lpstr>Trunk-based Development</vt:lpstr>
      <vt:lpstr>План</vt:lpstr>
      <vt:lpstr>Полезные ссылки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2024-03-28T12:35:36Z</dcterms:created>
  <dcterms:modified xsi:type="dcterms:W3CDTF">2024-04-01T17:14:43Z</dcterms:modified>
</cp:coreProperties>
</file>