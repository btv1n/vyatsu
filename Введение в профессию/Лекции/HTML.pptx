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suY7oSg4OqsEcpunWdeSPhSNr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a25bbfab1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a25bbfab1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ca25bbfab1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a25bbfab1_0_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ca25bbfab1_0_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ca25bbfab1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a25bbfab1_0_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ca25bbfab1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a25bbfab1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ca25bbfab1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ca25bbfab1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a25bbfab1_0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ca25bbfab1_0_1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ca25bbfab1_0_1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ca25bbfab1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ca25bbfab1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ca25bbfab1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a25bbfab1_0_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ca25bbfab1_0_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ca25bbfab1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a25bbfab1_0_27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ca25bbfab1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a25bbfab1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ca25bbfab1_0_3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ca25bbfab1_0_3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ca25bbfab1_0_30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ca25bbfab1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a25bbfab1_0_3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ca25bbfab1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a25bbfab1_0_39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ca25bbfab1_0_39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ca25bbfab1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25bbfab1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AND_BODY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25bbfab1_0_45"/>
          <p:cNvSpPr txBox="1"/>
          <p:nvPr>
            <p:ph type="title"/>
          </p:nvPr>
        </p:nvSpPr>
        <p:spPr>
          <a:xfrm>
            <a:off x="1153800" y="365040"/>
            <a:ext cx="102000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6" name="Google Shape;56;g3ca25bbfab1_0_45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g3ca25bbfab1_0_45"/>
          <p:cNvSpPr txBox="1"/>
          <p:nvPr>
            <p:ph idx="11" type="ftr"/>
          </p:nvPr>
        </p:nvSpPr>
        <p:spPr>
          <a:xfrm>
            <a:off x="4038480" y="635652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ca25bbfab1_0_45"/>
          <p:cNvSpPr txBox="1"/>
          <p:nvPr>
            <p:ph idx="12" type="sldNum"/>
          </p:nvPr>
        </p:nvSpPr>
        <p:spPr>
          <a:xfrm>
            <a:off x="8610480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ca25bbfab1_0_45"/>
          <p:cNvSpPr txBox="1"/>
          <p:nvPr>
            <p:ph idx="10" type="dt"/>
          </p:nvPr>
        </p:nvSpPr>
        <p:spPr>
          <a:xfrm>
            <a:off x="838080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a25bbfab1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ca25bbfab1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ca25bbfab1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25bbfab1_0_5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HTML</a:t>
            </a:r>
            <a:endParaRPr/>
          </a:p>
        </p:txBody>
      </p:sp>
      <p:sp>
        <p:nvSpPr>
          <p:cNvPr id="66" name="Google Shape;66;g3ca25bbfab1_0_5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a25bbfab1_0_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idx="4294967295" type="title"/>
          </p:nvPr>
        </p:nvSpPr>
        <p:spPr>
          <a:xfrm>
            <a:off x="1992313" y="365125"/>
            <a:ext cx="101997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Язык HTML</a:t>
            </a:r>
            <a:endParaRPr/>
          </a:p>
        </p:txBody>
      </p:sp>
      <p:sp>
        <p:nvSpPr>
          <p:cNvPr id="73" name="Google Shape;73;p2"/>
          <p:cNvSpPr txBox="1"/>
          <p:nvPr>
            <p:ph idx="4294967295" type="body"/>
          </p:nvPr>
        </p:nvSpPr>
        <p:spPr>
          <a:xfrm>
            <a:off x="735291" y="1573410"/>
            <a:ext cx="10515600" cy="45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527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от англ. </a:t>
            </a:r>
            <a:r>
              <a:rPr i="1" lang="ru-RU" sz="2800"/>
              <a:t>HyperText Markup Language – «язык разметки гипер</a:t>
            </a:r>
            <a:r>
              <a:rPr lang="ru-RU" sz="2800"/>
              <a:t>текста»</a:t>
            </a:r>
            <a:endParaRPr sz="2800"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служит для создания веб-страниц</a:t>
            </a:r>
            <a:endParaRPr sz="2800"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HTML-документы представляют собой файлы с текстом и дополнительными инструкциями (</a:t>
            </a:r>
            <a:r>
              <a:rPr b="1" lang="ru-RU" sz="2800"/>
              <a:t>тегами</a:t>
            </a:r>
            <a:r>
              <a:rPr lang="ru-RU" sz="2800"/>
              <a:t>)</a:t>
            </a:r>
            <a:endParaRPr sz="2800"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lang="ru-RU"/>
              <a:t>HTML 5 — разработан и принят W3C в 2014</a:t>
            </a:r>
            <a:endParaRPr/>
          </a:p>
        </p:txBody>
      </p:sp>
      <p:sp>
        <p:nvSpPr>
          <p:cNvPr id="74" name="Google Shape;74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687" y="1577585"/>
            <a:ext cx="5487734" cy="16483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 flipH="1" rot="10800000">
            <a:off x="2551176" y="3813048"/>
            <a:ext cx="1005840" cy="95097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C000"/>
          </a:solidFill>
          <a:ln cap="flat" cmpd="sng" w="381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964791" y="365125"/>
            <a:ext cx="101997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 текста с разметкой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687" y="1577585"/>
            <a:ext cx="5487733" cy="164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5968" y="3408100"/>
            <a:ext cx="5041583" cy="30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 flipH="1" rot="10800000">
            <a:off x="2551176" y="3813048"/>
            <a:ext cx="1005840" cy="95097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C000"/>
          </a:solidFill>
          <a:ln cap="flat" cmpd="sng" w="381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 flipH="1" rot="5400000">
            <a:off x="9428502" y="3253397"/>
            <a:ext cx="1005840" cy="95097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C000"/>
          </a:solidFill>
          <a:ln cap="flat" cmpd="sng" w="381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964791" y="365125"/>
            <a:ext cx="101997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 текста с разметкой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idx="4294967295" type="title"/>
          </p:nvPr>
        </p:nvSpPr>
        <p:spPr>
          <a:xfrm>
            <a:off x="964791" y="365125"/>
            <a:ext cx="101997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Пример текста с разметкой</a:t>
            </a:r>
            <a:endParaRPr/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447" y="192024"/>
            <a:ext cx="3030303" cy="270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687" y="1577585"/>
            <a:ext cx="5487733" cy="164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5968" y="3408100"/>
            <a:ext cx="5041583" cy="30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 flipH="1" rot="10800000">
            <a:off x="2551176" y="3813048"/>
            <a:ext cx="1005840" cy="95097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C000"/>
          </a:solidFill>
          <a:ln cap="flat" cmpd="sng" w="381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 flipH="1" rot="5400000">
            <a:off x="9428502" y="3253397"/>
            <a:ext cx="1005840" cy="95097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C000"/>
          </a:solidFill>
          <a:ln cap="flat" cmpd="sng" w="381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idx="4294967295" type="title"/>
          </p:nvPr>
        </p:nvSpPr>
        <p:spPr>
          <a:xfrm>
            <a:off x="1992313" y="365125"/>
            <a:ext cx="101997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Тег</a:t>
            </a:r>
            <a:endParaRPr/>
          </a:p>
        </p:txBody>
      </p:sp>
      <p:sp>
        <p:nvSpPr>
          <p:cNvPr id="109" name="Google Shape;109;p6"/>
          <p:cNvSpPr txBox="1"/>
          <p:nvPr>
            <p:ph idx="4294967295" type="body"/>
          </p:nvPr>
        </p:nvSpPr>
        <p:spPr>
          <a:xfrm>
            <a:off x="914399" y="1202016"/>
            <a:ext cx="11029361" cy="4795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Элемент языка разметки, заключённый между символами &lt; и 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Виды: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ru-RU"/>
              <a:t>Двойные. Например: &lt;html&gt;&lt;/html&gt;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ru-RU"/>
              <a:t>Одиночные. Например: &lt;img/&gt;</a:t>
            </a:r>
            <a:br>
              <a:rPr lang="ru-RU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Регистронезависимы</a:t>
            </a:r>
            <a:br>
              <a:rPr lang="ru-RU"/>
            </a:br>
            <a:r>
              <a:rPr lang="ru-RU"/>
              <a:t>&lt;Img&gt;, &lt;img&gt;, &lt;IMG&gt;, &lt;iMg&gt; - один и тот же тег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Необходимо соблюдать правильную вложенность тегов</a:t>
            </a:r>
            <a:endParaRPr/>
          </a:p>
        </p:txBody>
      </p:sp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6723" y="4960176"/>
            <a:ext cx="7088766" cy="121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Атрибуты тегов</a:t>
            </a:r>
            <a:endParaRPr/>
          </a:p>
        </p:txBody>
      </p:sp>
      <p:sp>
        <p:nvSpPr>
          <p:cNvPr id="117" name="Google Shape;117;p7"/>
          <p:cNvSpPr txBox="1"/>
          <p:nvPr>
            <p:ph idx="4294967295" type="body"/>
          </p:nvPr>
        </p:nvSpPr>
        <p:spPr>
          <a:xfrm>
            <a:off x="584462" y="1608222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часть языка разметки, используемая для настройки поведения или отображения элемента HTML</a:t>
            </a:r>
            <a:endParaRPr/>
          </a:p>
        </p:txBody>
      </p:sp>
      <p:pic>
        <p:nvPicPr>
          <p:cNvPr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3202" y="2807208"/>
            <a:ext cx="684847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Структура HTML документа</a:t>
            </a:r>
            <a:endParaRPr/>
          </a:p>
        </p:txBody>
      </p:sp>
      <p:sp>
        <p:nvSpPr>
          <p:cNvPr id="125" name="Google Shape;125;p8"/>
          <p:cNvSpPr txBox="1"/>
          <p:nvPr>
            <p:ph idx="4294967295" type="body"/>
          </p:nvPr>
        </p:nvSpPr>
        <p:spPr>
          <a:xfrm>
            <a:off x="659876" y="1444625"/>
            <a:ext cx="6092825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/>
              <a:t>Секция DOCTYPE указывает браузеру тип документа и версию использованного языка разметки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/>
              <a:t>Мета-тег HTML — это элемент разметки html, описывающий свойства документа как такового (метаданные). Назначение мета-тега определяется набором его атрибутов, которые задаются в теге &lt;meta&gt;. Мета-теги размещают в блоке &lt;head&gt;...&lt;/head&gt; веб-страницы. Они не являются обязательными элементами, но могут быть весьма полезны</a:t>
            </a:r>
            <a:endParaRPr/>
          </a:p>
          <a:p>
            <a:pPr indent="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/>
              <a:t>В блоке &lt;head&gt;…&lt;/head&gt; происходит подключение скриптов, указание заголовка страницы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●"/>
            </a:pPr>
            <a:r>
              <a:rPr lang="ru-RU" sz="1800"/>
              <a:t>Блок &lt;body&gt;…&lt;/body&gt; представляет содержимое веб-страницы</a:t>
            </a:r>
            <a:endParaRPr/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8317" y="1530030"/>
            <a:ext cx="5108067" cy="27026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682" y="1652905"/>
            <a:ext cx="8653463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682" y="3828923"/>
            <a:ext cx="76263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Теги для работы с текстом</a:t>
            </a:r>
            <a:endParaRPr/>
          </a:p>
        </p:txBody>
      </p:sp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Теги для работы с текстом</a:t>
            </a:r>
            <a:endParaRPr/>
          </a:p>
        </p:txBody>
      </p:sp>
      <p:sp>
        <p:nvSpPr>
          <p:cNvPr id="141" name="Google Shape;141;p10"/>
          <p:cNvSpPr txBox="1"/>
          <p:nvPr>
            <p:ph idx="4294967295" type="body"/>
          </p:nvPr>
        </p:nvSpPr>
        <p:spPr>
          <a:xfrm>
            <a:off x="669303" y="1535702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ru-RU" sz="2400"/>
              <a:t>&lt;p&gt;…&lt;/p&gt;</a:t>
            </a:r>
            <a:r>
              <a:rPr lang="ru-RU" sz="2400"/>
              <a:t> – задает начало и конец параграфа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Атрибут: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align="…" – определяет режим выравнивания текста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	left – по левому краю (по умолчанию)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	center – по центру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	right – по правому краю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	justify – по ширине</a:t>
            </a:r>
            <a:endParaRPr/>
          </a:p>
        </p:txBody>
      </p:sp>
      <p:sp>
        <p:nvSpPr>
          <p:cNvPr id="142" name="Google Shape;142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Теги для работы с текстом</a:t>
            </a:r>
            <a:endParaRPr/>
          </a:p>
        </p:txBody>
      </p:sp>
      <p:sp>
        <p:nvSpPr>
          <p:cNvPr id="148" name="Google Shape;148;p11"/>
          <p:cNvSpPr txBox="1"/>
          <p:nvPr>
            <p:ph idx="4294967295" type="body"/>
          </p:nvPr>
        </p:nvSpPr>
        <p:spPr>
          <a:xfrm>
            <a:off x="1123950" y="1592263"/>
            <a:ext cx="1106805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 sz="2400"/>
              <a:t>&lt;hN&gt;…&lt;/hN&gt;</a:t>
            </a:r>
            <a:r>
              <a:rPr lang="ru-RU" sz="2400"/>
              <a:t> – вложенный текст, является заголовком документа уровня N из [1..6]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 sz="2400"/>
              <a:t>&lt;br&gt; </a:t>
            </a:r>
            <a:r>
              <a:rPr lang="ru-RU" sz="2400"/>
              <a:t>– перенос строки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ru-RU" sz="2400"/>
              <a:t>&lt;hr</a:t>
            </a:r>
            <a:r>
              <a:rPr lang="ru-RU" sz="2400"/>
              <a:t>&gt; – выводит горизонтальную разделительную линию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Атрибуты: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align="…" – определяет режим выравнивания линии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noshade – использовать сплошную линию вместо объемной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size="N" – толщина линии в пикселях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ru-RU" sz="2400"/>
              <a:t>	width="N" – ширина линии в пикселях или процентах по отношению к ширине экрана</a:t>
            </a:r>
            <a:endParaRPr/>
          </a:p>
        </p:txBody>
      </p:sp>
      <p:sp>
        <p:nvSpPr>
          <p:cNvPr id="149" name="Google Shape;149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Теги для работы с текстом</a:t>
            </a:r>
            <a:endParaRPr/>
          </a:p>
        </p:txBody>
      </p:sp>
      <p:sp>
        <p:nvSpPr>
          <p:cNvPr id="155" name="Google Shape;155;p12"/>
          <p:cNvSpPr txBox="1"/>
          <p:nvPr>
            <p:ph idx="4294967295" type="body"/>
          </p:nvPr>
        </p:nvSpPr>
        <p:spPr>
          <a:xfrm>
            <a:off x="754144" y="1608222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 sz="2400"/>
              <a:t>&lt;font&gt;…&lt;/font&gt; </a:t>
            </a:r>
            <a:r>
              <a:rPr lang="ru-RU" sz="2400"/>
              <a:t>– устанавливает размер и цвет текста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Атрибуты: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	color="цвет" – задает цвет текста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	face="шрифт" – определяет шрифт текста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	size="1-7" – устанавливает размер шрифта (1–7)</a:t>
            </a:r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008120"/>
            <a:ext cx="871537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Представление цвета в HTML</a:t>
            </a:r>
            <a:endParaRPr/>
          </a:p>
        </p:txBody>
      </p:sp>
      <p:sp>
        <p:nvSpPr>
          <p:cNvPr id="163" name="Google Shape;163;p13"/>
          <p:cNvSpPr txBox="1"/>
          <p:nvPr>
            <p:ph idx="4294967295" type="body"/>
          </p:nvPr>
        </p:nvSpPr>
        <p:spPr>
          <a:xfrm>
            <a:off x="678729" y="1682042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Цвет в HTML может быть задан ключевыми словами – названиями цветов на английском языке</a:t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Пример: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812" y="2738438"/>
            <a:ext cx="7572375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Ссылки</a:t>
            </a:r>
            <a:endParaRPr/>
          </a:p>
        </p:txBody>
      </p:sp>
      <p:sp>
        <p:nvSpPr>
          <p:cNvPr id="171" name="Google Shape;171;p16"/>
          <p:cNvSpPr txBox="1"/>
          <p:nvPr>
            <p:ph idx="4294967295" type="body"/>
          </p:nvPr>
        </p:nvSpPr>
        <p:spPr>
          <a:xfrm>
            <a:off x="838200" y="1539875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&lt;a href="…"&gt;…&lt;/a&gt;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Атрибут href задает адрес куда будет </a:t>
            </a:r>
            <a:r>
              <a:rPr lang="ru-RU"/>
              <a:t>выполняться</a:t>
            </a:r>
            <a:r>
              <a:rPr lang="ru-RU"/>
              <a:t> переход после перехода по ссылке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Примеры:</a:t>
            </a:r>
            <a:endParaRPr/>
          </a:p>
        </p:txBody>
      </p:sp>
      <p:pic>
        <p:nvPicPr>
          <p:cNvPr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7466" y="3429000"/>
            <a:ext cx="337185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Хэш ссылки</a:t>
            </a:r>
            <a:endParaRPr/>
          </a:p>
        </p:txBody>
      </p:sp>
      <p:sp>
        <p:nvSpPr>
          <p:cNvPr id="179" name="Google Shape;179;p17"/>
          <p:cNvSpPr txBox="1"/>
          <p:nvPr>
            <p:ph idx="4294967295" type="body"/>
          </p:nvPr>
        </p:nvSpPr>
        <p:spPr>
          <a:xfrm>
            <a:off x="933254" y="1563983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Якорь (</a:t>
            </a:r>
            <a:r>
              <a:rPr b="1" lang="ru-RU"/>
              <a:t>хеш</a:t>
            </a:r>
            <a:r>
              <a:rPr lang="ru-RU"/>
              <a:t>-</a:t>
            </a:r>
            <a:r>
              <a:rPr b="1" lang="ru-RU"/>
              <a:t>ссылка</a:t>
            </a:r>
            <a:r>
              <a:rPr lang="ru-RU"/>
              <a:t>) – это </a:t>
            </a:r>
            <a:r>
              <a:rPr b="1" lang="ru-RU"/>
              <a:t>ссылка</a:t>
            </a:r>
            <a:r>
              <a:rPr lang="ru-RU"/>
              <a:t>-закладка, нажатие на которую «заставляет» браузер прокрутить страницу до нужного «заякоренного» места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Пример:</a:t>
            </a:r>
            <a:endParaRPr/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1129" y="3429000"/>
            <a:ext cx="5267325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Вложенные ссылки</a:t>
            </a:r>
            <a:endParaRPr/>
          </a:p>
        </p:txBody>
      </p:sp>
      <p:pic>
        <p:nvPicPr>
          <p:cNvPr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682" y="1665978"/>
            <a:ext cx="7705725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Списки</a:t>
            </a: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3773" y="1511566"/>
            <a:ext cx="1649945" cy="1478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298" y="1650492"/>
            <a:ext cx="3800475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19972" y="1511566"/>
            <a:ext cx="1641891" cy="1295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3741" y="1511566"/>
            <a:ext cx="3800475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Список определений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682" y="1685925"/>
            <a:ext cx="85153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7341" y="4688758"/>
            <a:ext cx="83312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изображениями</a:t>
            </a:r>
            <a:endParaRPr/>
          </a:p>
        </p:txBody>
      </p:sp>
      <p:sp>
        <p:nvSpPr>
          <p:cNvPr id="212" name="Google Shape;212;p21"/>
          <p:cNvSpPr txBox="1"/>
          <p:nvPr>
            <p:ph idx="4294967295" type="body"/>
          </p:nvPr>
        </p:nvSpPr>
        <p:spPr>
          <a:xfrm>
            <a:off x="838200" y="1444625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Осуществляется непарным тегом </a:t>
            </a:r>
            <a:r>
              <a:rPr b="1" lang="ru-RU" sz="2800"/>
              <a:t>&lt;img&gt;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Обязательный атрибут </a:t>
            </a:r>
            <a:r>
              <a:rPr b="1" lang="ru-RU" sz="2800"/>
              <a:t>src</a:t>
            </a:r>
            <a:r>
              <a:rPr lang="ru-RU" sz="2800"/>
              <a:t> указывает абсолютный или относительный путь до изображения</a:t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Стандартными форматами изображений являются GIF, PNG и JPEG</a:t>
            </a:r>
            <a:endParaRPr sz="2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Пример:</a:t>
            </a:r>
            <a:endParaRPr/>
          </a:p>
        </p:txBody>
      </p:sp>
      <p:pic>
        <p:nvPicPr>
          <p:cNvPr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041" y="4754880"/>
            <a:ext cx="8153400" cy="41433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изображениями</a:t>
            </a:r>
            <a:endParaRPr/>
          </a:p>
        </p:txBody>
      </p:sp>
      <p:sp>
        <p:nvSpPr>
          <p:cNvPr id="220" name="Google Shape;220;p22"/>
          <p:cNvSpPr txBox="1"/>
          <p:nvPr>
            <p:ph idx="4294967295" type="body"/>
          </p:nvPr>
        </p:nvSpPr>
        <p:spPr>
          <a:xfrm>
            <a:off x="707011" y="1592263"/>
            <a:ext cx="1148499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ru-RU" sz="2000"/>
              <a:t>Атрибуты: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ru-RU" sz="2000"/>
              <a:t>align="…" – определяет режим выравнивания изображения относительно текста в строке:</a:t>
            </a:r>
            <a:br>
              <a:rPr lang="ru-RU" sz="2000"/>
            </a:br>
            <a:r>
              <a:rPr lang="ru-RU" sz="2000"/>
              <a:t>	top – по верхнему краю</a:t>
            </a:r>
            <a:br>
              <a:rPr lang="ru-RU" sz="2000"/>
            </a:br>
            <a:r>
              <a:rPr lang="ru-RU" sz="2000"/>
              <a:t>	middle – по центру строки</a:t>
            </a:r>
            <a:br>
              <a:rPr lang="ru-RU" sz="2000"/>
            </a:br>
            <a:r>
              <a:rPr lang="ru-RU" sz="2000"/>
              <a:t>	bottom – по нижнему краю (по умолчанию)</a:t>
            </a:r>
            <a:br>
              <a:rPr lang="ru-RU" sz="2000"/>
            </a:br>
            <a:r>
              <a:rPr lang="ru-RU" sz="2000"/>
              <a:t>	left – по левому краю окна</a:t>
            </a:r>
            <a:br>
              <a:rPr lang="ru-RU" sz="2000"/>
            </a:br>
            <a:r>
              <a:rPr lang="ru-RU" sz="2000"/>
              <a:t>	right – по правому краю окна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ru-RU" sz="2000"/>
              <a:t>alt="…" – определяет текст, описывающий изображение для браузеров с отключенной графикой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ru-RU" sz="2000"/>
              <a:t>border="N" – устанавливает толщину рамки вокруг изображений, равной N пикселей (0 – отключение рамки)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ru-RU" sz="2000"/>
              <a:t>height="N" – высота изображения в пикселях или процентах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ru-RU" sz="2000"/>
              <a:t>width="N" – ширина изображения в пикселях или процентах</a:t>
            </a:r>
            <a:endParaRPr/>
          </a:p>
        </p:txBody>
      </p:sp>
      <p:sp>
        <p:nvSpPr>
          <p:cNvPr id="221" name="Google Shape;221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Фоновое изображение страницы</a:t>
            </a:r>
            <a:endParaRPr/>
          </a:p>
        </p:txBody>
      </p:sp>
      <p:sp>
        <p:nvSpPr>
          <p:cNvPr id="227" name="Google Shape;227;p23"/>
          <p:cNvSpPr txBox="1"/>
          <p:nvPr>
            <p:ph idx="4294967295" type="body"/>
          </p:nvPr>
        </p:nvSpPr>
        <p:spPr>
          <a:xfrm>
            <a:off x="735290" y="1535702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Можно задавать адрес фонового изображения для страницы в атрибуте background тега &lt;body&gt;</a:t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Фоновое изображение отображается в натуральную величину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Если размер изображения меньше размера окна браузера, то рисунок повторяется по горизонтали вправо и по вертикали вниз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Чтобы сделать неповторяющийся фон, необходимо выбрать картинку заведомо большую, чем размер страницы по ширине и высоте или использовать повторяющийся фон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Пример</a:t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4123944"/>
            <a:ext cx="5029200" cy="2232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4"/>
          <p:cNvGrpSpPr/>
          <p:nvPr/>
        </p:nvGrpSpPr>
        <p:grpSpPr>
          <a:xfrm>
            <a:off x="1377697" y="1847170"/>
            <a:ext cx="7452303" cy="2565400"/>
            <a:chOff x="838201" y="1444834"/>
            <a:chExt cx="7452303" cy="2565400"/>
          </a:xfrm>
        </p:grpSpPr>
        <p:pic>
          <p:nvPicPr>
            <p:cNvPr id="236" name="Google Shape;236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201" y="1444834"/>
              <a:ext cx="4572000" cy="256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53741" y="1801368"/>
              <a:ext cx="2036763" cy="7620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8" name="Google Shape;238;p24"/>
            <p:cNvCxnSpPr/>
            <p:nvPr/>
          </p:nvCxnSpPr>
          <p:spPr>
            <a:xfrm flipH="1">
              <a:off x="4407408" y="2286000"/>
              <a:ext cx="1956816" cy="638556"/>
            </a:xfrm>
            <a:prstGeom prst="straightConnector1">
              <a:avLst/>
            </a:prstGeom>
            <a:noFill/>
            <a:ln cap="flat" cmpd="sng" w="28575">
              <a:solidFill>
                <a:srgbClr val="FFC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sp>
        <p:nvSpPr>
          <p:cNvPr id="239" name="Google Shape;239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Пример</a:t>
            </a:r>
            <a:endParaRPr/>
          </a:p>
        </p:txBody>
      </p:sp>
      <p:sp>
        <p:nvSpPr>
          <p:cNvPr id="245" name="Google Shape;245;p25"/>
          <p:cNvSpPr txBox="1"/>
          <p:nvPr>
            <p:ph idx="4294967295" type="body"/>
          </p:nvPr>
        </p:nvSpPr>
        <p:spPr>
          <a:xfrm>
            <a:off x="1398588" y="1592263"/>
            <a:ext cx="10793412" cy="1516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Взять картинку шириной 1 пиксель и высотой, например, 2000 пикселей. На экране она будет копироваться только по горизонтали</a:t>
            </a:r>
            <a:endParaRPr/>
          </a:p>
        </p:txBody>
      </p:sp>
      <p:pic>
        <p:nvPicPr>
          <p:cNvPr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529" y="2887212"/>
            <a:ext cx="7605078" cy="367843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таблицами</a:t>
            </a:r>
            <a:endParaRPr/>
          </a:p>
        </p:txBody>
      </p:sp>
      <p:sp>
        <p:nvSpPr>
          <p:cNvPr id="253" name="Google Shape;253;p26"/>
          <p:cNvSpPr txBox="1"/>
          <p:nvPr>
            <p:ph idx="4294967295" type="body"/>
          </p:nvPr>
        </p:nvSpPr>
        <p:spPr>
          <a:xfrm>
            <a:off x="838200" y="1516848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/>
              <a:t>Таблица в HTML – это совокупность данных, расположенных и связанных между собой при помощи ячеек, размещаемых в строках и колонках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/>
              <a:t>Таблица заполняется данными построчно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/>
              <a:t>Для вставки таблиц определено 3 основных тега: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ru-RU" sz="2400"/>
              <a:t>&lt;table&gt;…&lt;/table&gt;</a:t>
            </a:r>
            <a:r>
              <a:rPr lang="ru-RU" sz="2400"/>
              <a:t> – тег таблицы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ru-RU" sz="2400"/>
              <a:t>&lt;tr&gt;…&lt;/tr&gt; </a:t>
            </a:r>
            <a:r>
              <a:rPr lang="ru-RU" sz="2400"/>
              <a:t>– теги строк</a:t>
            </a:r>
            <a:endParaRPr b="1"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ru-RU" sz="2400"/>
              <a:t>&lt;td&gt;…&lt;/td&gt; </a:t>
            </a:r>
            <a:r>
              <a:rPr lang="ru-RU" sz="2400"/>
              <a:t>– содержимое ячейки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таблицами</a:t>
            </a:r>
            <a:endParaRPr/>
          </a:p>
        </p:txBody>
      </p:sp>
      <p:sp>
        <p:nvSpPr>
          <p:cNvPr id="260" name="Google Shape;260;p27"/>
          <p:cNvSpPr txBox="1"/>
          <p:nvPr>
            <p:ph idx="4294967295" type="body"/>
          </p:nvPr>
        </p:nvSpPr>
        <p:spPr>
          <a:xfrm>
            <a:off x="527901" y="1592263"/>
            <a:ext cx="11664099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ru-RU" sz="2800"/>
              <a:t>&lt;table&gt;…&lt;/table&gt; </a:t>
            </a:r>
            <a:r>
              <a:rPr lang="ru-RU" sz="2800"/>
              <a:t>– определяет начало и конец таблицы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Атрибуты: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align="…" – определяет режим выравнивания таблицы относительно 	текста в строке (left, right)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background="URL" – задает фоновый рисунок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bgcolor="цвет" – цвет фона таблицы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border="N" – устанавливает толщину границ таблицы, равную N 	пикселей (0 для отключения)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bordercolor ="цвет" – цвет рамки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 width="N" – ширина таблицы в пикселях или	процентах от ширины 	окна</a:t>
            </a:r>
            <a:endParaRPr/>
          </a:p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таблицами</a:t>
            </a:r>
            <a:endParaRPr/>
          </a:p>
        </p:txBody>
      </p:sp>
      <p:sp>
        <p:nvSpPr>
          <p:cNvPr id="267" name="Google Shape;267;p28"/>
          <p:cNvSpPr txBox="1"/>
          <p:nvPr>
            <p:ph idx="4294967295" type="body"/>
          </p:nvPr>
        </p:nvSpPr>
        <p:spPr>
          <a:xfrm>
            <a:off x="565608" y="1592263"/>
            <a:ext cx="11626392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ru-RU" sz="2800"/>
              <a:t>&lt;tr&gt;…&lt;/tr&gt;</a:t>
            </a:r>
            <a:r>
              <a:rPr lang="ru-RU" sz="2800"/>
              <a:t> – определяет строку ячеек таблицы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Атрибуты: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align="…" – определяет режим выравнивания </a:t>
            </a:r>
            <a:r>
              <a:rPr lang="ru-RU" sz="2800"/>
              <a:t>содержимого</a:t>
            </a:r>
            <a:r>
              <a:rPr lang="ru-RU" sz="2800"/>
              <a:t> 	ячеек строки (left, right, center, justify)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background="URL" – URL изображения, которое заполнит фон 	ячеек строки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bgcolor="цвет" – цвет фона ячеек строки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ru-RU" sz="2800"/>
              <a:t>	valign="…" – определяет режим выравнивания содержимого 	ячеек строки по вертикали (top, middle – по умолчанию, bottom)</a:t>
            </a:r>
            <a:endParaRPr/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таблицами</a:t>
            </a:r>
            <a:endParaRPr/>
          </a:p>
        </p:txBody>
      </p:sp>
      <p:sp>
        <p:nvSpPr>
          <p:cNvPr id="274" name="Google Shape;274;p29"/>
          <p:cNvSpPr txBox="1"/>
          <p:nvPr>
            <p:ph idx="4294967295" type="body"/>
          </p:nvPr>
        </p:nvSpPr>
        <p:spPr>
          <a:xfrm>
            <a:off x="678730" y="1526275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b="1" lang="ru-RU" sz="2800"/>
              <a:t>&lt;td&gt;…&lt;/td&gt;</a:t>
            </a:r>
            <a:r>
              <a:rPr lang="ru-RU" sz="2800"/>
              <a:t> – определяет ячейку данных таблицы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ru-RU" sz="2800"/>
              <a:t>Атрибуты: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ru-RU" sz="2800"/>
              <a:t>	align="…" – определяет режим выравнивания содержимого 	ячейки (left, rigth, center)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ru-RU" sz="2800"/>
              <a:t>	background="URL" – URL изображения, которое заполнит фон 	ячейки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ru-RU" sz="2800"/>
              <a:t>	bgcolor="цвет" – цвет фона ячейки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ru-RU" sz="2800"/>
              <a:t>	valign="…" – определяет режим выравнивания содержимого 	ячейки по вертикали (top, middle, bottom)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ru-RU" sz="2800"/>
              <a:t>		height="N" – высота ячейки</a:t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ru-RU" sz="2800"/>
              <a:t>		width="N" – ширина ячейки</a:t>
            </a:r>
            <a:endParaRPr sz="2800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ct val="116666"/>
              <a:buNone/>
            </a:pPr>
            <a:r>
              <a:t/>
            </a:r>
            <a:endParaRPr/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таблицами</a:t>
            </a:r>
            <a:endParaRPr/>
          </a:p>
        </p:txBody>
      </p:sp>
      <p:sp>
        <p:nvSpPr>
          <p:cNvPr id="281" name="Google Shape;281;p30"/>
          <p:cNvSpPr txBox="1"/>
          <p:nvPr>
            <p:ph idx="4294967295" type="body"/>
          </p:nvPr>
        </p:nvSpPr>
        <p:spPr>
          <a:xfrm>
            <a:off x="744717" y="1554555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Количество тегов </a:t>
            </a: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&lt;tr&gt;…&lt;/tr&gt; </a:t>
            </a:r>
            <a:r>
              <a:rPr lang="ru-RU" sz="2800"/>
              <a:t>определяет количество строк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В каждом теге строки должно быть одно и то же число тегов </a:t>
            </a:r>
            <a:r>
              <a:rPr lang="ru-RU">
                <a:latin typeface="Courier New"/>
                <a:ea typeface="Courier New"/>
                <a:cs typeface="Courier New"/>
                <a:sym typeface="Courier New"/>
              </a:rPr>
              <a:t>&lt;td&gt;…&lt;/td</a:t>
            </a:r>
            <a:r>
              <a:rPr lang="ru-RU" sz="28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-RU" sz="2800"/>
              <a:t>, равное числу столбцов (иначе таблица отобразится неправильно)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 sz="2800"/>
              <a:t>Можно создавать вложенные таблицы: вкладывать таблицу в ячейку другой таблицы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2" name="Google Shape;282;p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Пример</a:t>
            </a:r>
            <a:endParaRPr/>
          </a:p>
        </p:txBody>
      </p:sp>
      <p:pic>
        <p:nvPicPr>
          <p:cNvPr id="288" name="Google Shape;2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204" y="1813480"/>
            <a:ext cx="8524875" cy="396716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таблицами</a:t>
            </a:r>
            <a:endParaRPr/>
          </a:p>
        </p:txBody>
      </p:sp>
      <p:sp>
        <p:nvSpPr>
          <p:cNvPr id="295" name="Google Shape;295;p32"/>
          <p:cNvSpPr txBox="1"/>
          <p:nvPr>
            <p:ph idx="4294967295" type="body"/>
          </p:nvPr>
        </p:nvSpPr>
        <p:spPr>
          <a:xfrm>
            <a:off x="838200" y="1444625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63538" lvl="0" marL="3635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-RU" sz="2400"/>
              <a:t>Если ширина таблицы изначально не задана, то она вычисляется исходя из содержимого ячеек</a:t>
            </a:r>
            <a:endParaRPr/>
          </a:p>
          <a:p>
            <a:pPr indent="-363538" lvl="0" marL="363538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ru-RU" sz="2400"/>
              <a:t>Максимальная ширина таблицы в таком случае равна ширине окна</a:t>
            </a:r>
            <a:endParaRPr sz="2400"/>
          </a:p>
        </p:txBody>
      </p:sp>
      <p:pic>
        <p:nvPicPr>
          <p:cNvPr id="296" name="Google Shape;29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3" y="3125771"/>
            <a:ext cx="84074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Работа с таблицами</a:t>
            </a:r>
            <a:endParaRPr/>
          </a:p>
        </p:txBody>
      </p:sp>
      <p:sp>
        <p:nvSpPr>
          <p:cNvPr id="303" name="Google Shape;303;p33"/>
          <p:cNvSpPr txBox="1"/>
          <p:nvPr>
            <p:ph idx="4294967295" type="body"/>
          </p:nvPr>
        </p:nvSpPr>
        <p:spPr>
          <a:xfrm>
            <a:off x="930275" y="1290605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ru-RU" sz="2400"/>
              <a:t>Если же ширина задана атрибутом width, то браузер расставляет переносы слов в тексте ячеек таким образом, чтобы сохранить заданный размер</a:t>
            </a:r>
            <a:endParaRPr sz="2400"/>
          </a:p>
        </p:txBody>
      </p:sp>
      <p:pic>
        <p:nvPicPr>
          <p:cNvPr id="304" name="Google Shape;3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3" y="2457385"/>
            <a:ext cx="841375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Объединение ячеек</a:t>
            </a:r>
            <a:endParaRPr/>
          </a:p>
        </p:txBody>
      </p:sp>
      <p:sp>
        <p:nvSpPr>
          <p:cNvPr id="311" name="Google Shape;311;p34"/>
          <p:cNvSpPr txBox="1"/>
          <p:nvPr>
            <p:ph idx="4294967295" type="body"/>
          </p:nvPr>
        </p:nvSpPr>
        <p:spPr>
          <a:xfrm>
            <a:off x="829674" y="1511300"/>
            <a:ext cx="3176718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Атрибут</a:t>
            </a:r>
            <a:br>
              <a:rPr lang="ru-RU" sz="2400"/>
            </a:br>
            <a:r>
              <a:rPr b="1" lang="ru-RU" sz="2400"/>
              <a:t>colspan="N" </a:t>
            </a:r>
            <a:r>
              <a:rPr lang="ru-RU" sz="2400"/>
              <a:t>– растягивает ячейку на N столбцов влево</a:t>
            </a:r>
            <a:endParaRPr sz="2400"/>
          </a:p>
        </p:txBody>
      </p:sp>
      <p:sp>
        <p:nvSpPr>
          <p:cNvPr id="312" name="Google Shape;312;p34"/>
          <p:cNvSpPr/>
          <p:nvPr/>
        </p:nvSpPr>
        <p:spPr>
          <a:xfrm>
            <a:off x="1828800" y="5715000"/>
            <a:ext cx="14478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9144000" y="5638800"/>
            <a:ext cx="1219200" cy="838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3594" y="1670305"/>
            <a:ext cx="6657975" cy="48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idx="4294967295" type="title"/>
          </p:nvPr>
        </p:nvSpPr>
        <p:spPr>
          <a:xfrm>
            <a:off x="1992313" y="365125"/>
            <a:ext cx="10199687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Объединение ячеек</a:t>
            </a:r>
            <a:endParaRPr/>
          </a:p>
        </p:txBody>
      </p:sp>
      <p:sp>
        <p:nvSpPr>
          <p:cNvPr id="321" name="Google Shape;321;p35"/>
          <p:cNvSpPr/>
          <p:nvPr/>
        </p:nvSpPr>
        <p:spPr>
          <a:xfrm>
            <a:off x="1752600" y="5867400"/>
            <a:ext cx="6096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9677400" y="5791200"/>
            <a:ext cx="7620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880" y="1758951"/>
            <a:ext cx="762000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5"/>
          <p:cNvSpPr txBox="1"/>
          <p:nvPr>
            <p:ph idx="4294967295" type="body"/>
          </p:nvPr>
        </p:nvSpPr>
        <p:spPr>
          <a:xfrm>
            <a:off x="709930" y="1469044"/>
            <a:ext cx="34662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Атрибут </a:t>
            </a:r>
            <a:br>
              <a:rPr lang="ru-RU" sz="2400"/>
            </a:br>
            <a:r>
              <a:rPr b="1" lang="ru-RU" sz="2400"/>
              <a:t>rowspan="N" </a:t>
            </a:r>
            <a:r>
              <a:rPr lang="ru-RU" sz="2400"/>
              <a:t>– растягивает ячейку на N строк вниз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2023-07-03T13:16:46Z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37</vt:i4>
  </property>
</Properties>
</file>