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52" roundtripDataSignature="AMtx7mjQ+0hH3T8N2fJTo8yp6KVr5sgK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79B99B-7812-421A-B432-162735818B60}">
  <a:tblStyle styleId="{DD79B99B-7812-421A-B432-162735818B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562bca777_1_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20562bca777_1_6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0562bca777_1_7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20562bca777_1_7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0562bca777_1_1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0562bca777_1_1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0562bca777_1_1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0562bca777_1_16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0562bca777_1_21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0562bca777_1_21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0562bca777_1_2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0562bca777_1_26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0562bca777_1_3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20562bca777_1_36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0562bca777_1_5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0562bca777_1_5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0562bca777_1_5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0562bca777_1_5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0562bca777_1_6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20562bca777_1_6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5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0562bca777_1_7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20562bca777_1_78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0562bca777_1_8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20562bca777_1_8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0562bca777_1_10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0562bca777_1_109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0562bca777_1_10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20562bca777_1_10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1"/>
          <p:cNvSpPr txBox="1"/>
          <p:nvPr>
            <p:ph idx="1"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5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6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6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8"/>
          <p:cNvSpPr txBox="1"/>
          <p:nvPr>
            <p:ph idx="1"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9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9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2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2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3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3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3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3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4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4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4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4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4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5"/>
          <p:cNvSpPr txBox="1"/>
          <p:nvPr>
            <p:ph idx="1"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7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7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9"/>
          <p:cNvSpPr txBox="1"/>
          <p:nvPr>
            <p:ph idx="1"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0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0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0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1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1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1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2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2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2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3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83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4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4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4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4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5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5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5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5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85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5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6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6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6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60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62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6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6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6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regex101.com" TargetMode="External"/><Relationship Id="rId4" Type="http://schemas.openxmlformats.org/officeDocument/2006/relationships/hyperlink" Target="https://regexr.com/" TargetMode="External"/><Relationship Id="rId5" Type="http://schemas.openxmlformats.org/officeDocument/2006/relationships/hyperlink" Target="https://www.regexpal.com/" TargetMode="External"/><Relationship Id="rId6" Type="http://schemas.openxmlformats.org/officeDocument/2006/relationships/hyperlink" Target="https://tproger.ru/digest/regex-crosswords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learn.microsoft.com/ru-ru/cpp/standard-library/regex?view=msvc-170" TargetMode="External"/><Relationship Id="rId4" Type="http://schemas.openxmlformats.org/officeDocument/2006/relationships/hyperlink" Target="https://en.cppreference.com/w/cpp/reg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Регулярные выражения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1115640" y="3886200"/>
            <a:ext cx="720036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Regular expressions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expressions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457200" y="1600200"/>
            <a:ext cx="8229240" cy="47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●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Регулярные выражения – средство обработки текстов. 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●"/>
            </a:pPr>
            <a:r>
              <a:rPr lang="ru-RU" sz="2590"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редназначены для описания и разбора текста. 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●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 поддержке со стороны 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языка программирования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регулярные выражения могут выполнять следующие  </a:t>
            </a:r>
            <a:r>
              <a:rPr b="1" i="0" lang="ru-RU" sz="259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операции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с текстовыми данными: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065" lvl="1" marL="63000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chemeClr val="dk1"/>
              </a:buClr>
              <a:buSzPts val="2590"/>
              <a:buChar char="○"/>
            </a:pPr>
            <a:r>
              <a:rPr lang="ru-RU" sz="2590">
                <a:latin typeface="Calibri"/>
                <a:ea typeface="Calibri"/>
                <a:cs typeface="Calibri"/>
                <a:sym typeface="Calibri"/>
              </a:rPr>
              <a:t>выделять,</a:t>
            </a:r>
            <a:endParaRPr sz="2590">
              <a:latin typeface="Calibri"/>
              <a:ea typeface="Calibri"/>
              <a:cs typeface="Calibri"/>
              <a:sym typeface="Calibri"/>
            </a:endParaRPr>
          </a:p>
          <a:p>
            <a:pPr indent="-393065" lvl="1" marL="63000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chemeClr val="dk1"/>
              </a:buClr>
              <a:buSzPts val="2590"/>
              <a:buChar char="○"/>
            </a:pPr>
            <a:r>
              <a:rPr lang="ru-RU" sz="2590">
                <a:latin typeface="Calibri"/>
                <a:ea typeface="Calibri"/>
                <a:cs typeface="Calibri"/>
                <a:sym typeface="Calibri"/>
              </a:rPr>
              <a:t>искать информацию в тексте,</a:t>
            </a:r>
            <a:endParaRPr sz="2590">
              <a:latin typeface="Calibri"/>
              <a:ea typeface="Calibri"/>
              <a:cs typeface="Calibri"/>
              <a:sym typeface="Calibri"/>
            </a:endParaRPr>
          </a:p>
          <a:p>
            <a:pPr indent="-393065" lvl="1" marL="63000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SzPts val="2590"/>
              <a:buFont typeface="Calibri"/>
              <a:buChar char="○"/>
            </a:pPr>
            <a:r>
              <a:rPr lang="ru-RU" sz="2590">
                <a:latin typeface="Calibri"/>
                <a:ea typeface="Calibri"/>
                <a:cs typeface="Calibri"/>
                <a:sym typeface="Calibri"/>
              </a:rPr>
              <a:t>в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ставлять,</a:t>
            </a:r>
            <a:endParaRPr b="0" i="0" sz="25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065" lvl="1" marL="63000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SzPts val="2590"/>
              <a:buFont typeface="Calibri"/>
              <a:buChar char="○"/>
            </a:pPr>
            <a:r>
              <a:rPr lang="ru-RU" sz="2590">
                <a:latin typeface="Calibri"/>
                <a:ea typeface="Calibri"/>
                <a:cs typeface="Calibri"/>
                <a:sym typeface="Calibri"/>
              </a:rPr>
              <a:t>у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далять, </a:t>
            </a:r>
            <a:endParaRPr b="0" i="0" sz="25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065" lvl="1" marL="63000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SzPts val="2590"/>
              <a:buFont typeface="Calibri"/>
              <a:buChar char="○"/>
            </a:pPr>
            <a:r>
              <a:rPr lang="ru-RU" sz="2590">
                <a:latin typeface="Calibri"/>
                <a:ea typeface="Calibri"/>
                <a:cs typeface="Calibri"/>
                <a:sym typeface="Calibri"/>
              </a:rPr>
              <a:t>ра</a:t>
            </a: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збирать строки на части различными способами.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Правила составления регулярных выражений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Основы синтаксиса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Любая строка является регулярным выражением.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Регулярные выражения - регистрозависимые.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Спецсимволы, которые нужно экранировать:  . ^ $ * + ? { } [ ] \ | ( ). Экранирование осуществляется добавлением \ перед спецсимволом.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Найти в тексте все междометия, обозначающие смех: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«Хаха», «Хехе», «Хохо» и «Хихи»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верхнем и нижнем регистре.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Какой паттерн будет соответствовать данным строкам?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Набор символов - список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57200" y="1268640"/>
            <a:ext cx="8229240" cy="525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58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Если в строке на указанном месте будет стоять любой из перечисленных символов, строка будет считаться подходящей.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580" lvl="0" marL="343080" marR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Наборы записываются в квадратных скобках.</a:t>
            </a:r>
            <a:br>
              <a:rPr b="0" i="0" lang="ru-RU" sz="2600" u="none" cap="none" strike="noStrike"/>
            </a:b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Паттерну [</a:t>
            </a: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аеои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 будет соответствовать любой из символов «</a:t>
            </a: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а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», «е», «</a:t>
            </a: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о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» или «и».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580" lvl="0" marL="343080" marR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Внутри набора </a:t>
            </a:r>
            <a:r>
              <a:rPr b="1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необходимо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экранировать символы </a:t>
            </a:r>
            <a:br>
              <a:rPr b="0" i="0" lang="ru-RU" sz="2600" u="none" cap="none" strike="noStrike"/>
            </a:b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«\» и «^», «-» и «]».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580" lvl="0" marL="343080" marR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Если сразу после [ записать символ ^, то набор приобретёт обратный смысл </a:t>
            </a: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подходящим будет считаться любой символ кроме указанных. </a:t>
            </a:r>
            <a:br>
              <a:rPr b="0" i="0" lang="ru-RU" sz="2600" u="none" cap="none" strike="noStrike"/>
            </a:b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Паттерну [^</a:t>
            </a:r>
            <a:r>
              <a:rPr lang="ru-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аеои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 будет соответствовать любой символ, кроме, </a:t>
            </a:r>
            <a:r>
              <a:rPr lang="ru-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«а», «е», «о» или «и».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Паттерн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[Хх][аоие]х[аоие]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задает «Хаха», «хехе», «хихи» и даже «Хохо».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Но кроме того и «Хахе», «хехо», «хиха»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0562bca777_1_6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0562bca777_1_6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Задача. Задайте паттерн для нахождения строк «Вы», «вы», «ты».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[Ввт]ы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9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Предопределённые классы символов</a:t>
            </a:r>
            <a:endParaRPr b="0" i="0" sz="39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57200" y="1600200"/>
            <a:ext cx="822924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764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Шаблоны наборов символов: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84" lvl="1" marL="743040" marR="0" rtl="0" algn="l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\s – п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робельные символы (пробел, табуляция, перенос строки)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84" lvl="1" marL="743040" marR="0" rtl="0" algn="l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\d – ц</a:t>
            </a: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и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фра  </a:t>
            </a: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[0-9]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84" lvl="1" marL="743040" marR="0" rtl="0" algn="l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\w – с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имволов латиницы, цифр и знака «_»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84" lvl="1" marL="743040" marR="0" rtl="0" algn="l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(точка) – л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юбой символ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504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764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Заглавная буква меняет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смысл на противоположный: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\S </a:t>
            </a: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любой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пробельный символ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\D –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любой символ, который не является цифрой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\W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ru-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любой символ кроме латиницы, цифр или подчёркивания соответственно.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9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Предопределённые классы символов</a:t>
            </a:r>
            <a:endParaRPr b="0" i="0" sz="39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457200" y="1600200"/>
            <a:ext cx="822924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0"/>
              <a:buFont typeface="Arial"/>
              <a:buChar char="●"/>
            </a:pP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Положение строки относительно остального текста. </a:t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○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Выражение \b обозначает границу слова, 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○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\B — не границу слова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○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^ — начало текста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○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 — конец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None/>
            </a:pPr>
            <a:r>
              <a:t/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None/>
            </a:pP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Задача.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Какие символы будут найдены в строке 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«Java and JavaScript» </a:t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○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 паттерну \bJava\b 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590"/>
              <a:buFont typeface="Arial"/>
              <a:buChar char="○"/>
            </a:pPr>
            <a:r>
              <a:rPr b="0" i="0" lang="ru-RU" sz="25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 паттерну \bJava\B</a:t>
            </a:r>
            <a:endParaRPr b="0" i="0" sz="25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562bca777_1_73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Позиция внутри строки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" name="Google Shape;185;g20562bca777_1_73"/>
          <p:cNvGraphicFramePr/>
          <p:nvPr/>
        </p:nvGraphicFramePr>
        <p:xfrm>
          <a:off x="611640" y="1268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{DD79B99B-7812-421A-B432-162735818B60}</a:tableStyleId>
              </a:tblPr>
              <a:tblGrid>
                <a:gridCol w="604075"/>
                <a:gridCol w="1123925"/>
                <a:gridCol w="1656000"/>
                <a:gridCol w="4680350"/>
              </a:tblGrid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Пример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Соответствие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Описание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 aaa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начало строки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a$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aaa aa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конец строки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\Aa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 aaa</a:t>
                      </a:r>
                      <a:br>
                        <a:rPr lang="ru-RU" sz="1800" u="none" cap="none" strike="noStrike"/>
                      </a:b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aaa aaa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начало текста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\z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a\z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aaa aaa</a:t>
                      </a:r>
                      <a:br>
                        <a:rPr lang="ru-RU" sz="1800" u="none" cap="none" strike="noStrike"/>
                      </a:b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aaa aa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конец текста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a\b</a:t>
                      </a:r>
                      <a:br>
                        <a:rPr lang="ru-RU" sz="1800" u="none" cap="none" strike="noStrike"/>
                      </a:b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\ba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aa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br>
                        <a:rPr lang="ru-RU" sz="1800" u="none" cap="none" strike="noStrike"/>
                      </a:b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 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граница слова, утверждение: предыдущий символ словесный, а следующий - нет, либо наоборот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\Ba\B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a</a:t>
                      </a: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отсутствие границы слова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\G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\Ga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aaa</a:t>
                      </a: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aaa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Предыдущий успешный поиск, поиск остановился на 4-й позиции — там, где не нашлось 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9325" marL="493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Диапазоны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0"/>
              <a:buFont typeface="Arial"/>
              <a:buChar char="•"/>
            </a:pP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Обозначение набора символов</a:t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ts val="2960"/>
              <a:buFont typeface="Arial"/>
              <a:buChar char="•"/>
            </a:pP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Набор букв от «б» до «ф» вместо 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[бвгдежзиклмнопрстуф] 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обозначается диапазоном 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[б-ф]. </a:t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440" lvl="0" marL="34308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ts val="2960"/>
              <a:buFont typeface="Arial"/>
              <a:buChar char="•"/>
            </a:pP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Задача. 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Приведите пример строки, которая соответствует данному паттерну x[0-</a:t>
            </a:r>
            <a:r>
              <a:rPr lang="ru-RU" sz="296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A-F][0-</a:t>
            </a:r>
            <a:r>
              <a:rPr lang="ru-RU" sz="296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A-F]. </a:t>
            </a:r>
            <a:br>
              <a:rPr b="0" i="0" lang="ru-RU" sz="1800" u="none" cap="none" strike="noStrike"/>
            </a:br>
            <a:r>
              <a:rPr b="0" i="0" lang="ru-RU" sz="2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 задает данный паттерн?</a:t>
            </a:r>
            <a:endParaRPr b="0" i="0" sz="29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Механизм диапазонов актуален для русского языка, так как для него не существует конструкции, аналогичной \w. </a:t>
            </a:r>
            <a:br>
              <a:rPr b="0" i="0" lang="ru-RU" sz="1800" u="none" cap="none" strike="noStrike"/>
            </a:b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Приведите пример паттерна для русского алфавита.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Чтобы обозначить все буквы русского алфавита, можно использовать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паттерн [а-яА-ЯёЁ].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Буква «ё» не включается в общий диапазон букв, и её нужно указывать отдельно.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429120" y="332640"/>
            <a:ext cx="822924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Если в междометии смеха будет больше одной гласной между буквами «х», например «Хаахаааа»?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Регулярное выражение [Хх][аоие]х[аоие] не будет работать.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/>
        </p:nvSpPr>
        <p:spPr>
          <a:xfrm>
            <a:off x="467640" y="548640"/>
            <a:ext cx="822924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Char char="•"/>
            </a:pPr>
            <a:r>
              <a:rPr b="1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Квантификатор</a:t>
            </a: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- символ или группа символов в регулярных выражениях, означающий сколько раз должен встречаться в тексте какой-то фрагмент этого регулярного выражения. 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Char char="•"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Квантификатор применяется только к символу, который стоит перед ним.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504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14"/>
          <p:cNvGraphicFramePr/>
          <p:nvPr/>
        </p:nvGraphicFramePr>
        <p:xfrm>
          <a:off x="446760" y="2964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{DD79B99B-7812-421A-B432-162735818B60}</a:tableStyleId>
              </a:tblPr>
              <a:tblGrid>
                <a:gridCol w="2186275"/>
                <a:gridCol w="2088000"/>
                <a:gridCol w="1897550"/>
                <a:gridCol w="2057400"/>
              </a:tblGrid>
              <a:tr h="65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Квантификатор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повторений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Пример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Подходящие строки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{n}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Ровно n раз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Ха{3}ха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Хаааха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5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{m,n}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 m до n включительно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Ха{2,4}ха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Хаа, Хааа, Хааааха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5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{m,}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менее m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Ха{2,}ха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Хааха, Хаааха, Хааааха и т. д.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5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{,n}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более n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Ха{,3}ха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Хха, Хаха, Хааха, Хаааха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Квантификаторы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457200" y="1600200"/>
            <a:ext cx="8229240" cy="204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Часто используемые конструкции получили в языке регулярных выражений специальные обозначения: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p15"/>
          <p:cNvGraphicFramePr/>
          <p:nvPr/>
        </p:nvGraphicFramePr>
        <p:xfrm>
          <a:off x="683640" y="38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{DD79B99B-7812-421A-B432-162735818B60}</a:tableStyleId>
              </a:tblPr>
              <a:tblGrid>
                <a:gridCol w="1872000"/>
                <a:gridCol w="1008000"/>
                <a:gridCol w="1152000"/>
                <a:gridCol w="3888350"/>
              </a:tblGrid>
              <a:tr h="71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Квантификатор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Аналог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Пример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Описание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350" marL="90350"/>
                </a:tc>
              </a:tr>
              <a:tr h="53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{0,1}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a?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одно или ноль вхождений «а»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a+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одно или более вхождений «а»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{0,}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a*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ноль или более вхождений «а»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250" marL="7525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Приведите пример междометий,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которые  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подходят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 под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шаблон 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[Хх][аоеи]+х[аоеи]*.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Приведите пример шаблона для распознавания номера телефона в формате +7(***)***-**-**.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\+7\([0-9]{3}\)\d{3}-\d{2}-\d{2}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562bca777_1_11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400"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0562bca777_1_11"/>
          <p:cNvSpPr txBox="1"/>
          <p:nvPr/>
        </p:nvSpPr>
        <p:spPr>
          <a:xfrm>
            <a:off x="457200" y="1412640"/>
            <a:ext cx="8229300" cy="51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Найти все HTML-теги в строке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&lt;p&gt;&lt;b&gt;Гарри Поттер&lt;/b&gt; — мой &lt;i&gt;любимый&lt;/i&gt; фильм!&lt;/p&gt;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400"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457200" y="1412640"/>
            <a:ext cx="8229240" cy="511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помощью паттерна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&lt;.*&gt;</a:t>
            </a: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б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удет найдена вся строка целиком</a:t>
            </a:r>
            <a:r>
              <a:rPr lang="ru-RU" sz="26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p&gt;&lt;b&gt;Гарри Поттер&lt;/b&gt; — мой &lt;i&gt;любимый&lt;/i&gt; фильм!&lt;/p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lang="ru-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т.к. эта строка начинается и заканчивается скобками &lt;&gt;: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Причина – по умолчанию квантификатор работает по </a:t>
            </a:r>
            <a:r>
              <a:rPr b="0" i="1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жадному </a:t>
            </a:r>
            <a:r>
              <a:rPr b="0" i="0" lang="ru-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алгоритму, то есть старается вернуть как можно более длинную строку, соответствующую условию.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400">
                <a:latin typeface="Calibri"/>
                <a:ea typeface="Calibri"/>
                <a:cs typeface="Calibri"/>
                <a:sym typeface="Calibri"/>
              </a:rPr>
              <a:t>Другие решения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457200" y="1412640"/>
            <a:ext cx="8229240" cy="511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Выражение 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&lt;[^&gt;]*&gt;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запретит считать содержимым тега правую угловую скобку.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80000"/>
              </a:lnSpc>
              <a:spcBef>
                <a:spcPts val="519"/>
              </a:spcBef>
              <a:spcAft>
                <a:spcPts val="0"/>
              </a:spcAft>
              <a:buSzPts val="3200"/>
              <a:buAutoNum type="arabicPeriod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Объявить квантификатор не жадным, а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ленивым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b="0" i="0" lang="ru-RU" sz="32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Добавить справа к квантификатору символа ?. </a:t>
            </a:r>
            <a:br>
              <a:rPr b="0" i="0" lang="ru-RU" sz="32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Для поиска всех тегов использовать выражение  &lt;.*?&gt;.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440" lvl="0" marL="34308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/>
        </p:nvSpPr>
        <p:spPr>
          <a:xfrm>
            <a:off x="457200" y="1556640"/>
            <a:ext cx="822924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междометии смеха буква 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Буква «х» может встречаться более одного раза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«Хахахахааахахооо»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или оно может заканчиваться буквой «х».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шаблоне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[аиое]х+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квантификатор + относиться только к символу «х».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шаблоне ([аиое]х)+ квантификатор + относиться ко всему выражению.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Скобочные группы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562bca777_1_16"/>
          <p:cNvSpPr txBox="1"/>
          <p:nvPr/>
        </p:nvSpPr>
        <p:spPr>
          <a:xfrm>
            <a:off x="457200" y="1556640"/>
            <a:ext cx="82293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520" lvl="0" marL="34308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Итоговый шаблон  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[Хх]([аиое]х?)+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0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ru-RU" sz="2800" u="none" cap="none" strike="noStrike"/>
            </a:b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начале идёт заглавная или строчная «х»</a:t>
            </a:r>
            <a:br>
              <a:rPr b="0" i="0" lang="ru-RU" sz="2800" u="none" cap="none" strike="noStrike"/>
            </a:b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Затем произвольное ненулевое количество гласных, в состав которых может попасть одинокая строчная «х».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640" lvl="0" marL="34308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520" lvl="0" marL="34308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 это выражение попадают и такие строки, как, «хихахех».</a:t>
            </a:r>
            <a:br>
              <a:rPr b="0" i="0" lang="ru-RU" sz="2800" u="none" cap="none" strike="noStrike"/>
            </a:b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Использовать набор из всех гласных нужно лишь один раз, а затем, нужно опираться на результат первого поиска.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640" lvl="0" marL="34308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0562bca777_1_16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Скобочные группы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0562bca777_1_21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959"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39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20562bca777_1_21"/>
          <p:cNvSpPr txBox="1"/>
          <p:nvPr/>
        </p:nvSpPr>
        <p:spPr>
          <a:xfrm>
            <a:off x="457200" y="1600200"/>
            <a:ext cx="8229300" cy="4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lang="ru-RU" sz="2480">
                <a:latin typeface="Calibri"/>
                <a:ea typeface="Calibri"/>
                <a:cs typeface="Calibri"/>
                <a:sym typeface="Calibri"/>
              </a:rPr>
              <a:t>Чтобы у</a:t>
            </a: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знать название тегов в строке:</a:t>
            </a:r>
            <a:endParaRPr b="0" i="0" sz="24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lang="ru-RU" sz="24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&lt;p&gt;&lt;b&gt;Гарри Поттер&lt;/b&gt; — мой &lt;i&gt;любимый&lt;/i&gt; фильм!&lt;/p&gt;</a:t>
            </a:r>
            <a:br>
              <a:rPr lang="ru-RU" sz="1800">
                <a:solidFill>
                  <a:schemeClr val="dk1"/>
                </a:solidFill>
              </a:rPr>
            </a:br>
            <a:br>
              <a:rPr b="0" i="0" lang="ru-RU" sz="1800" u="none" cap="none" strike="noStrike"/>
            </a:b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нужно использовать регулярное выражение </a:t>
            </a:r>
            <a:endParaRPr b="0" i="0" sz="24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&lt;(.*?)&gt;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48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Результат поиска по всему регулярному выражению: </a:t>
            </a:r>
            <a:endParaRPr b="0" i="0" sz="24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«&lt;p&gt;», «&lt;b&gt;», «&lt;/b&gt;», «&lt;i&gt;», «&lt;/i&gt;», «&lt;/p&gt;»</a:t>
            </a:r>
            <a:br>
              <a:rPr b="0" i="0" lang="ru-RU" sz="1800" u="none" cap="none" strike="noStrike"/>
            </a:br>
            <a:endParaRPr b="0" i="0" sz="18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Результат поиска по первой группе: </a:t>
            </a:r>
            <a:endParaRPr b="0" i="0" sz="24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«p», «b», «/b», «i», «/i», «/i», «/p»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9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Запоминание результата поиска по группе (обратная связь)</a:t>
            </a:r>
            <a:endParaRPr b="0" i="0" sz="39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57200" y="1600200"/>
            <a:ext cx="8229240" cy="4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 поиска по скобочной группе записывается в отдельную ячейку памяти, доступ к которой доступен для использован</a:t>
            </a: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ия в последующих частях регулярного выражения.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результат поиска по группе можно ссылаться с помощью выражения \n, где n — цифра от 1 до 9. </a:t>
            </a:r>
            <a:br>
              <a:rPr lang="ru-RU" sz="2800">
                <a:solidFill>
                  <a:schemeClr val="dk1"/>
                </a:solidFill>
              </a:rPr>
            </a:b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Пример. Выражению (\w)(\w)\1\2 соответствуют строки «aaaa», «abab», но не «aabb».</a:t>
            </a:r>
            <a:endParaRPr sz="2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9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Запоминание результата поиска по группе (обратная связь)</a:t>
            </a:r>
            <a:endParaRPr b="0" i="0" sz="39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457200" y="1600200"/>
            <a:ext cx="8229240" cy="4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7800" lvl="0" marL="34308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Если выражение берётся в скобки только для применения к нему квантификатора (не планируется запоминать результат поиска по группе), то по</a:t>
            </a:r>
            <a:r>
              <a:rPr lang="ru-RU" sz="2800">
                <a:latin typeface="Calibri"/>
                <a:ea typeface="Calibri"/>
                <a:cs typeface="Calibri"/>
                <a:sym typeface="Calibri"/>
              </a:rPr>
              <a:t>сле открывающейся </a:t>
            </a: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скобки нужно записать</a:t>
            </a:r>
            <a:r>
              <a:rPr lang="ru-RU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0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 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(?:[abcd]+\w)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800" lvl="0" marL="34308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 использованием этого механизма выражение будет иметь вид:</a:t>
            </a:r>
            <a:endParaRPr sz="2800"/>
          </a:p>
          <a:p>
            <a:pPr indent="0" lvl="0" marL="0" marR="0" rtl="0" algn="ctr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[Хх]([аоие])х?(?:\1х?)*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Перечисление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Char char="•"/>
            </a:pP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Для проверки, удовлетворяет ли строка хотя бы одному из шаблонов, используют аналог булевого оператора OR - записывается с помощью символа |. </a:t>
            </a:r>
            <a:br>
              <a:rPr b="0" i="0" lang="ru-RU" sz="1800" u="none" cap="none" strike="noStrike"/>
            </a:b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 шаблон Миндаль|Кешью попадают строки «Миндаль» и «Кешью» соответственно. </a:t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9920" lvl="0" marL="34308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t/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Char char="•"/>
            </a:pP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Перечисления используют внутри скобочных групп. </a:t>
            </a:r>
            <a:br>
              <a:rPr b="0" i="0" lang="ru-RU" sz="1800" u="none" cap="none" strike="noStrike"/>
            </a:b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Пример. Шаблон (?:a|b|c|d) эквивалентен [abcd]</a:t>
            </a:r>
            <a:br>
              <a:rPr b="0" i="0" lang="ru-RU" sz="1800" u="none" cap="none" strike="noStrike"/>
            </a:b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(в данном случае второй вариант предпочтительнее в силу производительности и читаемости).</a:t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Д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обавить к регулярному выражению для поиска междометий смеха возможность распознавать смех вида «Ахахаах»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0562bca777_1_26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0562bca777_1_26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[Хх]([аоие])х?(?:\1х?)*|[Аа]х?(?:ах?)+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0562bca777_1_36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Опережающие и ретроспективные проверки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20562bca777_1_36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выражение1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(?=выражение2)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соответствует 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выражение1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, только если после этого следует 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выражение2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, но 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выражение2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 не будет входить в соответствие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the (?=\w*)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The weather forecast for today was rather good. But I am not sure that </a:t>
            </a:r>
            <a:r>
              <a:rPr lang="ru-RU" sz="3200"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weather today will be as fine as </a:t>
            </a:r>
            <a:r>
              <a:rPr lang="ru-RU" sz="3200"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weather report has said.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0562bca777_1_57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(?&lt;=выражение2)выражение1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соответствует выражение1, только если перед этим есть выражение2, но выражение2 не будет входить в соответствие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(?&lt;=\w)at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Then at about nine o’clock it cleared up. But the east wind began to blow. There was quite a chill in the air this morning. L</a:t>
            </a:r>
            <a:r>
              <a:rPr lang="ru-RU" sz="3200"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er the temper</a:t>
            </a:r>
            <a:r>
              <a:rPr lang="ru-RU" sz="3200"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ru-RU" sz="3200">
                <a:latin typeface="Calibri"/>
                <a:ea typeface="Calibri"/>
                <a:cs typeface="Calibri"/>
                <a:sym typeface="Calibri"/>
              </a:rPr>
              <a:t>ure began to go up.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20562bca777_1_57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Опережающие и ретроспективные проверки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0562bca777_1_52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Опережающие и ретроспективные проверки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20562bca777_1_52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выражение1(?!выражение2)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соответствует выражение1, только если после этого нет выражение2, но выражение2 не будет входить в соответствие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at(?!\s)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at about nine o’clock it cleared up. But the east wind began to blow. There was quite a chill in the air this morning. L</a:t>
            </a:r>
            <a:r>
              <a:rPr lang="ru-RU" sz="3200">
                <a:solidFill>
                  <a:schemeClr val="dk1"/>
                </a:solidFill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 the temper</a:t>
            </a:r>
            <a:r>
              <a:rPr lang="ru-RU" sz="3200">
                <a:solidFill>
                  <a:schemeClr val="dk1"/>
                </a:solidFill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ure began to go up.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562bca777_1_62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Опережающие и ретроспективные проверки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20562bca777_1_62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(?&lt;!выражение2)выражение1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соответствует выражение1, только если перед этим нет выражение2, но выражение2 не будет входить в соответствие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41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(?&lt;!\w)at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seemed to me that it had been raining hard </a:t>
            </a:r>
            <a:r>
              <a:rPr lang="ru-RU" sz="3200">
                <a:solidFill>
                  <a:schemeClr val="dk1"/>
                </a:solidFill>
                <a:highlight>
                  <a:srgbClr val="D0E0E3"/>
                </a:highlight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night.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Проверка корректности регулярного выражения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ru-RU" sz="3200" u="sng">
                <a:solidFill>
                  <a:schemeClr val="hlink"/>
                </a:solidFill>
                <a:hlinkClick r:id="rId3"/>
              </a:rPr>
              <a:t>https://regex101.com</a:t>
            </a:r>
            <a:endParaRPr sz="3200"/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https://regexr.com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https://www.regexpal.com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Кроссворды из регулярных выражений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https://tproger.ru/digest/regex-crosswords/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Сервисы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 1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Найдет ли регулярное выражение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Java[^script] 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что-нибудь в строке Java?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что-нибудь в строке JavaScript?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строке Java он ничего не найдёт, так как исключающие квадратные скобки в Java[^…] означают «один символ, кроме указанных». А после «Java» – конец строки, символов больше нет.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9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Найдёт. </a:t>
            </a:r>
            <a:br>
              <a:rPr b="0" i="0" lang="ru-RU" sz="1800" u="none" cap="none" strike="noStrike"/>
            </a:b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Поскольку регулярные выражения  регистрозависимы, то под [^script] вполне подходит символ «S».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9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 2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Напишите регулярное выражение для поиска HTML-цвета, заданного как #ABCDEF, то есть содержит # и 6 шестнадцатеричных символов.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#[0-9a-fA-F]{6}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Задача 3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Арифметическое выражение состоит из двух чисел и операции между ними. Примеры: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Char char="•"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+ 2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Char char="•"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1.2 *3.4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Char char="•"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-3/ -6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000000"/>
              </a:buClr>
              <a:buSzPts val="2480"/>
              <a:buFont typeface="Arial"/>
              <a:buChar char="•"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-2-2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48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Список операций: «+», «-», «*» и «/».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Могут присутствовать пробелы вокруг оператора и чисел.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sz="248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rPr b="0" i="0" lang="ru-RU" sz="24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Написать регулярное выражение, которое найдет арифметическое действие, так и (через группы) два операнда.</a:t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5040" lvl="0" marL="34308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None/>
            </a:pPr>
            <a:r>
              <a:t/>
            </a:r>
            <a:endParaRPr b="0" i="0" sz="2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457200" y="1600200"/>
            <a:ext cx="8229300" cy="4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Char char="•"/>
            </a:pP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Регулярное выражение для дробного и отрицательного числа: -?\d+(\.\d+)?.</a:t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Char char="•"/>
            </a:pP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Оператор</a:t>
            </a: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это [+*/\-]. </a:t>
            </a:r>
            <a:br>
              <a:rPr b="0" i="0" lang="ru-RU" sz="1800" u="none" cap="none" strike="noStrike"/>
            </a:b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Дефис нужно экранировать. </a:t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Char char="•"/>
            </a:pP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выражении сначала идет число, затем оператор, затем число, и необязательные пробелы между ними. </a:t>
            </a:r>
            <a:br>
              <a:rPr b="0" i="0" lang="ru-RU" sz="1800" u="none" cap="none" strike="noStrike"/>
            </a:b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Чтобы получить результат в требуемом формате, нужно добавить ?: к группам, поиск по которым не интересен</a:t>
            </a: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(отдельно дробные части)</a:t>
            </a: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а операнды заключить в скобки. </a:t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Char char="•"/>
            </a:pP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итоге:</a:t>
            </a:r>
            <a:br>
              <a:rPr b="0" i="0" lang="ru-RU" sz="1800" u="none" cap="none" strike="noStrike"/>
            </a:br>
            <a:r>
              <a:rPr b="0" i="0" lang="ru-RU" sz="27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(-?\d+(?:\.\d+)?)\s*([-+*\/])\s*(-?\d+(?:\.\d+)?)</a:t>
            </a:r>
            <a:endParaRPr b="0" i="0" sz="27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Регулярные выражения в C++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&lt;regex&gt;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0562bca777_1_78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rPr i="0" lang="ru-RU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regex </a:t>
            </a: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i="0" lang="ru-RU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0" lang="ru-RU" sz="2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R"(</a:t>
            </a: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регулярное выражение</a:t>
            </a:r>
            <a:r>
              <a:rPr lang="ru-RU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i="0" lang="ru-RU" sz="2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i="0" lang="ru-RU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i="0" sz="2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Определяет шаблон класса для синтаксического анализа регулярных выражений.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Поддерживается компиляторами C++11 и более поздних версий.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5" name="Google Shape;375;g20562bca777_1_78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regex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0562bca777_1_87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smatch m;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ласс для хранения совпадений, найденных в целевой последовательности символов после операции сопоставления регулярных выражений.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Каждое совпадение относится к типу </a:t>
            </a:r>
            <a:r>
              <a:rPr lang="ru-RU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sub_match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g20562bca777_1_87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smatch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0562bca777_1_109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regex_search()</a:t>
            </a: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; - поиск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regex_match(); - совпадение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regex_replace(); - замена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2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7" name="Google Shape;387;g20562bca777_1_109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Функции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0562bca777_1_100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https://learn.microsoft.com/ru-ru/cpp/standard-library/regex?view=msvc-170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https://en.cppreference.com/w/cpp/regex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20562bca777_1_100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Calibri"/>
                <a:ea typeface="Calibri"/>
                <a:cs typeface="Calibri"/>
                <a:sym typeface="Calibri"/>
              </a:rPr>
              <a:t>smatch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2018-04-16T18:17:47Z</dcterms:created>
</cp:coreProperties>
</file>