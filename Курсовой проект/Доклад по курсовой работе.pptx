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45"/>
  </p:notes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60" r:id="rId9"/>
    <p:sldId id="261" r:id="rId10"/>
    <p:sldId id="284" r:id="rId11"/>
    <p:sldId id="262" r:id="rId12"/>
    <p:sldId id="297" r:id="rId13"/>
    <p:sldId id="286" r:id="rId14"/>
    <p:sldId id="302" r:id="rId15"/>
    <p:sldId id="285" r:id="rId16"/>
    <p:sldId id="287" r:id="rId17"/>
    <p:sldId id="288" r:id="rId18"/>
    <p:sldId id="289" r:id="rId19"/>
    <p:sldId id="292" r:id="rId20"/>
    <p:sldId id="295" r:id="rId21"/>
    <p:sldId id="294" r:id="rId22"/>
    <p:sldId id="293" r:id="rId23"/>
    <p:sldId id="298" r:id="rId24"/>
    <p:sldId id="305" r:id="rId25"/>
    <p:sldId id="265" r:id="rId26"/>
    <p:sldId id="300" r:id="rId27"/>
    <p:sldId id="306" r:id="rId28"/>
    <p:sldId id="307" r:id="rId29"/>
    <p:sldId id="308" r:id="rId30"/>
    <p:sldId id="311" r:id="rId31"/>
    <p:sldId id="310" r:id="rId32"/>
    <p:sldId id="312" r:id="rId33"/>
    <p:sldId id="313" r:id="rId34"/>
    <p:sldId id="314" r:id="rId35"/>
    <p:sldId id="315" r:id="rId36"/>
    <p:sldId id="317" r:id="rId37"/>
    <p:sldId id="318" r:id="rId38"/>
    <p:sldId id="319" r:id="rId39"/>
    <p:sldId id="320" r:id="rId40"/>
    <p:sldId id="321" r:id="rId41"/>
    <p:sldId id="322" r:id="rId42"/>
    <p:sldId id="303" r:id="rId43"/>
    <p:sldId id="301" r:id="rId44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29" autoAdjust="0"/>
  </p:normalViewPr>
  <p:slideViewPr>
    <p:cSldViewPr>
      <p:cViewPr varScale="1">
        <p:scale>
          <a:sx n="104" d="100"/>
          <a:sy n="104" d="100"/>
        </p:scale>
        <p:origin x="108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Таблица</a:t>
            </a:r>
            <a:r>
              <a:rPr lang="ru-RU" baseline="0" dirty="0"/>
              <a:t> </a:t>
            </a:r>
            <a:r>
              <a:rPr lang="ru-RU" dirty="0"/>
              <a:t>1</a:t>
            </a:r>
            <a:r>
              <a:rPr lang="ru-RU" baseline="0" dirty="0"/>
              <a:t> - </a:t>
            </a:r>
            <a:r>
              <a:rPr lang="ru-RU" dirty="0"/>
              <a:t>Время</a:t>
            </a:r>
            <a:r>
              <a:rPr lang="ru-RU" baseline="0" dirty="0"/>
              <a:t> выполнения в секундах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Multipass Two-Way Merge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15.000</c:v>
                </c:pt>
                <c:pt idx="1">
                  <c:v>25.000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0.121</c:v>
                </c:pt>
                <c:pt idx="1">
                  <c:v>0.23300000000000001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02-40CE-8486-B65CA9350B5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Natural Merge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15.000</c:v>
                </c:pt>
                <c:pt idx="1">
                  <c:v>25.000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4.6371000000000002</c:v>
                </c:pt>
                <c:pt idx="1">
                  <c:v>9.2102000000000004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02-40CE-8486-B65CA9350B5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Cascade Merge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15.000</c:v>
                </c:pt>
                <c:pt idx="1">
                  <c:v>25.000</c:v>
                </c:pt>
              </c:strCache>
            </c:strRef>
          </c:cat>
          <c:val>
            <c:numRef>
              <c:f>Лист1!$D$2:$D$3</c:f>
              <c:numCache>
                <c:formatCode>General</c:formatCode>
                <c:ptCount val="2"/>
                <c:pt idx="0">
                  <c:v>13.496600000000001</c:v>
                </c:pt>
                <c:pt idx="1">
                  <c:v>23.105399999999999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02-40CE-8486-B65CA9350B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8061568"/>
        <c:axId val="618065312"/>
      </c:barChart>
      <c:catAx>
        <c:axId val="618061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18065312"/>
        <c:crosses val="autoZero"/>
        <c:auto val="1"/>
        <c:lblAlgn val="ctr"/>
        <c:lblOffset val="100"/>
        <c:noMultiLvlLbl val="0"/>
      </c:catAx>
      <c:valAx>
        <c:axId val="618065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18061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Таблица</a:t>
            </a:r>
            <a:r>
              <a:rPr lang="ru-RU" baseline="0" dirty="0"/>
              <a:t> 2 - </a:t>
            </a:r>
            <a:r>
              <a:rPr lang="ru-RU" dirty="0"/>
              <a:t>Количество</a:t>
            </a:r>
            <a:r>
              <a:rPr lang="ru-RU" baseline="0" dirty="0"/>
              <a:t> сравнений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Multipass Two-Way Merge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15.000</c:v>
                </c:pt>
                <c:pt idx="1">
                  <c:v>25.000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208441</c:v>
                </c:pt>
                <c:pt idx="1">
                  <c:v>371071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02-40CE-8486-B65CA9350B5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Natural Merge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15.000</c:v>
                </c:pt>
                <c:pt idx="1">
                  <c:v>25.000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185874</c:v>
                </c:pt>
                <c:pt idx="1">
                  <c:v>342886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02-40CE-8486-B65CA9350B5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Cascade Merge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15.000</c:v>
                </c:pt>
                <c:pt idx="1">
                  <c:v>25.000</c:v>
                </c:pt>
              </c:strCache>
            </c:strRef>
          </c:cat>
          <c:val>
            <c:numRef>
              <c:f>Лист1!$D$2:$D$3</c:f>
              <c:numCache>
                <c:formatCode>General</c:formatCode>
                <c:ptCount val="2"/>
                <c:pt idx="0">
                  <c:v>197663</c:v>
                </c:pt>
                <c:pt idx="1">
                  <c:v>354619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02-40CE-8486-B65CA9350B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8061568"/>
        <c:axId val="618065312"/>
      </c:barChart>
      <c:catAx>
        <c:axId val="618061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18065312"/>
        <c:crosses val="autoZero"/>
        <c:auto val="1"/>
        <c:lblAlgn val="ctr"/>
        <c:lblOffset val="100"/>
        <c:noMultiLvlLbl val="0"/>
      </c:catAx>
      <c:valAx>
        <c:axId val="618065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18061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Таблица 3</a:t>
            </a:r>
            <a:r>
              <a:rPr lang="ru-RU" baseline="0" dirty="0"/>
              <a:t> - </a:t>
            </a:r>
            <a:r>
              <a:rPr lang="ru-RU" dirty="0"/>
              <a:t>Время</a:t>
            </a:r>
            <a:r>
              <a:rPr lang="ru-RU" baseline="0" dirty="0"/>
              <a:t> выполнения в секундах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Multipass Two-Way Merge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70AE-4CA5-BDC4-B94F8EAAE4DC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0AE-4CA5-BDC4-B94F8EAAE4DC}"/>
              </c:ext>
            </c:extLst>
          </c:dPt>
          <c:cat>
            <c:strRef>
              <c:f>Лист1!$A$2:$A$3</c:f>
              <c:strCache>
                <c:ptCount val="2"/>
                <c:pt idx="0">
                  <c:v>10.000</c:v>
                </c:pt>
                <c:pt idx="1">
                  <c:v>15.000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6.2E-2</c:v>
                </c:pt>
                <c:pt idx="1">
                  <c:v>9.6000000000000002E-2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02-40CE-8486-B65CA9350B5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Natural Merge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10.000</c:v>
                </c:pt>
                <c:pt idx="1">
                  <c:v>15.000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2.9000000000000001E-2</c:v>
                </c:pt>
                <c:pt idx="1">
                  <c:v>4.5999999999999999E-2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02-40CE-8486-B65CA9350B5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Cascade Merge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10.000</c:v>
                </c:pt>
                <c:pt idx="1">
                  <c:v>15.000</c:v>
                </c:pt>
              </c:strCache>
            </c:strRef>
          </c:cat>
          <c:val>
            <c:numRef>
              <c:f>Лист1!$D$2:$D$3</c:f>
              <c:numCache>
                <c:formatCode>General</c:formatCode>
                <c:ptCount val="2"/>
                <c:pt idx="0">
                  <c:v>1.4E-2</c:v>
                </c:pt>
                <c:pt idx="1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02-40CE-8486-B65CA9350B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8061568"/>
        <c:axId val="618065312"/>
      </c:barChart>
      <c:catAx>
        <c:axId val="618061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18065312"/>
        <c:crosses val="autoZero"/>
        <c:auto val="1"/>
        <c:lblAlgn val="ctr"/>
        <c:lblOffset val="100"/>
        <c:noMultiLvlLbl val="0"/>
      </c:catAx>
      <c:valAx>
        <c:axId val="618065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18061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Таблица</a:t>
            </a:r>
            <a:r>
              <a:rPr lang="ru-RU" baseline="0" dirty="0"/>
              <a:t> 4 - </a:t>
            </a:r>
            <a:r>
              <a:rPr lang="ru-RU" dirty="0"/>
              <a:t>Количество</a:t>
            </a:r>
            <a:r>
              <a:rPr lang="ru-RU" baseline="0" dirty="0"/>
              <a:t> сравнений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Multipass Two-Way Merge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10.000</c:v>
                </c:pt>
                <c:pt idx="1">
                  <c:v>15.000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120650</c:v>
                </c:pt>
                <c:pt idx="1">
                  <c:v>180475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02-40CE-8486-B65CA9350B5A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Natural Merge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10.000</c:v>
                </c:pt>
                <c:pt idx="1">
                  <c:v>15.000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19999</c:v>
                </c:pt>
                <c:pt idx="1">
                  <c:v>29999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02-40CE-8486-B65CA9350B5A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Cascade Merge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10.000</c:v>
                </c:pt>
                <c:pt idx="1">
                  <c:v>15.000</c:v>
                </c:pt>
              </c:strCache>
            </c:strRef>
          </c:cat>
          <c:val>
            <c:numRef>
              <c:f>Лист1!$D$2:$D$3</c:f>
              <c:numCache>
                <c:formatCode>General</c:formatCode>
                <c:ptCount val="2"/>
                <c:pt idx="0">
                  <c:v>10000</c:v>
                </c:pt>
                <c:pt idx="1">
                  <c:v>15000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02-40CE-8486-B65CA9350B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8061568"/>
        <c:axId val="618065312"/>
      </c:barChart>
      <c:catAx>
        <c:axId val="618061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18065312"/>
        <c:crosses val="autoZero"/>
        <c:auto val="1"/>
        <c:lblAlgn val="ctr"/>
        <c:lblOffset val="100"/>
        <c:noMultiLvlLbl val="0"/>
      </c:catAx>
      <c:valAx>
        <c:axId val="618065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18061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005E36A-8EDC-4E31-9B63-285D193767E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747309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B8259CC-53A9-4F68-9122-BD3ED8262002}" type="slidenum">
              <a:rPr lang="ru-RU" altLang="ru-RU"/>
              <a:pPr>
                <a:spcBef>
                  <a:spcPct val="0"/>
                </a:spcBef>
              </a:pPr>
              <a:t>1</a:t>
            </a:fld>
            <a:endParaRPr lang="ru-RU" altLang="ru-RU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134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025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26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FB21968-7D78-415F-BB78-B24E80990A0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31096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AD0CF8-1480-4D28-93BE-4B08BBA353D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4317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5884F-A277-4175-8F8C-0F05779891D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09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DE7C33-4100-4D99-B93D-5114B364E0A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931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5EA52-F79E-4862-9A0C-CF38FD33A75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874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670AEA-0D0E-4630-AF00-4FC21D90682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293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4159F-ED31-4607-9E7D-37127597B47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629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F51E40-0D4A-42C3-9DA9-FB0F440AB02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550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5B163-6156-4C3C-B7BB-5E9DB471F36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25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2B81E2-802C-447D-96C7-5BE0491EF06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309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ED459-2ACC-46C2-BBB6-5F4EEF02E70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42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FC514E1B-10C4-4637-98B6-CD0A443837D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923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0" y="2057400"/>
            <a:ext cx="6172200" cy="2209800"/>
          </a:xfrm>
        </p:spPr>
        <p:txBody>
          <a:bodyPr/>
          <a:lstStyle/>
          <a:p>
            <a:pPr eaLnBrk="1" hangingPunct="1"/>
            <a:r>
              <a:rPr lang="ru-RU" sz="4400" dirty="0"/>
              <a:t>Сравнительный анализ алгоритмов внешних сортировок</a:t>
            </a:r>
            <a:br>
              <a:rPr lang="ru-RU" sz="4400" dirty="0"/>
            </a:br>
            <a:endParaRPr lang="ru-RU" altLang="ru-RU" sz="43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7B5D0A-6858-45A9-A4DD-8763DAB54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495800"/>
            <a:ext cx="8153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ru-RU" sz="2800" b="1" dirty="0">
                <a:solidFill>
                  <a:schemeClr val="tx1"/>
                </a:solidFill>
              </a:rPr>
              <a:t>Автор: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</a:p>
          <a:p>
            <a:r>
              <a:rPr lang="ru-RU" sz="2800" b="1" dirty="0">
                <a:solidFill>
                  <a:schemeClr val="tx1"/>
                </a:solidFill>
              </a:rPr>
              <a:t>Научный руководитель: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Актуальность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2000" dirty="0"/>
              <a:t>Актуальность работы обусловлена тем, что в современных системах обрабатываются большие объемы данных, которые не помещаются в оперативную память. В таких условиях стандартные алгоритмы сортировки становятся неэффективными, и требуется использование внешних сортировок.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DB32E1-04FA-472F-AB0B-2C7DF1510D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3669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Проблема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2000" dirty="0"/>
              <a:t>Существует множество алгоритмов внешней сортировки, но нет универсального алгоритма, который бы одинаково эффективно работал при любых условиях. Сравнительный анализ эффективности алгоритмов внешней сортировки недостаточно представлен в литературе, отсутствуют рекомендации по выбору под конкретные условия задач. Это обуславливает необходимость проведения практического анализа производительности алгоритмов внешней сортировки с учетом возможностей современных технологий.</a:t>
            </a:r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C06FD7-5322-42CC-ABF7-99CBE9DDCE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10185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Цель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2000" dirty="0"/>
              <a:t>Целью данного курсового проекта является проведение сравнительного анализа алгоритмов внешней сортировки и формирование рекомендаций по выбору алгоритма при определенных заданных условиях. В рамках курсового проекта рассмотрен сравнительный анализ производительности нескольких алгоритмов внешней сортировки на основе экспериментальных данных.</a:t>
            </a:r>
            <a:endParaRPr lang="ru-RU" sz="2400" dirty="0"/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FF3B83-6033-45CA-9A1D-B92CBB8795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22315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1800" b="1" dirty="0"/>
              <a:t>Для достижения поставленной цели необходимо решить следующие задачи:</a:t>
            </a:r>
          </a:p>
          <a:p>
            <a:pPr algn="just"/>
            <a:r>
              <a:rPr lang="ru-RU" sz="1800" dirty="0"/>
              <a:t>1.	Изучить теоретические основы алгоритмов внешней сортировки: многопроходным двусторонним слиянием, естественным слиянием, каскадным слиянием. Провести обзор литературы по предметной области, изучив существующие подходы и алгоритмы внешней сортировки, а также их адаптации для современных вычислительных систем.</a:t>
            </a:r>
          </a:p>
          <a:p>
            <a:pPr algn="just"/>
            <a:r>
              <a:rPr lang="ru-RU" sz="1800" dirty="0"/>
              <a:t>2.	Обосновать выбор алгоритмов для анализа, выделив наиболее перспективные методы с учетом условий их применения.</a:t>
            </a:r>
          </a:p>
          <a:p>
            <a:pPr algn="just"/>
            <a:r>
              <a:rPr lang="ru-RU" sz="1800" dirty="0"/>
              <a:t>3.	Разработать и реализовать алгоритмы внешней сортировки на языке программирования Python. Реализовать выбранные алгоритмов внешней сортировки.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BFF9AB-3B44-4C64-9900-A78438023C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3300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1800" dirty="0"/>
              <a:t>4.	Провести экспериментальное исследование, сравнив производительность алгоритмов по времени выполнения и количеству сравнений. Выявить преимущества и недостатки каждого алгоритма в зависимости от условий их выполнения.</a:t>
            </a:r>
          </a:p>
          <a:p>
            <a:pPr algn="just"/>
            <a:r>
              <a:rPr lang="ru-RU" sz="1800" dirty="0"/>
              <a:t>5.	На основе полученных результатов сформулировать рекомендации по выбору алгоритмов внешней сортировки. Определить оптимальные условия применения каждого из анализируемых алгоритмов. Сформулировать практические рекомендации для выбора алгоритмов внешней сортировки под конкретные задачи и характеристики оборудования.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E71E11-F9C3-48B7-9DB0-1B92A9A4D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271169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Структура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Курсовой проект включает два раздела. В первом разделе представлена теоретическая часть написание алгоритмов и принципов их работы. Во втором разделе изложена практическая реализация алгоритмов внешней сортировки, и проведен их сравнительный анализ на основе различных параметров.</a:t>
            </a:r>
          </a:p>
          <a:p>
            <a:pPr algn="just"/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8B160F-11D3-4B38-A0ED-729BD81C74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21513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Обзор методов сортировки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1600" dirty="0"/>
              <a:t>В рамках работы были реализованы три классических алгоритма внешней сортировки и разработана программа с графическим интерфейсом:</a:t>
            </a:r>
          </a:p>
          <a:p>
            <a:pPr algn="just"/>
            <a:r>
              <a:rPr lang="ru-RU" sz="1600" b="1" dirty="0"/>
              <a:t>Многопроходная </a:t>
            </a:r>
            <a:r>
              <a:rPr lang="ru-RU" sz="1600" b="1" dirty="0" err="1"/>
              <a:t>двухпутевая</a:t>
            </a:r>
            <a:r>
              <a:rPr lang="ru-RU" sz="1600" b="1" dirty="0"/>
              <a:t> сортировка слиянием </a:t>
            </a:r>
            <a:r>
              <a:rPr lang="en-US" sz="1600" dirty="0"/>
              <a:t>–</a:t>
            </a:r>
            <a:r>
              <a:rPr lang="ru-RU" sz="1600" dirty="0"/>
              <a:t> разбиение на блоки фиксированного размера, сортировка каждого блока во внутренней памяти и последующее попарное слияние.</a:t>
            </a:r>
          </a:p>
          <a:p>
            <a:pPr algn="just"/>
            <a:r>
              <a:rPr lang="ru-RU" sz="1600" b="1" dirty="0"/>
              <a:t>Естественное слияние</a:t>
            </a:r>
            <a:r>
              <a:rPr lang="ru-RU" sz="1600" dirty="0"/>
              <a:t> </a:t>
            </a:r>
            <a:r>
              <a:rPr lang="en-US" sz="1600" dirty="0"/>
              <a:t>–</a:t>
            </a:r>
            <a:r>
              <a:rPr lang="ru-RU" sz="1600" dirty="0"/>
              <a:t> формирование серий переменной длины на основе уже существующего порядка в данных, </a:t>
            </a:r>
            <a:r>
              <a:rPr lang="ru-RU" sz="1600" dirty="0" err="1"/>
              <a:t>многопутевое</a:t>
            </a:r>
            <a:r>
              <a:rPr lang="ru-RU" sz="1600" dirty="0"/>
              <a:t> слияние с использованием кучи.</a:t>
            </a:r>
          </a:p>
          <a:p>
            <a:pPr algn="just"/>
            <a:r>
              <a:rPr lang="ru-RU" sz="1600" b="1" dirty="0"/>
              <a:t>Каскадное слияние </a:t>
            </a:r>
            <a:r>
              <a:rPr lang="en-US" sz="1600" dirty="0"/>
              <a:t>–</a:t>
            </a:r>
            <a:r>
              <a:rPr lang="ru-RU" sz="1600" dirty="0"/>
              <a:t> также использует естественные серии, но слияние выполняется </a:t>
            </a:r>
            <a:r>
              <a:rPr lang="ru-RU" sz="1600" dirty="0" err="1"/>
              <a:t>каскадно</a:t>
            </a:r>
            <a:r>
              <a:rPr lang="ru-RU" sz="1600" dirty="0"/>
              <a:t>, что позволяет снизить число операций ввода-вывода.</a:t>
            </a:r>
          </a:p>
          <a:p>
            <a:pPr algn="just"/>
            <a:r>
              <a:rPr lang="ru-RU" sz="1600" dirty="0"/>
              <a:t>Все алгоритмы были реализованы в виде отдельных модулей на языке Python. Программа имеет графическим интерфейсом на </a:t>
            </a:r>
            <a:r>
              <a:rPr lang="ru-RU" sz="1600" dirty="0" err="1"/>
              <a:t>Tkinter</a:t>
            </a:r>
            <a:r>
              <a:rPr lang="ru-RU" sz="1600" dirty="0"/>
              <a:t>, который позволяет генерировать входные данные, запускать сортировку и сразу видеть время выполнения и количество сравнений.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128D2F-C2D8-4532-AAA8-82CB2103AF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8364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Разработка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2000" b="1" dirty="0"/>
              <a:t>Практическая часть работы включает следующие этапы:</a:t>
            </a:r>
            <a:endParaRPr lang="en-US" sz="2000" b="1" dirty="0"/>
          </a:p>
          <a:p>
            <a:pPr marL="0" indent="0" algn="just">
              <a:buNone/>
            </a:pPr>
            <a:endParaRPr lang="ru-RU" sz="2000" b="1" dirty="0"/>
          </a:p>
          <a:p>
            <a:r>
              <a:rPr lang="en-US" sz="2000" dirty="0"/>
              <a:t>1. </a:t>
            </a:r>
            <a:r>
              <a:rPr lang="ru-RU" sz="2000" dirty="0"/>
              <a:t>Разработка требований к программе: функциональные (генерация файла, выбор алгоритма, вывод статистики), нефункциональные (кроссплатформенность, удобство интерфейса), а также требования безопасности.</a:t>
            </a:r>
          </a:p>
          <a:p>
            <a:r>
              <a:rPr lang="en-US" sz="2000" dirty="0"/>
              <a:t>2. </a:t>
            </a:r>
            <a:r>
              <a:rPr lang="ru-RU" sz="2000" dirty="0"/>
              <a:t>Архитектура программы построена по модульному принципу: каждый алгоритм вынесен в отдельный файл, интерфейс — в главный модуль, генерация данных — в отдельный класс.</a:t>
            </a:r>
          </a:p>
          <a:p>
            <a:endParaRPr lang="ru-RU" sz="2000" dirty="0"/>
          </a:p>
          <a:p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86AC29-9712-4622-9FD5-97F89C0FB1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8600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Разработка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3. </a:t>
            </a:r>
            <a:r>
              <a:rPr lang="ru-RU" sz="1600" dirty="0"/>
              <a:t>Реализация включает:</a:t>
            </a:r>
          </a:p>
          <a:p>
            <a:pPr marL="0" indent="0">
              <a:buNone/>
            </a:pPr>
            <a:r>
              <a:rPr lang="ru-RU" sz="1600" dirty="0"/>
              <a:t>	- разбиение на серии (фиксированные или естественные)</a:t>
            </a:r>
            <a:r>
              <a:rPr lang="en-US" sz="1600" dirty="0"/>
              <a:t>;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	- функции слияния двух файлов</a:t>
            </a:r>
            <a:r>
              <a:rPr lang="en-US" sz="1600" dirty="0"/>
              <a:t>;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	- итеративное и каскадное слияние</a:t>
            </a:r>
            <a:r>
              <a:rPr lang="en-US" sz="1600" dirty="0"/>
              <a:t>;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	- подсчёт количества сравнений и времени выполнения</a:t>
            </a:r>
            <a:r>
              <a:rPr lang="en-US" sz="1600" dirty="0"/>
              <a:t>;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	- функцию генерация файла, содержащего случайные числа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ru-RU" sz="1600" dirty="0"/>
              <a:t>	- графический интерфейс.</a:t>
            </a:r>
            <a:endParaRPr lang="en-US" sz="1600" dirty="0"/>
          </a:p>
          <a:p>
            <a:r>
              <a:rPr lang="en-US" sz="1600" dirty="0"/>
              <a:t>4. </a:t>
            </a:r>
            <a:r>
              <a:rPr lang="ru-RU" sz="1600" dirty="0"/>
              <a:t>Тестирование проведено с использованием библиотеки </a:t>
            </a:r>
            <a:r>
              <a:rPr lang="ru-RU" sz="1600" dirty="0" err="1"/>
              <a:t>pytest</a:t>
            </a:r>
            <a:r>
              <a:rPr lang="ru-RU" sz="1600" dirty="0"/>
              <a:t>. Проверялись:</a:t>
            </a:r>
          </a:p>
          <a:p>
            <a:pPr marL="0" indent="0">
              <a:buNone/>
            </a:pPr>
            <a:r>
              <a:rPr lang="ru-RU" sz="1600" dirty="0"/>
              <a:t>	- корректность сортировки (сравнение со встроенной функцией </a:t>
            </a:r>
            <a:r>
              <a:rPr lang="ru-RU" sz="1600" dirty="0" err="1"/>
              <a:t>sorted</a:t>
            </a:r>
            <a:r>
              <a:rPr lang="ru-RU" sz="1600" dirty="0"/>
              <a:t>())</a:t>
            </a:r>
            <a:r>
              <a:rPr lang="en-US" sz="1600" dirty="0"/>
              <a:t>;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	- производительность на разных объёмах данных</a:t>
            </a:r>
            <a:r>
              <a:rPr lang="en-US" sz="1600" dirty="0"/>
              <a:t>;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	- устойчивость к особым случаям (пустой файл, один элемент, все числа 	одинаковы).</a:t>
            </a:r>
          </a:p>
          <a:p>
            <a:pPr marL="0" indent="0">
              <a:buNone/>
            </a:pPr>
            <a:r>
              <a:rPr lang="ru-RU" sz="1600" dirty="0"/>
              <a:t>      Все тесты подтвердили корректную работу алгоритмов.</a:t>
            </a:r>
            <a:endParaRPr lang="ru-RU" sz="1200" dirty="0"/>
          </a:p>
          <a:p>
            <a:endParaRPr lang="ru-RU" sz="1600" dirty="0"/>
          </a:p>
          <a:p>
            <a:endParaRPr lang="ru-RU" sz="1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153FB6-A5F8-4382-9589-0D272D14A3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10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92592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382000" cy="1371600"/>
          </a:xfrm>
        </p:spPr>
        <p:txBody>
          <a:bodyPr/>
          <a:lstStyle/>
          <a:p>
            <a:pPr algn="ctr"/>
            <a:r>
              <a:rPr lang="ru-RU" b="1" dirty="0"/>
              <a:t>Эксперименты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/>
              <a:t>Было проведено два эксперимента</a:t>
            </a:r>
          </a:p>
          <a:p>
            <a:r>
              <a:rPr lang="ru-RU" sz="2000" b="1" dirty="0"/>
              <a:t>Эксперимент 1 </a:t>
            </a:r>
            <a:r>
              <a:rPr lang="ru-RU" sz="2000" dirty="0"/>
              <a:t>– на случайных данных (15 000 и 25 000 чисел в диапазоне от -1000000 до 1000000).</a:t>
            </a:r>
            <a:br>
              <a:rPr lang="ru-RU" sz="2000" dirty="0"/>
            </a:br>
            <a:r>
              <a:rPr lang="ru-RU" sz="2000" dirty="0"/>
              <a:t>Результаты показали:</a:t>
            </a:r>
          </a:p>
          <a:p>
            <a:pPr marL="0" indent="0">
              <a:buNone/>
            </a:pPr>
            <a:r>
              <a:rPr lang="ru-RU" sz="2000" dirty="0"/>
              <a:t>	-</a:t>
            </a:r>
            <a:r>
              <a:rPr lang="en-US" sz="2000" dirty="0"/>
              <a:t> </a:t>
            </a:r>
            <a:r>
              <a:rPr lang="ru-RU" sz="2000" b="1" dirty="0"/>
              <a:t>многопроходное </a:t>
            </a:r>
            <a:r>
              <a:rPr lang="ru-RU" sz="2000" b="1" dirty="0" err="1"/>
              <a:t>двухпутевое</a:t>
            </a:r>
            <a:r>
              <a:rPr lang="ru-RU" sz="2000" b="1" dirty="0"/>
              <a:t> слияние </a:t>
            </a:r>
            <a:r>
              <a:rPr lang="ru-RU" sz="2000" dirty="0"/>
              <a:t>оказалось самым быстрым по времени (0,12–0,23 секунды), но имело наибольшее количество сравнений (208.441–371.071)</a:t>
            </a:r>
            <a:r>
              <a:rPr lang="en-US" sz="2000" dirty="0"/>
              <a:t>;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	-</a:t>
            </a:r>
            <a:r>
              <a:rPr lang="en-US" sz="2000" dirty="0"/>
              <a:t> </a:t>
            </a:r>
            <a:r>
              <a:rPr lang="ru-RU" sz="2000" b="1" dirty="0"/>
              <a:t>естественное слияние </a:t>
            </a:r>
            <a:r>
              <a:rPr lang="ru-RU" sz="2000" dirty="0"/>
              <a:t>заняло среднее время (4,6–9,2 секунды), но показало наименьшее число сравнений (185.874–342.886)</a:t>
            </a:r>
            <a:r>
              <a:rPr lang="en-US" sz="2000" dirty="0"/>
              <a:t>;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	- </a:t>
            </a:r>
            <a:r>
              <a:rPr lang="ru-RU" sz="2000" b="1" dirty="0"/>
              <a:t>каскадное слияние </a:t>
            </a:r>
            <a:r>
              <a:rPr lang="ru-RU" sz="2000" dirty="0"/>
              <a:t>продемонстрировало наибольшее время (13,5–23,1 секунды) при сопоставимом количестве сравнений (197.663–354.619).</a:t>
            </a:r>
          </a:p>
          <a:p>
            <a:pPr algn="just"/>
            <a:endParaRPr lang="ru-RU" sz="2000" dirty="0"/>
          </a:p>
          <a:p>
            <a:pPr algn="just"/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2F549E-11AD-4B46-8D51-7355156A47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11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2594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Анализ результатов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b="1" dirty="0"/>
              <a:t>Многопроходное </a:t>
            </a:r>
            <a:r>
              <a:rPr lang="ru-RU" sz="2000" b="1" dirty="0" err="1"/>
              <a:t>двухпутевое</a:t>
            </a:r>
            <a:r>
              <a:rPr lang="ru-RU" sz="2000" b="1" dirty="0"/>
              <a:t> слияние демонстрирует наименьшее время выполнения. Это связано с тем, что:</a:t>
            </a:r>
          </a:p>
          <a:p>
            <a:pPr marL="0" indent="0">
              <a:buNone/>
            </a:pPr>
            <a:r>
              <a:rPr lang="ru-RU" sz="2000" dirty="0"/>
              <a:t>	- </a:t>
            </a:r>
            <a:r>
              <a:rPr lang="ru-RU" sz="2000" b="1" dirty="0" err="1"/>
              <a:t>двухпутевое</a:t>
            </a:r>
            <a:r>
              <a:rPr lang="ru-RU" sz="2000" b="1" dirty="0"/>
              <a:t> слияние </a:t>
            </a:r>
            <a:r>
              <a:rPr lang="ru-RU" sz="2000" dirty="0"/>
              <a:t>имеет более простую структуру и меньше накладных расходов;</a:t>
            </a:r>
          </a:p>
          <a:p>
            <a:pPr marL="0" indent="0">
              <a:buNone/>
            </a:pPr>
            <a:r>
              <a:rPr lang="ru-RU" sz="2000" dirty="0"/>
              <a:t>	- </a:t>
            </a:r>
            <a:r>
              <a:rPr lang="ru-RU" sz="2000" b="1" dirty="0"/>
              <a:t>естественное слияние </a:t>
            </a:r>
            <a:r>
              <a:rPr lang="ru-RU" sz="2000" dirty="0"/>
              <a:t>зависит от структуры данных и при случайных данных формирует много коротких серий;</a:t>
            </a:r>
          </a:p>
          <a:p>
            <a:pPr marL="0" indent="0">
              <a:buNone/>
            </a:pPr>
            <a:r>
              <a:rPr lang="ru-RU" sz="2000" dirty="0"/>
              <a:t>	- </a:t>
            </a:r>
            <a:r>
              <a:rPr lang="ru-RU" sz="2000" b="1" dirty="0"/>
              <a:t>каскадное слияние </a:t>
            </a:r>
            <a:r>
              <a:rPr lang="ru-RU" sz="2000" dirty="0"/>
              <a:t>требует большого количества операций с файлами и дополнительных проходов.</a:t>
            </a:r>
            <a:endParaRPr lang="en-US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73129A-9B23-44D8-A19E-91FBA3CA05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12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9875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382000" cy="1371600"/>
          </a:xfrm>
        </p:spPr>
        <p:txBody>
          <a:bodyPr/>
          <a:lstStyle/>
          <a:p>
            <a:pPr algn="ctr"/>
            <a:r>
              <a:rPr lang="ru-RU" b="1" dirty="0"/>
              <a:t>Эксперименты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b="1" dirty="0"/>
              <a:t>Эксперимент 2</a:t>
            </a:r>
            <a:r>
              <a:rPr lang="ru-RU" sz="1800" dirty="0"/>
              <a:t> – на «плохих» для некоторых алгоритмов данных: файл, полностью состоящий из одинаковых чисел (10 000 и 15 000 единиц).</a:t>
            </a:r>
            <a:br>
              <a:rPr lang="ru-RU" sz="1800" dirty="0"/>
            </a:br>
            <a:r>
              <a:rPr lang="ru-RU" sz="1800" dirty="0"/>
              <a:t>Результаты:</a:t>
            </a:r>
          </a:p>
          <a:p>
            <a:pPr marL="0" indent="0">
              <a:buNone/>
            </a:pPr>
            <a:r>
              <a:rPr lang="ru-RU" sz="1800" b="1" dirty="0"/>
              <a:t>	- многопроходное </a:t>
            </a:r>
            <a:r>
              <a:rPr lang="ru-RU" sz="1800" b="1" dirty="0" err="1"/>
              <a:t>двухпутевое</a:t>
            </a:r>
            <a:r>
              <a:rPr lang="ru-RU" sz="1800" b="1" dirty="0"/>
              <a:t> слияние</a:t>
            </a:r>
            <a:r>
              <a:rPr lang="ru-RU" sz="1800" dirty="0"/>
              <a:t> – худшее время (0,062–0,096 секунды) и наибольшее число сравнений (120.650–180.475)</a:t>
            </a:r>
            <a:r>
              <a:rPr lang="en-US" sz="1800" dirty="0"/>
              <a:t>;</a:t>
            </a: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	- естественное слияние</a:t>
            </a:r>
            <a:r>
              <a:rPr lang="ru-RU" sz="1800" dirty="0"/>
              <a:t> показало средние результаты: время (0,029–0,046 секунды), количество равнений (19.999–29.999)</a:t>
            </a:r>
            <a:r>
              <a:rPr lang="en-US" sz="1800" dirty="0"/>
              <a:t>;</a:t>
            </a: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	- каскадное слияние</a:t>
            </a:r>
            <a:r>
              <a:rPr lang="ru-RU" sz="1800" dirty="0"/>
              <a:t> оказалось лидером: минимальное время (0,014–0,020 секунды) и количество сравнений, равное числу элементов.</a:t>
            </a:r>
          </a:p>
          <a:p>
            <a:r>
              <a:rPr lang="ru-RU" sz="1800" dirty="0"/>
              <a:t>Все алгоритмы во всех экспериментах выдали корректный отсортированный результат.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4A3DD5-1D4E-4513-8274-6FCED477B9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13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2309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Анализ результатов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/>
              <a:t>Каскадное слияние показала наилучшие результаты на наборе данных, состоящем из одинаковых чисел. Это связано с тем, что:</a:t>
            </a:r>
          </a:p>
          <a:p>
            <a:pPr marL="0" indent="0">
              <a:buNone/>
            </a:pPr>
            <a:r>
              <a:rPr lang="ru-RU" sz="1800" dirty="0"/>
              <a:t>	- </a:t>
            </a:r>
            <a:r>
              <a:rPr lang="ru-RU" sz="1800" b="1" dirty="0" err="1"/>
              <a:t>двухпутевое</a:t>
            </a:r>
            <a:r>
              <a:rPr lang="ru-RU" sz="1800" b="1" dirty="0"/>
              <a:t> слияние: </a:t>
            </a:r>
            <a:r>
              <a:rPr lang="ru-RU" sz="1800" dirty="0"/>
              <a:t>этот алгоритм не использует естественную упорядоченность данных. Она разбивает файл на блоки фиксированного размера, даже если данные уже отсортированы. В результате формируется множество серий. Кроме того, выполняется внутренняя сортировка каждого блока, даже если блок уже отсортирован</a:t>
            </a:r>
            <a:r>
              <a:rPr lang="en-US" sz="1800" dirty="0"/>
              <a:t>;</a:t>
            </a:r>
            <a:endParaRPr lang="ru-RU" sz="1800" dirty="0"/>
          </a:p>
          <a:p>
            <a:pPr marL="0" indent="0">
              <a:buNone/>
            </a:pPr>
            <a:r>
              <a:rPr lang="ru-RU" sz="1800" dirty="0"/>
              <a:t>	- </a:t>
            </a:r>
            <a:r>
              <a:rPr lang="ru-RU" sz="1800" b="1" dirty="0"/>
              <a:t>естественное слияние: </a:t>
            </a:r>
            <a:r>
              <a:rPr lang="ru-RU" sz="1800" dirty="0"/>
              <a:t>на этапе разбиения формируется одна серия, как у каскадного алгоритма, однако, алгоритм использует слияние с кучей даже для одной серии. Это приводит к тому, что файл все равно проходит через процедуру слияния.</a:t>
            </a:r>
          </a:p>
          <a:p>
            <a:pPr marL="0" indent="0">
              <a:buNone/>
            </a:pPr>
            <a:r>
              <a:rPr lang="ru-RU" sz="1800" dirty="0"/>
              <a:t>	- </a:t>
            </a:r>
            <a:r>
              <a:rPr lang="ru-RU" sz="1800" b="1" dirty="0"/>
              <a:t>каскадное слияние:</a:t>
            </a:r>
            <a:r>
              <a:rPr lang="ru-RU" sz="1800" dirty="0"/>
              <a:t> при полностью однородных данных естественное разбиение формирует одну единственную серию (все элементы идут в неубывающем порядке), каскадное слияние сразу завершает работу.</a:t>
            </a:r>
            <a:endParaRPr lang="en-US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D3F8B9-48F7-4256-A5EA-71F02BCB01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14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4228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1143000"/>
          </a:xfrm>
        </p:spPr>
        <p:txBody>
          <a:bodyPr/>
          <a:lstStyle/>
          <a:p>
            <a:pPr algn="ctr"/>
            <a:r>
              <a:rPr lang="ru-RU" b="1" dirty="0"/>
              <a:t>Эксперименты</a:t>
            </a:r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C876650-5008-462C-9041-66A0E1AB0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8305800" cy="827087"/>
          </a:xfrm>
        </p:spPr>
        <p:txBody>
          <a:bodyPr/>
          <a:lstStyle/>
          <a:p>
            <a:r>
              <a:rPr lang="ru-RU" sz="2000" dirty="0"/>
              <a:t>Результаты эксперимента №1</a:t>
            </a:r>
          </a:p>
          <a:p>
            <a:r>
              <a:rPr lang="ru-RU" sz="2000" dirty="0"/>
              <a:t>Таблица 1 – Время выполнения в секундах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7C81EAA9-5202-4B45-BC07-BFF9AA674A3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20332559"/>
              </p:ext>
            </p:extLst>
          </p:nvPr>
        </p:nvGraphicFramePr>
        <p:xfrm>
          <a:off x="445168" y="2667000"/>
          <a:ext cx="8001000" cy="2719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41709513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60115377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676837769"/>
                    </a:ext>
                  </a:extLst>
                </a:gridCol>
              </a:tblGrid>
              <a:tr h="6184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Объем данных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15 000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25 000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871064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u="sng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Multipass</a:t>
                      </a:r>
                      <a:r>
                        <a:rPr lang="en-A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Two-Way Merge</a:t>
                      </a:r>
                      <a:endParaRPr lang="ru-RU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0.1210</a:t>
                      </a:r>
                      <a:endParaRPr lang="ru-RU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0.2330</a:t>
                      </a:r>
                      <a:endParaRPr lang="ru-RU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660756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 Merge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4.6371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9.2102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273767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Cascade Merge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13.4966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23.1054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760624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AE8B47A-D237-4A20-8CB3-73E5610B4B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15EA52-F79E-4862-9A0C-CF38FD33A758}" type="slidenum">
              <a:rPr lang="ru-RU" altLang="ru-RU" smtClean="0"/>
              <a:pPr>
                <a:defRPr/>
              </a:pPr>
              <a:t>15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83607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1143000"/>
          </a:xfrm>
        </p:spPr>
        <p:txBody>
          <a:bodyPr/>
          <a:lstStyle/>
          <a:p>
            <a:pPr algn="ctr"/>
            <a:r>
              <a:rPr lang="ru-RU" b="1" dirty="0"/>
              <a:t>Эксперименты</a:t>
            </a:r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C876650-5008-462C-9041-66A0E1AB0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8305800" cy="827087"/>
          </a:xfrm>
        </p:spPr>
        <p:txBody>
          <a:bodyPr/>
          <a:lstStyle/>
          <a:p>
            <a:r>
              <a:rPr lang="ru-RU" sz="2000" dirty="0"/>
              <a:t>Результаты эксперимента №1</a:t>
            </a:r>
          </a:p>
          <a:p>
            <a:r>
              <a:rPr lang="ru-RU" sz="2000" dirty="0"/>
              <a:t>Таблица 2 – Количество сравнений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7C81EAA9-5202-4B45-BC07-BFF9AA674A3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64254582"/>
              </p:ext>
            </p:extLst>
          </p:nvPr>
        </p:nvGraphicFramePr>
        <p:xfrm>
          <a:off x="445168" y="2667000"/>
          <a:ext cx="8001000" cy="2719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41709513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60115377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676837769"/>
                    </a:ext>
                  </a:extLst>
                </a:gridCol>
              </a:tblGrid>
              <a:tr h="6184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Объем данных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15 000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25 000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871064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Multipass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Two-Way Merge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208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371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071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660756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 Merge</a:t>
                      </a:r>
                      <a:endParaRPr lang="ru-RU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185</a:t>
                      </a:r>
                      <a:r>
                        <a:rPr lang="ru-R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A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874</a:t>
                      </a:r>
                      <a:endParaRPr lang="ru-RU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342</a:t>
                      </a:r>
                      <a:r>
                        <a:rPr lang="ru-R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A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ru-R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</a:t>
                      </a:r>
                      <a:endParaRPr lang="ru-RU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273767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Cascade Merge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197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354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760624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78474EE-A1DC-48D7-997C-D3E705C143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15EA52-F79E-4862-9A0C-CF38FD33A758}" type="slidenum">
              <a:rPr lang="ru-RU" altLang="ru-RU" smtClean="0"/>
              <a:pPr>
                <a:defRPr/>
              </a:pPr>
              <a:t>16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0329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1143000"/>
          </a:xfrm>
        </p:spPr>
        <p:txBody>
          <a:bodyPr/>
          <a:lstStyle/>
          <a:p>
            <a:pPr algn="ctr"/>
            <a:r>
              <a:rPr lang="ru-RU" b="1" dirty="0"/>
              <a:t>Эксперименты</a:t>
            </a:r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C876650-5008-462C-9041-66A0E1AB0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8305800" cy="827087"/>
          </a:xfrm>
        </p:spPr>
        <p:txBody>
          <a:bodyPr/>
          <a:lstStyle/>
          <a:p>
            <a:r>
              <a:rPr lang="ru-RU" sz="2000" dirty="0"/>
              <a:t>Результаты эксперимента №2</a:t>
            </a:r>
          </a:p>
          <a:p>
            <a:r>
              <a:rPr lang="ru-RU" sz="2000" dirty="0"/>
              <a:t>Таблица 3 – Время выполнения в секундах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7C81EAA9-5202-4B45-BC07-BFF9AA674A3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29721420"/>
              </p:ext>
            </p:extLst>
          </p:nvPr>
        </p:nvGraphicFramePr>
        <p:xfrm>
          <a:off x="445168" y="2667000"/>
          <a:ext cx="8001000" cy="2719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41709513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60115377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676837769"/>
                    </a:ext>
                  </a:extLst>
                </a:gridCol>
              </a:tblGrid>
              <a:tr h="6184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Объем данных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10 000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15 000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871064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Multipass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Two-Way Merge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0620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0960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660756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 Merge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0290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0.0460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273767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Cascade Merge</a:t>
                      </a:r>
                      <a:endParaRPr lang="ru-RU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0.0140</a:t>
                      </a:r>
                      <a:endParaRPr lang="ru-RU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A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0200</a:t>
                      </a:r>
                      <a:endParaRPr lang="ru-RU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760624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567110F-B829-4BC6-AF2A-712277719C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15EA52-F79E-4862-9A0C-CF38FD33A758}" type="slidenum">
              <a:rPr lang="ru-RU" altLang="ru-RU" smtClean="0"/>
              <a:pPr>
                <a:defRPr/>
              </a:pPr>
              <a:t>17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46716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1143000"/>
          </a:xfrm>
        </p:spPr>
        <p:txBody>
          <a:bodyPr/>
          <a:lstStyle/>
          <a:p>
            <a:pPr algn="ctr"/>
            <a:r>
              <a:rPr lang="ru-RU" b="1" dirty="0"/>
              <a:t>Эксперименты</a:t>
            </a:r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C876650-5008-462C-9041-66A0E1AB0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8305800" cy="827087"/>
          </a:xfrm>
        </p:spPr>
        <p:txBody>
          <a:bodyPr/>
          <a:lstStyle/>
          <a:p>
            <a:r>
              <a:rPr lang="ru-RU" sz="2000" dirty="0"/>
              <a:t>Результаты эксперимента №2</a:t>
            </a:r>
          </a:p>
          <a:p>
            <a:r>
              <a:rPr lang="ru-RU" sz="2000" dirty="0"/>
              <a:t>Таблица 4 – Количество сравнений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7C81EAA9-5202-4B45-BC07-BFF9AA674A3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68753384"/>
              </p:ext>
            </p:extLst>
          </p:nvPr>
        </p:nvGraphicFramePr>
        <p:xfrm>
          <a:off x="445168" y="2667000"/>
          <a:ext cx="8001000" cy="2719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41709513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60115377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676837769"/>
                    </a:ext>
                  </a:extLst>
                </a:gridCol>
              </a:tblGrid>
              <a:tr h="6184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Объем данных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10 000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15 000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871064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Multipass</a:t>
                      </a: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Two-Way Merge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120 650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180 475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660756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 Merge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19 999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29 999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273767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A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Cascade Merge</a:t>
                      </a:r>
                      <a:endParaRPr lang="ru-RU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10 000</a:t>
                      </a:r>
                      <a:endParaRPr lang="ru-RU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15 000</a:t>
                      </a:r>
                      <a:endParaRPr lang="ru-RU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760624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098AD95-92ED-409D-8B04-EDBEAFE9E3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15EA52-F79E-4862-9A0C-CF38FD33A758}" type="slidenum">
              <a:rPr lang="ru-RU" altLang="ru-RU" smtClean="0"/>
              <a:pPr>
                <a:defRPr/>
              </a:pPr>
              <a:t>18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68963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1143000"/>
          </a:xfrm>
        </p:spPr>
        <p:txBody>
          <a:bodyPr/>
          <a:lstStyle/>
          <a:p>
            <a:pPr algn="ctr"/>
            <a:r>
              <a:rPr lang="ru-RU" b="1" dirty="0"/>
              <a:t>Эксперименты</a:t>
            </a:r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C876650-5008-462C-9041-66A0E1AB0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8305800" cy="446088"/>
          </a:xfrm>
        </p:spPr>
        <p:txBody>
          <a:bodyPr/>
          <a:lstStyle/>
          <a:p>
            <a:r>
              <a:rPr lang="ru-RU" sz="2000" dirty="0"/>
              <a:t>Результаты эксперимента №1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6E60F3F1-4A52-4514-8674-134957874EF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37477797"/>
              </p:ext>
            </p:extLst>
          </p:nvPr>
        </p:nvGraphicFramePr>
        <p:xfrm>
          <a:off x="457200" y="2174875"/>
          <a:ext cx="7924800" cy="3951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DD883C3-CE62-4D0B-A778-0B64921FBE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15EA52-F79E-4862-9A0C-CF38FD33A758}" type="slidenum">
              <a:rPr lang="ru-RU" altLang="ru-RU" smtClean="0"/>
              <a:pPr>
                <a:defRPr/>
              </a:pPr>
              <a:t>19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05781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1143000"/>
          </a:xfrm>
        </p:spPr>
        <p:txBody>
          <a:bodyPr/>
          <a:lstStyle/>
          <a:p>
            <a:pPr algn="ctr"/>
            <a:r>
              <a:rPr lang="ru-RU" b="1" dirty="0"/>
              <a:t>Эксперименты</a:t>
            </a:r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C876650-5008-462C-9041-66A0E1AB0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8305800" cy="446088"/>
          </a:xfrm>
        </p:spPr>
        <p:txBody>
          <a:bodyPr/>
          <a:lstStyle/>
          <a:p>
            <a:r>
              <a:rPr lang="ru-RU" sz="2000" dirty="0"/>
              <a:t>Результаты эксперимента №1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6E60F3F1-4A52-4514-8674-134957874EF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90590278"/>
              </p:ext>
            </p:extLst>
          </p:nvPr>
        </p:nvGraphicFramePr>
        <p:xfrm>
          <a:off x="457200" y="2174875"/>
          <a:ext cx="7924800" cy="3951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24A3BE-1156-4491-AAB0-F6125A06B8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15EA52-F79E-4862-9A0C-CF38FD33A758}" type="slidenum">
              <a:rPr lang="ru-RU" altLang="ru-RU" smtClean="0"/>
              <a:pPr>
                <a:defRPr/>
              </a:pPr>
              <a:t>20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219806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1143000"/>
          </a:xfrm>
        </p:spPr>
        <p:txBody>
          <a:bodyPr/>
          <a:lstStyle/>
          <a:p>
            <a:pPr algn="ctr"/>
            <a:r>
              <a:rPr lang="ru-RU" b="1" dirty="0"/>
              <a:t>Эксперименты</a:t>
            </a:r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C876650-5008-462C-9041-66A0E1AB0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8305800" cy="446088"/>
          </a:xfrm>
        </p:spPr>
        <p:txBody>
          <a:bodyPr/>
          <a:lstStyle/>
          <a:p>
            <a:r>
              <a:rPr lang="ru-RU" sz="2000" dirty="0"/>
              <a:t>Результаты эксперимента №2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6E60F3F1-4A52-4514-8674-134957874EF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48521625"/>
              </p:ext>
            </p:extLst>
          </p:nvPr>
        </p:nvGraphicFramePr>
        <p:xfrm>
          <a:off x="457200" y="2174875"/>
          <a:ext cx="7924800" cy="3951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3149879-14A8-4D72-BAA7-023CCE51F2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15EA52-F79E-4862-9A0C-CF38FD33A758}" type="slidenum">
              <a:rPr lang="ru-RU" altLang="ru-RU" smtClean="0"/>
              <a:pPr>
                <a:defRPr/>
              </a:pPr>
              <a:t>21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1389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1143000"/>
          </a:xfrm>
        </p:spPr>
        <p:txBody>
          <a:bodyPr/>
          <a:lstStyle/>
          <a:p>
            <a:pPr algn="ctr"/>
            <a:r>
              <a:rPr lang="ru-RU" b="1" dirty="0"/>
              <a:t>Эксперименты</a:t>
            </a:r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C876650-5008-462C-9041-66A0E1AB0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8305800" cy="446088"/>
          </a:xfrm>
        </p:spPr>
        <p:txBody>
          <a:bodyPr/>
          <a:lstStyle/>
          <a:p>
            <a:r>
              <a:rPr lang="ru-RU" sz="2000" dirty="0"/>
              <a:t>Результаты эксперимента №2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6E60F3F1-4A52-4514-8674-134957874EF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12724851"/>
              </p:ext>
            </p:extLst>
          </p:nvPr>
        </p:nvGraphicFramePr>
        <p:xfrm>
          <a:off x="457200" y="2174875"/>
          <a:ext cx="7924800" cy="3951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CD4D576-697E-45AC-A0BA-69A4CC799A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15EA52-F79E-4862-9A0C-CF38FD33A758}" type="slidenum">
              <a:rPr lang="ru-RU" altLang="ru-RU" smtClean="0"/>
              <a:pPr>
                <a:defRPr/>
              </a:pPr>
              <a:t>22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25148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Выводы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1800" b="1" dirty="0"/>
              <a:t>Многопроходное </a:t>
            </a:r>
            <a:r>
              <a:rPr lang="ru-RU" sz="1800" b="1" dirty="0" err="1"/>
              <a:t>двухпутевое</a:t>
            </a:r>
            <a:r>
              <a:rPr lang="ru-RU" sz="1800" b="1" dirty="0"/>
              <a:t> слияние </a:t>
            </a:r>
            <a:r>
              <a:rPr lang="ru-RU" sz="1800" dirty="0"/>
              <a:t>оптимально для случайных данных, где нет естественного порядка, а время выполнения важно. Скорость алгоритма обусловлена количеством сравнений. </a:t>
            </a:r>
          </a:p>
          <a:p>
            <a:pPr algn="just"/>
            <a:r>
              <a:rPr lang="ru-RU" sz="1800" b="1" dirty="0"/>
              <a:t>Естественное слияние</a:t>
            </a:r>
            <a:r>
              <a:rPr lang="ru-RU" sz="1800" dirty="0"/>
              <a:t> обеспечивает наименьшее количество сравнений на случайных данных за счёт </a:t>
            </a:r>
            <a:r>
              <a:rPr lang="ru-RU" sz="1800" dirty="0" err="1"/>
              <a:t>многопутевого</a:t>
            </a:r>
            <a:r>
              <a:rPr lang="ru-RU" sz="1800" dirty="0"/>
              <a:t> слияния с кучей. Однако на Python операции с кучей создают дополнительные вычислительные затраты, что делает его медленнее </a:t>
            </a:r>
            <a:r>
              <a:rPr lang="ru-RU" sz="1800" dirty="0" err="1"/>
              <a:t>двухпутевого</a:t>
            </a:r>
            <a:r>
              <a:rPr lang="ru-RU" sz="1800" dirty="0"/>
              <a:t> варианта.</a:t>
            </a:r>
          </a:p>
          <a:p>
            <a:pPr algn="just"/>
            <a:r>
              <a:rPr lang="ru-RU" sz="1800" b="1" dirty="0"/>
              <a:t>Каскадное слияние </a:t>
            </a:r>
            <a:r>
              <a:rPr lang="ru-RU" sz="1800" dirty="0"/>
              <a:t>– лучший выбор для уже упорядоченных или однородных данных. В лучшем случаи алгоритм завершается практически без затрат на слияние. Однако на случайных данных он оказывается самым медленным из-за большого числа коротких серий и высоких затратах на файловые операции.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F8C0E1B-B75D-4AF5-B563-299F9275D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23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5590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Выводы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/>
              <a:t>Выбор алгоритма должен определяться структурой данных</a:t>
            </a:r>
          </a:p>
          <a:p>
            <a:pPr marL="0" indent="0">
              <a:buNone/>
            </a:pPr>
            <a:r>
              <a:rPr lang="ru-RU" sz="1800" dirty="0"/>
              <a:t>	- если данные случайны и важна скорость - многопроходное </a:t>
            </a:r>
            <a:r>
              <a:rPr lang="ru-RU" sz="1800" dirty="0" err="1"/>
              <a:t>двухпутевое</a:t>
            </a:r>
            <a:r>
              <a:rPr lang="ru-RU" sz="1800" dirty="0"/>
              <a:t> слияние</a:t>
            </a:r>
            <a:r>
              <a:rPr lang="en-US" sz="1800" dirty="0"/>
              <a:t>;</a:t>
            </a:r>
            <a:endParaRPr lang="ru-RU" sz="1800" dirty="0"/>
          </a:p>
          <a:p>
            <a:pPr marL="0" indent="0">
              <a:buNone/>
            </a:pPr>
            <a:r>
              <a:rPr lang="ru-RU" sz="1800" dirty="0"/>
              <a:t>	- если данные частично упорядочены или требуется минимизировать сравнения -  естественное слияние</a:t>
            </a:r>
            <a:r>
              <a:rPr lang="en-US" sz="1800" dirty="0"/>
              <a:t>;</a:t>
            </a:r>
            <a:endParaRPr lang="ru-RU" sz="1800" dirty="0"/>
          </a:p>
          <a:p>
            <a:pPr marL="0" indent="0">
              <a:buNone/>
            </a:pPr>
            <a:r>
              <a:rPr lang="ru-RU" sz="1800" dirty="0"/>
              <a:t>	- если данные уже отсортированы или почти отсортированы - каскадное слияние.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E425DE-0588-465C-A55D-9F54D77F27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24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6927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1800" dirty="0"/>
              <a:t>В ходе выполнения работы были получены следующие </a:t>
            </a:r>
            <a:r>
              <a:rPr lang="ru-RU" sz="1800" b="1" dirty="0"/>
              <a:t>результаты</a:t>
            </a:r>
            <a:r>
              <a:rPr lang="ru-RU" sz="1800" dirty="0"/>
              <a:t>:</a:t>
            </a:r>
          </a:p>
          <a:p>
            <a:pPr algn="just"/>
            <a:r>
              <a:rPr lang="ru-RU" sz="1800" dirty="0"/>
              <a:t>Разработана и реализована программа для сравнительного анализа трёх алгоритмов внешней сортировки.</a:t>
            </a:r>
          </a:p>
          <a:p>
            <a:pPr algn="just"/>
            <a:r>
              <a:rPr lang="ru-RU" sz="1800" dirty="0"/>
              <a:t>Проведены эксперименты, выявившие зависимость эффективности алгоритмов от структуры данных:</a:t>
            </a:r>
          </a:p>
          <a:p>
            <a:pPr lvl="1" algn="just"/>
            <a:r>
              <a:rPr lang="ru-RU" sz="1800" dirty="0"/>
              <a:t>при случайных данных </a:t>
            </a:r>
            <a:r>
              <a:rPr lang="ru-RU" sz="1800" b="1" dirty="0"/>
              <a:t>многопроходное </a:t>
            </a:r>
            <a:r>
              <a:rPr lang="ru-RU" sz="1800" b="1" dirty="0" err="1"/>
              <a:t>двухпутевое</a:t>
            </a:r>
            <a:r>
              <a:rPr lang="ru-RU" sz="1800" b="1" dirty="0"/>
              <a:t> слияние</a:t>
            </a:r>
            <a:r>
              <a:rPr lang="ru-RU" sz="1800" dirty="0"/>
              <a:t> даёт наименьшее время выполнения;</a:t>
            </a:r>
          </a:p>
          <a:p>
            <a:pPr lvl="1" algn="just"/>
            <a:r>
              <a:rPr lang="ru-RU" sz="1800" dirty="0"/>
              <a:t>при частично упорядоченных или однородных данных </a:t>
            </a:r>
            <a:r>
              <a:rPr lang="ru-RU" sz="1800" b="1" dirty="0"/>
              <a:t>каскадное слияние</a:t>
            </a:r>
            <a:r>
              <a:rPr lang="ru-RU" sz="1800" dirty="0"/>
              <a:t> минимизирует число сравнений и время;</a:t>
            </a:r>
          </a:p>
          <a:p>
            <a:pPr lvl="1" algn="just"/>
            <a:r>
              <a:rPr lang="ru-RU" sz="1800" b="1" dirty="0"/>
              <a:t>естественное слияние</a:t>
            </a:r>
            <a:r>
              <a:rPr lang="ru-RU" sz="1800" dirty="0"/>
              <a:t> является сбалансированным вариантом с наименьшим числом сравнений на случайных данных.</a:t>
            </a:r>
          </a:p>
          <a:p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F2DA08-21A9-4A4B-B03A-955B288D24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25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3775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b="1" dirty="0"/>
              <a:t>Вывод о решении задач и достижении цели:</a:t>
            </a:r>
            <a:br>
              <a:rPr lang="ru-RU" sz="2000" dirty="0"/>
            </a:br>
            <a:r>
              <a:rPr lang="ru-RU" sz="2000" dirty="0"/>
              <a:t>Поставленная цель – формирование рекомендаций по выбору алгоритма – достигнута. Задачи работы полностью решены.</a:t>
            </a:r>
          </a:p>
          <a:p>
            <a:r>
              <a:rPr lang="ru-RU" sz="2000" b="1" dirty="0"/>
              <a:t>Перспективы работы</a:t>
            </a:r>
            <a:r>
              <a:rPr lang="ru-RU" sz="2000" dirty="0"/>
              <a:t> включают:</a:t>
            </a:r>
          </a:p>
          <a:p>
            <a:pPr marL="0" indent="0">
              <a:buNone/>
            </a:pPr>
            <a:r>
              <a:rPr lang="en-US" sz="2000" dirty="0"/>
              <a:t>	- </a:t>
            </a:r>
            <a:r>
              <a:rPr lang="ru-RU" sz="2000" dirty="0"/>
              <a:t>адаптацию алгоритмов для работы с различными типами </a:t>
            </a:r>
            <a:r>
              <a:rPr lang="en-US" sz="2000" dirty="0"/>
              <a:t>	</a:t>
            </a:r>
            <a:r>
              <a:rPr lang="ru-RU" sz="2000" dirty="0"/>
              <a:t>данных (строки, структуры);</a:t>
            </a:r>
          </a:p>
          <a:p>
            <a:pPr marL="0" indent="0">
              <a:buNone/>
            </a:pPr>
            <a:r>
              <a:rPr lang="en-US" sz="2000" dirty="0"/>
              <a:t>	- </a:t>
            </a:r>
            <a:r>
              <a:rPr lang="ru-RU" sz="2000" dirty="0"/>
              <a:t>внедрение параллельной обработки;</a:t>
            </a:r>
          </a:p>
          <a:p>
            <a:pPr marL="0" indent="0">
              <a:buNone/>
            </a:pPr>
            <a:r>
              <a:rPr lang="en-US" sz="2000" dirty="0"/>
              <a:t>	- </a:t>
            </a:r>
            <a:r>
              <a:rPr lang="ru-RU" sz="2000" dirty="0"/>
              <a:t>расширение</a:t>
            </a:r>
            <a:r>
              <a:rPr lang="en-US" sz="2000" dirty="0"/>
              <a:t> </a:t>
            </a:r>
            <a:r>
              <a:rPr lang="ru-RU" sz="2000" dirty="0"/>
              <a:t>возможностей интерфейса, выбор размера 	блока и количества лент.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87F3FE-98E5-4069-BAF3-2C96F8A147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35308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Описание методов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Многопроходная </a:t>
            </a:r>
            <a:r>
              <a:rPr lang="ru-RU" dirty="0" err="1"/>
              <a:t>двухпутевая</a:t>
            </a:r>
            <a:r>
              <a:rPr lang="ru-RU" dirty="0"/>
              <a:t> сортировка слиянием</a:t>
            </a:r>
          </a:p>
          <a:p>
            <a:r>
              <a:rPr lang="ru-RU" dirty="0"/>
              <a:t>Сортировка естественным слиянием</a:t>
            </a:r>
          </a:p>
          <a:p>
            <a:r>
              <a:rPr lang="ru-RU" dirty="0"/>
              <a:t>Сортировка каскадным слиянием</a:t>
            </a:r>
          </a:p>
          <a:p>
            <a:endParaRPr lang="en-US" dirty="0"/>
          </a:p>
          <a:p>
            <a:endParaRPr lang="ru-RU" b="1" dirty="0"/>
          </a:p>
          <a:p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3854CA-AA2E-4614-975C-F8AE6FE1D9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27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8082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000" b="1" dirty="0">
                <a:latin typeface="+mj-lt"/>
                <a:ea typeface="+mj-ea"/>
                <a:cs typeface="+mj-cs"/>
              </a:rPr>
              <a:t>Многопроходная </a:t>
            </a:r>
            <a:r>
              <a:rPr lang="ru-RU" sz="4000" b="1" dirty="0" err="1">
                <a:latin typeface="+mj-lt"/>
                <a:ea typeface="+mj-ea"/>
                <a:cs typeface="+mj-cs"/>
              </a:rPr>
              <a:t>двухпутевая</a:t>
            </a:r>
            <a:r>
              <a:rPr lang="ru-RU" sz="4000" b="1" dirty="0">
                <a:latin typeface="+mj-lt"/>
                <a:ea typeface="+mj-ea"/>
                <a:cs typeface="+mj-cs"/>
              </a:rPr>
              <a:t> сортировка слиянием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/>
              <a:t>Математическое описание алгоритма: пусть задан неотсортированный файл F, содержащий N записей различных чисел, а объем оперативной памяти позволяет обрабатывать одновременно только M записей, где M&lt;N. Задача – отсортировать F по определенному ключу.</a:t>
            </a:r>
          </a:p>
          <a:p>
            <a:r>
              <a:rPr lang="ru-RU" sz="2000" dirty="0"/>
              <a:t>Процесс сортировки можно разбить на два этапа: Разбиение: файл разбивается на N/M блоков, каждый из которых загружается в память, сортируется с использованием внутренней сортировки и записывается на диск;</a:t>
            </a:r>
          </a:p>
          <a:p>
            <a:r>
              <a:rPr lang="ru-RU" sz="2000" dirty="0"/>
              <a:t>Слияние: блоки последовательно сливаются попарно до тех пор, пока не останется один отсортированный файл.</a:t>
            </a:r>
          </a:p>
          <a:p>
            <a:endParaRPr lang="en-US" sz="2000" dirty="0"/>
          </a:p>
          <a:p>
            <a:endParaRPr lang="ru-RU" sz="2000" dirty="0"/>
          </a:p>
          <a:p>
            <a:endParaRPr lang="ru-RU" sz="1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6520CA-34BE-42CA-AC3D-FF51D70908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28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3342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000" b="1" dirty="0">
                <a:latin typeface="+mj-lt"/>
                <a:ea typeface="+mj-ea"/>
                <a:cs typeface="+mj-cs"/>
              </a:rPr>
              <a:t>Многопроходная </a:t>
            </a:r>
            <a:r>
              <a:rPr lang="ru-RU" sz="4000" b="1" dirty="0" err="1">
                <a:latin typeface="+mj-lt"/>
                <a:ea typeface="+mj-ea"/>
                <a:cs typeface="+mj-cs"/>
              </a:rPr>
              <a:t>двухпутевая</a:t>
            </a:r>
            <a:r>
              <a:rPr lang="ru-RU" sz="4000" b="1" dirty="0">
                <a:latin typeface="+mj-lt"/>
                <a:ea typeface="+mj-ea"/>
                <a:cs typeface="+mj-cs"/>
              </a:rPr>
              <a:t> сортировка слиянием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600" dirty="0"/>
              <a:t>Алгоритм:</a:t>
            </a:r>
          </a:p>
          <a:p>
            <a:pPr marL="0" indent="0">
              <a:buNone/>
            </a:pPr>
            <a:r>
              <a:rPr lang="ru-RU" sz="1600" dirty="0"/>
              <a:t>	1) Исходный файл открывается и считываются строки из него;</a:t>
            </a:r>
          </a:p>
          <a:p>
            <a:pPr marL="0" indent="0">
              <a:buNone/>
            </a:pPr>
            <a:r>
              <a:rPr lang="ru-RU" sz="1600" dirty="0"/>
              <a:t>	2) Когда считано заданное количество строк, они сортируются в оперативной памяти с помощью внутренней сортировки;</a:t>
            </a:r>
          </a:p>
          <a:p>
            <a:pPr marL="0" indent="0">
              <a:buNone/>
            </a:pPr>
            <a:r>
              <a:rPr lang="ru-RU" sz="1600" dirty="0"/>
              <a:t>	3) Отсортированный блок записывается в отдельный файл, который сохраняется в заранее заданной директории;</a:t>
            </a:r>
          </a:p>
          <a:p>
            <a:pPr marL="0" indent="0">
              <a:buNone/>
            </a:pPr>
            <a:r>
              <a:rPr lang="ru-RU" sz="1600" dirty="0"/>
              <a:t>	4) Процесс повторяется для оставшихся строк в файле;</a:t>
            </a:r>
          </a:p>
          <a:p>
            <a:pPr marL="0" indent="0">
              <a:buNone/>
            </a:pPr>
            <a:r>
              <a:rPr lang="ru-RU" sz="1600" dirty="0"/>
              <a:t>	5) Исходный файл закрывается;</a:t>
            </a:r>
          </a:p>
          <a:p>
            <a:pPr marL="0" indent="0">
              <a:buNone/>
            </a:pPr>
            <a:r>
              <a:rPr lang="ru-RU" sz="1600" dirty="0"/>
              <a:t>	6) Блоки сливаются попарно: берутся два отсортированных файла и на их основе создается один новый отсортированный файл;</a:t>
            </a:r>
          </a:p>
          <a:p>
            <a:pPr marL="0" indent="0">
              <a:buNone/>
            </a:pPr>
            <a:r>
              <a:rPr lang="ru-RU" sz="1600" dirty="0"/>
              <a:t>	7) После каждой итерации количество файлов уменьшается вдвое или почти вдвое, если файлов нечетное количество;</a:t>
            </a:r>
          </a:p>
          <a:p>
            <a:pPr marL="0" indent="0">
              <a:buNone/>
            </a:pPr>
            <a:r>
              <a:rPr lang="ru-RU" sz="1600" dirty="0"/>
              <a:t>	8) Процесс продолжается, пока не останется один отсортированный файл</a:t>
            </a:r>
          </a:p>
          <a:p>
            <a:endParaRPr lang="en-US" sz="1600" dirty="0"/>
          </a:p>
          <a:p>
            <a:endParaRPr lang="ru-RU" sz="1600" dirty="0"/>
          </a:p>
          <a:p>
            <a:endParaRPr lang="ru-RU" sz="11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C459F2-BCED-4C8D-A6C4-C82CF831E4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29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5058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458200" cy="1143000"/>
          </a:xfrm>
        </p:spPr>
        <p:txBody>
          <a:bodyPr/>
          <a:lstStyle/>
          <a:p>
            <a:pPr algn="ctr"/>
            <a:r>
              <a:rPr lang="ru-RU" sz="4000" b="1" dirty="0">
                <a:latin typeface="+mj-lt"/>
                <a:ea typeface="+mj-ea"/>
                <a:cs typeface="+mj-cs"/>
              </a:rPr>
              <a:t>Многопроходная </a:t>
            </a:r>
            <a:r>
              <a:rPr lang="ru-RU" sz="4000" b="1" dirty="0" err="1">
                <a:latin typeface="+mj-lt"/>
                <a:ea typeface="+mj-ea"/>
                <a:cs typeface="+mj-cs"/>
              </a:rPr>
              <a:t>двухпутевая</a:t>
            </a:r>
            <a:r>
              <a:rPr lang="ru-RU" sz="4000" b="1" dirty="0">
                <a:latin typeface="+mj-lt"/>
                <a:ea typeface="+mj-ea"/>
                <a:cs typeface="+mj-cs"/>
              </a:rPr>
              <a:t> сортировка слиянием</a:t>
            </a:r>
            <a:endParaRPr lang="ru-RU" sz="4000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C876650-5008-462C-9041-66A0E1AB0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8305800" cy="1143000"/>
          </a:xfrm>
        </p:spPr>
        <p:txBody>
          <a:bodyPr/>
          <a:lstStyle/>
          <a:p>
            <a:r>
              <a:rPr lang="ru-RU" sz="2000" b="0" dirty="0"/>
              <a:t>Пример.</a:t>
            </a:r>
          </a:p>
          <a:p>
            <a:r>
              <a:rPr lang="ru-RU" sz="2000" b="0" dirty="0"/>
              <a:t>Исходный файл f: 12 4 5 19 8 3 7 15 1 10.</a:t>
            </a:r>
          </a:p>
          <a:p>
            <a:r>
              <a:rPr lang="ru-RU" sz="2000" b="0" dirty="0"/>
              <a:t>Размер блока: 3.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C7CF927D-BF9E-4729-A89B-253B8A38F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109271"/>
              </p:ext>
            </p:extLst>
          </p:nvPr>
        </p:nvGraphicFramePr>
        <p:xfrm>
          <a:off x="1747202" y="3429000"/>
          <a:ext cx="5649595" cy="21730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0145">
                  <a:extLst>
                    <a:ext uri="{9D8B030D-6E8A-4147-A177-3AD203B41FA5}">
                      <a16:colId xmlns:a16="http://schemas.microsoft.com/office/drawing/2014/main" val="3235705987"/>
                    </a:ext>
                  </a:extLst>
                </a:gridCol>
                <a:gridCol w="2091690">
                  <a:extLst>
                    <a:ext uri="{9D8B030D-6E8A-4147-A177-3AD203B41FA5}">
                      <a16:colId xmlns:a16="http://schemas.microsoft.com/office/drawing/2014/main" val="3391777058"/>
                    </a:ext>
                  </a:extLst>
                </a:gridCol>
                <a:gridCol w="2397760">
                  <a:extLst>
                    <a:ext uri="{9D8B030D-6E8A-4147-A177-3AD203B41FA5}">
                      <a16:colId xmlns:a16="http://schemas.microsoft.com/office/drawing/2014/main" val="32176585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400">
                          <a:effectLst/>
                        </a:rPr>
                        <a:t>№ прохода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</a:rPr>
                        <a:t>Распределение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</a:rPr>
                        <a:t>Слияние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124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</a:rPr>
                        <a:t>1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400" dirty="0">
                          <a:effectLst/>
                        </a:rPr>
                        <a:t>f</a:t>
                      </a:r>
                      <a:r>
                        <a:rPr lang="ru-RU" sz="1400" dirty="0">
                          <a:effectLst/>
                        </a:rPr>
                        <a:t>1: </a:t>
                      </a:r>
                      <a:r>
                        <a:rPr lang="en-AU" sz="1400" dirty="0">
                          <a:effectLst/>
                        </a:rPr>
                        <a:t>4 5 12</a:t>
                      </a:r>
                      <a:endParaRPr lang="ru-RU" sz="11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400" dirty="0">
                          <a:effectLst/>
                        </a:rPr>
                        <a:t>f</a:t>
                      </a:r>
                      <a:r>
                        <a:rPr lang="ru-RU" sz="1400" dirty="0">
                          <a:effectLst/>
                        </a:rPr>
                        <a:t>2: </a:t>
                      </a:r>
                      <a:r>
                        <a:rPr lang="en-AU" sz="1400" dirty="0">
                          <a:effectLst/>
                        </a:rPr>
                        <a:t>3 8 19</a:t>
                      </a:r>
                      <a:endParaRPr lang="ru-RU" sz="11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400" dirty="0">
                          <a:effectLst/>
                        </a:rPr>
                        <a:t>f3: 1 7 15</a:t>
                      </a:r>
                      <a:endParaRPr lang="ru-RU" sz="11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400" dirty="0">
                          <a:effectLst/>
                        </a:rPr>
                        <a:t>f4: 10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400" dirty="0">
                          <a:effectLst/>
                        </a:rPr>
                        <a:t>f1: 3 4 5 8 12 19</a:t>
                      </a:r>
                      <a:endParaRPr lang="ru-RU" sz="11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400" dirty="0">
                          <a:effectLst/>
                        </a:rPr>
                        <a:t>f3: 1 7 10 15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329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400" dirty="0">
                          <a:effectLst/>
                        </a:rPr>
                        <a:t>2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400">
                          <a:effectLst/>
                        </a:rPr>
                        <a:t>f1: 3 4 5 8 12 19</a:t>
                      </a:r>
                      <a:endParaRPr lang="ru-RU" sz="11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400">
                          <a:effectLst/>
                        </a:rPr>
                        <a:t>f3: 1 7 10 15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400" dirty="0">
                          <a:effectLst/>
                        </a:rPr>
                        <a:t>f1: 1 3 4 5 7 8 10 12 15 19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144416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D280BC3-AEB6-4B8C-BB59-D09F57D3A6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15EA52-F79E-4862-9A0C-CF38FD33A758}" type="slidenum">
              <a:rPr lang="ru-RU" altLang="ru-RU" smtClean="0"/>
              <a:pPr>
                <a:defRPr/>
              </a:pPr>
              <a:t>30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05839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000" b="1" dirty="0"/>
              <a:t>Сортировка е</a:t>
            </a:r>
            <a:r>
              <a:rPr lang="ru-RU" sz="4000" b="1" dirty="0">
                <a:latin typeface="+mj-lt"/>
                <a:ea typeface="+mj-ea"/>
                <a:cs typeface="+mj-cs"/>
              </a:rPr>
              <a:t>стественным слиянием</a:t>
            </a:r>
            <a:endParaRPr lang="ru-RU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sz="2800" dirty="0"/>
                  <a:t>Математическое описание: пусть задан неотсортированный файл F, содержащий N записей различных чисел, а объем оперативной памяти позволяет обрабатывать одновременно только M записей, где </a:t>
                </a:r>
                <a14:m>
                  <m:oMath xmlns:m="http://schemas.openxmlformats.org/officeDocument/2006/math">
                    <m:r>
                      <a:rPr lang="ru-RU" sz="2800" b="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ru-RU" sz="2800" b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ru-RU" sz="2800" b="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sz="2800" dirty="0"/>
                  <a:t> . R – число естественных серий, которые найдены на этапе разделения. Задача – отсортировать F по определенному ключу.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567" r="-22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F0E295-7633-4599-9A41-3DF5D51686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31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4086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000" b="1" dirty="0"/>
              <a:t>Сортировка е</a:t>
            </a:r>
            <a:r>
              <a:rPr lang="ru-RU" sz="4000" b="1" dirty="0">
                <a:latin typeface="+mj-lt"/>
                <a:ea typeface="+mj-ea"/>
                <a:cs typeface="+mj-cs"/>
              </a:rPr>
              <a:t>стественным слиянием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/>
              <a:t>Процесс сортировки можно разбить на два этапа:</a:t>
            </a:r>
          </a:p>
          <a:p>
            <a:r>
              <a:rPr lang="ru-RU" sz="2000" dirty="0"/>
              <a:t>Естественное разбиение: проходимся по файлу и формируем естественные серии – участки, где числа идут по возрастанию т.е. уже отсортированные участки. Когда найден элемент </a:t>
            </a:r>
            <a:r>
              <a:rPr lang="ru-RU" sz="2000" dirty="0" err="1"/>
              <a:t>a_i</a:t>
            </a:r>
            <a:r>
              <a:rPr lang="ru-RU" sz="2000" dirty="0"/>
              <a:t>&lt;a_(i-1) начинается новая серия;</a:t>
            </a:r>
          </a:p>
          <a:p>
            <a:r>
              <a:rPr lang="ru-RU" sz="2000" dirty="0"/>
              <a:t>Слияние: используется </a:t>
            </a:r>
            <a:r>
              <a:rPr lang="ru-RU" sz="2000" dirty="0" err="1"/>
              <a:t>min</a:t>
            </a:r>
            <a:r>
              <a:rPr lang="ru-RU" sz="2000" dirty="0"/>
              <a:t>-куча для выбора наименьшего элемента среди первых чисел всех серий. Каждый раз, когда элемент записывается в выходной файл, извлекается минимум из кучи, затем добавляется следующий элемент из той же серии. В куче одновременно может находится максимум R элементов т.е. по одному от каждый серии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8990DB-830F-4FC8-9EEA-59DB60FDFC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32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35737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000" b="1" dirty="0"/>
              <a:t>Сортировка е</a:t>
            </a:r>
            <a:r>
              <a:rPr lang="ru-RU" sz="4000" b="1" dirty="0">
                <a:latin typeface="+mj-lt"/>
                <a:ea typeface="+mj-ea"/>
                <a:cs typeface="+mj-cs"/>
              </a:rPr>
              <a:t>стественным слиянием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400" dirty="0"/>
              <a:t>Алгоритм:</a:t>
            </a:r>
          </a:p>
          <a:p>
            <a:pPr marL="0" indent="0">
              <a:buNone/>
            </a:pPr>
            <a:r>
              <a:rPr lang="ru-RU" sz="1400" dirty="0"/>
              <a:t>	1) Исходный файл открывается для чтения;</a:t>
            </a:r>
          </a:p>
          <a:p>
            <a:pPr marL="0" indent="0">
              <a:buNone/>
            </a:pPr>
            <a:r>
              <a:rPr lang="ru-RU" sz="1400" dirty="0"/>
              <a:t>	2) Построчно считываются данные из файла и записываются в блоки. Если текущее число не меньше предыдущего – оно добавляется в текущий блок. Если текущее число меньше предыдущего – текущий блок сохраняется в отдельный файл, начинается новый блок. После завершения чтения последний блок также сохраняется в отдельный файл;</a:t>
            </a:r>
          </a:p>
          <a:p>
            <a:pPr marL="0" indent="0">
              <a:buNone/>
            </a:pPr>
            <a:r>
              <a:rPr lang="ru-RU" sz="1400" dirty="0"/>
              <a:t>	3) Возвращается список имен временных отсортированных блоков;</a:t>
            </a:r>
          </a:p>
          <a:p>
            <a:pPr marL="0" indent="0">
              <a:buNone/>
            </a:pPr>
            <a:r>
              <a:rPr lang="ru-RU" sz="1400" dirty="0"/>
              <a:t>	4) Исходный файл закрывается;</a:t>
            </a:r>
          </a:p>
          <a:p>
            <a:pPr marL="0" indent="0">
              <a:buNone/>
            </a:pPr>
            <a:r>
              <a:rPr lang="ru-RU" sz="1400" dirty="0"/>
              <a:t>	5) Открываются все временные файлы т.е. блоки на чтение;</a:t>
            </a:r>
          </a:p>
          <a:p>
            <a:pPr marL="0" indent="0">
              <a:buNone/>
            </a:pPr>
            <a:r>
              <a:rPr lang="ru-RU" sz="1400" dirty="0"/>
              <a:t>	6) Исходный файл открывается на запись;</a:t>
            </a:r>
          </a:p>
          <a:p>
            <a:pPr marL="0" indent="0">
              <a:buNone/>
            </a:pPr>
            <a:r>
              <a:rPr lang="ru-RU" sz="1400" dirty="0"/>
              <a:t>	7) Считываются первые элементы из всех временных файлов и добавляются в кучу </a:t>
            </a:r>
            <a:r>
              <a:rPr lang="ru-RU" sz="1400" dirty="0" err="1"/>
              <a:t>min-heap</a:t>
            </a:r>
            <a:r>
              <a:rPr lang="ru-RU" sz="1400" dirty="0"/>
              <a:t> вместе с индексами соответствующий файлов;</a:t>
            </a:r>
          </a:p>
          <a:p>
            <a:pPr marL="0" indent="0">
              <a:buNone/>
            </a:pPr>
            <a:r>
              <a:rPr lang="ru-RU" sz="1400" dirty="0"/>
              <a:t>	8) Пока куча не пуста: извлекается наименьший элемент, записывается в выходной файл, считывается следующие число из соответствующего файла и добавляется в кучу;</a:t>
            </a:r>
          </a:p>
          <a:p>
            <a:pPr marL="0" indent="0">
              <a:buNone/>
            </a:pPr>
            <a:r>
              <a:rPr lang="ru-RU" sz="1400" dirty="0"/>
              <a:t>	9) Все файлы закрываются.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89FCA4-CB4A-41F7-83D4-C57B82B3D3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33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967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458200" cy="1143000"/>
          </a:xfrm>
        </p:spPr>
        <p:txBody>
          <a:bodyPr/>
          <a:lstStyle/>
          <a:p>
            <a:pPr algn="ctr"/>
            <a:r>
              <a:rPr lang="ru-RU" sz="4000" b="1" dirty="0"/>
              <a:t>Сортировка е</a:t>
            </a:r>
            <a:r>
              <a:rPr lang="ru-RU" sz="4000" b="1" dirty="0">
                <a:latin typeface="+mj-lt"/>
                <a:ea typeface="+mj-ea"/>
                <a:cs typeface="+mj-cs"/>
              </a:rPr>
              <a:t>стественным слиянием</a:t>
            </a:r>
            <a:endParaRPr lang="ru-RU" sz="4000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C876650-5008-462C-9041-66A0E1AB0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8305800" cy="457200"/>
          </a:xfrm>
        </p:spPr>
        <p:txBody>
          <a:bodyPr/>
          <a:lstStyle/>
          <a:p>
            <a:r>
              <a:rPr lang="ru-RU" sz="2000" b="0" dirty="0"/>
              <a:t>Пример. Исходный файл f: 12 4 5 19 8 3 7 15 1 10.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4ADED8E-0109-476D-ADF6-F7D2C1B5C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546740"/>
              </p:ext>
            </p:extLst>
          </p:nvPr>
        </p:nvGraphicFramePr>
        <p:xfrm>
          <a:off x="2468712" y="2286000"/>
          <a:ext cx="4206575" cy="42568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3821">
                  <a:extLst>
                    <a:ext uri="{9D8B030D-6E8A-4147-A177-3AD203B41FA5}">
                      <a16:colId xmlns:a16="http://schemas.microsoft.com/office/drawing/2014/main" val="1218271922"/>
                    </a:ext>
                  </a:extLst>
                </a:gridCol>
                <a:gridCol w="1557430">
                  <a:extLst>
                    <a:ext uri="{9D8B030D-6E8A-4147-A177-3AD203B41FA5}">
                      <a16:colId xmlns:a16="http://schemas.microsoft.com/office/drawing/2014/main" val="54032057"/>
                    </a:ext>
                  </a:extLst>
                </a:gridCol>
                <a:gridCol w="1785324">
                  <a:extLst>
                    <a:ext uri="{9D8B030D-6E8A-4147-A177-3AD203B41FA5}">
                      <a16:colId xmlns:a16="http://schemas.microsoft.com/office/drawing/2014/main" val="903522320"/>
                    </a:ext>
                  </a:extLst>
                </a:gridCol>
              </a:tblGrid>
              <a:tr h="1616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000">
                          <a:effectLst/>
                        </a:rPr>
                        <a:t>№ прохода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063" marR="5106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000">
                          <a:effectLst/>
                        </a:rPr>
                        <a:t>Распределение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063" marR="5106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000">
                          <a:effectLst/>
                        </a:rPr>
                        <a:t>Слияние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063" marR="51063" marT="0" marB="0"/>
                </a:tc>
                <a:extLst>
                  <a:ext uri="{0D108BD9-81ED-4DB2-BD59-A6C34878D82A}">
                    <a16:rowId xmlns:a16="http://schemas.microsoft.com/office/drawing/2014/main" val="3021159406"/>
                  </a:ext>
                </a:extLst>
              </a:tr>
              <a:tr h="18622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000">
                          <a:effectLst/>
                        </a:rPr>
                        <a:t>1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063" marR="5106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dirty="0">
                          <a:effectLst/>
                        </a:rPr>
                        <a:t>f</a:t>
                      </a:r>
                      <a:r>
                        <a:rPr lang="ru-RU" sz="1000" dirty="0">
                          <a:effectLst/>
                        </a:rPr>
                        <a:t>1: 12</a:t>
                      </a:r>
                      <a:endParaRPr lang="ru-RU" sz="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dirty="0">
                          <a:effectLst/>
                        </a:rPr>
                        <a:t>f</a:t>
                      </a:r>
                      <a:r>
                        <a:rPr lang="ru-RU" sz="1000" dirty="0">
                          <a:effectLst/>
                        </a:rPr>
                        <a:t>2: </a:t>
                      </a:r>
                      <a:r>
                        <a:rPr lang="en-AU" sz="1000" dirty="0">
                          <a:effectLst/>
                        </a:rPr>
                        <a:t>4 5</a:t>
                      </a:r>
                      <a:endParaRPr lang="ru-RU" sz="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dirty="0">
                          <a:effectLst/>
                        </a:rPr>
                        <a:t>f3: 19</a:t>
                      </a:r>
                      <a:endParaRPr lang="ru-RU" sz="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dirty="0">
                          <a:effectLst/>
                        </a:rPr>
                        <a:t>f4: 8</a:t>
                      </a:r>
                      <a:endParaRPr lang="ru-RU" sz="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000" dirty="0">
                          <a:effectLst/>
                        </a:rPr>
                        <a:t>f5: 3 7</a:t>
                      </a:r>
                      <a:endParaRPr lang="ru-RU" sz="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000" dirty="0">
                          <a:effectLst/>
                        </a:rPr>
                        <a:t>f6</a:t>
                      </a:r>
                      <a:r>
                        <a:rPr lang="en-AU" sz="1000" dirty="0">
                          <a:effectLst/>
                        </a:rPr>
                        <a:t>: 15</a:t>
                      </a:r>
                      <a:endParaRPr lang="ru-RU" sz="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dirty="0">
                          <a:effectLst/>
                        </a:rPr>
                        <a:t>f7: 1 10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063" marR="51063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dirty="0">
                          <a:effectLst/>
                        </a:rPr>
                        <a:t>f: 1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063" marR="51063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598542"/>
                  </a:ext>
                </a:extLst>
              </a:tr>
              <a:tr h="18622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000">
                          <a:effectLst/>
                        </a:rPr>
                        <a:t>2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063" marR="5106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dirty="0">
                          <a:effectLst/>
                        </a:rPr>
                        <a:t>f</a:t>
                      </a:r>
                      <a:r>
                        <a:rPr lang="ru-RU" sz="1000" dirty="0">
                          <a:effectLst/>
                        </a:rPr>
                        <a:t>1: 12</a:t>
                      </a:r>
                      <a:endParaRPr lang="ru-RU" sz="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dirty="0">
                          <a:effectLst/>
                        </a:rPr>
                        <a:t>f</a:t>
                      </a:r>
                      <a:r>
                        <a:rPr lang="ru-RU" sz="1000" dirty="0">
                          <a:effectLst/>
                        </a:rPr>
                        <a:t>2: </a:t>
                      </a:r>
                      <a:r>
                        <a:rPr lang="en-AU" sz="1000" dirty="0">
                          <a:effectLst/>
                        </a:rPr>
                        <a:t>4 5</a:t>
                      </a:r>
                      <a:endParaRPr lang="ru-RU" sz="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dirty="0">
                          <a:effectLst/>
                        </a:rPr>
                        <a:t>f3: 19</a:t>
                      </a:r>
                      <a:endParaRPr lang="ru-RU" sz="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dirty="0">
                          <a:effectLst/>
                        </a:rPr>
                        <a:t>f4: 8</a:t>
                      </a:r>
                      <a:endParaRPr lang="ru-RU" sz="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000" dirty="0">
                          <a:effectLst/>
                        </a:rPr>
                        <a:t>f5: 7</a:t>
                      </a:r>
                      <a:endParaRPr lang="ru-RU" sz="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000" dirty="0">
                          <a:effectLst/>
                        </a:rPr>
                        <a:t>f6</a:t>
                      </a:r>
                      <a:r>
                        <a:rPr lang="en-AU" sz="1000" dirty="0">
                          <a:effectLst/>
                        </a:rPr>
                        <a:t>: 15</a:t>
                      </a:r>
                      <a:endParaRPr lang="ru-RU" sz="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dirty="0">
                          <a:effectLst/>
                        </a:rPr>
                        <a:t>f7: 10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063" marR="51063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dirty="0">
                          <a:effectLst/>
                        </a:rPr>
                        <a:t>f: 1 3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063" marR="51063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833031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D9DA506-1F15-4DE0-868B-59A671B745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15EA52-F79E-4862-9A0C-CF38FD33A758}" type="slidenum">
              <a:rPr lang="ru-RU" altLang="ru-RU" smtClean="0"/>
              <a:pPr>
                <a:defRPr/>
              </a:pPr>
              <a:t>34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070157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458200" cy="1143000"/>
          </a:xfrm>
        </p:spPr>
        <p:txBody>
          <a:bodyPr/>
          <a:lstStyle/>
          <a:p>
            <a:pPr algn="ctr"/>
            <a:r>
              <a:rPr lang="ru-RU" sz="4000" b="1" dirty="0"/>
              <a:t>Сортировка е</a:t>
            </a:r>
            <a:r>
              <a:rPr lang="ru-RU" sz="4000" b="1" dirty="0">
                <a:latin typeface="+mj-lt"/>
                <a:ea typeface="+mj-ea"/>
                <a:cs typeface="+mj-cs"/>
              </a:rPr>
              <a:t>стественным слиянием</a:t>
            </a:r>
            <a:endParaRPr lang="ru-RU" sz="4000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C876650-5008-462C-9041-66A0E1AB0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8305800" cy="457200"/>
          </a:xfrm>
        </p:spPr>
        <p:txBody>
          <a:bodyPr/>
          <a:lstStyle/>
          <a:p>
            <a:r>
              <a:rPr lang="ru-RU" sz="2000" b="0" dirty="0"/>
              <a:t>Пример. Исходный файл f: 12 4 5 19 8 3 7 15 1 10.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A38F5B46-D256-451F-9863-9CAF7B2D20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331996"/>
              </p:ext>
            </p:extLst>
          </p:nvPr>
        </p:nvGraphicFramePr>
        <p:xfrm>
          <a:off x="1983469" y="2345055"/>
          <a:ext cx="5177061" cy="40415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63110">
                  <a:extLst>
                    <a:ext uri="{9D8B030D-6E8A-4147-A177-3AD203B41FA5}">
                      <a16:colId xmlns:a16="http://schemas.microsoft.com/office/drawing/2014/main" val="68755416"/>
                    </a:ext>
                  </a:extLst>
                </a:gridCol>
                <a:gridCol w="1916740">
                  <a:extLst>
                    <a:ext uri="{9D8B030D-6E8A-4147-A177-3AD203B41FA5}">
                      <a16:colId xmlns:a16="http://schemas.microsoft.com/office/drawing/2014/main" val="4212068390"/>
                    </a:ext>
                  </a:extLst>
                </a:gridCol>
                <a:gridCol w="2197211">
                  <a:extLst>
                    <a:ext uri="{9D8B030D-6E8A-4147-A177-3AD203B41FA5}">
                      <a16:colId xmlns:a16="http://schemas.microsoft.com/office/drawing/2014/main" val="3766622472"/>
                    </a:ext>
                  </a:extLst>
                </a:gridCol>
              </a:tblGrid>
              <a:tr h="22919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300" dirty="0">
                          <a:effectLst/>
                        </a:rPr>
                        <a:t>3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844" marR="628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ru-RU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1: 12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ru-RU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2: </a:t>
                      </a:r>
                      <a:r>
                        <a:rPr lang="en-AU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4 5</a:t>
                      </a:r>
                      <a:endParaRPr lang="ru-RU" sz="13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f3: 19</a:t>
                      </a:r>
                      <a:endParaRPr lang="ru-RU" sz="13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f4: 8</a:t>
                      </a:r>
                      <a:endParaRPr lang="ru-RU" sz="13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f5: 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f6</a:t>
                      </a:r>
                      <a:r>
                        <a:rPr lang="en-AU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15</a:t>
                      </a:r>
                      <a:endParaRPr lang="ru-RU" sz="13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f7: 10</a:t>
                      </a:r>
                      <a:endParaRPr lang="ru-RU" sz="13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844" marR="6284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f: 1 3 4 5 7</a:t>
                      </a:r>
                      <a:endParaRPr lang="ru-RU" sz="13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844" marR="6284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788994"/>
                  </a:ext>
                </a:extLst>
              </a:tr>
              <a:tr h="1594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300">
                          <a:effectLst/>
                        </a:rPr>
                        <a:t>4</a:t>
                      </a:r>
                      <a:endParaRPr lang="ru-R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844" marR="628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300" dirty="0">
                          <a:effectLst/>
                        </a:rPr>
                        <a:t>f</a:t>
                      </a:r>
                      <a:r>
                        <a:rPr lang="ru-RU" sz="1300" dirty="0">
                          <a:effectLst/>
                        </a:rPr>
                        <a:t>1: 12</a:t>
                      </a:r>
                      <a:endParaRPr lang="ru-RU" sz="10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300" dirty="0">
                          <a:effectLst/>
                        </a:rPr>
                        <a:t>f3: 19</a:t>
                      </a:r>
                      <a:endParaRPr lang="ru-RU" sz="10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300" dirty="0">
                          <a:effectLst/>
                        </a:rPr>
                        <a:t>f4: 8</a:t>
                      </a:r>
                      <a:endParaRPr lang="ru-RU" sz="10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300" dirty="0">
                          <a:effectLst/>
                        </a:rPr>
                        <a:t>f6</a:t>
                      </a:r>
                      <a:r>
                        <a:rPr lang="en-AU" sz="1300" dirty="0">
                          <a:effectLst/>
                        </a:rPr>
                        <a:t>: 15</a:t>
                      </a:r>
                      <a:endParaRPr lang="ru-RU" sz="10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300" dirty="0">
                          <a:effectLst/>
                        </a:rPr>
                        <a:t>f7: 10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844" marR="6284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300" dirty="0">
                          <a:effectLst/>
                        </a:rPr>
                        <a:t>f: 1 3 4 5 7 8 10</a:t>
                      </a:r>
                      <a:endParaRPr lang="ru-R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844" marR="62844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895814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10A029-30A6-450D-B2C2-06314F38FA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15EA52-F79E-4862-9A0C-CF38FD33A758}" type="slidenum">
              <a:rPr lang="ru-RU" altLang="ru-RU" smtClean="0"/>
              <a:pPr>
                <a:defRPr/>
              </a:pPr>
              <a:t>35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961082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458200" cy="1143000"/>
          </a:xfrm>
        </p:spPr>
        <p:txBody>
          <a:bodyPr/>
          <a:lstStyle/>
          <a:p>
            <a:pPr algn="ctr"/>
            <a:r>
              <a:rPr lang="ru-RU" sz="4000" b="1" dirty="0"/>
              <a:t>Сортировка е</a:t>
            </a:r>
            <a:r>
              <a:rPr lang="ru-RU" sz="4000" b="1" dirty="0">
                <a:latin typeface="+mj-lt"/>
                <a:ea typeface="+mj-ea"/>
                <a:cs typeface="+mj-cs"/>
              </a:rPr>
              <a:t>стественным слиянием</a:t>
            </a:r>
            <a:endParaRPr lang="ru-RU" sz="4000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C876650-5008-462C-9041-66A0E1AB0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8305800" cy="457200"/>
          </a:xfrm>
        </p:spPr>
        <p:txBody>
          <a:bodyPr/>
          <a:lstStyle/>
          <a:p>
            <a:r>
              <a:rPr lang="ru-RU" sz="2000" b="0" dirty="0"/>
              <a:t>Пример. Исходный файл f: 12 4 5 19 8 3 7 15 1 10.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A9277E3-48B6-47BA-B125-A328EE00F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783422"/>
              </p:ext>
            </p:extLst>
          </p:nvPr>
        </p:nvGraphicFramePr>
        <p:xfrm>
          <a:off x="1747202" y="3733800"/>
          <a:ext cx="5649595" cy="11898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0145">
                  <a:extLst>
                    <a:ext uri="{9D8B030D-6E8A-4147-A177-3AD203B41FA5}">
                      <a16:colId xmlns:a16="http://schemas.microsoft.com/office/drawing/2014/main" val="3212860823"/>
                    </a:ext>
                  </a:extLst>
                </a:gridCol>
                <a:gridCol w="2091690">
                  <a:extLst>
                    <a:ext uri="{9D8B030D-6E8A-4147-A177-3AD203B41FA5}">
                      <a16:colId xmlns:a16="http://schemas.microsoft.com/office/drawing/2014/main" val="675996294"/>
                    </a:ext>
                  </a:extLst>
                </a:gridCol>
                <a:gridCol w="2397760">
                  <a:extLst>
                    <a:ext uri="{9D8B030D-6E8A-4147-A177-3AD203B41FA5}">
                      <a16:colId xmlns:a16="http://schemas.microsoft.com/office/drawing/2014/main" val="8749547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400">
                          <a:effectLst/>
                        </a:rPr>
                        <a:t>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ru-RU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1: 12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f3: 19</a:t>
                      </a:r>
                      <a:endParaRPr lang="ru-RU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f6</a:t>
                      </a:r>
                      <a:r>
                        <a:rPr lang="en-AU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15</a:t>
                      </a:r>
                      <a:endParaRPr lang="ru-RU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f: 1 3 4 5 7 8 10 12 15</a:t>
                      </a:r>
                      <a:endParaRPr lang="ru-RU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195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400">
                          <a:effectLst/>
                        </a:rPr>
                        <a:t>6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400" b="0" dirty="0">
                          <a:effectLst/>
                        </a:rPr>
                        <a:t>f3: 19</a:t>
                      </a:r>
                      <a:endParaRPr lang="ru-RU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400" b="0" dirty="0">
                          <a:effectLst/>
                        </a:rPr>
                        <a:t>f: 1 3 4 5 7 8 10 12 15 19</a:t>
                      </a:r>
                      <a:endParaRPr lang="ru-RU" sz="11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068470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81B8F51-DFCD-4FBC-B152-9BB19DBA19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15EA52-F79E-4862-9A0C-CF38FD33A758}" type="slidenum">
              <a:rPr lang="ru-RU" altLang="ru-RU" smtClean="0"/>
              <a:pPr>
                <a:defRPr/>
              </a:pPr>
              <a:t>36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832549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000" b="1" dirty="0"/>
              <a:t>Сортировка каскадным слиянием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dirty="0"/>
              <a:t>Математическое описание: пусть задан неотсортированный файл F, содержащий N записей различных чисел, а объем оперативной памяти позволяет обрабатывать одновременно только M записей, где M&lt;N . R – число естественных серий, которые найдены на этапе разделения. Задача – отсортировать F по определенному ключу.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F990A0-61DD-4C25-9B0A-0553D3C136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37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53392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000" b="1" dirty="0"/>
              <a:t>Сортировка каскадным слиянием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/>
              <a:t>Процесс сортировки можно разбить на два этапа:</a:t>
            </a:r>
          </a:p>
          <a:p>
            <a:r>
              <a:rPr lang="ru-RU" sz="2000" dirty="0"/>
              <a:t>Естественное разбиение: проходимся по файлу и формируем естественные серии – участки, где числа идут по возрастанию т.е. уже отсортированные участки. Когда найден элемент </a:t>
            </a:r>
            <a:r>
              <a:rPr lang="ru-RU" sz="2000" dirty="0" err="1"/>
              <a:t>a_i</a:t>
            </a:r>
            <a:r>
              <a:rPr lang="ru-RU" sz="2000" dirty="0"/>
              <a:t>&lt;a_(i-1) начинается новая серия;</a:t>
            </a:r>
          </a:p>
          <a:p>
            <a:r>
              <a:rPr lang="ru-RU" sz="2000" dirty="0"/>
              <a:t>Слияние: по файлам выполняется множество проходов, пока не останется один отсортированный файл. На каждом проходе серии сливаются попарно. После каждого прохода число файлов уменьшается примерно вдовое. Всего выполняется log_2⁡R проходов.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19AAFC-5329-49D8-AB7F-24F37681AF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38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15811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000" b="1" dirty="0"/>
              <a:t>Сортировка каскадным слиянием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600" dirty="0"/>
              <a:t>Алгоритм.</a:t>
            </a:r>
          </a:p>
          <a:p>
            <a:pPr marL="0" indent="0">
              <a:buNone/>
            </a:pPr>
            <a:r>
              <a:rPr lang="ru-RU" sz="1600" dirty="0"/>
              <a:t>	1) Исходный файл открывается на чтение;</a:t>
            </a:r>
          </a:p>
          <a:p>
            <a:pPr marL="0" indent="0">
              <a:buNone/>
            </a:pPr>
            <a:r>
              <a:rPr lang="ru-RU" sz="1600" dirty="0"/>
              <a:t>	2) Построчно считываются данные из файла и записываются в блоки. Если текущее число не меньше предыдущего – оно добавляется в текущий блок. Если текущее число меньше предыдущего – текущий блок сохраняется в отдельный файл, начинается новый блок. После завершения чтения последний блок также сохраняется в отдельный файл;</a:t>
            </a:r>
          </a:p>
          <a:p>
            <a:pPr marL="0" indent="0">
              <a:buNone/>
            </a:pPr>
            <a:r>
              <a:rPr lang="ru-RU" sz="1600" dirty="0"/>
              <a:t>	3) Исходный файл закрывается;</a:t>
            </a:r>
          </a:p>
          <a:p>
            <a:pPr marL="0" indent="0">
              <a:buNone/>
            </a:pPr>
            <a:r>
              <a:rPr lang="ru-RU" sz="1600" dirty="0"/>
              <a:t>	4) Возвращается список имен временных отсортированных блоков;</a:t>
            </a:r>
          </a:p>
          <a:p>
            <a:pPr marL="0" indent="0">
              <a:buNone/>
            </a:pPr>
            <a:r>
              <a:rPr lang="ru-RU" sz="1600" dirty="0"/>
              <a:t>	5) Открываются временные файлы т.е. блоки на чтение;</a:t>
            </a:r>
          </a:p>
          <a:p>
            <a:pPr marL="0" indent="0">
              <a:buNone/>
            </a:pPr>
            <a:r>
              <a:rPr lang="ru-RU" sz="1600" dirty="0"/>
              <a:t>	6) Начало цикла – пока в списке файлов больше одного: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D45D9F-3C4D-4BBC-B6EC-8A0F81D8DF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39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9113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000" b="1" dirty="0"/>
              <a:t>Сортировка каскадным слиянием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600" dirty="0"/>
              <a:t>Алгоритм.</a:t>
            </a:r>
          </a:p>
          <a:p>
            <a:pPr marL="0" indent="0">
              <a:buNone/>
            </a:pPr>
            <a:r>
              <a:rPr lang="ru-RU" sz="1600" dirty="0"/>
              <a:t>	7) По парам сливаются файлы с помощью </a:t>
            </a:r>
            <a:r>
              <a:rPr lang="ru-RU" sz="1600" dirty="0" err="1"/>
              <a:t>merge_two</a:t>
            </a:r>
            <a:r>
              <a:rPr lang="ru-RU" sz="1600" dirty="0"/>
              <a:t> </a:t>
            </a:r>
            <a:r>
              <a:rPr lang="ru-RU" sz="1600" dirty="0" err="1"/>
              <a:t>files</a:t>
            </a:r>
            <a:r>
              <a:rPr lang="ru-RU" sz="1600" dirty="0"/>
              <a:t>(). Открываются два отсортированных файла на чтение и один выходной на запись. Производится пошаговое сравнение первых чисел из каждого файла: меньшее число записывается в выходной файл, а затем считывается следующее число из соответствующего файла. После окончания одного из файлов, оставшиеся строки из второго файла переносятся в выходной файл;</a:t>
            </a:r>
          </a:p>
          <a:p>
            <a:pPr marL="0" indent="0">
              <a:buNone/>
            </a:pPr>
            <a:r>
              <a:rPr lang="ru-RU" sz="1600" dirty="0"/>
              <a:t>	8) Результаты слияния сохраняются в новые файлы </a:t>
            </a:r>
            <a:r>
              <a:rPr lang="ru-RU" sz="1600" dirty="0" err="1"/>
              <a:t>merged</a:t>
            </a:r>
            <a:r>
              <a:rPr lang="ru-RU" sz="1600" dirty="0"/>
              <a:t>, если число файлов нечетное – последний файл просто переносится в следующий проход без изменений;</a:t>
            </a:r>
          </a:p>
          <a:p>
            <a:pPr marL="0" indent="0">
              <a:buNone/>
            </a:pPr>
            <a:r>
              <a:rPr lang="ru-RU" sz="1600" dirty="0"/>
              <a:t>	9) После каждого прохода слияния список файлов обновляется;</a:t>
            </a:r>
          </a:p>
          <a:p>
            <a:pPr marL="0" indent="0">
              <a:buNone/>
            </a:pPr>
            <a:r>
              <a:rPr lang="ru-RU" sz="1600" dirty="0"/>
              <a:t>	10) Цикл заканчивается, когда останется один файл, старый исходный файл удаляется, а единственный оставшийся файл переименовывается в итоговый.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EB5D2E-A71A-40FB-8D34-309B9E0051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40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818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458200" cy="1143000"/>
          </a:xfrm>
        </p:spPr>
        <p:txBody>
          <a:bodyPr/>
          <a:lstStyle/>
          <a:p>
            <a:pPr algn="ctr"/>
            <a:r>
              <a:rPr lang="ru-RU" sz="4000" b="1" dirty="0"/>
              <a:t>Сортировка каскадным слиянием</a:t>
            </a:r>
            <a:endParaRPr lang="ru-RU" sz="4000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C876650-5008-462C-9041-66A0E1AB0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8305800" cy="457200"/>
          </a:xfrm>
        </p:spPr>
        <p:txBody>
          <a:bodyPr/>
          <a:lstStyle/>
          <a:p>
            <a:r>
              <a:rPr lang="ru-RU" sz="2000" b="0" dirty="0"/>
              <a:t>Пример. Исходный файл f: 12 4 5 19 8 3 7 15 1 10.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0EB416F-70C6-498B-BFD2-EC4D1C2F9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896427"/>
              </p:ext>
            </p:extLst>
          </p:nvPr>
        </p:nvGraphicFramePr>
        <p:xfrm>
          <a:off x="2133600" y="2209800"/>
          <a:ext cx="4696356" cy="42245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64397">
                  <a:extLst>
                    <a:ext uri="{9D8B030D-6E8A-4147-A177-3AD203B41FA5}">
                      <a16:colId xmlns:a16="http://schemas.microsoft.com/office/drawing/2014/main" val="3256447200"/>
                    </a:ext>
                  </a:extLst>
                </a:gridCol>
                <a:gridCol w="1738766">
                  <a:extLst>
                    <a:ext uri="{9D8B030D-6E8A-4147-A177-3AD203B41FA5}">
                      <a16:colId xmlns:a16="http://schemas.microsoft.com/office/drawing/2014/main" val="3839965423"/>
                    </a:ext>
                  </a:extLst>
                </a:gridCol>
                <a:gridCol w="1993193">
                  <a:extLst>
                    <a:ext uri="{9D8B030D-6E8A-4147-A177-3AD203B41FA5}">
                      <a16:colId xmlns:a16="http://schemas.microsoft.com/office/drawing/2014/main" val="3981632304"/>
                    </a:ext>
                  </a:extLst>
                </a:gridCol>
              </a:tblGrid>
              <a:tr h="18042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200">
                          <a:effectLst/>
                        </a:rPr>
                        <a:t>№ прохода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09" marR="570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200">
                          <a:effectLst/>
                        </a:rPr>
                        <a:t>Распределение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09" marR="570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200">
                          <a:effectLst/>
                        </a:rPr>
                        <a:t>Слияние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09" marR="57009" marT="0" marB="0"/>
                </a:tc>
                <a:extLst>
                  <a:ext uri="{0D108BD9-81ED-4DB2-BD59-A6C34878D82A}">
                    <a16:rowId xmlns:a16="http://schemas.microsoft.com/office/drawing/2014/main" val="2453996652"/>
                  </a:ext>
                </a:extLst>
              </a:tr>
              <a:tr h="20791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200">
                          <a:effectLst/>
                        </a:rPr>
                        <a:t>1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09" marR="570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 dirty="0">
                          <a:effectLst/>
                        </a:rPr>
                        <a:t>f</a:t>
                      </a:r>
                      <a:r>
                        <a:rPr lang="ru-RU" sz="1200" dirty="0">
                          <a:effectLst/>
                        </a:rPr>
                        <a:t>1: 12</a:t>
                      </a:r>
                      <a:endParaRPr lang="ru-RU" sz="9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 dirty="0">
                          <a:effectLst/>
                        </a:rPr>
                        <a:t>f</a:t>
                      </a:r>
                      <a:r>
                        <a:rPr lang="ru-RU" sz="1200" dirty="0">
                          <a:effectLst/>
                        </a:rPr>
                        <a:t>2: </a:t>
                      </a:r>
                      <a:r>
                        <a:rPr lang="en-AU" sz="1200" dirty="0">
                          <a:effectLst/>
                        </a:rPr>
                        <a:t>4 5</a:t>
                      </a:r>
                      <a:endParaRPr lang="ru-RU" sz="9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 dirty="0">
                          <a:effectLst/>
                        </a:rPr>
                        <a:t>f3: 19</a:t>
                      </a:r>
                      <a:endParaRPr lang="ru-RU" sz="9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 dirty="0">
                          <a:effectLst/>
                        </a:rPr>
                        <a:t>f4: 8</a:t>
                      </a:r>
                      <a:endParaRPr lang="ru-RU" sz="9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</a:rPr>
                        <a:t>f5: 3 7</a:t>
                      </a:r>
                      <a:endParaRPr lang="ru-RU" sz="9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200" dirty="0">
                          <a:effectLst/>
                        </a:rPr>
                        <a:t>f6</a:t>
                      </a:r>
                      <a:r>
                        <a:rPr lang="en-AU" sz="1200" dirty="0">
                          <a:effectLst/>
                        </a:rPr>
                        <a:t>: 15</a:t>
                      </a:r>
                      <a:endParaRPr lang="ru-RU" sz="9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 dirty="0">
                          <a:effectLst/>
                        </a:rPr>
                        <a:t>f7: 1 10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09" marR="5700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</a:rPr>
                        <a:t>f</a:t>
                      </a:r>
                      <a:r>
                        <a:rPr lang="ru-RU" sz="1200">
                          <a:effectLst/>
                        </a:rPr>
                        <a:t>1</a:t>
                      </a:r>
                      <a:r>
                        <a:rPr lang="en-AU" sz="1200">
                          <a:effectLst/>
                        </a:rPr>
                        <a:t>: </a:t>
                      </a:r>
                      <a:r>
                        <a:rPr lang="ru-RU" sz="1200">
                          <a:effectLst/>
                        </a:rPr>
                        <a:t>4 5 12</a:t>
                      </a:r>
                      <a:endParaRPr lang="ru-RU" sz="9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</a:rPr>
                        <a:t>f3: 8 19</a:t>
                      </a:r>
                      <a:endParaRPr lang="ru-RU" sz="9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</a:rPr>
                        <a:t>f5: 3 7 15</a:t>
                      </a:r>
                      <a:endParaRPr lang="ru-RU" sz="9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</a:rPr>
                        <a:t>f7: 1 10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09" marR="5700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666741"/>
                  </a:ext>
                </a:extLst>
              </a:tr>
              <a:tr h="11297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200">
                          <a:effectLst/>
                        </a:rPr>
                        <a:t>2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09" marR="570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</a:rPr>
                        <a:t>f</a:t>
                      </a:r>
                      <a:r>
                        <a:rPr lang="ru-RU" sz="1200">
                          <a:effectLst/>
                        </a:rPr>
                        <a:t>1</a:t>
                      </a:r>
                      <a:r>
                        <a:rPr lang="en-AU" sz="1200">
                          <a:effectLst/>
                        </a:rPr>
                        <a:t>: </a:t>
                      </a:r>
                      <a:r>
                        <a:rPr lang="ru-RU" sz="1200">
                          <a:effectLst/>
                        </a:rPr>
                        <a:t>4 5 12</a:t>
                      </a:r>
                      <a:endParaRPr lang="ru-RU" sz="9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</a:rPr>
                        <a:t>f3: 8 19</a:t>
                      </a:r>
                      <a:endParaRPr lang="ru-RU" sz="9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</a:rPr>
                        <a:t>f5: 3 7 15</a:t>
                      </a:r>
                      <a:endParaRPr lang="ru-RU" sz="9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</a:rPr>
                        <a:t>f7: 1 10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09" marR="5700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 dirty="0">
                          <a:effectLst/>
                        </a:rPr>
                        <a:t>f1: 4 5 8 12 19</a:t>
                      </a:r>
                      <a:endParaRPr lang="ru-RU" sz="9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 dirty="0">
                          <a:effectLst/>
                        </a:rPr>
                        <a:t>f5: 1 3 7 10 15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09" marR="5700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77136"/>
                  </a:ext>
                </a:extLst>
              </a:tr>
              <a:tr h="49687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</a:rPr>
                        <a:t>3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09" marR="5700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</a:rPr>
                        <a:t>f1: 4 5 8 12 19</a:t>
                      </a:r>
                      <a:endParaRPr lang="ru-RU" sz="9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>
                          <a:effectLst/>
                        </a:rPr>
                        <a:t>f5: 1 3 7 10 15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09" marR="5700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200" dirty="0">
                          <a:effectLst/>
                        </a:rPr>
                        <a:t>f: 1 3 4 5 7 8 10 12 15 19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009" marR="57009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70898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A8D183-C554-4077-9F3D-5439886548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A15EA52-F79E-4862-9A0C-CF38FD33A758}" type="slidenum">
              <a:rPr lang="ru-RU" altLang="ru-RU" smtClean="0"/>
              <a:pPr>
                <a:defRPr/>
              </a:pPr>
              <a:t>41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960789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Ссылка на курсовую работу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C2E17F-360A-4D9C-98C4-C76432C992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42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9689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3200"/>
            <a:ext cx="8229600" cy="1371600"/>
          </a:xfrm>
        </p:spPr>
        <p:txBody>
          <a:bodyPr/>
          <a:lstStyle/>
          <a:p>
            <a:pPr algn="ctr"/>
            <a:r>
              <a:rPr lang="ru-RU" b="1" dirty="0"/>
              <a:t>Спасибо за внимание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A32BAFD-8B3A-495F-83C2-75E05A43F9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43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26647943"/>
      </p:ext>
    </p:extLst>
  </p:cSld>
  <p:clrMapOvr>
    <a:masterClrMapping/>
  </p:clrMapOvr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3622</TotalTime>
  <Words>2953</Words>
  <PresentationFormat>Экран (4:3)</PresentationFormat>
  <Paragraphs>364</Paragraphs>
  <Slides>43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50" baseType="lpstr">
      <vt:lpstr>Arial</vt:lpstr>
      <vt:lpstr>Arial Black</vt:lpstr>
      <vt:lpstr>Calibri</vt:lpstr>
      <vt:lpstr>Cambria Math</vt:lpstr>
      <vt:lpstr>Times New Roman</vt:lpstr>
      <vt:lpstr>Wingdings</vt:lpstr>
      <vt:lpstr>Пиксел</vt:lpstr>
      <vt:lpstr>Сравнительный анализ алгоритмов внешних сортировок </vt:lpstr>
      <vt:lpstr>Актуальность</vt:lpstr>
      <vt:lpstr>Проблема</vt:lpstr>
      <vt:lpstr>Цель</vt:lpstr>
      <vt:lpstr>Задачи</vt:lpstr>
      <vt:lpstr>Задачи</vt:lpstr>
      <vt:lpstr>Структура работы</vt:lpstr>
      <vt:lpstr>Обзор методов сортировки</vt:lpstr>
      <vt:lpstr>Разработка</vt:lpstr>
      <vt:lpstr>Разработка</vt:lpstr>
      <vt:lpstr>Эксперименты</vt:lpstr>
      <vt:lpstr>Анализ результатов</vt:lpstr>
      <vt:lpstr>Эксперименты</vt:lpstr>
      <vt:lpstr>Анализ результатов</vt:lpstr>
      <vt:lpstr>Эксперименты</vt:lpstr>
      <vt:lpstr>Эксперименты</vt:lpstr>
      <vt:lpstr>Эксперименты</vt:lpstr>
      <vt:lpstr>Эксперименты</vt:lpstr>
      <vt:lpstr>Эксперименты</vt:lpstr>
      <vt:lpstr>Эксперименты</vt:lpstr>
      <vt:lpstr>Эксперименты</vt:lpstr>
      <vt:lpstr>Эксперименты</vt:lpstr>
      <vt:lpstr>Выводы</vt:lpstr>
      <vt:lpstr>Выводы</vt:lpstr>
      <vt:lpstr>Заключение</vt:lpstr>
      <vt:lpstr>Заключение</vt:lpstr>
      <vt:lpstr>Описание методов</vt:lpstr>
      <vt:lpstr>Многопроходная двухпутевая сортировка слиянием</vt:lpstr>
      <vt:lpstr>Многопроходная двухпутевая сортировка слиянием</vt:lpstr>
      <vt:lpstr>Многопроходная двухпутевая сортировка слиянием</vt:lpstr>
      <vt:lpstr>Сортировка естественным слиянием</vt:lpstr>
      <vt:lpstr>Сортировка естественным слиянием</vt:lpstr>
      <vt:lpstr>Сортировка естественным слиянием</vt:lpstr>
      <vt:lpstr>Сортировка естественным слиянием</vt:lpstr>
      <vt:lpstr>Сортировка естественным слиянием</vt:lpstr>
      <vt:lpstr>Сортировка естественным слиянием</vt:lpstr>
      <vt:lpstr>Сортировка каскадным слиянием</vt:lpstr>
      <vt:lpstr>Сортировка каскадным слиянием</vt:lpstr>
      <vt:lpstr>Сортировка каскадным слиянием</vt:lpstr>
      <vt:lpstr>Сортировка каскадным слиянием</vt:lpstr>
      <vt:lpstr>Сортировка каскадным слиянием</vt:lpstr>
      <vt:lpstr>Ссылка на курсовую работу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Printed>1601-01-01T00:00:00Z</cp:lastPrinted>
  <dcterms:created xsi:type="dcterms:W3CDTF">1601-01-01T00:00:00Z</dcterms:created>
  <dcterms:modified xsi:type="dcterms:W3CDTF">2026-03-26T15:35:28Z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