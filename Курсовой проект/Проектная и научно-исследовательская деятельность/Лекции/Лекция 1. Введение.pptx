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39"/>
  </p:notesMasterIdLst>
  <p:sldIdLst>
    <p:sldId id="256" r:id="rId2"/>
    <p:sldId id="257" r:id="rId3"/>
    <p:sldId id="296" r:id="rId4"/>
    <p:sldId id="294" r:id="rId5"/>
    <p:sldId id="297" r:id="rId6"/>
    <p:sldId id="298" r:id="rId7"/>
    <p:sldId id="299" r:id="rId8"/>
    <p:sldId id="293" r:id="rId9"/>
    <p:sldId id="300" r:id="rId10"/>
    <p:sldId id="301" r:id="rId11"/>
    <p:sldId id="310" r:id="rId12"/>
    <p:sldId id="302" r:id="rId13"/>
    <p:sldId id="303" r:id="rId14"/>
    <p:sldId id="314" r:id="rId15"/>
    <p:sldId id="304" r:id="rId16"/>
    <p:sldId id="305" r:id="rId17"/>
    <p:sldId id="306" r:id="rId18"/>
    <p:sldId id="307" r:id="rId19"/>
    <p:sldId id="308" r:id="rId20"/>
    <p:sldId id="309" r:id="rId21"/>
    <p:sldId id="312" r:id="rId22"/>
    <p:sldId id="313" r:id="rId23"/>
    <p:sldId id="311" r:id="rId24"/>
    <p:sldId id="258" r:id="rId25"/>
    <p:sldId id="264" r:id="rId26"/>
    <p:sldId id="292" r:id="rId27"/>
    <p:sldId id="275" r:id="rId28"/>
    <p:sldId id="277" r:id="rId29"/>
    <p:sldId id="276" r:id="rId30"/>
    <p:sldId id="278" r:id="rId31"/>
    <p:sldId id="279" r:id="rId32"/>
    <p:sldId id="280" r:id="rId33"/>
    <p:sldId id="281" r:id="rId34"/>
    <p:sldId id="284" r:id="rId35"/>
    <p:sldId id="285" r:id="rId36"/>
    <p:sldId id="287" r:id="rId37"/>
    <p:sldId id="286" r:id="rId38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42" autoAdjust="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005E36A-8EDC-4E31-9B63-285D193767E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47309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8259CC-53A9-4F68-9122-BD3ED8262002}" type="slidenum">
              <a:rPr lang="ru-RU" altLang="ru-RU"/>
              <a:pPr>
                <a:spcBef>
                  <a:spcPct val="0"/>
                </a:spcBef>
              </a:pPr>
              <a:t>1</a:t>
            </a:fld>
            <a:endParaRPr lang="ru-RU" altLang="ru-RU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34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0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B21968-7D78-415F-BB78-B24E80990A0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3109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D0CF8-1480-4D28-93BE-4B08BBA353D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31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5884F-A277-4175-8F8C-0F05779891D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09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E7C33-4100-4D99-B93D-5114B364E0A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93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5EA52-F79E-4862-9A0C-CF38FD33A75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87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70AEA-0D0E-4630-AF00-4FC21D90682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29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159F-ED31-4607-9E7D-37127597B47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62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51E40-0D4A-42C3-9DA9-FB0F440AB02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5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5B163-6156-4C3C-B7BB-5E9DB471F36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2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B81E2-802C-447D-96C7-5BE0491EF06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30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ED459-2ACC-46C2-BBB6-5F4EEF02E7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4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FC514E1B-10C4-4637-98B6-CD0A443837D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92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dos.csail.mit.edu/archive/scigen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apdj.ru/korchevatel-algoritm-tipichnoj-unifikacii-tochek-dostupa-i-izbytochnosti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lar.google.ru/" TargetMode="External"/><Relationship Id="rId3" Type="http://schemas.openxmlformats.org/officeDocument/2006/relationships/hyperlink" Target="http://mjl.clarivate.com/" TargetMode="External"/><Relationship Id="rId7" Type="http://schemas.openxmlformats.org/officeDocument/2006/relationships/hyperlink" Target="https://elibrary.ru/" TargetMode="External"/><Relationship Id="rId2" Type="http://schemas.openxmlformats.org/officeDocument/2006/relationships/hyperlink" Target="http://webofscienc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opus.com/feedback/author/home.uri#/" TargetMode="External"/><Relationship Id="rId5" Type="http://schemas.openxmlformats.org/officeDocument/2006/relationships/hyperlink" Target="https://www.scimagojr.com/journalsearch.php" TargetMode="External"/><Relationship Id="rId4" Type="http://schemas.openxmlformats.org/officeDocument/2006/relationships/hyperlink" Target="https://publons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nferenceranks.com/" TargetMode="External"/><Relationship Id="rId2" Type="http://schemas.openxmlformats.org/officeDocument/2006/relationships/hyperlink" Target="http://portal.core.edu.au/conf-rank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perswithcode.com/" TargetMode="External"/><Relationship Id="rId4" Type="http://schemas.openxmlformats.org/officeDocument/2006/relationships/hyperlink" Target="http://www.machinelearning.ru/wiki/index.php?title=&#1056;&#1077;&#1081;&#1090;&#1080;&#1085;&#1075;_&#1084;&#1077;&#1078;&#1076;&#1091;&#1085;&#1072;&#1088;&#1086;&#1076;&#1085;&#1099;&#1093;_&#1085;&#1072;&#1091;&#1095;&#1085;&#1099;&#1093;_&#1082;&#1086;&#1085;&#1092;&#1077;&#1088;&#1077;&#1085;&#1094;&#1080;&#1081;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ntiplagiat.ru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172200" cy="2209800"/>
          </a:xfrm>
        </p:spPr>
        <p:txBody>
          <a:bodyPr/>
          <a:lstStyle/>
          <a:p>
            <a:pPr eaLnBrk="1" hangingPunct="1"/>
            <a:r>
              <a:rPr lang="ru-RU" altLang="ru-RU" b="1" dirty="0"/>
              <a:t>Введение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Лекция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лекции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 курса</a:t>
            </a:r>
          </a:p>
          <a:p>
            <a:r>
              <a:rPr lang="ru-RU" dirty="0"/>
              <a:t>Основные понятия</a:t>
            </a:r>
          </a:p>
          <a:p>
            <a:r>
              <a:rPr lang="ru-RU" dirty="0"/>
              <a:t>Научные публикации</a:t>
            </a:r>
            <a:endParaRPr lang="en-US" dirty="0"/>
          </a:p>
          <a:p>
            <a:r>
              <a:rPr lang="ru-RU" dirty="0"/>
              <a:t>Научная этика</a:t>
            </a:r>
          </a:p>
          <a:p>
            <a:r>
              <a:rPr lang="ru-RU" dirty="0"/>
              <a:t>Структура курсового проекта</a:t>
            </a:r>
          </a:p>
          <a:p>
            <a:r>
              <a:rPr lang="ru-RU" dirty="0"/>
              <a:t>Плагиат/</a:t>
            </a:r>
            <a:r>
              <a:rPr lang="ru-RU" dirty="0" err="1"/>
              <a:t>антиплагиат</a:t>
            </a:r>
            <a:endParaRPr lang="ru-RU" dirty="0"/>
          </a:p>
          <a:p>
            <a:r>
              <a:rPr lang="ru-RU" dirty="0"/>
              <a:t>План выполнения работы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096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Цель курса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4860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курса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овладение методами современных научных исследований</a:t>
            </a:r>
          </a:p>
          <a:p>
            <a:r>
              <a:rPr lang="ru-RU" dirty="0"/>
              <a:t>развитие навыков самостоятельной научной работы</a:t>
            </a:r>
          </a:p>
          <a:p>
            <a:r>
              <a:rPr lang="ru-RU" dirty="0"/>
              <a:t>углублённое изучение выбранной темы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90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курса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981200"/>
            <a:ext cx="8763000" cy="449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/>
              <a:t>Базовые навыки:</a:t>
            </a:r>
          </a:p>
          <a:p>
            <a:r>
              <a:rPr lang="ru-RU" sz="2800" dirty="0"/>
              <a:t>поиск научной литературы (отечеств. и заруб.)</a:t>
            </a:r>
          </a:p>
          <a:p>
            <a:r>
              <a:rPr lang="ru-RU" sz="2800" dirty="0"/>
              <a:t>чтение научной литературы на английском языке</a:t>
            </a:r>
          </a:p>
          <a:p>
            <a:r>
              <a:rPr lang="ru-RU" sz="2800" dirty="0"/>
              <a:t>анализ предметной области</a:t>
            </a:r>
          </a:p>
          <a:p>
            <a:r>
              <a:rPr lang="ru-RU" sz="2800" dirty="0"/>
              <a:t>программирование</a:t>
            </a:r>
          </a:p>
          <a:p>
            <a:r>
              <a:rPr lang="ru-RU" sz="2800" dirty="0"/>
              <a:t>планирование и проведение эксперимента</a:t>
            </a:r>
          </a:p>
          <a:p>
            <a:r>
              <a:rPr lang="ru-RU" sz="2800" dirty="0"/>
              <a:t>анализ результатов эксперимента</a:t>
            </a:r>
          </a:p>
          <a:p>
            <a:r>
              <a:rPr lang="ru-RU" sz="2800" dirty="0"/>
              <a:t>написание научного текста</a:t>
            </a:r>
          </a:p>
          <a:p>
            <a:r>
              <a:rPr lang="ru-RU" sz="2800" dirty="0"/>
              <a:t>представление и защита своей работы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000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Основные понятия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777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понятия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86800" cy="3886200"/>
          </a:xfrm>
        </p:spPr>
        <p:txBody>
          <a:bodyPr/>
          <a:lstStyle/>
          <a:p>
            <a:r>
              <a:rPr lang="ru-RU" sz="2800" b="1" dirty="0"/>
              <a:t>Наука</a:t>
            </a:r>
            <a:r>
              <a:rPr lang="ru-RU" sz="2800" dirty="0"/>
              <a:t> – сфера человеческой деятельности, функцией которой является выработка</a:t>
            </a:r>
            <a:br>
              <a:rPr lang="ru-RU" sz="2800" dirty="0"/>
            </a:br>
            <a:r>
              <a:rPr lang="ru-RU" sz="2800" dirty="0"/>
              <a:t>и теоретическая систематизация объективных знаний о действительности</a:t>
            </a:r>
          </a:p>
          <a:p>
            <a:r>
              <a:rPr lang="ru-RU" sz="2800" b="1" dirty="0"/>
              <a:t>Методология</a:t>
            </a:r>
            <a:r>
              <a:rPr lang="ru-RU" sz="2800" dirty="0"/>
              <a:t> – это учение об организации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45546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понятия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dirty="0"/>
              <a:t>Наука:</a:t>
            </a:r>
          </a:p>
          <a:p>
            <a:r>
              <a:rPr lang="ru-RU" sz="2800" dirty="0"/>
              <a:t>социальный институт – отрасль экономики</a:t>
            </a:r>
          </a:p>
          <a:p>
            <a:pPr lvl="1"/>
            <a:r>
              <a:rPr lang="ru-RU" sz="2400" dirty="0"/>
              <a:t>РАН, отраслевые НИИ, вузы, </a:t>
            </a:r>
            <a:r>
              <a:rPr lang="en-US" sz="2400" dirty="0"/>
              <a:t>R&amp;D</a:t>
            </a:r>
            <a:endParaRPr lang="ru-RU" sz="2400" dirty="0"/>
          </a:p>
          <a:p>
            <a:r>
              <a:rPr lang="ru-RU" sz="2800" dirty="0"/>
              <a:t>результат – система достоверных знаний</a:t>
            </a:r>
            <a:br>
              <a:rPr lang="ru-RU" sz="2800" dirty="0"/>
            </a:br>
            <a:r>
              <a:rPr lang="ru-RU" sz="2800" dirty="0"/>
              <a:t>о природе, человеке и обществе</a:t>
            </a:r>
          </a:p>
          <a:p>
            <a:r>
              <a:rPr lang="ru-RU" sz="2800" dirty="0"/>
              <a:t>процесс – научная деятельность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7855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понятия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34896"/>
            <a:ext cx="8458200" cy="4419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Критерии научности знания:</a:t>
            </a:r>
          </a:p>
          <a:p>
            <a:r>
              <a:rPr lang="ru-RU" sz="2400" dirty="0"/>
              <a:t>истинность – соответствие познаваемому предмету</a:t>
            </a:r>
          </a:p>
          <a:p>
            <a:pPr lvl="1"/>
            <a:r>
              <a:rPr lang="ru-RU" sz="2000" dirty="0"/>
              <a:t>принцип достаточного основания – всякая истинная мысль должна быть обоснована другими мыслями, истинность которых доказана</a:t>
            </a:r>
          </a:p>
          <a:p>
            <a:r>
              <a:rPr lang="ru-RU" sz="2400" dirty="0" err="1"/>
              <a:t>интерсубъективность</a:t>
            </a:r>
            <a:r>
              <a:rPr lang="ru-RU" sz="2400" dirty="0"/>
              <a:t> – </a:t>
            </a:r>
            <a:r>
              <a:rPr lang="ru-RU" sz="2400" dirty="0" err="1"/>
              <a:t>общезначимость</a:t>
            </a:r>
            <a:endParaRPr lang="ru-RU" sz="2400" dirty="0"/>
          </a:p>
          <a:p>
            <a:pPr lvl="1"/>
            <a:r>
              <a:rPr lang="ru-RU" sz="2000" dirty="0" err="1"/>
              <a:t>проверяемость</a:t>
            </a:r>
            <a:r>
              <a:rPr lang="ru-RU" sz="2000" dirty="0"/>
              <a:t>, </a:t>
            </a:r>
            <a:r>
              <a:rPr lang="ru-RU" sz="2000" dirty="0" err="1"/>
              <a:t>воспроизводимость</a:t>
            </a:r>
            <a:endParaRPr lang="ru-RU" sz="2000" dirty="0"/>
          </a:p>
          <a:p>
            <a:r>
              <a:rPr lang="ru-RU" sz="2400" dirty="0"/>
              <a:t>системность – логическая организованность,</a:t>
            </a:r>
            <a:br>
              <a:rPr lang="en-US" sz="2400" dirty="0"/>
            </a:br>
            <a:r>
              <a:rPr lang="ru-RU" sz="2400" dirty="0"/>
              <a:t>наличие связей между элементами знания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Только все три критерия в совокупности определяют научность знания!</a:t>
            </a:r>
          </a:p>
        </p:txBody>
      </p:sp>
    </p:spTree>
    <p:extLst>
      <p:ext uri="{BB962C8B-B14F-4D97-AF65-F5344CB8AC3E}">
        <p14:creationId xmlns:p14="http://schemas.microsoft.com/office/powerpoint/2010/main" val="233112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понятия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4419600"/>
          </a:xfrm>
        </p:spPr>
        <p:txBody>
          <a:bodyPr/>
          <a:lstStyle/>
          <a:p>
            <a:r>
              <a:rPr lang="ru-RU" sz="2800" b="1" dirty="0"/>
              <a:t>Проект</a:t>
            </a:r>
            <a:r>
              <a:rPr lang="ru-RU" sz="2800" dirty="0"/>
              <a:t> – это ограниченное во времени целенаправленное изменение отдельной системы с установленными требованиями</a:t>
            </a:r>
            <a:br>
              <a:rPr lang="ru-RU" sz="2800" dirty="0"/>
            </a:br>
            <a:r>
              <a:rPr lang="ru-RU" sz="2800" dirty="0"/>
              <a:t>к качеству результатов, возможными рамками расхода средств и ресурсов и специфической организацией</a:t>
            </a:r>
          </a:p>
          <a:p>
            <a:r>
              <a:rPr lang="ru-RU" sz="2800" dirty="0"/>
              <a:t>Научная деятельность организуется</a:t>
            </a:r>
            <a:br>
              <a:rPr lang="ru-RU" sz="2800" dirty="0"/>
            </a:br>
            <a:r>
              <a:rPr lang="ru-RU" sz="2800" dirty="0"/>
              <a:t>по определенным замкнутым, завершенным циклам (проектам)</a:t>
            </a:r>
          </a:p>
        </p:txBody>
      </p:sp>
    </p:spTree>
    <p:extLst>
      <p:ext uri="{BB962C8B-B14F-4D97-AF65-F5344CB8AC3E}">
        <p14:creationId xmlns:p14="http://schemas.microsoft.com/office/powerpoint/2010/main" val="37614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Научные публикации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1126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Виды публикаций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86800" cy="4419600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Виды научно-исследовательских публикаций:</a:t>
            </a:r>
          </a:p>
          <a:p>
            <a:r>
              <a:rPr lang="ru-RU" sz="2800" dirty="0"/>
              <a:t>тезисы доклада</a:t>
            </a:r>
          </a:p>
          <a:p>
            <a:r>
              <a:rPr lang="ru-RU" sz="2800" dirty="0"/>
              <a:t>научная статья</a:t>
            </a:r>
          </a:p>
          <a:p>
            <a:pPr lvl="1"/>
            <a:r>
              <a:rPr lang="ru-RU" dirty="0"/>
              <a:t>статья в материалах конференций</a:t>
            </a:r>
          </a:p>
          <a:p>
            <a:pPr lvl="1"/>
            <a:r>
              <a:rPr lang="ru-RU" dirty="0"/>
              <a:t>статья в журнале</a:t>
            </a:r>
            <a:r>
              <a:rPr lang="en-US" dirty="0"/>
              <a:t> (</a:t>
            </a:r>
            <a:r>
              <a:rPr lang="ru-RU" dirty="0"/>
              <a:t>системы цитирования, ВАК)</a:t>
            </a:r>
          </a:p>
          <a:p>
            <a:pPr lvl="1"/>
            <a:r>
              <a:rPr lang="ru-RU" dirty="0"/>
              <a:t>депонированная статья (ВИНИТИ, </a:t>
            </a:r>
            <a:r>
              <a:rPr lang="fr-FR" dirty="0"/>
              <a:t>arXiv.org</a:t>
            </a:r>
            <a:r>
              <a:rPr lang="ru-RU" dirty="0"/>
              <a:t>)</a:t>
            </a:r>
          </a:p>
          <a:p>
            <a:r>
              <a:rPr lang="ru-RU" sz="2800" dirty="0"/>
              <a:t>монография</a:t>
            </a:r>
          </a:p>
          <a:p>
            <a:r>
              <a:rPr lang="ru-RU" sz="2800" dirty="0"/>
              <a:t>отчеты о НИР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8842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Виды публикаций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dirty="0"/>
              <a:t>Виды научно-исследовательских публикаций:</a:t>
            </a:r>
          </a:p>
          <a:p>
            <a:r>
              <a:rPr lang="ru-RU" sz="2800" dirty="0"/>
              <a:t>квалификационные:</a:t>
            </a:r>
          </a:p>
          <a:p>
            <a:pPr lvl="1"/>
            <a:r>
              <a:rPr lang="ru-RU" sz="2400" dirty="0"/>
              <a:t>выпускная квалификационная работа</a:t>
            </a:r>
            <a:br>
              <a:rPr lang="ru-RU" sz="2400" dirty="0"/>
            </a:br>
            <a:r>
              <a:rPr lang="ru-RU" sz="2400" dirty="0"/>
              <a:t>(бакалавра, специалиста)</a:t>
            </a:r>
          </a:p>
          <a:p>
            <a:pPr lvl="1"/>
            <a:r>
              <a:rPr lang="ru-RU" sz="2400" dirty="0"/>
              <a:t>магистерская диссертация</a:t>
            </a:r>
          </a:p>
          <a:p>
            <a:pPr lvl="1"/>
            <a:r>
              <a:rPr lang="ru-RU" sz="2400" dirty="0"/>
              <a:t>диссертация на соискание ученой степени кандидата наук / доктора наук</a:t>
            </a:r>
          </a:p>
        </p:txBody>
      </p:sp>
    </p:spTree>
    <p:extLst>
      <p:ext uri="{BB962C8B-B14F-4D97-AF65-F5344CB8AC3E}">
        <p14:creationId xmlns:p14="http://schemas.microsoft.com/office/powerpoint/2010/main" val="56301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AA747-E4CD-4B81-953B-41C31C93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Критерии качества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24FF38-C2F5-4C64-BFB0-88243191D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Рецензирование</a:t>
            </a:r>
          </a:p>
          <a:p>
            <a:r>
              <a:rPr lang="ru-RU" dirty="0"/>
              <a:t>Цитирование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1556024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/>
          <a:lstStyle/>
          <a:p>
            <a:r>
              <a:rPr lang="ru-RU" sz="3600" b="1" dirty="0"/>
              <a:t>Критерии качества: рецензирование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057400"/>
            <a:ext cx="4114800" cy="4389120"/>
          </a:xfrm>
        </p:spPr>
        <p:txBody>
          <a:bodyPr/>
          <a:lstStyle/>
          <a:p>
            <a:r>
              <a:rPr lang="ru-RU" sz="2400" dirty="0"/>
              <a:t>рецензирование</a:t>
            </a:r>
            <a:br>
              <a:rPr lang="en-US" sz="2400" dirty="0"/>
            </a:br>
            <a:r>
              <a:rPr lang="ru-RU" sz="2400" dirty="0"/>
              <a:t>= </a:t>
            </a:r>
            <a:r>
              <a:rPr lang="en-US" sz="2400" dirty="0"/>
              <a:t>peer review</a:t>
            </a:r>
          </a:p>
          <a:p>
            <a:r>
              <a:rPr lang="ru-RU" sz="2400" dirty="0"/>
              <a:t>впервые – 1731 год, «</a:t>
            </a:r>
            <a:r>
              <a:rPr lang="fr-FR" sz="2400" dirty="0"/>
              <a:t>Medical Essays and</a:t>
            </a:r>
            <a:r>
              <a:rPr lang="ru-RU" sz="2400" dirty="0"/>
              <a:t> </a:t>
            </a:r>
            <a:r>
              <a:rPr lang="fr-FR" sz="2400" dirty="0"/>
              <a:t>Observations</a:t>
            </a:r>
            <a:r>
              <a:rPr lang="ru-RU" sz="2400" dirty="0"/>
              <a:t>»</a:t>
            </a:r>
            <a:endParaRPr lang="ru-RU" sz="2800" dirty="0"/>
          </a:p>
          <a:p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614" y="1407977"/>
            <a:ext cx="3614769" cy="545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9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/>
              <a:t>Критерии качества: рецензирование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4572000"/>
          </a:xfrm>
        </p:spPr>
        <p:txBody>
          <a:bodyPr/>
          <a:lstStyle/>
          <a:p>
            <a:r>
              <a:rPr lang="en-US" sz="2400" dirty="0" err="1"/>
              <a:t>SCIGen</a:t>
            </a:r>
            <a:r>
              <a:rPr lang="en-US" sz="2400" dirty="0"/>
              <a:t> – </a:t>
            </a:r>
            <a:r>
              <a:rPr lang="ru-RU" sz="2400" dirty="0"/>
              <a:t>генератор случайных статей</a:t>
            </a:r>
            <a:br>
              <a:rPr lang="en-US" sz="2400" dirty="0"/>
            </a:br>
            <a:r>
              <a:rPr lang="ru-RU" sz="2400" dirty="0"/>
              <a:t>в области </a:t>
            </a:r>
            <a:r>
              <a:rPr lang="en-US" sz="2400" dirty="0"/>
              <a:t>Computer Science </a:t>
            </a:r>
            <a:r>
              <a:rPr lang="ru-RU" sz="2400" dirty="0"/>
              <a:t>(</a:t>
            </a:r>
            <a:r>
              <a:rPr lang="en-US" sz="2400" dirty="0"/>
              <a:t>MIT)</a:t>
            </a:r>
          </a:p>
          <a:p>
            <a:pPr lvl="1"/>
            <a:r>
              <a:rPr lang="fr-FR" sz="2000" dirty="0">
                <a:hlinkClick r:id="rId2"/>
              </a:rPr>
              <a:t>https://pdos.csail.mit.edu/archive/scigen/</a:t>
            </a:r>
            <a:endParaRPr lang="fr-FR" sz="2000" dirty="0"/>
          </a:p>
          <a:p>
            <a:r>
              <a:rPr lang="en-US" sz="2400" dirty="0"/>
              <a:t>Rooter: A Methodology for the Typical Unification</a:t>
            </a:r>
            <a:br>
              <a:rPr lang="en-US" sz="2400" dirty="0"/>
            </a:br>
            <a:r>
              <a:rPr lang="en-US" sz="2400" dirty="0"/>
              <a:t>of Access Points and Redundancy (2005)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/>
              <a:t>World </a:t>
            </a:r>
            <a:r>
              <a:rPr lang="en-US" sz="2400" dirty="0" err="1"/>
              <a:t>Multiconference</a:t>
            </a:r>
            <a:r>
              <a:rPr lang="en-US" sz="2400" dirty="0"/>
              <a:t> on </a:t>
            </a:r>
            <a:r>
              <a:rPr lang="en-US" sz="2400" dirty="0" err="1"/>
              <a:t>Systemics</a:t>
            </a:r>
            <a:r>
              <a:rPr lang="en-US" sz="2400" dirty="0"/>
              <a:t>, Cybernetics</a:t>
            </a:r>
            <a:br>
              <a:rPr lang="en-US" sz="2400" dirty="0"/>
            </a:br>
            <a:r>
              <a:rPr lang="en-US" sz="2400" dirty="0"/>
              <a:t>and Informatics</a:t>
            </a:r>
          </a:p>
          <a:p>
            <a:r>
              <a:rPr lang="ru-RU" sz="2400" dirty="0"/>
              <a:t>В 2014 году издательства </a:t>
            </a:r>
            <a:r>
              <a:rPr lang="en-US" sz="2400" dirty="0"/>
              <a:t>Springer </a:t>
            </a:r>
            <a:r>
              <a:rPr lang="ru-RU" sz="2400" dirty="0"/>
              <a:t>и </a:t>
            </a:r>
            <a:r>
              <a:rPr lang="en-US" sz="2400" dirty="0"/>
              <a:t>IEEE </a:t>
            </a:r>
            <a:r>
              <a:rPr lang="ru-RU" sz="2400" dirty="0"/>
              <a:t>удалили более 120 статей, сгенерированных </a:t>
            </a:r>
            <a:r>
              <a:rPr lang="en-US" sz="2400" dirty="0" err="1"/>
              <a:t>SCIGen</a:t>
            </a:r>
            <a:endParaRPr lang="en-US" sz="2400" dirty="0"/>
          </a:p>
          <a:p>
            <a:r>
              <a:rPr lang="fr-FR" sz="2400" dirty="0"/>
              <a:t>Ike Antkare – 21-</a:t>
            </a:r>
            <a:r>
              <a:rPr lang="ru-RU" sz="2400" dirty="0"/>
              <a:t>е место по цитируемости в мире</a:t>
            </a:r>
          </a:p>
        </p:txBody>
      </p:sp>
    </p:spTree>
    <p:extLst>
      <p:ext uri="{BB962C8B-B14F-4D97-AF65-F5344CB8AC3E}">
        <p14:creationId xmlns:p14="http://schemas.microsoft.com/office/powerpoint/2010/main" val="391291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/>
              <a:t>Критерии качества: рецензирование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534400" cy="3886200"/>
          </a:xfrm>
        </p:spPr>
        <p:txBody>
          <a:bodyPr/>
          <a:lstStyle/>
          <a:p>
            <a:r>
              <a:rPr lang="ru-RU" sz="2800" dirty="0"/>
              <a:t>«Корчеватель: Алгоритм типичной унификации точек доступа и избыточности» (2008)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800" dirty="0"/>
              <a:t>Журнал научных публикаций аспирантов</a:t>
            </a:r>
            <a:br>
              <a:rPr lang="ru-RU" sz="2800" dirty="0"/>
            </a:br>
            <a:r>
              <a:rPr lang="ru-RU" sz="2800" dirty="0"/>
              <a:t>и докторантов»</a:t>
            </a:r>
          </a:p>
          <a:p>
            <a:pPr lvl="1"/>
            <a:r>
              <a:rPr lang="fr-FR" sz="2400" dirty="0">
                <a:hlinkClick r:id="rId2"/>
              </a:rPr>
              <a:t>http://wapdj.ru/korchevatel-algoritm-tipichnoj-unifikacii-tochek-dostupa-i-izbytochnosti</a:t>
            </a:r>
            <a:endParaRPr lang="ru-RU" sz="24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2990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/>
              <a:t>Критерии качества: цитирование</a:t>
            </a:r>
            <a:endParaRPr lang="ru-RU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81200"/>
                <a:ext cx="8229600" cy="4648200"/>
              </a:xfrm>
            </p:spPr>
            <p:txBody>
              <a:bodyPr/>
              <a:lstStyle/>
              <a:p>
                <a:r>
                  <a:rPr lang="ru-RU" sz="2800" dirty="0"/>
                  <a:t>Количество цитирований</a:t>
                </a:r>
              </a:p>
              <a:p>
                <a:pPr lvl="1"/>
                <a:r>
                  <a:rPr lang="ru-RU" sz="2400" dirty="0"/>
                  <a:t>индекс </a:t>
                </a:r>
                <a:r>
                  <a:rPr lang="ru-RU" sz="2400" dirty="0" err="1"/>
                  <a:t>Хирша</a:t>
                </a:r>
                <a:endParaRPr lang="ru-RU" sz="2400" dirty="0"/>
              </a:p>
              <a:p>
                <a:pPr>
                  <a:spcAft>
                    <a:spcPts val="1200"/>
                  </a:spcAft>
                </a:pPr>
                <a:r>
                  <a:rPr lang="ru-RU" sz="2800" dirty="0" err="1"/>
                  <a:t>Импакт</a:t>
                </a:r>
                <a:r>
                  <a:rPr lang="ru-RU" sz="2800" dirty="0"/>
                  <a:t>-фактор журнала: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количество цитирований в течение года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400" b="0" dirty="0"/>
                  <a:t> статей, опубликованных в журнале в годах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2400" b="0" dirty="0"/>
                  <a:t> и</a:t>
                </a: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ru-RU" sz="2400" b="0" dirty="0"/>
                  <a:t>;</a:t>
                </a:r>
                <a:endParaRPr lang="en-US" sz="24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количество статей в журнале в годах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2400" dirty="0"/>
                  <a:t> и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81200"/>
                <a:ext cx="8229600" cy="4648200"/>
              </a:xfrm>
              <a:blipFill>
                <a:blip r:embed="rId2"/>
                <a:stretch>
                  <a:fillRect l="-1111" t="-13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4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Системы цитирования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10600" cy="4648200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Системы цитирования</a:t>
            </a:r>
          </a:p>
          <a:p>
            <a:r>
              <a:rPr lang="en-US" sz="2400" dirty="0"/>
              <a:t>Web of Science</a:t>
            </a:r>
            <a:endParaRPr lang="ru-RU" sz="2400" dirty="0"/>
          </a:p>
          <a:p>
            <a:pPr lvl="1"/>
            <a:r>
              <a:rPr lang="en-US" sz="2000" dirty="0">
                <a:hlinkClick r:id="rId2"/>
              </a:rPr>
              <a:t>http://webofscience.com/</a:t>
            </a:r>
            <a:r>
              <a:rPr lang="ru-RU" sz="2000" dirty="0"/>
              <a:t> </a:t>
            </a:r>
            <a:r>
              <a:rPr lang="fr-FR" sz="2000" dirty="0"/>
              <a:t>–</a:t>
            </a:r>
            <a:r>
              <a:rPr lang="ru-RU" sz="2000" dirty="0"/>
              <a:t> основной сайт</a:t>
            </a:r>
            <a:endParaRPr lang="en-US" sz="2000" dirty="0"/>
          </a:p>
          <a:p>
            <a:pPr lvl="1"/>
            <a:r>
              <a:rPr lang="fr-FR" sz="2000" dirty="0">
                <a:hlinkClick r:id="rId3"/>
              </a:rPr>
              <a:t>http://mjl.clarivate.com</a:t>
            </a:r>
            <a:r>
              <a:rPr lang="fr-FR" sz="2000" dirty="0"/>
              <a:t> – </a:t>
            </a:r>
            <a:r>
              <a:rPr lang="ru-RU" sz="2000" dirty="0"/>
              <a:t>список журналов</a:t>
            </a:r>
            <a:endParaRPr lang="fr-FR" sz="2000" dirty="0"/>
          </a:p>
          <a:p>
            <a:pPr lvl="1"/>
            <a:r>
              <a:rPr lang="en-US" sz="2000" dirty="0">
                <a:hlinkClick r:id="rId4"/>
              </a:rPr>
              <a:t>https://publons.com</a:t>
            </a:r>
            <a:r>
              <a:rPr lang="ru-RU" sz="2000" dirty="0"/>
              <a:t> – сервис для исследователей</a:t>
            </a:r>
          </a:p>
          <a:p>
            <a:r>
              <a:rPr lang="en-US" sz="2400" dirty="0"/>
              <a:t>Scopus</a:t>
            </a:r>
            <a:endParaRPr lang="ru-RU" sz="2400" dirty="0"/>
          </a:p>
          <a:p>
            <a:pPr lvl="1"/>
            <a:r>
              <a:rPr lang="en-US" sz="2000" dirty="0">
                <a:hlinkClick r:id="rId5"/>
              </a:rPr>
              <a:t>https://www.scimagojr.com/journalsearch.php</a:t>
            </a:r>
            <a:r>
              <a:rPr lang="ru-RU" sz="2000" dirty="0"/>
              <a:t> – список журналов</a:t>
            </a:r>
          </a:p>
          <a:p>
            <a:pPr lvl="1"/>
            <a:r>
              <a:rPr lang="en-US" sz="2000" dirty="0">
                <a:hlinkClick r:id="rId6"/>
              </a:rPr>
              <a:t>https://www.scopus.com/feedback/author/home.uri#/</a:t>
            </a:r>
            <a:endParaRPr lang="ru-RU" sz="2000" dirty="0"/>
          </a:p>
          <a:p>
            <a:r>
              <a:rPr lang="ru-RU" sz="2400" dirty="0"/>
              <a:t>РИНЦ</a:t>
            </a:r>
            <a:endParaRPr lang="en-US" sz="2400" dirty="0"/>
          </a:p>
          <a:p>
            <a:pPr lvl="1"/>
            <a:r>
              <a:rPr lang="fr-FR" sz="2000" dirty="0">
                <a:hlinkClick r:id="rId7"/>
              </a:rPr>
              <a:t>https://elibrary.ru</a:t>
            </a:r>
            <a:endParaRPr lang="fr-FR" sz="2000" dirty="0"/>
          </a:p>
          <a:p>
            <a:r>
              <a:rPr lang="en-US" sz="2400" dirty="0"/>
              <a:t>Google Scholar</a:t>
            </a:r>
          </a:p>
          <a:p>
            <a:pPr lvl="1"/>
            <a:r>
              <a:rPr lang="fr-FR" sz="2000" dirty="0">
                <a:hlinkClick r:id="rId8"/>
              </a:rPr>
              <a:t>https://scholar.google.ru</a:t>
            </a:r>
            <a:endParaRPr lang="ru-RU" sz="20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1565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Полезные ресурсы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534400" cy="4648200"/>
          </a:xfrm>
        </p:spPr>
        <p:txBody>
          <a:bodyPr/>
          <a:lstStyle/>
          <a:p>
            <a:r>
              <a:rPr lang="en-US" sz="2400" dirty="0"/>
              <a:t>CORE – The Computing Research and Education Association of Australasia</a:t>
            </a:r>
            <a:endParaRPr lang="en-US" sz="24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lang="en-US" sz="2000" dirty="0">
                <a:hlinkClick r:id="rId2"/>
              </a:rPr>
              <a:t>http://portal.core.edu.au/conf-ranks/</a:t>
            </a:r>
            <a:endParaRPr lang="en-US" sz="2000" dirty="0"/>
          </a:p>
          <a:p>
            <a:r>
              <a:rPr lang="en-US" sz="2400" dirty="0"/>
              <a:t>Conference Ranks</a:t>
            </a:r>
          </a:p>
          <a:p>
            <a:pPr lvl="1"/>
            <a:r>
              <a:rPr lang="en-US" sz="2000" dirty="0">
                <a:hlinkClick r:id="rId3"/>
              </a:rPr>
              <a:t>http://www.conferenceranks.com</a:t>
            </a:r>
            <a:endParaRPr lang="en-US" sz="2000" dirty="0"/>
          </a:p>
          <a:p>
            <a:r>
              <a:rPr lang="ru-RU" sz="2400" dirty="0"/>
              <a:t>Рейтинг международных научных конференций</a:t>
            </a:r>
          </a:p>
          <a:p>
            <a:pPr lvl="1"/>
            <a:r>
              <a:rPr lang="fr-FR" sz="2000" dirty="0">
                <a:hlinkClick r:id="rId4"/>
              </a:rPr>
              <a:t>http://www.machinelearning.ru/wiki/index.php?title=</a:t>
            </a:r>
            <a:r>
              <a:rPr lang="ru-RU" sz="2000" dirty="0" err="1">
                <a:hlinkClick r:id="rId4"/>
              </a:rPr>
              <a:t>Рейтинг_международных_научных_конференций</a:t>
            </a:r>
            <a:endParaRPr lang="ru-RU" sz="2000" dirty="0"/>
          </a:p>
          <a:p>
            <a:r>
              <a:rPr lang="en-US" sz="2400" dirty="0"/>
              <a:t>Papers with code</a:t>
            </a:r>
          </a:p>
          <a:p>
            <a:pPr lvl="1"/>
            <a:r>
              <a:rPr lang="fr-FR" sz="2000" dirty="0">
                <a:hlinkClick r:id="rId5"/>
              </a:rPr>
              <a:t>https://paperswithcode.com</a:t>
            </a:r>
            <a:endParaRPr lang="fr-FR" sz="2000" dirty="0"/>
          </a:p>
          <a:p>
            <a:r>
              <a:rPr lang="en-US" sz="2400" dirty="0"/>
              <a:t>Sci</a:t>
            </a:r>
            <a:r>
              <a:rPr lang="ru-RU" sz="2400" dirty="0"/>
              <a:t>-</a:t>
            </a:r>
            <a:r>
              <a:rPr lang="en-US" sz="2400" dirty="0"/>
              <a:t>Hub</a:t>
            </a:r>
          </a:p>
        </p:txBody>
      </p:sp>
    </p:spTree>
    <p:extLst>
      <p:ext uri="{BB962C8B-B14F-4D97-AF65-F5344CB8AC3E}">
        <p14:creationId xmlns:p14="http://schemas.microsoft.com/office/powerpoint/2010/main" val="113306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Научная этика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3060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Научная этика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4495800"/>
          </a:xfrm>
        </p:spPr>
        <p:txBody>
          <a:bodyPr/>
          <a:lstStyle/>
          <a:p>
            <a:r>
              <a:rPr lang="ru-RU" sz="2800" dirty="0"/>
              <a:t>универсализм: истинность научных утверждений должна оцениваться независимо от расы, пола, возраста, авторитета, званий тех, кто их формулирует</a:t>
            </a:r>
          </a:p>
          <a:p>
            <a:r>
              <a:rPr lang="ru-RU" sz="2800" dirty="0"/>
              <a:t>общность: научное знание должно свободно становиться общим достоянием</a:t>
            </a:r>
          </a:p>
          <a:p>
            <a:r>
              <a:rPr lang="ru-RU" sz="2800" dirty="0"/>
              <a:t>незаинтересованность, беспристрастность</a:t>
            </a:r>
          </a:p>
          <a:p>
            <a:r>
              <a:rPr lang="ru-RU" sz="2800" dirty="0"/>
              <a:t>рациональный скептицизм</a:t>
            </a:r>
          </a:p>
          <a:p>
            <a:pPr lvl="1"/>
            <a:r>
              <a:rPr lang="ru-RU" sz="2400" dirty="0"/>
              <a:t>«Платон мне друг, но истина дороже»</a:t>
            </a:r>
          </a:p>
        </p:txBody>
      </p:sp>
    </p:spTree>
    <p:extLst>
      <p:ext uri="{BB962C8B-B14F-4D97-AF65-F5344CB8AC3E}">
        <p14:creationId xmlns:p14="http://schemas.microsoft.com/office/powerpoint/2010/main" val="248307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Курсовой проект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3787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Курсовой проект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534400" cy="3886200"/>
          </a:xfrm>
        </p:spPr>
        <p:txBody>
          <a:bodyPr/>
          <a:lstStyle/>
          <a:p>
            <a:r>
              <a:rPr lang="ru-RU" sz="3000" i="1" dirty="0"/>
              <a:t>Курсовой проект </a:t>
            </a:r>
            <a:r>
              <a:rPr lang="ru-RU" sz="3000" dirty="0"/>
              <a:t>– учебный</a:t>
            </a:r>
            <a:br>
              <a:rPr lang="ru-RU" sz="3000" dirty="0"/>
            </a:br>
            <a:r>
              <a:rPr lang="ru-RU" sz="3000" dirty="0"/>
              <a:t>научно-исследовательский проект, выполняемый студентом</a:t>
            </a:r>
            <a:br>
              <a:rPr lang="ru-RU" sz="3000" dirty="0"/>
            </a:br>
            <a:r>
              <a:rPr lang="ru-RU" sz="3000" dirty="0"/>
              <a:t>под руководством преподавателя</a:t>
            </a:r>
          </a:p>
          <a:p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2776289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1371600"/>
          </a:xfrm>
        </p:spPr>
        <p:txBody>
          <a:bodyPr/>
          <a:lstStyle/>
          <a:p>
            <a:r>
              <a:rPr lang="ru-RU" b="1" dirty="0"/>
              <a:t>Структура курсового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43400"/>
          </a:xfrm>
        </p:spPr>
        <p:txBody>
          <a:bodyPr>
            <a:normAutofit/>
          </a:bodyPr>
          <a:lstStyle/>
          <a:p>
            <a:r>
              <a:rPr lang="ru-RU" sz="2800" dirty="0"/>
              <a:t>Титульный лист</a:t>
            </a:r>
          </a:p>
          <a:p>
            <a:r>
              <a:rPr lang="ru-RU" sz="2800" dirty="0"/>
              <a:t>Оглавление</a:t>
            </a:r>
          </a:p>
          <a:p>
            <a:r>
              <a:rPr lang="ru-RU" sz="2800" dirty="0"/>
              <a:t>Введение</a:t>
            </a:r>
          </a:p>
          <a:p>
            <a:r>
              <a:rPr lang="ru-RU" sz="2800" dirty="0"/>
              <a:t>Глава 1</a:t>
            </a:r>
          </a:p>
          <a:p>
            <a:r>
              <a:rPr lang="ru-RU" sz="2800" dirty="0"/>
              <a:t>Глава 2</a:t>
            </a:r>
          </a:p>
          <a:p>
            <a:r>
              <a:rPr lang="ru-RU" sz="2800" dirty="0"/>
              <a:t>Заключение</a:t>
            </a:r>
          </a:p>
          <a:p>
            <a:r>
              <a:rPr lang="ru-RU" sz="2800" dirty="0"/>
              <a:t>Библиографический список</a:t>
            </a:r>
          </a:p>
          <a:p>
            <a:r>
              <a:rPr lang="ru-RU" sz="2800" dirty="0"/>
              <a:t>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35072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Титульный</a:t>
            </a:r>
            <a:br>
              <a:rPr lang="ru-RU" b="1" dirty="0"/>
            </a:br>
            <a:r>
              <a:rPr lang="ru-RU" b="1" dirty="0"/>
              <a:t>лист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306A1F-7FD5-4058-BF2D-BF443576E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43883"/>
            <a:ext cx="4963516" cy="6324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3806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Оглавление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Отражает структуру работы</a:t>
            </a:r>
          </a:p>
          <a:p>
            <a:r>
              <a:rPr lang="ru-RU" dirty="0"/>
              <a:t>Строится автоматически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864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28800"/>
            <a:ext cx="8382000" cy="4876800"/>
          </a:xfrm>
        </p:spPr>
        <p:txBody>
          <a:bodyPr/>
          <a:lstStyle/>
          <a:p>
            <a:r>
              <a:rPr lang="ru-RU" dirty="0"/>
              <a:t>Актуальность исследования</a:t>
            </a:r>
          </a:p>
          <a:p>
            <a:pPr lvl="1"/>
            <a:r>
              <a:rPr lang="ru-RU" dirty="0"/>
              <a:t>современное состояние</a:t>
            </a:r>
          </a:p>
          <a:p>
            <a:pPr lvl="1"/>
            <a:r>
              <a:rPr lang="ru-RU" dirty="0"/>
              <a:t>проблема</a:t>
            </a:r>
          </a:p>
          <a:p>
            <a:pPr lvl="1"/>
            <a:r>
              <a:rPr lang="ru-RU" dirty="0"/>
              <a:t>подход</a:t>
            </a:r>
          </a:p>
          <a:p>
            <a:pPr lvl="1"/>
            <a:r>
              <a:rPr lang="ru-RU" dirty="0"/>
              <a:t>отличать актуальность предметной области от актуальности работы</a:t>
            </a:r>
          </a:p>
          <a:p>
            <a:r>
              <a:rPr lang="ru-RU" dirty="0"/>
              <a:t>Цель</a:t>
            </a:r>
          </a:p>
          <a:p>
            <a:r>
              <a:rPr lang="ru-RU" dirty="0"/>
              <a:t>Задачи</a:t>
            </a:r>
          </a:p>
          <a:p>
            <a:r>
              <a:rPr lang="ru-RU" dirty="0"/>
              <a:t>Краткое содержание работы</a:t>
            </a:r>
          </a:p>
        </p:txBody>
      </p:sp>
    </p:spTree>
    <p:extLst>
      <p:ext uri="{BB962C8B-B14F-4D97-AF65-F5344CB8AC3E}">
        <p14:creationId xmlns:p14="http://schemas.microsoft.com/office/powerpoint/2010/main" val="394569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Глава 1. Теоретическая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понятия и определения</a:t>
            </a:r>
          </a:p>
          <a:p>
            <a:r>
              <a:rPr lang="ru-RU" dirty="0"/>
              <a:t>Постановка задачи</a:t>
            </a:r>
          </a:p>
          <a:p>
            <a:r>
              <a:rPr lang="ru-RU" dirty="0"/>
              <a:t>Обзор текущего состояния</a:t>
            </a:r>
          </a:p>
          <a:p>
            <a:r>
              <a:rPr lang="ru-RU" dirty="0"/>
              <a:t>Связь со своим исследованием</a:t>
            </a:r>
          </a:p>
          <a:p>
            <a:r>
              <a:rPr lang="ru-RU" dirty="0"/>
              <a:t>Ссылки на источники</a:t>
            </a:r>
          </a:p>
          <a:p>
            <a:r>
              <a:rPr lang="ru-RU" dirty="0"/>
              <a:t>Выводы</a:t>
            </a:r>
          </a:p>
        </p:txBody>
      </p:sp>
    </p:spTree>
    <p:extLst>
      <p:ext uri="{BB962C8B-B14F-4D97-AF65-F5344CB8AC3E}">
        <p14:creationId xmlns:p14="http://schemas.microsoft.com/office/powerpoint/2010/main" val="129790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Глава 2. Практическая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800600"/>
          </a:xfrm>
        </p:spPr>
        <p:txBody>
          <a:bodyPr>
            <a:noAutofit/>
          </a:bodyPr>
          <a:lstStyle/>
          <a:p>
            <a:r>
              <a:rPr lang="ru-RU" sz="2400" dirty="0"/>
              <a:t>Разработка программы</a:t>
            </a:r>
          </a:p>
          <a:p>
            <a:pPr lvl="1"/>
            <a:r>
              <a:rPr lang="ru-RU" sz="2000" dirty="0"/>
              <a:t>проектирование</a:t>
            </a:r>
          </a:p>
          <a:p>
            <a:pPr lvl="1"/>
            <a:r>
              <a:rPr lang="ru-RU" sz="2000" dirty="0"/>
              <a:t>обоснование выбора языка и среды</a:t>
            </a:r>
          </a:p>
          <a:p>
            <a:pPr lvl="1"/>
            <a:r>
              <a:rPr lang="ru-RU" sz="2000" dirty="0"/>
              <a:t>кодирование</a:t>
            </a:r>
          </a:p>
          <a:p>
            <a:pPr lvl="1"/>
            <a:r>
              <a:rPr lang="ru-RU" sz="2000" dirty="0"/>
              <a:t>тестирование</a:t>
            </a:r>
          </a:p>
          <a:p>
            <a:pPr lvl="1"/>
            <a:r>
              <a:rPr lang="ru-RU" sz="2000" dirty="0"/>
              <a:t>интерфейс</a:t>
            </a:r>
          </a:p>
          <a:p>
            <a:r>
              <a:rPr lang="ru-RU" sz="2400" dirty="0"/>
              <a:t>Эксперименты</a:t>
            </a:r>
          </a:p>
          <a:p>
            <a:pPr lvl="1"/>
            <a:r>
              <a:rPr lang="ru-RU" sz="2000" dirty="0"/>
              <a:t>условия</a:t>
            </a:r>
          </a:p>
          <a:p>
            <a:pPr lvl="1"/>
            <a:r>
              <a:rPr lang="ru-RU" sz="2000" dirty="0"/>
              <a:t>результаты</a:t>
            </a:r>
          </a:p>
          <a:p>
            <a:r>
              <a:rPr lang="ru-RU" sz="2400" dirty="0"/>
              <a:t>Анализ результатов</a:t>
            </a:r>
          </a:p>
          <a:p>
            <a:r>
              <a:rPr lang="ru-RU" sz="2400" dirty="0"/>
              <a:t>Выводы</a:t>
            </a:r>
          </a:p>
        </p:txBody>
      </p:sp>
    </p:spTree>
    <p:extLst>
      <p:ext uri="{BB962C8B-B14F-4D97-AF65-F5344CB8AC3E}">
        <p14:creationId xmlns:p14="http://schemas.microsoft.com/office/powerpoint/2010/main" val="392015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результаты и выводы</a:t>
            </a:r>
          </a:p>
          <a:p>
            <a:pPr lvl="1"/>
            <a:r>
              <a:rPr lang="ru-RU" dirty="0"/>
              <a:t>в соответствии с целью и задачами</a:t>
            </a:r>
            <a:br>
              <a:rPr lang="ru-RU" dirty="0"/>
            </a:br>
            <a:r>
              <a:rPr lang="ru-RU" dirty="0"/>
              <a:t>из Введения</a:t>
            </a:r>
          </a:p>
          <a:p>
            <a:pPr lvl="1"/>
            <a:r>
              <a:rPr lang="ru-RU" dirty="0"/>
              <a:t>должно подтверждаться достижение цели и решение всех задач</a:t>
            </a:r>
          </a:p>
          <a:p>
            <a:pPr lvl="1"/>
            <a:r>
              <a:rPr lang="ru-RU" dirty="0"/>
              <a:t>должны быть результаты, которые можно защищать</a:t>
            </a:r>
          </a:p>
        </p:txBody>
      </p:sp>
    </p:spTree>
    <p:extLst>
      <p:ext uri="{BB962C8B-B14F-4D97-AF65-F5344CB8AC3E}">
        <p14:creationId xmlns:p14="http://schemas.microsoft.com/office/powerpoint/2010/main" val="158518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Библиографический список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менее 15-20 источников</a:t>
            </a:r>
          </a:p>
          <a:p>
            <a:r>
              <a:rPr lang="ru-RU" dirty="0"/>
              <a:t>Отечественные и зарубежные</a:t>
            </a:r>
          </a:p>
          <a:p>
            <a:r>
              <a:rPr lang="ru-RU" dirty="0"/>
              <a:t>Авторитетность</a:t>
            </a:r>
          </a:p>
          <a:p>
            <a:r>
              <a:rPr lang="ru-RU" dirty="0"/>
              <a:t>Веб-ссылки – в качестве исключения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519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Все, что не нужно непосредственно</a:t>
            </a:r>
            <a:br>
              <a:rPr lang="ru-RU" dirty="0"/>
            </a:br>
            <a:r>
              <a:rPr lang="ru-RU" dirty="0"/>
              <a:t>для понимания сути работы</a:t>
            </a:r>
          </a:p>
          <a:p>
            <a:r>
              <a:rPr lang="ru-RU" dirty="0"/>
              <a:t>Листинги программ</a:t>
            </a:r>
          </a:p>
          <a:p>
            <a:r>
              <a:rPr lang="ru-RU" dirty="0"/>
              <a:t>Громоздкие таблицы и рисунки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055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Плагиат/</a:t>
            </a:r>
            <a:r>
              <a:rPr lang="ru-RU" b="1" dirty="0" err="1"/>
              <a:t>антиплагиат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Процент уникальности </a:t>
            </a:r>
            <a:r>
              <a:rPr lang="en-US" dirty="0"/>
              <a:t>&gt; 80%</a:t>
            </a:r>
          </a:p>
          <a:p>
            <a:r>
              <a:rPr lang="ru-RU" dirty="0"/>
              <a:t>Программы:</a:t>
            </a:r>
          </a:p>
          <a:p>
            <a:pPr lvl="1"/>
            <a:r>
              <a:rPr lang="en-US" dirty="0" err="1"/>
              <a:t>eTXT</a:t>
            </a:r>
            <a:r>
              <a:rPr lang="en-US" dirty="0"/>
              <a:t> </a:t>
            </a:r>
            <a:r>
              <a:rPr lang="ru-RU" dirty="0" err="1"/>
              <a:t>Антиплагиат</a:t>
            </a:r>
            <a:endParaRPr lang="en-US" dirty="0"/>
          </a:p>
          <a:p>
            <a:pPr lvl="1"/>
            <a:r>
              <a:rPr lang="fr-FR" dirty="0">
                <a:hlinkClick r:id="rId2"/>
              </a:rPr>
              <a:t>http://www.antiplagiat.ru/</a:t>
            </a:r>
            <a:endParaRPr lang="fr-FR" dirty="0"/>
          </a:p>
          <a:p>
            <a:pPr lvl="1"/>
            <a:r>
              <a:rPr lang="fr-FR" dirty="0"/>
              <a:t>…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1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выполнения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95800"/>
          </a:xfrm>
        </p:spPr>
        <p:txBody>
          <a:bodyPr/>
          <a:lstStyle/>
          <a:p>
            <a:r>
              <a:rPr lang="ru-RU" dirty="0"/>
              <a:t>Выбор темы</a:t>
            </a:r>
          </a:p>
          <a:p>
            <a:r>
              <a:rPr lang="ru-RU" dirty="0"/>
              <a:t>Составление плана работы</a:t>
            </a:r>
          </a:p>
          <a:p>
            <a:r>
              <a:rPr lang="ru-RU" dirty="0"/>
              <a:t>Обзор и анализ источников</a:t>
            </a:r>
          </a:p>
          <a:p>
            <a:r>
              <a:rPr lang="ru-RU" dirty="0"/>
              <a:t>Разработка программы</a:t>
            </a:r>
          </a:p>
          <a:p>
            <a:r>
              <a:rPr lang="ru-RU" dirty="0"/>
              <a:t>Проведение экспериментов</a:t>
            </a:r>
          </a:p>
          <a:p>
            <a:r>
              <a:rPr lang="ru-RU" dirty="0"/>
              <a:t>Написание текста курсового проекта</a:t>
            </a:r>
          </a:p>
          <a:p>
            <a:r>
              <a:rPr lang="ru-RU" dirty="0"/>
              <a:t>Подготовка к защите</a:t>
            </a:r>
          </a:p>
        </p:txBody>
      </p:sp>
    </p:spTree>
    <p:extLst>
      <p:ext uri="{BB962C8B-B14F-4D97-AF65-F5344CB8AC3E}">
        <p14:creationId xmlns:p14="http://schemas.microsoft.com/office/powerpoint/2010/main" val="285330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выполнения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534400" cy="4648200"/>
          </a:xfrm>
        </p:spPr>
        <p:txBody>
          <a:bodyPr/>
          <a:lstStyle/>
          <a:p>
            <a:r>
              <a:rPr lang="ru-RU" dirty="0"/>
              <a:t>Получать удовольствие</a:t>
            </a:r>
          </a:p>
          <a:p>
            <a:r>
              <a:rPr lang="ru-RU" dirty="0"/>
              <a:t>Не откладывать</a:t>
            </a:r>
          </a:p>
          <a:p>
            <a:r>
              <a:rPr lang="ru-RU" dirty="0"/>
              <a:t>Регулярные консультации</a:t>
            </a:r>
          </a:p>
          <a:p>
            <a:pPr lvl="1"/>
            <a:r>
              <a:rPr lang="ru-RU" dirty="0"/>
              <a:t>не реже чем 1 раз в 2 недели</a:t>
            </a:r>
          </a:p>
          <a:p>
            <a:pPr lvl="1"/>
            <a:r>
              <a:rPr lang="ru-RU" dirty="0"/>
              <a:t>мелкие проблемы решать самостоятельно</a:t>
            </a:r>
          </a:p>
          <a:p>
            <a:r>
              <a:rPr lang="ru-RU" dirty="0"/>
              <a:t>Обоснование каждого выбора</a:t>
            </a:r>
          </a:p>
          <a:p>
            <a:r>
              <a:rPr lang="ru-RU" dirty="0"/>
              <a:t>Больше читать (способ научиться писать)</a:t>
            </a:r>
          </a:p>
          <a:p>
            <a:pPr lvl="1"/>
            <a:r>
              <a:rPr lang="ru-RU" dirty="0"/>
              <a:t>Выписывать источники: </a:t>
            </a:r>
            <a:r>
              <a:rPr lang="en-US" dirty="0"/>
              <a:t>[</a:t>
            </a:r>
            <a:r>
              <a:rPr lang="ru-RU" dirty="0"/>
              <a:t>Окулов, 2012, с. 150</a:t>
            </a:r>
            <a:r>
              <a:rPr lang="en-US" dirty="0"/>
              <a:t>]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3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Выбрать тему курсового проекта</a:t>
            </a:r>
          </a:p>
          <a:p>
            <a:r>
              <a:rPr lang="ru-RU" dirty="0"/>
              <a:t>Обсудить с руководителем план работы</a:t>
            </a:r>
          </a:p>
          <a:p>
            <a:r>
              <a:rPr lang="ru-RU" dirty="0"/>
              <a:t>Найти 2-3 публикации по тематике</a:t>
            </a:r>
          </a:p>
        </p:txBody>
      </p:sp>
    </p:spTree>
    <p:extLst>
      <p:ext uri="{BB962C8B-B14F-4D97-AF65-F5344CB8AC3E}">
        <p14:creationId xmlns:p14="http://schemas.microsoft.com/office/powerpoint/2010/main" val="88198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1460</TotalTime>
  <Words>971</Words>
  <Application>Microsoft Office PowerPoint</Application>
  <PresentationFormat>Экран (4:3)</PresentationFormat>
  <Paragraphs>201</Paragraphs>
  <Slides>37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Arial</vt:lpstr>
      <vt:lpstr>Arial Black</vt:lpstr>
      <vt:lpstr>Cambria Math</vt:lpstr>
      <vt:lpstr>Times New Roman</vt:lpstr>
      <vt:lpstr>Wingdings</vt:lpstr>
      <vt:lpstr>Пиксел</vt:lpstr>
      <vt:lpstr>Введение</vt:lpstr>
      <vt:lpstr>План лекции</vt:lpstr>
      <vt:lpstr>Цель курса</vt:lpstr>
      <vt:lpstr>Цель курса</vt:lpstr>
      <vt:lpstr>Цель курса</vt:lpstr>
      <vt:lpstr>Основные понятия</vt:lpstr>
      <vt:lpstr>Основные понятия</vt:lpstr>
      <vt:lpstr>Основные понятия</vt:lpstr>
      <vt:lpstr>Основные понятия</vt:lpstr>
      <vt:lpstr>Основные понятия</vt:lpstr>
      <vt:lpstr>Научные публикации</vt:lpstr>
      <vt:lpstr>Виды публикаций</vt:lpstr>
      <vt:lpstr>Виды публикаций</vt:lpstr>
      <vt:lpstr>Критерии качества</vt:lpstr>
      <vt:lpstr>Критерии качества: рецензирование</vt:lpstr>
      <vt:lpstr>Критерии качества: рецензирование</vt:lpstr>
      <vt:lpstr>Критерии качества: рецензирование</vt:lpstr>
      <vt:lpstr>Критерии качества: цитирование</vt:lpstr>
      <vt:lpstr>Системы цитирования</vt:lpstr>
      <vt:lpstr>Полезные ресурсы</vt:lpstr>
      <vt:lpstr>Научная этика</vt:lpstr>
      <vt:lpstr>Научная этика</vt:lpstr>
      <vt:lpstr>Курсовой проект</vt:lpstr>
      <vt:lpstr>Курсовой проект</vt:lpstr>
      <vt:lpstr>Структура курсового проекта</vt:lpstr>
      <vt:lpstr>Титульный лист</vt:lpstr>
      <vt:lpstr>Оглавление</vt:lpstr>
      <vt:lpstr>Введение</vt:lpstr>
      <vt:lpstr>Глава 1. Теоретическая</vt:lpstr>
      <vt:lpstr>Глава 2. Практическая</vt:lpstr>
      <vt:lpstr>Заключение</vt:lpstr>
      <vt:lpstr>Библиографический список</vt:lpstr>
      <vt:lpstr>Приложения</vt:lpstr>
      <vt:lpstr>Плагиат/антиплагиат</vt:lpstr>
      <vt:lpstr>План выполнения работы</vt:lpstr>
      <vt:lpstr>План выполнения работы</vt:lpstr>
      <vt:lpstr>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Евгений</dc:creator>
  <cp:lastModifiedBy>Евгений</cp:lastModifiedBy>
  <cp:revision>106</cp:revision>
  <cp:lastPrinted>1601-01-01T00:00:00Z</cp:lastPrinted>
  <dcterms:created xsi:type="dcterms:W3CDTF">1601-01-01T00:00:00Z</dcterms:created>
  <dcterms:modified xsi:type="dcterms:W3CDTF">2020-02-09T13:27:11Z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