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notesMasterIdLst>
    <p:notesMasterId r:id="rId47"/>
  </p:notesMasterIdLst>
  <p:sldIdLst>
    <p:sldId id="256" r:id="rId2"/>
    <p:sldId id="257" r:id="rId3"/>
    <p:sldId id="271" r:id="rId4"/>
    <p:sldId id="272" r:id="rId5"/>
    <p:sldId id="274" r:id="rId6"/>
    <p:sldId id="278" r:id="rId7"/>
    <p:sldId id="277" r:id="rId8"/>
    <p:sldId id="273" r:id="rId9"/>
    <p:sldId id="276" r:id="rId10"/>
    <p:sldId id="275" r:id="rId11"/>
    <p:sldId id="294" r:id="rId12"/>
    <p:sldId id="313" r:id="rId13"/>
    <p:sldId id="265" r:id="rId14"/>
    <p:sldId id="264" r:id="rId15"/>
    <p:sldId id="258" r:id="rId16"/>
    <p:sldId id="269" r:id="rId17"/>
    <p:sldId id="268" r:id="rId18"/>
    <p:sldId id="314" r:id="rId19"/>
    <p:sldId id="263" r:id="rId20"/>
    <p:sldId id="282" r:id="rId21"/>
    <p:sldId id="283" r:id="rId22"/>
    <p:sldId id="266" r:id="rId23"/>
    <p:sldId id="281" r:id="rId24"/>
    <p:sldId id="267" r:id="rId25"/>
    <p:sldId id="270" r:id="rId26"/>
    <p:sldId id="285" r:id="rId27"/>
    <p:sldId id="286" r:id="rId28"/>
    <p:sldId id="287" r:id="rId29"/>
    <p:sldId id="288" r:id="rId30"/>
    <p:sldId id="290" r:id="rId31"/>
    <p:sldId id="284" r:id="rId32"/>
    <p:sldId id="289" r:id="rId33"/>
    <p:sldId id="291" r:id="rId34"/>
    <p:sldId id="292" r:id="rId35"/>
    <p:sldId id="302" r:id="rId36"/>
    <p:sldId id="303" r:id="rId37"/>
    <p:sldId id="304" r:id="rId38"/>
    <p:sldId id="312" r:id="rId39"/>
    <p:sldId id="306" r:id="rId40"/>
    <p:sldId id="307" r:id="rId41"/>
    <p:sldId id="308" r:id="rId42"/>
    <p:sldId id="309" r:id="rId43"/>
    <p:sldId id="310" r:id="rId44"/>
    <p:sldId id="311" r:id="rId45"/>
    <p:sldId id="296" r:id="rId46"/>
  </p:sldIdLst>
  <p:sldSz cx="9144000" cy="6858000" type="screen4x3"/>
  <p:notesSz cx="6858000" cy="9144000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542" autoAdjust="0"/>
  </p:normalViewPr>
  <p:slideViewPr>
    <p:cSldViewPr>
      <p:cViewPr varScale="1">
        <p:scale>
          <a:sx n="83" d="100"/>
          <a:sy n="83" d="100"/>
        </p:scale>
        <p:origin x="137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F005E36A-8EDC-4E31-9B63-285D193767E0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8747309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B8259CC-53A9-4F68-9122-BD3ED8262002}" type="slidenum">
              <a:rPr lang="ru-RU" altLang="ru-RU"/>
              <a:pPr>
                <a:spcBef>
                  <a:spcPct val="0"/>
                </a:spcBef>
              </a:pPr>
              <a:t>1</a:t>
            </a:fld>
            <a:endParaRPr lang="ru-RU" altLang="ru-RU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 alt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51349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ru-RU" altLang="ru-RU" sz="2400">
                <a:latin typeface="Times New Roman" panose="02020603050405020304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ru-RU" altLang="ru-RU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025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1026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FB21968-7D78-415F-BB78-B24E80990A05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131096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AD0CF8-1480-4D28-93BE-4B08BBA353DB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4317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35884F-A277-4175-8F8C-0F05779891DE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3096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DE7C33-4100-4D99-B93D-5114B364E0A0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1931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15EA52-F79E-4862-9A0C-CF38FD33A758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2874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670AEA-0D0E-4630-AF00-4FC21D906821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5293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F4159F-ED31-4607-9E7D-37127597B473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6629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F51E40-0D4A-42C3-9DA9-FB0F440AB02B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8550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5B163-6156-4C3C-B7BB-5E9DB471F366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025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2B81E2-802C-447D-96C7-5BE0491EF060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0309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3ED459-2ACC-46C2-BBB6-5F4EEF02E70F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542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FC514E1B-10C4-4637-98B6-CD0A443837D6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ru-RU" altLang="ru-RU" sz="2400"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ru-RU" altLang="ru-RU" sz="2400">
                <a:latin typeface="Times New Roman" panose="02020603050405020304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ru-RU" altLang="ru-RU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ru-RU" altLang="ru-RU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ru-RU" altLang="ru-RU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ru-RU" altLang="ru-RU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ru-RU" altLang="ru-RU" sz="2400">
                <a:latin typeface="Times New Roman" panose="02020603050405020304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ru-RU" altLang="ru-RU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ru-RU" altLang="ru-RU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923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172200" cy="2209800"/>
          </a:xfrm>
        </p:spPr>
        <p:txBody>
          <a:bodyPr/>
          <a:lstStyle/>
          <a:p>
            <a:pPr eaLnBrk="1" hangingPunct="1"/>
            <a:r>
              <a:rPr lang="ru-RU" altLang="ru-RU" b="1" dirty="0"/>
              <a:t>Актуальность, цель, задачи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ru-RU" altLang="ru-RU" dirty="0"/>
              <a:t>Лекция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План лекции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Тема исследования</a:t>
            </a:r>
          </a:p>
          <a:p>
            <a:r>
              <a:rPr lang="ru-RU" dirty="0"/>
              <a:t>Введение</a:t>
            </a:r>
          </a:p>
          <a:p>
            <a:r>
              <a:rPr lang="ru-RU" dirty="0"/>
              <a:t>Актуальность исследования</a:t>
            </a:r>
          </a:p>
          <a:p>
            <a:r>
              <a:rPr lang="ru-RU" dirty="0"/>
              <a:t>Цель и задачи исследования</a:t>
            </a:r>
          </a:p>
          <a:p>
            <a:r>
              <a:rPr lang="ru-RU" dirty="0"/>
              <a:t>Содержание исследования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80963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1000" y="2057400"/>
            <a:ext cx="8229600" cy="1371600"/>
          </a:xfrm>
        </p:spPr>
        <p:txBody>
          <a:bodyPr/>
          <a:lstStyle/>
          <a:p>
            <a:pPr algn="ctr"/>
            <a:r>
              <a:rPr lang="ru-RU" b="1" dirty="0"/>
              <a:t>Тема исследования</a:t>
            </a:r>
          </a:p>
        </p:txBody>
      </p:sp>
    </p:spTree>
    <p:extLst>
      <p:ext uri="{BB962C8B-B14F-4D97-AF65-F5344CB8AC3E}">
        <p14:creationId xmlns:p14="http://schemas.microsoft.com/office/powerpoint/2010/main" val="1732456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Тема исследования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Виды курсовых работ:</a:t>
            </a:r>
          </a:p>
          <a:p>
            <a:r>
              <a:rPr lang="ru-RU" dirty="0"/>
              <a:t>реферат</a:t>
            </a:r>
          </a:p>
        </p:txBody>
      </p:sp>
    </p:spTree>
    <p:extLst>
      <p:ext uri="{BB962C8B-B14F-4D97-AF65-F5344CB8AC3E}">
        <p14:creationId xmlns:p14="http://schemas.microsoft.com/office/powerpoint/2010/main" val="3055323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Тема исследования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Виды курсовых работ:</a:t>
            </a:r>
          </a:p>
          <a:p>
            <a:r>
              <a:rPr lang="ru-RU" strike="sngStrike" dirty="0"/>
              <a:t>реферат</a:t>
            </a:r>
          </a:p>
        </p:txBody>
      </p:sp>
    </p:spTree>
    <p:extLst>
      <p:ext uri="{BB962C8B-B14F-4D97-AF65-F5344CB8AC3E}">
        <p14:creationId xmlns:p14="http://schemas.microsoft.com/office/powerpoint/2010/main" val="22549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Тема исследования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Виды курсовых работ:</a:t>
            </a:r>
          </a:p>
          <a:p>
            <a:r>
              <a:rPr lang="ru-RU" strike="sngStrike" dirty="0"/>
              <a:t>реферат</a:t>
            </a:r>
          </a:p>
          <a:p>
            <a:r>
              <a:rPr lang="ru-RU" dirty="0"/>
              <a:t>сравнительный анализ</a:t>
            </a:r>
          </a:p>
        </p:txBody>
      </p:sp>
    </p:spTree>
    <p:extLst>
      <p:ext uri="{BB962C8B-B14F-4D97-AF65-F5344CB8AC3E}">
        <p14:creationId xmlns:p14="http://schemas.microsoft.com/office/powerpoint/2010/main" val="1369187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Тема исследования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Виды курсовых работ:</a:t>
            </a:r>
          </a:p>
          <a:p>
            <a:r>
              <a:rPr lang="ru-RU" strike="sngStrike" dirty="0"/>
              <a:t>реферат</a:t>
            </a:r>
          </a:p>
          <a:p>
            <a:r>
              <a:rPr lang="ru-RU" dirty="0"/>
              <a:t>сравнительный анализ</a:t>
            </a:r>
          </a:p>
          <a:p>
            <a:r>
              <a:rPr lang="ru-RU" dirty="0"/>
              <a:t>разработка программы</a:t>
            </a:r>
          </a:p>
        </p:txBody>
      </p:sp>
    </p:spTree>
    <p:extLst>
      <p:ext uri="{BB962C8B-B14F-4D97-AF65-F5344CB8AC3E}">
        <p14:creationId xmlns:p14="http://schemas.microsoft.com/office/powerpoint/2010/main" val="4015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Тема исследования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Виды курсовых работ:</a:t>
            </a:r>
          </a:p>
          <a:p>
            <a:r>
              <a:rPr lang="ru-RU" strike="sngStrike" dirty="0"/>
              <a:t>реферат</a:t>
            </a:r>
          </a:p>
          <a:p>
            <a:r>
              <a:rPr lang="ru-RU" dirty="0"/>
              <a:t>сравнительный анализ</a:t>
            </a:r>
          </a:p>
          <a:p>
            <a:r>
              <a:rPr lang="ru-RU" dirty="0"/>
              <a:t>разработка программы</a:t>
            </a:r>
          </a:p>
          <a:p>
            <a:r>
              <a:rPr lang="ru-RU" dirty="0"/>
              <a:t>разработка метода/алгоритма</a:t>
            </a:r>
          </a:p>
        </p:txBody>
      </p:sp>
    </p:spTree>
    <p:extLst>
      <p:ext uri="{BB962C8B-B14F-4D97-AF65-F5344CB8AC3E}">
        <p14:creationId xmlns:p14="http://schemas.microsoft.com/office/powerpoint/2010/main" val="2937488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Тема исследования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981200"/>
                <a:ext cx="8229600" cy="4191000"/>
              </a:xfrm>
            </p:spPr>
            <p:txBody>
              <a:bodyPr/>
              <a:lstStyle/>
              <a:p>
                <a:r>
                  <a:rPr lang="ru-RU" dirty="0"/>
                  <a:t>Оценка курсовой работы: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Оценка=</m:t>
                      </m:r>
                      <m:sSub>
                        <m:sSubPr>
                          <m:ctrlPr>
                            <a:rPr lang="ru-R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ан</m:t>
                          </m:r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ан</m:t>
                          </m:r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пр</m:t>
                          </m:r>
                        </m:sub>
                      </m:sSub>
                      <m:r>
                        <a:rPr lang="ru-R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пр</m:t>
                          </m:r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алг</m:t>
                          </m:r>
                        </m:sub>
                      </m:sSub>
                      <m:r>
                        <a:rPr lang="ru-R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алг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где:</a:t>
                </a: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качество выполнения работы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объем работы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981200"/>
                <a:ext cx="8229600" cy="4191000"/>
              </a:xfrm>
              <a:blipFill rotWithShape="0">
                <a:blip r:embed="rId2"/>
                <a:stretch>
                  <a:fillRect l="-1852" t="-1890" b="-10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3750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Тема исследования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i="1" dirty="0"/>
              <a:t>Тема</a:t>
            </a:r>
            <a:r>
              <a:rPr lang="ru-RU" dirty="0"/>
              <a:t> – это лаконичное и четкое ограничение аспектов исследуемой области</a:t>
            </a:r>
          </a:p>
          <a:p>
            <a:r>
              <a:rPr lang="ru-RU" dirty="0"/>
              <a:t>Из формулировки темы должно быть ясно в общих чертах содержание исследования</a:t>
            </a:r>
          </a:p>
        </p:txBody>
      </p:sp>
    </p:spTree>
    <p:extLst>
      <p:ext uri="{BB962C8B-B14F-4D97-AF65-F5344CB8AC3E}">
        <p14:creationId xmlns:p14="http://schemas.microsoft.com/office/powerpoint/2010/main" val="1484617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Тема исследования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Тема должна выходить за рамки учебных дисциплин</a:t>
            </a:r>
          </a:p>
        </p:txBody>
      </p:sp>
    </p:spTree>
    <p:extLst>
      <p:ext uri="{BB962C8B-B14F-4D97-AF65-F5344CB8AC3E}">
        <p14:creationId xmlns:p14="http://schemas.microsoft.com/office/powerpoint/2010/main" val="177018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133600"/>
            <a:ext cx="8229600" cy="1371600"/>
          </a:xfrm>
        </p:spPr>
        <p:txBody>
          <a:bodyPr/>
          <a:lstStyle/>
          <a:p>
            <a:pPr algn="ctr"/>
            <a:r>
              <a:rPr lang="ru-RU" b="1" dirty="0"/>
              <a:t>Введение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216519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Введение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Раздел «Введение» – важнейшая часть курсовой работы</a:t>
            </a:r>
          </a:p>
          <a:p>
            <a:pPr lvl="1"/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70225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Введение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Раздел «Введение» – важнейшая часть курсовой работы</a:t>
            </a:r>
          </a:p>
          <a:p>
            <a:pPr lvl="1"/>
            <a:r>
              <a:rPr lang="ru-RU" dirty="0"/>
              <a:t>По нему будут судить о всей работе</a:t>
            </a:r>
          </a:p>
          <a:p>
            <a:pPr lvl="1"/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3907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Введение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Раздел «Введение» – важнейшая часть курсовой работы</a:t>
            </a:r>
          </a:p>
          <a:p>
            <a:pPr lvl="1"/>
            <a:r>
              <a:rPr lang="ru-RU" dirty="0"/>
              <a:t>По нему будут судить о всей работе</a:t>
            </a:r>
          </a:p>
          <a:p>
            <a:pPr lvl="1"/>
            <a:r>
              <a:rPr lang="ru-RU" dirty="0"/>
              <a:t>Некоторые прочитают только Введение</a:t>
            </a:r>
          </a:p>
          <a:p>
            <a:pPr lvl="1"/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88571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Введение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Раздел «Введение» – важнейшая часть курсовой работы</a:t>
            </a:r>
          </a:p>
          <a:p>
            <a:pPr lvl="1"/>
            <a:r>
              <a:rPr lang="ru-RU" dirty="0"/>
              <a:t>По нему будут судить о всей работе</a:t>
            </a:r>
          </a:p>
          <a:p>
            <a:pPr lvl="1"/>
            <a:r>
              <a:rPr lang="ru-RU" dirty="0"/>
              <a:t>Некоторые прочитают только Введение</a:t>
            </a:r>
          </a:p>
          <a:p>
            <a:r>
              <a:rPr lang="ru-RU" dirty="0"/>
              <a:t>Несколько итераций</a:t>
            </a:r>
          </a:p>
          <a:p>
            <a:pPr lvl="1"/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28890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Введение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Раздел «Введение» – важнейшая часть курсовой работы</a:t>
            </a:r>
          </a:p>
          <a:p>
            <a:pPr lvl="1"/>
            <a:r>
              <a:rPr lang="ru-RU" dirty="0"/>
              <a:t>По нему будут судить о всей работе</a:t>
            </a:r>
          </a:p>
          <a:p>
            <a:pPr lvl="1"/>
            <a:r>
              <a:rPr lang="ru-RU" dirty="0"/>
              <a:t>Некоторые прочитают только Введение</a:t>
            </a:r>
          </a:p>
          <a:p>
            <a:r>
              <a:rPr lang="ru-RU" dirty="0"/>
              <a:t>Несколько итераций</a:t>
            </a:r>
          </a:p>
          <a:p>
            <a:pPr lvl="1"/>
            <a:r>
              <a:rPr lang="ru-RU" dirty="0"/>
              <a:t>Последняя – в самом конце исследования</a:t>
            </a:r>
          </a:p>
          <a:p>
            <a:pPr lvl="1"/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37091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Введение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Структура:</a:t>
            </a:r>
          </a:p>
          <a:p>
            <a:pPr lvl="1"/>
            <a:r>
              <a:rPr lang="ru-RU" dirty="0"/>
              <a:t>Актуальность</a:t>
            </a:r>
          </a:p>
          <a:p>
            <a:pPr lvl="1"/>
            <a:r>
              <a:rPr lang="ru-RU" dirty="0"/>
              <a:t>Проблема</a:t>
            </a:r>
          </a:p>
          <a:p>
            <a:pPr lvl="1"/>
            <a:r>
              <a:rPr lang="ru-RU" dirty="0"/>
              <a:t>Цель</a:t>
            </a:r>
          </a:p>
          <a:p>
            <a:pPr lvl="1"/>
            <a:r>
              <a:rPr lang="ru-RU" dirty="0"/>
              <a:t>Задачи</a:t>
            </a:r>
          </a:p>
          <a:p>
            <a:pPr lvl="1"/>
            <a:r>
              <a:rPr lang="ru-RU" dirty="0"/>
              <a:t>Краткое содержание работы</a:t>
            </a:r>
          </a:p>
          <a:p>
            <a:pPr lvl="1"/>
            <a:endParaRPr lang="ru-RU" dirty="0"/>
          </a:p>
          <a:p>
            <a:pPr lvl="1"/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81443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133600"/>
            <a:ext cx="8229600" cy="1371600"/>
          </a:xfrm>
        </p:spPr>
        <p:txBody>
          <a:bodyPr/>
          <a:lstStyle/>
          <a:p>
            <a:pPr algn="ctr"/>
            <a:r>
              <a:rPr lang="ru-RU" b="1" dirty="0"/>
              <a:t>Актуальность исследования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76390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Актуальность исследования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i="1" dirty="0"/>
              <a:t>Актуальность исследования</a:t>
            </a:r>
            <a:br>
              <a:rPr lang="ru-RU" dirty="0"/>
            </a:br>
            <a:r>
              <a:rPr lang="ru-RU" dirty="0"/>
              <a:t>– это степень его важности в данный момент и в конкретной ситуации</a:t>
            </a:r>
            <a:br>
              <a:rPr lang="ru-RU" dirty="0"/>
            </a:br>
            <a:r>
              <a:rPr lang="ru-RU" dirty="0"/>
              <a:t>для решения стоящей перед исследователем проблемы</a:t>
            </a:r>
          </a:p>
        </p:txBody>
      </p:sp>
    </p:spTree>
    <p:extLst>
      <p:ext uri="{BB962C8B-B14F-4D97-AF65-F5344CB8AC3E}">
        <p14:creationId xmlns:p14="http://schemas.microsoft.com/office/powerpoint/2010/main" val="15054692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Актуальность исследования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64820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Условия актуальности:</a:t>
            </a:r>
          </a:p>
          <a:p>
            <a:r>
              <a:rPr lang="ru-RU" dirty="0"/>
              <a:t>отсутствие известных решений задачи</a:t>
            </a:r>
          </a:p>
          <a:p>
            <a:r>
              <a:rPr lang="ru-RU" dirty="0"/>
              <a:t>неудовлетворительное решение задачи</a:t>
            </a:r>
          </a:p>
          <a:p>
            <a:pPr lvl="1"/>
            <a:r>
              <a:rPr lang="ru-RU" dirty="0"/>
              <a:t>критерии</a:t>
            </a:r>
          </a:p>
        </p:txBody>
      </p:sp>
    </p:spTree>
    <p:extLst>
      <p:ext uri="{BB962C8B-B14F-4D97-AF65-F5344CB8AC3E}">
        <p14:creationId xmlns:p14="http://schemas.microsoft.com/office/powerpoint/2010/main" val="3762855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Актуальность исследования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981200"/>
            <a:ext cx="8686800" cy="4572000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dirty="0"/>
              <a:t>План написания раздела актуальности:</a:t>
            </a:r>
          </a:p>
          <a:p>
            <a:pPr>
              <a:defRPr/>
            </a:pPr>
            <a:r>
              <a:rPr lang="ru-RU" dirty="0"/>
              <a:t>современное состояние исследований</a:t>
            </a:r>
            <a:br>
              <a:rPr lang="ru-RU" dirty="0"/>
            </a:br>
            <a:r>
              <a:rPr lang="ru-RU" dirty="0"/>
              <a:t>в предметной области</a:t>
            </a:r>
            <a:endParaRPr lang="ru-RU" sz="2600" dirty="0"/>
          </a:p>
          <a:p>
            <a:pPr>
              <a:defRPr/>
            </a:pPr>
            <a:r>
              <a:rPr lang="ru-RU" dirty="0"/>
              <a:t>проблема исследования</a:t>
            </a:r>
          </a:p>
          <a:p>
            <a:pPr>
              <a:defRPr/>
            </a:pPr>
            <a:r>
              <a:rPr lang="ru-RU" dirty="0"/>
              <a:t>обозначение подходов, с помощью которых собираетесь решать проблему</a:t>
            </a:r>
            <a:endParaRPr lang="ru-RU" sz="2600" dirty="0"/>
          </a:p>
        </p:txBody>
      </p:sp>
    </p:spTree>
    <p:extLst>
      <p:ext uri="{BB962C8B-B14F-4D97-AF65-F5344CB8AC3E}">
        <p14:creationId xmlns:p14="http://schemas.microsoft.com/office/powerpoint/2010/main" val="41636476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Актуальность исследования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Современное состояние исследований:</a:t>
            </a:r>
          </a:p>
          <a:p>
            <a:r>
              <a:rPr lang="ru-RU" dirty="0"/>
              <a:t>краткое описание предметной области</a:t>
            </a:r>
          </a:p>
          <a:p>
            <a:r>
              <a:rPr lang="ru-RU" dirty="0"/>
              <a:t>основные задачи, решаемые в области</a:t>
            </a:r>
          </a:p>
          <a:p>
            <a:r>
              <a:rPr lang="ru-RU" dirty="0"/>
              <a:t>основные подходы</a:t>
            </a:r>
          </a:p>
          <a:p>
            <a:pPr>
              <a:defRPr/>
            </a:pPr>
            <a:r>
              <a:rPr lang="ru-RU" dirty="0"/>
              <a:t>основные имена</a:t>
            </a:r>
          </a:p>
          <a:p>
            <a:pPr lvl="1">
              <a:defRPr/>
            </a:pPr>
            <a:r>
              <a:rPr lang="ru-RU" dirty="0"/>
              <a:t>российские и зарубежные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12128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Актуальность исследования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419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Современное состояние исследований:</a:t>
            </a:r>
          </a:p>
          <a:p>
            <a:r>
              <a:rPr lang="ru-RU" dirty="0"/>
              <a:t>предельно конкретно, без лозунгов</a:t>
            </a:r>
          </a:p>
          <a:p>
            <a:r>
              <a:rPr lang="ru-RU" dirty="0"/>
              <a:t>желательно использовать ссылки</a:t>
            </a:r>
          </a:p>
          <a:p>
            <a:pPr lvl="1"/>
            <a:r>
              <a:rPr lang="ru-RU" dirty="0"/>
              <a:t>обзорные работы</a:t>
            </a:r>
          </a:p>
          <a:p>
            <a:r>
              <a:rPr lang="ru-RU" dirty="0"/>
              <a:t>логичность изложения</a:t>
            </a:r>
          </a:p>
          <a:p>
            <a:r>
              <a:rPr lang="ru-RU" dirty="0"/>
              <a:t>выделять смысловые блоки</a:t>
            </a:r>
            <a:br>
              <a:rPr lang="ru-RU" dirty="0"/>
            </a:br>
            <a:r>
              <a:rPr lang="ru-RU" dirty="0"/>
              <a:t>и связывать их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335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Актуальность исследования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i="1" dirty="0"/>
              <a:t>Проблема исследования –</a:t>
            </a:r>
            <a:r>
              <a:rPr lang="ru-RU" dirty="0"/>
              <a:t> это сложная ситуация, требующая разрешения:</a:t>
            </a:r>
          </a:p>
          <a:p>
            <a:r>
              <a:rPr lang="ru-RU" dirty="0"/>
              <a:t>«противоречие …»</a:t>
            </a:r>
          </a:p>
          <a:p>
            <a:r>
              <a:rPr lang="ru-RU" dirty="0"/>
              <a:t>«несоответствие …»</a:t>
            </a:r>
          </a:p>
          <a:p>
            <a:r>
              <a:rPr lang="ru-RU" dirty="0"/>
              <a:t>«отсутствие …»</a:t>
            </a:r>
          </a:p>
          <a:p>
            <a:r>
              <a:rPr lang="ru-RU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3200338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1000" y="2209800"/>
            <a:ext cx="8229600" cy="1371600"/>
          </a:xfrm>
        </p:spPr>
        <p:txBody>
          <a:bodyPr/>
          <a:lstStyle/>
          <a:p>
            <a:pPr algn="ctr"/>
            <a:r>
              <a:rPr lang="ru-RU" b="1" dirty="0"/>
              <a:t>Цель и задачи исследования</a:t>
            </a:r>
          </a:p>
        </p:txBody>
      </p:sp>
    </p:spTree>
    <p:extLst>
      <p:ext uri="{BB962C8B-B14F-4D97-AF65-F5344CB8AC3E}">
        <p14:creationId xmlns:p14="http://schemas.microsoft.com/office/powerpoint/2010/main" val="23708013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382000" cy="1371600"/>
          </a:xfrm>
        </p:spPr>
        <p:txBody>
          <a:bodyPr/>
          <a:lstStyle/>
          <a:p>
            <a:r>
              <a:rPr lang="ru-RU" b="1" dirty="0"/>
              <a:t>Цель и задачи исследования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981200"/>
            <a:ext cx="8686800" cy="3886200"/>
          </a:xfrm>
        </p:spPr>
        <p:txBody>
          <a:bodyPr/>
          <a:lstStyle/>
          <a:p>
            <a:r>
              <a:rPr lang="ru-RU" dirty="0"/>
              <a:t>Цель – описание сути решения проблемы</a:t>
            </a:r>
          </a:p>
          <a:p>
            <a:r>
              <a:rPr lang="ru-RU" dirty="0"/>
              <a:t>Цель – то, что хотим получить</a:t>
            </a:r>
            <a:br>
              <a:rPr lang="ru-RU" dirty="0"/>
            </a:br>
            <a:r>
              <a:rPr lang="ru-RU" dirty="0"/>
              <a:t>в результате выполнения исследования</a:t>
            </a:r>
          </a:p>
        </p:txBody>
      </p:sp>
    </p:spTree>
    <p:extLst>
      <p:ext uri="{BB962C8B-B14F-4D97-AF65-F5344CB8AC3E}">
        <p14:creationId xmlns:p14="http://schemas.microsoft.com/office/powerpoint/2010/main" val="3164980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382000" cy="1371600"/>
          </a:xfrm>
        </p:spPr>
        <p:txBody>
          <a:bodyPr/>
          <a:lstStyle/>
          <a:p>
            <a:r>
              <a:rPr lang="ru-RU" b="1" dirty="0"/>
              <a:t>Цель и задачи исследования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981200"/>
            <a:ext cx="8686800" cy="3886200"/>
          </a:xfrm>
        </p:spPr>
        <p:txBody>
          <a:bodyPr/>
          <a:lstStyle/>
          <a:p>
            <a:r>
              <a:rPr lang="ru-RU" dirty="0"/>
              <a:t>Задачи – те действия, которые необходимо выполнить для достижения поставленной цели</a:t>
            </a:r>
          </a:p>
          <a:p>
            <a:r>
              <a:rPr lang="ru-RU" dirty="0"/>
              <a:t>Цель – одна, задач – несколько</a:t>
            </a:r>
          </a:p>
          <a:p>
            <a:r>
              <a:rPr lang="ru-RU" dirty="0"/>
              <a:t>Обычно задач от 3 до 6</a:t>
            </a:r>
            <a:endParaRPr lang="ru-RU" i="1" dirty="0"/>
          </a:p>
          <a:p>
            <a:r>
              <a:rPr lang="ru-RU" dirty="0"/>
              <a:t>Цель </a:t>
            </a:r>
            <a:r>
              <a:rPr lang="ru-RU" i="1" dirty="0"/>
              <a:t>достигается</a:t>
            </a:r>
            <a:r>
              <a:rPr lang="ru-RU" dirty="0"/>
              <a:t>, задачи </a:t>
            </a:r>
            <a:r>
              <a:rPr lang="ru-RU" i="1" dirty="0"/>
              <a:t>решаются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5950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382000" cy="1371600"/>
          </a:xfrm>
        </p:spPr>
        <p:txBody>
          <a:bodyPr/>
          <a:lstStyle/>
          <a:p>
            <a:r>
              <a:rPr lang="ru-RU" b="1" dirty="0"/>
              <a:t>Цель и задачи исследования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981200"/>
            <a:ext cx="8610600" cy="426720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Типичные задачи:</a:t>
            </a:r>
          </a:p>
          <a:p>
            <a:r>
              <a:rPr lang="ru-RU" dirty="0"/>
              <a:t>обзор литературы по предметной области исследования</a:t>
            </a:r>
          </a:p>
          <a:p>
            <a:r>
              <a:rPr lang="ru-RU" dirty="0"/>
              <a:t>обоснование выбора …</a:t>
            </a:r>
          </a:p>
          <a:p>
            <a:r>
              <a:rPr lang="ru-RU" dirty="0"/>
              <a:t>разработка методов/алгоритмов</a:t>
            </a:r>
          </a:p>
          <a:p>
            <a:r>
              <a:rPr lang="ru-RU" dirty="0"/>
              <a:t>разработка программы</a:t>
            </a:r>
          </a:p>
          <a:p>
            <a:r>
              <a:rPr lang="ru-RU" dirty="0"/>
              <a:t>экспериментальное исследование </a:t>
            </a:r>
          </a:p>
        </p:txBody>
      </p:sp>
    </p:spTree>
    <p:extLst>
      <p:ext uri="{BB962C8B-B14F-4D97-AF65-F5344CB8AC3E}">
        <p14:creationId xmlns:p14="http://schemas.microsoft.com/office/powerpoint/2010/main" val="8442353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382000" cy="1371600"/>
          </a:xfrm>
        </p:spPr>
        <p:txBody>
          <a:bodyPr/>
          <a:lstStyle/>
          <a:p>
            <a:r>
              <a:rPr lang="ru-RU" b="1" dirty="0"/>
              <a:t>Цель и задачи исследования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Задачи исследования должны соответствовать результатам,</a:t>
            </a:r>
            <a:br>
              <a:rPr lang="ru-RU" dirty="0"/>
            </a:br>
            <a:r>
              <a:rPr lang="ru-RU" dirty="0"/>
              <a:t>которые будут защищаться</a:t>
            </a:r>
          </a:p>
          <a:p>
            <a:r>
              <a:rPr lang="ru-RU" dirty="0"/>
              <a:t>Решение каждой задачи должно быть отражено в конкретной главе</a:t>
            </a:r>
            <a:br>
              <a:rPr lang="ru-RU" dirty="0"/>
            </a:br>
            <a:r>
              <a:rPr lang="ru-RU" dirty="0"/>
              <a:t>или параграфе</a:t>
            </a:r>
          </a:p>
        </p:txBody>
      </p:sp>
    </p:spTree>
    <p:extLst>
      <p:ext uri="{BB962C8B-B14F-4D97-AF65-F5344CB8AC3E}">
        <p14:creationId xmlns:p14="http://schemas.microsoft.com/office/powerpoint/2010/main" val="517068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Логика изложения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Актуальность → проблема → </a:t>
            </a:r>
          </a:p>
          <a:p>
            <a:pPr marL="0" indent="0">
              <a:buNone/>
            </a:pPr>
            <a:r>
              <a:rPr lang="ru-RU" dirty="0"/>
              <a:t>   → цель → задачи</a:t>
            </a:r>
          </a:p>
        </p:txBody>
      </p:sp>
    </p:spTree>
    <p:extLst>
      <p:ext uri="{BB962C8B-B14F-4D97-AF65-F5344CB8AC3E}">
        <p14:creationId xmlns:p14="http://schemas.microsoft.com/office/powerpoint/2010/main" val="11313643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Содержание исследования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После задач желательно добавить абзац с кратким описанием содержания работы</a:t>
            </a:r>
          </a:p>
        </p:txBody>
      </p:sp>
    </p:spTree>
    <p:extLst>
      <p:ext uri="{BB962C8B-B14F-4D97-AF65-F5344CB8AC3E}">
        <p14:creationId xmlns:p14="http://schemas.microsoft.com/office/powerpoint/2010/main" val="40597398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514600"/>
            <a:ext cx="8229600" cy="1371600"/>
          </a:xfrm>
        </p:spPr>
        <p:txBody>
          <a:bodyPr/>
          <a:lstStyle/>
          <a:p>
            <a:pPr algn="ctr"/>
            <a:r>
              <a:rPr lang="ru-RU" b="1" dirty="0"/>
              <a:t>Примеры</a:t>
            </a:r>
          </a:p>
        </p:txBody>
      </p:sp>
    </p:spTree>
    <p:extLst>
      <p:ext uri="{BB962C8B-B14F-4D97-AF65-F5344CB8AC3E}">
        <p14:creationId xmlns:p14="http://schemas.microsoft.com/office/powerpoint/2010/main" val="28488007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Примеры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Тема: «Сравнительный анализ алгоритмов сортировки»</a:t>
            </a:r>
          </a:p>
          <a:p>
            <a:r>
              <a:rPr lang="ru-RU" dirty="0"/>
              <a:t>Тема: «Разработка программы распознавания речи»</a:t>
            </a:r>
          </a:p>
          <a:p>
            <a:r>
              <a:rPr lang="ru-RU" dirty="0"/>
              <a:t>Тема: «Автоматический анализ тональности текстов</a:t>
            </a:r>
            <a:br>
              <a:rPr lang="ru-RU" dirty="0"/>
            </a:br>
            <a:r>
              <a:rPr lang="ru-RU" dirty="0"/>
              <a:t>на основе ДСМ-метода»</a:t>
            </a:r>
          </a:p>
        </p:txBody>
      </p:sp>
    </p:spTree>
    <p:extLst>
      <p:ext uri="{BB962C8B-B14F-4D97-AF65-F5344CB8AC3E}">
        <p14:creationId xmlns:p14="http://schemas.microsoft.com/office/powerpoint/2010/main" val="21495385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831243"/>
              </p:ext>
            </p:extLst>
          </p:nvPr>
        </p:nvGraphicFramePr>
        <p:xfrm>
          <a:off x="20128" y="609600"/>
          <a:ext cx="9047672" cy="582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9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Тема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/>
                        <a:t>Сравнительный анализ алгоритмов сортировки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/>
                        <a:t>Разработка программы распознавания речи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/>
                        <a:t>Автоматический анализ тональности текстов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Проблема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/>
                    </a:p>
                    <a:p>
                      <a:pPr algn="ctr"/>
                      <a:endParaRPr lang="ru-RU" sz="1600" dirty="0"/>
                    </a:p>
                    <a:p>
                      <a:pPr algn="ctr"/>
                      <a:endParaRPr lang="ru-RU" sz="1600" dirty="0"/>
                    </a:p>
                    <a:p>
                      <a:pPr algn="ctr"/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Цель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/>
                    </a:p>
                    <a:p>
                      <a:pPr algn="ctr"/>
                      <a:endParaRPr lang="ru-RU" sz="1600" dirty="0"/>
                    </a:p>
                    <a:p>
                      <a:pPr algn="ctr"/>
                      <a:endParaRPr lang="ru-RU" sz="1600" dirty="0"/>
                    </a:p>
                    <a:p>
                      <a:pPr algn="ctr"/>
                      <a:endParaRPr lang="ru-RU" sz="1600" dirty="0"/>
                    </a:p>
                    <a:p>
                      <a:pPr algn="ctr"/>
                      <a:endParaRPr lang="ru-RU" sz="1600" dirty="0"/>
                    </a:p>
                    <a:p>
                      <a:pPr algn="ctr"/>
                      <a:endParaRPr lang="ru-RU" sz="1600" dirty="0"/>
                    </a:p>
                    <a:p>
                      <a:pPr algn="ctr"/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Задачи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ru-RU" sz="1600" dirty="0"/>
                    </a:p>
                    <a:p>
                      <a:pPr algn="l"/>
                      <a:endParaRPr lang="ru-RU" sz="1600" dirty="0"/>
                    </a:p>
                    <a:p>
                      <a:pPr algn="l"/>
                      <a:endParaRPr lang="ru-RU" sz="1600" dirty="0"/>
                    </a:p>
                    <a:p>
                      <a:pPr algn="l"/>
                      <a:endParaRPr lang="ru-RU" sz="1600" dirty="0"/>
                    </a:p>
                    <a:p>
                      <a:pPr algn="l"/>
                      <a:endParaRPr lang="ru-RU" sz="1600" dirty="0"/>
                    </a:p>
                    <a:p>
                      <a:pPr algn="l"/>
                      <a:endParaRPr lang="ru-RU" sz="1600" dirty="0"/>
                    </a:p>
                    <a:p>
                      <a:pPr algn="l"/>
                      <a:endParaRPr lang="ru-RU" sz="1600" dirty="0"/>
                    </a:p>
                    <a:p>
                      <a:pPr algn="l"/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76760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7044032"/>
              </p:ext>
            </p:extLst>
          </p:nvPr>
        </p:nvGraphicFramePr>
        <p:xfrm>
          <a:off x="20128" y="609600"/>
          <a:ext cx="9047672" cy="582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9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Тема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/>
                        <a:t>Сравнительный анализ алгоритмов сортировки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/>
                        <a:t>Разработка программы распознавания речи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/>
                        <a:t>Автоматический анализ тональности текстов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Проблема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Отсутствие</a:t>
                      </a:r>
                      <a:r>
                        <a:rPr lang="ru-RU" sz="1600" baseline="0" dirty="0"/>
                        <a:t> рекомендаций</a:t>
                      </a:r>
                      <a:br>
                        <a:rPr lang="ru-RU" sz="1600" baseline="0" dirty="0"/>
                      </a:br>
                      <a:r>
                        <a:rPr lang="ru-RU" sz="1600" baseline="0" dirty="0"/>
                        <a:t>по выбору алгоритма сортировки</a:t>
                      </a:r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Цель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/>
                    </a:p>
                    <a:p>
                      <a:pPr algn="ctr"/>
                      <a:endParaRPr lang="ru-RU" sz="1600" dirty="0"/>
                    </a:p>
                    <a:p>
                      <a:pPr algn="ctr"/>
                      <a:endParaRPr lang="ru-RU" sz="1600" dirty="0"/>
                    </a:p>
                    <a:p>
                      <a:pPr algn="ctr"/>
                      <a:endParaRPr lang="ru-RU" sz="1600" dirty="0"/>
                    </a:p>
                    <a:p>
                      <a:pPr algn="ctr"/>
                      <a:endParaRPr lang="ru-RU" sz="1600" dirty="0"/>
                    </a:p>
                    <a:p>
                      <a:pPr algn="ctr"/>
                      <a:endParaRPr lang="ru-RU" sz="1600" dirty="0"/>
                    </a:p>
                    <a:p>
                      <a:pPr algn="ctr"/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Задачи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ru-RU" sz="1600" dirty="0"/>
                    </a:p>
                    <a:p>
                      <a:pPr algn="l"/>
                      <a:endParaRPr lang="ru-RU" sz="1600" dirty="0"/>
                    </a:p>
                    <a:p>
                      <a:pPr algn="l"/>
                      <a:endParaRPr lang="ru-RU" sz="1600" dirty="0"/>
                    </a:p>
                    <a:p>
                      <a:pPr algn="l"/>
                      <a:endParaRPr lang="ru-RU" sz="1600" dirty="0"/>
                    </a:p>
                    <a:p>
                      <a:pPr algn="l"/>
                      <a:endParaRPr lang="ru-RU" sz="1600" dirty="0"/>
                    </a:p>
                    <a:p>
                      <a:pPr algn="l"/>
                      <a:endParaRPr lang="ru-RU" sz="1600" dirty="0"/>
                    </a:p>
                    <a:p>
                      <a:pPr algn="l"/>
                      <a:endParaRPr lang="ru-RU" sz="1600" dirty="0"/>
                    </a:p>
                    <a:p>
                      <a:pPr algn="l"/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17071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534149"/>
              </p:ext>
            </p:extLst>
          </p:nvPr>
        </p:nvGraphicFramePr>
        <p:xfrm>
          <a:off x="20128" y="609600"/>
          <a:ext cx="9047672" cy="582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9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Тема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/>
                        <a:t>Сравнительный анализ алгоритмов сортировки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/>
                        <a:t>Разработка программы распознавания речи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/>
                        <a:t>Автоматический анализ тональности текстов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Проблема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Отсутствие</a:t>
                      </a:r>
                      <a:r>
                        <a:rPr lang="ru-RU" sz="1600" baseline="0" dirty="0"/>
                        <a:t> рекомендаций</a:t>
                      </a:r>
                      <a:br>
                        <a:rPr lang="ru-RU" sz="1600" baseline="0" dirty="0"/>
                      </a:br>
                      <a:r>
                        <a:rPr lang="ru-RU" sz="1600" baseline="0" dirty="0"/>
                        <a:t>по выбору алгоритма сортировки</a:t>
                      </a:r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Недостаточная точность распознавания речи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Цель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/>
                    </a:p>
                    <a:p>
                      <a:pPr algn="ctr"/>
                      <a:endParaRPr lang="ru-RU" sz="1600" dirty="0"/>
                    </a:p>
                    <a:p>
                      <a:pPr algn="ctr"/>
                      <a:endParaRPr lang="ru-RU" sz="1600" dirty="0"/>
                    </a:p>
                    <a:p>
                      <a:pPr algn="ctr"/>
                      <a:endParaRPr lang="ru-RU" sz="1600" dirty="0"/>
                    </a:p>
                    <a:p>
                      <a:pPr algn="ctr"/>
                      <a:endParaRPr lang="ru-RU" sz="1600" dirty="0"/>
                    </a:p>
                    <a:p>
                      <a:pPr algn="ctr"/>
                      <a:endParaRPr lang="ru-RU" sz="1600" dirty="0"/>
                    </a:p>
                    <a:p>
                      <a:pPr algn="ctr"/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Задачи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ru-RU" sz="1600" dirty="0"/>
                    </a:p>
                    <a:p>
                      <a:pPr algn="l"/>
                      <a:endParaRPr lang="ru-RU" sz="1600" dirty="0"/>
                    </a:p>
                    <a:p>
                      <a:pPr algn="l"/>
                      <a:endParaRPr lang="ru-RU" sz="1600" dirty="0"/>
                    </a:p>
                    <a:p>
                      <a:pPr algn="l"/>
                      <a:endParaRPr lang="ru-RU" sz="1600" dirty="0"/>
                    </a:p>
                    <a:p>
                      <a:pPr algn="l"/>
                      <a:endParaRPr lang="ru-RU" sz="1600" dirty="0"/>
                    </a:p>
                    <a:p>
                      <a:pPr algn="l"/>
                      <a:endParaRPr lang="ru-RU" sz="1600" dirty="0"/>
                    </a:p>
                    <a:p>
                      <a:pPr algn="l"/>
                      <a:endParaRPr lang="ru-RU" sz="1600" dirty="0"/>
                    </a:p>
                    <a:p>
                      <a:pPr algn="l"/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86733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1974146"/>
              </p:ext>
            </p:extLst>
          </p:nvPr>
        </p:nvGraphicFramePr>
        <p:xfrm>
          <a:off x="20128" y="609600"/>
          <a:ext cx="9047672" cy="582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9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Тема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/>
                        <a:t>Сравнительный анализ алгоритмов сортировки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/>
                        <a:t>Разработка программы распознавания речи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/>
                        <a:t>Автоматический анализ тональности текстов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Проблема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Отсутствие</a:t>
                      </a:r>
                      <a:r>
                        <a:rPr lang="ru-RU" sz="1600" baseline="0" dirty="0"/>
                        <a:t> рекомендаций</a:t>
                      </a:r>
                      <a:br>
                        <a:rPr lang="ru-RU" sz="1600" baseline="0" dirty="0"/>
                      </a:br>
                      <a:r>
                        <a:rPr lang="ru-RU" sz="1600" baseline="0" dirty="0"/>
                        <a:t>по выбору алгоритма сортировки</a:t>
                      </a:r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Недостаточная точность распознавания речи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Неудовлетворительное качество анализа тональности текстов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Цель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/>
                    </a:p>
                    <a:p>
                      <a:pPr algn="ctr"/>
                      <a:endParaRPr lang="ru-RU" sz="1600" dirty="0"/>
                    </a:p>
                    <a:p>
                      <a:pPr algn="ctr"/>
                      <a:endParaRPr lang="ru-RU" sz="1600" dirty="0"/>
                    </a:p>
                    <a:p>
                      <a:pPr algn="ctr"/>
                      <a:endParaRPr lang="ru-RU" sz="1600" dirty="0"/>
                    </a:p>
                    <a:p>
                      <a:pPr algn="ctr"/>
                      <a:endParaRPr lang="ru-RU" sz="1600" dirty="0"/>
                    </a:p>
                    <a:p>
                      <a:pPr algn="ctr"/>
                      <a:endParaRPr lang="ru-RU" sz="1600" dirty="0"/>
                    </a:p>
                    <a:p>
                      <a:pPr algn="ctr"/>
                      <a:endParaRPr lang="ru-RU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Задачи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ru-RU" sz="1600" dirty="0"/>
                    </a:p>
                    <a:p>
                      <a:pPr algn="l"/>
                      <a:endParaRPr lang="ru-RU" sz="1600" dirty="0"/>
                    </a:p>
                    <a:p>
                      <a:pPr algn="l"/>
                      <a:endParaRPr lang="ru-RU" sz="1600" dirty="0"/>
                    </a:p>
                    <a:p>
                      <a:pPr algn="l"/>
                      <a:endParaRPr lang="ru-RU" sz="1600" dirty="0"/>
                    </a:p>
                    <a:p>
                      <a:pPr algn="l"/>
                      <a:endParaRPr lang="ru-RU" sz="1600" dirty="0"/>
                    </a:p>
                    <a:p>
                      <a:pPr algn="l"/>
                      <a:endParaRPr lang="ru-RU" sz="1600" dirty="0"/>
                    </a:p>
                    <a:p>
                      <a:pPr algn="l"/>
                      <a:endParaRPr lang="ru-RU" sz="1600" dirty="0"/>
                    </a:p>
                    <a:p>
                      <a:pPr algn="l"/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58321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4553977"/>
              </p:ext>
            </p:extLst>
          </p:nvPr>
        </p:nvGraphicFramePr>
        <p:xfrm>
          <a:off x="20128" y="609600"/>
          <a:ext cx="9047672" cy="582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9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Тема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/>
                        <a:t>Сравнительный анализ алгоритмов сортировки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/>
                        <a:t>Разработка программы распознавания речи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/>
                        <a:t>Автоматический анализ тональности текстов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Проблема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Отсутствие</a:t>
                      </a:r>
                      <a:r>
                        <a:rPr lang="ru-RU" sz="1600" baseline="0" dirty="0"/>
                        <a:t> рекомендаций</a:t>
                      </a:r>
                      <a:br>
                        <a:rPr lang="ru-RU" sz="1600" baseline="0" dirty="0"/>
                      </a:br>
                      <a:r>
                        <a:rPr lang="ru-RU" sz="1600" baseline="0" dirty="0"/>
                        <a:t>по выбору алгоритма сортировки</a:t>
                      </a:r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Недостаточная точность распознавания речи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Неудовлетворительное качество анализа тональности текстов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Цель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Формирование</a:t>
                      </a:r>
                      <a:r>
                        <a:rPr lang="ru-RU" sz="1600" baseline="0" dirty="0"/>
                        <a:t> рекомендаций</a:t>
                      </a:r>
                      <a:br>
                        <a:rPr lang="ru-RU" sz="1600" baseline="0" dirty="0"/>
                      </a:br>
                      <a:r>
                        <a:rPr lang="ru-RU" sz="1600" baseline="0" dirty="0"/>
                        <a:t>по выбору алгоритма сортировки</a:t>
                      </a:r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/>
                    </a:p>
                    <a:p>
                      <a:pPr algn="ctr"/>
                      <a:endParaRPr lang="ru-RU" sz="1600" dirty="0"/>
                    </a:p>
                    <a:p>
                      <a:pPr algn="ctr"/>
                      <a:endParaRPr lang="ru-RU" sz="1600" dirty="0"/>
                    </a:p>
                    <a:p>
                      <a:pPr algn="ctr"/>
                      <a:endParaRPr lang="ru-RU" sz="1600" dirty="0"/>
                    </a:p>
                    <a:p>
                      <a:pPr algn="ctr"/>
                      <a:endParaRPr lang="ru-RU" sz="1600" dirty="0"/>
                    </a:p>
                    <a:p>
                      <a:pPr algn="ctr"/>
                      <a:endParaRPr lang="ru-RU" sz="1600" dirty="0"/>
                    </a:p>
                    <a:p>
                      <a:pPr algn="ctr"/>
                      <a:endParaRPr lang="ru-RU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Задачи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ru-RU" sz="1600" dirty="0"/>
                    </a:p>
                    <a:p>
                      <a:pPr algn="l"/>
                      <a:endParaRPr lang="ru-RU" sz="1600" dirty="0"/>
                    </a:p>
                    <a:p>
                      <a:pPr algn="l"/>
                      <a:endParaRPr lang="ru-RU" sz="1600" dirty="0"/>
                    </a:p>
                    <a:p>
                      <a:pPr algn="l"/>
                      <a:endParaRPr lang="ru-RU" sz="1600" dirty="0"/>
                    </a:p>
                    <a:p>
                      <a:pPr algn="l"/>
                      <a:endParaRPr lang="ru-RU" sz="1600" dirty="0"/>
                    </a:p>
                    <a:p>
                      <a:pPr algn="l"/>
                      <a:endParaRPr lang="ru-RU" sz="1600" dirty="0"/>
                    </a:p>
                    <a:p>
                      <a:pPr algn="l"/>
                      <a:endParaRPr lang="ru-RU" sz="1600" dirty="0"/>
                    </a:p>
                    <a:p>
                      <a:pPr algn="l"/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94764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0258417"/>
              </p:ext>
            </p:extLst>
          </p:nvPr>
        </p:nvGraphicFramePr>
        <p:xfrm>
          <a:off x="20128" y="609600"/>
          <a:ext cx="9047672" cy="582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9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Тема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/>
                        <a:t>Сравнительный анализ алгоритмов сортировки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/>
                        <a:t>Разработка программы распознавания речи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/>
                        <a:t>Автоматический анализ тональности текстов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Проблема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Отсутствие</a:t>
                      </a:r>
                      <a:r>
                        <a:rPr lang="ru-RU" sz="1600" baseline="0" dirty="0"/>
                        <a:t> рекомендаций</a:t>
                      </a:r>
                      <a:br>
                        <a:rPr lang="ru-RU" sz="1600" baseline="0" dirty="0"/>
                      </a:br>
                      <a:r>
                        <a:rPr lang="ru-RU" sz="1600" baseline="0" dirty="0"/>
                        <a:t>по выбору алгоритма сортировки</a:t>
                      </a:r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Недостаточная точность распознавания речи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Неудовлетворительное качество анализа тональности текстов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Цель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Формирование</a:t>
                      </a:r>
                      <a:r>
                        <a:rPr lang="ru-RU" sz="1600" baseline="0" dirty="0"/>
                        <a:t> рекомендаций</a:t>
                      </a:r>
                      <a:br>
                        <a:rPr lang="ru-RU" sz="1600" baseline="0" dirty="0"/>
                      </a:br>
                      <a:r>
                        <a:rPr lang="ru-RU" sz="1600" baseline="0" dirty="0"/>
                        <a:t>по выбору алгоритма сортировки</a:t>
                      </a:r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Создание программы распознавания речевых</a:t>
                      </a:r>
                      <a:r>
                        <a:rPr lang="ru-RU" sz="1600" baseline="0" dirty="0"/>
                        <a:t> команд с точностью</a:t>
                      </a:r>
                      <a:br>
                        <a:rPr lang="ru-RU" sz="1600" baseline="0" dirty="0"/>
                      </a:br>
                      <a:r>
                        <a:rPr lang="ru-RU" sz="1600" baseline="0" dirty="0"/>
                        <a:t>не менее 80%</a:t>
                      </a:r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/>
                    </a:p>
                    <a:p>
                      <a:pPr algn="ctr"/>
                      <a:endParaRPr lang="ru-RU" sz="1600" dirty="0"/>
                    </a:p>
                    <a:p>
                      <a:pPr algn="ctr"/>
                      <a:endParaRPr lang="ru-RU" sz="1600" dirty="0"/>
                    </a:p>
                    <a:p>
                      <a:pPr algn="ctr"/>
                      <a:endParaRPr lang="ru-RU" sz="1600" dirty="0"/>
                    </a:p>
                    <a:p>
                      <a:pPr algn="ctr"/>
                      <a:endParaRPr lang="ru-RU" sz="1600" dirty="0"/>
                    </a:p>
                    <a:p>
                      <a:pPr algn="ctr"/>
                      <a:endParaRPr lang="ru-RU" sz="1600" dirty="0"/>
                    </a:p>
                    <a:p>
                      <a:pPr algn="ctr"/>
                      <a:endParaRPr lang="ru-RU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Задачи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ru-RU" sz="1600" dirty="0"/>
                    </a:p>
                    <a:p>
                      <a:pPr algn="l"/>
                      <a:endParaRPr lang="ru-RU" sz="1600" dirty="0"/>
                    </a:p>
                    <a:p>
                      <a:pPr algn="l"/>
                      <a:endParaRPr lang="ru-RU" sz="1600" dirty="0"/>
                    </a:p>
                    <a:p>
                      <a:pPr algn="l"/>
                      <a:endParaRPr lang="ru-RU" sz="1600" dirty="0"/>
                    </a:p>
                    <a:p>
                      <a:pPr algn="l"/>
                      <a:endParaRPr lang="ru-RU" sz="1600" dirty="0"/>
                    </a:p>
                    <a:p>
                      <a:pPr algn="l"/>
                      <a:endParaRPr lang="ru-RU" sz="1600" dirty="0"/>
                    </a:p>
                    <a:p>
                      <a:pPr algn="l"/>
                      <a:endParaRPr lang="ru-RU" sz="1600" dirty="0"/>
                    </a:p>
                    <a:p>
                      <a:pPr algn="l"/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47902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9855055"/>
              </p:ext>
            </p:extLst>
          </p:nvPr>
        </p:nvGraphicFramePr>
        <p:xfrm>
          <a:off x="20128" y="609600"/>
          <a:ext cx="9047672" cy="582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9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Тема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/>
                        <a:t>Сравнительный анализ алгоритмов сортировки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/>
                        <a:t>Разработка программы распознавания речи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/>
                        <a:t>Автоматический анализ тональности текстов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Проблема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Отсутствие</a:t>
                      </a:r>
                      <a:r>
                        <a:rPr lang="ru-RU" sz="1600" baseline="0" dirty="0"/>
                        <a:t> рекомендаций</a:t>
                      </a:r>
                      <a:br>
                        <a:rPr lang="ru-RU" sz="1600" baseline="0" dirty="0"/>
                      </a:br>
                      <a:r>
                        <a:rPr lang="ru-RU" sz="1600" baseline="0" dirty="0"/>
                        <a:t>по выбору алгоритма сортировки</a:t>
                      </a:r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Недостаточная точность распознавания речи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Неудовлетворительное качество анализа тональности текстов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Цель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Формирование</a:t>
                      </a:r>
                      <a:r>
                        <a:rPr lang="ru-RU" sz="1600" baseline="0" dirty="0"/>
                        <a:t> рекомендаций</a:t>
                      </a:r>
                      <a:br>
                        <a:rPr lang="ru-RU" sz="1600" baseline="0" dirty="0"/>
                      </a:br>
                      <a:r>
                        <a:rPr lang="ru-RU" sz="1600" baseline="0" dirty="0"/>
                        <a:t>по выбору алгоритма сортировки</a:t>
                      </a:r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Создание программы распознавания речевых</a:t>
                      </a:r>
                      <a:r>
                        <a:rPr lang="ru-RU" sz="1600" baseline="0" dirty="0"/>
                        <a:t> команд с точностью</a:t>
                      </a:r>
                      <a:br>
                        <a:rPr lang="ru-RU" sz="1600" baseline="0" dirty="0"/>
                      </a:br>
                      <a:r>
                        <a:rPr lang="ru-RU" sz="1600" baseline="0" dirty="0"/>
                        <a:t>не менее 80%</a:t>
                      </a:r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Разработка алгоритма анализа тональности и создание на его основе</a:t>
                      </a:r>
                      <a:r>
                        <a:rPr lang="ru-RU" sz="1600" baseline="0" dirty="0"/>
                        <a:t> программы автоматического распознавания тональности текстов</a:t>
                      </a:r>
                      <a:endParaRPr lang="ru-RU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Задачи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ru-RU" sz="1600" dirty="0"/>
                    </a:p>
                    <a:p>
                      <a:pPr algn="l"/>
                      <a:endParaRPr lang="ru-RU" sz="1600" dirty="0"/>
                    </a:p>
                    <a:p>
                      <a:pPr algn="l"/>
                      <a:endParaRPr lang="ru-RU" sz="1600" dirty="0"/>
                    </a:p>
                    <a:p>
                      <a:pPr algn="l"/>
                      <a:endParaRPr lang="ru-RU" sz="1600" dirty="0"/>
                    </a:p>
                    <a:p>
                      <a:pPr algn="l"/>
                      <a:endParaRPr lang="ru-RU" sz="1600" dirty="0"/>
                    </a:p>
                    <a:p>
                      <a:pPr algn="l"/>
                      <a:endParaRPr lang="ru-RU" sz="1600" dirty="0"/>
                    </a:p>
                    <a:p>
                      <a:pPr algn="l"/>
                      <a:endParaRPr lang="ru-RU" sz="1600" dirty="0"/>
                    </a:p>
                    <a:p>
                      <a:pPr algn="l"/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53291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9060612"/>
              </p:ext>
            </p:extLst>
          </p:nvPr>
        </p:nvGraphicFramePr>
        <p:xfrm>
          <a:off x="20128" y="609600"/>
          <a:ext cx="9047672" cy="582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9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Тема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/>
                        <a:t>Сравнительный анализ алгоритмов сортировки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/>
                        <a:t>Разработка программы распознавания речи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/>
                        <a:t>Автоматический анализ тональности текстов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Проблема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Отсутствие</a:t>
                      </a:r>
                      <a:r>
                        <a:rPr lang="ru-RU" sz="1600" baseline="0" dirty="0"/>
                        <a:t> рекомендаций</a:t>
                      </a:r>
                      <a:br>
                        <a:rPr lang="ru-RU" sz="1600" baseline="0" dirty="0"/>
                      </a:br>
                      <a:r>
                        <a:rPr lang="ru-RU" sz="1600" baseline="0" dirty="0"/>
                        <a:t>по выбору алгоритма сортировки</a:t>
                      </a:r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Недостаточная точность распознавания речи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Неудовлетворительное качество анализа тональности текстов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Цель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Формирование</a:t>
                      </a:r>
                      <a:r>
                        <a:rPr lang="ru-RU" sz="1600" baseline="0" dirty="0"/>
                        <a:t> рекомендаций</a:t>
                      </a:r>
                      <a:br>
                        <a:rPr lang="ru-RU" sz="1600" baseline="0" dirty="0"/>
                      </a:br>
                      <a:r>
                        <a:rPr lang="ru-RU" sz="1600" baseline="0" dirty="0"/>
                        <a:t>по выбору алгоритма сортировки</a:t>
                      </a:r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Создание программы распознавания речевых</a:t>
                      </a:r>
                      <a:r>
                        <a:rPr lang="ru-RU" sz="1600" baseline="0" dirty="0"/>
                        <a:t> команд с точностью</a:t>
                      </a:r>
                      <a:br>
                        <a:rPr lang="ru-RU" sz="1600" baseline="0" dirty="0"/>
                      </a:br>
                      <a:r>
                        <a:rPr lang="ru-RU" sz="1600" baseline="0" dirty="0"/>
                        <a:t>не менее 80%</a:t>
                      </a:r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Разработка алгоритма анализа тональности и создание на его основе</a:t>
                      </a:r>
                      <a:r>
                        <a:rPr lang="ru-RU" sz="1600" baseline="0" dirty="0"/>
                        <a:t> программы автоматического распознавания тональности текстов</a:t>
                      </a:r>
                      <a:endParaRPr lang="ru-RU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59280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Задачи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/>
                        <a:t>1. Анализ литературы</a:t>
                      </a:r>
                    </a:p>
                    <a:p>
                      <a:pPr algn="l"/>
                      <a:r>
                        <a:rPr lang="ru-RU" sz="1600" dirty="0"/>
                        <a:t>2. Программная реализация алгоритмов</a:t>
                      </a:r>
                    </a:p>
                    <a:p>
                      <a:pPr algn="l"/>
                      <a:r>
                        <a:rPr lang="ru-RU" sz="1600" dirty="0"/>
                        <a:t>3.</a:t>
                      </a:r>
                      <a:r>
                        <a:rPr lang="ru-RU" sz="1600" baseline="0" dirty="0"/>
                        <a:t> Подготовка данных</a:t>
                      </a:r>
                      <a:endParaRPr lang="ru-RU" sz="1600" dirty="0"/>
                    </a:p>
                    <a:p>
                      <a:pPr algn="l"/>
                      <a:r>
                        <a:rPr lang="ru-RU" sz="1600" dirty="0"/>
                        <a:t>4. Экспериментальное исследование алгоритмов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ru-RU" sz="1600" dirty="0"/>
                    </a:p>
                    <a:p>
                      <a:pPr algn="l"/>
                      <a:endParaRPr lang="ru-RU" sz="1600" dirty="0"/>
                    </a:p>
                    <a:p>
                      <a:pPr algn="l"/>
                      <a:endParaRPr lang="ru-RU" sz="1600" dirty="0"/>
                    </a:p>
                    <a:p>
                      <a:pPr algn="l"/>
                      <a:endParaRPr lang="ru-RU" sz="1600" dirty="0"/>
                    </a:p>
                    <a:p>
                      <a:pPr algn="l"/>
                      <a:endParaRPr lang="ru-RU" sz="1600" dirty="0"/>
                    </a:p>
                    <a:p>
                      <a:pPr algn="l"/>
                      <a:endParaRPr lang="ru-RU" sz="1600" dirty="0"/>
                    </a:p>
                    <a:p>
                      <a:pPr algn="l"/>
                      <a:endParaRPr lang="ru-RU" sz="1600" dirty="0"/>
                    </a:p>
                    <a:p>
                      <a:pPr algn="l"/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93341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7448949"/>
              </p:ext>
            </p:extLst>
          </p:nvPr>
        </p:nvGraphicFramePr>
        <p:xfrm>
          <a:off x="20128" y="609600"/>
          <a:ext cx="9047672" cy="582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9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Тема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/>
                        <a:t>Сравнительный анализ алгоритмов сортировки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/>
                        <a:t>Разработка программы распознавания речи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/>
                        <a:t>Автоматический анализ тональности текстов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Проблема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Отсутствие</a:t>
                      </a:r>
                      <a:r>
                        <a:rPr lang="ru-RU" sz="1600" baseline="0" dirty="0"/>
                        <a:t> рекомендаций</a:t>
                      </a:r>
                      <a:br>
                        <a:rPr lang="ru-RU" sz="1600" baseline="0" dirty="0"/>
                      </a:br>
                      <a:r>
                        <a:rPr lang="ru-RU" sz="1600" baseline="0" dirty="0"/>
                        <a:t>по выбору алгоритма сортировки</a:t>
                      </a:r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Недостаточная точность распознавания речи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Неудовлетворительное качество анализа тональности текстов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Цель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Формирование</a:t>
                      </a:r>
                      <a:r>
                        <a:rPr lang="ru-RU" sz="1600" baseline="0" dirty="0"/>
                        <a:t> рекомендаций</a:t>
                      </a:r>
                      <a:br>
                        <a:rPr lang="ru-RU" sz="1600" baseline="0" dirty="0"/>
                      </a:br>
                      <a:r>
                        <a:rPr lang="ru-RU" sz="1600" baseline="0" dirty="0"/>
                        <a:t>по выбору алгоритма сортировки</a:t>
                      </a:r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Создание программы распознавания речевых</a:t>
                      </a:r>
                      <a:r>
                        <a:rPr lang="ru-RU" sz="1600" baseline="0" dirty="0"/>
                        <a:t> команд с точностью</a:t>
                      </a:r>
                      <a:br>
                        <a:rPr lang="ru-RU" sz="1600" baseline="0" dirty="0"/>
                      </a:br>
                      <a:r>
                        <a:rPr lang="ru-RU" sz="1600" baseline="0" dirty="0"/>
                        <a:t>не менее 80%</a:t>
                      </a:r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Разработка алгоритма анализа тональности и создание на его основе</a:t>
                      </a:r>
                      <a:r>
                        <a:rPr lang="ru-RU" sz="1600" baseline="0" dirty="0"/>
                        <a:t> программы автоматического распознавания тональности текстов</a:t>
                      </a:r>
                      <a:endParaRPr lang="ru-RU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Задачи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/>
                        <a:t>1. Анализ литературы</a:t>
                      </a:r>
                    </a:p>
                    <a:p>
                      <a:pPr algn="l"/>
                      <a:r>
                        <a:rPr lang="ru-RU" sz="1600" dirty="0"/>
                        <a:t>2. Программная реализация алгоритмов</a:t>
                      </a:r>
                    </a:p>
                    <a:p>
                      <a:pPr algn="l"/>
                      <a:r>
                        <a:rPr lang="ru-RU" sz="1600" dirty="0"/>
                        <a:t>3.</a:t>
                      </a:r>
                      <a:r>
                        <a:rPr lang="ru-RU" sz="1600" baseline="0" dirty="0"/>
                        <a:t> Подготовка данных</a:t>
                      </a:r>
                      <a:endParaRPr lang="ru-RU" sz="1600" dirty="0"/>
                    </a:p>
                    <a:p>
                      <a:pPr algn="l"/>
                      <a:r>
                        <a:rPr lang="ru-RU" sz="1600" dirty="0"/>
                        <a:t>4. Экспериментальное исследование алгоритмов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/>
                        <a:t>1. Анализ литературы</a:t>
                      </a:r>
                    </a:p>
                    <a:p>
                      <a:pPr algn="l"/>
                      <a:r>
                        <a:rPr lang="ru-RU" sz="1600" dirty="0"/>
                        <a:t>2. Выбор алгоритма</a:t>
                      </a:r>
                      <a:r>
                        <a:rPr lang="ru-RU" sz="1600" baseline="0" dirty="0"/>
                        <a:t> распознавания</a:t>
                      </a:r>
                    </a:p>
                    <a:p>
                      <a:pPr algn="l"/>
                      <a:r>
                        <a:rPr lang="ru-RU" sz="1600" baseline="0" dirty="0"/>
                        <a:t>3. Программная реализация алгоритма</a:t>
                      </a:r>
                    </a:p>
                    <a:p>
                      <a:pPr algn="l"/>
                      <a:r>
                        <a:rPr lang="ru-RU" sz="1600" baseline="0" dirty="0"/>
                        <a:t>4. </a:t>
                      </a:r>
                      <a:r>
                        <a:rPr lang="ru-RU" sz="1600" dirty="0"/>
                        <a:t>Экспериментальное исследование программы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21501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20128" y="609600"/>
          <a:ext cx="9047672" cy="582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9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Тема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/>
                        <a:t>Сравнительный анализ алгоритмов сортировки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/>
                        <a:t>Разработка программы распознавания речи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/>
                        <a:t>Автоматический анализ тональности текстов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Проблема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Отсутствие</a:t>
                      </a:r>
                      <a:r>
                        <a:rPr lang="ru-RU" sz="1600" baseline="0" dirty="0"/>
                        <a:t> рекомендаций</a:t>
                      </a:r>
                      <a:br>
                        <a:rPr lang="ru-RU" sz="1600" baseline="0" dirty="0"/>
                      </a:br>
                      <a:r>
                        <a:rPr lang="ru-RU" sz="1600" baseline="0" dirty="0"/>
                        <a:t>по выбору алгоритма сортировки</a:t>
                      </a:r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Недостаточная точность распознавания речи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Неудовлетворительное качество анализа тональности текстов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Цель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Формирование</a:t>
                      </a:r>
                      <a:r>
                        <a:rPr lang="ru-RU" sz="1600" baseline="0" dirty="0"/>
                        <a:t> рекомендаций</a:t>
                      </a:r>
                      <a:br>
                        <a:rPr lang="ru-RU" sz="1600" baseline="0" dirty="0"/>
                      </a:br>
                      <a:r>
                        <a:rPr lang="ru-RU" sz="1600" baseline="0" dirty="0"/>
                        <a:t>по выбору алгоритма сортировки</a:t>
                      </a:r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Создание программы распознавания речевых</a:t>
                      </a:r>
                      <a:r>
                        <a:rPr lang="ru-RU" sz="1600" baseline="0" dirty="0"/>
                        <a:t> команд с точностью</a:t>
                      </a:r>
                      <a:br>
                        <a:rPr lang="ru-RU" sz="1600" baseline="0" dirty="0"/>
                      </a:br>
                      <a:r>
                        <a:rPr lang="ru-RU" sz="1600" baseline="0" dirty="0"/>
                        <a:t>не менее 80%</a:t>
                      </a:r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Разработка алгоритма анализа тональности и создание на его основе</a:t>
                      </a:r>
                      <a:r>
                        <a:rPr lang="ru-RU" sz="1600" baseline="0" dirty="0"/>
                        <a:t> программы автоматического распознавания тональности текстов</a:t>
                      </a:r>
                      <a:endParaRPr lang="ru-RU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Задачи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/>
                        <a:t>1. Анализ литературы</a:t>
                      </a:r>
                    </a:p>
                    <a:p>
                      <a:pPr algn="l"/>
                      <a:r>
                        <a:rPr lang="ru-RU" sz="1600" dirty="0"/>
                        <a:t>2. Программная реализация алгоритмов</a:t>
                      </a:r>
                    </a:p>
                    <a:p>
                      <a:pPr algn="l"/>
                      <a:r>
                        <a:rPr lang="ru-RU" sz="1600" dirty="0"/>
                        <a:t>3.</a:t>
                      </a:r>
                      <a:r>
                        <a:rPr lang="ru-RU" sz="1600" baseline="0" dirty="0"/>
                        <a:t> Подготовка данных</a:t>
                      </a:r>
                      <a:endParaRPr lang="ru-RU" sz="1600" dirty="0"/>
                    </a:p>
                    <a:p>
                      <a:pPr algn="l"/>
                      <a:r>
                        <a:rPr lang="ru-RU" sz="1600" dirty="0"/>
                        <a:t>4. Экспериментальное исследование алгоритмов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/>
                        <a:t>1. Анализ литературы</a:t>
                      </a:r>
                    </a:p>
                    <a:p>
                      <a:pPr algn="l"/>
                      <a:r>
                        <a:rPr lang="ru-RU" sz="1600" dirty="0"/>
                        <a:t>2. Выбор алгоритма</a:t>
                      </a:r>
                      <a:r>
                        <a:rPr lang="ru-RU" sz="1600" baseline="0" dirty="0"/>
                        <a:t> распознавания</a:t>
                      </a:r>
                    </a:p>
                    <a:p>
                      <a:pPr algn="l"/>
                      <a:r>
                        <a:rPr lang="ru-RU" sz="1600" baseline="0" dirty="0"/>
                        <a:t>3. Программная реализация алгоритма</a:t>
                      </a:r>
                    </a:p>
                    <a:p>
                      <a:pPr algn="l"/>
                      <a:r>
                        <a:rPr lang="ru-RU" sz="1600" baseline="0" dirty="0"/>
                        <a:t>4. </a:t>
                      </a:r>
                      <a:r>
                        <a:rPr lang="ru-RU" sz="1600" dirty="0"/>
                        <a:t>Экспериментальное исследование программы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/>
                        <a:t>1. Анализ литературы</a:t>
                      </a:r>
                    </a:p>
                    <a:p>
                      <a:pPr algn="l"/>
                      <a:r>
                        <a:rPr lang="ru-RU" sz="1600" dirty="0"/>
                        <a:t>2. Разработка алгоритма анализа тональности</a:t>
                      </a:r>
                    </a:p>
                    <a:p>
                      <a:pPr algn="l"/>
                      <a:r>
                        <a:rPr lang="ru-RU" sz="1600" dirty="0"/>
                        <a:t>3. </a:t>
                      </a:r>
                      <a:r>
                        <a:rPr lang="ru-RU" sz="1600" baseline="0" dirty="0"/>
                        <a:t>Программная реализация алгоритма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aseline="0" dirty="0"/>
                        <a:t>4. </a:t>
                      </a:r>
                      <a:r>
                        <a:rPr lang="ru-RU" sz="1600" dirty="0"/>
                        <a:t>Экспериментальное исследование программы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48804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Домашнее задание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Написать:</a:t>
            </a:r>
          </a:p>
          <a:p>
            <a:r>
              <a:rPr lang="ru-RU" dirty="0"/>
              <a:t>актуальность</a:t>
            </a:r>
          </a:p>
          <a:p>
            <a:r>
              <a:rPr lang="ru-RU" dirty="0"/>
              <a:t>проблему</a:t>
            </a:r>
          </a:p>
          <a:p>
            <a:r>
              <a:rPr lang="ru-RU" dirty="0"/>
              <a:t>цель</a:t>
            </a:r>
          </a:p>
          <a:p>
            <a:r>
              <a:rPr lang="ru-RU" dirty="0"/>
              <a:t>задачи</a:t>
            </a:r>
          </a:p>
        </p:txBody>
      </p:sp>
    </p:spTree>
    <p:extLst>
      <p:ext uri="{BB962C8B-B14F-4D97-AF65-F5344CB8AC3E}">
        <p14:creationId xmlns:p14="http://schemas.microsoft.com/office/powerpoint/2010/main" val="2705267704"/>
      </p:ext>
    </p:extLst>
  </p:cSld>
  <p:clrMapOvr>
    <a:masterClrMapping/>
  </p:clrMapOvr>
</p:sld>
</file>

<file path=ppt/theme/theme1.xml><?xml version="1.0" encoding="utf-8"?>
<a:theme xmlns:a="http://schemas.openxmlformats.org/drawingml/2006/main" name="Пиксел">
  <a:themeElements>
    <a:clrScheme name="Пиксел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Пиксел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Пиксел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1971</TotalTime>
  <Words>1110</Words>
  <Application>Microsoft Office PowerPoint</Application>
  <PresentationFormat>Экран (4:3)</PresentationFormat>
  <Paragraphs>354</Paragraphs>
  <Slides>45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45</vt:i4>
      </vt:variant>
    </vt:vector>
  </HeadingPairs>
  <TitlesOfParts>
    <vt:vector size="51" baseType="lpstr">
      <vt:lpstr>Arial</vt:lpstr>
      <vt:lpstr>Arial Black</vt:lpstr>
      <vt:lpstr>Cambria Math</vt:lpstr>
      <vt:lpstr>Times New Roman</vt:lpstr>
      <vt:lpstr>Wingdings</vt:lpstr>
      <vt:lpstr>Пиксел</vt:lpstr>
      <vt:lpstr>Актуальность, цель, задачи</vt:lpstr>
      <vt:lpstr>План лекции</vt:lpstr>
      <vt:lpstr>Тема исследования</vt:lpstr>
      <vt:lpstr>Тема исследования</vt:lpstr>
      <vt:lpstr>Тема исследования</vt:lpstr>
      <vt:lpstr>Тема исследования</vt:lpstr>
      <vt:lpstr>Тема исследования</vt:lpstr>
      <vt:lpstr>Тема исследования</vt:lpstr>
      <vt:lpstr>Тема исследования</vt:lpstr>
      <vt:lpstr>Тема исследования</vt:lpstr>
      <vt:lpstr>Тема исследования</vt:lpstr>
      <vt:lpstr>Введение</vt:lpstr>
      <vt:lpstr>Введение</vt:lpstr>
      <vt:lpstr>Введение</vt:lpstr>
      <vt:lpstr>Введение</vt:lpstr>
      <vt:lpstr>Введение</vt:lpstr>
      <vt:lpstr>Введение</vt:lpstr>
      <vt:lpstr>Введение</vt:lpstr>
      <vt:lpstr>Актуальность исследования</vt:lpstr>
      <vt:lpstr>Актуальность исследования</vt:lpstr>
      <vt:lpstr>Актуальность исследования</vt:lpstr>
      <vt:lpstr>Актуальность исследования</vt:lpstr>
      <vt:lpstr>Актуальность исследования</vt:lpstr>
      <vt:lpstr>Актуальность исследования</vt:lpstr>
      <vt:lpstr>Актуальность исследования</vt:lpstr>
      <vt:lpstr>Цель и задачи исследования</vt:lpstr>
      <vt:lpstr>Цель и задачи исследования</vt:lpstr>
      <vt:lpstr>Цель и задачи исследования</vt:lpstr>
      <vt:lpstr>Цель и задачи исследования</vt:lpstr>
      <vt:lpstr>Цель и задачи исследования</vt:lpstr>
      <vt:lpstr>Логика изложения</vt:lpstr>
      <vt:lpstr>Содержание исследования</vt:lpstr>
      <vt:lpstr>Примеры</vt:lpstr>
      <vt:lpstr>Примеры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Домашнее задание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Евгений</dc:creator>
  <cp:lastModifiedBy>Евгений</cp:lastModifiedBy>
  <cp:revision>118</cp:revision>
  <cp:lastPrinted>1601-01-01T00:00:00Z</cp:lastPrinted>
  <dcterms:created xsi:type="dcterms:W3CDTF">1601-01-01T00:00:00Z</dcterms:created>
  <dcterms:modified xsi:type="dcterms:W3CDTF">2020-02-27T08:05:00Z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