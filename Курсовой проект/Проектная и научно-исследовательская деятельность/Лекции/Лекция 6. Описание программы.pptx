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24"/>
  </p:notesMasterIdLst>
  <p:sldIdLst>
    <p:sldId id="256" r:id="rId2"/>
    <p:sldId id="258" r:id="rId3"/>
    <p:sldId id="280" r:id="rId4"/>
    <p:sldId id="281" r:id="rId5"/>
    <p:sldId id="282" r:id="rId6"/>
    <p:sldId id="283" r:id="rId7"/>
    <p:sldId id="284" r:id="rId8"/>
    <p:sldId id="285" r:id="rId9"/>
    <p:sldId id="297" r:id="rId10"/>
    <p:sldId id="298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6" r:id="rId20"/>
    <p:sldId id="294" r:id="rId21"/>
    <p:sldId id="295" r:id="rId22"/>
    <p:sldId id="299" r:id="rId23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42" autoAdjust="0"/>
  </p:normalViewPr>
  <p:slideViewPr>
    <p:cSldViewPr>
      <p:cViewPr varScale="1">
        <p:scale>
          <a:sx n="83" d="100"/>
          <a:sy n="83" d="100"/>
        </p:scale>
        <p:origin x="14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005E36A-8EDC-4E31-9B63-285D193767E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747309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B8259CC-53A9-4F68-9122-BD3ED8262002}" type="slidenum">
              <a:rPr lang="ru-RU" altLang="ru-RU"/>
              <a:pPr>
                <a:spcBef>
                  <a:spcPct val="0"/>
                </a:spcBef>
              </a:pPr>
              <a:t>1</a:t>
            </a:fld>
            <a:endParaRPr lang="ru-RU" altLang="ru-RU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134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025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26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FB21968-7D78-415F-BB78-B24E80990A0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31096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AD0CF8-1480-4D28-93BE-4B08BBA353D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317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5884F-A277-4175-8F8C-0F05779891D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09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E7C33-4100-4D99-B93D-5114B364E0A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931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5EA52-F79E-4862-9A0C-CF38FD33A75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874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670AEA-0D0E-4630-AF00-4FC21D90682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29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4159F-ED31-4607-9E7D-37127597B47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62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F51E40-0D4A-42C3-9DA9-FB0F440AB02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55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5B163-6156-4C3C-B7BB-5E9DB471F36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25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2B81E2-802C-447D-96C7-5BE0491EF06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309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ED459-2ACC-46C2-BBB6-5F4EEF02E70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42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FC514E1B-10C4-4637-98B6-CD0A443837D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923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172200" cy="2209800"/>
          </a:xfrm>
        </p:spPr>
        <p:txBody>
          <a:bodyPr/>
          <a:lstStyle/>
          <a:p>
            <a:pPr eaLnBrk="1" hangingPunct="1"/>
            <a:r>
              <a:rPr lang="ru-RU" altLang="ru-RU" sz="4300" b="1" dirty="0"/>
              <a:t>Описание программы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Лекция 6</a:t>
            </a:r>
            <a:endParaRPr lang="ru-RU" alt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Процесс разработки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572000"/>
          </a:xfrm>
        </p:spPr>
        <p:txBody>
          <a:bodyPr/>
          <a:lstStyle/>
          <a:p>
            <a:r>
              <a:rPr lang="ru-RU" dirty="0"/>
              <a:t>Анализ требований</a:t>
            </a:r>
          </a:p>
          <a:p>
            <a:r>
              <a:rPr lang="ru-RU" dirty="0"/>
              <a:t>Проектирование</a:t>
            </a:r>
          </a:p>
          <a:p>
            <a:r>
              <a:rPr lang="ru-RU" dirty="0"/>
              <a:t>Кодирование</a:t>
            </a:r>
          </a:p>
          <a:p>
            <a:r>
              <a:rPr lang="ru-RU" dirty="0"/>
              <a:t>Тестирование и отладка</a:t>
            </a:r>
          </a:p>
          <a:p>
            <a:r>
              <a:rPr lang="ru-RU" dirty="0"/>
              <a:t>Внедрение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054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План описания программы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419600"/>
          </a:xfrm>
        </p:spPr>
        <p:txBody>
          <a:bodyPr/>
          <a:lstStyle/>
          <a:p>
            <a:r>
              <a:rPr lang="ru-RU" dirty="0"/>
              <a:t>Анализ требований</a:t>
            </a:r>
          </a:p>
          <a:p>
            <a:r>
              <a:rPr lang="ru-RU" dirty="0"/>
              <a:t>Выбор языков/инструментов</a:t>
            </a:r>
          </a:p>
          <a:p>
            <a:r>
              <a:rPr lang="ru-RU" dirty="0"/>
              <a:t>Архитектура программы</a:t>
            </a:r>
          </a:p>
          <a:p>
            <a:r>
              <a:rPr lang="ru-RU" dirty="0"/>
              <a:t>Программная реализация</a:t>
            </a:r>
          </a:p>
          <a:p>
            <a:r>
              <a:rPr lang="ru-RU" dirty="0"/>
              <a:t>Тестирование программы</a:t>
            </a:r>
          </a:p>
          <a:p>
            <a:r>
              <a:rPr lang="ru-RU" dirty="0"/>
              <a:t>Пользовательский интерфейс</a:t>
            </a:r>
          </a:p>
          <a:p>
            <a:r>
              <a:rPr lang="ru-RU" dirty="0"/>
              <a:t>Внедрение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283855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1. Анализ требований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Связь с постановкой задачи из первой главы</a:t>
            </a:r>
          </a:p>
          <a:p>
            <a:r>
              <a:rPr lang="ru-RU" dirty="0"/>
              <a:t>Требования:</a:t>
            </a:r>
          </a:p>
          <a:p>
            <a:pPr lvl="1"/>
            <a:r>
              <a:rPr lang="ru-RU" dirty="0"/>
              <a:t>сценарии использования</a:t>
            </a:r>
          </a:p>
          <a:p>
            <a:pPr lvl="1"/>
            <a:r>
              <a:rPr lang="ru-RU" dirty="0"/>
              <a:t>требования к эффективности</a:t>
            </a:r>
          </a:p>
          <a:p>
            <a:pPr lvl="1"/>
            <a:r>
              <a:rPr lang="ru-RU" dirty="0"/>
              <a:t>требования к производительности</a:t>
            </a:r>
          </a:p>
          <a:p>
            <a:pPr lvl="1"/>
            <a:r>
              <a:rPr lang="ru-RU" dirty="0"/>
              <a:t>…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980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1. Анализ требований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495800"/>
          </a:xfrm>
        </p:spPr>
        <p:txBody>
          <a:bodyPr/>
          <a:lstStyle/>
          <a:p>
            <a:r>
              <a:rPr lang="en-US" dirty="0"/>
              <a:t>UML – Unified Modeling Language</a:t>
            </a:r>
          </a:p>
          <a:p>
            <a:r>
              <a:rPr lang="ru-RU" dirty="0"/>
              <a:t>Диаграммы:</a:t>
            </a:r>
          </a:p>
          <a:p>
            <a:pPr lvl="1"/>
            <a:r>
              <a:rPr lang="ru-RU" dirty="0"/>
              <a:t>сценариев использования</a:t>
            </a:r>
          </a:p>
          <a:p>
            <a:pPr lvl="1"/>
            <a:r>
              <a:rPr lang="ru-RU" dirty="0"/>
              <a:t>классов</a:t>
            </a:r>
          </a:p>
          <a:p>
            <a:pPr lvl="1"/>
            <a:r>
              <a:rPr lang="ru-RU" dirty="0"/>
              <a:t>объектов</a:t>
            </a:r>
          </a:p>
          <a:p>
            <a:pPr lvl="1"/>
            <a:r>
              <a:rPr lang="ru-RU" dirty="0"/>
              <a:t>деятельности</a:t>
            </a:r>
          </a:p>
          <a:p>
            <a:pPr lvl="1"/>
            <a:r>
              <a:rPr lang="ru-RU" dirty="0"/>
              <a:t>состояний</a:t>
            </a:r>
          </a:p>
          <a:p>
            <a:pPr lvl="1"/>
            <a:r>
              <a:rPr lang="ru-RU" dirty="0"/>
              <a:t>последовательности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674633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1. Анализ требований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Диаграммы сценариев использования:</a:t>
            </a:r>
          </a:p>
        </p:txBody>
      </p:sp>
      <p:pic>
        <p:nvPicPr>
          <p:cNvPr id="1026" name="Picture 2" descr="http://www.intuit.ru/EDI/12_08_14_3/1407852794-22209/tutorial/92/objects/4/files/4-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819400"/>
            <a:ext cx="5943600" cy="3893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379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2. Выбор языков/инструментов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610600" cy="4495800"/>
          </a:xfrm>
        </p:spPr>
        <p:txBody>
          <a:bodyPr/>
          <a:lstStyle/>
          <a:p>
            <a:r>
              <a:rPr lang="ru-RU" dirty="0"/>
              <a:t>Критерии выбора:</a:t>
            </a:r>
          </a:p>
          <a:p>
            <a:pPr lvl="1"/>
            <a:r>
              <a:rPr lang="ru-RU" dirty="0"/>
              <a:t>знания программиста</a:t>
            </a:r>
          </a:p>
          <a:p>
            <a:pPr lvl="1"/>
            <a:r>
              <a:rPr lang="ru-RU" dirty="0"/>
              <a:t>возможности языка/инструмента</a:t>
            </a:r>
          </a:p>
          <a:p>
            <a:pPr lvl="1"/>
            <a:r>
              <a:rPr lang="ru-RU" dirty="0"/>
              <a:t>используемые в организации языки/средства</a:t>
            </a:r>
          </a:p>
          <a:p>
            <a:r>
              <a:rPr lang="ru-RU" dirty="0"/>
              <a:t>Примеры:</a:t>
            </a:r>
          </a:p>
          <a:p>
            <a:pPr lvl="1"/>
            <a:r>
              <a:rPr lang="ru-RU" dirty="0"/>
              <a:t>сложная математика</a:t>
            </a:r>
          </a:p>
          <a:p>
            <a:pPr lvl="1"/>
            <a:r>
              <a:rPr lang="ru-RU" dirty="0"/>
              <a:t>высокопроизводительные вычисления</a:t>
            </a:r>
          </a:p>
          <a:p>
            <a:pPr lvl="1"/>
            <a:r>
              <a:rPr lang="ru-RU" dirty="0"/>
              <a:t>веб-разработка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196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3. Архитектура программы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9947" y="1834551"/>
            <a:ext cx="8458200" cy="4876800"/>
          </a:xfrm>
        </p:spPr>
        <p:txBody>
          <a:bodyPr/>
          <a:lstStyle/>
          <a:p>
            <a:r>
              <a:rPr lang="ru-RU" dirty="0"/>
              <a:t>Виды:</a:t>
            </a:r>
          </a:p>
          <a:p>
            <a:pPr lvl="1"/>
            <a:r>
              <a:rPr lang="ru-RU" dirty="0"/>
              <a:t>многоуровневая иерархическая</a:t>
            </a:r>
          </a:p>
          <a:p>
            <a:pPr lvl="1"/>
            <a:r>
              <a:rPr lang="en-US" dirty="0"/>
              <a:t>Model-View-Controller (MVC)</a:t>
            </a:r>
          </a:p>
          <a:p>
            <a:pPr lvl="1"/>
            <a:r>
              <a:rPr lang="ru-RU" dirty="0"/>
              <a:t>клиент-сервер</a:t>
            </a:r>
          </a:p>
          <a:p>
            <a:pPr lvl="1"/>
            <a:r>
              <a:rPr lang="ru-RU" dirty="0"/>
              <a:t>параллельные</a:t>
            </a:r>
          </a:p>
          <a:p>
            <a:pPr lvl="1"/>
            <a:r>
              <a:rPr lang="ru-RU" dirty="0"/>
              <a:t>…</a:t>
            </a:r>
          </a:p>
          <a:p>
            <a:r>
              <a:rPr lang="ru-RU" dirty="0"/>
              <a:t>Шаблоны (паттерны) проектирования:</a:t>
            </a:r>
          </a:p>
          <a:p>
            <a:pPr lvl="1"/>
            <a:r>
              <a:rPr lang="ru-RU" sz="2400" dirty="0"/>
              <a:t>См. Гамма Э., </a:t>
            </a:r>
            <a:r>
              <a:rPr lang="ru-RU" sz="2400" dirty="0" err="1"/>
              <a:t>Хелм</a:t>
            </a:r>
            <a:r>
              <a:rPr lang="ru-RU" sz="2400" dirty="0"/>
              <a:t> Р. и др. Приёмы объектно-ориентированного проектирования. Паттерны проектирования (1995)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8233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Model-View-Controller</a:t>
            </a:r>
          </a:p>
        </p:txBody>
      </p:sp>
      <p:pic>
        <p:nvPicPr>
          <p:cNvPr id="1028" name="Picture 4" descr="MVC-Process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1619250"/>
            <a:ext cx="476250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181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3. Архитектура программы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610600" cy="3886200"/>
          </a:xfrm>
        </p:spPr>
        <p:txBody>
          <a:bodyPr/>
          <a:lstStyle/>
          <a:p>
            <a:r>
              <a:rPr lang="ru-RU" dirty="0"/>
              <a:t>Структура базы данных:</a:t>
            </a:r>
          </a:p>
          <a:p>
            <a:pPr lvl="1"/>
            <a:r>
              <a:rPr lang="ru-RU" dirty="0"/>
              <a:t>концептуальное (инфологическое) проектирование</a:t>
            </a:r>
          </a:p>
          <a:p>
            <a:pPr lvl="1"/>
            <a:r>
              <a:rPr lang="ru-RU" dirty="0"/>
              <a:t>логическое (</a:t>
            </a:r>
            <a:r>
              <a:rPr lang="ru-RU" dirty="0" err="1"/>
              <a:t>даталогическое</a:t>
            </a:r>
            <a:r>
              <a:rPr lang="ru-RU" dirty="0"/>
              <a:t>) проектирование</a:t>
            </a:r>
          </a:p>
          <a:p>
            <a:pPr lvl="1"/>
            <a:r>
              <a:rPr lang="ru-RU" dirty="0"/>
              <a:t>физическое проектирование</a:t>
            </a:r>
          </a:p>
          <a:p>
            <a:pPr lvl="1"/>
            <a:endParaRPr lang="ru-RU" dirty="0"/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3395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3. Архитектура программы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3886200"/>
          </a:xfrm>
        </p:spPr>
        <p:txBody>
          <a:bodyPr/>
          <a:lstStyle/>
          <a:p>
            <a:r>
              <a:rPr lang="ru-RU" dirty="0"/>
              <a:t>Диаграммы классов:</a:t>
            </a:r>
          </a:p>
        </p:txBody>
      </p:sp>
      <p:pic>
        <p:nvPicPr>
          <p:cNvPr id="2050" name="Picture 2" descr="http://proft.me/static/img/uml/clas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389909"/>
            <a:ext cx="5715000" cy="4468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995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3. Архитектура программы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Средства для построения диаграмм классов:</a:t>
            </a:r>
          </a:p>
          <a:p>
            <a:r>
              <a:rPr lang="en-US" dirty="0"/>
              <a:t>Microsoft Visio</a:t>
            </a:r>
          </a:p>
          <a:p>
            <a:r>
              <a:rPr lang="en-US" dirty="0"/>
              <a:t>Visual Studio</a:t>
            </a:r>
          </a:p>
          <a:p>
            <a:r>
              <a:rPr lang="en-US" dirty="0" err="1"/>
              <a:t>StarUML</a:t>
            </a:r>
            <a:endParaRPr lang="en-US" dirty="0"/>
          </a:p>
          <a:p>
            <a:r>
              <a:rPr lang="en-US" dirty="0"/>
              <a:t>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403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</a:t>
            </a:r>
            <a:r>
              <a:rPr lang="ru-RU" b="1" dirty="0"/>
              <a:t>Программная реализация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419600"/>
          </a:xfrm>
        </p:spPr>
        <p:txBody>
          <a:bodyPr/>
          <a:lstStyle/>
          <a:p>
            <a:r>
              <a:rPr lang="ru-RU" dirty="0"/>
              <a:t>Возможно, имеет смысл объединить</a:t>
            </a:r>
            <a:br>
              <a:rPr lang="ru-RU" dirty="0"/>
            </a:br>
            <a:r>
              <a:rPr lang="ru-RU" dirty="0"/>
              <a:t>с предыдущим разделом:</a:t>
            </a:r>
          </a:p>
          <a:p>
            <a:pPr lvl="1"/>
            <a:r>
              <a:rPr lang="ru-RU" dirty="0"/>
              <a:t>привести диаграмму классов</a:t>
            </a:r>
          </a:p>
          <a:p>
            <a:pPr lvl="1"/>
            <a:r>
              <a:rPr lang="ru-RU" dirty="0"/>
              <a:t>рассмотреть каждый класс</a:t>
            </a:r>
            <a:br>
              <a:rPr lang="ru-RU" dirty="0"/>
            </a:br>
            <a:r>
              <a:rPr lang="ru-RU" dirty="0"/>
              <a:t>с реализацией полей и методов</a:t>
            </a:r>
          </a:p>
          <a:p>
            <a:pPr lvl="1"/>
            <a:r>
              <a:rPr lang="ru-RU" dirty="0"/>
              <a:t>подробно нужно рассматривать</a:t>
            </a:r>
            <a:br>
              <a:rPr lang="ru-RU" dirty="0"/>
            </a:br>
            <a:r>
              <a:rPr lang="ru-RU" dirty="0"/>
              <a:t>только ключевые методы</a:t>
            </a:r>
          </a:p>
        </p:txBody>
      </p:sp>
    </p:spTree>
    <p:extLst>
      <p:ext uri="{BB962C8B-B14F-4D97-AF65-F5344CB8AC3E}">
        <p14:creationId xmlns:p14="http://schemas.microsoft.com/office/powerpoint/2010/main" val="386055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</a:t>
            </a:r>
            <a:r>
              <a:rPr lang="ru-RU" b="1" dirty="0"/>
              <a:t>Программная реализация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Диаграммы</a:t>
            </a:r>
            <a:br>
              <a:rPr lang="ru-RU" dirty="0"/>
            </a:br>
            <a:r>
              <a:rPr lang="ru-RU" dirty="0"/>
              <a:t>деятельности:</a:t>
            </a:r>
          </a:p>
        </p:txBody>
      </p:sp>
      <p:pic>
        <p:nvPicPr>
          <p:cNvPr id="2052" name="Picture 4" descr="http://www.intuit.ru/EDI/21_12_14_1/1419110295-31391/tutorial/356/objects/4/files/04_05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5" y="1676400"/>
            <a:ext cx="5133975" cy="5154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1522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</a:t>
            </a:r>
            <a:r>
              <a:rPr lang="ru-RU" b="1" dirty="0"/>
              <a:t>Программная реализация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Диаграммы состояний:</a:t>
            </a:r>
          </a:p>
        </p:txBody>
      </p:sp>
      <p:pic>
        <p:nvPicPr>
          <p:cNvPr id="4" name="Picture 2" descr="http://unesco.kemsu.ru/study_work/method/po/UMK/lab_pract/lab04.29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717455"/>
            <a:ext cx="6324600" cy="4134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2599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</a:t>
            </a:r>
            <a:r>
              <a:rPr lang="ru-RU" b="1" dirty="0"/>
              <a:t>Программная реализация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Диаграммы взаимодействия:</a:t>
            </a:r>
          </a:p>
        </p:txBody>
      </p:sp>
      <p:pic>
        <p:nvPicPr>
          <p:cNvPr id="1026" name="Picture 2" descr="http://programador.ru/wp-content/uploads/2009/12/sequence_diagr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667000"/>
            <a:ext cx="5410200" cy="4041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5516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</a:t>
            </a:r>
            <a:r>
              <a:rPr lang="ru-RU" b="1" dirty="0"/>
              <a:t>Программная реализация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Связь с алгоритмами из первой главы</a:t>
            </a:r>
          </a:p>
          <a:p>
            <a:r>
              <a:rPr lang="ru-RU" dirty="0"/>
              <a:t>Компромисс между понятностью</a:t>
            </a:r>
            <a:br>
              <a:rPr lang="ru-RU" dirty="0"/>
            </a:br>
            <a:r>
              <a:rPr lang="ru-RU" dirty="0"/>
              <a:t>и углублением в детали</a:t>
            </a:r>
          </a:p>
          <a:p>
            <a:r>
              <a:rPr lang="ru-RU" dirty="0"/>
              <a:t>Листинг – в Приложение</a:t>
            </a:r>
          </a:p>
          <a:p>
            <a:pPr lvl="1"/>
            <a:r>
              <a:rPr lang="ru-RU" dirty="0"/>
              <a:t>осмысленные имена на английском</a:t>
            </a:r>
          </a:p>
          <a:p>
            <a:pPr lvl="1"/>
            <a:r>
              <a:rPr lang="ru-RU" dirty="0"/>
              <a:t>комментарии</a:t>
            </a:r>
          </a:p>
        </p:txBody>
      </p:sp>
    </p:spTree>
    <p:extLst>
      <p:ext uri="{BB962C8B-B14F-4D97-AF65-F5344CB8AC3E}">
        <p14:creationId xmlns:p14="http://schemas.microsoft.com/office/powerpoint/2010/main" val="237269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5. Тестирование программы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Описание процедуры тестирования:</a:t>
            </a:r>
          </a:p>
          <a:p>
            <a:r>
              <a:rPr lang="ru-RU" dirty="0"/>
              <a:t>функциональное тестирование</a:t>
            </a:r>
          </a:p>
          <a:p>
            <a:r>
              <a:rPr lang="ru-RU" dirty="0"/>
              <a:t>тестирование производительности</a:t>
            </a:r>
          </a:p>
          <a:p>
            <a:r>
              <a:rPr lang="ru-RU" dirty="0"/>
              <a:t>тестирование безопасности</a:t>
            </a:r>
          </a:p>
          <a:p>
            <a:r>
              <a:rPr lang="ru-RU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7567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5. Тестирование программы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случае исследовательских работ</a:t>
            </a:r>
            <a:br>
              <a:rPr lang="ru-RU" dirty="0"/>
            </a:br>
            <a:r>
              <a:rPr lang="ru-RU" dirty="0"/>
              <a:t>этот параграф отличается от раздела описания экспериментов</a:t>
            </a:r>
          </a:p>
        </p:txBody>
      </p:sp>
    </p:spTree>
    <p:extLst>
      <p:ext uri="{BB962C8B-B14F-4D97-AF65-F5344CB8AC3E}">
        <p14:creationId xmlns:p14="http://schemas.microsoft.com/office/powerpoint/2010/main" val="3725928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dirty="0"/>
              <a:t>6. Пользовательский интерфейс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Привести скриншоты основных форм</a:t>
            </a:r>
            <a:br>
              <a:rPr lang="ru-RU" dirty="0"/>
            </a:br>
            <a:r>
              <a:rPr lang="ru-RU" dirty="0"/>
              <a:t>с описанием ключевых элементов</a:t>
            </a:r>
          </a:p>
        </p:txBody>
      </p:sp>
    </p:spTree>
    <p:extLst>
      <p:ext uri="{BB962C8B-B14F-4D97-AF65-F5344CB8AC3E}">
        <p14:creationId xmlns:p14="http://schemas.microsoft.com/office/powerpoint/2010/main" val="1611237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7. Внедрение программы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есть</a:t>
            </a:r>
          </a:p>
          <a:p>
            <a:r>
              <a:rPr lang="ru-RU" dirty="0"/>
              <a:t>Сопряжение с существующей инфраструктурой</a:t>
            </a:r>
          </a:p>
          <a:p>
            <a:r>
              <a:rPr lang="ru-RU" dirty="0"/>
              <a:t>Документирование</a:t>
            </a:r>
          </a:p>
          <a:p>
            <a:r>
              <a:rPr lang="ru-RU" dirty="0"/>
              <a:t>Обучение пользователей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3795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Домашнее задание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382000" cy="3886200"/>
          </a:xfrm>
        </p:spPr>
        <p:txBody>
          <a:bodyPr/>
          <a:lstStyle/>
          <a:p>
            <a:r>
              <a:rPr lang="ru-RU"/>
              <a:t>Описание программы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4749489"/>
      </p:ext>
    </p:extLst>
  </p:cSld>
  <p:clrMapOvr>
    <a:masterClrMapping/>
  </p:clrMapOvr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2427</TotalTime>
  <Words>284</Words>
  <Application>Microsoft Office PowerPoint</Application>
  <PresentationFormat>Экран (4:3)</PresentationFormat>
  <Paragraphs>101</Paragraphs>
  <Slides>22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Arial Black</vt:lpstr>
      <vt:lpstr>Times New Roman</vt:lpstr>
      <vt:lpstr>Wingdings</vt:lpstr>
      <vt:lpstr>Пиксел</vt:lpstr>
      <vt:lpstr>Описание программы</vt:lpstr>
      <vt:lpstr>Процесс разработки</vt:lpstr>
      <vt:lpstr>План описания программы</vt:lpstr>
      <vt:lpstr>1. Анализ требований</vt:lpstr>
      <vt:lpstr>1. Анализ требований</vt:lpstr>
      <vt:lpstr>1. Анализ требований</vt:lpstr>
      <vt:lpstr>2. Выбор языков/инструментов</vt:lpstr>
      <vt:lpstr>3. Архитектура программы</vt:lpstr>
      <vt:lpstr>Model-View-Controller</vt:lpstr>
      <vt:lpstr>3. Архитектура программы</vt:lpstr>
      <vt:lpstr>3. Архитектура программы</vt:lpstr>
      <vt:lpstr>3. Архитектура программы</vt:lpstr>
      <vt:lpstr>4. Программная реализация</vt:lpstr>
      <vt:lpstr>4. Программная реализация</vt:lpstr>
      <vt:lpstr>4. Программная реализация</vt:lpstr>
      <vt:lpstr>4. Программная реализация</vt:lpstr>
      <vt:lpstr>4. Программная реализация</vt:lpstr>
      <vt:lpstr>5. Тестирование программы</vt:lpstr>
      <vt:lpstr>5. Тестирование программы</vt:lpstr>
      <vt:lpstr>6. Пользовательский интерфейс</vt:lpstr>
      <vt:lpstr>7. Внедрение программы</vt:lpstr>
      <vt:lpstr>Домашнее 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Евгений</dc:creator>
  <cp:lastModifiedBy>Евгений</cp:lastModifiedBy>
  <cp:revision>146</cp:revision>
  <cp:lastPrinted>1601-01-01T00:00:00Z</cp:lastPrinted>
  <dcterms:created xsi:type="dcterms:W3CDTF">1601-01-01T00:00:00Z</dcterms:created>
  <dcterms:modified xsi:type="dcterms:W3CDTF">2020-04-23T12:38:58Z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