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23"/>
  </p:notes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4" r:id="rId9"/>
    <p:sldId id="263" r:id="rId10"/>
    <p:sldId id="265" r:id="rId11"/>
    <p:sldId id="262" r:id="rId12"/>
    <p:sldId id="266" r:id="rId13"/>
    <p:sldId id="267" r:id="rId14"/>
    <p:sldId id="268" r:id="rId15"/>
    <p:sldId id="269" r:id="rId16"/>
    <p:sldId id="270" r:id="rId17"/>
    <p:sldId id="277" r:id="rId18"/>
    <p:sldId id="271" r:id="rId19"/>
    <p:sldId id="272" r:id="rId20"/>
    <p:sldId id="273" r:id="rId21"/>
    <p:sldId id="274" r:id="rId22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268" autoAdjust="0"/>
  </p:normalViewPr>
  <p:slideViewPr>
    <p:cSldViewPr>
      <p:cViewPr varScale="1">
        <p:scale>
          <a:sx n="79" d="100"/>
          <a:sy n="79" d="100"/>
        </p:scale>
        <p:origin x="152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005E36A-8EDC-4E31-9B63-285D193767E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747309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8259CC-53A9-4F68-9122-BD3ED8262002}" type="slidenum">
              <a:rPr lang="ru-RU" altLang="ru-RU"/>
              <a:pPr>
                <a:spcBef>
                  <a:spcPct val="0"/>
                </a:spcBef>
              </a:pPr>
              <a:t>1</a:t>
            </a:fld>
            <a:endParaRPr lang="ru-RU" altLang="ru-RU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u-RU" alt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134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ru-RU" altLang="ru-RU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02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02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B21968-7D78-415F-BB78-B24E80990A05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131096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‹#›</a:t>
            </a:fld>
            <a:endParaRPr lang="ru-RU" alt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31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5884F-A277-4175-8F8C-0F05779891DE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309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E7C33-4100-4D99-B93D-5114B364E0A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93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5EA52-F79E-4862-9A0C-CF38FD33A75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874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670AEA-0D0E-4630-AF00-4FC21D90682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293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4159F-ED31-4607-9E7D-37127597B47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629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F51E40-0D4A-42C3-9DA9-FB0F440AB02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55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5B163-6156-4C3C-B7BB-5E9DB471F36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25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B81E2-802C-447D-96C7-5BE0491EF06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309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ED459-2ACC-46C2-BBB6-5F4EEF02E70F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42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+mj-lt"/>
              </a:defRPr>
            </a:lvl1pPr>
          </a:lstStyle>
          <a:p>
            <a:pPr>
              <a:defRPr/>
            </a:pPr>
            <a:fld id="{FC514E1B-10C4-4637-98B6-CD0A443837D6}" type="slidenum">
              <a:rPr lang="ru-RU" altLang="ru-RU" smtClean="0"/>
              <a:pPr>
                <a:defRPr/>
              </a:pPr>
              <a:t>‹#›</a:t>
            </a:fld>
            <a:endParaRPr lang="ru-RU" altLang="ru-RU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923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citeseerx.ist.psu.edu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172200" cy="2209800"/>
          </a:xfrm>
        </p:spPr>
        <p:txBody>
          <a:bodyPr/>
          <a:lstStyle/>
          <a:p>
            <a:pPr eaLnBrk="1" hangingPunct="1"/>
            <a:r>
              <a:rPr lang="ru-RU" altLang="ru-RU" sz="4300" b="1" dirty="0"/>
              <a:t>Оформление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ru-RU" altLang="ru-RU"/>
              <a:t>Лекция 7</a:t>
            </a:r>
            <a:endParaRPr lang="ru-RU" alt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343400"/>
          </a:xfrm>
        </p:spPr>
        <p:txBody>
          <a:bodyPr/>
          <a:lstStyle/>
          <a:p>
            <a:r>
              <a:rPr lang="ru-RU" sz="2800" dirty="0"/>
              <a:t>Титульный лист</a:t>
            </a:r>
          </a:p>
          <a:p>
            <a:r>
              <a:rPr lang="ru-RU" sz="2800" dirty="0"/>
              <a:t>Задание (вкладывается отдельно в конце)</a:t>
            </a:r>
          </a:p>
          <a:p>
            <a:r>
              <a:rPr lang="ru-RU" sz="2800" dirty="0"/>
              <a:t>Содержание</a:t>
            </a:r>
          </a:p>
          <a:p>
            <a:r>
              <a:rPr lang="ru-RU" sz="2800" dirty="0"/>
              <a:t>Основная часть:</a:t>
            </a:r>
          </a:p>
          <a:p>
            <a:pPr lvl="1"/>
            <a:r>
              <a:rPr lang="ru-RU" sz="2400" dirty="0"/>
              <a:t>Введение</a:t>
            </a:r>
          </a:p>
          <a:p>
            <a:pPr lvl="1"/>
            <a:r>
              <a:rPr lang="ru-RU" sz="2400" dirty="0"/>
              <a:t>Раздел 1</a:t>
            </a:r>
          </a:p>
          <a:p>
            <a:pPr lvl="1"/>
            <a:r>
              <a:rPr lang="ru-RU" sz="2400" dirty="0"/>
              <a:t>Раздел 2</a:t>
            </a:r>
          </a:p>
          <a:p>
            <a:pPr lvl="1"/>
            <a:r>
              <a:rPr lang="ru-RU" sz="2400" dirty="0"/>
              <a:t>Заключение</a:t>
            </a:r>
          </a:p>
          <a:p>
            <a:r>
              <a:rPr lang="ru-RU" sz="2800" dirty="0"/>
              <a:t>Библиографический список</a:t>
            </a:r>
          </a:p>
          <a:p>
            <a:r>
              <a:rPr lang="ru-RU" sz="2800" dirty="0"/>
              <a:t>Приложения</a:t>
            </a:r>
          </a:p>
          <a:p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1914CF-84EA-405B-9321-C2860F54E5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21782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Титульный</a:t>
            </a:r>
            <a:br>
              <a:rPr lang="ru-RU" b="1" dirty="0"/>
            </a:br>
            <a:r>
              <a:rPr lang="ru-RU" b="1" dirty="0"/>
              <a:t>лист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29A802-D3DB-4C79-B931-2BFCB0703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57200"/>
            <a:ext cx="4928051" cy="6294582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9301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Задание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6CFF0F-1308-4A2E-9210-23FA178A6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33400"/>
            <a:ext cx="4809795" cy="62484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7589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Содержание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458200" cy="3886200"/>
          </a:xfrm>
        </p:spPr>
        <p:txBody>
          <a:bodyPr/>
          <a:lstStyle/>
          <a:p>
            <a:r>
              <a:rPr lang="ru-RU" dirty="0"/>
              <a:t>Автоматическое!</a:t>
            </a:r>
          </a:p>
          <a:p>
            <a:r>
              <a:rPr lang="ru-RU" dirty="0"/>
              <a:t>Стили:</a:t>
            </a:r>
          </a:p>
          <a:p>
            <a:pPr lvl="1"/>
            <a:r>
              <a:rPr lang="ru-RU" dirty="0"/>
              <a:t>Заголовок 1 – Введение, Раздел 1, Раздел 2, Заключение, Библиографический список, Приложения</a:t>
            </a:r>
          </a:p>
          <a:p>
            <a:pPr lvl="1"/>
            <a:r>
              <a:rPr lang="ru-RU" dirty="0"/>
              <a:t>Заголовок 2 – подразделы</a:t>
            </a:r>
          </a:p>
          <a:p>
            <a:pPr lvl="1"/>
            <a:r>
              <a:rPr lang="ru-RU" dirty="0"/>
              <a:t>Заголовок 3 – пункты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1E26F3-844D-4719-A64B-D5EFBFEC0A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84029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Содержание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19600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Форматы заголовков:</a:t>
            </a:r>
          </a:p>
          <a:p>
            <a:r>
              <a:rPr lang="ru-RU" sz="2800" dirty="0"/>
              <a:t>Все заголовки – жирный шрифт, полуторный междустрочный интервал,</a:t>
            </a:r>
            <a:br>
              <a:rPr lang="ru-RU" sz="2800" dirty="0"/>
            </a:br>
            <a:r>
              <a:rPr lang="ru-RU" sz="2800" dirty="0"/>
              <a:t>интервалы до и после абзацев – 0 </a:t>
            </a:r>
            <a:r>
              <a:rPr lang="ru-RU" sz="2800" dirty="0" err="1"/>
              <a:t>пт</a:t>
            </a:r>
            <a:endParaRPr lang="ru-RU" sz="2800" dirty="0"/>
          </a:p>
          <a:p>
            <a:r>
              <a:rPr lang="ru-RU" sz="2800" dirty="0"/>
              <a:t>Заголовок 1 – 18 </a:t>
            </a:r>
            <a:r>
              <a:rPr lang="ru-RU" sz="2800" dirty="0" err="1"/>
              <a:t>пт</a:t>
            </a:r>
            <a:r>
              <a:rPr lang="ru-RU" sz="2800" dirty="0"/>
              <a:t>, по центру</a:t>
            </a:r>
          </a:p>
          <a:p>
            <a:r>
              <a:rPr lang="ru-RU" sz="2800" dirty="0"/>
              <a:t>Заголовок 2 – 16 </a:t>
            </a:r>
            <a:r>
              <a:rPr lang="ru-RU" sz="2800" dirty="0" err="1"/>
              <a:t>пт</a:t>
            </a:r>
            <a:r>
              <a:rPr lang="ru-RU" sz="2800" dirty="0"/>
              <a:t>, по центру</a:t>
            </a:r>
          </a:p>
          <a:p>
            <a:r>
              <a:rPr lang="ru-RU" sz="2800" dirty="0"/>
              <a:t>Заголовок 3 – 14 </a:t>
            </a:r>
            <a:r>
              <a:rPr lang="ru-RU" sz="2800" dirty="0" err="1"/>
              <a:t>пт</a:t>
            </a:r>
            <a:r>
              <a:rPr lang="ru-RU" sz="2800" dirty="0"/>
              <a:t>, по ширине,</a:t>
            </a:r>
            <a:br>
              <a:rPr lang="ru-RU" sz="2800" dirty="0"/>
            </a:br>
            <a:r>
              <a:rPr lang="ru-RU" sz="2800" dirty="0"/>
              <a:t>отступ первой строки – 1 см</a:t>
            </a:r>
          </a:p>
          <a:p>
            <a:r>
              <a:rPr lang="ru-RU" sz="2800" dirty="0"/>
              <a:t>Автоматическая многоуровневая нумерация</a:t>
            </a:r>
          </a:p>
          <a:p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506A0B-D8B0-4305-BE7E-312BDFDE92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807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Основная часть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800600"/>
          </a:xfrm>
        </p:spPr>
        <p:txBody>
          <a:bodyPr/>
          <a:lstStyle/>
          <a:p>
            <a:r>
              <a:rPr lang="ru-RU" dirty="0"/>
              <a:t>Поля:</a:t>
            </a:r>
          </a:p>
          <a:p>
            <a:pPr lvl="1"/>
            <a:r>
              <a:rPr lang="ru-RU" dirty="0"/>
              <a:t>левое – 3 см, правое – 1,5 см</a:t>
            </a:r>
          </a:p>
          <a:p>
            <a:pPr lvl="1"/>
            <a:r>
              <a:rPr lang="ru-RU" dirty="0"/>
              <a:t>верхнее и нижнее – по 2 см</a:t>
            </a:r>
          </a:p>
          <a:p>
            <a:r>
              <a:rPr lang="ru-RU" dirty="0"/>
              <a:t>Шрифт:</a:t>
            </a:r>
          </a:p>
          <a:p>
            <a:pPr lvl="1"/>
            <a:r>
              <a:rPr lang="en-US" dirty="0"/>
              <a:t>Times New Roman, </a:t>
            </a:r>
            <a:r>
              <a:rPr lang="ru-RU" dirty="0"/>
              <a:t>14 </a:t>
            </a:r>
            <a:r>
              <a:rPr lang="ru-RU" dirty="0" err="1"/>
              <a:t>пт</a:t>
            </a:r>
            <a:r>
              <a:rPr lang="ru-RU" dirty="0"/>
              <a:t>, интервал 1,5</a:t>
            </a:r>
          </a:p>
          <a:p>
            <a:r>
              <a:rPr lang="ru-RU" dirty="0"/>
              <a:t>Абзац: </a:t>
            </a:r>
          </a:p>
          <a:p>
            <a:pPr lvl="1"/>
            <a:r>
              <a:rPr lang="ru-RU" dirty="0"/>
              <a:t>выравнивание по ширине</a:t>
            </a:r>
          </a:p>
          <a:p>
            <a:pPr lvl="1"/>
            <a:r>
              <a:rPr lang="ru-RU" dirty="0"/>
              <a:t>абзацный отступ первой строки – 1 см</a:t>
            </a:r>
          </a:p>
          <a:p>
            <a:pPr lvl="1"/>
            <a:r>
              <a:rPr lang="ru-RU" dirty="0"/>
              <a:t>интервал перед/после абзаца – 0 </a:t>
            </a:r>
            <a:r>
              <a:rPr lang="ru-RU" dirty="0" err="1"/>
              <a:t>пт</a:t>
            </a:r>
            <a:endParaRPr lang="ru-RU" dirty="0"/>
          </a:p>
          <a:p>
            <a:pPr lvl="1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FB896B-9C24-4D2C-B02F-F3FEFD0B52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142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Основная часть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19600"/>
          </a:xfrm>
        </p:spPr>
        <p:txBody>
          <a:bodyPr/>
          <a:lstStyle/>
          <a:p>
            <a:r>
              <a:rPr lang="ru-RU" dirty="0"/>
              <a:t>Разделы первого уровня (Введение, разделы, Заключение, …) начинаются</a:t>
            </a:r>
            <a:br>
              <a:rPr lang="ru-RU" dirty="0"/>
            </a:br>
            <a:r>
              <a:rPr lang="ru-RU" dirty="0"/>
              <a:t>с новой страницы</a:t>
            </a:r>
          </a:p>
          <a:p>
            <a:pPr lvl="1"/>
            <a:r>
              <a:rPr lang="ru-RU" dirty="0"/>
              <a:t>разрыв страницы</a:t>
            </a:r>
          </a:p>
          <a:p>
            <a:r>
              <a:rPr lang="ru-RU" dirty="0"/>
              <a:t>Название подраздела (пункта) переносится на следующую страницу, если помещается менее чем 3 строки текста параграфа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9609FB-6971-4CA5-82C3-C03E128ED2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18365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Основная часть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828800"/>
            <a:ext cx="8610600" cy="4495800"/>
          </a:xfrm>
        </p:spPr>
        <p:txBody>
          <a:bodyPr/>
          <a:lstStyle/>
          <a:p>
            <a:r>
              <a:rPr lang="ru-RU" sz="2800" dirty="0"/>
              <a:t>Нумерация страниц:</a:t>
            </a:r>
          </a:p>
          <a:p>
            <a:pPr lvl="1"/>
            <a:r>
              <a:rPr lang="ru-RU" sz="2600" dirty="0"/>
              <a:t>внизу, 12 </a:t>
            </a:r>
            <a:r>
              <a:rPr lang="ru-RU" sz="2600" dirty="0" err="1"/>
              <a:t>пт</a:t>
            </a:r>
            <a:endParaRPr lang="ru-RU" sz="2600" dirty="0"/>
          </a:p>
          <a:p>
            <a:pPr lvl="1"/>
            <a:r>
              <a:rPr lang="ru-RU" sz="2600" dirty="0"/>
              <a:t>нумерация с единицы (титульный лист)</a:t>
            </a:r>
          </a:p>
          <a:p>
            <a:pPr lvl="1"/>
            <a:r>
              <a:rPr lang="ru-RU" sz="2600" dirty="0"/>
              <a:t>на титульном листе номер не ставится</a:t>
            </a:r>
          </a:p>
          <a:p>
            <a:pPr lvl="1"/>
            <a:r>
              <a:rPr lang="ru-RU" sz="2600" dirty="0"/>
              <a:t>Задание не включаются в нумерацию</a:t>
            </a:r>
          </a:p>
          <a:p>
            <a:pPr lvl="1"/>
            <a:r>
              <a:rPr lang="ru-RU" sz="2600" dirty="0"/>
              <a:t>Содержание – страница 2</a:t>
            </a:r>
          </a:p>
          <a:p>
            <a:r>
              <a:rPr lang="ru-RU" sz="2800" dirty="0"/>
              <a:t>Списки:</a:t>
            </a:r>
          </a:p>
          <a:p>
            <a:pPr lvl="1"/>
            <a:r>
              <a:rPr lang="ru-RU" sz="2600" dirty="0"/>
              <a:t>один-два стиля</a:t>
            </a:r>
          </a:p>
          <a:p>
            <a:pPr lvl="1"/>
            <a:r>
              <a:rPr lang="ru-RU" sz="2600" dirty="0"/>
              <a:t>допустимы тире ( – ) и точки ( </a:t>
            </a:r>
            <a:r>
              <a:rPr lang="ru-RU" sz="2600" dirty="0">
                <a:sym typeface="Symbol" panose="05050102010706020507" pitchFamily="18" charset="2"/>
              </a:rPr>
              <a:t> )</a:t>
            </a:r>
          </a:p>
          <a:p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AC4202-ACA2-40CA-826A-FEC218BC25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88755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Основная часть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 аббревиатуры и обозначения должны быть расшифрованы</a:t>
            </a:r>
            <a:br>
              <a:rPr lang="ru-RU" dirty="0"/>
            </a:br>
            <a:r>
              <a:rPr lang="ru-RU" dirty="0"/>
              <a:t>при первом упоминании</a:t>
            </a:r>
          </a:p>
          <a:p>
            <a:r>
              <a:rPr lang="ru-RU" dirty="0"/>
              <a:t>Можно в приложении поместить перечень сокращений и обозначений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EBC784-9B3C-4B42-BAC3-6551C5EDD5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64811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Основная часть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382000" cy="4724400"/>
          </a:xfrm>
        </p:spPr>
        <p:txBody>
          <a:bodyPr/>
          <a:lstStyle/>
          <a:p>
            <a:r>
              <a:rPr lang="ru-RU" sz="2800" dirty="0"/>
              <a:t>Двойные пробелы не допускать</a:t>
            </a:r>
          </a:p>
          <a:p>
            <a:r>
              <a:rPr lang="ru-RU" sz="2800" dirty="0"/>
              <a:t>Неразрывные пробелы (</a:t>
            </a:r>
            <a:r>
              <a:rPr lang="en-US" sz="2800" dirty="0"/>
              <a:t>CTRL+SHIFT+</a:t>
            </a:r>
            <a:r>
              <a:rPr lang="ru-RU" sz="2800" dirty="0"/>
              <a:t>Пробел)</a:t>
            </a:r>
          </a:p>
          <a:p>
            <a:pPr lvl="1"/>
            <a:r>
              <a:rPr lang="ru-RU" sz="2400" dirty="0"/>
              <a:t>ФИО</a:t>
            </a:r>
          </a:p>
          <a:p>
            <a:pPr lvl="1"/>
            <a:r>
              <a:rPr lang="ru-RU" sz="2400" dirty="0"/>
              <a:t>Год</a:t>
            </a:r>
          </a:p>
          <a:p>
            <a:pPr lvl="1"/>
            <a:r>
              <a:rPr lang="ru-RU" sz="2400" dirty="0"/>
              <a:t>Единицы измерения (Мбайт, см, …)</a:t>
            </a:r>
          </a:p>
          <a:p>
            <a:r>
              <a:rPr lang="ru-RU" sz="2800" dirty="0"/>
              <a:t>Тире-дефис:</a:t>
            </a:r>
          </a:p>
          <a:p>
            <a:pPr lvl="1"/>
            <a:r>
              <a:rPr lang="ru-RU" sz="2400" dirty="0"/>
              <a:t>«веб-сайт»</a:t>
            </a:r>
          </a:p>
          <a:p>
            <a:pPr lvl="1"/>
            <a:r>
              <a:rPr lang="ru-RU" sz="2400" dirty="0"/>
              <a:t>«парсинг – это …»</a:t>
            </a:r>
          </a:p>
          <a:p>
            <a:r>
              <a:rPr lang="ru-RU" sz="2800" dirty="0"/>
              <a:t>Большие числа записывать с неразрывными пробелами: 1 000 000 000 вместо 1000000000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6FFD89-DDE2-43FF-A561-DAFDEEE52B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934200" y="6248400"/>
            <a:ext cx="2133600" cy="457200"/>
          </a:xfrm>
        </p:spPr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11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540686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Основная часть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610600" cy="4495800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Рисунки:</a:t>
            </a:r>
          </a:p>
          <a:p>
            <a:r>
              <a:rPr lang="ru-RU" sz="2800" dirty="0"/>
              <a:t>располагаются сразу после упоминания</a:t>
            </a:r>
            <a:br>
              <a:rPr lang="ru-RU" sz="2800" dirty="0"/>
            </a:br>
            <a:r>
              <a:rPr lang="ru-RU" sz="2800" dirty="0"/>
              <a:t>или на следующей странице</a:t>
            </a:r>
          </a:p>
          <a:p>
            <a:r>
              <a:rPr lang="ru-RU" sz="2800" dirty="0"/>
              <a:t>подпись ставится под рисунком по центру:</a:t>
            </a:r>
          </a:p>
          <a:p>
            <a:pPr marL="0" indent="0" algn="ctr">
              <a:spcBef>
                <a:spcPts val="1800"/>
              </a:spcBef>
              <a:spcAft>
                <a:spcPts val="1200"/>
              </a:spcAft>
              <a:buNone/>
            </a:pPr>
            <a:r>
              <a:rPr lang="ru-RU" sz="2800" dirty="0"/>
              <a:t>Рисунок 1.1 – Диаграмма Венна</a:t>
            </a:r>
          </a:p>
          <a:p>
            <a:r>
              <a:rPr lang="ru-RU" sz="2800" dirty="0"/>
              <a:t>ссылка на рисунок: «рисунок 1.1»</a:t>
            </a:r>
          </a:p>
          <a:p>
            <a:r>
              <a:rPr lang="ru-RU" sz="2800" dirty="0"/>
              <a:t>нумерация может быть сквозная</a:t>
            </a:r>
            <a:br>
              <a:rPr lang="ru-RU" sz="2800" dirty="0"/>
            </a:br>
            <a:r>
              <a:rPr lang="ru-RU" sz="2800" dirty="0"/>
              <a:t>или в пределах раздела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9D4275-5FBA-4635-B9E7-F870F54A88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9372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Основная часть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800" dirty="0"/>
              <a:t>Таблицы:</a:t>
            </a:r>
          </a:p>
          <a:p>
            <a:r>
              <a:rPr lang="ru-RU" sz="2800" dirty="0"/>
              <a:t>подпись над таблицей слева:</a:t>
            </a:r>
          </a:p>
          <a:p>
            <a:pPr marL="0" indent="0">
              <a:spcBef>
                <a:spcPts val="2400"/>
              </a:spcBef>
              <a:spcAft>
                <a:spcPts val="1800"/>
              </a:spcAft>
              <a:buNone/>
            </a:pPr>
            <a:r>
              <a:rPr lang="ru-RU" sz="2800" dirty="0"/>
              <a:t>Таблица 1.1 – Результаты экспериментов</a:t>
            </a:r>
          </a:p>
          <a:p>
            <a:r>
              <a:rPr lang="ru-RU" sz="2800" dirty="0"/>
              <a:t>ссылка: таблица 1.1</a:t>
            </a:r>
          </a:p>
          <a:p>
            <a:r>
              <a:rPr lang="ru-RU" sz="2800" dirty="0"/>
              <a:t>нумерация может быть сквозная</a:t>
            </a:r>
            <a:br>
              <a:rPr lang="ru-RU" sz="2800" dirty="0"/>
            </a:br>
            <a:r>
              <a:rPr lang="ru-RU" sz="2800" dirty="0"/>
              <a:t>или в пределах главы</a:t>
            </a:r>
          </a:p>
          <a:p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06088E-780C-4EBB-9F33-70E5CD44AA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13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8551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Основная часть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95800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Таблицы:</a:t>
            </a:r>
          </a:p>
          <a:p>
            <a:r>
              <a:rPr lang="ru-RU" sz="2800" dirty="0"/>
              <a:t>страницу с большой таблицей можно сделать с альбомной ориентацией</a:t>
            </a:r>
          </a:p>
          <a:p>
            <a:r>
              <a:rPr lang="ru-RU" sz="2800" dirty="0"/>
              <a:t>шрифт в таблице может быть меньше 14 </a:t>
            </a:r>
            <a:r>
              <a:rPr lang="ru-RU" sz="2800" dirty="0" err="1"/>
              <a:t>пт</a:t>
            </a:r>
            <a:endParaRPr lang="ru-RU" sz="2800" dirty="0"/>
          </a:p>
          <a:p>
            <a:r>
              <a:rPr lang="ru-RU" sz="2800" dirty="0"/>
              <a:t>количество знаков после запятой</a:t>
            </a:r>
            <a:br>
              <a:rPr lang="ru-RU" sz="2800" dirty="0"/>
            </a:br>
            <a:r>
              <a:rPr lang="ru-RU" sz="2800" dirty="0"/>
              <a:t>в таблице должно быть одинаково</a:t>
            </a:r>
          </a:p>
          <a:p>
            <a:r>
              <a:rPr lang="ru-RU" sz="2800" dirty="0"/>
              <a:t>в таблицах желательно выделять жирным интересующие значения (например, максимальные или минимальные)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9D20B3-2A7F-41A9-8BB9-34EF21979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14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913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Основная часть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6482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Формулы:</a:t>
            </a:r>
          </a:p>
          <a:p>
            <a:r>
              <a:rPr lang="ru-RU" dirty="0"/>
              <a:t>встроенный редактор формул</a:t>
            </a:r>
            <a:br>
              <a:rPr lang="en-US" dirty="0"/>
            </a:br>
            <a:r>
              <a:rPr lang="ru-RU" dirty="0"/>
              <a:t>(начиная с </a:t>
            </a:r>
            <a:r>
              <a:rPr lang="en-US" dirty="0"/>
              <a:t>Word 2007)</a:t>
            </a:r>
            <a:endParaRPr lang="ru-RU" dirty="0"/>
          </a:p>
          <a:p>
            <a:r>
              <a:rPr lang="ru-RU" dirty="0"/>
              <a:t>в отдельной строке по центру</a:t>
            </a:r>
          </a:p>
          <a:p>
            <a:r>
              <a:rPr lang="ru-RU" dirty="0"/>
              <a:t>нумерация справа (можно оформить таблицей с невидимыми границами)</a:t>
            </a:r>
          </a:p>
          <a:p>
            <a:r>
              <a:rPr lang="ru-RU" dirty="0"/>
              <a:t>пояснения после формулы с начала строки без отступа: «где …»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56B0FA-240C-43B8-B738-D54306BA22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0752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Библиографический список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724400"/>
          </a:xfrm>
        </p:spPr>
        <p:txBody>
          <a:bodyPr/>
          <a:lstStyle/>
          <a:p>
            <a:r>
              <a:rPr lang="ru-RU" dirty="0"/>
              <a:t>Сортировка по алфавиту, сначала русскоязычные, затем – англоязычные</a:t>
            </a:r>
          </a:p>
          <a:p>
            <a:r>
              <a:rPr lang="ru-RU" dirty="0"/>
              <a:t>Автоматическая нумерация</a:t>
            </a:r>
          </a:p>
          <a:p>
            <a:r>
              <a:rPr lang="ru-RU" dirty="0"/>
              <a:t>Ссылки: номер в квадратных скобках:</a:t>
            </a:r>
          </a:p>
          <a:p>
            <a:pPr lvl="1"/>
            <a:r>
              <a:rPr lang="en-US" dirty="0"/>
              <a:t>[1]</a:t>
            </a:r>
          </a:p>
          <a:p>
            <a:pPr lvl="1"/>
            <a:r>
              <a:rPr lang="en-US" dirty="0"/>
              <a:t>[1, 2</a:t>
            </a:r>
            <a:r>
              <a:rPr lang="ru-RU" dirty="0"/>
              <a:t>, 3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[1, </a:t>
            </a:r>
            <a:r>
              <a:rPr lang="ru-RU" dirty="0"/>
              <a:t>с. 50</a:t>
            </a:r>
            <a:r>
              <a:rPr lang="en-US" dirty="0"/>
              <a:t>] – </a:t>
            </a:r>
            <a:r>
              <a:rPr lang="ru-RU" dirty="0"/>
              <a:t>русскоязычный источник</a:t>
            </a:r>
            <a:endParaRPr lang="en-US" dirty="0"/>
          </a:p>
          <a:p>
            <a:pPr lvl="1"/>
            <a:r>
              <a:rPr lang="en-US" dirty="0"/>
              <a:t>[1, p. 50] – </a:t>
            </a:r>
            <a:r>
              <a:rPr lang="ru-RU" dirty="0"/>
              <a:t>англоязычный источник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37A21E-B6CC-4F71-81FF-2F86290383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2488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Библиографический список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382000" cy="4724400"/>
          </a:xfrm>
        </p:spPr>
        <p:txBody>
          <a:bodyPr/>
          <a:lstStyle/>
          <a:p>
            <a:r>
              <a:rPr lang="ru-RU" dirty="0"/>
              <a:t>Ссылки на источники удобнее оформлять при помощи перекрестных ссылок в </a:t>
            </a:r>
            <a:r>
              <a:rPr lang="en-US" dirty="0"/>
              <a:t>Word</a:t>
            </a:r>
            <a:r>
              <a:rPr lang="ru-RU" dirty="0"/>
              <a:t>:</a:t>
            </a:r>
          </a:p>
          <a:p>
            <a:pPr marL="0" indent="0" algn="ctr">
              <a:buNone/>
            </a:pPr>
            <a:r>
              <a:rPr lang="ru-RU" i="1" dirty="0"/>
              <a:t>Ссылки</a:t>
            </a:r>
            <a:r>
              <a:rPr lang="ru-RU" dirty="0"/>
              <a:t> – </a:t>
            </a:r>
            <a:r>
              <a:rPr lang="ru-RU" i="1" dirty="0"/>
              <a:t>Перекрестная ссылка</a:t>
            </a:r>
          </a:p>
          <a:p>
            <a:r>
              <a:rPr lang="ru-RU" dirty="0"/>
              <a:t>В этом случае ссылки можно автоматически обновлять (</a:t>
            </a:r>
            <a:r>
              <a:rPr lang="en-US" i="1" dirty="0"/>
              <a:t>CTRL+A </a:t>
            </a:r>
            <a:r>
              <a:rPr lang="en-US" i="1" dirty="0">
                <a:sym typeface="Symbol" panose="05050102010706020507" pitchFamily="18" charset="2"/>
              </a:rPr>
              <a:t></a:t>
            </a:r>
            <a:r>
              <a:rPr lang="en-US" i="1" dirty="0"/>
              <a:t> </a:t>
            </a:r>
            <a:r>
              <a:rPr lang="ru-RU" i="1" dirty="0"/>
              <a:t>Правая кнопка </a:t>
            </a:r>
            <a:r>
              <a:rPr lang="en-US" i="1" dirty="0">
                <a:sym typeface="Symbol" panose="05050102010706020507" pitchFamily="18" charset="2"/>
              </a:rPr>
              <a:t></a:t>
            </a:r>
            <a:r>
              <a:rPr lang="ru-RU" i="1" dirty="0"/>
              <a:t> Обновить поле</a:t>
            </a:r>
            <a:r>
              <a:rPr lang="ru-RU" dirty="0"/>
              <a:t>)</a:t>
            </a:r>
          </a:p>
          <a:p>
            <a:pPr marL="0" indent="0" algn="ctr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37A21E-B6CC-4F71-81FF-2F86290383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17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42574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Библиографический список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800600"/>
          </a:xfrm>
        </p:spPr>
        <p:txBody>
          <a:bodyPr/>
          <a:lstStyle/>
          <a:p>
            <a:r>
              <a:rPr lang="ru-RU" sz="2800" dirty="0"/>
              <a:t>Книга:</a:t>
            </a:r>
          </a:p>
          <a:p>
            <a:pPr lvl="1"/>
            <a:r>
              <a:rPr lang="ru-RU" sz="2400" dirty="0"/>
              <a:t>Абрамов</a:t>
            </a:r>
            <a:r>
              <a:rPr lang="en-US" sz="2400" dirty="0"/>
              <a:t> </a:t>
            </a:r>
            <a:r>
              <a:rPr lang="ru-RU" sz="2400" dirty="0"/>
              <a:t>Н. Словарь русских синонимов и сходных по смыслу выражений. – М.: Русские словари, 1999. – 431 с.</a:t>
            </a:r>
          </a:p>
          <a:p>
            <a:r>
              <a:rPr lang="ru-RU" sz="2800" dirty="0"/>
              <a:t>Статья в журнале:</a:t>
            </a:r>
          </a:p>
          <a:p>
            <a:pPr lvl="1"/>
            <a:r>
              <a:rPr lang="ru-RU" sz="2400" dirty="0"/>
              <a:t>Арский Ю. М., Финн В. К. Принципы конструирования интеллектуальных систем // Информационные технологии и вычислительные системы. 2008. № 4. – С. 4–37.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5AED538-DABD-411E-B02B-023AB0DBF1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18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75640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Библиографический список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458200" cy="4648200"/>
          </a:xfrm>
        </p:spPr>
        <p:txBody>
          <a:bodyPr/>
          <a:lstStyle/>
          <a:p>
            <a:r>
              <a:rPr lang="ru-RU" sz="2800" dirty="0"/>
              <a:t>Статья в трудах конференции:</a:t>
            </a:r>
          </a:p>
          <a:p>
            <a:pPr lvl="1"/>
            <a:r>
              <a:rPr lang="ru-RU" sz="2400" dirty="0"/>
              <a:t>Аншаков О. М., Ковтун В. А. ДСМ-подобные системы, использующие аппарат нечеткого вывода // XIII Национальная конференция с международным участием «Искусственный интеллект – 2012», Белгород, 16–19 октября 2012 г.: труды конференции: в 4 т. Т.</a:t>
            </a:r>
            <a:r>
              <a:rPr lang="en-US" sz="2400" dirty="0"/>
              <a:t> </a:t>
            </a:r>
            <a:r>
              <a:rPr lang="ru-RU" sz="2400" dirty="0"/>
              <a:t>1. – Белгород: Изд-во БГТУ, 2012. – С. 75–82.</a:t>
            </a:r>
          </a:p>
          <a:p>
            <a:r>
              <a:rPr lang="ru-RU" sz="2800" dirty="0"/>
              <a:t>Веб-ресурс:</a:t>
            </a:r>
          </a:p>
          <a:p>
            <a:pPr lvl="1"/>
            <a:r>
              <a:rPr lang="en-US" sz="2400" dirty="0" err="1"/>
              <a:t>CiteSeerX</a:t>
            </a:r>
            <a:r>
              <a:rPr lang="ru-RU" sz="2400" dirty="0"/>
              <a:t>: </a:t>
            </a:r>
            <a:r>
              <a:rPr lang="en-US" sz="2400" dirty="0"/>
              <a:t>scientific literature digital library</a:t>
            </a:r>
            <a:r>
              <a:rPr lang="ru-RU" sz="2400" dirty="0"/>
              <a:t> </a:t>
            </a:r>
            <a:r>
              <a:rPr lang="en-US" sz="2400" dirty="0"/>
              <a:t>[</a:t>
            </a:r>
            <a:r>
              <a:rPr lang="ru-RU" sz="2400" dirty="0"/>
              <a:t>Электронный ресурс</a:t>
            </a:r>
            <a:r>
              <a:rPr lang="en-US" sz="2400" dirty="0"/>
              <a:t>]</a:t>
            </a:r>
            <a:r>
              <a:rPr lang="ru-RU" sz="2400" dirty="0"/>
              <a:t>. </a:t>
            </a:r>
            <a:r>
              <a:rPr lang="en-US" sz="2400" dirty="0"/>
              <a:t>URL</a:t>
            </a:r>
            <a:r>
              <a:rPr lang="ru-RU" sz="2400" dirty="0"/>
              <a:t>: </a:t>
            </a:r>
            <a:r>
              <a:rPr lang="en-US" sz="2400" u="sng" dirty="0">
                <a:hlinkClick r:id="rId2"/>
              </a:rPr>
              <a:t>http</a:t>
            </a:r>
            <a:r>
              <a:rPr lang="ru-RU" sz="2400" u="sng" dirty="0">
                <a:hlinkClick r:id="rId2"/>
              </a:rPr>
              <a:t>://</a:t>
            </a:r>
            <a:r>
              <a:rPr lang="en-US" sz="2400" u="sng" dirty="0" err="1">
                <a:hlinkClick r:id="rId2"/>
              </a:rPr>
              <a:t>citeseerx</a:t>
            </a:r>
            <a:r>
              <a:rPr lang="ru-RU" sz="2400" u="sng" dirty="0">
                <a:hlinkClick r:id="rId2"/>
              </a:rPr>
              <a:t>.</a:t>
            </a:r>
            <a:r>
              <a:rPr lang="en-US" sz="2400" u="sng" dirty="0" err="1">
                <a:hlinkClick r:id="rId2"/>
              </a:rPr>
              <a:t>ist</a:t>
            </a:r>
            <a:r>
              <a:rPr lang="ru-RU" sz="2400" u="sng" dirty="0">
                <a:hlinkClick r:id="rId2"/>
              </a:rPr>
              <a:t>.</a:t>
            </a:r>
            <a:r>
              <a:rPr lang="en-US" sz="2400" u="sng" dirty="0" err="1">
                <a:hlinkClick r:id="rId2"/>
              </a:rPr>
              <a:t>psu</a:t>
            </a:r>
            <a:r>
              <a:rPr lang="ru-RU" sz="2400" u="sng" dirty="0">
                <a:hlinkClick r:id="rId2"/>
              </a:rPr>
              <a:t>.</a:t>
            </a:r>
            <a:r>
              <a:rPr lang="en-US" sz="2400" u="sng" dirty="0" err="1">
                <a:hlinkClick r:id="rId2"/>
              </a:rPr>
              <a:t>edu</a:t>
            </a:r>
            <a:r>
              <a:rPr lang="ru-RU" sz="2400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BDF57F-E5FF-4173-B714-09A4A7E56F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19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539814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343400"/>
          </a:xfrm>
        </p:spPr>
        <p:txBody>
          <a:bodyPr/>
          <a:lstStyle/>
          <a:p>
            <a:r>
              <a:rPr lang="ru-RU" dirty="0"/>
              <a:t>Что содержится:</a:t>
            </a:r>
          </a:p>
          <a:p>
            <a:pPr lvl="1"/>
            <a:r>
              <a:rPr lang="ru-RU" dirty="0"/>
              <a:t>листинги программ</a:t>
            </a:r>
          </a:p>
          <a:p>
            <a:pPr lvl="1"/>
            <a:r>
              <a:rPr lang="ru-RU" dirty="0"/>
              <a:t>громоздкие таблицы, графики, схемы</a:t>
            </a:r>
          </a:p>
          <a:p>
            <a:pPr lvl="1"/>
            <a:r>
              <a:rPr lang="ru-RU" dirty="0"/>
              <a:t>большие примеры</a:t>
            </a:r>
          </a:p>
          <a:p>
            <a:pPr lvl="1"/>
            <a:r>
              <a:rPr lang="ru-RU" dirty="0"/>
              <a:t>Сокращения и обозначения</a:t>
            </a:r>
          </a:p>
          <a:p>
            <a:pPr lvl="1"/>
            <a:r>
              <a:rPr lang="ru-RU" dirty="0"/>
              <a:t>…</a:t>
            </a:r>
          </a:p>
          <a:p>
            <a:r>
              <a:rPr lang="ru-RU" dirty="0"/>
              <a:t>Нумерация приложений:</a:t>
            </a:r>
          </a:p>
          <a:p>
            <a:pPr lvl="1"/>
            <a:r>
              <a:rPr lang="ru-RU" dirty="0"/>
              <a:t>Приложение </a:t>
            </a:r>
            <a:r>
              <a:rPr lang="en-US" dirty="0"/>
              <a:t>A, </a:t>
            </a:r>
            <a:r>
              <a:rPr lang="ru-RU" dirty="0"/>
              <a:t>Приложение Б</a:t>
            </a:r>
            <a:r>
              <a:rPr lang="en-US" dirty="0"/>
              <a:t>, …</a:t>
            </a:r>
          </a:p>
          <a:p>
            <a:pPr lvl="1"/>
            <a:endParaRPr 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C24F56F-A271-4292-A3E8-66DD56B168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20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84155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Приложения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981200"/>
            <a:ext cx="8382000" cy="4572000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/>
              <a:t>Листинги:</a:t>
            </a:r>
          </a:p>
          <a:p>
            <a:r>
              <a:rPr lang="ru-RU" sz="2800" dirty="0"/>
              <a:t>небольшой размер шрифта (10-12 </a:t>
            </a:r>
            <a:r>
              <a:rPr lang="ru-RU" sz="2800" dirty="0" err="1"/>
              <a:t>пт</a:t>
            </a:r>
            <a:r>
              <a:rPr lang="ru-RU" sz="2800" dirty="0"/>
              <a:t>)</a:t>
            </a:r>
          </a:p>
          <a:p>
            <a:r>
              <a:rPr lang="ru-RU" sz="2800" dirty="0"/>
              <a:t>одинарный интервал</a:t>
            </a:r>
          </a:p>
          <a:p>
            <a:r>
              <a:rPr lang="ru-RU" sz="2800" dirty="0"/>
              <a:t>осмысленные названия переменных, функций, классов на правильном английском языке</a:t>
            </a:r>
          </a:p>
          <a:p>
            <a:r>
              <a:rPr lang="ru-RU" sz="2800" dirty="0"/>
              <a:t>комментарии!</a:t>
            </a:r>
          </a:p>
          <a:p>
            <a:r>
              <a:rPr lang="ru-RU" sz="2800" dirty="0"/>
              <a:t>программные отступы</a:t>
            </a:r>
          </a:p>
          <a:p>
            <a:pPr lvl="1"/>
            <a:r>
              <a:rPr lang="ru-RU" sz="2400" dirty="0"/>
              <a:t>можно двойные пробелы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0CC9EA6-4D19-4765-AC86-E2F1C9900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AD0CF8-1480-4D28-93BE-4B08BBA353DB}" type="slidenum">
              <a:rPr lang="ru-RU" altLang="ru-RU" smtClean="0"/>
              <a:pPr>
                <a:defRPr/>
              </a:pPr>
              <a:t>21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44185349"/>
      </p:ext>
    </p:extLst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3230</TotalTime>
  <Words>479</Words>
  <Application>Microsoft Office PowerPoint</Application>
  <PresentationFormat>Экран (4:3)</PresentationFormat>
  <Paragraphs>148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Symbol</vt:lpstr>
      <vt:lpstr>Times New Roman</vt:lpstr>
      <vt:lpstr>Wingdings</vt:lpstr>
      <vt:lpstr>Пиксел</vt:lpstr>
      <vt:lpstr>Оформление</vt:lpstr>
      <vt:lpstr>Структура работы</vt:lpstr>
      <vt:lpstr>Титульный лист</vt:lpstr>
      <vt:lpstr>Задание</vt:lpstr>
      <vt:lpstr>Содержание</vt:lpstr>
      <vt:lpstr>Содержание</vt:lpstr>
      <vt:lpstr>Основная часть</vt:lpstr>
      <vt:lpstr>Основная часть</vt:lpstr>
      <vt:lpstr>Основная часть</vt:lpstr>
      <vt:lpstr>Основная часть</vt:lpstr>
      <vt:lpstr>Основная часть</vt:lpstr>
      <vt:lpstr>Основная часть</vt:lpstr>
      <vt:lpstr>Основная часть</vt:lpstr>
      <vt:lpstr>Основная часть</vt:lpstr>
      <vt:lpstr>Основная часть</vt:lpstr>
      <vt:lpstr>Библиографический список</vt:lpstr>
      <vt:lpstr>Библиографический список</vt:lpstr>
      <vt:lpstr>Библиографический список</vt:lpstr>
      <vt:lpstr>Библиографический список</vt:lpstr>
      <vt:lpstr>Приложения</vt:lpstr>
      <vt:lpstr>Приложения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Евгений</dc:creator>
  <cp:lastModifiedBy>Евгений</cp:lastModifiedBy>
  <cp:revision>183</cp:revision>
  <cp:lastPrinted>1601-01-01T00:00:00Z</cp:lastPrinted>
  <dcterms:created xsi:type="dcterms:W3CDTF">1601-01-01T00:00:00Z</dcterms:created>
  <dcterms:modified xsi:type="dcterms:W3CDTF">2020-04-23T10:33:21Z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