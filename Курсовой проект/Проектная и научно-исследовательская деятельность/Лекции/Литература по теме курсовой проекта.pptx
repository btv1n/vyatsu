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7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25886-9CDC-45B2-804B-3CCE84B6C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7C6D57-C485-402A-A893-9F4DF9E6D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A0CA38-1054-4156-8F30-6AE3F4618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5BBC-6A1B-4E56-B82E-924FAD871452}" type="datetimeFigureOut">
              <a:rPr lang="ru-RU" smtClean="0"/>
              <a:t>20.02.2024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14DA2E-1D56-46FD-BB61-A285FE3A5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417712-E65C-410A-8C9B-F0DB4EA5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F406-30DC-4A5F-B0A9-05C0A35A2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66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33488B-E197-481D-B313-ABB4B027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7DD678-2969-47A6-A09B-D3B131821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B6C5F2-CEAB-4846-B023-F4350315E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5BBC-6A1B-4E56-B82E-924FAD871452}" type="datetimeFigureOut">
              <a:rPr lang="ru-RU" smtClean="0"/>
              <a:t>20.02.2024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7956B8-1350-4023-97EC-F8C55902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C3C940-5331-452F-BBCC-154E98D8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F406-30DC-4A5F-B0A9-05C0A35A2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248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99DC55-5FDB-4097-9523-A99A8F69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145A83-4E3C-4C85-AC5F-9F0F9EC6E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F15360-5119-4A75-87F7-DC8CE56CF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5BBC-6A1B-4E56-B82E-924FAD871452}" type="datetimeFigureOut">
              <a:rPr lang="ru-RU" smtClean="0"/>
              <a:t>20.02.2024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764683-7F62-4EF5-8689-B1DD1BA2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73914A-17DE-4F18-8044-A6B289549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F406-30DC-4A5F-B0A9-05C0A35A2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921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855D7B-A7CB-4EF6-8FA6-B55EA80CB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1C2C5B-6AC3-4848-B593-21D10A00C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7C1020-8849-41B2-ABD0-3895E7C98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45DF2A-E04E-49F2-819B-159547C6A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5BBC-6A1B-4E56-B82E-924FAD871452}" type="datetimeFigureOut">
              <a:rPr lang="ru-RU" smtClean="0"/>
              <a:t>20.02.2024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572BDD-FB2D-4D6F-8858-4368040E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5240F0-81DC-4943-B693-7582B68F4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F406-30DC-4A5F-B0A9-05C0A35A2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23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F8B68B-8F7D-4153-A7A6-31FB62701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FA0ADB-C2AD-4646-9911-4BB07C8DE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F0E996C-9016-438B-8F82-F399AC5D1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75C7EB9-0895-4385-A7FD-94DC0A30A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DE3238-FA6D-4349-80D7-0F901C007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B1E7903-F0F9-4D59-837C-96015DE64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5BBC-6A1B-4E56-B82E-924FAD871452}" type="datetimeFigureOut">
              <a:rPr lang="ru-RU" smtClean="0"/>
              <a:t>20.02.2024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5163A3-D07F-411A-B1E2-E3DE80F4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30BFE96-F6F4-400D-ACFE-1628DCE7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F406-30DC-4A5F-B0A9-05C0A35A2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853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404ACF-94D8-4BE8-ADD1-42331159C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C6EA5A-092E-478C-8EE3-44A4EE8C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5BBC-6A1B-4E56-B82E-924FAD871452}" type="datetimeFigureOut">
              <a:rPr lang="ru-RU" smtClean="0"/>
              <a:t>20.02.2024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9ACBF2-2A79-4746-8F55-F7C44024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572360-69BE-48AA-8AE8-DC13A07CA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F406-30DC-4A5F-B0A9-05C0A35A2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94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860F37-6B1B-4863-A047-4B4DF33D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5BBC-6A1B-4E56-B82E-924FAD871452}" type="datetimeFigureOut">
              <a:rPr lang="ru-RU" smtClean="0"/>
              <a:t>20.02.2024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E4728B8-2BED-4FA4-A0CB-22C2E76E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216EF0-295F-44E6-AE54-50CDE70EC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F406-30DC-4A5F-B0A9-05C0A35A2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4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8F89D-44E3-4A9E-89A8-6E1306038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3A3B1B-67DE-44F4-B47C-10A85F094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9B3C88-1D84-473E-8682-822899C9A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306577-64D3-430B-8929-07A0B19E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5BBC-6A1B-4E56-B82E-924FAD871452}" type="datetimeFigureOut">
              <a:rPr lang="ru-RU" smtClean="0"/>
              <a:t>20.02.2024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9FA13F7-CFDC-42BE-8622-06BC4E06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88DE4E-427B-4857-9EBB-3B7A559C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F406-30DC-4A5F-B0A9-05C0A35A2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2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EBCA8-7EE3-4B84-A80A-08B6829C8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2512DF8-45DA-4358-8AC6-D956A3B14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E3929A-B485-4403-B735-191232108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7E86BF-4302-406A-B413-4302790E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5BBC-6A1B-4E56-B82E-924FAD871452}" type="datetimeFigureOut">
              <a:rPr lang="ru-RU" smtClean="0"/>
              <a:t>20.02.2024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66E45E-20FC-461A-B623-BF39CB77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808F06-D4F8-4CC5-859D-FCB62C8F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F406-30DC-4A5F-B0A9-05C0A35A2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156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EE1587-DC67-4C2F-BA83-C3F335BE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67710E-9D81-482E-8D47-DCBE5930B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7E7AEA-89AE-4A46-B4D0-36E678A0D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5BBC-6A1B-4E56-B82E-924FAD871452}" type="datetimeFigureOut">
              <a:rPr lang="ru-RU" smtClean="0"/>
              <a:t>20.02.2024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8DF09-10AD-4574-BC77-21631F5F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F21804-10CD-4C46-BA30-410E9934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F406-30DC-4A5F-B0A9-05C0A35A2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631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8030BA1-EB4D-4F20-B13C-4E6B6CA2AB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9863CF-7E72-4184-8CA8-28C518EF6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6AD417-6526-45F2-861A-E72D235BC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5BBC-6A1B-4E56-B82E-924FAD871452}" type="datetimeFigureOut">
              <a:rPr lang="ru-RU" smtClean="0"/>
              <a:t>20.02.2024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1FBC16-FB19-4778-B662-493C57B63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04FDF4-54FA-433B-82E4-C433F511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F406-30DC-4A5F-B0A9-05C0A35A2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17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C4C49A-8803-4259-9E99-939490254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54981A-691F-4644-9A5B-F8DA3B3C6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E7AC0B-691A-4A74-90C1-373736048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35BBC-6A1B-4E56-B82E-924FAD871452}" type="datetimeFigureOut">
              <a:rPr lang="ru-RU" smtClean="0"/>
              <a:t>20.02.2024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9A0502-F2DB-4BD3-A46F-6DCEDF3E6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11F143-B599-4CF3-8A6A-93E3C30C5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4F406-30DC-4A5F-B0A9-05C0A35A27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93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43809927_Algoritmy_sortirovki_Primenenie_Analiz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js.irgups.ru/index.php/mns/article/view/1159/921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59684909_Comparative_Study_of_Different_Sorting_Algorithms_used_in_Data_Structure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cjournals.org/manuscript/Journals/IJCSS/Volume7/Issue3/IJCSS-877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A28BD-9446-40DB-BCAD-6EBFCCED40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Литература по теме курсовой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ABF45D-DCDF-460A-8D32-39D39D5161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Ботвин Иван</a:t>
            </a:r>
          </a:p>
        </p:txBody>
      </p:sp>
    </p:spTree>
    <p:extLst>
      <p:ext uri="{BB962C8B-B14F-4D97-AF65-F5344CB8AC3E}">
        <p14:creationId xmlns:p14="http://schemas.microsoft.com/office/powerpoint/2010/main" val="516453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50870-D074-4F63-A734-78763E6D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Название тема на русском и английском языках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86A61E-27F0-4566-85E6-02D0ED324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Сравнительный анализ алгоритмов внешних сортировок</a:t>
            </a:r>
          </a:p>
          <a:p>
            <a:r>
              <a:rPr lang="en-US" dirty="0"/>
              <a:t>Comparative analysis of external sorting algorithms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489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C2012-BB76-439B-9AFD-16B1BC2F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слова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2B16A4-417A-43B7-8D9F-0855220CD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алгоритм</a:t>
            </a:r>
          </a:p>
          <a:p>
            <a:r>
              <a:rPr lang="en-US" dirty="0"/>
              <a:t>algorithm</a:t>
            </a:r>
          </a:p>
          <a:p>
            <a:endParaRPr lang="en-US" dirty="0"/>
          </a:p>
          <a:p>
            <a:r>
              <a:rPr lang="ru-RU" dirty="0"/>
              <a:t>внешние сортировки</a:t>
            </a:r>
          </a:p>
          <a:p>
            <a:r>
              <a:rPr lang="en-US" dirty="0"/>
              <a:t>external sorts</a:t>
            </a:r>
          </a:p>
          <a:p>
            <a:endParaRPr lang="en-US" dirty="0"/>
          </a:p>
          <a:p>
            <a:r>
              <a:rPr lang="ru-RU" dirty="0"/>
              <a:t>сравнительный анализ</a:t>
            </a:r>
          </a:p>
          <a:p>
            <a:r>
              <a:rPr lang="en-US" dirty="0"/>
              <a:t>comparative analysis</a:t>
            </a:r>
          </a:p>
          <a:p>
            <a:endParaRPr lang="en-US" dirty="0"/>
          </a:p>
          <a:p>
            <a:r>
              <a:rPr lang="ru-RU" dirty="0"/>
              <a:t>сортировки</a:t>
            </a:r>
          </a:p>
          <a:p>
            <a:r>
              <a:rPr lang="en-US" dirty="0"/>
              <a:t>sorts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2498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36DC0-44FD-45CC-B8D4-BE730C08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A974DC-8C2E-4659-8C53-9732E193A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Ссылка: </a:t>
            </a:r>
            <a:r>
              <a:rPr lang="en-US" dirty="0">
                <a:hlinkClick r:id="rId2"/>
              </a:rPr>
              <a:t>https://www.researchgate.net/publication/343809927_Algoritmy_sortirovki_Primenenie_Analiz</a:t>
            </a:r>
            <a:endParaRPr lang="ru-RU" dirty="0"/>
          </a:p>
          <a:p>
            <a:r>
              <a:rPr lang="ru-RU" dirty="0"/>
              <a:t>Язык: русский</a:t>
            </a:r>
          </a:p>
        </p:txBody>
      </p:sp>
    </p:spTree>
    <p:extLst>
      <p:ext uri="{BB962C8B-B14F-4D97-AF65-F5344CB8AC3E}">
        <p14:creationId xmlns:p14="http://schemas.microsoft.com/office/powerpoint/2010/main" val="181930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8DABE-1644-40E9-8502-BCBDCF90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ED3DC9-B72F-487E-A4B1-E739E5F53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Ссылка: </a:t>
            </a:r>
            <a:r>
              <a:rPr lang="en-US" dirty="0">
                <a:hlinkClick r:id="rId2"/>
              </a:rPr>
              <a:t>https://ojs.irgups.ru/index.php/mns/article/view/1159/921</a:t>
            </a:r>
            <a:endParaRPr lang="ru-RU" dirty="0"/>
          </a:p>
          <a:p>
            <a:r>
              <a:rPr lang="ru-RU" dirty="0"/>
              <a:t>Язык: русский</a:t>
            </a:r>
          </a:p>
        </p:txBody>
      </p:sp>
    </p:spTree>
    <p:extLst>
      <p:ext uri="{BB962C8B-B14F-4D97-AF65-F5344CB8AC3E}">
        <p14:creationId xmlns:p14="http://schemas.microsoft.com/office/powerpoint/2010/main" val="232839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8DABE-1644-40E9-8502-BCBDCF90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ED3DC9-B72F-487E-A4B1-E739E5F53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URL </a:t>
            </a:r>
            <a:r>
              <a:rPr lang="ru-RU" sz="2200" dirty="0"/>
              <a:t>статьи: </a:t>
            </a:r>
            <a:r>
              <a:rPr lang="en-US" sz="2200" dirty="0"/>
              <a:t>https://elib.pnzgu.ru/library/1695710693</a:t>
            </a:r>
            <a:endParaRPr lang="ru-RU" sz="2200" dirty="0"/>
          </a:p>
          <a:p>
            <a:r>
              <a:rPr lang="ru-RU" sz="2200" dirty="0"/>
              <a:t>Язык: русский</a:t>
            </a:r>
          </a:p>
          <a:p>
            <a:r>
              <a:rPr lang="ru-RU" sz="2200" dirty="0"/>
              <a:t>Название: «Сравнение и анализ алгоритмов внутренней и внешней сортировки.»</a:t>
            </a:r>
          </a:p>
          <a:p>
            <a:r>
              <a:rPr lang="ru-RU" sz="2200" dirty="0"/>
              <a:t>Авторы: </a:t>
            </a:r>
            <a:r>
              <a:rPr lang="ru-RU" sz="2200" dirty="0" err="1"/>
              <a:t>Самуйлов</a:t>
            </a:r>
            <a:r>
              <a:rPr lang="ru-RU" sz="2200" dirty="0"/>
              <a:t> Сергей Владимирович, </a:t>
            </a:r>
            <a:r>
              <a:rPr lang="ru-RU" sz="2200" dirty="0" err="1"/>
              <a:t>Самуйлова</a:t>
            </a:r>
            <a:r>
              <a:rPr lang="ru-RU" sz="2200" dirty="0"/>
              <a:t> Светлана Валентиновна</a:t>
            </a:r>
          </a:p>
          <a:p>
            <a:r>
              <a:rPr lang="ru-RU" sz="2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Год публикации: </a:t>
            </a:r>
            <a:r>
              <a:rPr lang="ru-RU" sz="2200" b="0" i="0" dirty="0">
                <a:solidFill>
                  <a:srgbClr val="212529"/>
                </a:solidFill>
                <a:effectLst/>
              </a:rPr>
              <a:t>2023</a:t>
            </a:r>
          </a:p>
          <a:p>
            <a:r>
              <a:rPr lang="ru-RU" sz="2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Издание: Издательство ПГУ - Пензенский государственный университет (Пенза)</a:t>
            </a:r>
          </a:p>
          <a:p>
            <a:r>
              <a:rPr lang="ru-RU" sz="2200" dirty="0">
                <a:solidFill>
                  <a:srgbClr val="000000"/>
                </a:solidFill>
                <a:ea typeface="Calibri" panose="020F0502020204030204" pitchFamily="34" charset="0"/>
              </a:rPr>
              <a:t>А</a:t>
            </a:r>
            <a:r>
              <a:rPr lang="ru-RU" sz="2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вторитетность издания (квартиль журнала или ранг конференции – обязательно указывать источник):</a:t>
            </a:r>
            <a:endParaRPr lang="ru-RU" sz="22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r>
              <a:rPr lang="ru-RU" sz="2200" dirty="0">
                <a:solidFill>
                  <a:srgbClr val="000000"/>
                </a:solidFill>
                <a:ea typeface="Calibri" panose="020F0502020204030204" pitchFamily="34" charset="0"/>
              </a:rPr>
              <a:t>К</a:t>
            </a:r>
            <a:r>
              <a:rPr lang="ru-RU" sz="2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оличество цитирований (указывать источник): 0</a:t>
            </a:r>
          </a:p>
          <a:p>
            <a:r>
              <a:rPr lang="ru-RU" sz="2200" dirty="0">
                <a:solidFill>
                  <a:srgbClr val="000000"/>
                </a:solidFill>
                <a:ea typeface="Calibri" panose="020F0502020204030204" pitchFamily="34" charset="0"/>
              </a:rPr>
              <a:t>А</a:t>
            </a:r>
            <a:r>
              <a:rPr lang="ru-RU" sz="2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ннотация/</a:t>
            </a:r>
            <a:r>
              <a:rPr lang="ru-RU" sz="2200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abstract</a:t>
            </a:r>
            <a:r>
              <a:rPr lang="ru-RU" sz="22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313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F6564-62D0-41F3-81C1-6B50B1C1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95D51-A472-4681-BDF7-A05430810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Ссылка: </a:t>
            </a:r>
            <a:r>
              <a:rPr lang="en-US" dirty="0">
                <a:hlinkClick r:id="rId2"/>
              </a:rPr>
              <a:t>https://www.researchgate.net/publication/359684909_Comparative_Study_of_Different_Sorting_Algorithms_used_in_Data_Structures</a:t>
            </a:r>
            <a:endParaRPr lang="ru-RU" dirty="0"/>
          </a:p>
          <a:p>
            <a:r>
              <a:rPr lang="ru-RU" dirty="0"/>
              <a:t>Язык: английский</a:t>
            </a:r>
          </a:p>
        </p:txBody>
      </p:sp>
    </p:spTree>
    <p:extLst>
      <p:ext uri="{BB962C8B-B14F-4D97-AF65-F5344CB8AC3E}">
        <p14:creationId xmlns:p14="http://schemas.microsoft.com/office/powerpoint/2010/main" val="2877407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F6564-62D0-41F3-81C1-6B50B1C1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95D51-A472-4681-BDF7-A05430810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Ссылка: </a:t>
            </a:r>
            <a:r>
              <a:rPr lang="en-US" dirty="0"/>
              <a:t>https://www.researchgate.net/publication/315662067_Sorting_Algorithms_-_A_Comparative_Study</a:t>
            </a:r>
            <a:endParaRPr lang="ru-RU" dirty="0"/>
          </a:p>
          <a:p>
            <a:r>
              <a:rPr lang="ru-RU" dirty="0"/>
              <a:t>Язык: английский</a:t>
            </a:r>
          </a:p>
        </p:txBody>
      </p:sp>
    </p:spTree>
    <p:extLst>
      <p:ext uri="{BB962C8B-B14F-4D97-AF65-F5344CB8AC3E}">
        <p14:creationId xmlns:p14="http://schemas.microsoft.com/office/powerpoint/2010/main" val="3980930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F6564-62D0-41F3-81C1-6B50B1C1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95D51-A472-4681-BDF7-A05430810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Ссылка: </a:t>
            </a:r>
            <a:r>
              <a:rPr lang="en-US" dirty="0"/>
              <a:t>https://iaeme.com/MasterAdmin/Journal_uploads/IJCIET/VOLUME_8_ISSUE_8/IJCIET_08_08_101.pdf</a:t>
            </a:r>
            <a:endParaRPr lang="ru-RU" dirty="0"/>
          </a:p>
          <a:p>
            <a:r>
              <a:rPr lang="ru-RU" dirty="0"/>
              <a:t>Язык: английский</a:t>
            </a:r>
          </a:p>
        </p:txBody>
      </p:sp>
    </p:spTree>
    <p:extLst>
      <p:ext uri="{BB962C8B-B14F-4D97-AF65-F5344CB8AC3E}">
        <p14:creationId xmlns:p14="http://schemas.microsoft.com/office/powerpoint/2010/main" val="921454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F6564-62D0-41F3-81C1-6B50B1C1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95D51-A472-4681-BDF7-A05430810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Ссылка: </a:t>
            </a:r>
            <a:r>
              <a:rPr lang="en-US" dirty="0"/>
              <a:t>https://philarchive.org/archive/SABCAO-2</a:t>
            </a:r>
            <a:endParaRPr lang="ru-RU" dirty="0"/>
          </a:p>
          <a:p>
            <a:r>
              <a:rPr lang="ru-RU" dirty="0"/>
              <a:t>Язык: английский</a:t>
            </a:r>
          </a:p>
        </p:txBody>
      </p:sp>
    </p:spTree>
    <p:extLst>
      <p:ext uri="{BB962C8B-B14F-4D97-AF65-F5344CB8AC3E}">
        <p14:creationId xmlns:p14="http://schemas.microsoft.com/office/powerpoint/2010/main" val="556940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F6564-62D0-41F3-81C1-6B50B1C1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95D51-A472-4681-BDF7-A05430810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Ссылка: </a:t>
            </a:r>
            <a:r>
              <a:rPr lang="en-US" dirty="0"/>
              <a:t>https://www.researchgate.net/publication/288825600_A_Comparative_Study_of_Sorting_Algorithms</a:t>
            </a:r>
            <a:endParaRPr lang="ru-RU" dirty="0"/>
          </a:p>
          <a:p>
            <a:r>
              <a:rPr lang="ru-RU" dirty="0"/>
              <a:t>Язык: английский</a:t>
            </a:r>
          </a:p>
        </p:txBody>
      </p:sp>
    </p:spTree>
    <p:extLst>
      <p:ext uri="{BB962C8B-B14F-4D97-AF65-F5344CB8AC3E}">
        <p14:creationId xmlns:p14="http://schemas.microsoft.com/office/powerpoint/2010/main" val="38615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F6564-62D0-41F3-81C1-6B50B1C1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95D51-A472-4681-BDF7-A05430810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Ссылка: </a:t>
            </a:r>
            <a:r>
              <a:rPr lang="en-US" dirty="0"/>
              <a:t>https://www.researchgate.net/publication/274640372_A_Comparative_Study_between_Various_Sorting_Algorithms</a:t>
            </a:r>
            <a:endParaRPr lang="ru-RU" dirty="0"/>
          </a:p>
          <a:p>
            <a:r>
              <a:rPr lang="ru-RU" dirty="0"/>
              <a:t>Язык: английский</a:t>
            </a:r>
          </a:p>
        </p:txBody>
      </p:sp>
    </p:spTree>
    <p:extLst>
      <p:ext uri="{BB962C8B-B14F-4D97-AF65-F5344CB8AC3E}">
        <p14:creationId xmlns:p14="http://schemas.microsoft.com/office/powerpoint/2010/main" val="2301165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F6564-62D0-41F3-81C1-6B50B1C1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95D51-A472-4681-BDF7-A05430810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Ссылка: </a:t>
            </a:r>
            <a:r>
              <a:rPr lang="en-US" dirty="0"/>
              <a:t>https://www.researchgate.net/publication/306258293_A_Comparative_Study_of_Different_Types_of_comparison_Based_Sorting_Algorithms_in_Data_Structure</a:t>
            </a:r>
            <a:endParaRPr lang="ru-RU" dirty="0"/>
          </a:p>
          <a:p>
            <a:r>
              <a:rPr lang="ru-RU" dirty="0"/>
              <a:t>Язык: английский</a:t>
            </a:r>
          </a:p>
        </p:txBody>
      </p:sp>
    </p:spTree>
    <p:extLst>
      <p:ext uri="{BB962C8B-B14F-4D97-AF65-F5344CB8AC3E}">
        <p14:creationId xmlns:p14="http://schemas.microsoft.com/office/powerpoint/2010/main" val="45845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F6564-62D0-41F3-81C1-6B50B1C1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статей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95D51-A472-4681-BDF7-A05430810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Ссылка: </a:t>
            </a:r>
            <a:r>
              <a:rPr lang="en-US" dirty="0">
                <a:hlinkClick r:id="rId2"/>
              </a:rPr>
              <a:t>https://www.cscjournals.org/manuscript/Journals/IJCSS/Volume7/Issue3/IJCSS-877.pdf</a:t>
            </a:r>
            <a:endParaRPr lang="ru-RU" dirty="0"/>
          </a:p>
          <a:p>
            <a:r>
              <a:rPr lang="ru-RU" dirty="0"/>
              <a:t>Язык: английский</a:t>
            </a:r>
          </a:p>
        </p:txBody>
      </p:sp>
    </p:spTree>
    <p:extLst>
      <p:ext uri="{BB962C8B-B14F-4D97-AF65-F5344CB8AC3E}">
        <p14:creationId xmlns:p14="http://schemas.microsoft.com/office/powerpoint/2010/main" val="39101809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423</Words>
  <Application>Microsoft Office PowerPoint</Application>
  <PresentationFormat>Широкоэкранный</PresentationFormat>
  <Paragraphs>57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Литература по теме курсовой проекта</vt:lpstr>
      <vt:lpstr>Название тема на русском и английском языках</vt:lpstr>
      <vt:lpstr>Ключевые слова темы</vt:lpstr>
      <vt:lpstr>Обзор статей</vt:lpstr>
      <vt:lpstr>Обзор статей</vt:lpstr>
      <vt:lpstr>Обзор статей</vt:lpstr>
      <vt:lpstr>Обзор статей</vt:lpstr>
      <vt:lpstr>Обзор статей</vt:lpstr>
      <vt:lpstr>Обзор статей</vt:lpstr>
      <vt:lpstr>Обзор статей</vt:lpstr>
      <vt:lpstr>Обзор статей</vt:lpstr>
      <vt:lpstr>Обзор статей</vt:lpstr>
      <vt:lpstr>Обзор статей</vt:lpstr>
      <vt:lpstr>Обзор статей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Литература по теме курсовой проекта</dc:title>
  <dc:creator>Иван Ботвин</dc:creator>
  <cp:lastModifiedBy>Иван Ботвин</cp:lastModifiedBy>
  <cp:revision>9</cp:revision>
  <dcterms:created xsi:type="dcterms:W3CDTF">2024-02-20T05:46:17Z</dcterms:created>
  <dcterms:modified xsi:type="dcterms:W3CDTF">2024-02-20T07:35:03Z</dcterms:modified>
</cp:coreProperties>
</file>