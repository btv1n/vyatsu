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1" r:id="rId4"/>
    <p:sldId id="262" r:id="rId5"/>
    <p:sldId id="263" r:id="rId6"/>
    <p:sldId id="258" r:id="rId7"/>
    <p:sldId id="259" r:id="rId8"/>
    <p:sldId id="260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77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BFFFF"/>
    <a:srgbClr val="FFFFCC"/>
    <a:srgbClr val="FFEBFF"/>
    <a:srgbClr val="EB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4660"/>
  </p:normalViewPr>
  <p:slideViewPr>
    <p:cSldViewPr>
      <p:cViewPr varScale="1">
        <p:scale>
          <a:sx n="69" d="100"/>
          <a:sy n="69" d="100"/>
        </p:scale>
        <p:origin x="157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31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285720" y="6286520"/>
            <a:ext cx="2133600" cy="365125"/>
          </a:xfrm>
        </p:spPr>
        <p:txBody>
          <a:bodyPr/>
          <a:lstStyle>
            <a:lvl1pPr>
              <a:defRPr sz="1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7.02.2013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05F1D-21D5-4E2C-BD3F-4C8722A955D8}" type="datetimeFigureOut">
              <a:rPr lang="ru-RU" smtClean="0"/>
              <a:pPr/>
              <a:t>29.11.2019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148E0-4AA3-4B9D-A4AD-BA18736122A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slide" Target="slide2.xml"/><Relationship Id="rId3" Type="http://schemas.openxmlformats.org/officeDocument/2006/relationships/slide" Target="slide5.xml"/><Relationship Id="rId7" Type="http://schemas.openxmlformats.org/officeDocument/2006/relationships/slide" Target="slide12.xml"/><Relationship Id="rId12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slide" Target="slide6.xml"/><Relationship Id="rId5" Type="http://schemas.openxmlformats.org/officeDocument/2006/relationships/slide" Target="slide10.xml"/><Relationship Id="rId10" Type="http://schemas.openxmlformats.org/officeDocument/2006/relationships/slide" Target="slide16.xml"/><Relationship Id="rId4" Type="http://schemas.openxmlformats.org/officeDocument/2006/relationships/slide" Target="slide9.xml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slide" Target="slide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slide" Target="slide2.x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1941517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Метод отображений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в решении </a:t>
            </a:r>
            <a:br>
              <a:rPr lang="ru-RU" dirty="0" smtClean="0"/>
            </a:br>
            <a:r>
              <a:rPr lang="ru-RU" dirty="0" smtClean="0"/>
              <a:t>системы логических уравнений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14315" y="748239"/>
            <a:ext cx="2643173" cy="1015663"/>
          </a:xfrm>
          <a:prstGeom prst="rect">
            <a:avLst/>
          </a:prstGeom>
          <a:solidFill>
            <a:srgbClr val="FBFFFF"/>
          </a:solidFill>
          <a:ln w="57150">
            <a:solidFill>
              <a:srgbClr val="00CC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kumimoji="0" lang="ru-RU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" name="Rectangle 11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143240" y="1071546"/>
            <a:ext cx="2857520" cy="1323439"/>
          </a:xfrm>
          <a:prstGeom prst="rect">
            <a:avLst/>
          </a:prstGeom>
          <a:solidFill>
            <a:srgbClr val="FBFFFF"/>
          </a:solidFill>
          <a:ln w="9525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2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kumimoji="0" lang="ru-RU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lang="ru-RU" sz="2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lang="ru-RU" sz="2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lang="ru-RU" sz="2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9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lang="ru-RU" sz="2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10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2000" b="1" dirty="0" smtClean="0">
              <a:solidFill>
                <a:srgbClr val="C00000"/>
              </a:solidFill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Левая фигурная скобка 2"/>
          <p:cNvSpPr>
            <a:spLocks/>
          </p:cNvSpPr>
          <p:nvPr/>
        </p:nvSpPr>
        <p:spPr bwMode="auto">
          <a:xfrm>
            <a:off x="3000364" y="1000108"/>
            <a:ext cx="214314" cy="1481290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167180" y="2357430"/>
            <a:ext cx="2690308" cy="1569660"/>
          </a:xfrm>
          <a:prstGeom prst="rect">
            <a:avLst/>
          </a:prstGeom>
          <a:solidFill>
            <a:srgbClr val="FBFFFF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            …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14710" y="2928934"/>
            <a:ext cx="3797376" cy="1928826"/>
          </a:xfrm>
          <a:prstGeom prst="rect">
            <a:avLst/>
          </a:prstGeom>
          <a:solidFill>
            <a:srgbClr val="FBFFFF"/>
          </a:solidFill>
          <a:ln w="38100">
            <a:solidFill>
              <a:srgbClr val="0070C0"/>
            </a:solidFill>
          </a:ln>
        </p:spPr>
      </p:pic>
      <p:pic>
        <p:nvPicPr>
          <p:cNvPr id="16" name="Picture 3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2844" y="4575446"/>
            <a:ext cx="2857520" cy="1925388"/>
          </a:xfrm>
          <a:prstGeom prst="rect">
            <a:avLst/>
          </a:prstGeom>
          <a:solidFill>
            <a:srgbClr val="FBFFFF"/>
          </a:solidFill>
          <a:ln w="38100">
            <a:solidFill>
              <a:srgbClr val="7030A0"/>
            </a:solidFill>
          </a:ln>
        </p:spPr>
      </p:pic>
      <p:sp>
        <p:nvSpPr>
          <p:cNvPr id="18" name="Rectangle 1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3286116" y="5143512"/>
            <a:ext cx="5707982" cy="1446550"/>
          </a:xfrm>
          <a:prstGeom prst="rect">
            <a:avLst/>
          </a:prstGeom>
          <a:solidFill>
            <a:srgbClr val="FBFF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(X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1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  <a:endParaRPr kumimoji="0" lang="ru-RU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4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4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  <a:endParaRPr kumimoji="0" lang="ru-RU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...</a:t>
            </a:r>
            <a:endParaRPr kumimoji="0" lang="ru-RU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7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7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10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16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10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0</a:t>
            </a:r>
            <a:r>
              <a:rPr kumimoji="0" lang="ru-RU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Calibri" pitchFamily="34" charset="0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20" name="Содержимое 3">
            <a:hlinkClick r:id="rId10" action="ppaction://hlinksldjump"/>
          </p:cNvPr>
          <p:cNvSpPr txBox="1">
            <a:spLocks/>
          </p:cNvSpPr>
          <p:nvPr/>
        </p:nvSpPr>
        <p:spPr>
          <a:xfrm>
            <a:off x="7358114" y="3132770"/>
            <a:ext cx="1643074" cy="1510364"/>
          </a:xfrm>
          <a:prstGeom prst="rect">
            <a:avLst/>
          </a:prstGeom>
          <a:solidFill>
            <a:srgbClr val="FBFFFF"/>
          </a:solidFill>
          <a:ln>
            <a:solidFill>
              <a:srgbClr val="0070C0"/>
            </a:solidFill>
          </a:ln>
        </p:spPr>
        <p:txBody>
          <a:bodyPr/>
          <a:lstStyle/>
          <a:p>
            <a:pPr marR="0" lvl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1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2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= 1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2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3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= 1</a:t>
            </a:r>
          </a:p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…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9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X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10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= 1</a:t>
            </a: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71868" y="2571744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№5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2857488" y="130710"/>
            <a:ext cx="62865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презентации представлены решения заданий:</a:t>
            </a:r>
            <a:endParaRPr lang="ru-RU" sz="2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2770" name="Picture 2" descr="C:\Users\я\Desktop\Безымянный.png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/>
          <a:srcRect l="1286" t="3682" r="1867" b="2880"/>
          <a:stretch>
            <a:fillRect/>
          </a:stretch>
        </p:blipFill>
        <p:spPr bwMode="auto">
          <a:xfrm>
            <a:off x="6250898" y="934304"/>
            <a:ext cx="2698230" cy="170887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</p:pic>
      <p:sp>
        <p:nvSpPr>
          <p:cNvPr id="29" name="Левая фигурная скобка 2"/>
          <p:cNvSpPr>
            <a:spLocks/>
          </p:cNvSpPr>
          <p:nvPr/>
        </p:nvSpPr>
        <p:spPr bwMode="auto">
          <a:xfrm>
            <a:off x="3143240" y="5072074"/>
            <a:ext cx="214314" cy="1510676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" name="Левая фигурная скобка 2"/>
          <p:cNvSpPr>
            <a:spLocks/>
          </p:cNvSpPr>
          <p:nvPr/>
        </p:nvSpPr>
        <p:spPr bwMode="auto">
          <a:xfrm>
            <a:off x="71438" y="2357430"/>
            <a:ext cx="214282" cy="1571636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Левая фигурная скобка 2"/>
          <p:cNvSpPr>
            <a:spLocks/>
          </p:cNvSpPr>
          <p:nvPr/>
        </p:nvSpPr>
        <p:spPr bwMode="auto">
          <a:xfrm>
            <a:off x="7286644" y="3132770"/>
            <a:ext cx="214314" cy="1510676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" name="Левая фигурная скобка 2"/>
          <p:cNvSpPr>
            <a:spLocks/>
          </p:cNvSpPr>
          <p:nvPr/>
        </p:nvSpPr>
        <p:spPr bwMode="auto">
          <a:xfrm>
            <a:off x="71406" y="642918"/>
            <a:ext cx="214314" cy="1143008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214282" y="4214818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285720" y="428604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 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3286116" y="773652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7358082" y="2786058"/>
            <a:ext cx="178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Д/З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7572396" y="4857760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 7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285720" y="2071678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№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6143636" y="571480"/>
            <a:ext cx="30003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ru-RU" dirty="0" smtClean="0"/>
              <a:t>№6</a:t>
            </a:r>
            <a:endParaRPr lang="ru-RU" dirty="0"/>
          </a:p>
        </p:txBody>
      </p:sp>
      <p:sp>
        <p:nvSpPr>
          <p:cNvPr id="40" name="Скругленный прямоугольник 39">
            <a:hlinkClick r:id="rId13" action="ppaction://hlinksldjump"/>
          </p:cNvPr>
          <p:cNvSpPr/>
          <p:nvPr/>
        </p:nvSpPr>
        <p:spPr>
          <a:xfrm>
            <a:off x="857224" y="142852"/>
            <a:ext cx="1500198" cy="285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smtClean="0"/>
              <a:t>Содержание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02408" y="306342"/>
          <a:ext cx="2269328" cy="6272784"/>
        </p:xfrm>
        <a:graphic>
          <a:graphicData uri="http://schemas.openxmlformats.org/drawingml/2006/table">
            <a:tbl>
              <a:tblPr/>
              <a:tblGrid>
                <a:gridCol w="567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0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b="1" i="1" baseline="-250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b="1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b="1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b="1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059">
                <a:tc row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059">
                <a:tc row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0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465" marR="584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367" name="Прямая соединительная линия 3"/>
          <p:cNvSpPr>
            <a:spLocks noChangeShapeType="1"/>
          </p:cNvSpPr>
          <p:nvPr/>
        </p:nvSpPr>
        <p:spPr bwMode="auto">
          <a:xfrm>
            <a:off x="2194722" y="1523963"/>
            <a:ext cx="179388" cy="2143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6" name="Прямая соединительная линия 4"/>
          <p:cNvSpPr>
            <a:spLocks noChangeShapeType="1"/>
          </p:cNvSpPr>
          <p:nvPr/>
        </p:nvSpPr>
        <p:spPr bwMode="auto">
          <a:xfrm flipH="1">
            <a:off x="2189960" y="1520788"/>
            <a:ext cx="173037" cy="209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1" name="Прямая соединительная линия 11"/>
          <p:cNvSpPr>
            <a:spLocks noChangeShapeType="1"/>
          </p:cNvSpPr>
          <p:nvPr/>
        </p:nvSpPr>
        <p:spPr bwMode="auto">
          <a:xfrm>
            <a:off x="-142063" y="-24"/>
            <a:ext cx="0" cy="0"/>
          </a:xfrm>
          <a:prstGeom prst="line">
            <a:avLst/>
          </a:prstGeom>
          <a:noFill/>
          <a:ln w="9525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Прямая соединительная линия 3"/>
          <p:cNvSpPr>
            <a:spLocks noChangeShapeType="1"/>
          </p:cNvSpPr>
          <p:nvPr/>
        </p:nvSpPr>
        <p:spPr bwMode="auto">
          <a:xfrm>
            <a:off x="2164558" y="2952723"/>
            <a:ext cx="179388" cy="2143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Прямая соединительная линия 4"/>
          <p:cNvSpPr>
            <a:spLocks noChangeShapeType="1"/>
          </p:cNvSpPr>
          <p:nvPr/>
        </p:nvSpPr>
        <p:spPr bwMode="auto">
          <a:xfrm flipH="1">
            <a:off x="2159796" y="2949548"/>
            <a:ext cx="173037" cy="209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Прямая соединительная линия 3"/>
          <p:cNvSpPr>
            <a:spLocks noChangeShapeType="1"/>
          </p:cNvSpPr>
          <p:nvPr/>
        </p:nvSpPr>
        <p:spPr bwMode="auto">
          <a:xfrm>
            <a:off x="2194722" y="5949946"/>
            <a:ext cx="179388" cy="2143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Прямая соединительная линия 4"/>
          <p:cNvSpPr>
            <a:spLocks noChangeShapeType="1"/>
          </p:cNvSpPr>
          <p:nvPr/>
        </p:nvSpPr>
        <p:spPr bwMode="auto">
          <a:xfrm flipH="1">
            <a:off x="2189960" y="5946771"/>
            <a:ext cx="173037" cy="209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9" name="Левая фигурная скобка 1"/>
          <p:cNvSpPr>
            <a:spLocks/>
          </p:cNvSpPr>
          <p:nvPr/>
        </p:nvSpPr>
        <p:spPr bwMode="auto">
          <a:xfrm>
            <a:off x="3143240" y="-24"/>
            <a:ext cx="406399" cy="1500198"/>
          </a:xfrm>
          <a:prstGeom prst="leftBrace">
            <a:avLst>
              <a:gd name="adj1" fmla="val 3659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3357554" y="-24"/>
            <a:ext cx="402275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3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3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kumimoji="0" lang="ru-RU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7620" y="1895912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57620" y="2623903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57620" y="3351893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57620" y="4032625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32868" y="1895912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532868" y="2623903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32868" y="3351893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32868" y="4032625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3857620" y="1571612"/>
            <a:ext cx="682206" cy="386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5532868" y="1571612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3200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3200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 стрелкой 56"/>
          <p:cNvCxnSpPr/>
          <p:nvPr/>
        </p:nvCxnSpPr>
        <p:spPr>
          <a:xfrm rot="5400000" flipH="1" flipV="1">
            <a:off x="4525149" y="3382149"/>
            <a:ext cx="1323274" cy="1056444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>
            <a:off x="4685764" y="4570957"/>
            <a:ext cx="1029244" cy="1051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/>
          <p:nvPr/>
        </p:nvCxnSpPr>
        <p:spPr>
          <a:xfrm>
            <a:off x="4664988" y="2387994"/>
            <a:ext cx="91819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>
            <a:off x="4678900" y="2387994"/>
            <a:ext cx="913133" cy="69309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 rot="16200000" flipH="1">
            <a:off x="4170202" y="2830665"/>
            <a:ext cx="2049735" cy="1103265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 rot="16200000" flipH="1">
            <a:off x="4485940" y="3151212"/>
            <a:ext cx="1241583" cy="108128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/>
          <p:nvPr/>
        </p:nvCxnSpPr>
        <p:spPr>
          <a:xfrm flipV="1">
            <a:off x="4573011" y="2428867"/>
            <a:ext cx="1141997" cy="649347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/>
          <p:nvPr/>
        </p:nvCxnSpPr>
        <p:spPr>
          <a:xfrm>
            <a:off x="4622140" y="3113878"/>
            <a:ext cx="1092868" cy="952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flipV="1">
            <a:off x="4604555" y="3223169"/>
            <a:ext cx="1109752" cy="629458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47" idx="3"/>
          </p:cNvCxnSpPr>
          <p:nvPr/>
        </p:nvCxnSpPr>
        <p:spPr>
          <a:xfrm flipV="1">
            <a:off x="4572000" y="2593711"/>
            <a:ext cx="1158932" cy="1264897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endCxn id="51" idx="1"/>
          </p:cNvCxnSpPr>
          <p:nvPr/>
        </p:nvCxnSpPr>
        <p:spPr>
          <a:xfrm>
            <a:off x="4621182" y="3852628"/>
            <a:ext cx="1048220" cy="5980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stCxn id="47" idx="3"/>
          </p:cNvCxnSpPr>
          <p:nvPr/>
        </p:nvCxnSpPr>
        <p:spPr>
          <a:xfrm>
            <a:off x="4572000" y="3858608"/>
            <a:ext cx="1214420" cy="668439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 rot="5400000" flipH="1" flipV="1">
            <a:off x="4203695" y="3060693"/>
            <a:ext cx="1928826" cy="1093804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786050" y="6215082"/>
            <a:ext cx="5857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(11) =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(00) +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(01) +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 +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(11)</a:t>
            </a:r>
            <a:endParaRPr lang="ru-RU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786050" y="4906044"/>
            <a:ext cx="6072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R(00) = R(00) + R(01) + R(10) + R(11)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786050" y="5357826"/>
            <a:ext cx="6072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R(01) = R(00) + R(01) + R(10) + R(11)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786050" y="5786454"/>
            <a:ext cx="6072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 =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</a:t>
            </a:r>
          </a:p>
        </p:txBody>
      </p:sp>
      <p:sp>
        <p:nvSpPr>
          <p:cNvPr id="100" name="Скругленный прямоугольник 99"/>
          <p:cNvSpPr/>
          <p:nvPr/>
        </p:nvSpPr>
        <p:spPr>
          <a:xfrm>
            <a:off x="7000892" y="1857364"/>
            <a:ext cx="1857388" cy="214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 smtClean="0"/>
              <a:t>Система, </a:t>
            </a:r>
            <a:br>
              <a:rPr lang="ru-RU" b="1" dirty="0" smtClean="0"/>
            </a:br>
            <a:r>
              <a:rPr lang="ru-RU" b="1" dirty="0" smtClean="0"/>
              <a:t>в которой правила перехода  </a:t>
            </a:r>
            <a:br>
              <a:rPr lang="ru-RU" b="1" dirty="0" smtClean="0"/>
            </a:br>
            <a:r>
              <a:rPr lang="ru-RU" b="1" dirty="0" smtClean="0"/>
              <a:t>от одной пары </a:t>
            </a:r>
            <a:br>
              <a:rPr lang="ru-RU" b="1" dirty="0" smtClean="0"/>
            </a:br>
            <a:r>
              <a:rPr lang="ru-RU" b="1" dirty="0" smtClean="0"/>
              <a:t>к другой </a:t>
            </a:r>
            <a:br>
              <a:rPr lang="ru-RU" b="1" dirty="0" smtClean="0"/>
            </a:br>
            <a:r>
              <a:rPr lang="ru-RU" sz="2000" b="1" dirty="0" smtClean="0"/>
              <a:t>НЕ меняются</a:t>
            </a:r>
            <a:endParaRPr lang="ru-RU" b="1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72400" y="153129"/>
            <a:ext cx="829294" cy="56207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№1</a:t>
            </a:r>
            <a:endParaRPr lang="ru-RU" sz="2800" dirty="0"/>
          </a:p>
        </p:txBody>
      </p:sp>
      <p:sp>
        <p:nvSpPr>
          <p:cNvPr id="42" name="Скругленный прямоугольник 41">
            <a:hlinkClick r:id="rId2" action="ppaction://hlinksldjump"/>
          </p:cNvPr>
          <p:cNvSpPr/>
          <p:nvPr/>
        </p:nvSpPr>
        <p:spPr>
          <a:xfrm>
            <a:off x="8358214" y="5357826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43" name="Скругленный прямоугольник 42">
            <a:hlinkClick r:id="rId2" action="ppaction://hlinksldjump"/>
          </p:cNvPr>
          <p:cNvSpPr/>
          <p:nvPr/>
        </p:nvSpPr>
        <p:spPr>
          <a:xfrm>
            <a:off x="8358214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2" grpId="0"/>
      <p:bldP spid="93" grpId="0"/>
      <p:bldP spid="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069" y="539337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069" y="1267328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3069" y="1995318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3069" y="2676050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8317" y="539337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8317" y="1267328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8317" y="1995318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38317" y="2676050"/>
            <a:ext cx="646004" cy="61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3069" y="215037"/>
            <a:ext cx="682206" cy="386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038317" y="215037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3200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3200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rot="5400000" flipH="1" flipV="1">
            <a:off x="1030598" y="2025574"/>
            <a:ext cx="1323274" cy="1056444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1191213" y="3214382"/>
            <a:ext cx="1029244" cy="1051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170437" y="1031419"/>
            <a:ext cx="91819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1184349" y="1031419"/>
            <a:ext cx="913133" cy="69309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6200000" flipH="1">
            <a:off x="675651" y="1474090"/>
            <a:ext cx="2049735" cy="1103265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rot="16200000" flipH="1">
            <a:off x="991389" y="1794637"/>
            <a:ext cx="1241583" cy="1081285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1078460" y="1072292"/>
            <a:ext cx="1141997" cy="649347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1127589" y="1757303"/>
            <a:ext cx="1092868" cy="952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1110004" y="1866594"/>
            <a:ext cx="1109752" cy="629458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4" idx="3"/>
          </p:cNvCxnSpPr>
          <p:nvPr/>
        </p:nvCxnSpPr>
        <p:spPr>
          <a:xfrm flipV="1">
            <a:off x="1077449" y="1237136"/>
            <a:ext cx="1158932" cy="1264897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8" idx="1"/>
          </p:cNvCxnSpPr>
          <p:nvPr/>
        </p:nvCxnSpPr>
        <p:spPr>
          <a:xfrm>
            <a:off x="1126631" y="2496053"/>
            <a:ext cx="1048220" cy="5980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4" idx="3"/>
          </p:cNvCxnSpPr>
          <p:nvPr/>
        </p:nvCxnSpPr>
        <p:spPr>
          <a:xfrm>
            <a:off x="1077449" y="2502033"/>
            <a:ext cx="1214420" cy="668439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5400000" flipH="1" flipV="1">
            <a:off x="709144" y="1704118"/>
            <a:ext cx="1928826" cy="1093804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7554" y="1594766"/>
            <a:ext cx="5572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(11) =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(00) +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(01) +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 +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(11)</a:t>
            </a:r>
            <a:endParaRPr lang="ru-RU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57554" y="285728"/>
            <a:ext cx="564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R(00) = R(00) + R(01) + R(10) + R(11)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57554" y="737510"/>
            <a:ext cx="564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R(01) = R(00) + R(01) + R(10) + R(11)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57554" y="1166138"/>
            <a:ext cx="564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 =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R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</a:rPr>
              <a:t>(10)</a:t>
            </a:r>
          </a:p>
        </p:txBody>
      </p:sp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3071802" y="2428868"/>
          <a:ext cx="5786478" cy="3529212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10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Количество пар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Пара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8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214942" y="6072206"/>
            <a:ext cx="3714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200" dirty="0" smtClean="0"/>
              <a:t>40+40+1+40=</a:t>
            </a:r>
            <a:r>
              <a:rPr lang="ru-RU" sz="3200" dirty="0" smtClean="0">
                <a:solidFill>
                  <a:srgbClr val="C00000"/>
                </a:solidFill>
              </a:rPr>
              <a:t>121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кругленный прямоугольник 31">
            <a:hlinkClick r:id="rId3" action="ppaction://hlinksldjump"/>
          </p:cNvPr>
          <p:cNvSpPr/>
          <p:nvPr/>
        </p:nvSpPr>
        <p:spPr>
          <a:xfrm>
            <a:off x="142876" y="521497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33" name="Скругленный прямоугольник 32">
            <a:hlinkClick r:id="rId3" action="ppaction://hlinksldjump"/>
          </p:cNvPr>
          <p:cNvSpPr/>
          <p:nvPr/>
        </p:nvSpPr>
        <p:spPr>
          <a:xfrm>
            <a:off x="142876" y="6000792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4348" y="2747102"/>
          <a:ext cx="6929486" cy="3506469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10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Количество пар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Пара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</a:t>
                      </a:r>
                      <a:r>
                        <a:rPr lang="en-US" sz="3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8</a:t>
                      </a:r>
                      <a:endParaRPr lang="ru-RU" sz="3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9</a:t>
                      </a:r>
                      <a:r>
                        <a:rPr lang="en-US" sz="3200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x</a:t>
                      </a:r>
                      <a:r>
                        <a:rPr lang="en-US" sz="3200" baseline="-25000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10</a:t>
                      </a:r>
                      <a:endParaRPr lang="ru-RU" sz="3200" dirty="0">
                        <a:solidFill>
                          <a:srgbClr val="C0000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121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121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40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121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286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Левая фигурная скобка 1"/>
          <p:cNvSpPr>
            <a:spLocks/>
          </p:cNvSpPr>
          <p:nvPr/>
        </p:nvSpPr>
        <p:spPr bwMode="auto">
          <a:xfrm>
            <a:off x="0" y="404664"/>
            <a:ext cx="406399" cy="2071678"/>
          </a:xfrm>
          <a:prstGeom prst="leftBrace">
            <a:avLst>
              <a:gd name="adj1" fmla="val 3659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14314" y="404664"/>
            <a:ext cx="402275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3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4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 1</a:t>
            </a:r>
            <a:endParaRPr kumimoji="0" lang="ru-RU" sz="3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5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3000" b="1" u="none" strike="noStrike" cap="none" normalizeH="0" baseline="-3000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kumimoji="0" lang="ru-RU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3000" b="1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endParaRPr kumimoji="0" lang="ru-RU" sz="3000" b="1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(x</a:t>
            </a:r>
            <a:r>
              <a:rPr lang="ru-RU" sz="3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7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lang="ru-RU" sz="3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8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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(x</a:t>
            </a:r>
            <a:r>
              <a:rPr lang="ru-RU" sz="3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9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lang="ru-RU" sz="3000" b="1" baseline="-30000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10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=</a:t>
            </a:r>
            <a:r>
              <a:rPr lang="ru-RU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3000" b="1" dirty="0" smtClean="0">
              <a:solidFill>
                <a:srgbClr val="C00000"/>
              </a:solidFill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429156" y="142852"/>
            <a:ext cx="4572000" cy="1000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000" b="1" dirty="0" smtClean="0"/>
              <a:t>К предыдущей системе добавили  однотипное уравнение с новыми переменными</a:t>
            </a:r>
            <a:endParaRPr lang="ru-RU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6929454" y="6215082"/>
            <a:ext cx="1080120" cy="4776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20206832">
            <a:off x="7408985" y="6354396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364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5718" y="1340768"/>
            <a:ext cx="42467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R(00) = R(00) + R(01) + R(10) + R(11)</a:t>
            </a:r>
            <a:endParaRPr lang="ru-RU" sz="2000" b="1" dirty="0" smtClean="0"/>
          </a:p>
          <a:p>
            <a:r>
              <a:rPr lang="en-US" sz="2000" b="1" dirty="0" smtClean="0"/>
              <a:t>R(01) = R(00) + R(01) + R(10) + R(11)</a:t>
            </a:r>
            <a:endParaRPr lang="ru-RU" sz="2000" b="1" dirty="0" smtClean="0"/>
          </a:p>
          <a:p>
            <a:r>
              <a:rPr lang="en-US" sz="2000" b="1" dirty="0" smtClean="0"/>
              <a:t>R</a:t>
            </a:r>
            <a:r>
              <a:rPr lang="ru-RU" sz="2000" b="1" dirty="0" smtClean="0"/>
              <a:t>(10) = </a:t>
            </a:r>
            <a:r>
              <a:rPr lang="en-US" sz="2000" b="1" dirty="0" smtClean="0"/>
              <a:t>R</a:t>
            </a:r>
            <a:r>
              <a:rPr lang="ru-RU" sz="2000" b="1" dirty="0" smtClean="0"/>
              <a:t>(10)</a:t>
            </a:r>
          </a:p>
          <a:p>
            <a:r>
              <a:rPr lang="en-US" sz="2000" b="1" dirty="0" smtClean="0"/>
              <a:t>R</a:t>
            </a:r>
            <a:r>
              <a:rPr lang="ru-RU" sz="2000" b="1" dirty="0" smtClean="0"/>
              <a:t>(11) = </a:t>
            </a:r>
            <a:r>
              <a:rPr lang="en-US" sz="2000" b="1" dirty="0" smtClean="0"/>
              <a:t>R</a:t>
            </a:r>
            <a:r>
              <a:rPr lang="ru-RU" sz="2000" b="1" dirty="0" smtClean="0"/>
              <a:t>(00) + </a:t>
            </a:r>
            <a:r>
              <a:rPr lang="en-US" sz="2000" b="1" dirty="0" smtClean="0"/>
              <a:t>R</a:t>
            </a:r>
            <a:r>
              <a:rPr lang="ru-RU" sz="2000" b="1" dirty="0" smtClean="0"/>
              <a:t>(01) + </a:t>
            </a:r>
            <a:r>
              <a:rPr lang="en-US" sz="2000" b="1" dirty="0" smtClean="0"/>
              <a:t>R</a:t>
            </a:r>
            <a:r>
              <a:rPr lang="ru-RU" sz="2000" b="1" dirty="0" smtClean="0"/>
              <a:t>(10) + </a:t>
            </a:r>
            <a:r>
              <a:rPr lang="en-US" sz="2000" b="1" dirty="0" smtClean="0"/>
              <a:t>R</a:t>
            </a:r>
            <a:r>
              <a:rPr lang="ru-RU" sz="2000" b="1" dirty="0" smtClean="0"/>
              <a:t>(11)</a:t>
            </a:r>
            <a:endParaRPr lang="ru-RU" sz="2000" b="1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611560" y="75168"/>
            <a:ext cx="829294" cy="56207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 smtClean="0"/>
              <a:t>№2</a:t>
            </a:r>
            <a:endParaRPr lang="ru-RU" sz="2800" dirty="0"/>
          </a:p>
        </p:txBody>
      </p:sp>
      <p:sp>
        <p:nvSpPr>
          <p:cNvPr id="14" name="Скругленный прямоугольник 13">
            <a:hlinkClick r:id="rId2" action="ppaction://hlinksldjump"/>
          </p:cNvPr>
          <p:cNvSpPr/>
          <p:nvPr/>
        </p:nvSpPr>
        <p:spPr>
          <a:xfrm>
            <a:off x="8358214" y="5357826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15" name="Скругленный прямоугольник 14">
            <a:hlinkClick r:id="rId2" action="ppaction://hlinksldjump"/>
          </p:cNvPr>
          <p:cNvSpPr/>
          <p:nvPr/>
        </p:nvSpPr>
        <p:spPr>
          <a:xfrm>
            <a:off x="8358214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4802216" y="142852"/>
            <a:ext cx="4162272" cy="1285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392" name="Rectangle 32"/>
          <p:cNvSpPr>
            <a:spLocks noChangeArrowheads="1"/>
          </p:cNvSpPr>
          <p:nvPr/>
        </p:nvSpPr>
        <p:spPr bwMode="auto">
          <a:xfrm>
            <a:off x="0" y="1428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393" name="Rectangle 33"/>
          <p:cNvSpPr>
            <a:spLocks noChangeArrowheads="1"/>
          </p:cNvSpPr>
          <p:nvPr/>
        </p:nvSpPr>
        <p:spPr bwMode="auto">
          <a:xfrm>
            <a:off x="0" y="1619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94" name="Rectangle 34"/>
          <p:cNvSpPr>
            <a:spLocks noChangeArrowheads="1"/>
          </p:cNvSpPr>
          <p:nvPr/>
        </p:nvSpPr>
        <p:spPr bwMode="auto">
          <a:xfrm>
            <a:off x="0" y="1809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95" name="Rectangle 35"/>
          <p:cNvSpPr>
            <a:spLocks noChangeArrowheads="1"/>
          </p:cNvSpPr>
          <p:nvPr/>
        </p:nvSpPr>
        <p:spPr bwMode="auto">
          <a:xfrm>
            <a:off x="0" y="2000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0" y="2190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5419" name="Picture 5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133325"/>
            <a:ext cx="3249871" cy="366717"/>
          </a:xfrm>
          <a:prstGeom prst="rect">
            <a:avLst/>
          </a:prstGeom>
          <a:noFill/>
        </p:spPr>
      </p:pic>
      <p:pic>
        <p:nvPicPr>
          <p:cNvPr id="15418" name="Picture 5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500042"/>
            <a:ext cx="2905746" cy="399368"/>
          </a:xfrm>
          <a:prstGeom prst="rect">
            <a:avLst/>
          </a:prstGeom>
          <a:noFill/>
        </p:spPr>
      </p:pic>
      <p:pic>
        <p:nvPicPr>
          <p:cNvPr id="15417" name="Picture 5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838178"/>
            <a:ext cx="3249871" cy="366717"/>
          </a:xfrm>
          <a:prstGeom prst="rect">
            <a:avLst/>
          </a:prstGeom>
          <a:noFill/>
        </p:spPr>
      </p:pic>
      <p:pic>
        <p:nvPicPr>
          <p:cNvPr id="15416" name="Picture 5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1357298"/>
            <a:ext cx="3276162" cy="381561"/>
          </a:xfrm>
          <a:prstGeom prst="rect">
            <a:avLst/>
          </a:prstGeom>
          <a:noFill/>
        </p:spPr>
      </p:pic>
      <p:sp>
        <p:nvSpPr>
          <p:cNvPr id="15424" name="Левая фигурная скобка 2"/>
          <p:cNvSpPr>
            <a:spLocks/>
          </p:cNvSpPr>
          <p:nvPr/>
        </p:nvSpPr>
        <p:spPr bwMode="auto">
          <a:xfrm>
            <a:off x="71406" y="142852"/>
            <a:ext cx="244475" cy="1928826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422" name="Text Box 62"/>
          <p:cNvSpPr txBox="1">
            <a:spLocks noChangeArrowheads="1"/>
          </p:cNvSpPr>
          <p:nvPr/>
        </p:nvSpPr>
        <p:spPr bwMode="auto">
          <a:xfrm>
            <a:off x="1500166" y="928670"/>
            <a:ext cx="57150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…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26" name="Rectangle 66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427" name="Rectangle 67"/>
          <p:cNvSpPr>
            <a:spLocks noChangeArrowheads="1"/>
          </p:cNvSpPr>
          <p:nvPr/>
        </p:nvSpPr>
        <p:spPr bwMode="auto">
          <a:xfrm>
            <a:off x="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428" name="Rectangle 68"/>
          <p:cNvSpPr>
            <a:spLocks noChangeArrowheads="1"/>
          </p:cNvSpPr>
          <p:nvPr/>
        </p:nvSpPr>
        <p:spPr bwMode="auto">
          <a:xfrm>
            <a:off x="0" y="1514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429" name="Rectangle 69"/>
          <p:cNvSpPr>
            <a:spLocks noChangeArrowheads="1"/>
          </p:cNvSpPr>
          <p:nvPr/>
        </p:nvSpPr>
        <p:spPr bwMode="auto">
          <a:xfrm>
            <a:off x="0" y="1790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30" name="Rectangle 70"/>
          <p:cNvSpPr>
            <a:spLocks noChangeArrowheads="1"/>
          </p:cNvSpPr>
          <p:nvPr/>
        </p:nvSpPr>
        <p:spPr bwMode="auto">
          <a:xfrm>
            <a:off x="0" y="2066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31" name="Rectangle 71"/>
          <p:cNvSpPr>
            <a:spLocks noChangeArrowheads="1"/>
          </p:cNvSpPr>
          <p:nvPr/>
        </p:nvSpPr>
        <p:spPr bwMode="auto">
          <a:xfrm>
            <a:off x="0" y="2343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32" name="Rectangle 72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34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5433" name="Picture 7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714487"/>
            <a:ext cx="2940431" cy="369145"/>
          </a:xfrm>
          <a:prstGeom prst="rect">
            <a:avLst/>
          </a:prstGeom>
          <a:noFill/>
        </p:spPr>
      </p:pic>
      <p:sp>
        <p:nvSpPr>
          <p:cNvPr id="79" name="Прямоугольник 78"/>
          <p:cNvSpPr/>
          <p:nvPr/>
        </p:nvSpPr>
        <p:spPr>
          <a:xfrm>
            <a:off x="71406" y="2071678"/>
            <a:ext cx="214314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Правило для всех уравнений,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стоящих на </a:t>
            </a:r>
            <a:r>
              <a:rPr lang="ru-RU" sz="2000" b="1" dirty="0" smtClean="0"/>
              <a:t>нечетных</a:t>
            </a:r>
            <a:r>
              <a:rPr lang="ru-RU" sz="2000" dirty="0" smtClean="0"/>
              <a:t> </a:t>
            </a:r>
            <a:r>
              <a:rPr lang="ru-RU" dirty="0" smtClean="0"/>
              <a:t>местах: </a:t>
            </a:r>
            <a:endParaRPr lang="ru-RU" dirty="0"/>
          </a:p>
        </p:txBody>
      </p:sp>
      <p:graphicFrame>
        <p:nvGraphicFramePr>
          <p:cNvPr id="80" name="Таблица 79"/>
          <p:cNvGraphicFramePr>
            <a:graphicFrameLocks noGrp="1"/>
          </p:cNvGraphicFramePr>
          <p:nvPr/>
        </p:nvGraphicFramePr>
        <p:xfrm>
          <a:off x="142845" y="3357538"/>
          <a:ext cx="1643073" cy="341680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5" name="Прямая соединительная линия 84"/>
          <p:cNvCxnSpPr/>
          <p:nvPr/>
        </p:nvCxnSpPr>
        <p:spPr>
          <a:xfrm>
            <a:off x="1214414" y="5357826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 flipV="1">
            <a:off x="1285852" y="5357826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Таблица 90"/>
          <p:cNvGraphicFramePr>
            <a:graphicFrameLocks noGrp="1"/>
          </p:cNvGraphicFramePr>
          <p:nvPr/>
        </p:nvGraphicFramePr>
        <p:xfrm>
          <a:off x="2143108" y="3357562"/>
          <a:ext cx="1571637" cy="2076458"/>
        </p:xfrm>
        <a:graphic>
          <a:graphicData uri="http://schemas.openxmlformats.org/drawingml/2006/table">
            <a:tbl>
              <a:tblPr/>
              <a:tblGrid>
                <a:gridCol w="52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ru-RU" sz="2800" b="1" i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lang="ru-RU" sz="2400" b="1" dirty="0">
                          <a:latin typeface="Calibri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ru-RU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ru-RU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lang="ru-RU" sz="2400" b="1">
                          <a:latin typeface="Calibri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ru-RU" sz="2400" b="1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ru-RU" sz="2400" b="1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ru-RU" sz="2400" b="1" dirty="0">
                          <a:latin typeface="Calibri"/>
                          <a:ea typeface="Times New Roman"/>
                          <a:cs typeface="Calibri"/>
                        </a:rPr>
                        <a:t>−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" name="Прямоугольник 94"/>
          <p:cNvSpPr/>
          <p:nvPr/>
        </p:nvSpPr>
        <p:spPr>
          <a:xfrm>
            <a:off x="2143108" y="2071678"/>
            <a:ext cx="200023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Правило для всех уравнений,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стоящих на </a:t>
            </a:r>
            <a:r>
              <a:rPr lang="ru-RU" sz="2000" b="1" dirty="0" smtClean="0"/>
              <a:t>четных</a:t>
            </a:r>
            <a:r>
              <a:rPr lang="ru-RU" sz="2000" dirty="0" smtClean="0"/>
              <a:t> </a:t>
            </a:r>
            <a:r>
              <a:rPr lang="ru-RU" dirty="0" smtClean="0"/>
              <a:t>местах: </a:t>
            </a:r>
            <a:endParaRPr lang="ru-RU" dirty="0"/>
          </a:p>
        </p:txBody>
      </p:sp>
      <p:sp>
        <p:nvSpPr>
          <p:cNvPr id="138" name="TextBox 137"/>
          <p:cNvSpPr txBox="1"/>
          <p:nvPr/>
        </p:nvSpPr>
        <p:spPr>
          <a:xfrm>
            <a:off x="4514317" y="263333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4514317" y="373378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14317" y="483422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514317" y="593467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6586019" y="263333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6586019" y="373378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586019" y="483422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586019" y="593467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cxnSp>
        <p:nvCxnSpPr>
          <p:cNvPr id="146" name="Прямая со стрелкой 145"/>
          <p:cNvCxnSpPr>
            <a:stCxn id="138" idx="3"/>
            <a:endCxn id="142" idx="1"/>
          </p:cNvCxnSpPr>
          <p:nvPr/>
        </p:nvCxnSpPr>
        <p:spPr>
          <a:xfrm>
            <a:off x="5090116" y="2910334"/>
            <a:ext cx="1495903" cy="1588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/>
          <p:cNvCxnSpPr>
            <a:stCxn id="138" idx="3"/>
            <a:endCxn id="143" idx="1"/>
          </p:cNvCxnSpPr>
          <p:nvPr/>
        </p:nvCxnSpPr>
        <p:spPr>
          <a:xfrm>
            <a:off x="5090116" y="2910334"/>
            <a:ext cx="1495903" cy="1100445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Прямоугольник 147"/>
          <p:cNvSpPr/>
          <p:nvPr/>
        </p:nvSpPr>
        <p:spPr>
          <a:xfrm>
            <a:off x="4514317" y="2143116"/>
            <a:ext cx="843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28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Прямоугольник 148"/>
          <p:cNvSpPr/>
          <p:nvPr/>
        </p:nvSpPr>
        <p:spPr>
          <a:xfrm>
            <a:off x="6586019" y="2143116"/>
            <a:ext cx="843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sz="28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207525" y="263333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207525" y="373378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01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207525" y="4834225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10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207525" y="5934670"/>
            <a:ext cx="5757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2060"/>
                </a:solidFill>
              </a:rPr>
              <a:t>11</a:t>
            </a:r>
            <a:endParaRPr lang="ru-RU" sz="3000" b="1" dirty="0">
              <a:solidFill>
                <a:srgbClr val="002060"/>
              </a:solidFill>
            </a:endParaRPr>
          </a:p>
        </p:txBody>
      </p:sp>
      <p:sp>
        <p:nvSpPr>
          <p:cNvPr id="154" name="Прямоугольник 153"/>
          <p:cNvSpPr/>
          <p:nvPr/>
        </p:nvSpPr>
        <p:spPr>
          <a:xfrm>
            <a:off x="8207525" y="2143116"/>
            <a:ext cx="843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sz="28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5" name="Прямая со стрелкой 154"/>
          <p:cNvCxnSpPr>
            <a:stCxn id="139" idx="3"/>
            <a:endCxn id="144" idx="1"/>
          </p:cNvCxnSpPr>
          <p:nvPr/>
        </p:nvCxnSpPr>
        <p:spPr>
          <a:xfrm>
            <a:off x="5090116" y="4010779"/>
            <a:ext cx="1495903" cy="1100445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/>
          <p:cNvCxnSpPr>
            <a:stCxn id="139" idx="3"/>
          </p:cNvCxnSpPr>
          <p:nvPr/>
        </p:nvCxnSpPr>
        <p:spPr>
          <a:xfrm>
            <a:off x="5090116" y="4010779"/>
            <a:ext cx="1482148" cy="2061427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Прямая со стрелкой 156"/>
          <p:cNvCxnSpPr/>
          <p:nvPr/>
        </p:nvCxnSpPr>
        <p:spPr>
          <a:xfrm flipV="1">
            <a:off x="5143504" y="4143380"/>
            <a:ext cx="1428760" cy="1000132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157"/>
          <p:cNvCxnSpPr/>
          <p:nvPr/>
        </p:nvCxnSpPr>
        <p:spPr>
          <a:xfrm flipV="1">
            <a:off x="5215072" y="5214950"/>
            <a:ext cx="1428760" cy="1000132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5215072" y="6215082"/>
            <a:ext cx="1412860" cy="0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159"/>
          <p:cNvCxnSpPr>
            <a:endCxn id="153" idx="1"/>
          </p:cNvCxnSpPr>
          <p:nvPr/>
        </p:nvCxnSpPr>
        <p:spPr>
          <a:xfrm rot="16200000" flipH="1">
            <a:off x="6534345" y="4538488"/>
            <a:ext cx="2211165" cy="1135195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Прямая со стрелкой 160"/>
          <p:cNvCxnSpPr>
            <a:endCxn id="151" idx="1"/>
          </p:cNvCxnSpPr>
          <p:nvPr/>
        </p:nvCxnSpPr>
        <p:spPr>
          <a:xfrm rot="16200000" flipH="1">
            <a:off x="7134724" y="2937977"/>
            <a:ext cx="1081845" cy="1063757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Прямая со стрелкой 161"/>
          <p:cNvCxnSpPr>
            <a:stCxn id="144" idx="3"/>
            <a:endCxn id="150" idx="1"/>
          </p:cNvCxnSpPr>
          <p:nvPr/>
        </p:nvCxnSpPr>
        <p:spPr>
          <a:xfrm flipV="1">
            <a:off x="7161818" y="2910334"/>
            <a:ext cx="1045707" cy="2200890"/>
          </a:xfrm>
          <a:prstGeom prst="straightConnector1">
            <a:avLst/>
          </a:prstGeom>
          <a:ln w="57150">
            <a:solidFill>
              <a:srgbClr val="00206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 5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4643438" y="71414"/>
            <a:ext cx="45005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Система, в которой </a:t>
            </a:r>
            <a:r>
              <a:rPr lang="ru-RU" sz="2800" b="1" dirty="0" smtClean="0">
                <a:solidFill>
                  <a:schemeClr val="bg1"/>
                </a:solidFill>
              </a:rPr>
              <a:t>меняются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br>
              <a:rPr lang="ru-RU" sz="2800" dirty="0" smtClean="0">
                <a:solidFill>
                  <a:schemeClr val="bg1"/>
                </a:solidFill>
              </a:rPr>
            </a:br>
            <a:r>
              <a:rPr lang="ru-RU" sz="2400" dirty="0" smtClean="0">
                <a:solidFill>
                  <a:schemeClr val="bg1"/>
                </a:solidFill>
              </a:rPr>
              <a:t>правила перехода </a:t>
            </a:r>
            <a:br>
              <a:rPr lang="ru-RU" sz="2400" dirty="0" smtClean="0">
                <a:solidFill>
                  <a:schemeClr val="bg1"/>
                </a:solidFill>
              </a:rPr>
            </a:br>
            <a:r>
              <a:rPr lang="ru-RU" sz="2400" dirty="0" smtClean="0">
                <a:solidFill>
                  <a:schemeClr val="bg1"/>
                </a:solidFill>
              </a:rPr>
              <a:t>от одной пары к другой</a:t>
            </a:r>
            <a:endParaRPr lang="ru-RU" sz="2400" dirty="0"/>
          </a:p>
        </p:txBody>
      </p:sp>
      <p:sp>
        <p:nvSpPr>
          <p:cNvPr id="60" name="Скругленный прямоугольник 59">
            <a:hlinkClick r:id="rId7" action="ppaction://hlinksldjump"/>
          </p:cNvPr>
          <p:cNvSpPr/>
          <p:nvPr/>
        </p:nvSpPr>
        <p:spPr>
          <a:xfrm>
            <a:off x="2214578" y="6000792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61" name="Скругленный прямоугольник 60">
            <a:hlinkClick r:id="rId7" action="ppaction://hlinksldjump"/>
          </p:cNvPr>
          <p:cNvSpPr/>
          <p:nvPr/>
        </p:nvSpPr>
        <p:spPr>
          <a:xfrm>
            <a:off x="3071802" y="6000792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133325"/>
            <a:ext cx="3249871" cy="366717"/>
          </a:xfrm>
          <a:prstGeom prst="rect">
            <a:avLst/>
          </a:prstGeom>
          <a:noFill/>
        </p:spPr>
      </p:pic>
      <p:pic>
        <p:nvPicPr>
          <p:cNvPr id="5" name="Picture 5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500042"/>
            <a:ext cx="2905746" cy="399368"/>
          </a:xfrm>
          <a:prstGeom prst="rect">
            <a:avLst/>
          </a:prstGeom>
          <a:noFill/>
        </p:spPr>
      </p:pic>
      <p:pic>
        <p:nvPicPr>
          <p:cNvPr id="6" name="Picture 5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838178"/>
            <a:ext cx="3249871" cy="366717"/>
          </a:xfrm>
          <a:prstGeom prst="rect">
            <a:avLst/>
          </a:prstGeom>
          <a:noFill/>
        </p:spPr>
      </p:pic>
      <p:pic>
        <p:nvPicPr>
          <p:cNvPr id="7" name="Picture 56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1357298"/>
            <a:ext cx="3276162" cy="381561"/>
          </a:xfrm>
          <a:prstGeom prst="rect">
            <a:avLst/>
          </a:prstGeom>
          <a:noFill/>
        </p:spPr>
      </p:pic>
      <p:sp>
        <p:nvSpPr>
          <p:cNvPr id="8" name="Левая фигурная скобка 2"/>
          <p:cNvSpPr>
            <a:spLocks/>
          </p:cNvSpPr>
          <p:nvPr/>
        </p:nvSpPr>
        <p:spPr bwMode="auto">
          <a:xfrm>
            <a:off x="357158" y="142852"/>
            <a:ext cx="244475" cy="1928826"/>
          </a:xfrm>
          <a:prstGeom prst="leftBrace">
            <a:avLst>
              <a:gd name="adj1" fmla="val 79885"/>
              <a:gd name="adj2" fmla="val 49343"/>
            </a:avLst>
          </a:prstGeom>
          <a:noFill/>
          <a:ln w="9525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 Box 62"/>
          <p:cNvSpPr txBox="1">
            <a:spLocks noChangeArrowheads="1"/>
          </p:cNvSpPr>
          <p:nvPr/>
        </p:nvSpPr>
        <p:spPr bwMode="auto">
          <a:xfrm>
            <a:off x="1785918" y="928670"/>
            <a:ext cx="57150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…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73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4348" y="1714487"/>
            <a:ext cx="2940431" cy="36914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285720" y="277623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5720" y="387668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5720" y="497712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720" y="6006132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85361" y="277623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85361" y="387668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85361" y="497712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85361" y="6006132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85720" y="2286016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2585361" y="2286016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2066" y="277623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2066" y="387668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01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2066" y="4977125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10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72066" y="6006132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11</a:t>
            </a:r>
            <a:endParaRPr lang="ru-RU" sz="5400" dirty="0">
              <a:solidFill>
                <a:srgbClr val="002060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5072066" y="2286016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sz="32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 rot="16200000" flipH="1">
            <a:off x="865174" y="4651419"/>
            <a:ext cx="2071703" cy="1484298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V="1">
            <a:off x="1214414" y="4429156"/>
            <a:ext cx="1428760" cy="100013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V="1">
            <a:off x="1214414" y="5572164"/>
            <a:ext cx="1428760" cy="100013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1214414" y="6572296"/>
            <a:ext cx="141286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endCxn id="26" idx="1"/>
          </p:cNvCxnSpPr>
          <p:nvPr/>
        </p:nvCxnSpPr>
        <p:spPr>
          <a:xfrm>
            <a:off x="3428992" y="3286148"/>
            <a:ext cx="1643074" cy="1052197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/>
          <p:cNvSpPr/>
          <p:nvPr/>
        </p:nvSpPr>
        <p:spPr>
          <a:xfrm>
            <a:off x="5786446" y="0"/>
            <a:ext cx="335755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Для всех уравнений на </a:t>
            </a:r>
            <a:r>
              <a:rPr lang="ru-RU" sz="2600" b="1" dirty="0" smtClean="0">
                <a:solidFill>
                  <a:srgbClr val="C00000"/>
                </a:solidFill>
              </a:rPr>
              <a:t>нечетных</a:t>
            </a:r>
            <a:r>
              <a:rPr lang="ru-RU" sz="2600" dirty="0" smtClean="0"/>
              <a:t> местах:</a:t>
            </a:r>
          </a:p>
          <a:p>
            <a:r>
              <a:rPr lang="ru-RU" sz="2600" b="1" dirty="0" smtClean="0"/>
              <a:t>F (00) = F (00), </a:t>
            </a:r>
          </a:p>
          <a:p>
            <a:r>
              <a:rPr lang="ru-RU" sz="2600" b="1" dirty="0" smtClean="0"/>
              <a:t>F (01) = F (00) + F (10), </a:t>
            </a:r>
          </a:p>
          <a:p>
            <a:r>
              <a:rPr lang="ru-RU" sz="2600" b="1" dirty="0" smtClean="0"/>
              <a:t>F (10) = F (01) + F (11), </a:t>
            </a:r>
          </a:p>
          <a:p>
            <a:r>
              <a:rPr lang="en-US" sz="2600" b="1" dirty="0" smtClean="0"/>
              <a:t>F (11) = F (01) + F (11)</a:t>
            </a:r>
            <a:r>
              <a:rPr lang="ru-RU" sz="2600" b="1" dirty="0" smtClean="0"/>
              <a:t>.</a:t>
            </a:r>
            <a:r>
              <a:rPr lang="en-US" sz="2600" b="1" dirty="0" smtClean="0"/>
              <a:t> </a:t>
            </a:r>
            <a:endParaRPr lang="ru-RU" sz="2600" b="1" dirty="0"/>
          </a:p>
        </p:txBody>
      </p:sp>
      <p:sp>
        <p:nvSpPr>
          <p:cNvPr id="49" name="Прямоугольник 48"/>
          <p:cNvSpPr/>
          <p:nvPr/>
        </p:nvSpPr>
        <p:spPr>
          <a:xfrm>
            <a:off x="6500826" y="2714620"/>
            <a:ext cx="264317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Для всех </a:t>
            </a:r>
            <a:r>
              <a:rPr lang="ru-RU" sz="26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четных</a:t>
            </a:r>
            <a:r>
              <a:rPr lang="ru-RU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600" dirty="0" smtClean="0"/>
              <a:t>уравнений: </a:t>
            </a:r>
          </a:p>
          <a:p>
            <a:r>
              <a:rPr lang="ru-RU" sz="2600" b="1" dirty="0" smtClean="0"/>
              <a:t>F (00) = F (10), </a:t>
            </a:r>
          </a:p>
          <a:p>
            <a:r>
              <a:rPr lang="ru-RU" sz="2600" b="1" dirty="0" smtClean="0"/>
              <a:t>F (01) = F (00), </a:t>
            </a:r>
          </a:p>
          <a:p>
            <a:r>
              <a:rPr lang="ru-RU" sz="2600" b="1" dirty="0" smtClean="0"/>
              <a:t>F (10) = 0, </a:t>
            </a:r>
          </a:p>
          <a:p>
            <a:r>
              <a:rPr lang="en-US" sz="2600" b="1" dirty="0" smtClean="0"/>
              <a:t>F (11) = F (01)</a:t>
            </a:r>
            <a:r>
              <a:rPr lang="ru-RU" sz="2600" b="1" dirty="0" smtClean="0"/>
              <a:t>.</a:t>
            </a:r>
            <a:r>
              <a:rPr lang="en-US" sz="2600" b="1" dirty="0" smtClean="0"/>
              <a:t> </a:t>
            </a:r>
            <a:endParaRPr lang="ru-RU" sz="2600" b="1" dirty="0"/>
          </a:p>
        </p:txBody>
      </p:sp>
      <p:cxnSp>
        <p:nvCxnSpPr>
          <p:cNvPr id="50" name="Прямая со стрелкой 49"/>
          <p:cNvCxnSpPr/>
          <p:nvPr/>
        </p:nvCxnSpPr>
        <p:spPr>
          <a:xfrm>
            <a:off x="1214414" y="3214710"/>
            <a:ext cx="141286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>
            <a:off x="1214414" y="3286148"/>
            <a:ext cx="1426485" cy="108107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>
            <a:off x="1214414" y="4357718"/>
            <a:ext cx="1426485" cy="1081072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 rot="16200000" flipH="1">
            <a:off x="3052614" y="4519782"/>
            <a:ext cx="2252955" cy="1785950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25" idx="1"/>
          </p:cNvCxnSpPr>
          <p:nvPr/>
        </p:nvCxnSpPr>
        <p:spPr>
          <a:xfrm rot="5400000" flipH="1" flipV="1">
            <a:off x="3083397" y="3440620"/>
            <a:ext cx="2191388" cy="178594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>
            <a:hlinkClick r:id="rId8" action="ppaction://hlinksldjump"/>
          </p:cNvPr>
          <p:cNvSpPr/>
          <p:nvPr/>
        </p:nvSpPr>
        <p:spPr>
          <a:xfrm>
            <a:off x="8215370" y="521495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rId8" action="ppaction://hlinksldjump"/>
          </p:cNvPr>
          <p:cNvSpPr/>
          <p:nvPr/>
        </p:nvSpPr>
        <p:spPr>
          <a:xfrm>
            <a:off x="8215370" y="6000768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 l="17090" t="30561" r="5542" b="6137"/>
          <a:stretch>
            <a:fillRect/>
          </a:stretch>
        </p:blipFill>
        <p:spPr bwMode="auto">
          <a:xfrm>
            <a:off x="857224" y="500042"/>
            <a:ext cx="812648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0" y="2947031"/>
          <a:ext cx="9143994" cy="3011049"/>
        </p:xfrm>
        <a:graphic>
          <a:graphicData uri="http://schemas.openxmlformats.org/drawingml/2006/table">
            <a:tbl>
              <a:tblPr/>
              <a:tblGrid>
                <a:gridCol w="785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677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15074" y="6072206"/>
            <a:ext cx="271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200" dirty="0" smtClean="0"/>
              <a:t>6+4+0+4=</a:t>
            </a:r>
            <a:r>
              <a:rPr lang="ru-RU" sz="3200" dirty="0" smtClean="0">
                <a:solidFill>
                  <a:srgbClr val="C00000"/>
                </a:solidFill>
              </a:rPr>
              <a:t>14</a:t>
            </a:r>
            <a:endParaRPr lang="ru-RU" sz="3200" dirty="0">
              <a:solidFill>
                <a:srgbClr val="C00000"/>
              </a:solidFill>
            </a:endParaRPr>
          </a:p>
        </p:txBody>
      </p:sp>
      <p:grpSp>
        <p:nvGrpSpPr>
          <p:cNvPr id="33" name="Группа 32"/>
          <p:cNvGrpSpPr/>
          <p:nvPr/>
        </p:nvGrpSpPr>
        <p:grpSpPr>
          <a:xfrm>
            <a:off x="1357290" y="4000504"/>
            <a:ext cx="714380" cy="1714512"/>
            <a:chOff x="1158877" y="3214710"/>
            <a:chExt cx="1484298" cy="3357586"/>
          </a:xfrm>
        </p:grpSpPr>
        <p:cxnSp>
          <p:nvCxnSpPr>
            <p:cNvPr id="19" name="Прямая со стрелкой 18"/>
            <p:cNvCxnSpPr/>
            <p:nvPr/>
          </p:nvCxnSpPr>
          <p:spPr>
            <a:xfrm rot="16200000" flipH="1">
              <a:off x="865174" y="4651419"/>
              <a:ext cx="2071704" cy="148429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 flipV="1">
              <a:off x="1214414" y="4429156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/>
            <p:nvPr/>
          </p:nvCxnSpPr>
          <p:spPr>
            <a:xfrm flipV="1">
              <a:off x="1214414" y="5572164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 flipV="1">
              <a:off x="1214414" y="6572272"/>
              <a:ext cx="1428760" cy="2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/>
            <p:nvPr/>
          </p:nvCxnSpPr>
          <p:spPr>
            <a:xfrm>
              <a:off x="1214414" y="3214710"/>
              <a:ext cx="1412860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/>
            <p:cNvCxnSpPr/>
            <p:nvPr/>
          </p:nvCxnSpPr>
          <p:spPr>
            <a:xfrm>
              <a:off x="1214414" y="328614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>
              <a:off x="1214414" y="435771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Группа 36"/>
          <p:cNvGrpSpPr/>
          <p:nvPr/>
        </p:nvGrpSpPr>
        <p:grpSpPr>
          <a:xfrm>
            <a:off x="2214546" y="4000504"/>
            <a:ext cx="714380" cy="1714512"/>
            <a:chOff x="3286116" y="3237901"/>
            <a:chExt cx="1785951" cy="3301333"/>
          </a:xfrm>
        </p:grpSpPr>
        <p:cxnSp>
          <p:nvCxnSpPr>
            <p:cNvPr id="34" name="Прямая со стрелкой 33"/>
            <p:cNvCxnSpPr/>
            <p:nvPr/>
          </p:nvCxnSpPr>
          <p:spPr>
            <a:xfrm>
              <a:off x="3428992" y="3286148"/>
              <a:ext cx="1643074" cy="1052197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/>
            <p:cNvCxnSpPr/>
            <p:nvPr/>
          </p:nvCxnSpPr>
          <p:spPr>
            <a:xfrm rot="16200000" flipH="1">
              <a:off x="3052614" y="4519782"/>
              <a:ext cx="2252955" cy="178595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/>
            <p:nvPr/>
          </p:nvCxnSpPr>
          <p:spPr>
            <a:xfrm rot="5400000" flipH="1" flipV="1">
              <a:off x="3083397" y="3440620"/>
              <a:ext cx="2191388" cy="1785949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Группа 16"/>
          <p:cNvGrpSpPr/>
          <p:nvPr/>
        </p:nvGrpSpPr>
        <p:grpSpPr>
          <a:xfrm>
            <a:off x="3143240" y="4000504"/>
            <a:ext cx="714380" cy="1714512"/>
            <a:chOff x="1158877" y="3214710"/>
            <a:chExt cx="1484298" cy="3357586"/>
          </a:xfrm>
        </p:grpSpPr>
        <p:cxnSp>
          <p:nvCxnSpPr>
            <p:cNvPr id="26" name="Прямая со стрелкой 25"/>
            <p:cNvCxnSpPr/>
            <p:nvPr/>
          </p:nvCxnSpPr>
          <p:spPr>
            <a:xfrm rot="16200000" flipH="1">
              <a:off x="865174" y="4651419"/>
              <a:ext cx="2071704" cy="148429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 flipV="1">
              <a:off x="1214414" y="4429156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/>
            <p:nvPr/>
          </p:nvCxnSpPr>
          <p:spPr>
            <a:xfrm flipV="1">
              <a:off x="1214414" y="5572164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/>
            <p:nvPr/>
          </p:nvCxnSpPr>
          <p:spPr>
            <a:xfrm flipV="1">
              <a:off x="1214414" y="6572272"/>
              <a:ext cx="1428760" cy="2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/>
            <p:nvPr/>
          </p:nvCxnSpPr>
          <p:spPr>
            <a:xfrm>
              <a:off x="1214414" y="3214710"/>
              <a:ext cx="1412860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/>
            <p:nvPr/>
          </p:nvCxnSpPr>
          <p:spPr>
            <a:xfrm>
              <a:off x="1214414" y="328614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/>
            <p:nvPr/>
          </p:nvCxnSpPr>
          <p:spPr>
            <a:xfrm>
              <a:off x="1214414" y="435771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Группа 37"/>
          <p:cNvGrpSpPr/>
          <p:nvPr/>
        </p:nvGrpSpPr>
        <p:grpSpPr>
          <a:xfrm>
            <a:off x="5000628" y="4000504"/>
            <a:ext cx="714380" cy="1714512"/>
            <a:chOff x="1158877" y="3214710"/>
            <a:chExt cx="1484298" cy="3357586"/>
          </a:xfrm>
        </p:grpSpPr>
        <p:cxnSp>
          <p:nvCxnSpPr>
            <p:cNvPr id="39" name="Прямая со стрелкой 38"/>
            <p:cNvCxnSpPr/>
            <p:nvPr/>
          </p:nvCxnSpPr>
          <p:spPr>
            <a:xfrm rot="16200000" flipH="1">
              <a:off x="865174" y="4651419"/>
              <a:ext cx="2071704" cy="148429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 flipV="1">
              <a:off x="1214414" y="4429156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/>
            <p:nvPr/>
          </p:nvCxnSpPr>
          <p:spPr>
            <a:xfrm flipV="1">
              <a:off x="1214414" y="5572164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 стрелкой 41"/>
            <p:cNvCxnSpPr/>
            <p:nvPr/>
          </p:nvCxnSpPr>
          <p:spPr>
            <a:xfrm flipV="1">
              <a:off x="1214414" y="6572272"/>
              <a:ext cx="1428760" cy="2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/>
            <p:nvPr/>
          </p:nvCxnSpPr>
          <p:spPr>
            <a:xfrm>
              <a:off x="1214414" y="3214710"/>
              <a:ext cx="1412860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/>
            <p:cNvCxnSpPr/>
            <p:nvPr/>
          </p:nvCxnSpPr>
          <p:spPr>
            <a:xfrm>
              <a:off x="1214414" y="328614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/>
            <p:cNvCxnSpPr/>
            <p:nvPr/>
          </p:nvCxnSpPr>
          <p:spPr>
            <a:xfrm>
              <a:off x="1214414" y="435771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Группа 45"/>
          <p:cNvGrpSpPr/>
          <p:nvPr/>
        </p:nvGrpSpPr>
        <p:grpSpPr>
          <a:xfrm>
            <a:off x="6858016" y="4000504"/>
            <a:ext cx="714380" cy="1714512"/>
            <a:chOff x="1158877" y="3214710"/>
            <a:chExt cx="1484298" cy="3357586"/>
          </a:xfrm>
        </p:grpSpPr>
        <p:cxnSp>
          <p:nvCxnSpPr>
            <p:cNvPr id="47" name="Прямая со стрелкой 46"/>
            <p:cNvCxnSpPr/>
            <p:nvPr/>
          </p:nvCxnSpPr>
          <p:spPr>
            <a:xfrm rot="16200000" flipH="1">
              <a:off x="865174" y="4651419"/>
              <a:ext cx="2071704" cy="148429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 стрелкой 47"/>
            <p:cNvCxnSpPr/>
            <p:nvPr/>
          </p:nvCxnSpPr>
          <p:spPr>
            <a:xfrm flipV="1">
              <a:off x="1214414" y="4429156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/>
            <p:cNvCxnSpPr/>
            <p:nvPr/>
          </p:nvCxnSpPr>
          <p:spPr>
            <a:xfrm flipV="1">
              <a:off x="1214414" y="5572164"/>
              <a:ext cx="1428760" cy="100013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/>
            <p:cNvCxnSpPr/>
            <p:nvPr/>
          </p:nvCxnSpPr>
          <p:spPr>
            <a:xfrm flipV="1">
              <a:off x="1214414" y="6572272"/>
              <a:ext cx="1428760" cy="2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/>
            <p:cNvCxnSpPr/>
            <p:nvPr/>
          </p:nvCxnSpPr>
          <p:spPr>
            <a:xfrm>
              <a:off x="1214414" y="3214710"/>
              <a:ext cx="1412860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/>
            <p:cNvCxnSpPr/>
            <p:nvPr/>
          </p:nvCxnSpPr>
          <p:spPr>
            <a:xfrm>
              <a:off x="1214414" y="328614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 стрелкой 52"/>
            <p:cNvCxnSpPr/>
            <p:nvPr/>
          </p:nvCxnSpPr>
          <p:spPr>
            <a:xfrm>
              <a:off x="1214414" y="4357718"/>
              <a:ext cx="1426485" cy="108107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Группа 53"/>
          <p:cNvGrpSpPr/>
          <p:nvPr/>
        </p:nvGrpSpPr>
        <p:grpSpPr>
          <a:xfrm>
            <a:off x="4143372" y="4000504"/>
            <a:ext cx="714380" cy="1714512"/>
            <a:chOff x="3286116" y="3237901"/>
            <a:chExt cx="1785951" cy="3301333"/>
          </a:xfrm>
        </p:grpSpPr>
        <p:cxnSp>
          <p:nvCxnSpPr>
            <p:cNvPr id="55" name="Прямая со стрелкой 54"/>
            <p:cNvCxnSpPr/>
            <p:nvPr/>
          </p:nvCxnSpPr>
          <p:spPr>
            <a:xfrm>
              <a:off x="3428992" y="3286148"/>
              <a:ext cx="1643074" cy="1052197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 rot="16200000" flipH="1">
              <a:off x="3052614" y="4519782"/>
              <a:ext cx="2252955" cy="178595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 стрелкой 56"/>
            <p:cNvCxnSpPr/>
            <p:nvPr/>
          </p:nvCxnSpPr>
          <p:spPr>
            <a:xfrm rot="5400000" flipH="1" flipV="1">
              <a:off x="3083397" y="3440620"/>
              <a:ext cx="2191388" cy="1785949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Группа 57"/>
          <p:cNvGrpSpPr/>
          <p:nvPr/>
        </p:nvGrpSpPr>
        <p:grpSpPr>
          <a:xfrm>
            <a:off x="5929322" y="4000504"/>
            <a:ext cx="714380" cy="1714512"/>
            <a:chOff x="3286116" y="3237901"/>
            <a:chExt cx="1785951" cy="3301333"/>
          </a:xfrm>
        </p:grpSpPr>
        <p:cxnSp>
          <p:nvCxnSpPr>
            <p:cNvPr id="59" name="Прямая со стрелкой 58"/>
            <p:cNvCxnSpPr/>
            <p:nvPr/>
          </p:nvCxnSpPr>
          <p:spPr>
            <a:xfrm>
              <a:off x="3428992" y="3286148"/>
              <a:ext cx="1643074" cy="1052197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/>
            <p:cNvCxnSpPr/>
            <p:nvPr/>
          </p:nvCxnSpPr>
          <p:spPr>
            <a:xfrm rot="16200000" flipH="1">
              <a:off x="3052614" y="4519782"/>
              <a:ext cx="2252955" cy="178595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60"/>
            <p:cNvCxnSpPr/>
            <p:nvPr/>
          </p:nvCxnSpPr>
          <p:spPr>
            <a:xfrm rot="5400000" flipH="1" flipV="1">
              <a:off x="3083397" y="3440620"/>
              <a:ext cx="2191388" cy="1785949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Группа 61"/>
          <p:cNvGrpSpPr/>
          <p:nvPr/>
        </p:nvGrpSpPr>
        <p:grpSpPr>
          <a:xfrm>
            <a:off x="7786710" y="4000504"/>
            <a:ext cx="714380" cy="1714512"/>
            <a:chOff x="3286116" y="3237901"/>
            <a:chExt cx="1785951" cy="3301333"/>
          </a:xfrm>
        </p:grpSpPr>
        <p:cxnSp>
          <p:nvCxnSpPr>
            <p:cNvPr id="63" name="Прямая со стрелкой 62"/>
            <p:cNvCxnSpPr/>
            <p:nvPr/>
          </p:nvCxnSpPr>
          <p:spPr>
            <a:xfrm>
              <a:off x="3428992" y="3286148"/>
              <a:ext cx="1643074" cy="1052197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/>
            <p:nvPr/>
          </p:nvCxnSpPr>
          <p:spPr>
            <a:xfrm rot="16200000" flipH="1">
              <a:off x="3052614" y="4519782"/>
              <a:ext cx="2252955" cy="178595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 rot="5400000" flipH="1" flipV="1">
              <a:off x="3083397" y="3440620"/>
              <a:ext cx="2191388" cy="1785949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Прямоугольник 6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Скругленный прямоугольник 66">
            <a:hlinkClick r:id="rId4" action="ppaction://hlinksldjump"/>
          </p:cNvPr>
          <p:cNvSpPr/>
          <p:nvPr/>
        </p:nvSpPr>
        <p:spPr>
          <a:xfrm>
            <a:off x="428596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68" name="Скругленный прямоугольник 67">
            <a:hlinkClick r:id="rId4" action="ppaction://hlinksldjump"/>
          </p:cNvPr>
          <p:cNvSpPr/>
          <p:nvPr/>
        </p:nvSpPr>
        <p:spPr>
          <a:xfrm>
            <a:off x="1357290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Таблица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3713"/>
              </p:ext>
            </p:extLst>
          </p:nvPr>
        </p:nvGraphicFramePr>
        <p:xfrm>
          <a:off x="355528" y="3057094"/>
          <a:ext cx="1643073" cy="341680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250" y="-27384"/>
            <a:ext cx="1522512" cy="706090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C00000"/>
                </a:solidFill>
              </a:rPr>
              <a:t>№3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512" y="836712"/>
            <a:ext cx="33332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            …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)=1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Левая фигурная скобка 2"/>
          <p:cNvSpPr>
            <a:spLocks/>
          </p:cNvSpPr>
          <p:nvPr/>
        </p:nvSpPr>
        <p:spPr bwMode="auto">
          <a:xfrm>
            <a:off x="35496" y="908719"/>
            <a:ext cx="323002" cy="1829237"/>
          </a:xfrm>
          <a:prstGeom prst="leftBrace">
            <a:avLst>
              <a:gd name="adj1" fmla="val 79885"/>
              <a:gd name="adj2" fmla="val 49343"/>
            </a:avLst>
          </a:prstGeom>
          <a:noFill/>
          <a:ln w="9525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sz="2000" b="1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04218" y="4005064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1475656" y="4005064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Группа 86"/>
          <p:cNvGrpSpPr/>
          <p:nvPr/>
        </p:nvGrpSpPr>
        <p:grpSpPr>
          <a:xfrm>
            <a:off x="3347864" y="-99392"/>
            <a:ext cx="2611723" cy="2912091"/>
            <a:chOff x="3347864" y="-99392"/>
            <a:chExt cx="2611723" cy="2912091"/>
          </a:xfrm>
        </p:grpSpPr>
        <p:sp>
          <p:nvSpPr>
            <p:cNvPr id="10" name="TextBox 9"/>
            <p:cNvSpPr txBox="1"/>
            <p:nvPr/>
          </p:nvSpPr>
          <p:spPr>
            <a:xfrm>
              <a:off x="3347864" y="208044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00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47864" y="898177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01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47864" y="1588310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10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47864" y="2233642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11</a:t>
              </a:r>
              <a:endParaRPr lang="ru-RU" sz="5400" dirty="0">
                <a:solidFill>
                  <a:srgbClr val="00206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23112" y="208044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00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3112" y="898177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01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23112" y="1588310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10</a:t>
              </a:r>
              <a:endParaRPr lang="ru-RU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23112" y="2233642"/>
              <a:ext cx="646004" cy="579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rgbClr val="002060"/>
                  </a:solidFill>
                </a:rPr>
                <a:t>11</a:t>
              </a:r>
              <a:endParaRPr lang="ru-RU" sz="5400" dirty="0">
                <a:solidFill>
                  <a:srgbClr val="002060"/>
                </a:solidFill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3347864" y="-99392"/>
              <a:ext cx="682206" cy="3667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3200" b="1" i="1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sz="32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32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32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5023112" y="-99392"/>
              <a:ext cx="936475" cy="5543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3200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32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3200" b="1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ru-RU" sz="32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21" name="Прямая со стрелкой 20"/>
          <p:cNvCxnSpPr/>
          <p:nvPr/>
        </p:nvCxnSpPr>
        <p:spPr>
          <a:xfrm>
            <a:off x="4176008" y="2743980"/>
            <a:ext cx="1029244" cy="996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4155232" y="674536"/>
            <a:ext cx="91819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Группа 87"/>
          <p:cNvGrpSpPr/>
          <p:nvPr/>
        </p:nvGrpSpPr>
        <p:grpSpPr>
          <a:xfrm>
            <a:off x="4056333" y="1322084"/>
            <a:ext cx="1103313" cy="1177018"/>
            <a:chOff x="4056333" y="1322084"/>
            <a:chExt cx="1103313" cy="1177018"/>
          </a:xfrm>
        </p:grpSpPr>
        <p:cxnSp>
          <p:nvCxnSpPr>
            <p:cNvPr id="25" name="Прямая со стрелкой 24"/>
            <p:cNvCxnSpPr/>
            <p:nvPr/>
          </p:nvCxnSpPr>
          <p:spPr>
            <a:xfrm rot="16200000" flipH="1">
              <a:off x="4008467" y="1369950"/>
              <a:ext cx="1177018" cy="1081285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>
              <a:off x="4112384" y="1362672"/>
              <a:ext cx="1047262" cy="700332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Группа 88"/>
          <p:cNvGrpSpPr/>
          <p:nvPr/>
        </p:nvGrpSpPr>
        <p:grpSpPr>
          <a:xfrm>
            <a:off x="4062244" y="869555"/>
            <a:ext cx="1158932" cy="1199119"/>
            <a:chOff x="4062244" y="869555"/>
            <a:chExt cx="1158932" cy="1199119"/>
          </a:xfrm>
        </p:grpSpPr>
        <p:cxnSp>
          <p:nvCxnSpPr>
            <p:cNvPr id="28" name="Прямая со стрелкой 27"/>
            <p:cNvCxnSpPr/>
            <p:nvPr/>
          </p:nvCxnSpPr>
          <p:spPr>
            <a:xfrm flipV="1">
              <a:off x="4094799" y="1466280"/>
              <a:ext cx="1109752" cy="596725"/>
            </a:xfrm>
            <a:prstGeom prst="straightConnector1">
              <a:avLst/>
            </a:prstGeom>
            <a:ln w="57150">
              <a:solidFill>
                <a:srgbClr val="00CC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>
              <a:stCxn id="12" idx="3"/>
            </p:cNvCxnSpPr>
            <p:nvPr/>
          </p:nvCxnSpPr>
          <p:spPr>
            <a:xfrm flipV="1">
              <a:off x="4062244" y="869555"/>
              <a:ext cx="1158932" cy="1199119"/>
            </a:xfrm>
            <a:prstGeom prst="straightConnector1">
              <a:avLst/>
            </a:prstGeom>
            <a:ln w="57150">
              <a:solidFill>
                <a:srgbClr val="00CC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рямоугольник 33"/>
          <p:cNvSpPr/>
          <p:nvPr/>
        </p:nvSpPr>
        <p:spPr>
          <a:xfrm>
            <a:off x="5959587" y="866452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(00) = F (00)</a:t>
            </a:r>
            <a:r>
              <a:rPr lang="en-US" sz="2600" dirty="0"/>
              <a:t> + F (</a:t>
            </a:r>
            <a:r>
              <a:rPr lang="en-US" sz="2600" dirty="0" smtClean="0"/>
              <a:t>1</a:t>
            </a:r>
            <a:r>
              <a:rPr lang="ru-RU" sz="2600" dirty="0" smtClean="0"/>
              <a:t>0</a:t>
            </a:r>
            <a:r>
              <a:rPr lang="en-US" sz="2600" dirty="0" smtClean="0"/>
              <a:t>)</a:t>
            </a:r>
            <a:r>
              <a:rPr lang="ru-RU" sz="2600" dirty="0" smtClean="0"/>
              <a:t>, </a:t>
            </a:r>
          </a:p>
          <a:p>
            <a:r>
              <a:rPr lang="ru-RU" sz="2600" dirty="0" smtClean="0"/>
              <a:t>F (01) = F (10), </a:t>
            </a:r>
          </a:p>
          <a:p>
            <a:r>
              <a:rPr lang="ru-RU" sz="2600" dirty="0" smtClean="0"/>
              <a:t>F (10) = F (01), </a:t>
            </a:r>
          </a:p>
          <a:p>
            <a:r>
              <a:rPr lang="en-US" sz="2600" dirty="0" smtClean="0"/>
              <a:t>F (11) = F (01) + F 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14567"/>
              </p:ext>
            </p:extLst>
          </p:nvPr>
        </p:nvGraphicFramePr>
        <p:xfrm>
          <a:off x="2699792" y="3429000"/>
          <a:ext cx="6282902" cy="2952376"/>
        </p:xfrm>
        <a:graphic>
          <a:graphicData uri="http://schemas.openxmlformats.org/drawingml/2006/table">
            <a:tbl>
              <a:tblPr/>
              <a:tblGrid>
                <a:gridCol w="785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9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5" name="Прямая соединительная линия 84"/>
          <p:cNvCxnSpPr/>
          <p:nvPr/>
        </p:nvCxnSpPr>
        <p:spPr>
          <a:xfrm flipV="1">
            <a:off x="8028384" y="6119718"/>
            <a:ext cx="1080120" cy="4776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 rot="20206832">
            <a:off x="8455270" y="6274904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14</a:t>
            </a:r>
            <a:endParaRPr lang="ru-RU" sz="2800" b="1" dirty="0">
              <a:solidFill>
                <a:srgbClr val="002060"/>
              </a:solidFill>
            </a:endParaRPr>
          </a:p>
        </p:txBody>
      </p:sp>
      <p:grpSp>
        <p:nvGrpSpPr>
          <p:cNvPr id="136" name="Группа 135"/>
          <p:cNvGrpSpPr/>
          <p:nvPr/>
        </p:nvGrpSpPr>
        <p:grpSpPr>
          <a:xfrm>
            <a:off x="4039228" y="4433876"/>
            <a:ext cx="4373029" cy="1685842"/>
            <a:chOff x="4039228" y="4433876"/>
            <a:chExt cx="4373029" cy="1685842"/>
          </a:xfrm>
        </p:grpSpPr>
        <p:grpSp>
          <p:nvGrpSpPr>
            <p:cNvPr id="99" name="Группа 98"/>
            <p:cNvGrpSpPr/>
            <p:nvPr/>
          </p:nvGrpSpPr>
          <p:grpSpPr>
            <a:xfrm>
              <a:off x="4039228" y="4437112"/>
              <a:ext cx="767747" cy="1682606"/>
              <a:chOff x="7044613" y="2655700"/>
              <a:chExt cx="1164843" cy="2070440"/>
            </a:xfrm>
          </p:grpSpPr>
          <p:cxnSp>
            <p:nvCxnSpPr>
              <p:cNvPr id="91" name="Прямая со стрелкой 90"/>
              <p:cNvCxnSpPr/>
              <p:nvPr/>
            </p:nvCxnSpPr>
            <p:spPr>
              <a:xfrm>
                <a:off x="7164288" y="4725144"/>
                <a:ext cx="1029244" cy="996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Прямая со стрелкой 91"/>
              <p:cNvCxnSpPr/>
              <p:nvPr/>
            </p:nvCxnSpPr>
            <p:spPr>
              <a:xfrm>
                <a:off x="7143512" y="2655700"/>
                <a:ext cx="918190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3" name="Группа 92"/>
              <p:cNvGrpSpPr/>
              <p:nvPr/>
            </p:nvGrpSpPr>
            <p:grpSpPr>
              <a:xfrm>
                <a:off x="7044613" y="3303248"/>
                <a:ext cx="1103313" cy="1177018"/>
                <a:chOff x="4056333" y="1322084"/>
                <a:chExt cx="1103313" cy="1177018"/>
              </a:xfrm>
            </p:grpSpPr>
            <p:cxnSp>
              <p:nvCxnSpPr>
                <p:cNvPr id="94" name="Прямая со стрелкой 93"/>
                <p:cNvCxnSpPr/>
                <p:nvPr/>
              </p:nvCxnSpPr>
              <p:spPr>
                <a:xfrm rot="16200000" flipH="1">
                  <a:off x="4008467" y="1369950"/>
                  <a:ext cx="1177018" cy="1081285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Прямая со стрелкой 94"/>
                <p:cNvCxnSpPr/>
                <p:nvPr/>
              </p:nvCxnSpPr>
              <p:spPr>
                <a:xfrm>
                  <a:off x="4112384" y="1362672"/>
                  <a:ext cx="1047262" cy="700332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" name="Группа 95"/>
              <p:cNvGrpSpPr/>
              <p:nvPr/>
            </p:nvGrpSpPr>
            <p:grpSpPr>
              <a:xfrm>
                <a:off x="7050524" y="2850719"/>
                <a:ext cx="1158932" cy="1199119"/>
                <a:chOff x="4062244" y="869555"/>
                <a:chExt cx="1158932" cy="1199119"/>
              </a:xfrm>
            </p:grpSpPr>
            <p:cxnSp>
              <p:nvCxnSpPr>
                <p:cNvPr id="97" name="Прямая со стрелкой 96"/>
                <p:cNvCxnSpPr/>
                <p:nvPr/>
              </p:nvCxnSpPr>
              <p:spPr>
                <a:xfrm flipV="1">
                  <a:off x="4094799" y="1466280"/>
                  <a:ext cx="1109752" cy="596725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Прямая со стрелкой 97"/>
                <p:cNvCxnSpPr/>
                <p:nvPr/>
              </p:nvCxnSpPr>
              <p:spPr>
                <a:xfrm flipV="1">
                  <a:off x="4062244" y="869555"/>
                  <a:ext cx="1158932" cy="1199119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Группа 99"/>
            <p:cNvGrpSpPr/>
            <p:nvPr/>
          </p:nvGrpSpPr>
          <p:grpSpPr>
            <a:xfrm>
              <a:off x="4937998" y="4436303"/>
              <a:ext cx="767747" cy="1682606"/>
              <a:chOff x="7044613" y="2655700"/>
              <a:chExt cx="1164843" cy="2070440"/>
            </a:xfrm>
          </p:grpSpPr>
          <p:cxnSp>
            <p:nvCxnSpPr>
              <p:cNvPr id="101" name="Прямая со стрелкой 100"/>
              <p:cNvCxnSpPr/>
              <p:nvPr/>
            </p:nvCxnSpPr>
            <p:spPr>
              <a:xfrm>
                <a:off x="7164288" y="4725144"/>
                <a:ext cx="1029244" cy="996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Прямая со стрелкой 101"/>
              <p:cNvCxnSpPr/>
              <p:nvPr/>
            </p:nvCxnSpPr>
            <p:spPr>
              <a:xfrm>
                <a:off x="7143512" y="2655700"/>
                <a:ext cx="918190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Группа 102"/>
              <p:cNvGrpSpPr/>
              <p:nvPr/>
            </p:nvGrpSpPr>
            <p:grpSpPr>
              <a:xfrm>
                <a:off x="7044613" y="3303248"/>
                <a:ext cx="1103313" cy="1177018"/>
                <a:chOff x="4056333" y="1322084"/>
                <a:chExt cx="1103313" cy="1177018"/>
              </a:xfrm>
            </p:grpSpPr>
            <p:cxnSp>
              <p:nvCxnSpPr>
                <p:cNvPr id="107" name="Прямая со стрелкой 106"/>
                <p:cNvCxnSpPr/>
                <p:nvPr/>
              </p:nvCxnSpPr>
              <p:spPr>
                <a:xfrm rot="16200000" flipH="1">
                  <a:off x="4008467" y="1369950"/>
                  <a:ext cx="1177018" cy="1081285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Прямая со стрелкой 107"/>
                <p:cNvCxnSpPr/>
                <p:nvPr/>
              </p:nvCxnSpPr>
              <p:spPr>
                <a:xfrm>
                  <a:off x="4112384" y="1362672"/>
                  <a:ext cx="1047262" cy="700332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" name="Группа 103"/>
              <p:cNvGrpSpPr/>
              <p:nvPr/>
            </p:nvGrpSpPr>
            <p:grpSpPr>
              <a:xfrm>
                <a:off x="7050524" y="2850719"/>
                <a:ext cx="1158932" cy="1199119"/>
                <a:chOff x="4062244" y="869555"/>
                <a:chExt cx="1158932" cy="1199119"/>
              </a:xfrm>
            </p:grpSpPr>
            <p:cxnSp>
              <p:nvCxnSpPr>
                <p:cNvPr id="105" name="Прямая со стрелкой 104"/>
                <p:cNvCxnSpPr/>
                <p:nvPr/>
              </p:nvCxnSpPr>
              <p:spPr>
                <a:xfrm flipV="1">
                  <a:off x="4094799" y="1466280"/>
                  <a:ext cx="1109752" cy="596725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Прямая со стрелкой 105"/>
                <p:cNvCxnSpPr/>
                <p:nvPr/>
              </p:nvCxnSpPr>
              <p:spPr>
                <a:xfrm flipV="1">
                  <a:off x="4062244" y="869555"/>
                  <a:ext cx="1158932" cy="1199119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9" name="Группа 108"/>
            <p:cNvGrpSpPr/>
            <p:nvPr/>
          </p:nvGrpSpPr>
          <p:grpSpPr>
            <a:xfrm>
              <a:off x="5868144" y="4435494"/>
              <a:ext cx="767747" cy="1682606"/>
              <a:chOff x="7044613" y="2655700"/>
              <a:chExt cx="1164843" cy="2070440"/>
            </a:xfrm>
          </p:grpSpPr>
          <p:cxnSp>
            <p:nvCxnSpPr>
              <p:cNvPr id="110" name="Прямая со стрелкой 109"/>
              <p:cNvCxnSpPr/>
              <p:nvPr/>
            </p:nvCxnSpPr>
            <p:spPr>
              <a:xfrm>
                <a:off x="7164288" y="4725144"/>
                <a:ext cx="1029244" cy="996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Прямая со стрелкой 110"/>
              <p:cNvCxnSpPr/>
              <p:nvPr/>
            </p:nvCxnSpPr>
            <p:spPr>
              <a:xfrm>
                <a:off x="7143512" y="2655700"/>
                <a:ext cx="918190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" name="Группа 111"/>
              <p:cNvGrpSpPr/>
              <p:nvPr/>
            </p:nvGrpSpPr>
            <p:grpSpPr>
              <a:xfrm>
                <a:off x="7044613" y="3303248"/>
                <a:ext cx="1103313" cy="1177018"/>
                <a:chOff x="4056333" y="1322084"/>
                <a:chExt cx="1103313" cy="1177018"/>
              </a:xfrm>
            </p:grpSpPr>
            <p:cxnSp>
              <p:nvCxnSpPr>
                <p:cNvPr id="116" name="Прямая со стрелкой 115"/>
                <p:cNvCxnSpPr/>
                <p:nvPr/>
              </p:nvCxnSpPr>
              <p:spPr>
                <a:xfrm rot="16200000" flipH="1">
                  <a:off x="4008467" y="1369950"/>
                  <a:ext cx="1177018" cy="1081285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Прямая со стрелкой 116"/>
                <p:cNvCxnSpPr/>
                <p:nvPr/>
              </p:nvCxnSpPr>
              <p:spPr>
                <a:xfrm>
                  <a:off x="4112384" y="1362672"/>
                  <a:ext cx="1047262" cy="700332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Группа 112"/>
              <p:cNvGrpSpPr/>
              <p:nvPr/>
            </p:nvGrpSpPr>
            <p:grpSpPr>
              <a:xfrm>
                <a:off x="7050524" y="2850719"/>
                <a:ext cx="1158932" cy="1199119"/>
                <a:chOff x="4062244" y="869555"/>
                <a:chExt cx="1158932" cy="1199119"/>
              </a:xfrm>
            </p:grpSpPr>
            <p:cxnSp>
              <p:nvCxnSpPr>
                <p:cNvPr id="114" name="Прямая со стрелкой 113"/>
                <p:cNvCxnSpPr/>
                <p:nvPr/>
              </p:nvCxnSpPr>
              <p:spPr>
                <a:xfrm flipV="1">
                  <a:off x="4094799" y="1466280"/>
                  <a:ext cx="1109752" cy="596725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Прямая со стрелкой 114"/>
                <p:cNvCxnSpPr/>
                <p:nvPr/>
              </p:nvCxnSpPr>
              <p:spPr>
                <a:xfrm flipV="1">
                  <a:off x="4062244" y="869555"/>
                  <a:ext cx="1158932" cy="1199119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8" name="Группа 117"/>
            <p:cNvGrpSpPr/>
            <p:nvPr/>
          </p:nvGrpSpPr>
          <p:grpSpPr>
            <a:xfrm>
              <a:off x="6785402" y="4434685"/>
              <a:ext cx="767747" cy="1682606"/>
              <a:chOff x="7044613" y="2655700"/>
              <a:chExt cx="1164843" cy="2070440"/>
            </a:xfrm>
          </p:grpSpPr>
          <p:cxnSp>
            <p:nvCxnSpPr>
              <p:cNvPr id="119" name="Прямая со стрелкой 118"/>
              <p:cNvCxnSpPr/>
              <p:nvPr/>
            </p:nvCxnSpPr>
            <p:spPr>
              <a:xfrm>
                <a:off x="7164288" y="4725144"/>
                <a:ext cx="1029244" cy="996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Прямая со стрелкой 119"/>
              <p:cNvCxnSpPr/>
              <p:nvPr/>
            </p:nvCxnSpPr>
            <p:spPr>
              <a:xfrm>
                <a:off x="7143512" y="2655700"/>
                <a:ext cx="918190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Группа 120"/>
              <p:cNvGrpSpPr/>
              <p:nvPr/>
            </p:nvGrpSpPr>
            <p:grpSpPr>
              <a:xfrm>
                <a:off x="7044613" y="3303248"/>
                <a:ext cx="1103313" cy="1177018"/>
                <a:chOff x="4056333" y="1322084"/>
                <a:chExt cx="1103313" cy="1177018"/>
              </a:xfrm>
            </p:grpSpPr>
            <p:cxnSp>
              <p:nvCxnSpPr>
                <p:cNvPr id="125" name="Прямая со стрелкой 124"/>
                <p:cNvCxnSpPr/>
                <p:nvPr/>
              </p:nvCxnSpPr>
              <p:spPr>
                <a:xfrm rot="16200000" flipH="1">
                  <a:off x="4008467" y="1369950"/>
                  <a:ext cx="1177018" cy="1081285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Прямая со стрелкой 125"/>
                <p:cNvCxnSpPr/>
                <p:nvPr/>
              </p:nvCxnSpPr>
              <p:spPr>
                <a:xfrm>
                  <a:off x="4112384" y="1362672"/>
                  <a:ext cx="1047262" cy="700332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Группа 121"/>
              <p:cNvGrpSpPr/>
              <p:nvPr/>
            </p:nvGrpSpPr>
            <p:grpSpPr>
              <a:xfrm>
                <a:off x="7050524" y="2850719"/>
                <a:ext cx="1158932" cy="1199119"/>
                <a:chOff x="4062244" y="869555"/>
                <a:chExt cx="1158932" cy="1199119"/>
              </a:xfrm>
            </p:grpSpPr>
            <p:cxnSp>
              <p:nvCxnSpPr>
                <p:cNvPr id="123" name="Прямая со стрелкой 122"/>
                <p:cNvCxnSpPr/>
                <p:nvPr/>
              </p:nvCxnSpPr>
              <p:spPr>
                <a:xfrm flipV="1">
                  <a:off x="4094799" y="1466280"/>
                  <a:ext cx="1109752" cy="596725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Прямая со стрелкой 123"/>
                <p:cNvCxnSpPr/>
                <p:nvPr/>
              </p:nvCxnSpPr>
              <p:spPr>
                <a:xfrm flipV="1">
                  <a:off x="4062244" y="869555"/>
                  <a:ext cx="1158932" cy="1199119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7" name="Группа 126"/>
            <p:cNvGrpSpPr/>
            <p:nvPr/>
          </p:nvGrpSpPr>
          <p:grpSpPr>
            <a:xfrm>
              <a:off x="7644510" y="4433876"/>
              <a:ext cx="767747" cy="1682606"/>
              <a:chOff x="7044613" y="2655700"/>
              <a:chExt cx="1164843" cy="2070440"/>
            </a:xfrm>
          </p:grpSpPr>
          <p:cxnSp>
            <p:nvCxnSpPr>
              <p:cNvPr id="128" name="Прямая со стрелкой 127"/>
              <p:cNvCxnSpPr/>
              <p:nvPr/>
            </p:nvCxnSpPr>
            <p:spPr>
              <a:xfrm>
                <a:off x="7164288" y="4725144"/>
                <a:ext cx="1029244" cy="996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Прямая со стрелкой 128"/>
              <p:cNvCxnSpPr/>
              <p:nvPr/>
            </p:nvCxnSpPr>
            <p:spPr>
              <a:xfrm>
                <a:off x="7143512" y="2655700"/>
                <a:ext cx="918190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0" name="Группа 129"/>
              <p:cNvGrpSpPr/>
              <p:nvPr/>
            </p:nvGrpSpPr>
            <p:grpSpPr>
              <a:xfrm>
                <a:off x="7044613" y="3303248"/>
                <a:ext cx="1103313" cy="1177018"/>
                <a:chOff x="4056333" y="1322084"/>
                <a:chExt cx="1103313" cy="1177018"/>
              </a:xfrm>
            </p:grpSpPr>
            <p:cxnSp>
              <p:nvCxnSpPr>
                <p:cNvPr id="134" name="Прямая со стрелкой 133"/>
                <p:cNvCxnSpPr/>
                <p:nvPr/>
              </p:nvCxnSpPr>
              <p:spPr>
                <a:xfrm rot="16200000" flipH="1">
                  <a:off x="4008467" y="1369950"/>
                  <a:ext cx="1177018" cy="1081285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Прямая со стрелкой 134"/>
                <p:cNvCxnSpPr/>
                <p:nvPr/>
              </p:nvCxnSpPr>
              <p:spPr>
                <a:xfrm>
                  <a:off x="4112384" y="1362672"/>
                  <a:ext cx="1047262" cy="700332"/>
                </a:xfrm>
                <a:prstGeom prst="straightConnector1">
                  <a:avLst/>
                </a:prstGeom>
                <a:ln w="57150">
                  <a:solidFill>
                    <a:schemeClr val="tx2">
                      <a:lumMod val="60000"/>
                      <a:lumOff val="40000"/>
                    </a:schemeClr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Группа 130"/>
              <p:cNvGrpSpPr/>
              <p:nvPr/>
            </p:nvGrpSpPr>
            <p:grpSpPr>
              <a:xfrm>
                <a:off x="7050524" y="2850719"/>
                <a:ext cx="1158932" cy="1199119"/>
                <a:chOff x="4062244" y="869555"/>
                <a:chExt cx="1158932" cy="1199119"/>
              </a:xfrm>
            </p:grpSpPr>
            <p:cxnSp>
              <p:nvCxnSpPr>
                <p:cNvPr id="132" name="Прямая со стрелкой 131"/>
                <p:cNvCxnSpPr/>
                <p:nvPr/>
              </p:nvCxnSpPr>
              <p:spPr>
                <a:xfrm flipV="1">
                  <a:off x="4094799" y="1466280"/>
                  <a:ext cx="1109752" cy="596725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Прямая со стрелкой 132"/>
                <p:cNvCxnSpPr/>
                <p:nvPr/>
              </p:nvCxnSpPr>
              <p:spPr>
                <a:xfrm flipV="1">
                  <a:off x="4062244" y="869555"/>
                  <a:ext cx="1158932" cy="1199119"/>
                </a:xfrm>
                <a:prstGeom prst="straightConnector1">
                  <a:avLst/>
                </a:prstGeom>
                <a:ln w="57150">
                  <a:solidFill>
                    <a:srgbClr val="00CC00"/>
                  </a:solidFill>
                  <a:headEnd type="none" w="med" len="med"/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7" name="Скругленный прямоугольник 76">
            <a:hlinkClick r:id="rId2" action="ppaction://hlinksldjump"/>
          </p:cNvPr>
          <p:cNvSpPr/>
          <p:nvPr/>
        </p:nvSpPr>
        <p:spPr>
          <a:xfrm>
            <a:off x="7358114" y="7141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78" name="Скругленный прямоугольник 77">
            <a:hlinkClick r:id="rId2" action="ppaction://hlinksldjump"/>
          </p:cNvPr>
          <p:cNvSpPr/>
          <p:nvPr/>
        </p:nvSpPr>
        <p:spPr>
          <a:xfrm>
            <a:off x="8286808" y="71438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428728" y="5786454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 flipV="1">
            <a:off x="1500166" y="5786454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1537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№5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282" y="928670"/>
            <a:ext cx="3797376" cy="19288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357158" y="642918"/>
            <a:ext cx="1462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b="1" dirty="0" smtClean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Задание 1. </a:t>
            </a:r>
            <a:endParaRPr lang="ru-RU" sz="1100" dirty="0" smtClean="0">
              <a:solidFill>
                <a:srgbClr val="C00000"/>
              </a:solidFill>
              <a:latin typeface="Arial" pitchFamily="34" charset="0"/>
            </a:endParaRPr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/>
        </p:nvGraphicFramePr>
        <p:xfrm>
          <a:off x="5357818" y="811719"/>
          <a:ext cx="3500462" cy="211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Формула" r:id="rId4" imgW="1574800" imgH="952500" progId="">
                  <p:embed/>
                </p:oleObj>
              </mc:Choice>
              <mc:Fallback>
                <p:oleObj name="Формула" r:id="rId4" imgW="1574800" imgH="9525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8" y="811719"/>
                        <a:ext cx="3500462" cy="21172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86248" y="1214422"/>
            <a:ext cx="1000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 smtClean="0">
                <a:sym typeface="Symbol"/>
              </a:rPr>
              <a:t></a:t>
            </a:r>
            <a:endParaRPr lang="ru-RU" sz="5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3713"/>
              </p:ext>
            </p:extLst>
          </p:nvPr>
        </p:nvGraphicFramePr>
        <p:xfrm>
          <a:off x="355528" y="3057094"/>
          <a:ext cx="1643073" cy="341680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Прямая соединительная линия 9"/>
          <p:cNvCxnSpPr/>
          <p:nvPr/>
        </p:nvCxnSpPr>
        <p:spPr>
          <a:xfrm>
            <a:off x="1428728" y="4357694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1500166" y="4357694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857224" y="5286388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928662" y="5286388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rot="16200000" flipH="1">
            <a:off x="1428728" y="5072074"/>
            <a:ext cx="642942" cy="50006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 flipH="1" flipV="1">
            <a:off x="1393009" y="5107793"/>
            <a:ext cx="642942" cy="57150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Группа 46"/>
          <p:cNvGrpSpPr/>
          <p:nvPr/>
        </p:nvGrpSpPr>
        <p:grpSpPr>
          <a:xfrm>
            <a:off x="2500298" y="3500438"/>
            <a:ext cx="2034893" cy="2502562"/>
            <a:chOff x="2571736" y="3714752"/>
            <a:chExt cx="2034893" cy="2502562"/>
          </a:xfrm>
        </p:grpSpPr>
        <p:sp>
          <p:nvSpPr>
            <p:cNvPr id="25" name="TextBox 24"/>
            <p:cNvSpPr txBox="1"/>
            <p:nvPr/>
          </p:nvSpPr>
          <p:spPr>
            <a:xfrm>
              <a:off x="2714613" y="415354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714613" y="4657444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714613" y="516134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14613" y="5632539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6005" y="415354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06005" y="4657444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06005" y="516134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06005" y="5632539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2571736" y="3714752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3763128" y="3714752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5" name="Прямая со стрелкой 34"/>
            <p:cNvCxnSpPr/>
            <p:nvPr/>
          </p:nvCxnSpPr>
          <p:spPr>
            <a:xfrm>
              <a:off x="3303567" y="6005164"/>
              <a:ext cx="731971" cy="727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/>
            <p:nvPr/>
          </p:nvCxnSpPr>
          <p:spPr>
            <a:xfrm>
              <a:off x="3288792" y="4494152"/>
              <a:ext cx="652992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/>
            <p:nvPr/>
          </p:nvCxnSpPr>
          <p:spPr>
            <a:xfrm rot="16200000" flipH="1">
              <a:off x="3173246" y="5012172"/>
              <a:ext cx="859404" cy="768981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3286116" y="4500570"/>
              <a:ext cx="744785" cy="51135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/>
            <p:cNvCxnSpPr/>
            <p:nvPr/>
          </p:nvCxnSpPr>
          <p:spPr>
            <a:xfrm flipV="1">
              <a:off x="3286116" y="5471410"/>
              <a:ext cx="761228" cy="536432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Прямоугольник 47"/>
          <p:cNvSpPr/>
          <p:nvPr/>
        </p:nvSpPr>
        <p:spPr>
          <a:xfrm>
            <a:off x="5143504" y="3929066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(00) = F (00), </a:t>
            </a:r>
          </a:p>
          <a:p>
            <a:r>
              <a:rPr lang="ru-RU" sz="2600" dirty="0" smtClean="0"/>
              <a:t>F (01) = F (00), </a:t>
            </a:r>
          </a:p>
          <a:p>
            <a:r>
              <a:rPr lang="ru-RU" sz="2600" dirty="0" smtClean="0"/>
              <a:t>F (10) = F (11), </a:t>
            </a:r>
          </a:p>
          <a:p>
            <a:r>
              <a:rPr lang="en-US" sz="2600" dirty="0" smtClean="0"/>
              <a:t>F (11) = F (01) + F 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кругленный прямоугольник 39">
            <a:hlinkClick r:id="rId6" action="ppaction://hlinksldjump"/>
          </p:cNvPr>
          <p:cNvSpPr/>
          <p:nvPr/>
        </p:nvSpPr>
        <p:spPr>
          <a:xfrm>
            <a:off x="8358214" y="5357826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41" name="Скругленный прямоугольник 40">
            <a:hlinkClick r:id="rId6" action="ppaction://hlinksldjump"/>
          </p:cNvPr>
          <p:cNvSpPr/>
          <p:nvPr/>
        </p:nvSpPr>
        <p:spPr>
          <a:xfrm>
            <a:off x="8358214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142844" y="0"/>
            <a:ext cx="821537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Задания для тренировки от Мирончик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2844" y="642918"/>
            <a:ext cx="3143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b="1" dirty="0" smtClean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Задание 1. Продолжение</a:t>
            </a:r>
            <a:r>
              <a:rPr lang="ru-RU" b="1" dirty="0" smtClean="0">
                <a:latin typeface="Arial" pitchFamily="34" charset="0"/>
                <a:ea typeface="Times New Roman" pitchFamily="18" charset="0"/>
                <a:cs typeface="Times New Roman" pitchFamily="18" charset="0"/>
              </a:rPr>
              <a:t>. </a:t>
            </a:r>
            <a:endParaRPr lang="ru-RU" sz="1100" dirty="0" smtClean="0">
              <a:latin typeface="Arial" pitchFamily="34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3194926" y="571480"/>
            <a:ext cx="2247589" cy="2502562"/>
            <a:chOff x="1643042" y="1071546"/>
            <a:chExt cx="2247589" cy="2502562"/>
          </a:xfrm>
        </p:grpSpPr>
        <p:sp>
          <p:nvSpPr>
            <p:cNvPr id="6" name="TextBox 5"/>
            <p:cNvSpPr txBox="1"/>
            <p:nvPr/>
          </p:nvSpPr>
          <p:spPr>
            <a:xfrm>
              <a:off x="1785919" y="151033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85919" y="201423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5919" y="251814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85919" y="298933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77311" y="151033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77311" y="201423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77311" y="251814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77311" y="298933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1643042" y="1071546"/>
              <a:ext cx="99097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i+1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2643174" y="1071546"/>
              <a:ext cx="12474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6" name="Прямая со стрелкой 15"/>
            <p:cNvCxnSpPr/>
            <p:nvPr/>
          </p:nvCxnSpPr>
          <p:spPr>
            <a:xfrm>
              <a:off x="2374873" y="3361958"/>
              <a:ext cx="731971" cy="727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>
              <a:off x="2360098" y="1850946"/>
              <a:ext cx="652992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 rot="16200000" flipH="1">
              <a:off x="2244552" y="2368966"/>
              <a:ext cx="859404" cy="768981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/>
            <p:cNvCxnSpPr/>
            <p:nvPr/>
          </p:nvCxnSpPr>
          <p:spPr>
            <a:xfrm>
              <a:off x="2357422" y="1857364"/>
              <a:ext cx="744785" cy="51135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 flipV="1">
              <a:off x="2357422" y="2828204"/>
              <a:ext cx="761228" cy="536432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Прямоугольник 20"/>
          <p:cNvSpPr/>
          <p:nvPr/>
        </p:nvSpPr>
        <p:spPr>
          <a:xfrm>
            <a:off x="5838132" y="1071546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(00) = F (00), </a:t>
            </a:r>
          </a:p>
          <a:p>
            <a:r>
              <a:rPr lang="ru-RU" sz="2600" dirty="0" smtClean="0"/>
              <a:t>F (01) = F (00), </a:t>
            </a:r>
          </a:p>
          <a:p>
            <a:r>
              <a:rPr lang="ru-RU" sz="2600" dirty="0" smtClean="0"/>
              <a:t>F (10) = F (11), </a:t>
            </a:r>
          </a:p>
          <a:p>
            <a:r>
              <a:rPr lang="en-US" sz="2600" dirty="0" smtClean="0"/>
              <a:t>F (11) = F (01) + F 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sp>
        <p:nvSpPr>
          <p:cNvPr id="23" name="TextBox 22"/>
          <p:cNvSpPr txBox="1"/>
          <p:nvPr/>
        </p:nvSpPr>
        <p:spPr>
          <a:xfrm>
            <a:off x="357158" y="1109947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до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0" y="3148050"/>
          <a:ext cx="9143994" cy="3011049"/>
        </p:xfrm>
        <a:graphic>
          <a:graphicData uri="http://schemas.openxmlformats.org/drawingml/2006/table">
            <a:tbl>
              <a:tblPr/>
              <a:tblGrid>
                <a:gridCol w="785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677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15074" y="6273225"/>
            <a:ext cx="271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200" dirty="0" smtClean="0"/>
              <a:t>1+1+8+9=</a:t>
            </a:r>
            <a:r>
              <a:rPr lang="ru-RU" sz="3200" dirty="0" smtClean="0">
                <a:solidFill>
                  <a:srgbClr val="C00000"/>
                </a:solidFill>
              </a:rPr>
              <a:t>19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кругленный прямоугольник 26">
            <a:hlinkClick r:id="rId3" action="ppaction://hlinksldjump"/>
          </p:cNvPr>
          <p:cNvSpPr/>
          <p:nvPr/>
        </p:nvSpPr>
        <p:spPr>
          <a:xfrm>
            <a:off x="8143900" y="21429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28" name="Скругленный прямоугольник 27">
            <a:hlinkClick r:id="rId3" action="ppaction://hlinksldjump"/>
          </p:cNvPr>
          <p:cNvSpPr/>
          <p:nvPr/>
        </p:nvSpPr>
        <p:spPr>
          <a:xfrm>
            <a:off x="8143900" y="1000108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1537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№4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282" y="928670"/>
            <a:ext cx="2857520" cy="1925388"/>
          </a:xfrm>
          <a:prstGeom prst="rect">
            <a:avLst/>
          </a:prstGeom>
          <a:noFill/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3713"/>
              </p:ext>
            </p:extLst>
          </p:nvPr>
        </p:nvGraphicFramePr>
        <p:xfrm>
          <a:off x="621528" y="3057094"/>
          <a:ext cx="1643073" cy="341680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>
            <a:off x="1694728" y="5424651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1766166" y="5424651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694728" y="5791577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766166" y="5791577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5286380" y="3571876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(00) = F (00)</a:t>
            </a:r>
            <a:r>
              <a:rPr lang="en-US" sz="2600" dirty="0" smtClean="0"/>
              <a:t> + F (1</a:t>
            </a:r>
            <a:r>
              <a:rPr lang="ru-RU" sz="2600" dirty="0" smtClean="0"/>
              <a:t>0</a:t>
            </a:r>
            <a:r>
              <a:rPr lang="en-US" sz="2600" dirty="0" smtClean="0"/>
              <a:t>)</a:t>
            </a:r>
            <a:r>
              <a:rPr lang="ru-RU" sz="2600" dirty="0" smtClean="0"/>
              <a:t>, </a:t>
            </a:r>
          </a:p>
          <a:p>
            <a:r>
              <a:rPr lang="ru-RU" sz="2600" dirty="0" smtClean="0"/>
              <a:t>F (01) = F (00), </a:t>
            </a:r>
          </a:p>
          <a:p>
            <a:r>
              <a:rPr lang="ru-RU" sz="2600" dirty="0" smtClean="0"/>
              <a:t>F (10) = F (01), </a:t>
            </a:r>
          </a:p>
          <a:p>
            <a:r>
              <a:rPr lang="en-US" sz="2600" dirty="0" smtClean="0"/>
              <a:t>F (11) = F (01) + F 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2766298" y="3500438"/>
            <a:ext cx="2034893" cy="2502562"/>
            <a:chOff x="2766298" y="3500438"/>
            <a:chExt cx="2034893" cy="2502562"/>
          </a:xfrm>
        </p:grpSpPr>
        <p:sp>
          <p:nvSpPr>
            <p:cNvPr id="14" name="TextBox 13"/>
            <p:cNvSpPr txBox="1"/>
            <p:nvPr/>
          </p:nvSpPr>
          <p:spPr>
            <a:xfrm>
              <a:off x="2909175" y="393922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09175" y="444313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09175" y="494703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09175" y="541822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00567" y="393922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00567" y="444313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00567" y="494703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100567" y="541822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2766298" y="3500438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3957690" y="3500438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4" name="Прямая со стрелкой 23"/>
            <p:cNvCxnSpPr/>
            <p:nvPr/>
          </p:nvCxnSpPr>
          <p:spPr>
            <a:xfrm>
              <a:off x="3498129" y="5790850"/>
              <a:ext cx="731971" cy="727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>
              <a:off x="3483354" y="4279838"/>
              <a:ext cx="652992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/>
            <p:nvPr/>
          </p:nvCxnSpPr>
          <p:spPr>
            <a:xfrm rot="16200000" flipH="1">
              <a:off x="3367808" y="4797858"/>
              <a:ext cx="859404" cy="768981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>
              <a:off x="3480678" y="4286256"/>
              <a:ext cx="744785" cy="51135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/>
            <p:nvPr/>
          </p:nvCxnSpPr>
          <p:spPr>
            <a:xfrm>
              <a:off x="3409240" y="4786322"/>
              <a:ext cx="857258" cy="500068"/>
            </a:xfrm>
            <a:prstGeom prst="straightConnector1">
              <a:avLst/>
            </a:prstGeom>
            <a:ln w="5715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/>
            <p:nvPr/>
          </p:nvCxnSpPr>
          <p:spPr>
            <a:xfrm rot="5400000" flipH="1" flipV="1">
              <a:off x="3355338" y="4411596"/>
              <a:ext cx="893622" cy="785818"/>
            </a:xfrm>
            <a:prstGeom prst="straightConnector1">
              <a:avLst/>
            </a:prstGeom>
            <a:ln w="57150">
              <a:solidFill>
                <a:srgbClr val="00CC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Прямоугольник 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кругленный прямоугольник 30">
            <a:hlinkClick r:id="rId3" action="ppaction://hlinksldjump"/>
          </p:cNvPr>
          <p:cNvSpPr/>
          <p:nvPr/>
        </p:nvSpPr>
        <p:spPr>
          <a:xfrm>
            <a:off x="8358214" y="5357826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33" name="Скругленный прямоугольник 32">
            <a:hlinkClick r:id="rId3" action="ppaction://hlinksldjump"/>
          </p:cNvPr>
          <p:cNvSpPr/>
          <p:nvPr/>
        </p:nvSpPr>
        <p:spPr>
          <a:xfrm>
            <a:off x="8358214" y="6143644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214282" y="0"/>
            <a:ext cx="821537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Задания для тренировки от Мирончик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7158" y="1109947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до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8" name="Группа 47"/>
          <p:cNvGrpSpPr/>
          <p:nvPr/>
        </p:nvGrpSpPr>
        <p:grpSpPr>
          <a:xfrm>
            <a:off x="3194926" y="571480"/>
            <a:ext cx="2247589" cy="2502562"/>
            <a:chOff x="3194926" y="571480"/>
            <a:chExt cx="2247589" cy="2502562"/>
          </a:xfrm>
        </p:grpSpPr>
        <p:sp>
          <p:nvSpPr>
            <p:cNvPr id="6" name="TextBox 5"/>
            <p:cNvSpPr txBox="1"/>
            <p:nvPr/>
          </p:nvSpPr>
          <p:spPr>
            <a:xfrm>
              <a:off x="3337803" y="1010269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7803" y="1514172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7803" y="201807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37803" y="248926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29195" y="1010269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29195" y="1514172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29195" y="201807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29195" y="248926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3194926" y="571480"/>
              <a:ext cx="99097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i+1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195058" y="571480"/>
              <a:ext cx="12474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7" name="Группа 46"/>
            <p:cNvGrpSpPr/>
            <p:nvPr/>
          </p:nvGrpSpPr>
          <p:grpSpPr>
            <a:xfrm>
              <a:off x="3857620" y="1279442"/>
              <a:ext cx="857258" cy="1511739"/>
              <a:chOff x="3857620" y="1279442"/>
              <a:chExt cx="857258" cy="1511739"/>
            </a:xfrm>
          </p:grpSpPr>
          <p:cxnSp>
            <p:nvCxnSpPr>
              <p:cNvPr id="41" name="Прямая со стрелкой 40"/>
              <p:cNvCxnSpPr/>
              <p:nvPr/>
            </p:nvCxnSpPr>
            <p:spPr>
              <a:xfrm>
                <a:off x="3946509" y="2790454"/>
                <a:ext cx="731971" cy="727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 стрелкой 41"/>
              <p:cNvCxnSpPr/>
              <p:nvPr/>
            </p:nvCxnSpPr>
            <p:spPr>
              <a:xfrm>
                <a:off x="3931734" y="1279442"/>
                <a:ext cx="652992" cy="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 стрелкой 42"/>
              <p:cNvCxnSpPr/>
              <p:nvPr/>
            </p:nvCxnSpPr>
            <p:spPr>
              <a:xfrm rot="16200000" flipH="1">
                <a:off x="3816188" y="1797462"/>
                <a:ext cx="859404" cy="768981"/>
              </a:xfrm>
              <a:prstGeom prst="straightConnector1">
                <a:avLst/>
              </a:prstGeom>
              <a:ln w="57150">
                <a:solidFill>
                  <a:schemeClr val="tx2">
                    <a:lumMod val="60000"/>
                    <a:lumOff val="40000"/>
                  </a:schemeClr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 стрелкой 43"/>
              <p:cNvCxnSpPr/>
              <p:nvPr/>
            </p:nvCxnSpPr>
            <p:spPr>
              <a:xfrm>
                <a:off x="3929058" y="1285860"/>
                <a:ext cx="744785" cy="511350"/>
              </a:xfrm>
              <a:prstGeom prst="straightConnector1">
                <a:avLst/>
              </a:prstGeom>
              <a:ln w="57150">
                <a:solidFill>
                  <a:srgbClr val="C000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 стрелкой 44"/>
              <p:cNvCxnSpPr/>
              <p:nvPr/>
            </p:nvCxnSpPr>
            <p:spPr>
              <a:xfrm>
                <a:off x="3857620" y="1785926"/>
                <a:ext cx="857258" cy="500068"/>
              </a:xfrm>
              <a:prstGeom prst="straightConnector1">
                <a:avLst/>
              </a:prstGeom>
              <a:ln w="57150">
                <a:solidFill>
                  <a:schemeClr val="tx2">
                    <a:lumMod val="60000"/>
                    <a:lumOff val="40000"/>
                  </a:schemeClr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 стрелкой 45"/>
              <p:cNvCxnSpPr/>
              <p:nvPr/>
            </p:nvCxnSpPr>
            <p:spPr>
              <a:xfrm rot="5400000" flipH="1" flipV="1">
                <a:off x="3803718" y="1411200"/>
                <a:ext cx="893622" cy="785818"/>
              </a:xfrm>
              <a:prstGeom prst="straightConnector1">
                <a:avLst/>
              </a:prstGeom>
              <a:ln w="57150">
                <a:solidFill>
                  <a:srgbClr val="00CC00"/>
                </a:solidFill>
                <a:headEnd type="none" w="med" len="me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Прямоугольник 48"/>
          <p:cNvSpPr/>
          <p:nvPr/>
        </p:nvSpPr>
        <p:spPr>
          <a:xfrm>
            <a:off x="5429256" y="1285860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(00) = F (00)</a:t>
            </a:r>
            <a:r>
              <a:rPr lang="en-US" sz="2600" dirty="0" smtClean="0"/>
              <a:t> + F (1</a:t>
            </a:r>
            <a:r>
              <a:rPr lang="ru-RU" sz="2600" dirty="0" smtClean="0"/>
              <a:t>0</a:t>
            </a:r>
            <a:r>
              <a:rPr lang="en-US" sz="2600" dirty="0" smtClean="0"/>
              <a:t>)</a:t>
            </a:r>
            <a:r>
              <a:rPr lang="ru-RU" sz="2600" dirty="0" smtClean="0"/>
              <a:t>, </a:t>
            </a:r>
          </a:p>
          <a:p>
            <a:r>
              <a:rPr lang="ru-RU" sz="2600" dirty="0" smtClean="0"/>
              <a:t>F (01) = F (00), </a:t>
            </a:r>
          </a:p>
          <a:p>
            <a:r>
              <a:rPr lang="ru-RU" sz="2600" dirty="0" smtClean="0"/>
              <a:t>F (10) = F (01), </a:t>
            </a:r>
          </a:p>
          <a:p>
            <a:r>
              <a:rPr lang="en-US" sz="2600" dirty="0" smtClean="0"/>
              <a:t>F (11) = F (01) + F 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graphicFrame>
        <p:nvGraphicFramePr>
          <p:cNvPr id="50" name="Таблица 49"/>
          <p:cNvGraphicFramePr>
            <a:graphicFrameLocks noGrp="1"/>
          </p:cNvGraphicFramePr>
          <p:nvPr/>
        </p:nvGraphicFramePr>
        <p:xfrm>
          <a:off x="6" y="3143248"/>
          <a:ext cx="9143994" cy="3224784"/>
        </p:xfrm>
        <a:graphic>
          <a:graphicData uri="http://schemas.openxmlformats.org/drawingml/2006/table">
            <a:tbl>
              <a:tblPr/>
              <a:tblGrid>
                <a:gridCol w="785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61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3861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Calibri"/>
                          <a:ea typeface="Times New Roman"/>
                          <a:cs typeface="Times New Roman"/>
                        </a:rPr>
                        <a:t>Пара</a:t>
                      </a:r>
                      <a:endParaRPr lang="ru-RU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Количество пар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61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32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32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32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28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27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40</a:t>
                      </a:r>
                      <a:endParaRPr lang="ru-RU" sz="3200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2" name="Прямая соединительная линия 51"/>
          <p:cNvCxnSpPr/>
          <p:nvPr/>
        </p:nvCxnSpPr>
        <p:spPr>
          <a:xfrm flipV="1">
            <a:off x="8028384" y="6119718"/>
            <a:ext cx="1080120" cy="4776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20206832">
            <a:off x="8363899" y="6274904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100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27">
            <a:hlinkClick r:id="rId2" action="ppaction://hlinksldjump"/>
          </p:cNvPr>
          <p:cNvSpPr/>
          <p:nvPr/>
        </p:nvSpPr>
        <p:spPr>
          <a:xfrm>
            <a:off x="8358214" y="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29" name="Скругленный прямоугольник 28">
            <a:hlinkClick r:id="rId2" action="ppaction://hlinksldjump"/>
          </p:cNvPr>
          <p:cNvSpPr/>
          <p:nvPr/>
        </p:nvSpPr>
        <p:spPr>
          <a:xfrm>
            <a:off x="8358214" y="785818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15314" y="71414"/>
            <a:ext cx="1257280" cy="65403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№7</a:t>
            </a:r>
            <a:endParaRPr lang="ru-RU" sz="3200" dirty="0"/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357158" y="226530"/>
            <a:ext cx="750099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(X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4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3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4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...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7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7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(¬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8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10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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</a:rPr>
              <a:t> 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9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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¬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X</a:t>
            </a:r>
            <a:r>
              <a:rPr kumimoji="0" lang="ru-RU" sz="20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10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Calibri" pitchFamily="34" charset="0"/>
                <a:cs typeface="Courier New" pitchFamily="49" charset="0"/>
                <a:sym typeface="Symbol" pitchFamily="18" charset="2"/>
              </a:rPr>
              <a:t>) = 0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Calibri" pitchFamily="34" charset="0"/>
              <a:cs typeface="Courier New" pitchFamily="49" charset="0"/>
              <a:sym typeface="Symbol" pitchFamily="18" charset="2"/>
            </a:endParaRP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58763" y="2562225"/>
          <a:ext cx="3913187" cy="231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Формула" r:id="rId3" imgW="1778000" imgH="1054100" progId="">
                  <p:embed/>
                </p:oleObj>
              </mc:Choice>
              <mc:Fallback>
                <p:oleObj name="Формула" r:id="rId3" imgW="1778000" imgH="10541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562225"/>
                        <a:ext cx="3913187" cy="2319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Левая фигурная скобка 2"/>
          <p:cNvSpPr>
            <a:spLocks/>
          </p:cNvSpPr>
          <p:nvPr/>
        </p:nvSpPr>
        <p:spPr bwMode="auto">
          <a:xfrm>
            <a:off x="214282" y="226530"/>
            <a:ext cx="323002" cy="1829237"/>
          </a:xfrm>
          <a:prstGeom prst="leftBrace">
            <a:avLst>
              <a:gd name="adj1" fmla="val 79885"/>
              <a:gd name="adj2" fmla="val 49343"/>
            </a:avLst>
          </a:prstGeom>
          <a:noFill/>
          <a:ln w="9525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sz="2000" b="1"/>
          </a:p>
        </p:txBody>
      </p:sp>
      <p:sp>
        <p:nvSpPr>
          <p:cNvPr id="7" name="TextBox 6"/>
          <p:cNvSpPr txBox="1"/>
          <p:nvPr/>
        </p:nvSpPr>
        <p:spPr>
          <a:xfrm rot="5400000">
            <a:off x="1538567" y="2122295"/>
            <a:ext cx="1000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 smtClean="0">
                <a:sym typeface="Symbol"/>
              </a:rPr>
              <a:t></a:t>
            </a:r>
            <a:endParaRPr lang="ru-RU" sz="5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57158" y="5798670"/>
            <a:ext cx="3857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Решения первого уравнения:</a:t>
            </a:r>
            <a:endParaRPr lang="ru-RU" sz="20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3713"/>
              </p:ext>
            </p:extLst>
          </p:nvPr>
        </p:nvGraphicFramePr>
        <p:xfrm>
          <a:off x="4357686" y="3226902"/>
          <a:ext cx="1643073" cy="341680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9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Прямая соединительная линия 9"/>
          <p:cNvCxnSpPr/>
          <p:nvPr/>
        </p:nvCxnSpPr>
        <p:spPr>
          <a:xfrm>
            <a:off x="5430886" y="4512786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5502324" y="4512786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5430886" y="5584356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5502324" y="5584356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Группа 39"/>
          <p:cNvGrpSpPr/>
          <p:nvPr/>
        </p:nvGrpSpPr>
        <p:grpSpPr>
          <a:xfrm>
            <a:off x="6502456" y="4081926"/>
            <a:ext cx="2034893" cy="2502562"/>
            <a:chOff x="6502456" y="4081926"/>
            <a:chExt cx="2034893" cy="2502562"/>
          </a:xfrm>
        </p:grpSpPr>
        <p:sp>
          <p:nvSpPr>
            <p:cNvPr id="14" name="TextBox 13"/>
            <p:cNvSpPr txBox="1"/>
            <p:nvPr/>
          </p:nvSpPr>
          <p:spPr>
            <a:xfrm>
              <a:off x="6645333" y="452071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45333" y="502461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45333" y="552852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45333" y="599971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836725" y="452071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36725" y="502461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36725" y="552852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36725" y="599971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6502456" y="4081926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7693848" y="4081926"/>
              <a:ext cx="8435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24" name="Прямая со стрелкой 23"/>
          <p:cNvCxnSpPr/>
          <p:nvPr/>
        </p:nvCxnSpPr>
        <p:spPr>
          <a:xfrm>
            <a:off x="7234287" y="6372338"/>
            <a:ext cx="731971" cy="727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7219512" y="4861326"/>
            <a:ext cx="652992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V="1">
            <a:off x="7215522" y="5817861"/>
            <a:ext cx="714275" cy="523720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7216836" y="4867744"/>
            <a:ext cx="744785" cy="51135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rot="16200000" flipH="1">
            <a:off x="7053116" y="5390886"/>
            <a:ext cx="938984" cy="754422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rot="5400000" flipH="1" flipV="1">
            <a:off x="7091496" y="4993084"/>
            <a:ext cx="893622" cy="785818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5400000">
            <a:off x="1533203" y="4694063"/>
            <a:ext cx="1000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 smtClean="0">
                <a:sym typeface="Symbol"/>
              </a:rPr>
              <a:t></a:t>
            </a:r>
            <a:endParaRPr lang="ru-RU" sz="5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215074" y="3067078"/>
            <a:ext cx="2714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Формулируем правило отображения пар переменных:</a:t>
            </a:r>
            <a:endParaRPr lang="ru-RU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3639793" y="5587337"/>
            <a:ext cx="64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ym typeface="Symbol"/>
              </a:rPr>
              <a:t></a:t>
            </a:r>
            <a:endParaRPr lang="ru-RU" sz="4000" b="1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кругленный прямоугольник 33">
            <a:hlinkClick r:id="rId5" action="ppaction://hlinksldjump"/>
          </p:cNvPr>
          <p:cNvSpPr/>
          <p:nvPr/>
        </p:nvSpPr>
        <p:spPr>
          <a:xfrm>
            <a:off x="8072462" y="857232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35" name="Скругленный прямоугольник 34">
            <a:hlinkClick r:id="rId5" action="ppaction://hlinksldjump"/>
          </p:cNvPr>
          <p:cNvSpPr/>
          <p:nvPr/>
        </p:nvSpPr>
        <p:spPr>
          <a:xfrm>
            <a:off x="8072462" y="164305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30" grpId="0"/>
      <p:bldP spid="31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1270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/>
          <p:cNvGrpSpPr/>
          <p:nvPr/>
        </p:nvGrpSpPr>
        <p:grpSpPr>
          <a:xfrm>
            <a:off x="-32" y="997876"/>
            <a:ext cx="2247589" cy="2502562"/>
            <a:chOff x="6502456" y="4081926"/>
            <a:chExt cx="2247589" cy="2502562"/>
          </a:xfrm>
        </p:grpSpPr>
        <p:sp>
          <p:nvSpPr>
            <p:cNvPr id="5" name="TextBox 4"/>
            <p:cNvSpPr txBox="1"/>
            <p:nvPr/>
          </p:nvSpPr>
          <p:spPr>
            <a:xfrm>
              <a:off x="6645333" y="452071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45333" y="502461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645333" y="552852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45333" y="599971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36725" y="4520715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36725" y="5024618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36725" y="5528521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836725" y="5999713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6502456" y="4081926"/>
              <a:ext cx="99097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i+1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7502588" y="4081926"/>
              <a:ext cx="12474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i+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5" name="Прямая со стрелкой 14"/>
          <p:cNvCxnSpPr/>
          <p:nvPr/>
        </p:nvCxnSpPr>
        <p:spPr>
          <a:xfrm>
            <a:off x="731799" y="3288288"/>
            <a:ext cx="731971" cy="727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717024" y="1777276"/>
            <a:ext cx="652992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713034" y="2733811"/>
            <a:ext cx="714275" cy="523720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714348" y="1783694"/>
            <a:ext cx="744785" cy="51135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rot="16200000" flipH="1">
            <a:off x="550628" y="2306836"/>
            <a:ext cx="938984" cy="754422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5400000" flipH="1" flipV="1">
            <a:off x="589008" y="1909034"/>
            <a:ext cx="893622" cy="785818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0"/>
            <a:ext cx="4500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Правило отображения пар переменных </a:t>
            </a:r>
            <a:br>
              <a:rPr lang="ru-RU" sz="2000" dirty="0" smtClean="0"/>
            </a:br>
            <a:r>
              <a:rPr lang="ru-RU" sz="2000" dirty="0" smtClean="0"/>
              <a:t>для первых </a:t>
            </a:r>
            <a:r>
              <a:rPr lang="ru-RU" sz="2000" b="1" dirty="0" smtClean="0">
                <a:solidFill>
                  <a:srgbClr val="C00000"/>
                </a:solidFill>
              </a:rPr>
              <a:t>СЕМИ</a:t>
            </a:r>
            <a:r>
              <a:rPr lang="ru-RU" sz="2000" dirty="0" smtClean="0"/>
              <a:t> уравнений:</a:t>
            </a:r>
            <a:endParaRPr lang="ru-RU" sz="2000" dirty="0"/>
          </a:p>
        </p:txBody>
      </p:sp>
      <p:sp>
        <p:nvSpPr>
          <p:cNvPr id="44" name="TextBox 43"/>
          <p:cNvSpPr txBox="1"/>
          <p:nvPr/>
        </p:nvSpPr>
        <p:spPr>
          <a:xfrm>
            <a:off x="285720" y="642918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до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2000232" y="1640818"/>
            <a:ext cx="323446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F(00) = F(00)</a:t>
            </a:r>
            <a:r>
              <a:rPr lang="en-US" sz="2600" dirty="0" smtClean="0"/>
              <a:t> + F(1</a:t>
            </a:r>
            <a:r>
              <a:rPr lang="ru-RU" sz="2600" dirty="0" smtClean="0"/>
              <a:t>0</a:t>
            </a:r>
            <a:r>
              <a:rPr lang="en-US" sz="2600" dirty="0" smtClean="0"/>
              <a:t>)</a:t>
            </a:r>
            <a:r>
              <a:rPr lang="ru-RU" sz="2600" dirty="0" smtClean="0"/>
              <a:t>, </a:t>
            </a:r>
          </a:p>
          <a:p>
            <a:r>
              <a:rPr lang="ru-RU" sz="2600" dirty="0" smtClean="0"/>
              <a:t>F(01) = F(00), </a:t>
            </a:r>
          </a:p>
          <a:p>
            <a:r>
              <a:rPr lang="ru-RU" sz="2600" dirty="0" smtClean="0"/>
              <a:t>F(10) = F(11), </a:t>
            </a:r>
          </a:p>
          <a:p>
            <a:r>
              <a:rPr lang="en-US" sz="2600" dirty="0" smtClean="0"/>
              <a:t>F(11) = F(01) + F(11)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sp>
        <p:nvSpPr>
          <p:cNvPr id="46" name="TextBox 45"/>
          <p:cNvSpPr txBox="1"/>
          <p:nvPr/>
        </p:nvSpPr>
        <p:spPr>
          <a:xfrm>
            <a:off x="5357818" y="0"/>
            <a:ext cx="3786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Правило отображения пар переменных </a:t>
            </a:r>
            <a:r>
              <a:rPr lang="ru-RU" sz="2000" b="1" dirty="0" smtClean="0">
                <a:solidFill>
                  <a:srgbClr val="C00000"/>
                </a:solidFill>
              </a:rPr>
              <a:t>для 8-го </a:t>
            </a:r>
            <a:r>
              <a:rPr lang="ru-RU" sz="2000" dirty="0" smtClean="0"/>
              <a:t>уравнения:</a:t>
            </a:r>
            <a:endParaRPr lang="ru-RU" sz="2000" dirty="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5397500" y="642918"/>
          <a:ext cx="37465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Формула" r:id="rId3" imgW="1701800" imgH="266700" progId="">
                  <p:embed/>
                </p:oleObj>
              </mc:Choice>
              <mc:Fallback>
                <p:oleObj name="Формула" r:id="rId3" imgW="1701800" imgH="2667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642918"/>
                        <a:ext cx="3746500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Группа 69"/>
          <p:cNvGrpSpPr/>
          <p:nvPr/>
        </p:nvGrpSpPr>
        <p:grpSpPr>
          <a:xfrm>
            <a:off x="5286380" y="1071546"/>
            <a:ext cx="2071702" cy="2428892"/>
            <a:chOff x="5286380" y="1000108"/>
            <a:chExt cx="2071702" cy="2500330"/>
          </a:xfrm>
        </p:grpSpPr>
        <p:sp>
          <p:nvSpPr>
            <p:cNvPr id="48" name="TextBox 47"/>
            <p:cNvSpPr txBox="1"/>
            <p:nvPr/>
          </p:nvSpPr>
          <p:spPr>
            <a:xfrm>
              <a:off x="5423727" y="1438506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23727" y="1941959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423727" y="2445413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23727" y="2916185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69005" y="1438506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69005" y="1941959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69005" y="2445413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569005" y="2916185"/>
              <a:ext cx="578168" cy="584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11</a:t>
              </a:r>
              <a:endParaRPr lang="ru-RU" sz="3200" dirty="0">
                <a:solidFill>
                  <a:srgbClr val="002060"/>
                </a:solidFill>
              </a:endParaRPr>
            </a:p>
          </p:txBody>
        </p:sp>
        <p:sp>
          <p:nvSpPr>
            <p:cNvPr id="56" name="Прямоугольник 55"/>
            <p:cNvSpPr/>
            <p:nvPr/>
          </p:nvSpPr>
          <p:spPr>
            <a:xfrm>
              <a:off x="5286380" y="1000108"/>
              <a:ext cx="810853" cy="522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6431659" y="1000108"/>
              <a:ext cx="926423" cy="522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10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62" name="Прямая со стрелкой 61"/>
          <p:cNvCxnSpPr/>
          <p:nvPr/>
        </p:nvCxnSpPr>
        <p:spPr>
          <a:xfrm>
            <a:off x="5904437" y="2284845"/>
            <a:ext cx="824077" cy="499622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endCxn id="53" idx="1"/>
          </p:cNvCxnSpPr>
          <p:nvPr/>
        </p:nvCxnSpPr>
        <p:spPr>
          <a:xfrm flipV="1">
            <a:off x="5904437" y="2270267"/>
            <a:ext cx="664568" cy="479157"/>
          </a:xfrm>
          <a:prstGeom prst="straightConnector1">
            <a:avLst/>
          </a:prstGeom>
          <a:ln w="57150">
            <a:solidFill>
              <a:srgbClr val="00CC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Прямоугольник 65"/>
          <p:cNvSpPr/>
          <p:nvPr/>
        </p:nvSpPr>
        <p:spPr>
          <a:xfrm>
            <a:off x="7358082" y="1664791"/>
            <a:ext cx="1928858" cy="169277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ru-RU" sz="2600" dirty="0" smtClean="0"/>
              <a:t>F(00) = 0, </a:t>
            </a:r>
          </a:p>
          <a:p>
            <a:r>
              <a:rPr lang="ru-RU" sz="2600" dirty="0" smtClean="0"/>
              <a:t>F(01) = F(10), </a:t>
            </a:r>
          </a:p>
          <a:p>
            <a:r>
              <a:rPr lang="ru-RU" sz="2600" dirty="0" smtClean="0"/>
              <a:t>F(10) = F(01), </a:t>
            </a:r>
          </a:p>
          <a:p>
            <a:r>
              <a:rPr lang="en-US" sz="2600" dirty="0" smtClean="0"/>
              <a:t>F(11) = </a:t>
            </a:r>
            <a:r>
              <a:rPr lang="ru-RU" sz="2600" dirty="0" smtClean="0"/>
              <a:t>0.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graphicFrame>
        <p:nvGraphicFramePr>
          <p:cNvPr id="67" name="Таблица 66"/>
          <p:cNvGraphicFramePr>
            <a:graphicFrameLocks noGrp="1"/>
          </p:cNvGraphicFramePr>
          <p:nvPr/>
        </p:nvGraphicFramePr>
        <p:xfrm>
          <a:off x="214282" y="3412761"/>
          <a:ext cx="8715436" cy="3159511"/>
        </p:xfrm>
        <a:graphic>
          <a:graphicData uri="http://schemas.openxmlformats.org/drawingml/2006/table">
            <a:tbl>
              <a:tblPr/>
              <a:tblGrid>
                <a:gridCol w="7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5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1669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Calibri"/>
                          <a:ea typeface="Times New Roman"/>
                          <a:cs typeface="Times New Roman"/>
                        </a:rPr>
                        <a:t>Пара</a:t>
                      </a:r>
                      <a:endParaRPr lang="ru-RU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Количество пар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59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34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34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8" name="Прямая соединительная линия 67"/>
          <p:cNvCxnSpPr/>
          <p:nvPr/>
        </p:nvCxnSpPr>
        <p:spPr>
          <a:xfrm flipV="1">
            <a:off x="8002164" y="6237514"/>
            <a:ext cx="1080120" cy="4776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 rot="20206832">
            <a:off x="8436076" y="618232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42</a:t>
            </a:r>
            <a:endParaRPr lang="ru-RU" sz="4000" b="1" dirty="0">
              <a:solidFill>
                <a:srgbClr val="002060"/>
              </a:solidFill>
            </a:endParaRPr>
          </a:p>
        </p:txBody>
      </p:sp>
      <p:cxnSp>
        <p:nvCxnSpPr>
          <p:cNvPr id="72" name="Прямая соединительная линия 71"/>
          <p:cNvCxnSpPr/>
          <p:nvPr/>
        </p:nvCxnSpPr>
        <p:spPr>
          <a:xfrm rot="5400000">
            <a:off x="3963983" y="2178041"/>
            <a:ext cx="2358248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Овал 73"/>
          <p:cNvSpPr/>
          <p:nvPr/>
        </p:nvSpPr>
        <p:spPr>
          <a:xfrm>
            <a:off x="4357686" y="357166"/>
            <a:ext cx="1071570" cy="8572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ru-RU" sz="2400" b="1" dirty="0" smtClean="0">
                <a:solidFill>
                  <a:srgbClr val="C00000"/>
                </a:solidFill>
              </a:rPr>
              <a:t>№ 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66" grpId="0"/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215206" y="1142984"/>
            <a:ext cx="1714512" cy="725470"/>
          </a:xfrm>
        </p:spPr>
        <p:txBody>
          <a:bodyPr>
            <a:normAutofit fontScale="90000"/>
          </a:bodyPr>
          <a:lstStyle/>
          <a:p>
            <a:r>
              <a:rPr lang="ru-RU" sz="2400" dirty="0" smtClean="0"/>
              <a:t>Домашнее задание</a:t>
            </a:r>
            <a:endParaRPr lang="ru-RU" sz="24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142844" y="1000108"/>
            <a:ext cx="2328850" cy="2000264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ru-RU" dirty="0" smtClean="0">
                <a:sym typeface="Symbol"/>
              </a:rPr>
              <a:t></a:t>
            </a:r>
            <a:r>
              <a:rPr lang="en-US" dirty="0" smtClean="0">
                <a:sym typeface="Symbol"/>
              </a:rPr>
              <a:t>X</a:t>
            </a:r>
            <a:r>
              <a:rPr lang="en-US" baseline="-25000" dirty="0" smtClean="0">
                <a:sym typeface="Symbol"/>
              </a:rPr>
              <a:t>1</a:t>
            </a:r>
            <a:r>
              <a:rPr lang="ru-RU" dirty="0" smtClean="0">
                <a:sym typeface="Symbol"/>
              </a:rPr>
              <a:t></a:t>
            </a:r>
            <a:r>
              <a:rPr lang="en-US" dirty="0" smtClean="0">
                <a:sym typeface="Symbol"/>
              </a:rPr>
              <a:t> X</a:t>
            </a:r>
            <a:r>
              <a:rPr lang="en-US" baseline="-25000" dirty="0" smtClean="0">
                <a:sym typeface="Symbol"/>
              </a:rPr>
              <a:t>2 </a:t>
            </a:r>
            <a:r>
              <a:rPr lang="en-US" dirty="0" smtClean="0">
                <a:sym typeface="Symbol"/>
              </a:rPr>
              <a:t>= 1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>
                <a:sym typeface="Symbol"/>
              </a:rPr>
              <a:t></a:t>
            </a:r>
            <a:r>
              <a:rPr lang="en-US" dirty="0" smtClean="0">
                <a:sym typeface="Symbol"/>
              </a:rPr>
              <a:t>X</a:t>
            </a:r>
            <a:r>
              <a:rPr lang="en-US" baseline="-25000" dirty="0" smtClean="0">
                <a:sym typeface="Symbol"/>
              </a:rPr>
              <a:t>2</a:t>
            </a:r>
            <a:r>
              <a:rPr lang="ru-RU" dirty="0" smtClean="0">
                <a:sym typeface="Symbol"/>
              </a:rPr>
              <a:t></a:t>
            </a:r>
            <a:r>
              <a:rPr lang="en-US" dirty="0" smtClean="0">
                <a:sym typeface="Symbol"/>
              </a:rPr>
              <a:t> X</a:t>
            </a:r>
            <a:r>
              <a:rPr lang="en-US" baseline="-25000" dirty="0" smtClean="0">
                <a:sym typeface="Symbol"/>
              </a:rPr>
              <a:t>3 </a:t>
            </a:r>
            <a:r>
              <a:rPr lang="en-US" dirty="0" smtClean="0">
                <a:sym typeface="Symbol"/>
              </a:rPr>
              <a:t>= 1</a:t>
            </a:r>
          </a:p>
          <a:p>
            <a:pPr algn="ctr">
              <a:lnSpc>
                <a:spcPct val="80000"/>
              </a:lnSpc>
              <a:buNone/>
            </a:pPr>
            <a:r>
              <a:rPr lang="en-US" dirty="0" smtClean="0">
                <a:sym typeface="Symbol"/>
              </a:rPr>
              <a:t>…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>
                <a:sym typeface="Symbol"/>
              </a:rPr>
              <a:t></a:t>
            </a:r>
            <a:r>
              <a:rPr lang="en-US" dirty="0" smtClean="0">
                <a:sym typeface="Symbol"/>
              </a:rPr>
              <a:t>X</a:t>
            </a:r>
            <a:r>
              <a:rPr lang="en-US" baseline="-25000" dirty="0" smtClean="0">
                <a:sym typeface="Symbol"/>
              </a:rPr>
              <a:t>9</a:t>
            </a:r>
            <a:r>
              <a:rPr lang="ru-RU" dirty="0" smtClean="0">
                <a:sym typeface="Symbol"/>
              </a:rPr>
              <a:t></a:t>
            </a:r>
            <a:r>
              <a:rPr lang="en-US" dirty="0" smtClean="0">
                <a:sym typeface="Symbol"/>
              </a:rPr>
              <a:t> X</a:t>
            </a:r>
            <a:r>
              <a:rPr lang="en-US" baseline="-25000" dirty="0" smtClean="0">
                <a:sym typeface="Symbol"/>
              </a:rPr>
              <a:t>10 </a:t>
            </a:r>
            <a:r>
              <a:rPr lang="en-US" dirty="0" smtClean="0">
                <a:sym typeface="Symbol"/>
              </a:rPr>
              <a:t>= 1</a:t>
            </a:r>
            <a:endParaRPr lang="ru-RU" dirty="0" smtClean="0">
              <a:sym typeface="Symbol"/>
            </a:endParaRPr>
          </a:p>
        </p:txBody>
      </p:sp>
      <p:sp>
        <p:nvSpPr>
          <p:cNvPr id="5" name="Левая фигурная скобка 2"/>
          <p:cNvSpPr>
            <a:spLocks/>
          </p:cNvSpPr>
          <p:nvPr/>
        </p:nvSpPr>
        <p:spPr bwMode="auto">
          <a:xfrm>
            <a:off x="142844" y="857232"/>
            <a:ext cx="214314" cy="2071702"/>
          </a:xfrm>
          <a:prstGeom prst="leftBrace">
            <a:avLst>
              <a:gd name="adj1" fmla="val 79885"/>
              <a:gd name="adj2" fmla="val 49343"/>
            </a:avLst>
          </a:prstGeom>
          <a:noFill/>
          <a:ln w="38100">
            <a:solidFill>
              <a:srgbClr val="4579B8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30" name="Группа 29"/>
          <p:cNvGrpSpPr/>
          <p:nvPr/>
        </p:nvGrpSpPr>
        <p:grpSpPr>
          <a:xfrm>
            <a:off x="4714876" y="1132823"/>
            <a:ext cx="1675820" cy="1527467"/>
            <a:chOff x="4714876" y="655763"/>
            <a:chExt cx="1675820" cy="1527467"/>
          </a:xfrm>
        </p:grpSpPr>
        <p:sp>
          <p:nvSpPr>
            <p:cNvPr id="7" name="TextBox 6"/>
            <p:cNvSpPr txBox="1"/>
            <p:nvPr/>
          </p:nvSpPr>
          <p:spPr>
            <a:xfrm>
              <a:off x="4857753" y="109455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57753" y="1598455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29322" y="109455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0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29322" y="1598455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2060"/>
                  </a:solidFill>
                </a:rPr>
                <a:t>1</a:t>
              </a:r>
              <a:endParaRPr lang="ru-RU" sz="1050" dirty="0">
                <a:solidFill>
                  <a:srgbClr val="002060"/>
                </a:solidFill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714876" y="655763"/>
              <a:ext cx="4844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800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5906268" y="655763"/>
              <a:ext cx="4844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800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8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7" name="Прямая со стрелкой 16"/>
            <p:cNvCxnSpPr/>
            <p:nvPr/>
          </p:nvCxnSpPr>
          <p:spPr>
            <a:xfrm>
              <a:off x="5286380" y="1941647"/>
              <a:ext cx="731971" cy="727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>
              <a:off x="5258651" y="1370143"/>
              <a:ext cx="652992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5255975" y="1376561"/>
              <a:ext cx="744785" cy="51135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3713"/>
              </p:ext>
            </p:extLst>
          </p:nvPr>
        </p:nvGraphicFramePr>
        <p:xfrm>
          <a:off x="2714612" y="928670"/>
          <a:ext cx="1095382" cy="1953768"/>
        </p:xfrm>
        <a:graphic>
          <a:graphicData uri="http://schemas.openxmlformats.org/drawingml/2006/table">
            <a:tbl>
              <a:tblPr/>
              <a:tblGrid>
                <a:gridCol w="54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2800" b="1" i="1" baseline="-25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kern="12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b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3" name="Прямая соединительная линия 22"/>
          <p:cNvCxnSpPr/>
          <p:nvPr/>
        </p:nvCxnSpPr>
        <p:spPr>
          <a:xfrm>
            <a:off x="3216308" y="2229270"/>
            <a:ext cx="571504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3287746" y="2229270"/>
            <a:ext cx="500066" cy="2143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4786314" y="2750762"/>
            <a:ext cx="323446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F (0) = F (0), </a:t>
            </a:r>
          </a:p>
          <a:p>
            <a:r>
              <a:rPr lang="ru-RU" sz="2600" dirty="0" smtClean="0"/>
              <a:t>F (1) = F (0)</a:t>
            </a:r>
            <a:r>
              <a:rPr lang="en-US" sz="2600" dirty="0" smtClean="0"/>
              <a:t> + F (1)</a:t>
            </a:r>
            <a:r>
              <a:rPr lang="ru-RU" sz="2600" dirty="0" smtClean="0"/>
              <a:t>.</a:t>
            </a:r>
            <a:r>
              <a:rPr lang="en-US" sz="2600" dirty="0" smtClean="0"/>
              <a:t> </a:t>
            </a:r>
            <a:endParaRPr lang="ru-RU" sz="2600" dirty="0"/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214282" y="3650081"/>
          <a:ext cx="8715435" cy="2037847"/>
        </p:xfrm>
        <a:graphic>
          <a:graphicData uri="http://schemas.openxmlformats.org/drawingml/2006/table">
            <a:tbl>
              <a:tblPr/>
              <a:tblGrid>
                <a:gridCol w="7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25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1669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Calibri"/>
                          <a:ea typeface="Times New Roman"/>
                          <a:cs typeface="Times New Roman"/>
                        </a:rPr>
                        <a:t>значение</a:t>
                      </a:r>
                      <a:endParaRPr lang="ru-RU" sz="2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Количество решений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59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ru-RU" sz="2800" b="1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5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3200" kern="1200" dirty="0" smtClean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kern="12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3200" kern="1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ru-RU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ru-RU" sz="32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7" name="Прямая соединительная линия 26"/>
          <p:cNvCxnSpPr/>
          <p:nvPr/>
        </p:nvCxnSpPr>
        <p:spPr>
          <a:xfrm flipV="1">
            <a:off x="7992474" y="5666584"/>
            <a:ext cx="1080120" cy="4776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20206832">
            <a:off x="8328931" y="582570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11</a:t>
            </a:r>
            <a:endParaRPr lang="ru-RU" sz="4000" b="1" dirty="0">
              <a:solidFill>
                <a:srgbClr val="002060"/>
              </a:solidFill>
            </a:endParaRPr>
          </a:p>
        </p:txBody>
      </p:sp>
      <p:sp>
        <p:nvSpPr>
          <p:cNvPr id="21" name="Скругленный прямоугольник 20">
            <a:hlinkClick r:id="rId2" action="ppaction://hlinksldjump"/>
          </p:cNvPr>
          <p:cNvSpPr/>
          <p:nvPr/>
        </p:nvSpPr>
        <p:spPr>
          <a:xfrm>
            <a:off x="214282" y="592933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Содер-жание</a:t>
            </a:r>
            <a:endParaRPr lang="ru-RU" dirty="0"/>
          </a:p>
        </p:txBody>
      </p:sp>
      <p:sp>
        <p:nvSpPr>
          <p:cNvPr id="29" name="Скругленный прямоугольник 28">
            <a:hlinkClick r:id="rId2" action="ppaction://hlinksldjump"/>
          </p:cNvPr>
          <p:cNvSpPr/>
          <p:nvPr/>
        </p:nvSpPr>
        <p:spPr>
          <a:xfrm>
            <a:off x="1142976" y="5929330"/>
            <a:ext cx="785786" cy="714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dirty="0" err="1" smtClean="0"/>
              <a:t>Реше-ния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500066" y="139463"/>
            <a:ext cx="828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Сколько существует различных наборов значений логических </a:t>
            </a:r>
            <a:r>
              <a:rPr lang="en-US" dirty="0" smtClean="0">
                <a:sym typeface="Symbol"/>
              </a:rPr>
              <a:t>X</a:t>
            </a:r>
            <a:r>
              <a:rPr lang="ru-RU" baseline="-25000" dirty="0" smtClean="0">
                <a:sym typeface="Symbol"/>
              </a:rPr>
              <a:t>1</a:t>
            </a:r>
            <a:r>
              <a:rPr lang="ru-RU" dirty="0" smtClean="0">
                <a:sym typeface="Symbol"/>
              </a:rPr>
              <a:t>,</a:t>
            </a:r>
            <a:r>
              <a:rPr lang="en-US" baseline="-25000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X</a:t>
            </a:r>
            <a:r>
              <a:rPr lang="en-US" baseline="-25000" dirty="0" smtClean="0">
                <a:sym typeface="Symbol"/>
              </a:rPr>
              <a:t>2</a:t>
            </a:r>
            <a:r>
              <a:rPr lang="ru-RU" dirty="0" smtClean="0">
                <a:sym typeface="Symbol"/>
              </a:rPr>
              <a:t>,</a:t>
            </a:r>
            <a:r>
              <a:rPr lang="en-US" baseline="-25000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X</a:t>
            </a:r>
            <a:r>
              <a:rPr lang="ru-RU" baseline="-25000" dirty="0" smtClean="0">
                <a:sym typeface="Symbol"/>
              </a:rPr>
              <a:t>3</a:t>
            </a:r>
            <a:r>
              <a:rPr lang="ru-RU" dirty="0" smtClean="0">
                <a:sym typeface="Symbol"/>
              </a:rPr>
              <a:t>,…,</a:t>
            </a:r>
            <a:r>
              <a:rPr lang="ru-RU" baseline="-25000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X</a:t>
            </a:r>
            <a:r>
              <a:rPr lang="ru-RU" baseline="-25000" dirty="0" smtClean="0">
                <a:sym typeface="Symbol"/>
              </a:rPr>
              <a:t>9</a:t>
            </a:r>
            <a:r>
              <a:rPr lang="ru-RU" dirty="0" smtClean="0">
                <a:sym typeface="Symbol"/>
              </a:rPr>
              <a:t>,</a:t>
            </a:r>
            <a:r>
              <a:rPr lang="en-US" dirty="0" smtClean="0">
                <a:sym typeface="Symbol"/>
              </a:rPr>
              <a:t> X</a:t>
            </a:r>
            <a:r>
              <a:rPr lang="ru-RU" baseline="-25000" dirty="0" smtClean="0">
                <a:sym typeface="Symbol"/>
              </a:rPr>
              <a:t>10</a:t>
            </a:r>
            <a:r>
              <a:rPr lang="ru-RU" dirty="0" smtClean="0">
                <a:sym typeface="Symbol"/>
              </a:rPr>
              <a:t>,</a:t>
            </a:r>
            <a:r>
              <a:rPr lang="en-US" baseline="-25000" dirty="0" smtClean="0">
                <a:sym typeface="Symbol"/>
              </a:rPr>
              <a:t> </a:t>
            </a:r>
            <a:r>
              <a:rPr lang="ru-RU" dirty="0" smtClean="0"/>
              <a:t>которые удовлетворяют всем перечисленным ниже условиям?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2297</TotalTime>
  <Words>2095</Words>
  <PresentationFormat>Экран (4:3)</PresentationFormat>
  <Paragraphs>751</Paragraphs>
  <Slides>16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Symbol</vt:lpstr>
      <vt:lpstr>Times New Roman</vt:lpstr>
      <vt:lpstr>Тема Office</vt:lpstr>
      <vt:lpstr>Формула</vt:lpstr>
      <vt:lpstr>Метод отображений в решении  системы логических уравнений</vt:lpstr>
      <vt:lpstr>Презентация PowerPoint</vt:lpstr>
      <vt:lpstr>№1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№3</vt:lpstr>
      <vt:lpstr>Презентация PowerPoint</vt:lpstr>
      <vt:lpstr>Презентация PowerPoint</vt:lpstr>
      <vt:lpstr>Презентация PowerPoint</vt:lpstr>
      <vt:lpstr>Презентация PowerPoint</vt:lpstr>
      <vt:lpstr>№7</vt:lpstr>
      <vt:lpstr>Презентация PowerPoint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2014-02-04T16:47:08Z</dcterms:created>
  <dcterms:modified xsi:type="dcterms:W3CDTF">2019-11-29T04:17:25Z</dcterms:modified>
</cp:coreProperties>
</file>