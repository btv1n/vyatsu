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97" r:id="rId3"/>
    <p:sldId id="295" r:id="rId4"/>
    <p:sldId id="296" r:id="rId5"/>
    <p:sldId id="298" r:id="rId6"/>
    <p:sldId id="299" r:id="rId7"/>
    <p:sldId id="300" r:id="rId8"/>
    <p:sldId id="302" r:id="rId9"/>
    <p:sldId id="303" r:id="rId10"/>
    <p:sldId id="304" r:id="rId11"/>
    <p:sldId id="305" r:id="rId12"/>
    <p:sldId id="301" r:id="rId13"/>
    <p:sldId id="312" r:id="rId14"/>
    <p:sldId id="306" r:id="rId15"/>
    <p:sldId id="307" r:id="rId16"/>
    <p:sldId id="308" r:id="rId17"/>
    <p:sldId id="309" r:id="rId18"/>
    <p:sldId id="310" r:id="rId19"/>
    <p:sldId id="313" r:id="rId20"/>
    <p:sldId id="311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8FC2D-85F7-9F57-81AB-8CA7546C230C}" v="1" dt="2025-12-18T19:07:32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9541" autoAdjust="0"/>
  </p:normalViewPr>
  <p:slideViewPr>
    <p:cSldViewPr>
      <p:cViewPr varScale="1">
        <p:scale>
          <a:sx n="114" d="100"/>
          <a:sy n="114" d="100"/>
        </p:scale>
        <p:origin x="11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ость" userId="S::urn:spo:tenantanon#9feed2cc-ba06-4560-9d13-954ee5d83983::" providerId="AD" clId="Web-{9538FC2D-85F7-9F57-81AB-8CA7546C230C}"/>
    <pc:docChg chg="modSld">
      <pc:chgData name="Гость" userId="S::urn:spo:tenantanon#9feed2cc-ba06-4560-9d13-954ee5d83983::" providerId="AD" clId="Web-{9538FC2D-85F7-9F57-81AB-8CA7546C230C}" dt="2025-12-18T19:07:32.776" v="0" actId="1076"/>
      <pc:docMkLst>
        <pc:docMk/>
      </pc:docMkLst>
      <pc:sldChg chg="modSp">
        <pc:chgData name="Гость" userId="S::urn:spo:tenantanon#9feed2cc-ba06-4560-9d13-954ee5d83983::" providerId="AD" clId="Web-{9538FC2D-85F7-9F57-81AB-8CA7546C230C}" dt="2025-12-18T19:07:32.776" v="0" actId="1076"/>
        <pc:sldMkLst>
          <pc:docMk/>
          <pc:sldMk cId="162728157" sldId="295"/>
        </pc:sldMkLst>
        <pc:spChg chg="mod">
          <ac:chgData name="Гость" userId="S::urn:spo:tenantanon#9feed2cc-ba06-4560-9d13-954ee5d83983::" providerId="AD" clId="Web-{9538FC2D-85F7-9F57-81AB-8CA7546C230C}" dt="2025-12-18T19:07:32.776" v="0" actId="1076"/>
          <ac:spMkLst>
            <pc:docMk/>
            <pc:sldMk cId="162728157" sldId="295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DSP\Dropbox\DSP\&#1055;&#1086;&#1089;&#1086;&#1073;&#1080;&#1103;\&#1071;&#1057;&#1055;&#1083;&#1072;&#1073;\illustr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DSP\Dropbox\DSP\&#1055;&#1086;&#1089;&#1086;&#1073;&#1080;&#1103;\&#1071;&#1057;&#1055;&#1083;&#1072;&#1073;\illustr.xls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DSP\Dropbox\DSP\&#1055;&#1086;&#1089;&#1086;&#1073;&#1080;&#1103;\&#1071;&#1057;&#1055;&#1083;&#1072;&#1073;\illustr.xls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Users\DSP\Dropbox\DSP\&#1055;&#1086;&#1089;&#1086;&#1073;&#1080;&#1103;\&#1071;&#1057;&#1055;&#1083;&#1072;&#1073;\illustr.xls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oleObject" Target="file:///C:\Users\DSP\Dropbox\DSP\&#1055;&#1086;&#1089;&#1086;&#1073;&#1080;&#1103;\&#1071;&#1057;&#1055;&#1083;&#1072;&#1073;\illustr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1261633919338E-2"/>
          <c:y val="1.6949152542372881E-2"/>
          <c:w val="0.9793174767321613"/>
          <c:h val="0.96610169491525422"/>
        </c:manualLayout>
      </c:layout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64157952"/>
        <c:axId val="75755904"/>
      </c:scatterChart>
      <c:valAx>
        <c:axId val="64157952"/>
        <c:scaling>
          <c:orientation val="minMax"/>
        </c:scaling>
        <c:delete val="1"/>
        <c:axPos val="b"/>
        <c:majorTickMark val="out"/>
        <c:minorTickMark val="none"/>
        <c:tickLblPos val="nextTo"/>
        <c:crossAx val="75755904"/>
        <c:crossesAt val="0.4"/>
        <c:crossBetween val="midCat"/>
      </c:valAx>
      <c:valAx>
        <c:axId val="757559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4157952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800" b="0" i="0" u="none" strike="noStrike" baseline="0">
          <a:solidFill>
            <a:srgbClr val="000000"/>
          </a:solidFill>
          <a:latin typeface="Times New Roman"/>
          <a:ea typeface="Times New Roman"/>
          <a:cs typeface="Times New Roman"/>
        </a:defRPr>
      </a:pPr>
      <a:endParaRPr lang="ru-RU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1261633919338E-2"/>
          <c:y val="1.6949152542372881E-2"/>
          <c:w val="0.9793174767321613"/>
          <c:h val="0.96610169491525422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972800"/>
        <c:axId val="76974336"/>
      </c:barChart>
      <c:catAx>
        <c:axId val="76972800"/>
        <c:scaling>
          <c:orientation val="minMax"/>
        </c:scaling>
        <c:delete val="0"/>
        <c:axPos val="b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6974336"/>
        <c:crosses val="autoZero"/>
        <c:auto val="1"/>
        <c:lblAlgn val="ctr"/>
        <c:lblOffset val="100"/>
        <c:tickMarkSkip val="1"/>
        <c:noMultiLvlLbl val="0"/>
      </c:catAx>
      <c:valAx>
        <c:axId val="76974336"/>
        <c:scaling>
          <c:orientation val="minMax"/>
        </c:scaling>
        <c:delete val="0"/>
        <c:axPos val="l"/>
        <c:numFmt formatCode="0.00" sourceLinked="1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697280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1261633919338E-2"/>
          <c:y val="1.6949152542372881E-2"/>
          <c:w val="0.9793174767321613"/>
          <c:h val="0.96610169491525422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052160"/>
        <c:axId val="77065216"/>
      </c:barChart>
      <c:catAx>
        <c:axId val="77052160"/>
        <c:scaling>
          <c:orientation val="minMax"/>
        </c:scaling>
        <c:delete val="0"/>
        <c:axPos val="b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7065216"/>
        <c:crosses val="autoZero"/>
        <c:auto val="1"/>
        <c:lblAlgn val="ctr"/>
        <c:lblOffset val="100"/>
        <c:tickMarkSkip val="1"/>
        <c:noMultiLvlLbl val="0"/>
      </c:catAx>
      <c:valAx>
        <c:axId val="77065216"/>
        <c:scaling>
          <c:orientation val="minMax"/>
        </c:scaling>
        <c:delete val="0"/>
        <c:axPos val="l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705216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1261633919338E-2"/>
          <c:y val="1.6949152542372881E-2"/>
          <c:w val="0.9793174767321613"/>
          <c:h val="0.96610169491525422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8212096"/>
        <c:axId val="78222080"/>
      </c:barChart>
      <c:catAx>
        <c:axId val="78212096"/>
        <c:scaling>
          <c:orientation val="minMax"/>
        </c:scaling>
        <c:delete val="0"/>
        <c:axPos val="b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8222080"/>
        <c:crosses val="autoZero"/>
        <c:auto val="1"/>
        <c:lblAlgn val="ctr"/>
        <c:lblOffset val="100"/>
        <c:tickMarkSkip val="1"/>
        <c:noMultiLvlLbl val="0"/>
      </c:catAx>
      <c:valAx>
        <c:axId val="78222080"/>
        <c:scaling>
          <c:orientation val="minMax"/>
        </c:scaling>
        <c:delete val="0"/>
        <c:axPos val="l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821209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1261633919338E-2"/>
          <c:y val="1.6949152542372881E-2"/>
          <c:w val="0.9793174767321613"/>
          <c:h val="0.96610169491525422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8289536"/>
        <c:axId val="78295424"/>
      </c:barChart>
      <c:catAx>
        <c:axId val="78289536"/>
        <c:scaling>
          <c:orientation val="minMax"/>
        </c:scaling>
        <c:delete val="0"/>
        <c:axPos val="b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8295424"/>
        <c:crosses val="autoZero"/>
        <c:auto val="1"/>
        <c:lblAlgn val="ctr"/>
        <c:lblOffset val="100"/>
        <c:tickMarkSkip val="1"/>
        <c:noMultiLvlLbl val="0"/>
      </c:catAx>
      <c:valAx>
        <c:axId val="78295424"/>
        <c:scaling>
          <c:orientation val="minMax"/>
        </c:scaling>
        <c:delete val="0"/>
        <c:axPos val="l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782895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0.07575</cdr:x>
      <cdr:y>0.10761</cdr:y>
    </cdr:from>
    <cdr:to>
      <cdr:x>0.57252</cdr:x>
      <cdr:y>0.33564</cdr:y>
    </cdr:to>
    <cdr:sp macro="" textlink="">
      <cdr:nvSpPr>
        <cdr:cNvPr id="18435" name="Freeform 3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698196" y="604614"/>
          <a:ext cx="4578779" cy="1281272"/>
        </a:xfrm>
        <a:custGeom xmlns:a="http://schemas.openxmlformats.org/drawingml/2006/main">
          <a:avLst/>
          <a:gdLst>
            <a:gd name="T0" fmla="*/ 0 w 4379399"/>
            <a:gd name="T1" fmla="*/ 0 h 1179163"/>
            <a:gd name="T2" fmla="*/ 1665134 w 4379399"/>
            <a:gd name="T3" fmla="*/ 1145041 h 1179163"/>
            <a:gd name="T4" fmla="*/ 3508231 w 4379399"/>
            <a:gd name="T5" fmla="*/ 261057 h 1179163"/>
            <a:gd name="T6" fmla="*/ 4379399 w 4379399"/>
            <a:gd name="T7" fmla="*/ 38489 h 1179163"/>
            <a:gd name="connsiteX0" fmla="*/ 0 w 4379399"/>
            <a:gd name="connsiteY0" fmla="*/ 0 h 1172572"/>
            <a:gd name="connsiteX1" fmla="*/ 1665134 w 4379399"/>
            <a:gd name="connsiteY1" fmla="*/ 1145041 h 1172572"/>
            <a:gd name="connsiteX2" fmla="*/ 3270764 w 4379399"/>
            <a:gd name="connsiteY2" fmla="*/ 774520 h 1172572"/>
            <a:gd name="connsiteX3" fmla="*/ 4379399 w 4379399"/>
            <a:gd name="connsiteY3" fmla="*/ 38489 h 1172572"/>
            <a:gd name="connsiteX0" fmla="*/ 0 w 4379399"/>
            <a:gd name="connsiteY0" fmla="*/ 0 h 1172572"/>
            <a:gd name="connsiteX1" fmla="*/ 1665134 w 4379399"/>
            <a:gd name="connsiteY1" fmla="*/ 1145041 h 1172572"/>
            <a:gd name="connsiteX2" fmla="*/ 3270764 w 4379399"/>
            <a:gd name="connsiteY2" fmla="*/ 774520 h 1172572"/>
            <a:gd name="connsiteX3" fmla="*/ 4379399 w 4379399"/>
            <a:gd name="connsiteY3" fmla="*/ 38489 h 1172572"/>
            <a:gd name="connsiteX0" fmla="*/ 0 w 4379399"/>
            <a:gd name="connsiteY0" fmla="*/ 0 h 1178686"/>
            <a:gd name="connsiteX1" fmla="*/ 1665134 w 4379399"/>
            <a:gd name="connsiteY1" fmla="*/ 1145041 h 1178686"/>
            <a:gd name="connsiteX2" fmla="*/ 3270764 w 4379399"/>
            <a:gd name="connsiteY2" fmla="*/ 774520 h 1178686"/>
            <a:gd name="connsiteX3" fmla="*/ 4379399 w 4379399"/>
            <a:gd name="connsiteY3" fmla="*/ 38489 h 1178686"/>
            <a:gd name="connsiteX0" fmla="*/ 0 w 4322079"/>
            <a:gd name="connsiteY0" fmla="*/ 69173 h 1245647"/>
            <a:gd name="connsiteX1" fmla="*/ 1665134 w 4322079"/>
            <a:gd name="connsiteY1" fmla="*/ 1214214 h 1245647"/>
            <a:gd name="connsiteX2" fmla="*/ 3270764 w 4322079"/>
            <a:gd name="connsiteY2" fmla="*/ 843693 h 1245647"/>
            <a:gd name="connsiteX3" fmla="*/ 4322079 w 4322079"/>
            <a:gd name="connsiteY3" fmla="*/ 0 h 1245647"/>
            <a:gd name="connsiteX0" fmla="*/ 0 w 4322079"/>
            <a:gd name="connsiteY0" fmla="*/ 69173 h 1245647"/>
            <a:gd name="connsiteX1" fmla="*/ 1665134 w 4322079"/>
            <a:gd name="connsiteY1" fmla="*/ 1214214 h 1245647"/>
            <a:gd name="connsiteX2" fmla="*/ 3270764 w 4322079"/>
            <a:gd name="connsiteY2" fmla="*/ 843693 h 1245647"/>
            <a:gd name="connsiteX3" fmla="*/ 4322079 w 4322079"/>
            <a:gd name="connsiteY3" fmla="*/ 0 h 1245647"/>
            <a:gd name="connsiteX0" fmla="*/ 0 w 4322079"/>
            <a:gd name="connsiteY0" fmla="*/ 69173 h 1262097"/>
            <a:gd name="connsiteX1" fmla="*/ 1665134 w 4322079"/>
            <a:gd name="connsiteY1" fmla="*/ 1214214 h 1262097"/>
            <a:gd name="connsiteX2" fmla="*/ 3295329 w 4322079"/>
            <a:gd name="connsiteY2" fmla="*/ 943074 h 1262097"/>
            <a:gd name="connsiteX3" fmla="*/ 4322079 w 4322079"/>
            <a:gd name="connsiteY3" fmla="*/ 0 h 1262097"/>
            <a:gd name="connsiteX0" fmla="*/ 0 w 4322079"/>
            <a:gd name="connsiteY0" fmla="*/ 69173 h 1260147"/>
            <a:gd name="connsiteX1" fmla="*/ 1665134 w 4322079"/>
            <a:gd name="connsiteY1" fmla="*/ 1214214 h 1260147"/>
            <a:gd name="connsiteX2" fmla="*/ 3295329 w 4322079"/>
            <a:gd name="connsiteY2" fmla="*/ 943074 h 1260147"/>
            <a:gd name="connsiteX3" fmla="*/ 4322079 w 4322079"/>
            <a:gd name="connsiteY3" fmla="*/ 0 h 1260147"/>
            <a:gd name="connsiteX0" fmla="*/ 0 w 4322079"/>
            <a:gd name="connsiteY0" fmla="*/ 69173 h 1261105"/>
            <a:gd name="connsiteX1" fmla="*/ 1665134 w 4322079"/>
            <a:gd name="connsiteY1" fmla="*/ 1214214 h 1261105"/>
            <a:gd name="connsiteX2" fmla="*/ 3295329 w 4322079"/>
            <a:gd name="connsiteY2" fmla="*/ 943074 h 1261105"/>
            <a:gd name="connsiteX3" fmla="*/ 4322079 w 4322079"/>
            <a:gd name="connsiteY3" fmla="*/ 0 h 1261105"/>
            <a:gd name="connsiteX0" fmla="*/ 0 w 4977159"/>
            <a:gd name="connsiteY0" fmla="*/ 334187 h 1532998"/>
            <a:gd name="connsiteX1" fmla="*/ 1665134 w 4977159"/>
            <a:gd name="connsiteY1" fmla="*/ 1479228 h 1532998"/>
            <a:gd name="connsiteX2" fmla="*/ 3295329 w 4977159"/>
            <a:gd name="connsiteY2" fmla="*/ 1208088 h 1532998"/>
            <a:gd name="connsiteX3" fmla="*/ 4977159 w 4977159"/>
            <a:gd name="connsiteY3" fmla="*/ 0 h 1532998"/>
            <a:gd name="connsiteX0" fmla="*/ 0 w 4551357"/>
            <a:gd name="connsiteY0" fmla="*/ 94018 h 1287449"/>
            <a:gd name="connsiteX1" fmla="*/ 1665134 w 4551357"/>
            <a:gd name="connsiteY1" fmla="*/ 1239059 h 1287449"/>
            <a:gd name="connsiteX2" fmla="*/ 3295329 w 4551357"/>
            <a:gd name="connsiteY2" fmla="*/ 967919 h 1287449"/>
            <a:gd name="connsiteX3" fmla="*/ 4551357 w 4551357"/>
            <a:gd name="connsiteY3" fmla="*/ 0 h 1287449"/>
            <a:gd name="connsiteX0" fmla="*/ 0 w 4551357"/>
            <a:gd name="connsiteY0" fmla="*/ 94018 h 1287450"/>
            <a:gd name="connsiteX1" fmla="*/ 1665134 w 4551357"/>
            <a:gd name="connsiteY1" fmla="*/ 1239059 h 1287450"/>
            <a:gd name="connsiteX2" fmla="*/ 3295329 w 4551357"/>
            <a:gd name="connsiteY2" fmla="*/ 967919 h 1287450"/>
            <a:gd name="connsiteX3" fmla="*/ 4551357 w 4551357"/>
            <a:gd name="connsiteY3" fmla="*/ 0 h 1287450"/>
            <a:gd name="connsiteX0" fmla="*/ 0 w 4551357"/>
            <a:gd name="connsiteY0" fmla="*/ 94018 h 1277311"/>
            <a:gd name="connsiteX1" fmla="*/ 1665134 w 4551357"/>
            <a:gd name="connsiteY1" fmla="*/ 1239059 h 1277311"/>
            <a:gd name="connsiteX2" fmla="*/ 3295329 w 4551357"/>
            <a:gd name="connsiteY2" fmla="*/ 967919 h 1277311"/>
            <a:gd name="connsiteX3" fmla="*/ 4551357 w 4551357"/>
            <a:gd name="connsiteY3" fmla="*/ 0 h 1277311"/>
            <a:gd name="connsiteX0" fmla="*/ 0 w 4551357"/>
            <a:gd name="connsiteY0" fmla="*/ 94018 h 1285596"/>
            <a:gd name="connsiteX1" fmla="*/ 1665134 w 4551357"/>
            <a:gd name="connsiteY1" fmla="*/ 1239059 h 1285596"/>
            <a:gd name="connsiteX2" fmla="*/ 3246198 w 4551357"/>
            <a:gd name="connsiteY2" fmla="*/ 1017609 h 1285596"/>
            <a:gd name="connsiteX3" fmla="*/ 4551357 w 4551357"/>
            <a:gd name="connsiteY3" fmla="*/ 0 h 1285596"/>
            <a:gd name="connsiteX0" fmla="*/ 0 w 4551357"/>
            <a:gd name="connsiteY0" fmla="*/ 94018 h 1282651"/>
            <a:gd name="connsiteX1" fmla="*/ 1665134 w 4551357"/>
            <a:gd name="connsiteY1" fmla="*/ 1239059 h 1282651"/>
            <a:gd name="connsiteX2" fmla="*/ 3238009 w 4551357"/>
            <a:gd name="connsiteY2" fmla="*/ 1001046 h 1282651"/>
            <a:gd name="connsiteX3" fmla="*/ 4551357 w 4551357"/>
            <a:gd name="connsiteY3" fmla="*/ 0 h 1282651"/>
            <a:gd name="connsiteX0" fmla="*/ 0 w 4551357"/>
            <a:gd name="connsiteY0" fmla="*/ 94018 h 1288088"/>
            <a:gd name="connsiteX1" fmla="*/ 1665134 w 4551357"/>
            <a:gd name="connsiteY1" fmla="*/ 1239059 h 1288088"/>
            <a:gd name="connsiteX2" fmla="*/ 3238009 w 4551357"/>
            <a:gd name="connsiteY2" fmla="*/ 1001046 h 1288088"/>
            <a:gd name="connsiteX3" fmla="*/ 4551357 w 4551357"/>
            <a:gd name="connsiteY3" fmla="*/ 0 h 1288088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</a:cxnLst>
          <a:rect l="l" t="t" r="r" b="b"/>
          <a:pathLst>
            <a:path w="4551357" h="1288088">
              <a:moveTo>
                <a:pt x="0" y="94018"/>
              </a:moveTo>
              <a:cubicBezTo>
                <a:pt x="277522" y="284858"/>
                <a:pt x="1125466" y="1087888"/>
                <a:pt x="1665134" y="1239059"/>
              </a:cubicBezTo>
              <a:cubicBezTo>
                <a:pt x="2204802" y="1390230"/>
                <a:pt x="2937118" y="1157866"/>
                <a:pt x="3238009" y="1001046"/>
              </a:cubicBezTo>
              <a:cubicBezTo>
                <a:pt x="3538900" y="844226"/>
                <a:pt x="4307901" y="252418"/>
                <a:pt x="4551357" y="0"/>
              </a:cubicBezTo>
            </a:path>
          </a:pathLst>
        </a:custGeom>
        <a:noFill xmlns:a="http://schemas.openxmlformats.org/drawingml/2006/main"/>
        <a:ln xmlns:a="http://schemas.openxmlformats.org/drawingml/2006/main" w="2857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 type="none" w="med" len="med"/>
          <a:tailEnd type="non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</a:extLst>
      </cdr:spPr>
    </cdr:sp>
  </cdr:relSizeAnchor>
  <cdr:relSizeAnchor xmlns:cdr="http://schemas.openxmlformats.org/drawingml/2006/chartDrawing">
    <cdr:from>
      <cdr:x>0.04103</cdr:x>
      <cdr:y>0.04429</cdr:y>
    </cdr:from>
    <cdr:to>
      <cdr:x>0.12903</cdr:x>
      <cdr:y>0.10354</cdr:y>
    </cdr:to>
    <cdr:sp macro="" textlink="">
      <cdr:nvSpPr>
        <cdr:cNvPr id="18439" name="Text Box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49620" y="164249"/>
          <a:ext cx="535330" cy="21972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 dirty="0">
              <a:solidFill>
                <a:srgbClr val="000000"/>
              </a:solidFill>
              <a:latin typeface="Times New Roman"/>
              <a:cs typeface="Times New Roman"/>
            </a:rPr>
            <a:t>y=R</a:t>
          </a:r>
          <a:r>
            <a:rPr lang="ru-RU" sz="1780" b="0" i="0" u="none" strike="noStrike" baseline="0" dirty="0">
              <a:solidFill>
                <a:srgbClr val="000000"/>
              </a:solidFill>
              <a:latin typeface="Times New Roman"/>
              <a:cs typeface="Times New Roman"/>
            </a:rPr>
            <a:t>(</a:t>
          </a:r>
          <a:r>
            <a:rPr lang="ru-RU" sz="1780" b="0" i="1" u="none" strike="noStrike" baseline="0" dirty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0" dirty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0.57725</cdr:x>
      <cdr:y>0.59375</cdr:y>
    </cdr:from>
    <cdr:to>
      <cdr:x>0.602</cdr:x>
      <cdr:y>0.653</cdr:y>
    </cdr:to>
    <cdr:sp macro="" textlink="">
      <cdr:nvSpPr>
        <cdr:cNvPr id="18440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316862" y="3336727"/>
          <a:ext cx="227964" cy="33297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</a:p>
      </cdr:txBody>
    </cdr:sp>
  </cdr:relSizeAnchor>
  <cdr:relSizeAnchor xmlns:cdr="http://schemas.openxmlformats.org/drawingml/2006/chartDrawing">
    <cdr:from>
      <cdr:x>0.01525</cdr:x>
      <cdr:y>0</cdr:y>
    </cdr:from>
    <cdr:to>
      <cdr:x>0.04</cdr:x>
      <cdr:y>0.05925</cdr:y>
    </cdr:to>
    <cdr:sp macro="" textlink="">
      <cdr:nvSpPr>
        <cdr:cNvPr id="18441" name="Text Box 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40463" y="0"/>
          <a:ext cx="227964" cy="33297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y</a:t>
          </a:r>
        </a:p>
      </cdr:txBody>
    </cdr:sp>
  </cdr:relSizeAnchor>
  <cdr:relSizeAnchor xmlns:cdr="http://schemas.openxmlformats.org/drawingml/2006/chartDrawing">
    <cdr:from>
      <cdr:x>0.2295</cdr:x>
      <cdr:y>0.32325</cdr:y>
    </cdr:from>
    <cdr:to>
      <cdr:x>0.2295</cdr:x>
      <cdr:y>0.60325</cdr:y>
    </cdr:to>
    <cdr:sp macro="" textlink="">
      <cdr:nvSpPr>
        <cdr:cNvPr id="18442" name="Line 1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2113850" y="1816584"/>
          <a:ext cx="0" cy="157353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lgDash"/>
          <a:round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0.4275</cdr:x>
      <cdr:y>0.28446</cdr:y>
    </cdr:from>
    <cdr:to>
      <cdr:x>0.42969</cdr:x>
      <cdr:y>0.5965</cdr:y>
    </cdr:to>
    <cdr:sp macro="" textlink="">
      <cdr:nvSpPr>
        <cdr:cNvPr id="18450" name="Line 18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3940318" y="1598299"/>
          <a:ext cx="20181" cy="1753307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lgDash"/>
          <a:round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0.00825</cdr:x>
      <cdr:y>0.5965</cdr:y>
    </cdr:from>
    <cdr:to>
      <cdr:x>0.59575</cdr:x>
      <cdr:y>0.5965</cdr:y>
    </cdr:to>
    <cdr:sp macro="" textlink="">
      <cdr:nvSpPr>
        <cdr:cNvPr id="18462" name="Line 3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>
          <a:off x="75988" y="3352181"/>
          <a:ext cx="5411272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0.00825</cdr:x>
      <cdr:y>0.01525</cdr:y>
    </cdr:from>
    <cdr:to>
      <cdr:x>0.00825</cdr:x>
      <cdr:y>0.98475</cdr:y>
    </cdr:to>
    <cdr:sp macro="" textlink="">
      <cdr:nvSpPr>
        <cdr:cNvPr id="18463" name="Line 31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75988" y="85701"/>
          <a:ext cx="0" cy="5448348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0.22375</cdr:x>
      <cdr:y>0.30135</cdr:y>
    </cdr:from>
    <cdr:to>
      <cdr:x>0.2355</cdr:x>
      <cdr:y>0.31985</cdr:y>
    </cdr:to>
    <cdr:sp macro="" textlink="">
      <cdr:nvSpPr>
        <cdr:cNvPr id="18464" name="Oval 32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2062331" y="1693231"/>
          <a:ext cx="108301" cy="103948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0.20225</cdr:x>
      <cdr:y>0.60325</cdr:y>
    </cdr:from>
    <cdr:to>
      <cdr:x>0.25075</cdr:x>
      <cdr:y>0.69903</cdr:y>
    </cdr:to>
    <cdr:sp macro="" textlink="">
      <cdr:nvSpPr>
        <cdr:cNvPr id="18466" name="Text Box 34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30347" y="2237092"/>
          <a:ext cx="295040" cy="355196"/>
        </a:xfrm>
        <a:prstGeom xmlns:a="http://schemas.openxmlformats.org/drawingml/2006/main" prst="rect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FFFFFF" mc:Ignorable="a14" a14:legacySpreadsheetColorIndex="65"/>
        </a:solidFill>
        <a:ln xmlns:a="http://schemas.openxmlformats.org/drawingml/2006/main">
          <a:noFill/>
        </a:ln>
        <a:extLst xmlns:a="http://schemas.openxmlformats.org/drawingml/2006/main"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vertOverflow="clip" wrap="square" lIns="0" tIns="0" rIns="0" bIns="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 dirty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 dirty="0">
              <a:solidFill>
                <a:srgbClr val="000000"/>
              </a:solidFill>
              <a:latin typeface="Times New Roman"/>
              <a:cs typeface="Times New Roman"/>
            </a:rPr>
            <a:t>1</a:t>
          </a:r>
        </a:p>
      </cdr:txBody>
    </cdr:sp>
  </cdr:relSizeAnchor>
  <cdr:relSizeAnchor xmlns:cdr="http://schemas.openxmlformats.org/drawingml/2006/chartDrawing">
    <cdr:from>
      <cdr:x>0.2927</cdr:x>
      <cdr:y>0.1666</cdr:y>
    </cdr:from>
    <cdr:to>
      <cdr:x>0.57395</cdr:x>
      <cdr:y>0.39728</cdr:y>
    </cdr:to>
    <cdr:sp macro="" textlink="">
      <cdr:nvSpPr>
        <cdr:cNvPr id="18472" name="Line 4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2697892" y="936104"/>
          <a:ext cx="2592288" cy="1296144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0.403</cdr:x>
      <cdr:y>0.6025</cdr:y>
    </cdr:from>
    <cdr:to>
      <cdr:x>0.4515</cdr:x>
      <cdr:y>0.69903</cdr:y>
    </cdr:to>
    <cdr:sp macro="" textlink="">
      <cdr:nvSpPr>
        <cdr:cNvPr id="18474" name="Text Box 4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451570" y="2234310"/>
          <a:ext cx="295040" cy="357977"/>
        </a:xfrm>
        <a:prstGeom xmlns:a="http://schemas.openxmlformats.org/drawingml/2006/main" prst="rect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FFFFFF" mc:Ignorable="a14" a14:legacySpreadsheetColorIndex="65"/>
        </a:solidFill>
        <a:ln xmlns:a="http://schemas.openxmlformats.org/drawingml/2006/main">
          <a:noFill/>
        </a:ln>
        <a:extLst xmlns:a="http://schemas.openxmlformats.org/drawingml/2006/main"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vertOverflow="clip" wrap="square" lIns="0" tIns="0" rIns="0" bIns="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 dirty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 dirty="0">
              <a:solidFill>
                <a:srgbClr val="000000"/>
              </a:solidFill>
              <a:latin typeface="Times New Roman"/>
              <a:cs typeface="Times New Roman"/>
            </a:rPr>
            <a:t>2</a:t>
          </a:r>
        </a:p>
      </cdr:txBody>
    </cdr:sp>
  </cdr:relSizeAnchor>
  <cdr:relSizeAnchor xmlns:cdr="http://schemas.openxmlformats.org/drawingml/2006/chartDrawing">
    <cdr:from>
      <cdr:x>0.42318</cdr:x>
      <cdr:y>0.2749</cdr:y>
    </cdr:from>
    <cdr:to>
      <cdr:x>0.43493</cdr:x>
      <cdr:y>0.2934</cdr:y>
    </cdr:to>
    <cdr:sp macro="" textlink="">
      <cdr:nvSpPr>
        <cdr:cNvPr id="18476" name="Oval 44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3900513" y="1544603"/>
          <a:ext cx="108302" cy="103948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0.42762</cdr:x>
      <cdr:y>0.28553</cdr:y>
    </cdr:from>
    <cdr:to>
      <cdr:x>0.57269</cdr:x>
      <cdr:y>0.28592</cdr:y>
    </cdr:to>
    <cdr:sp macro="" textlink="">
      <cdr:nvSpPr>
        <cdr:cNvPr id="25" name="Line 4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 flipV="1">
          <a:off x="3941392" y="1604332"/>
          <a:ext cx="1337161" cy="2206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0.479</cdr:x>
      <cdr:y>0.21359</cdr:y>
    </cdr:from>
    <cdr:to>
      <cdr:x>0.61181</cdr:x>
      <cdr:y>0.27767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913916" y="792088"/>
          <a:ext cx="807930" cy="23762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200" i="1" dirty="0">
              <a:latin typeface="Symbol" panose="05050102010706020507" pitchFamily="18" charset="2"/>
            </a:rPr>
            <a:t>a</a:t>
          </a:r>
          <a:r>
            <a:rPr lang="en-US" sz="1200" dirty="0"/>
            <a:t> – </a:t>
          </a:r>
          <a:r>
            <a:rPr lang="ru-RU" sz="1200" dirty="0"/>
            <a:t>острый</a:t>
          </a:r>
        </a:p>
      </cdr:txBody>
    </cdr:sp>
  </cdr:relSizeAnchor>
  <cdr:relSizeAnchor xmlns:cdr="http://schemas.openxmlformats.org/drawingml/2006/chartDrawing">
    <cdr:from>
      <cdr:x>0.37247</cdr:x>
      <cdr:y>0.34952</cdr:y>
    </cdr:from>
    <cdr:to>
      <cdr:x>0.50528</cdr:x>
      <cdr:y>0.41359</cdr:y>
    </cdr:to>
    <cdr:sp macro="" textlink="">
      <cdr:nvSpPr>
        <cdr:cNvPr id="28" name="TextBox 1"/>
        <cdr:cNvSpPr txBox="1"/>
      </cdr:nvSpPr>
      <cdr:spPr>
        <a:xfrm xmlns:a="http://schemas.openxmlformats.org/drawingml/2006/main">
          <a:off x="2265844" y="1296144"/>
          <a:ext cx="807930" cy="237626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alpha val="80000"/>
          </a:schemeClr>
        </a:solidFill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i="1" dirty="0">
              <a:latin typeface="Symbol" panose="05050102010706020507" pitchFamily="18" charset="2"/>
            </a:rPr>
            <a:t>a</a:t>
          </a:r>
          <a:r>
            <a:rPr lang="en-US" sz="1200" dirty="0"/>
            <a:t> – </a:t>
          </a:r>
          <a:r>
            <a:rPr lang="ru-RU" sz="1200" dirty="0"/>
            <a:t>тупой</a:t>
          </a:r>
        </a:p>
      </cdr:txBody>
    </cdr:sp>
  </cdr:relSizeAnchor>
  <cdr:relSizeAnchor xmlns:cdr="http://schemas.openxmlformats.org/drawingml/2006/chartDrawing">
    <cdr:from>
      <cdr:x>0.36967</cdr:x>
      <cdr:y>0.42652</cdr:y>
    </cdr:from>
    <cdr:to>
      <cdr:x>0.51475</cdr:x>
      <cdr:y>0.42691</cdr:y>
    </cdr:to>
    <cdr:sp macro="" textlink="">
      <cdr:nvSpPr>
        <cdr:cNvPr id="27" name="Line 4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 flipV="1">
          <a:off x="3407306" y="2396537"/>
          <a:ext cx="1337161" cy="2206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0.08266</cdr:x>
      <cdr:y>0.19115</cdr:y>
    </cdr:from>
    <cdr:to>
      <cdr:x>0.37953</cdr:x>
      <cdr:y>0.43464</cdr:y>
    </cdr:to>
    <cdr:sp macro="" textlink="">
      <cdr:nvSpPr>
        <cdr:cNvPr id="18436" name="Line 4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>
          <a:off x="761914" y="1074014"/>
          <a:ext cx="2736304" cy="1368152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0.0505</cdr:x>
      <cdr:y>0.071</cdr:y>
    </cdr:from>
    <cdr:to>
      <cdr:x>0.592</cdr:x>
      <cdr:y>0.91925</cdr:y>
    </cdr:to>
    <cdr:sp macro="" textlink="">
      <cdr:nvSpPr>
        <cdr:cNvPr id="26625" name="Freeform 1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465139" y="399002"/>
          <a:ext cx="4987581" cy="4766953"/>
        </a:xfrm>
        <a:custGeom xmlns:a="http://schemas.openxmlformats.org/drawingml/2006/main">
          <a:avLst/>
          <a:gdLst>
            <a:gd name="T0" fmla="*/ 1219200 w 4962525"/>
            <a:gd name="T1" fmla="*/ 157798 h 4796473"/>
            <a:gd name="T2" fmla="*/ 310200 w 4962525"/>
            <a:gd name="T3" fmla="*/ 1104135 h 4796473"/>
            <a:gd name="T4" fmla="*/ 217075 w 4962525"/>
            <a:gd name="T5" fmla="*/ 2959465 h 4796473"/>
            <a:gd name="T6" fmla="*/ 1612656 w 4962525"/>
            <a:gd name="T7" fmla="*/ 4386817 h 4796473"/>
            <a:gd name="T8" fmla="*/ 4337819 w 4962525"/>
            <a:gd name="T9" fmla="*/ 4585086 h 4796473"/>
            <a:gd name="T10" fmla="*/ 4710315 w 4962525"/>
            <a:gd name="T11" fmla="*/ 3118495 h 4796473"/>
            <a:gd name="T12" fmla="*/ 2824551 w 4962525"/>
            <a:gd name="T13" fmla="*/ 2358693 h 4796473"/>
            <a:gd name="T14" fmla="*/ 2824551 w 4962525"/>
            <a:gd name="T15" fmla="*/ 803750 h 4796473"/>
            <a:gd name="T16" fmla="*/ 2352675 w 4962525"/>
            <a:gd name="T17" fmla="*/ 157344 h 4796473"/>
            <a:gd name="T18" fmla="*/ 1219200 w 4962525"/>
            <a:gd name="T19" fmla="*/ 157798 h 4796473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4962525" h="4796473">
              <a:moveTo>
                <a:pt x="1219200" y="157798"/>
              </a:moveTo>
              <a:cubicBezTo>
                <a:pt x="878788" y="315596"/>
                <a:pt x="477221" y="637190"/>
                <a:pt x="310200" y="1104135"/>
              </a:cubicBezTo>
              <a:cubicBezTo>
                <a:pt x="143179" y="1571080"/>
                <a:pt x="0" y="2412352"/>
                <a:pt x="217075" y="2959465"/>
              </a:cubicBezTo>
              <a:cubicBezTo>
                <a:pt x="434150" y="3506579"/>
                <a:pt x="925864" y="4115880"/>
                <a:pt x="1612656" y="4386817"/>
              </a:cubicBezTo>
              <a:cubicBezTo>
                <a:pt x="2299447" y="4657753"/>
                <a:pt x="3821542" y="4796473"/>
                <a:pt x="4337819" y="4585086"/>
              </a:cubicBezTo>
              <a:cubicBezTo>
                <a:pt x="4854096" y="4373701"/>
                <a:pt x="4962525" y="3489560"/>
                <a:pt x="4710315" y="3118495"/>
              </a:cubicBezTo>
              <a:cubicBezTo>
                <a:pt x="4458105" y="2747427"/>
                <a:pt x="3138847" y="2744483"/>
                <a:pt x="2824551" y="2358693"/>
              </a:cubicBezTo>
              <a:cubicBezTo>
                <a:pt x="2510255" y="1972899"/>
                <a:pt x="2903197" y="1170640"/>
                <a:pt x="2824551" y="803750"/>
              </a:cubicBezTo>
              <a:cubicBezTo>
                <a:pt x="2745905" y="436859"/>
                <a:pt x="2620233" y="265003"/>
                <a:pt x="2352675" y="157344"/>
              </a:cubicBezTo>
              <a:cubicBezTo>
                <a:pt x="2085117" y="49685"/>
                <a:pt x="1559612" y="0"/>
                <a:pt x="1219200" y="157798"/>
              </a:cubicBezTo>
              <a:close/>
            </a:path>
          </a:pathLst>
        </a:custGeom>
        <a:solidFill xmlns:a="http://schemas.openxmlformats.org/drawingml/2006/main">
          <a:srgbClr val="B4B4B4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0.10925</cdr:x>
      <cdr:y>0.16975</cdr:y>
    </cdr:from>
    <cdr:to>
      <cdr:x>0.52825</cdr:x>
      <cdr:y>0.8265</cdr:y>
    </cdr:to>
    <cdr:sp macro="" textlink="">
      <cdr:nvSpPr>
        <cdr:cNvPr id="26626" name="Freeform 2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006266" y="953953"/>
          <a:ext cx="3859273" cy="3690770"/>
        </a:xfrm>
        <a:custGeom xmlns:a="http://schemas.openxmlformats.org/drawingml/2006/main">
          <a:avLst/>
          <a:gdLst>
            <a:gd name="T0" fmla="*/ 809625 w 3848100"/>
            <a:gd name="T1" fmla="*/ 213578 h 3714400"/>
            <a:gd name="T2" fmla="*/ 211492 w 3848100"/>
            <a:gd name="T3" fmla="*/ 1018216 h 3714400"/>
            <a:gd name="T4" fmla="*/ 148000 w 3848100"/>
            <a:gd name="T5" fmla="*/ 2311704 h 3714400"/>
            <a:gd name="T6" fmla="*/ 1099497 w 3848100"/>
            <a:gd name="T7" fmla="*/ 3306813 h 3714400"/>
            <a:gd name="T8" fmla="*/ 3288106 w 3848100"/>
            <a:gd name="T9" fmla="*/ 3621029 h 3714400"/>
            <a:gd name="T10" fmla="*/ 3621042 w 3848100"/>
            <a:gd name="T11" fmla="*/ 2746582 h 3714400"/>
            <a:gd name="T12" fmla="*/ 1925758 w 3848100"/>
            <a:gd name="T13" fmla="*/ 1892861 h 3714400"/>
            <a:gd name="T14" fmla="*/ 1609725 w 3848100"/>
            <a:gd name="T15" fmla="*/ 1135226 h 3714400"/>
            <a:gd name="T16" fmla="*/ 1771650 w 3848100"/>
            <a:gd name="T17" fmla="*/ 561625 h 3714400"/>
            <a:gd name="T18" fmla="*/ 1704975 w 3848100"/>
            <a:gd name="T19" fmla="*/ 58008 h 3714400"/>
            <a:gd name="T20" fmla="*/ 809625 w 3848100"/>
            <a:gd name="T21" fmla="*/ 213578 h 3714400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3848100" h="3714400">
              <a:moveTo>
                <a:pt x="809625" y="213578"/>
              </a:moveTo>
              <a:cubicBezTo>
                <a:pt x="560711" y="373613"/>
                <a:pt x="321763" y="668528"/>
                <a:pt x="211492" y="1018216"/>
              </a:cubicBezTo>
              <a:cubicBezTo>
                <a:pt x="101221" y="1367903"/>
                <a:pt x="0" y="1930271"/>
                <a:pt x="148000" y="2311704"/>
              </a:cubicBezTo>
              <a:cubicBezTo>
                <a:pt x="296000" y="2693136"/>
                <a:pt x="576147" y="3088593"/>
                <a:pt x="1099497" y="3306813"/>
              </a:cubicBezTo>
              <a:cubicBezTo>
                <a:pt x="1622848" y="3525035"/>
                <a:pt x="2867848" y="3714400"/>
                <a:pt x="3288106" y="3621029"/>
              </a:cubicBezTo>
              <a:cubicBezTo>
                <a:pt x="3708364" y="3527657"/>
                <a:pt x="3848100" y="3034611"/>
                <a:pt x="3621042" y="2746582"/>
              </a:cubicBezTo>
              <a:cubicBezTo>
                <a:pt x="3393985" y="2458554"/>
                <a:pt x="2260977" y="2161420"/>
                <a:pt x="1925758" y="1892861"/>
              </a:cubicBezTo>
              <a:cubicBezTo>
                <a:pt x="1590539" y="1624302"/>
                <a:pt x="1635410" y="1357099"/>
                <a:pt x="1609725" y="1135226"/>
              </a:cubicBezTo>
              <a:cubicBezTo>
                <a:pt x="1584040" y="913353"/>
                <a:pt x="1755775" y="741161"/>
                <a:pt x="1771650" y="561625"/>
              </a:cubicBezTo>
              <a:cubicBezTo>
                <a:pt x="1787525" y="382089"/>
                <a:pt x="1865312" y="116016"/>
                <a:pt x="1704975" y="58008"/>
              </a:cubicBezTo>
              <a:cubicBezTo>
                <a:pt x="1544638" y="0"/>
                <a:pt x="1058539" y="53543"/>
                <a:pt x="809625" y="213578"/>
              </a:cubicBezTo>
              <a:close/>
            </a:path>
          </a:pathLst>
        </a:custGeom>
        <a:solidFill xmlns:a="http://schemas.openxmlformats.org/drawingml/2006/main">
          <a:srgbClr val="BEBEBE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0.165</cdr:x>
      <cdr:y>0.2555</cdr:y>
    </cdr:from>
    <cdr:to>
      <cdr:x>0.451</cdr:x>
      <cdr:y>0.7385</cdr:y>
    </cdr:to>
    <cdr:sp macro="" textlink="">
      <cdr:nvSpPr>
        <cdr:cNvPr id="26627" name="Freeform 3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519761" y="1435846"/>
          <a:ext cx="2634253" cy="2714339"/>
        </a:xfrm>
        <a:custGeom xmlns:a="http://schemas.openxmlformats.org/drawingml/2006/main">
          <a:avLst/>
          <a:gdLst>
            <a:gd name="T0" fmla="*/ 308047 w 2619989"/>
            <a:gd name="T1" fmla="*/ 273282 h 2733125"/>
            <a:gd name="T2" fmla="*/ 16883 w 2619989"/>
            <a:gd name="T3" fmla="*/ 789242 h 2733125"/>
            <a:gd name="T4" fmla="*/ 206751 w 2619989"/>
            <a:gd name="T5" fmla="*/ 1847308 h 2733125"/>
            <a:gd name="T6" fmla="*/ 866594 w 2619989"/>
            <a:gd name="T7" fmla="*/ 2568453 h 2733125"/>
            <a:gd name="T8" fmla="*/ 1847850 w 2619989"/>
            <a:gd name="T9" fmla="*/ 2705100 h 2733125"/>
            <a:gd name="T10" fmla="*/ 2516842 w 2619989"/>
            <a:gd name="T11" fmla="*/ 2400300 h 2733125"/>
            <a:gd name="T12" fmla="*/ 1228965 w 2619989"/>
            <a:gd name="T13" fmla="*/ 1511930 h 2733125"/>
            <a:gd name="T14" fmla="*/ 813190 w 2619989"/>
            <a:gd name="T15" fmla="*/ 834666 h 2733125"/>
            <a:gd name="T16" fmla="*/ 870217 w 2619989"/>
            <a:gd name="T17" fmla="*/ 93564 h 2733125"/>
            <a:gd name="T18" fmla="*/ 308047 w 2619989"/>
            <a:gd name="T19" fmla="*/ 273282 h 273312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2619989" h="2733125">
              <a:moveTo>
                <a:pt x="308047" y="273282"/>
              </a:moveTo>
              <a:cubicBezTo>
                <a:pt x="165826" y="389227"/>
                <a:pt x="33766" y="526905"/>
                <a:pt x="16883" y="789242"/>
              </a:cubicBezTo>
              <a:cubicBezTo>
                <a:pt x="0" y="1051579"/>
                <a:pt x="65133" y="1550772"/>
                <a:pt x="206751" y="1847308"/>
              </a:cubicBezTo>
              <a:cubicBezTo>
                <a:pt x="348369" y="2143842"/>
                <a:pt x="593077" y="2425488"/>
                <a:pt x="866594" y="2568453"/>
              </a:cubicBezTo>
              <a:cubicBezTo>
                <a:pt x="1140111" y="2711418"/>
                <a:pt x="1572809" y="2733125"/>
                <a:pt x="1847850" y="2705100"/>
              </a:cubicBezTo>
              <a:cubicBezTo>
                <a:pt x="2122891" y="2677075"/>
                <a:pt x="2619989" y="2599162"/>
                <a:pt x="2516842" y="2400300"/>
              </a:cubicBezTo>
              <a:cubicBezTo>
                <a:pt x="2413695" y="2201438"/>
                <a:pt x="1512907" y="1772869"/>
                <a:pt x="1228965" y="1511930"/>
              </a:cubicBezTo>
              <a:cubicBezTo>
                <a:pt x="945023" y="1250991"/>
                <a:pt x="872982" y="1071059"/>
                <a:pt x="813190" y="834666"/>
              </a:cubicBezTo>
              <a:cubicBezTo>
                <a:pt x="753399" y="598271"/>
                <a:pt x="954407" y="187128"/>
                <a:pt x="870217" y="93564"/>
              </a:cubicBezTo>
              <a:cubicBezTo>
                <a:pt x="786027" y="0"/>
                <a:pt x="450271" y="157335"/>
                <a:pt x="308047" y="273282"/>
              </a:cubicBezTo>
              <a:close/>
            </a:path>
          </a:pathLst>
        </a:custGeom>
        <a:solidFill xmlns:a="http://schemas.openxmlformats.org/drawingml/2006/main">
          <a:srgbClr val="C8C8C8"/>
        </a:solidFill>
        <a:ln xmlns:a="http://schemas.openxmlformats.org/drawingml/2006/main" w="19050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0.19625</cdr:x>
      <cdr:y>0.35025</cdr:y>
    </cdr:from>
    <cdr:to>
      <cdr:x>0.355</cdr:x>
      <cdr:y>0.67875</cdr:y>
    </cdr:to>
    <cdr:sp macro="" textlink="">
      <cdr:nvSpPr>
        <cdr:cNvPr id="26628" name="Freeform 4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807595" y="1968317"/>
          <a:ext cx="1462195" cy="1846088"/>
        </a:xfrm>
        <a:custGeom xmlns:a="http://schemas.openxmlformats.org/drawingml/2006/main">
          <a:avLst/>
          <a:gdLst>
            <a:gd name="T0" fmla="*/ 79250 w 1460021"/>
            <a:gd name="T1" fmla="*/ 91378 h 1857375"/>
            <a:gd name="T2" fmla="*/ 15095 w 1460021"/>
            <a:gd name="T3" fmla="*/ 435173 h 1857375"/>
            <a:gd name="T4" fmla="*/ 59846 w 1460021"/>
            <a:gd name="T5" fmla="*/ 923925 h 1857375"/>
            <a:gd name="T6" fmla="*/ 374171 w 1460021"/>
            <a:gd name="T7" fmla="*/ 1485900 h 1857375"/>
            <a:gd name="T8" fmla="*/ 929076 w 1460021"/>
            <a:gd name="T9" fmla="*/ 1735269 h 1857375"/>
            <a:gd name="T10" fmla="*/ 1445988 w 1460021"/>
            <a:gd name="T11" fmla="*/ 1763711 h 1857375"/>
            <a:gd name="T12" fmla="*/ 844880 w 1460021"/>
            <a:gd name="T13" fmla="*/ 1173286 h 1857375"/>
            <a:gd name="T14" fmla="*/ 403098 w 1460021"/>
            <a:gd name="T15" fmla="*/ 723259 h 1857375"/>
            <a:gd name="T16" fmla="*/ 336091 w 1460021"/>
            <a:gd name="T17" fmla="*/ 351712 h 1857375"/>
            <a:gd name="T18" fmla="*/ 243147 w 1460021"/>
            <a:gd name="T19" fmla="*/ 43389 h 1857375"/>
            <a:gd name="T20" fmla="*/ 79250 w 1460021"/>
            <a:gd name="T21" fmla="*/ 91378 h 185737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1460021" h="1857375">
              <a:moveTo>
                <a:pt x="79250" y="91378"/>
              </a:moveTo>
              <a:cubicBezTo>
                <a:pt x="41240" y="156676"/>
                <a:pt x="18329" y="296415"/>
                <a:pt x="15095" y="435173"/>
              </a:cubicBezTo>
              <a:cubicBezTo>
                <a:pt x="11861" y="573931"/>
                <a:pt x="0" y="748804"/>
                <a:pt x="59846" y="923925"/>
              </a:cubicBezTo>
              <a:cubicBezTo>
                <a:pt x="119692" y="1099046"/>
                <a:pt x="229299" y="1350676"/>
                <a:pt x="374171" y="1485900"/>
              </a:cubicBezTo>
              <a:cubicBezTo>
                <a:pt x="519043" y="1621124"/>
                <a:pt x="750440" y="1688967"/>
                <a:pt x="929076" y="1735269"/>
              </a:cubicBezTo>
              <a:cubicBezTo>
                <a:pt x="1107712" y="1781571"/>
                <a:pt x="1460021" y="1857375"/>
                <a:pt x="1445988" y="1763711"/>
              </a:cubicBezTo>
              <a:cubicBezTo>
                <a:pt x="1431955" y="1670047"/>
                <a:pt x="1018695" y="1346695"/>
                <a:pt x="844880" y="1173286"/>
              </a:cubicBezTo>
              <a:cubicBezTo>
                <a:pt x="671064" y="999877"/>
                <a:pt x="487897" y="860190"/>
                <a:pt x="403098" y="723259"/>
              </a:cubicBezTo>
              <a:cubicBezTo>
                <a:pt x="318300" y="586331"/>
                <a:pt x="362750" y="465024"/>
                <a:pt x="336091" y="351712"/>
              </a:cubicBezTo>
              <a:cubicBezTo>
                <a:pt x="309432" y="238401"/>
                <a:pt x="285954" y="86779"/>
                <a:pt x="243147" y="43389"/>
              </a:cubicBezTo>
              <a:cubicBezTo>
                <a:pt x="200341" y="0"/>
                <a:pt x="117258" y="26080"/>
                <a:pt x="79250" y="91378"/>
              </a:cubicBezTo>
              <a:close/>
            </a:path>
          </a:pathLst>
        </a:custGeom>
        <a:solidFill xmlns:a="http://schemas.openxmlformats.org/drawingml/2006/main">
          <a:srgbClr val="D2D2D2"/>
        </a:solidFill>
        <a:ln xmlns:a="http://schemas.openxmlformats.org/drawingml/2006/main" w="1587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0.4205</cdr:x>
      <cdr:y>0.09425</cdr:y>
    </cdr:from>
    <cdr:to>
      <cdr:x>0.43325</cdr:x>
      <cdr:y>0.1145</cdr:y>
    </cdr:to>
    <cdr:sp macro="" textlink="">
      <cdr:nvSpPr>
        <cdr:cNvPr id="26629" name="Oval 5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3873089" y="529661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0.073</cdr:x>
      <cdr:y>0.01675</cdr:y>
    </cdr:from>
    <cdr:to>
      <cdr:x>0.2075</cdr:x>
      <cdr:y>0.08275</cdr:y>
    </cdr:to>
    <cdr:sp macro="" textlink="">
      <cdr:nvSpPr>
        <cdr:cNvPr id="26630" name="Text Box 6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72379" y="94131"/>
          <a:ext cx="1238836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y=R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(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0.007</cdr:x>
      <cdr:y>0</cdr:y>
    </cdr:from>
    <cdr:to>
      <cdr:x>0.04125</cdr:x>
      <cdr:y>0.066</cdr:y>
    </cdr:to>
    <cdr:sp macro="" textlink="">
      <cdr:nvSpPr>
        <cdr:cNvPr id="26631" name="Text Box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4475" y="0"/>
          <a:ext cx="315465" cy="37090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</a:p>
      </cdr:txBody>
    </cdr:sp>
  </cdr:relSizeAnchor>
  <cdr:relSizeAnchor xmlns:cdr="http://schemas.openxmlformats.org/drawingml/2006/chartDrawing">
    <cdr:from>
      <cdr:x>0.018</cdr:x>
      <cdr:y>0.94075</cdr:y>
    </cdr:from>
    <cdr:to>
      <cdr:x>0.04075</cdr:x>
      <cdr:y>1</cdr:y>
    </cdr:to>
    <cdr:sp macro="" textlink="">
      <cdr:nvSpPr>
        <cdr:cNvPr id="26632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65792" y="5296614"/>
          <a:ext cx="209543" cy="33297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0</a:t>
          </a:r>
        </a:p>
      </cdr:txBody>
    </cdr:sp>
  </cdr:relSizeAnchor>
  <cdr:relSizeAnchor xmlns:cdr="http://schemas.openxmlformats.org/drawingml/2006/chartDrawing">
    <cdr:from>
      <cdr:x>0.017</cdr:x>
      <cdr:y>0.9395</cdr:y>
    </cdr:from>
    <cdr:to>
      <cdr:x>0.69675</cdr:x>
      <cdr:y>0.9395</cdr:y>
    </cdr:to>
    <cdr:sp macro="" textlink="">
      <cdr:nvSpPr>
        <cdr:cNvPr id="26633" name="Line 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56581" y="5279755"/>
          <a:ext cx="6260957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0.019</cdr:x>
      <cdr:y>0.06525</cdr:y>
    </cdr:from>
    <cdr:to>
      <cdr:x>0.019</cdr:x>
      <cdr:y>0.9925</cdr:y>
    </cdr:to>
    <cdr:sp macro="" textlink="">
      <cdr:nvSpPr>
        <cdr:cNvPr id="26634" name="Line 1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75003" y="366689"/>
          <a:ext cx="0" cy="5210913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0.6645</cdr:x>
      <cdr:y>0.93375</cdr:y>
    </cdr:from>
    <cdr:to>
      <cdr:x>0.69875</cdr:x>
      <cdr:y>0.99975</cdr:y>
    </cdr:to>
    <cdr:sp macro="" textlink="">
      <cdr:nvSpPr>
        <cdr:cNvPr id="26635" name="Text Box 1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120494" y="5247442"/>
          <a:ext cx="315465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</a:p>
      </cdr:txBody>
    </cdr:sp>
  </cdr:relSizeAnchor>
  <cdr:relSizeAnchor xmlns:cdr="http://schemas.openxmlformats.org/drawingml/2006/chartDrawing">
    <cdr:from>
      <cdr:x>0.24225</cdr:x>
      <cdr:y>0.55325</cdr:y>
    </cdr:from>
    <cdr:to>
      <cdr:x>0.254</cdr:x>
      <cdr:y>0.5735</cdr:y>
    </cdr:to>
    <cdr:sp macro="" textlink="">
      <cdr:nvSpPr>
        <cdr:cNvPr id="26636" name="Oval 12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2231286" y="3109127"/>
          <a:ext cx="108225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FFFFFF" mc:Ignorable="a14" a14:legacySpreadsheetColorIndex="65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0.43025</cdr:x>
      <cdr:y>0.08275</cdr:y>
    </cdr:from>
    <cdr:to>
      <cdr:x>0.603</cdr:x>
      <cdr:y>0.15575</cdr:y>
    </cdr:to>
    <cdr:sp macro="" textlink="">
      <cdr:nvSpPr>
        <cdr:cNvPr id="26653" name="Text Box 2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962893" y="465034"/>
          <a:ext cx="1591144" cy="4102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=(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0.209</cdr:x>
      <cdr:y>0.10775</cdr:y>
    </cdr:from>
    <cdr:to>
      <cdr:x>0.4235</cdr:x>
      <cdr:y>0.56175</cdr:y>
    </cdr:to>
    <cdr:grpSp>
      <cdr:nvGrpSpPr>
        <cdr:cNvPr id="26667" name="Group 43">
          <a:extLst xmlns:a="http://schemas.openxmlformats.org/drawingml/2006/main">
            <a:ext uri="{FF2B5EF4-FFF2-40B4-BE49-F238E27FC236}">
              <a16:creationId xmlns:a16="http://schemas.microsoft.com/office/drawing/2014/main" id="{9700C838-0602-4C54-8F58-857E286F8A64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1925031" y="605528"/>
          <a:ext cx="1975690" cy="2551367"/>
          <a:chOff x="1917368" y="609633"/>
          <a:chExt cx="1965474" cy="2570079"/>
        </a:xfrm>
      </cdr:grpSpPr>
      <cdr:sp macro="" textlink="">
        <cdr:nvSpPr>
          <cdr:cNvPr id="26658" name="Line 34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14030" y="609633"/>
            <a:ext cx="368812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59" name="Line 35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47508" y="779369"/>
            <a:ext cx="366522" cy="175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0" name="Line 36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2769532" y="954762"/>
            <a:ext cx="377976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1" name="Line 37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20700000" flipH="1">
            <a:off x="2437371" y="1172589"/>
            <a:ext cx="377976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2" name="Line 38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20100000" flipH="1">
            <a:off x="2151026" y="1446995"/>
            <a:ext cx="377976" cy="1739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3" name="Line 39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9500000" flipH="1">
            <a:off x="1926531" y="1779394"/>
            <a:ext cx="368813" cy="175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4" name="Line 40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8000000" flipH="1">
            <a:off x="1815148" y="2161677"/>
            <a:ext cx="376247" cy="171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5" name="Line 41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7100000" flipH="1">
            <a:off x="1832698" y="2555674"/>
            <a:ext cx="366346" cy="160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6" name="Line 42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5600000" flipH="1">
            <a:off x="1965024" y="2918115"/>
            <a:ext cx="372004" cy="151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</cdr:grp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0.0505</cdr:x>
      <cdr:y>0.071</cdr:y>
    </cdr:from>
    <cdr:to>
      <cdr:x>0.592</cdr:x>
      <cdr:y>0.91925</cdr:y>
    </cdr:to>
    <cdr:sp macro="" textlink="">
      <cdr:nvSpPr>
        <cdr:cNvPr id="26625" name="Freeform 1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465139" y="399002"/>
          <a:ext cx="4987581" cy="4766953"/>
        </a:xfrm>
        <a:custGeom xmlns:a="http://schemas.openxmlformats.org/drawingml/2006/main">
          <a:avLst/>
          <a:gdLst>
            <a:gd name="T0" fmla="*/ 1219200 w 4962525"/>
            <a:gd name="T1" fmla="*/ 157798 h 4796473"/>
            <a:gd name="T2" fmla="*/ 310200 w 4962525"/>
            <a:gd name="T3" fmla="*/ 1104135 h 4796473"/>
            <a:gd name="T4" fmla="*/ 217075 w 4962525"/>
            <a:gd name="T5" fmla="*/ 2959465 h 4796473"/>
            <a:gd name="T6" fmla="*/ 1612656 w 4962525"/>
            <a:gd name="T7" fmla="*/ 4386817 h 4796473"/>
            <a:gd name="T8" fmla="*/ 4337819 w 4962525"/>
            <a:gd name="T9" fmla="*/ 4585086 h 4796473"/>
            <a:gd name="T10" fmla="*/ 4710315 w 4962525"/>
            <a:gd name="T11" fmla="*/ 3118495 h 4796473"/>
            <a:gd name="T12" fmla="*/ 2824551 w 4962525"/>
            <a:gd name="T13" fmla="*/ 2358693 h 4796473"/>
            <a:gd name="T14" fmla="*/ 2824551 w 4962525"/>
            <a:gd name="T15" fmla="*/ 803750 h 4796473"/>
            <a:gd name="T16" fmla="*/ 2352675 w 4962525"/>
            <a:gd name="T17" fmla="*/ 157344 h 4796473"/>
            <a:gd name="T18" fmla="*/ 1219200 w 4962525"/>
            <a:gd name="T19" fmla="*/ 157798 h 4796473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4962525" h="4796473">
              <a:moveTo>
                <a:pt x="1219200" y="157798"/>
              </a:moveTo>
              <a:cubicBezTo>
                <a:pt x="878788" y="315596"/>
                <a:pt x="477221" y="637190"/>
                <a:pt x="310200" y="1104135"/>
              </a:cubicBezTo>
              <a:cubicBezTo>
                <a:pt x="143179" y="1571080"/>
                <a:pt x="0" y="2412352"/>
                <a:pt x="217075" y="2959465"/>
              </a:cubicBezTo>
              <a:cubicBezTo>
                <a:pt x="434150" y="3506579"/>
                <a:pt x="925864" y="4115880"/>
                <a:pt x="1612656" y="4386817"/>
              </a:cubicBezTo>
              <a:cubicBezTo>
                <a:pt x="2299447" y="4657753"/>
                <a:pt x="3821542" y="4796473"/>
                <a:pt x="4337819" y="4585086"/>
              </a:cubicBezTo>
              <a:cubicBezTo>
                <a:pt x="4854096" y="4373701"/>
                <a:pt x="4962525" y="3489560"/>
                <a:pt x="4710315" y="3118495"/>
              </a:cubicBezTo>
              <a:cubicBezTo>
                <a:pt x="4458105" y="2747427"/>
                <a:pt x="3138847" y="2744483"/>
                <a:pt x="2824551" y="2358693"/>
              </a:cubicBezTo>
              <a:cubicBezTo>
                <a:pt x="2510255" y="1972899"/>
                <a:pt x="2903197" y="1170640"/>
                <a:pt x="2824551" y="803750"/>
              </a:cubicBezTo>
              <a:cubicBezTo>
                <a:pt x="2745905" y="436859"/>
                <a:pt x="2620233" y="265003"/>
                <a:pt x="2352675" y="157344"/>
              </a:cubicBezTo>
              <a:cubicBezTo>
                <a:pt x="2085117" y="49685"/>
                <a:pt x="1559612" y="0"/>
                <a:pt x="1219200" y="157798"/>
              </a:cubicBezTo>
              <a:close/>
            </a:path>
          </a:pathLst>
        </a:custGeom>
        <a:solidFill xmlns:a="http://schemas.openxmlformats.org/drawingml/2006/main">
          <a:srgbClr val="B4B4B4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0.10925</cdr:x>
      <cdr:y>0.16975</cdr:y>
    </cdr:from>
    <cdr:to>
      <cdr:x>0.52825</cdr:x>
      <cdr:y>0.8265</cdr:y>
    </cdr:to>
    <cdr:sp macro="" textlink="">
      <cdr:nvSpPr>
        <cdr:cNvPr id="26626" name="Freeform 2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006266" y="953953"/>
          <a:ext cx="3859273" cy="3690770"/>
        </a:xfrm>
        <a:custGeom xmlns:a="http://schemas.openxmlformats.org/drawingml/2006/main">
          <a:avLst/>
          <a:gdLst>
            <a:gd name="T0" fmla="*/ 809625 w 3848100"/>
            <a:gd name="T1" fmla="*/ 213578 h 3714400"/>
            <a:gd name="T2" fmla="*/ 211492 w 3848100"/>
            <a:gd name="T3" fmla="*/ 1018216 h 3714400"/>
            <a:gd name="T4" fmla="*/ 148000 w 3848100"/>
            <a:gd name="T5" fmla="*/ 2311704 h 3714400"/>
            <a:gd name="T6" fmla="*/ 1099497 w 3848100"/>
            <a:gd name="T7" fmla="*/ 3306813 h 3714400"/>
            <a:gd name="T8" fmla="*/ 3288106 w 3848100"/>
            <a:gd name="T9" fmla="*/ 3621029 h 3714400"/>
            <a:gd name="T10" fmla="*/ 3621042 w 3848100"/>
            <a:gd name="T11" fmla="*/ 2746582 h 3714400"/>
            <a:gd name="T12" fmla="*/ 1925758 w 3848100"/>
            <a:gd name="T13" fmla="*/ 1892861 h 3714400"/>
            <a:gd name="T14" fmla="*/ 1609725 w 3848100"/>
            <a:gd name="T15" fmla="*/ 1135226 h 3714400"/>
            <a:gd name="T16" fmla="*/ 1771650 w 3848100"/>
            <a:gd name="T17" fmla="*/ 561625 h 3714400"/>
            <a:gd name="T18" fmla="*/ 1704975 w 3848100"/>
            <a:gd name="T19" fmla="*/ 58008 h 3714400"/>
            <a:gd name="T20" fmla="*/ 809625 w 3848100"/>
            <a:gd name="T21" fmla="*/ 213578 h 3714400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3848100" h="3714400">
              <a:moveTo>
                <a:pt x="809625" y="213578"/>
              </a:moveTo>
              <a:cubicBezTo>
                <a:pt x="560711" y="373613"/>
                <a:pt x="321763" y="668528"/>
                <a:pt x="211492" y="1018216"/>
              </a:cubicBezTo>
              <a:cubicBezTo>
                <a:pt x="101221" y="1367903"/>
                <a:pt x="0" y="1930271"/>
                <a:pt x="148000" y="2311704"/>
              </a:cubicBezTo>
              <a:cubicBezTo>
                <a:pt x="296000" y="2693136"/>
                <a:pt x="576147" y="3088593"/>
                <a:pt x="1099497" y="3306813"/>
              </a:cubicBezTo>
              <a:cubicBezTo>
                <a:pt x="1622848" y="3525035"/>
                <a:pt x="2867848" y="3714400"/>
                <a:pt x="3288106" y="3621029"/>
              </a:cubicBezTo>
              <a:cubicBezTo>
                <a:pt x="3708364" y="3527657"/>
                <a:pt x="3848100" y="3034611"/>
                <a:pt x="3621042" y="2746582"/>
              </a:cubicBezTo>
              <a:cubicBezTo>
                <a:pt x="3393985" y="2458554"/>
                <a:pt x="2260977" y="2161420"/>
                <a:pt x="1925758" y="1892861"/>
              </a:cubicBezTo>
              <a:cubicBezTo>
                <a:pt x="1590539" y="1624302"/>
                <a:pt x="1635410" y="1357099"/>
                <a:pt x="1609725" y="1135226"/>
              </a:cubicBezTo>
              <a:cubicBezTo>
                <a:pt x="1584040" y="913353"/>
                <a:pt x="1755775" y="741161"/>
                <a:pt x="1771650" y="561625"/>
              </a:cubicBezTo>
              <a:cubicBezTo>
                <a:pt x="1787525" y="382089"/>
                <a:pt x="1865312" y="116016"/>
                <a:pt x="1704975" y="58008"/>
              </a:cubicBezTo>
              <a:cubicBezTo>
                <a:pt x="1544638" y="0"/>
                <a:pt x="1058539" y="53543"/>
                <a:pt x="809625" y="213578"/>
              </a:cubicBezTo>
              <a:close/>
            </a:path>
          </a:pathLst>
        </a:custGeom>
        <a:solidFill xmlns:a="http://schemas.openxmlformats.org/drawingml/2006/main">
          <a:srgbClr val="BEBEBE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0.165</cdr:x>
      <cdr:y>0.2555</cdr:y>
    </cdr:from>
    <cdr:to>
      <cdr:x>0.451</cdr:x>
      <cdr:y>0.7385</cdr:y>
    </cdr:to>
    <cdr:sp macro="" textlink="">
      <cdr:nvSpPr>
        <cdr:cNvPr id="26627" name="Freeform 3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519761" y="1435846"/>
          <a:ext cx="2634253" cy="2714339"/>
        </a:xfrm>
        <a:custGeom xmlns:a="http://schemas.openxmlformats.org/drawingml/2006/main">
          <a:avLst/>
          <a:gdLst>
            <a:gd name="T0" fmla="*/ 308047 w 2619989"/>
            <a:gd name="T1" fmla="*/ 273282 h 2733125"/>
            <a:gd name="T2" fmla="*/ 16883 w 2619989"/>
            <a:gd name="T3" fmla="*/ 789242 h 2733125"/>
            <a:gd name="T4" fmla="*/ 206751 w 2619989"/>
            <a:gd name="T5" fmla="*/ 1847308 h 2733125"/>
            <a:gd name="T6" fmla="*/ 866594 w 2619989"/>
            <a:gd name="T7" fmla="*/ 2568453 h 2733125"/>
            <a:gd name="T8" fmla="*/ 1847850 w 2619989"/>
            <a:gd name="T9" fmla="*/ 2705100 h 2733125"/>
            <a:gd name="T10" fmla="*/ 2516842 w 2619989"/>
            <a:gd name="T11" fmla="*/ 2400300 h 2733125"/>
            <a:gd name="T12" fmla="*/ 1228965 w 2619989"/>
            <a:gd name="T13" fmla="*/ 1511930 h 2733125"/>
            <a:gd name="T14" fmla="*/ 813190 w 2619989"/>
            <a:gd name="T15" fmla="*/ 834666 h 2733125"/>
            <a:gd name="T16" fmla="*/ 870217 w 2619989"/>
            <a:gd name="T17" fmla="*/ 93564 h 2733125"/>
            <a:gd name="T18" fmla="*/ 308047 w 2619989"/>
            <a:gd name="T19" fmla="*/ 273282 h 273312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2619989" h="2733125">
              <a:moveTo>
                <a:pt x="308047" y="273282"/>
              </a:moveTo>
              <a:cubicBezTo>
                <a:pt x="165826" y="389227"/>
                <a:pt x="33766" y="526905"/>
                <a:pt x="16883" y="789242"/>
              </a:cubicBezTo>
              <a:cubicBezTo>
                <a:pt x="0" y="1051579"/>
                <a:pt x="65133" y="1550772"/>
                <a:pt x="206751" y="1847308"/>
              </a:cubicBezTo>
              <a:cubicBezTo>
                <a:pt x="348369" y="2143842"/>
                <a:pt x="593077" y="2425488"/>
                <a:pt x="866594" y="2568453"/>
              </a:cubicBezTo>
              <a:cubicBezTo>
                <a:pt x="1140111" y="2711418"/>
                <a:pt x="1572809" y="2733125"/>
                <a:pt x="1847850" y="2705100"/>
              </a:cubicBezTo>
              <a:cubicBezTo>
                <a:pt x="2122891" y="2677075"/>
                <a:pt x="2619989" y="2599162"/>
                <a:pt x="2516842" y="2400300"/>
              </a:cubicBezTo>
              <a:cubicBezTo>
                <a:pt x="2413695" y="2201438"/>
                <a:pt x="1512907" y="1772869"/>
                <a:pt x="1228965" y="1511930"/>
              </a:cubicBezTo>
              <a:cubicBezTo>
                <a:pt x="945023" y="1250991"/>
                <a:pt x="872982" y="1071059"/>
                <a:pt x="813190" y="834666"/>
              </a:cubicBezTo>
              <a:cubicBezTo>
                <a:pt x="753399" y="598271"/>
                <a:pt x="954407" y="187128"/>
                <a:pt x="870217" y="93564"/>
              </a:cubicBezTo>
              <a:cubicBezTo>
                <a:pt x="786027" y="0"/>
                <a:pt x="450271" y="157335"/>
                <a:pt x="308047" y="273282"/>
              </a:cubicBezTo>
              <a:close/>
            </a:path>
          </a:pathLst>
        </a:custGeom>
        <a:solidFill xmlns:a="http://schemas.openxmlformats.org/drawingml/2006/main">
          <a:srgbClr val="C8C8C8"/>
        </a:solidFill>
        <a:ln xmlns:a="http://schemas.openxmlformats.org/drawingml/2006/main" w="19050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0.19625</cdr:x>
      <cdr:y>0.35025</cdr:y>
    </cdr:from>
    <cdr:to>
      <cdr:x>0.355</cdr:x>
      <cdr:y>0.67875</cdr:y>
    </cdr:to>
    <cdr:sp macro="" textlink="">
      <cdr:nvSpPr>
        <cdr:cNvPr id="26628" name="Freeform 4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807595" y="1968317"/>
          <a:ext cx="1462195" cy="1846088"/>
        </a:xfrm>
        <a:custGeom xmlns:a="http://schemas.openxmlformats.org/drawingml/2006/main">
          <a:avLst/>
          <a:gdLst>
            <a:gd name="T0" fmla="*/ 79250 w 1460021"/>
            <a:gd name="T1" fmla="*/ 91378 h 1857375"/>
            <a:gd name="T2" fmla="*/ 15095 w 1460021"/>
            <a:gd name="T3" fmla="*/ 435173 h 1857375"/>
            <a:gd name="T4" fmla="*/ 59846 w 1460021"/>
            <a:gd name="T5" fmla="*/ 923925 h 1857375"/>
            <a:gd name="T6" fmla="*/ 374171 w 1460021"/>
            <a:gd name="T7" fmla="*/ 1485900 h 1857375"/>
            <a:gd name="T8" fmla="*/ 929076 w 1460021"/>
            <a:gd name="T9" fmla="*/ 1735269 h 1857375"/>
            <a:gd name="T10" fmla="*/ 1445988 w 1460021"/>
            <a:gd name="T11" fmla="*/ 1763711 h 1857375"/>
            <a:gd name="T12" fmla="*/ 844880 w 1460021"/>
            <a:gd name="T13" fmla="*/ 1173286 h 1857375"/>
            <a:gd name="T14" fmla="*/ 403098 w 1460021"/>
            <a:gd name="T15" fmla="*/ 723259 h 1857375"/>
            <a:gd name="T16" fmla="*/ 336091 w 1460021"/>
            <a:gd name="T17" fmla="*/ 351712 h 1857375"/>
            <a:gd name="T18" fmla="*/ 243147 w 1460021"/>
            <a:gd name="T19" fmla="*/ 43389 h 1857375"/>
            <a:gd name="T20" fmla="*/ 79250 w 1460021"/>
            <a:gd name="T21" fmla="*/ 91378 h 185737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1460021" h="1857375">
              <a:moveTo>
                <a:pt x="79250" y="91378"/>
              </a:moveTo>
              <a:cubicBezTo>
                <a:pt x="41240" y="156676"/>
                <a:pt x="18329" y="296415"/>
                <a:pt x="15095" y="435173"/>
              </a:cubicBezTo>
              <a:cubicBezTo>
                <a:pt x="11861" y="573931"/>
                <a:pt x="0" y="748804"/>
                <a:pt x="59846" y="923925"/>
              </a:cubicBezTo>
              <a:cubicBezTo>
                <a:pt x="119692" y="1099046"/>
                <a:pt x="229299" y="1350676"/>
                <a:pt x="374171" y="1485900"/>
              </a:cubicBezTo>
              <a:cubicBezTo>
                <a:pt x="519043" y="1621124"/>
                <a:pt x="750440" y="1688967"/>
                <a:pt x="929076" y="1735269"/>
              </a:cubicBezTo>
              <a:cubicBezTo>
                <a:pt x="1107712" y="1781571"/>
                <a:pt x="1460021" y="1857375"/>
                <a:pt x="1445988" y="1763711"/>
              </a:cubicBezTo>
              <a:cubicBezTo>
                <a:pt x="1431955" y="1670047"/>
                <a:pt x="1018695" y="1346695"/>
                <a:pt x="844880" y="1173286"/>
              </a:cubicBezTo>
              <a:cubicBezTo>
                <a:pt x="671064" y="999877"/>
                <a:pt x="487897" y="860190"/>
                <a:pt x="403098" y="723259"/>
              </a:cubicBezTo>
              <a:cubicBezTo>
                <a:pt x="318300" y="586331"/>
                <a:pt x="362750" y="465024"/>
                <a:pt x="336091" y="351712"/>
              </a:cubicBezTo>
              <a:cubicBezTo>
                <a:pt x="309432" y="238401"/>
                <a:pt x="285954" y="86779"/>
                <a:pt x="243147" y="43389"/>
              </a:cubicBezTo>
              <a:cubicBezTo>
                <a:pt x="200341" y="0"/>
                <a:pt x="117258" y="26080"/>
                <a:pt x="79250" y="91378"/>
              </a:cubicBezTo>
              <a:close/>
            </a:path>
          </a:pathLst>
        </a:custGeom>
        <a:solidFill xmlns:a="http://schemas.openxmlformats.org/drawingml/2006/main">
          <a:srgbClr val="D2D2D2"/>
        </a:solidFill>
        <a:ln xmlns:a="http://schemas.openxmlformats.org/drawingml/2006/main" w="1587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0.4205</cdr:x>
      <cdr:y>0.09425</cdr:y>
    </cdr:from>
    <cdr:to>
      <cdr:x>0.43325</cdr:x>
      <cdr:y>0.1145</cdr:y>
    </cdr:to>
    <cdr:sp macro="" textlink="">
      <cdr:nvSpPr>
        <cdr:cNvPr id="26629" name="Oval 5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3873089" y="529661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0.073</cdr:x>
      <cdr:y>0.01675</cdr:y>
    </cdr:from>
    <cdr:to>
      <cdr:x>0.2075</cdr:x>
      <cdr:y>0.08275</cdr:y>
    </cdr:to>
    <cdr:sp macro="" textlink="">
      <cdr:nvSpPr>
        <cdr:cNvPr id="26630" name="Text Box 6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72379" y="94131"/>
          <a:ext cx="1238836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y=R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(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0.007</cdr:x>
      <cdr:y>0</cdr:y>
    </cdr:from>
    <cdr:to>
      <cdr:x>0.04125</cdr:x>
      <cdr:y>0.066</cdr:y>
    </cdr:to>
    <cdr:sp macro="" textlink="">
      <cdr:nvSpPr>
        <cdr:cNvPr id="26631" name="Text Box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4475" y="0"/>
          <a:ext cx="315465" cy="37090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</a:p>
      </cdr:txBody>
    </cdr:sp>
  </cdr:relSizeAnchor>
  <cdr:relSizeAnchor xmlns:cdr="http://schemas.openxmlformats.org/drawingml/2006/chartDrawing">
    <cdr:from>
      <cdr:x>0.018</cdr:x>
      <cdr:y>0.94075</cdr:y>
    </cdr:from>
    <cdr:to>
      <cdr:x>0.04075</cdr:x>
      <cdr:y>1</cdr:y>
    </cdr:to>
    <cdr:sp macro="" textlink="">
      <cdr:nvSpPr>
        <cdr:cNvPr id="26632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65792" y="5296614"/>
          <a:ext cx="209543" cy="33297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0</a:t>
          </a:r>
        </a:p>
      </cdr:txBody>
    </cdr:sp>
  </cdr:relSizeAnchor>
  <cdr:relSizeAnchor xmlns:cdr="http://schemas.openxmlformats.org/drawingml/2006/chartDrawing">
    <cdr:from>
      <cdr:x>0.017</cdr:x>
      <cdr:y>0.9395</cdr:y>
    </cdr:from>
    <cdr:to>
      <cdr:x>0.69675</cdr:x>
      <cdr:y>0.9395</cdr:y>
    </cdr:to>
    <cdr:sp macro="" textlink="">
      <cdr:nvSpPr>
        <cdr:cNvPr id="26633" name="Line 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56581" y="5279755"/>
          <a:ext cx="6260957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0.019</cdr:x>
      <cdr:y>0.06525</cdr:y>
    </cdr:from>
    <cdr:to>
      <cdr:x>0.019</cdr:x>
      <cdr:y>0.9925</cdr:y>
    </cdr:to>
    <cdr:sp macro="" textlink="">
      <cdr:nvSpPr>
        <cdr:cNvPr id="26634" name="Line 1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75003" y="366689"/>
          <a:ext cx="0" cy="5210913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0.6645</cdr:x>
      <cdr:y>0.93375</cdr:y>
    </cdr:from>
    <cdr:to>
      <cdr:x>0.69875</cdr:x>
      <cdr:y>0.99975</cdr:y>
    </cdr:to>
    <cdr:sp macro="" textlink="">
      <cdr:nvSpPr>
        <cdr:cNvPr id="26635" name="Text Box 1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120494" y="5247442"/>
          <a:ext cx="315465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</a:p>
      </cdr:txBody>
    </cdr:sp>
  </cdr:relSizeAnchor>
  <cdr:relSizeAnchor xmlns:cdr="http://schemas.openxmlformats.org/drawingml/2006/chartDrawing">
    <cdr:from>
      <cdr:x>0.24225</cdr:x>
      <cdr:y>0.55325</cdr:y>
    </cdr:from>
    <cdr:to>
      <cdr:x>0.254</cdr:x>
      <cdr:y>0.5735</cdr:y>
    </cdr:to>
    <cdr:sp macro="" textlink="">
      <cdr:nvSpPr>
        <cdr:cNvPr id="26636" name="Oval 12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2231286" y="3109127"/>
          <a:ext cx="108225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FFFFFF" mc:Ignorable="a14" a14:legacySpreadsheetColorIndex="65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0.43025</cdr:x>
      <cdr:y>0.08275</cdr:y>
    </cdr:from>
    <cdr:to>
      <cdr:x>0.603</cdr:x>
      <cdr:y>0.15575</cdr:y>
    </cdr:to>
    <cdr:sp macro="" textlink="">
      <cdr:nvSpPr>
        <cdr:cNvPr id="26653" name="Text Box 2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962893" y="465034"/>
          <a:ext cx="1591144" cy="4102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=(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0.33825</cdr:x>
      <cdr:y>0.103</cdr:y>
    </cdr:from>
    <cdr:to>
      <cdr:x>0.4265</cdr:x>
      <cdr:y>0.16875</cdr:y>
    </cdr:to>
    <cdr:grpSp>
      <cdr:nvGrpSpPr>
        <cdr:cNvPr id="26694" name="Group 70">
          <a:extLst xmlns:a="http://schemas.openxmlformats.org/drawingml/2006/main">
            <a:ext uri="{FF2B5EF4-FFF2-40B4-BE49-F238E27FC236}">
              <a16:creationId xmlns:a16="http://schemas.microsoft.com/office/drawing/2014/main" id="{CB2AFBBB-38A0-49E5-9B5D-2B39803BCDA1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3115511" y="578834"/>
          <a:ext cx="812842" cy="369499"/>
          <a:chOff x="3103983" y="582759"/>
          <a:chExt cx="806349" cy="373418"/>
        </a:xfrm>
      </cdr:grpSpPr>
      <cdr:sp macro="" textlink="">
        <cdr:nvSpPr>
          <cdr:cNvPr id="26692" name="Line 68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07157" y="582759"/>
            <a:ext cx="403175" cy="185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93" name="Line 69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03983" y="765224"/>
            <a:ext cx="412337" cy="190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</cdr:grpSp>
  </cdr:relSizeAnchor>
  <cdr:relSizeAnchor xmlns:cdr="http://schemas.openxmlformats.org/drawingml/2006/chartDrawing">
    <cdr:from>
      <cdr:x>0.25125</cdr:x>
      <cdr:y>0.16875</cdr:y>
    </cdr:from>
    <cdr:to>
      <cdr:x>0.33825</cdr:x>
      <cdr:y>0.23425</cdr:y>
    </cdr:to>
    <cdr:grpSp>
      <cdr:nvGrpSpPr>
        <cdr:cNvPr id="26695" name="Group 71">
          <a:extLst xmlns:a="http://schemas.openxmlformats.org/drawingml/2006/main">
            <a:ext uri="{FF2B5EF4-FFF2-40B4-BE49-F238E27FC236}">
              <a16:creationId xmlns:a16="http://schemas.microsoft.com/office/drawing/2014/main" id="{AE911AC6-18D5-4134-81D3-913F36D375CE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2314182" y="948333"/>
          <a:ext cx="801329" cy="368093"/>
          <a:chOff x="3103983" y="582759"/>
          <a:chExt cx="806349" cy="373418"/>
        </a:xfrm>
      </cdr:grpSpPr>
      <cdr:sp macro="" textlink="">
        <cdr:nvSpPr>
          <cdr:cNvPr id="26696" name="Line 72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07157" y="582759"/>
            <a:ext cx="403175" cy="185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97" name="Line 73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03983" y="765224"/>
            <a:ext cx="412337" cy="190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</cdr:grpSp>
  </cdr:relSizeAnchor>
  <cdr:relSizeAnchor xmlns:cdr="http://schemas.openxmlformats.org/drawingml/2006/chartDrawing">
    <cdr:from>
      <cdr:x>0.208</cdr:x>
      <cdr:y>0.2335</cdr:y>
    </cdr:from>
    <cdr:to>
      <cdr:x>0.252</cdr:x>
      <cdr:y>0.26625</cdr:y>
    </cdr:to>
    <cdr:sp macro="" textlink="">
      <cdr:nvSpPr>
        <cdr:cNvPr id="26699" name="Line 75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1915820" y="1312212"/>
          <a:ext cx="405270" cy="184046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0.208</cdr:x>
      <cdr:y>0.26625</cdr:y>
    </cdr:from>
    <cdr:to>
      <cdr:x>0.2285</cdr:x>
      <cdr:y>0.33975</cdr:y>
    </cdr:to>
    <cdr:sp macro="" textlink="">
      <cdr:nvSpPr>
        <cdr:cNvPr id="26700" name="Line 76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6200000" flipH="1">
          <a:off x="1803704" y="1608374"/>
          <a:ext cx="413052" cy="188819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0.1925</cdr:x>
      <cdr:y>0.356</cdr:y>
    </cdr:from>
    <cdr:to>
      <cdr:x>0.2375</cdr:x>
      <cdr:y>0.389</cdr:y>
    </cdr:to>
    <cdr:sp macro="" textlink="">
      <cdr:nvSpPr>
        <cdr:cNvPr id="26701" name="Line 77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9620000" flipH="1">
          <a:off x="1773055" y="2000631"/>
          <a:ext cx="414480" cy="185452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0.19725</cdr:x>
      <cdr:y>0.40825</cdr:y>
    </cdr:from>
    <cdr:to>
      <cdr:x>0.21775</cdr:x>
      <cdr:y>0.4825</cdr:y>
    </cdr:to>
    <cdr:sp macro="" textlink="">
      <cdr:nvSpPr>
        <cdr:cNvPr id="26702" name="Line 78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6800000" flipH="1">
          <a:off x="1702582" y="2408487"/>
          <a:ext cx="417266" cy="188818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0.21775</cdr:x>
      <cdr:y>0.48175</cdr:y>
    </cdr:from>
    <cdr:to>
      <cdr:x>0.2385</cdr:x>
      <cdr:y>0.554</cdr:y>
    </cdr:to>
    <cdr:sp macro="" textlink="">
      <cdr:nvSpPr>
        <cdr:cNvPr id="26703" name="Line 7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5600000" flipH="1">
          <a:off x="1898171" y="2814768"/>
          <a:ext cx="406027" cy="191122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0.0505</cdr:x>
      <cdr:y>0.071</cdr:y>
    </cdr:from>
    <cdr:to>
      <cdr:x>0.592</cdr:x>
      <cdr:y>0.91925</cdr:y>
    </cdr:to>
    <cdr:sp macro="" textlink="">
      <cdr:nvSpPr>
        <cdr:cNvPr id="26625" name="Freeform 1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465139" y="399002"/>
          <a:ext cx="4987581" cy="4766953"/>
        </a:xfrm>
        <a:custGeom xmlns:a="http://schemas.openxmlformats.org/drawingml/2006/main">
          <a:avLst/>
          <a:gdLst>
            <a:gd name="T0" fmla="*/ 1219200 w 4962525"/>
            <a:gd name="T1" fmla="*/ 157798 h 4796473"/>
            <a:gd name="T2" fmla="*/ 310200 w 4962525"/>
            <a:gd name="T3" fmla="*/ 1104135 h 4796473"/>
            <a:gd name="T4" fmla="*/ 217075 w 4962525"/>
            <a:gd name="T5" fmla="*/ 2959465 h 4796473"/>
            <a:gd name="T6" fmla="*/ 1612656 w 4962525"/>
            <a:gd name="T7" fmla="*/ 4386817 h 4796473"/>
            <a:gd name="T8" fmla="*/ 4337819 w 4962525"/>
            <a:gd name="T9" fmla="*/ 4585086 h 4796473"/>
            <a:gd name="T10" fmla="*/ 4710315 w 4962525"/>
            <a:gd name="T11" fmla="*/ 3118495 h 4796473"/>
            <a:gd name="T12" fmla="*/ 2824551 w 4962525"/>
            <a:gd name="T13" fmla="*/ 2358693 h 4796473"/>
            <a:gd name="T14" fmla="*/ 2824551 w 4962525"/>
            <a:gd name="T15" fmla="*/ 803750 h 4796473"/>
            <a:gd name="T16" fmla="*/ 2352675 w 4962525"/>
            <a:gd name="T17" fmla="*/ 157344 h 4796473"/>
            <a:gd name="T18" fmla="*/ 1219200 w 4962525"/>
            <a:gd name="T19" fmla="*/ 157798 h 4796473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4962525" h="4796473">
              <a:moveTo>
                <a:pt x="1219200" y="157798"/>
              </a:moveTo>
              <a:cubicBezTo>
                <a:pt x="878788" y="315596"/>
                <a:pt x="477221" y="637190"/>
                <a:pt x="310200" y="1104135"/>
              </a:cubicBezTo>
              <a:cubicBezTo>
                <a:pt x="143179" y="1571080"/>
                <a:pt x="0" y="2412352"/>
                <a:pt x="217075" y="2959465"/>
              </a:cubicBezTo>
              <a:cubicBezTo>
                <a:pt x="434150" y="3506579"/>
                <a:pt x="925864" y="4115880"/>
                <a:pt x="1612656" y="4386817"/>
              </a:cubicBezTo>
              <a:cubicBezTo>
                <a:pt x="2299447" y="4657753"/>
                <a:pt x="3821542" y="4796473"/>
                <a:pt x="4337819" y="4585086"/>
              </a:cubicBezTo>
              <a:cubicBezTo>
                <a:pt x="4854096" y="4373701"/>
                <a:pt x="4962525" y="3489560"/>
                <a:pt x="4710315" y="3118495"/>
              </a:cubicBezTo>
              <a:cubicBezTo>
                <a:pt x="4458105" y="2747427"/>
                <a:pt x="3138847" y="2744483"/>
                <a:pt x="2824551" y="2358693"/>
              </a:cubicBezTo>
              <a:cubicBezTo>
                <a:pt x="2510255" y="1972899"/>
                <a:pt x="2903197" y="1170640"/>
                <a:pt x="2824551" y="803750"/>
              </a:cubicBezTo>
              <a:cubicBezTo>
                <a:pt x="2745905" y="436859"/>
                <a:pt x="2620233" y="265003"/>
                <a:pt x="2352675" y="157344"/>
              </a:cubicBezTo>
              <a:cubicBezTo>
                <a:pt x="2085117" y="49685"/>
                <a:pt x="1559612" y="0"/>
                <a:pt x="1219200" y="157798"/>
              </a:cubicBezTo>
              <a:close/>
            </a:path>
          </a:pathLst>
        </a:custGeom>
        <a:solidFill xmlns:a="http://schemas.openxmlformats.org/drawingml/2006/main">
          <a:srgbClr val="B4B4B4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0.10925</cdr:x>
      <cdr:y>0.16975</cdr:y>
    </cdr:from>
    <cdr:to>
      <cdr:x>0.52825</cdr:x>
      <cdr:y>0.8265</cdr:y>
    </cdr:to>
    <cdr:sp macro="" textlink="">
      <cdr:nvSpPr>
        <cdr:cNvPr id="26626" name="Freeform 2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006266" y="953953"/>
          <a:ext cx="3859273" cy="3690770"/>
        </a:xfrm>
        <a:custGeom xmlns:a="http://schemas.openxmlformats.org/drawingml/2006/main">
          <a:avLst/>
          <a:gdLst>
            <a:gd name="T0" fmla="*/ 809625 w 3848100"/>
            <a:gd name="T1" fmla="*/ 213578 h 3714400"/>
            <a:gd name="T2" fmla="*/ 211492 w 3848100"/>
            <a:gd name="T3" fmla="*/ 1018216 h 3714400"/>
            <a:gd name="T4" fmla="*/ 148000 w 3848100"/>
            <a:gd name="T5" fmla="*/ 2311704 h 3714400"/>
            <a:gd name="T6" fmla="*/ 1099497 w 3848100"/>
            <a:gd name="T7" fmla="*/ 3306813 h 3714400"/>
            <a:gd name="T8" fmla="*/ 3288106 w 3848100"/>
            <a:gd name="T9" fmla="*/ 3621029 h 3714400"/>
            <a:gd name="T10" fmla="*/ 3621042 w 3848100"/>
            <a:gd name="T11" fmla="*/ 2746582 h 3714400"/>
            <a:gd name="T12" fmla="*/ 1925758 w 3848100"/>
            <a:gd name="T13" fmla="*/ 1892861 h 3714400"/>
            <a:gd name="T14" fmla="*/ 1609725 w 3848100"/>
            <a:gd name="T15" fmla="*/ 1135226 h 3714400"/>
            <a:gd name="T16" fmla="*/ 1771650 w 3848100"/>
            <a:gd name="T17" fmla="*/ 561625 h 3714400"/>
            <a:gd name="T18" fmla="*/ 1704975 w 3848100"/>
            <a:gd name="T19" fmla="*/ 58008 h 3714400"/>
            <a:gd name="T20" fmla="*/ 809625 w 3848100"/>
            <a:gd name="T21" fmla="*/ 213578 h 3714400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3848100" h="3714400">
              <a:moveTo>
                <a:pt x="809625" y="213578"/>
              </a:moveTo>
              <a:cubicBezTo>
                <a:pt x="560711" y="373613"/>
                <a:pt x="321763" y="668528"/>
                <a:pt x="211492" y="1018216"/>
              </a:cubicBezTo>
              <a:cubicBezTo>
                <a:pt x="101221" y="1367903"/>
                <a:pt x="0" y="1930271"/>
                <a:pt x="148000" y="2311704"/>
              </a:cubicBezTo>
              <a:cubicBezTo>
                <a:pt x="296000" y="2693136"/>
                <a:pt x="576147" y="3088593"/>
                <a:pt x="1099497" y="3306813"/>
              </a:cubicBezTo>
              <a:cubicBezTo>
                <a:pt x="1622848" y="3525035"/>
                <a:pt x="2867848" y="3714400"/>
                <a:pt x="3288106" y="3621029"/>
              </a:cubicBezTo>
              <a:cubicBezTo>
                <a:pt x="3708364" y="3527657"/>
                <a:pt x="3848100" y="3034611"/>
                <a:pt x="3621042" y="2746582"/>
              </a:cubicBezTo>
              <a:cubicBezTo>
                <a:pt x="3393985" y="2458554"/>
                <a:pt x="2260977" y="2161420"/>
                <a:pt x="1925758" y="1892861"/>
              </a:cubicBezTo>
              <a:cubicBezTo>
                <a:pt x="1590539" y="1624302"/>
                <a:pt x="1635410" y="1357099"/>
                <a:pt x="1609725" y="1135226"/>
              </a:cubicBezTo>
              <a:cubicBezTo>
                <a:pt x="1584040" y="913353"/>
                <a:pt x="1755775" y="741161"/>
                <a:pt x="1771650" y="561625"/>
              </a:cubicBezTo>
              <a:cubicBezTo>
                <a:pt x="1787525" y="382089"/>
                <a:pt x="1865312" y="116016"/>
                <a:pt x="1704975" y="58008"/>
              </a:cubicBezTo>
              <a:cubicBezTo>
                <a:pt x="1544638" y="0"/>
                <a:pt x="1058539" y="53543"/>
                <a:pt x="809625" y="213578"/>
              </a:cubicBezTo>
              <a:close/>
            </a:path>
          </a:pathLst>
        </a:custGeom>
        <a:solidFill xmlns:a="http://schemas.openxmlformats.org/drawingml/2006/main">
          <a:srgbClr val="BEBEBE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0.165</cdr:x>
      <cdr:y>0.2555</cdr:y>
    </cdr:from>
    <cdr:to>
      <cdr:x>0.451</cdr:x>
      <cdr:y>0.7385</cdr:y>
    </cdr:to>
    <cdr:sp macro="" textlink="">
      <cdr:nvSpPr>
        <cdr:cNvPr id="26627" name="Freeform 3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519761" y="1435846"/>
          <a:ext cx="2634253" cy="2714339"/>
        </a:xfrm>
        <a:custGeom xmlns:a="http://schemas.openxmlformats.org/drawingml/2006/main">
          <a:avLst/>
          <a:gdLst>
            <a:gd name="T0" fmla="*/ 308047 w 2619989"/>
            <a:gd name="T1" fmla="*/ 273282 h 2733125"/>
            <a:gd name="T2" fmla="*/ 16883 w 2619989"/>
            <a:gd name="T3" fmla="*/ 789242 h 2733125"/>
            <a:gd name="T4" fmla="*/ 206751 w 2619989"/>
            <a:gd name="T5" fmla="*/ 1847308 h 2733125"/>
            <a:gd name="T6" fmla="*/ 866594 w 2619989"/>
            <a:gd name="T7" fmla="*/ 2568453 h 2733125"/>
            <a:gd name="T8" fmla="*/ 1847850 w 2619989"/>
            <a:gd name="T9" fmla="*/ 2705100 h 2733125"/>
            <a:gd name="T10" fmla="*/ 2516842 w 2619989"/>
            <a:gd name="T11" fmla="*/ 2400300 h 2733125"/>
            <a:gd name="T12" fmla="*/ 1228965 w 2619989"/>
            <a:gd name="T13" fmla="*/ 1511930 h 2733125"/>
            <a:gd name="T14" fmla="*/ 813190 w 2619989"/>
            <a:gd name="T15" fmla="*/ 834666 h 2733125"/>
            <a:gd name="T16" fmla="*/ 870217 w 2619989"/>
            <a:gd name="T17" fmla="*/ 93564 h 2733125"/>
            <a:gd name="T18" fmla="*/ 308047 w 2619989"/>
            <a:gd name="T19" fmla="*/ 273282 h 273312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2619989" h="2733125">
              <a:moveTo>
                <a:pt x="308047" y="273282"/>
              </a:moveTo>
              <a:cubicBezTo>
                <a:pt x="165826" y="389227"/>
                <a:pt x="33766" y="526905"/>
                <a:pt x="16883" y="789242"/>
              </a:cubicBezTo>
              <a:cubicBezTo>
                <a:pt x="0" y="1051579"/>
                <a:pt x="65133" y="1550772"/>
                <a:pt x="206751" y="1847308"/>
              </a:cubicBezTo>
              <a:cubicBezTo>
                <a:pt x="348369" y="2143842"/>
                <a:pt x="593077" y="2425488"/>
                <a:pt x="866594" y="2568453"/>
              </a:cubicBezTo>
              <a:cubicBezTo>
                <a:pt x="1140111" y="2711418"/>
                <a:pt x="1572809" y="2733125"/>
                <a:pt x="1847850" y="2705100"/>
              </a:cubicBezTo>
              <a:cubicBezTo>
                <a:pt x="2122891" y="2677075"/>
                <a:pt x="2619989" y="2599162"/>
                <a:pt x="2516842" y="2400300"/>
              </a:cubicBezTo>
              <a:cubicBezTo>
                <a:pt x="2413695" y="2201438"/>
                <a:pt x="1512907" y="1772869"/>
                <a:pt x="1228965" y="1511930"/>
              </a:cubicBezTo>
              <a:cubicBezTo>
                <a:pt x="945023" y="1250991"/>
                <a:pt x="872982" y="1071059"/>
                <a:pt x="813190" y="834666"/>
              </a:cubicBezTo>
              <a:cubicBezTo>
                <a:pt x="753399" y="598271"/>
                <a:pt x="954407" y="187128"/>
                <a:pt x="870217" y="93564"/>
              </a:cubicBezTo>
              <a:cubicBezTo>
                <a:pt x="786027" y="0"/>
                <a:pt x="450271" y="157335"/>
                <a:pt x="308047" y="273282"/>
              </a:cubicBezTo>
              <a:close/>
            </a:path>
          </a:pathLst>
        </a:custGeom>
        <a:solidFill xmlns:a="http://schemas.openxmlformats.org/drawingml/2006/main">
          <a:srgbClr val="C8C8C8"/>
        </a:solidFill>
        <a:ln xmlns:a="http://schemas.openxmlformats.org/drawingml/2006/main" w="19050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0.19625</cdr:x>
      <cdr:y>0.35025</cdr:y>
    </cdr:from>
    <cdr:to>
      <cdr:x>0.355</cdr:x>
      <cdr:y>0.67875</cdr:y>
    </cdr:to>
    <cdr:sp macro="" textlink="">
      <cdr:nvSpPr>
        <cdr:cNvPr id="26628" name="Freeform 4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807595" y="1968317"/>
          <a:ext cx="1462195" cy="1846088"/>
        </a:xfrm>
        <a:custGeom xmlns:a="http://schemas.openxmlformats.org/drawingml/2006/main">
          <a:avLst/>
          <a:gdLst>
            <a:gd name="T0" fmla="*/ 79250 w 1460021"/>
            <a:gd name="T1" fmla="*/ 91378 h 1857375"/>
            <a:gd name="T2" fmla="*/ 15095 w 1460021"/>
            <a:gd name="T3" fmla="*/ 435173 h 1857375"/>
            <a:gd name="T4" fmla="*/ 59846 w 1460021"/>
            <a:gd name="T5" fmla="*/ 923925 h 1857375"/>
            <a:gd name="T6" fmla="*/ 374171 w 1460021"/>
            <a:gd name="T7" fmla="*/ 1485900 h 1857375"/>
            <a:gd name="T8" fmla="*/ 929076 w 1460021"/>
            <a:gd name="T9" fmla="*/ 1735269 h 1857375"/>
            <a:gd name="T10" fmla="*/ 1445988 w 1460021"/>
            <a:gd name="T11" fmla="*/ 1763711 h 1857375"/>
            <a:gd name="T12" fmla="*/ 844880 w 1460021"/>
            <a:gd name="T13" fmla="*/ 1173286 h 1857375"/>
            <a:gd name="T14" fmla="*/ 403098 w 1460021"/>
            <a:gd name="T15" fmla="*/ 723259 h 1857375"/>
            <a:gd name="T16" fmla="*/ 336091 w 1460021"/>
            <a:gd name="T17" fmla="*/ 351712 h 1857375"/>
            <a:gd name="T18" fmla="*/ 243147 w 1460021"/>
            <a:gd name="T19" fmla="*/ 43389 h 1857375"/>
            <a:gd name="T20" fmla="*/ 79250 w 1460021"/>
            <a:gd name="T21" fmla="*/ 91378 h 185737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1460021" h="1857375">
              <a:moveTo>
                <a:pt x="79250" y="91378"/>
              </a:moveTo>
              <a:cubicBezTo>
                <a:pt x="41240" y="156676"/>
                <a:pt x="18329" y="296415"/>
                <a:pt x="15095" y="435173"/>
              </a:cubicBezTo>
              <a:cubicBezTo>
                <a:pt x="11861" y="573931"/>
                <a:pt x="0" y="748804"/>
                <a:pt x="59846" y="923925"/>
              </a:cubicBezTo>
              <a:cubicBezTo>
                <a:pt x="119692" y="1099046"/>
                <a:pt x="229299" y="1350676"/>
                <a:pt x="374171" y="1485900"/>
              </a:cubicBezTo>
              <a:cubicBezTo>
                <a:pt x="519043" y="1621124"/>
                <a:pt x="750440" y="1688967"/>
                <a:pt x="929076" y="1735269"/>
              </a:cubicBezTo>
              <a:cubicBezTo>
                <a:pt x="1107712" y="1781571"/>
                <a:pt x="1460021" y="1857375"/>
                <a:pt x="1445988" y="1763711"/>
              </a:cubicBezTo>
              <a:cubicBezTo>
                <a:pt x="1431955" y="1670047"/>
                <a:pt x="1018695" y="1346695"/>
                <a:pt x="844880" y="1173286"/>
              </a:cubicBezTo>
              <a:cubicBezTo>
                <a:pt x="671064" y="999877"/>
                <a:pt x="487897" y="860190"/>
                <a:pt x="403098" y="723259"/>
              </a:cubicBezTo>
              <a:cubicBezTo>
                <a:pt x="318300" y="586331"/>
                <a:pt x="362750" y="465024"/>
                <a:pt x="336091" y="351712"/>
              </a:cubicBezTo>
              <a:cubicBezTo>
                <a:pt x="309432" y="238401"/>
                <a:pt x="285954" y="86779"/>
                <a:pt x="243147" y="43389"/>
              </a:cubicBezTo>
              <a:cubicBezTo>
                <a:pt x="200341" y="0"/>
                <a:pt x="117258" y="26080"/>
                <a:pt x="79250" y="91378"/>
              </a:cubicBezTo>
              <a:close/>
            </a:path>
          </a:pathLst>
        </a:custGeom>
        <a:solidFill xmlns:a="http://schemas.openxmlformats.org/drawingml/2006/main">
          <a:srgbClr val="D2D2D2"/>
        </a:solidFill>
        <a:ln xmlns:a="http://schemas.openxmlformats.org/drawingml/2006/main" w="1587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0.4205</cdr:x>
      <cdr:y>0.09425</cdr:y>
    </cdr:from>
    <cdr:to>
      <cdr:x>0.43325</cdr:x>
      <cdr:y>0.1145</cdr:y>
    </cdr:to>
    <cdr:sp macro="" textlink="">
      <cdr:nvSpPr>
        <cdr:cNvPr id="26629" name="Oval 5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3873089" y="529661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0.073</cdr:x>
      <cdr:y>0.01675</cdr:y>
    </cdr:from>
    <cdr:to>
      <cdr:x>0.2075</cdr:x>
      <cdr:y>0.08275</cdr:y>
    </cdr:to>
    <cdr:sp macro="" textlink="">
      <cdr:nvSpPr>
        <cdr:cNvPr id="26630" name="Text Box 6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72379" y="94131"/>
          <a:ext cx="1238836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y=R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(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0.007</cdr:x>
      <cdr:y>0</cdr:y>
    </cdr:from>
    <cdr:to>
      <cdr:x>0.04125</cdr:x>
      <cdr:y>0.066</cdr:y>
    </cdr:to>
    <cdr:sp macro="" textlink="">
      <cdr:nvSpPr>
        <cdr:cNvPr id="26631" name="Text Box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4475" y="0"/>
          <a:ext cx="315465" cy="37090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</a:p>
      </cdr:txBody>
    </cdr:sp>
  </cdr:relSizeAnchor>
  <cdr:relSizeAnchor xmlns:cdr="http://schemas.openxmlformats.org/drawingml/2006/chartDrawing">
    <cdr:from>
      <cdr:x>0.018</cdr:x>
      <cdr:y>0.94075</cdr:y>
    </cdr:from>
    <cdr:to>
      <cdr:x>0.04075</cdr:x>
      <cdr:y>1</cdr:y>
    </cdr:to>
    <cdr:sp macro="" textlink="">
      <cdr:nvSpPr>
        <cdr:cNvPr id="26632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65792" y="5296614"/>
          <a:ext cx="209543" cy="33297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0</a:t>
          </a:r>
        </a:p>
      </cdr:txBody>
    </cdr:sp>
  </cdr:relSizeAnchor>
  <cdr:relSizeAnchor xmlns:cdr="http://schemas.openxmlformats.org/drawingml/2006/chartDrawing">
    <cdr:from>
      <cdr:x>0.017</cdr:x>
      <cdr:y>0.9395</cdr:y>
    </cdr:from>
    <cdr:to>
      <cdr:x>0.69675</cdr:x>
      <cdr:y>0.9395</cdr:y>
    </cdr:to>
    <cdr:sp macro="" textlink="">
      <cdr:nvSpPr>
        <cdr:cNvPr id="26633" name="Line 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56581" y="5279755"/>
          <a:ext cx="6260957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0.019</cdr:x>
      <cdr:y>0.06525</cdr:y>
    </cdr:from>
    <cdr:to>
      <cdr:x>0.019</cdr:x>
      <cdr:y>0.9925</cdr:y>
    </cdr:to>
    <cdr:sp macro="" textlink="">
      <cdr:nvSpPr>
        <cdr:cNvPr id="26634" name="Line 1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75003" y="366689"/>
          <a:ext cx="0" cy="5210913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0.6645</cdr:x>
      <cdr:y>0.93375</cdr:y>
    </cdr:from>
    <cdr:to>
      <cdr:x>0.69875</cdr:x>
      <cdr:y>0.99975</cdr:y>
    </cdr:to>
    <cdr:sp macro="" textlink="">
      <cdr:nvSpPr>
        <cdr:cNvPr id="26635" name="Text Box 1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120494" y="5247442"/>
          <a:ext cx="315465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</a:p>
      </cdr:txBody>
    </cdr:sp>
  </cdr:relSizeAnchor>
  <cdr:relSizeAnchor xmlns:cdr="http://schemas.openxmlformats.org/drawingml/2006/chartDrawing">
    <cdr:from>
      <cdr:x>0.24225</cdr:x>
      <cdr:y>0.55325</cdr:y>
    </cdr:from>
    <cdr:to>
      <cdr:x>0.254</cdr:x>
      <cdr:y>0.5735</cdr:y>
    </cdr:to>
    <cdr:sp macro="" textlink="">
      <cdr:nvSpPr>
        <cdr:cNvPr id="26636" name="Oval 12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2231286" y="3109127"/>
          <a:ext cx="108225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FFFFFF" mc:Ignorable="a14" a14:legacySpreadsheetColorIndex="65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0.43025</cdr:x>
      <cdr:y>0.08275</cdr:y>
    </cdr:from>
    <cdr:to>
      <cdr:x>0.603</cdr:x>
      <cdr:y>0.15575</cdr:y>
    </cdr:to>
    <cdr:sp macro="" textlink="">
      <cdr:nvSpPr>
        <cdr:cNvPr id="26653" name="Text Box 2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962893" y="465034"/>
          <a:ext cx="1591144" cy="4102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=(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0.209</cdr:x>
      <cdr:y>0.10775</cdr:y>
    </cdr:from>
    <cdr:to>
      <cdr:x>0.4235</cdr:x>
      <cdr:y>0.56175</cdr:y>
    </cdr:to>
    <cdr:grpSp>
      <cdr:nvGrpSpPr>
        <cdr:cNvPr id="26667" name="Group 43">
          <a:extLst xmlns:a="http://schemas.openxmlformats.org/drawingml/2006/main">
            <a:ext uri="{FF2B5EF4-FFF2-40B4-BE49-F238E27FC236}">
              <a16:creationId xmlns:a16="http://schemas.microsoft.com/office/drawing/2014/main" id="{F13E4EB7-8756-4D1D-BB82-280B9D808629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1925031" y="605528"/>
          <a:ext cx="1975690" cy="2551367"/>
          <a:chOff x="1917368" y="609633"/>
          <a:chExt cx="1965474" cy="2570079"/>
        </a:xfrm>
      </cdr:grpSpPr>
      <cdr:sp macro="" textlink="">
        <cdr:nvSpPr>
          <cdr:cNvPr id="26658" name="Line 34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14030" y="609633"/>
            <a:ext cx="368812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59" name="Line 35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47508" y="779369"/>
            <a:ext cx="366522" cy="175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0" name="Line 36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2769532" y="954762"/>
            <a:ext cx="377976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1" name="Line 37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20700000" flipH="1">
            <a:off x="2437371" y="1172589"/>
            <a:ext cx="377976" cy="169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2" name="Line 38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20100000" flipH="1">
            <a:off x="2151026" y="1446995"/>
            <a:ext cx="377976" cy="1739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3" name="Line 39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9500000" flipH="1">
            <a:off x="1926531" y="1779394"/>
            <a:ext cx="368813" cy="175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4" name="Line 40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8000000" flipH="1">
            <a:off x="1815148" y="2161677"/>
            <a:ext cx="376247" cy="171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5" name="Line 41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7100000" flipH="1">
            <a:off x="1832698" y="2555674"/>
            <a:ext cx="366346" cy="160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6" name="Line 42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5600000" flipH="1">
            <a:off x="1965024" y="2918115"/>
            <a:ext cx="372004" cy="151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</cdr:grpSp>
  </cdr:relSizeAnchor>
  <cdr:relSizeAnchor xmlns:cdr="http://schemas.openxmlformats.org/drawingml/2006/chartDrawing">
    <cdr:from>
      <cdr:x>0.20425</cdr:x>
      <cdr:y>0.103</cdr:y>
    </cdr:from>
    <cdr:to>
      <cdr:x>0.4265</cdr:x>
      <cdr:y>0.56075</cdr:y>
    </cdr:to>
    <cdr:grpSp>
      <cdr:nvGrpSpPr>
        <cdr:cNvPr id="26691" name="Group 67">
          <a:extLst xmlns:a="http://schemas.openxmlformats.org/drawingml/2006/main">
            <a:ext uri="{FF2B5EF4-FFF2-40B4-BE49-F238E27FC236}">
              <a16:creationId xmlns:a16="http://schemas.microsoft.com/office/drawing/2014/main" id="{9D35171B-D21D-43F8-9670-72CA7586952C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1881280" y="578834"/>
          <a:ext cx="2047073" cy="2572441"/>
          <a:chOff x="1873844" y="582759"/>
          <a:chExt cx="2036488" cy="2591295"/>
        </a:xfrm>
      </cdr:grpSpPr>
      <cdr:sp macro="" textlink="">
        <cdr:nvSpPr>
          <cdr:cNvPr id="26668" name="Line 44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04867" y="588416"/>
            <a:ext cx="4054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69" name="Line 45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01692" y="582759"/>
            <a:ext cx="40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0" name="Line 46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2698518" y="582759"/>
            <a:ext cx="4031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1" name="Line 47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2295344" y="582759"/>
            <a:ext cx="4031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3" name="Line 49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6200000" flipH="1">
            <a:off x="2093075" y="790685"/>
            <a:ext cx="4045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4" name="Line 50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6200000" flipH="1">
            <a:off x="2090247" y="1198050"/>
            <a:ext cx="4101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5" name="Line 51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6200000" flipH="1">
            <a:off x="2090247" y="1608244"/>
            <a:ext cx="4101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7" name="Line 53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1873844" y="1813341"/>
            <a:ext cx="4123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79" name="Line 55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6200000" flipH="1">
            <a:off x="1685489" y="2017731"/>
            <a:ext cx="408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80" name="Line 56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rot="16200000" flipH="1">
            <a:off x="1685489" y="2422267"/>
            <a:ext cx="408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90" name="Freeform 66"/>
          <cdr:cNvSpPr>
            <a:spLocks xmlns:a="http://schemas.openxmlformats.org/drawingml/2006/main"/>
          </cdr:cNvSpPr>
        </cdr:nvSpPr>
        <cdr:spPr bwMode="auto">
          <a:xfrm xmlns:a="http://schemas.openxmlformats.org/drawingml/2006/main">
            <a:off x="1889879" y="2626657"/>
            <a:ext cx="396302" cy="547397"/>
          </a:xfrm>
          <a:custGeom xmlns:a="http://schemas.openxmlformats.org/drawingml/2006/main">
            <a:avLst/>
            <a:gdLst>
              <a:gd name="T0" fmla="*/ 0 w 392804"/>
              <a:gd name="T1" fmla="*/ 0 h 550301"/>
              <a:gd name="T2" fmla="*/ 95225 w 392804"/>
              <a:gd name="T3" fmla="*/ 0 h 550301"/>
              <a:gd name="T4" fmla="*/ 95225 w 392804"/>
              <a:gd name="T5" fmla="*/ 97673 h 550301"/>
              <a:gd name="T6" fmla="*/ 157122 w 392804"/>
              <a:gd name="T7" fmla="*/ 97673 h 550301"/>
              <a:gd name="T8" fmla="*/ 157122 w 392804"/>
              <a:gd name="T9" fmla="*/ 250137 h 550301"/>
              <a:gd name="T10" fmla="*/ 214257 w 392804"/>
              <a:gd name="T11" fmla="*/ 250137 h 550301"/>
              <a:gd name="T12" fmla="*/ 214257 w 392804"/>
              <a:gd name="T13" fmla="*/ 352574 h 550301"/>
              <a:gd name="T14" fmla="*/ 271392 w 392804"/>
              <a:gd name="T15" fmla="*/ 352574 h 550301"/>
              <a:gd name="T16" fmla="*/ 271392 w 392804"/>
              <a:gd name="T17" fmla="*/ 450246 h 550301"/>
              <a:gd name="T18" fmla="*/ 330908 w 392804"/>
              <a:gd name="T19" fmla="*/ 450246 h 550301"/>
              <a:gd name="T20" fmla="*/ 330908 w 392804"/>
              <a:gd name="T21" fmla="*/ 550301 h 550301"/>
              <a:gd name="T22" fmla="*/ 392804 w 392804"/>
              <a:gd name="T23" fmla="*/ 550301 h 550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92804" h="550301">
                <a:moveTo>
                  <a:pt x="0" y="0"/>
                </a:moveTo>
                <a:lnTo>
                  <a:pt x="95225" y="0"/>
                </a:lnTo>
                <a:lnTo>
                  <a:pt x="95225" y="97673"/>
                </a:lnTo>
                <a:lnTo>
                  <a:pt x="157122" y="97673"/>
                </a:lnTo>
                <a:lnTo>
                  <a:pt x="157122" y="250137"/>
                </a:lnTo>
                <a:lnTo>
                  <a:pt x="214257" y="250137"/>
                </a:lnTo>
                <a:lnTo>
                  <a:pt x="214257" y="352574"/>
                </a:lnTo>
                <a:lnTo>
                  <a:pt x="271392" y="352574"/>
                </a:lnTo>
                <a:lnTo>
                  <a:pt x="271392" y="450246"/>
                </a:lnTo>
                <a:lnTo>
                  <a:pt x="330908" y="450246"/>
                </a:lnTo>
                <a:lnTo>
                  <a:pt x="330908" y="550301"/>
                </a:lnTo>
                <a:lnTo>
                  <a:pt x="392804" y="550301"/>
                </a:lnTo>
              </a:path>
            </a:pathLst>
          </a:custGeom>
          <a:noFill xmlns:a="http://schemas.openxmlformats.org/drawingml/2006/main"/>
          <a:ln xmlns:a="http://schemas.openxmlformats.org/drawingml/2006/main" w="9525" cap="flat" cmpd="sng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lgDash"/>
            <a:round/>
            <a:headEnd type="none" w="med" len="med"/>
            <a:tailEnd type="non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solidFill>
                  <a:srgbClr xmlns:mc="http://schemas.openxmlformats.org/markup-compatibility/2006" val="FFFFFF" mc:Ignorable="a14" a14:legacySpreadsheetColorIndex="9"/>
                </a:solidFill>
              </a14:hiddenFill>
            </a:ext>
          </a:extLst>
        </cdr:spPr>
      </cdr:sp>
    </cdr:grpSp>
  </cdr:relSizeAnchor>
  <cdr:relSizeAnchor xmlns:cdr="http://schemas.openxmlformats.org/drawingml/2006/chartDrawing">
    <cdr:from>
      <cdr:x>0.33825</cdr:x>
      <cdr:y>0.103</cdr:y>
    </cdr:from>
    <cdr:to>
      <cdr:x>0.4265</cdr:x>
      <cdr:y>0.16875</cdr:y>
    </cdr:to>
    <cdr:grpSp>
      <cdr:nvGrpSpPr>
        <cdr:cNvPr id="26694" name="Group 70">
          <a:extLst xmlns:a="http://schemas.openxmlformats.org/drawingml/2006/main">
            <a:ext uri="{FF2B5EF4-FFF2-40B4-BE49-F238E27FC236}">
              <a16:creationId xmlns:a16="http://schemas.microsoft.com/office/drawing/2014/main" id="{6E034085-01D7-4F72-B818-D3C4A91BD6DB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3115511" y="578834"/>
          <a:ext cx="812842" cy="369499"/>
          <a:chOff x="3103983" y="582759"/>
          <a:chExt cx="806349" cy="373418"/>
        </a:xfrm>
      </cdr:grpSpPr>
      <cdr:sp macro="" textlink="">
        <cdr:nvSpPr>
          <cdr:cNvPr id="26692" name="Line 68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07157" y="582759"/>
            <a:ext cx="403175" cy="185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93" name="Line 69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03983" y="765224"/>
            <a:ext cx="412337" cy="190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</cdr:grpSp>
  </cdr:relSizeAnchor>
  <cdr:relSizeAnchor xmlns:cdr="http://schemas.openxmlformats.org/drawingml/2006/chartDrawing">
    <cdr:from>
      <cdr:x>0.25125</cdr:x>
      <cdr:y>0.16875</cdr:y>
    </cdr:from>
    <cdr:to>
      <cdr:x>0.33825</cdr:x>
      <cdr:y>0.23425</cdr:y>
    </cdr:to>
    <cdr:grpSp>
      <cdr:nvGrpSpPr>
        <cdr:cNvPr id="26695" name="Group 71">
          <a:extLst xmlns:a="http://schemas.openxmlformats.org/drawingml/2006/main">
            <a:ext uri="{FF2B5EF4-FFF2-40B4-BE49-F238E27FC236}">
              <a16:creationId xmlns:a16="http://schemas.microsoft.com/office/drawing/2014/main" id="{35F235F0-7194-4B38-9169-62FE58453559}"/>
            </a:ext>
          </a:extLst>
        </cdr:cNvPr>
        <cdr:cNvGrpSpPr>
          <a:grpSpLocks xmlns:a="http://schemas.openxmlformats.org/drawingml/2006/main"/>
        </cdr:cNvGrpSpPr>
      </cdr:nvGrpSpPr>
      <cdr:grpSpPr bwMode="auto">
        <a:xfrm xmlns:a="http://schemas.openxmlformats.org/drawingml/2006/main">
          <a:off x="2314182" y="948333"/>
          <a:ext cx="801329" cy="368093"/>
          <a:chOff x="3103983" y="582759"/>
          <a:chExt cx="806349" cy="373418"/>
        </a:xfrm>
      </cdr:grpSpPr>
      <cdr:sp macro="" textlink="">
        <cdr:nvSpPr>
          <cdr:cNvPr id="26696" name="Line 72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507157" y="582759"/>
            <a:ext cx="403175" cy="185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  <cdr:sp macro="" textlink="">
        <cdr:nvSpPr>
          <cdr:cNvPr id="26697" name="Line 73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H="1">
            <a:off x="3103983" y="765224"/>
            <a:ext cx="412337" cy="190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prstDash val="sysDot"/>
            <a:round/>
            <a:headEnd/>
            <a:tailEnd type="triangle" w="med" len="med"/>
          </a:ln>
          <a:extLst xmlns:a="http://schemas.openxmlformats.org/drawingml/2006/main">
            <a:ext uri="{909E8E84-426E-40DD-AFC4-6F175D3DCCD1}">
              <a14:hiddenFill xmlns:a14="http://schemas.microsoft.com/office/drawing/2010/main">
                <a:noFill/>
              </a14:hiddenFill>
            </a:ext>
          </a:extLst>
        </cdr:spPr>
      </cdr:sp>
    </cdr:grpSp>
  </cdr:relSizeAnchor>
  <cdr:relSizeAnchor xmlns:cdr="http://schemas.openxmlformats.org/drawingml/2006/chartDrawing">
    <cdr:from>
      <cdr:x>0.208</cdr:x>
      <cdr:y>0.2335</cdr:y>
    </cdr:from>
    <cdr:to>
      <cdr:x>0.252</cdr:x>
      <cdr:y>0.26625</cdr:y>
    </cdr:to>
    <cdr:sp macro="" textlink="">
      <cdr:nvSpPr>
        <cdr:cNvPr id="26699" name="Line 75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1915820" y="1312212"/>
          <a:ext cx="405270" cy="184046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0.208</cdr:x>
      <cdr:y>0.26625</cdr:y>
    </cdr:from>
    <cdr:to>
      <cdr:x>0.2285</cdr:x>
      <cdr:y>0.33975</cdr:y>
    </cdr:to>
    <cdr:sp macro="" textlink="">
      <cdr:nvSpPr>
        <cdr:cNvPr id="26700" name="Line 76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6200000" flipH="1">
          <a:off x="1803704" y="1608374"/>
          <a:ext cx="413052" cy="188819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0.1925</cdr:x>
      <cdr:y>0.356</cdr:y>
    </cdr:from>
    <cdr:to>
      <cdr:x>0.2375</cdr:x>
      <cdr:y>0.389</cdr:y>
    </cdr:to>
    <cdr:sp macro="" textlink="">
      <cdr:nvSpPr>
        <cdr:cNvPr id="26701" name="Line 77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9620000" flipH="1">
          <a:off x="1773055" y="2000631"/>
          <a:ext cx="414480" cy="185452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0.19725</cdr:x>
      <cdr:y>0.40825</cdr:y>
    </cdr:from>
    <cdr:to>
      <cdr:x>0.21775</cdr:x>
      <cdr:y>0.4825</cdr:y>
    </cdr:to>
    <cdr:sp macro="" textlink="">
      <cdr:nvSpPr>
        <cdr:cNvPr id="26702" name="Line 78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6800000" flipH="1">
          <a:off x="1702582" y="2408487"/>
          <a:ext cx="417266" cy="188818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0.21775</cdr:x>
      <cdr:y>0.48175</cdr:y>
    </cdr:from>
    <cdr:to>
      <cdr:x>0.2385</cdr:x>
      <cdr:y>0.554</cdr:y>
    </cdr:to>
    <cdr:sp macro="" textlink="">
      <cdr:nvSpPr>
        <cdr:cNvPr id="26703" name="Line 7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5600000" flipH="1">
          <a:off x="1898171" y="2814768"/>
          <a:ext cx="406027" cy="191122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0.47825</cdr:x>
      <cdr:y>0.26625</cdr:y>
    </cdr:from>
    <cdr:to>
      <cdr:x>0.79975</cdr:x>
      <cdr:y>0.43075</cdr:y>
    </cdr:to>
    <cdr:sp macro="" textlink="">
      <cdr:nvSpPr>
        <cdr:cNvPr id="26704" name="Text Box 80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405005" y="1496258"/>
          <a:ext cx="2961232" cy="92444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метод градиента</a:t>
          </a:r>
        </a:p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метод релаксаций</a:t>
          </a:r>
        </a:p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метод наискорейшего спуска</a:t>
          </a:r>
        </a:p>
      </cdr:txBody>
    </cdr:sp>
  </cdr:relSizeAnchor>
  <cdr:relSizeAnchor xmlns:cdr="http://schemas.openxmlformats.org/drawingml/2006/chartDrawing">
    <cdr:from>
      <cdr:x>0.41275</cdr:x>
      <cdr:y>0.29625</cdr:y>
    </cdr:from>
    <cdr:to>
      <cdr:x>0.46275</cdr:x>
      <cdr:y>0.29625</cdr:y>
    </cdr:to>
    <cdr:sp macro="" textlink="">
      <cdr:nvSpPr>
        <cdr:cNvPr id="26705" name="Line 81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3801706" y="1664851"/>
          <a:ext cx="460534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0.41275</cdr:x>
      <cdr:y>0.35025</cdr:y>
    </cdr:from>
    <cdr:to>
      <cdr:x>0.46275</cdr:x>
      <cdr:y>0.35025</cdr:y>
    </cdr:to>
    <cdr:sp macro="" textlink="">
      <cdr:nvSpPr>
        <cdr:cNvPr id="26706" name="Line 82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3801706" y="1968317"/>
          <a:ext cx="460534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lgDash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0.41275</cdr:x>
      <cdr:y>0.4025</cdr:y>
    </cdr:from>
    <cdr:to>
      <cdr:x>0.46275</cdr:x>
      <cdr:y>0.4025</cdr:y>
    </cdr:to>
    <cdr:sp macro="" textlink="">
      <cdr:nvSpPr>
        <cdr:cNvPr id="26707" name="Line 83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H="1">
          <a:off x="3801706" y="2261949"/>
          <a:ext cx="460534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ysDot"/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0.0505</cdr:x>
      <cdr:y>0.071</cdr:y>
    </cdr:from>
    <cdr:to>
      <cdr:x>0.592</cdr:x>
      <cdr:y>0.91925</cdr:y>
    </cdr:to>
    <cdr:sp macro="" textlink="">
      <cdr:nvSpPr>
        <cdr:cNvPr id="27649" name="Freeform 1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465139" y="399002"/>
          <a:ext cx="4987581" cy="4766953"/>
        </a:xfrm>
        <a:custGeom xmlns:a="http://schemas.openxmlformats.org/drawingml/2006/main">
          <a:avLst/>
          <a:gdLst>
            <a:gd name="T0" fmla="*/ 1219200 w 4962525"/>
            <a:gd name="T1" fmla="*/ 157798 h 4796473"/>
            <a:gd name="T2" fmla="*/ 310200 w 4962525"/>
            <a:gd name="T3" fmla="*/ 1104135 h 4796473"/>
            <a:gd name="T4" fmla="*/ 217075 w 4962525"/>
            <a:gd name="T5" fmla="*/ 2959465 h 4796473"/>
            <a:gd name="T6" fmla="*/ 1612656 w 4962525"/>
            <a:gd name="T7" fmla="*/ 4386817 h 4796473"/>
            <a:gd name="T8" fmla="*/ 4337819 w 4962525"/>
            <a:gd name="T9" fmla="*/ 4585086 h 4796473"/>
            <a:gd name="T10" fmla="*/ 4710315 w 4962525"/>
            <a:gd name="T11" fmla="*/ 3118495 h 4796473"/>
            <a:gd name="T12" fmla="*/ 2824551 w 4962525"/>
            <a:gd name="T13" fmla="*/ 2358693 h 4796473"/>
            <a:gd name="T14" fmla="*/ 2824551 w 4962525"/>
            <a:gd name="T15" fmla="*/ 803750 h 4796473"/>
            <a:gd name="T16" fmla="*/ 2352675 w 4962525"/>
            <a:gd name="T17" fmla="*/ 157344 h 4796473"/>
            <a:gd name="T18" fmla="*/ 1219200 w 4962525"/>
            <a:gd name="T19" fmla="*/ 157798 h 4796473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4962525" h="4796473">
              <a:moveTo>
                <a:pt x="1219200" y="157798"/>
              </a:moveTo>
              <a:cubicBezTo>
                <a:pt x="878788" y="315596"/>
                <a:pt x="477221" y="637190"/>
                <a:pt x="310200" y="1104135"/>
              </a:cubicBezTo>
              <a:cubicBezTo>
                <a:pt x="143179" y="1571080"/>
                <a:pt x="0" y="2412352"/>
                <a:pt x="217075" y="2959465"/>
              </a:cubicBezTo>
              <a:cubicBezTo>
                <a:pt x="434150" y="3506579"/>
                <a:pt x="925864" y="4115880"/>
                <a:pt x="1612656" y="4386817"/>
              </a:cubicBezTo>
              <a:cubicBezTo>
                <a:pt x="2299447" y="4657753"/>
                <a:pt x="3821542" y="4796473"/>
                <a:pt x="4337819" y="4585086"/>
              </a:cubicBezTo>
              <a:cubicBezTo>
                <a:pt x="4854096" y="4373701"/>
                <a:pt x="4962525" y="3489560"/>
                <a:pt x="4710315" y="3118495"/>
              </a:cubicBezTo>
              <a:cubicBezTo>
                <a:pt x="4458105" y="2747427"/>
                <a:pt x="3138847" y="2744483"/>
                <a:pt x="2824551" y="2358693"/>
              </a:cubicBezTo>
              <a:cubicBezTo>
                <a:pt x="2510255" y="1972899"/>
                <a:pt x="2903197" y="1170640"/>
                <a:pt x="2824551" y="803750"/>
              </a:cubicBezTo>
              <a:cubicBezTo>
                <a:pt x="2745905" y="436859"/>
                <a:pt x="2620233" y="265003"/>
                <a:pt x="2352675" y="157344"/>
              </a:cubicBezTo>
              <a:cubicBezTo>
                <a:pt x="2085117" y="49685"/>
                <a:pt x="1559612" y="0"/>
                <a:pt x="1219200" y="157798"/>
              </a:cubicBezTo>
              <a:close/>
            </a:path>
          </a:pathLst>
        </a:custGeom>
        <a:solidFill xmlns:a="http://schemas.openxmlformats.org/drawingml/2006/main">
          <a:srgbClr val="B4B4B4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0.10925</cdr:x>
      <cdr:y>0.16975</cdr:y>
    </cdr:from>
    <cdr:to>
      <cdr:x>0.52825</cdr:x>
      <cdr:y>0.8265</cdr:y>
    </cdr:to>
    <cdr:sp macro="" textlink="">
      <cdr:nvSpPr>
        <cdr:cNvPr id="27650" name="Freeform 2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006266" y="953953"/>
          <a:ext cx="3859273" cy="3690770"/>
        </a:xfrm>
        <a:custGeom xmlns:a="http://schemas.openxmlformats.org/drawingml/2006/main">
          <a:avLst/>
          <a:gdLst>
            <a:gd name="T0" fmla="*/ 809625 w 3848100"/>
            <a:gd name="T1" fmla="*/ 213578 h 3714400"/>
            <a:gd name="T2" fmla="*/ 211492 w 3848100"/>
            <a:gd name="T3" fmla="*/ 1018216 h 3714400"/>
            <a:gd name="T4" fmla="*/ 148000 w 3848100"/>
            <a:gd name="T5" fmla="*/ 2311704 h 3714400"/>
            <a:gd name="T6" fmla="*/ 1099497 w 3848100"/>
            <a:gd name="T7" fmla="*/ 3306813 h 3714400"/>
            <a:gd name="T8" fmla="*/ 3288106 w 3848100"/>
            <a:gd name="T9" fmla="*/ 3621029 h 3714400"/>
            <a:gd name="T10" fmla="*/ 3621042 w 3848100"/>
            <a:gd name="T11" fmla="*/ 2746582 h 3714400"/>
            <a:gd name="T12" fmla="*/ 1925758 w 3848100"/>
            <a:gd name="T13" fmla="*/ 1892861 h 3714400"/>
            <a:gd name="T14" fmla="*/ 1609725 w 3848100"/>
            <a:gd name="T15" fmla="*/ 1135226 h 3714400"/>
            <a:gd name="T16" fmla="*/ 1771650 w 3848100"/>
            <a:gd name="T17" fmla="*/ 561625 h 3714400"/>
            <a:gd name="T18" fmla="*/ 1704975 w 3848100"/>
            <a:gd name="T19" fmla="*/ 58008 h 3714400"/>
            <a:gd name="T20" fmla="*/ 809625 w 3848100"/>
            <a:gd name="T21" fmla="*/ 213578 h 3714400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3848100" h="3714400">
              <a:moveTo>
                <a:pt x="809625" y="213578"/>
              </a:moveTo>
              <a:cubicBezTo>
                <a:pt x="560711" y="373613"/>
                <a:pt x="321763" y="668528"/>
                <a:pt x="211492" y="1018216"/>
              </a:cubicBezTo>
              <a:cubicBezTo>
                <a:pt x="101221" y="1367903"/>
                <a:pt x="0" y="1930271"/>
                <a:pt x="148000" y="2311704"/>
              </a:cubicBezTo>
              <a:cubicBezTo>
                <a:pt x="296000" y="2693136"/>
                <a:pt x="576147" y="3088593"/>
                <a:pt x="1099497" y="3306813"/>
              </a:cubicBezTo>
              <a:cubicBezTo>
                <a:pt x="1622848" y="3525035"/>
                <a:pt x="2867848" y="3714400"/>
                <a:pt x="3288106" y="3621029"/>
              </a:cubicBezTo>
              <a:cubicBezTo>
                <a:pt x="3708364" y="3527657"/>
                <a:pt x="3848100" y="3034611"/>
                <a:pt x="3621042" y="2746582"/>
              </a:cubicBezTo>
              <a:cubicBezTo>
                <a:pt x="3393985" y="2458554"/>
                <a:pt x="2260977" y="2161420"/>
                <a:pt x="1925758" y="1892861"/>
              </a:cubicBezTo>
              <a:cubicBezTo>
                <a:pt x="1590539" y="1624302"/>
                <a:pt x="1635410" y="1357099"/>
                <a:pt x="1609725" y="1135226"/>
              </a:cubicBezTo>
              <a:cubicBezTo>
                <a:pt x="1584040" y="913353"/>
                <a:pt x="1755775" y="741161"/>
                <a:pt x="1771650" y="561625"/>
              </a:cubicBezTo>
              <a:cubicBezTo>
                <a:pt x="1787525" y="382089"/>
                <a:pt x="1865312" y="116016"/>
                <a:pt x="1704975" y="58008"/>
              </a:cubicBezTo>
              <a:cubicBezTo>
                <a:pt x="1544638" y="0"/>
                <a:pt x="1058539" y="53543"/>
                <a:pt x="809625" y="213578"/>
              </a:cubicBezTo>
              <a:close/>
            </a:path>
          </a:pathLst>
        </a:custGeom>
        <a:solidFill xmlns:a="http://schemas.openxmlformats.org/drawingml/2006/main">
          <a:srgbClr val="BEBEBE"/>
        </a:solidFill>
        <a:ln xmlns:a="http://schemas.openxmlformats.org/drawingml/2006/main" w="2222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0.165</cdr:x>
      <cdr:y>0.2555</cdr:y>
    </cdr:from>
    <cdr:to>
      <cdr:x>0.451</cdr:x>
      <cdr:y>0.7385</cdr:y>
    </cdr:to>
    <cdr:sp macro="" textlink="">
      <cdr:nvSpPr>
        <cdr:cNvPr id="27651" name="Freeform 3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519761" y="1435846"/>
          <a:ext cx="2634253" cy="2714339"/>
        </a:xfrm>
        <a:custGeom xmlns:a="http://schemas.openxmlformats.org/drawingml/2006/main">
          <a:avLst/>
          <a:gdLst>
            <a:gd name="T0" fmla="*/ 308047 w 2619989"/>
            <a:gd name="T1" fmla="*/ 273282 h 2733125"/>
            <a:gd name="T2" fmla="*/ 16883 w 2619989"/>
            <a:gd name="T3" fmla="*/ 789242 h 2733125"/>
            <a:gd name="T4" fmla="*/ 206751 w 2619989"/>
            <a:gd name="T5" fmla="*/ 1847308 h 2733125"/>
            <a:gd name="T6" fmla="*/ 866594 w 2619989"/>
            <a:gd name="T7" fmla="*/ 2568453 h 2733125"/>
            <a:gd name="T8" fmla="*/ 1847850 w 2619989"/>
            <a:gd name="T9" fmla="*/ 2705100 h 2733125"/>
            <a:gd name="T10" fmla="*/ 2516842 w 2619989"/>
            <a:gd name="T11" fmla="*/ 2400300 h 2733125"/>
            <a:gd name="T12" fmla="*/ 1228965 w 2619989"/>
            <a:gd name="T13" fmla="*/ 1511930 h 2733125"/>
            <a:gd name="T14" fmla="*/ 813190 w 2619989"/>
            <a:gd name="T15" fmla="*/ 834666 h 2733125"/>
            <a:gd name="T16" fmla="*/ 870217 w 2619989"/>
            <a:gd name="T17" fmla="*/ 93564 h 2733125"/>
            <a:gd name="T18" fmla="*/ 308047 w 2619989"/>
            <a:gd name="T19" fmla="*/ 273282 h 273312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</a:cxnLst>
          <a:rect l="0" t="0" r="r" b="b"/>
          <a:pathLst>
            <a:path w="2619989" h="2733125">
              <a:moveTo>
                <a:pt x="308047" y="273282"/>
              </a:moveTo>
              <a:cubicBezTo>
                <a:pt x="165826" y="389227"/>
                <a:pt x="33766" y="526905"/>
                <a:pt x="16883" y="789242"/>
              </a:cubicBezTo>
              <a:cubicBezTo>
                <a:pt x="0" y="1051579"/>
                <a:pt x="65133" y="1550772"/>
                <a:pt x="206751" y="1847308"/>
              </a:cubicBezTo>
              <a:cubicBezTo>
                <a:pt x="348369" y="2143842"/>
                <a:pt x="593077" y="2425488"/>
                <a:pt x="866594" y="2568453"/>
              </a:cubicBezTo>
              <a:cubicBezTo>
                <a:pt x="1140111" y="2711418"/>
                <a:pt x="1572809" y="2733125"/>
                <a:pt x="1847850" y="2705100"/>
              </a:cubicBezTo>
              <a:cubicBezTo>
                <a:pt x="2122891" y="2677075"/>
                <a:pt x="2619989" y="2599162"/>
                <a:pt x="2516842" y="2400300"/>
              </a:cubicBezTo>
              <a:cubicBezTo>
                <a:pt x="2413695" y="2201438"/>
                <a:pt x="1512907" y="1772869"/>
                <a:pt x="1228965" y="1511930"/>
              </a:cubicBezTo>
              <a:cubicBezTo>
                <a:pt x="945023" y="1250991"/>
                <a:pt x="872982" y="1071059"/>
                <a:pt x="813190" y="834666"/>
              </a:cubicBezTo>
              <a:cubicBezTo>
                <a:pt x="753399" y="598271"/>
                <a:pt x="954407" y="187128"/>
                <a:pt x="870217" y="93564"/>
              </a:cubicBezTo>
              <a:cubicBezTo>
                <a:pt x="786027" y="0"/>
                <a:pt x="450271" y="157335"/>
                <a:pt x="308047" y="273282"/>
              </a:cubicBezTo>
              <a:close/>
            </a:path>
          </a:pathLst>
        </a:custGeom>
        <a:solidFill xmlns:a="http://schemas.openxmlformats.org/drawingml/2006/main">
          <a:srgbClr val="C8C8C8"/>
        </a:solidFill>
        <a:ln xmlns:a="http://schemas.openxmlformats.org/drawingml/2006/main" w="19050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0.19625</cdr:x>
      <cdr:y>0.35025</cdr:y>
    </cdr:from>
    <cdr:to>
      <cdr:x>0.355</cdr:x>
      <cdr:y>0.67875</cdr:y>
    </cdr:to>
    <cdr:sp macro="" textlink="">
      <cdr:nvSpPr>
        <cdr:cNvPr id="27652" name="Freeform 4"/>
        <cdr:cNvSpPr>
          <a:spLocks xmlns:a="http://schemas.openxmlformats.org/drawingml/2006/main"/>
        </cdr:cNvSpPr>
      </cdr:nvSpPr>
      <cdr:spPr bwMode="auto">
        <a:xfrm xmlns:a="http://schemas.openxmlformats.org/drawingml/2006/main">
          <a:off x="1807595" y="1968317"/>
          <a:ext cx="1462195" cy="1846088"/>
        </a:xfrm>
        <a:custGeom xmlns:a="http://schemas.openxmlformats.org/drawingml/2006/main">
          <a:avLst/>
          <a:gdLst>
            <a:gd name="T0" fmla="*/ 79250 w 1460021"/>
            <a:gd name="T1" fmla="*/ 91378 h 1857375"/>
            <a:gd name="T2" fmla="*/ 15095 w 1460021"/>
            <a:gd name="T3" fmla="*/ 435173 h 1857375"/>
            <a:gd name="T4" fmla="*/ 59846 w 1460021"/>
            <a:gd name="T5" fmla="*/ 923925 h 1857375"/>
            <a:gd name="T6" fmla="*/ 374171 w 1460021"/>
            <a:gd name="T7" fmla="*/ 1485900 h 1857375"/>
            <a:gd name="T8" fmla="*/ 929076 w 1460021"/>
            <a:gd name="T9" fmla="*/ 1735269 h 1857375"/>
            <a:gd name="T10" fmla="*/ 1445988 w 1460021"/>
            <a:gd name="T11" fmla="*/ 1763711 h 1857375"/>
            <a:gd name="T12" fmla="*/ 844880 w 1460021"/>
            <a:gd name="T13" fmla="*/ 1173286 h 1857375"/>
            <a:gd name="T14" fmla="*/ 403098 w 1460021"/>
            <a:gd name="T15" fmla="*/ 723259 h 1857375"/>
            <a:gd name="T16" fmla="*/ 336091 w 1460021"/>
            <a:gd name="T17" fmla="*/ 351712 h 1857375"/>
            <a:gd name="T18" fmla="*/ 243147 w 1460021"/>
            <a:gd name="T19" fmla="*/ 43389 h 1857375"/>
            <a:gd name="T20" fmla="*/ 79250 w 1460021"/>
            <a:gd name="T21" fmla="*/ 91378 h 1857375"/>
          </a:gdLst>
          <a:ahLst/>
          <a:cxnLst>
            <a:cxn ang="0">
              <a:pos x="T0" y="T1"/>
            </a:cxn>
            <a:cxn ang="0">
              <a:pos x="T2" y="T3"/>
            </a:cxn>
            <a:cxn ang="0">
              <a:pos x="T4" y="T5"/>
            </a:cxn>
            <a:cxn ang="0">
              <a:pos x="T6" y="T7"/>
            </a:cxn>
            <a:cxn ang="0">
              <a:pos x="T8" y="T9"/>
            </a:cxn>
            <a:cxn ang="0">
              <a:pos x="T10" y="T11"/>
            </a:cxn>
            <a:cxn ang="0">
              <a:pos x="T12" y="T13"/>
            </a:cxn>
            <a:cxn ang="0">
              <a:pos x="T14" y="T15"/>
            </a:cxn>
            <a:cxn ang="0">
              <a:pos x="T16" y="T17"/>
            </a:cxn>
            <a:cxn ang="0">
              <a:pos x="T18" y="T19"/>
            </a:cxn>
            <a:cxn ang="0">
              <a:pos x="T20" y="T21"/>
            </a:cxn>
          </a:cxnLst>
          <a:rect l="0" t="0" r="r" b="b"/>
          <a:pathLst>
            <a:path w="1460021" h="1857375">
              <a:moveTo>
                <a:pt x="79250" y="91378"/>
              </a:moveTo>
              <a:cubicBezTo>
                <a:pt x="41240" y="156676"/>
                <a:pt x="18329" y="296415"/>
                <a:pt x="15095" y="435173"/>
              </a:cubicBezTo>
              <a:cubicBezTo>
                <a:pt x="11861" y="573931"/>
                <a:pt x="0" y="748804"/>
                <a:pt x="59846" y="923925"/>
              </a:cubicBezTo>
              <a:cubicBezTo>
                <a:pt x="119692" y="1099046"/>
                <a:pt x="229299" y="1350676"/>
                <a:pt x="374171" y="1485900"/>
              </a:cubicBezTo>
              <a:cubicBezTo>
                <a:pt x="519043" y="1621124"/>
                <a:pt x="750440" y="1688967"/>
                <a:pt x="929076" y="1735269"/>
              </a:cubicBezTo>
              <a:cubicBezTo>
                <a:pt x="1107712" y="1781571"/>
                <a:pt x="1460021" y="1857375"/>
                <a:pt x="1445988" y="1763711"/>
              </a:cubicBezTo>
              <a:cubicBezTo>
                <a:pt x="1431955" y="1670047"/>
                <a:pt x="1018695" y="1346695"/>
                <a:pt x="844880" y="1173286"/>
              </a:cubicBezTo>
              <a:cubicBezTo>
                <a:pt x="671064" y="999877"/>
                <a:pt x="487897" y="860190"/>
                <a:pt x="403098" y="723259"/>
              </a:cubicBezTo>
              <a:cubicBezTo>
                <a:pt x="318300" y="586331"/>
                <a:pt x="362750" y="465024"/>
                <a:pt x="336091" y="351712"/>
              </a:cubicBezTo>
              <a:cubicBezTo>
                <a:pt x="309432" y="238401"/>
                <a:pt x="285954" y="86779"/>
                <a:pt x="243147" y="43389"/>
              </a:cubicBezTo>
              <a:cubicBezTo>
                <a:pt x="200341" y="0"/>
                <a:pt x="117258" y="26080"/>
                <a:pt x="79250" y="91378"/>
              </a:cubicBezTo>
              <a:close/>
            </a:path>
          </a:pathLst>
        </a:custGeom>
        <a:solidFill xmlns:a="http://schemas.openxmlformats.org/drawingml/2006/main">
          <a:srgbClr val="D2D2D2"/>
        </a:solidFill>
        <a:ln xmlns:a="http://schemas.openxmlformats.org/drawingml/2006/main" w="15875" cap="flat" cmpd="sng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prstDash val="solid"/>
          <a:round/>
          <a:headEnd/>
          <a:tailEnd/>
        </a:ln>
      </cdr:spPr>
    </cdr:sp>
  </cdr:relSizeAnchor>
  <cdr:relSizeAnchor xmlns:cdr="http://schemas.openxmlformats.org/drawingml/2006/chartDrawing">
    <cdr:from>
      <cdr:x>0.499</cdr:x>
      <cdr:y>0.215</cdr:y>
    </cdr:from>
    <cdr:to>
      <cdr:x>0.51175</cdr:x>
      <cdr:y>0.23525</cdr:y>
    </cdr:to>
    <cdr:sp macro="" textlink="">
      <cdr:nvSpPr>
        <cdr:cNvPr id="27653" name="Oval 5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4596127" y="1208246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0.073</cdr:x>
      <cdr:y>0.01675</cdr:y>
    </cdr:from>
    <cdr:to>
      <cdr:x>0.2075</cdr:x>
      <cdr:y>0.08275</cdr:y>
    </cdr:to>
    <cdr:sp macro="" textlink="">
      <cdr:nvSpPr>
        <cdr:cNvPr id="27654" name="Text Box 6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72379" y="94131"/>
          <a:ext cx="1238836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y=R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(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78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0.007</cdr:x>
      <cdr:y>0</cdr:y>
    </cdr:from>
    <cdr:to>
      <cdr:x>0.04125</cdr:x>
      <cdr:y>0.066</cdr:y>
    </cdr:to>
    <cdr:sp macro="" textlink="">
      <cdr:nvSpPr>
        <cdr:cNvPr id="27655" name="Text Box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4475" y="0"/>
          <a:ext cx="315465" cy="37090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</a:p>
      </cdr:txBody>
    </cdr:sp>
  </cdr:relSizeAnchor>
  <cdr:relSizeAnchor xmlns:cdr="http://schemas.openxmlformats.org/drawingml/2006/chartDrawing">
    <cdr:from>
      <cdr:x>0.018</cdr:x>
      <cdr:y>0.94075</cdr:y>
    </cdr:from>
    <cdr:to>
      <cdr:x>0.04075</cdr:x>
      <cdr:y>1</cdr:y>
    </cdr:to>
    <cdr:sp macro="" textlink="">
      <cdr:nvSpPr>
        <cdr:cNvPr id="27656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65792" y="5296614"/>
          <a:ext cx="209543" cy="33297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0</a:t>
          </a:r>
        </a:p>
      </cdr:txBody>
    </cdr:sp>
  </cdr:relSizeAnchor>
  <cdr:relSizeAnchor xmlns:cdr="http://schemas.openxmlformats.org/drawingml/2006/chartDrawing">
    <cdr:from>
      <cdr:x>0.017</cdr:x>
      <cdr:y>0.9395</cdr:y>
    </cdr:from>
    <cdr:to>
      <cdr:x>0.69675</cdr:x>
      <cdr:y>0.9395</cdr:y>
    </cdr:to>
    <cdr:sp macro="" textlink="">
      <cdr:nvSpPr>
        <cdr:cNvPr id="27657" name="Line 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56581" y="5279755"/>
          <a:ext cx="6260957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0.019</cdr:x>
      <cdr:y>0.06525</cdr:y>
    </cdr:from>
    <cdr:to>
      <cdr:x>0.019</cdr:x>
      <cdr:y>0.9925</cdr:y>
    </cdr:to>
    <cdr:sp macro="" textlink="">
      <cdr:nvSpPr>
        <cdr:cNvPr id="27658" name="Line 1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75003" y="366689"/>
          <a:ext cx="0" cy="5210913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19050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lg" len="lg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0.6645</cdr:x>
      <cdr:y>0.93375</cdr:y>
    </cdr:from>
    <cdr:to>
      <cdr:x>0.69875</cdr:x>
      <cdr:y>0.99975</cdr:y>
    </cdr:to>
    <cdr:sp macro="" textlink="">
      <cdr:nvSpPr>
        <cdr:cNvPr id="27659" name="Text Box 1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120494" y="5247442"/>
          <a:ext cx="315465" cy="37090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27432" bIns="0" anchor="t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ru-RU" sz="178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78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</a:p>
      </cdr:txBody>
    </cdr:sp>
  </cdr:relSizeAnchor>
  <cdr:relSizeAnchor xmlns:cdr="http://schemas.openxmlformats.org/drawingml/2006/chartDrawing">
    <cdr:from>
      <cdr:x>0.24225</cdr:x>
      <cdr:y>0.55325</cdr:y>
    </cdr:from>
    <cdr:to>
      <cdr:x>0.254</cdr:x>
      <cdr:y>0.5735</cdr:y>
    </cdr:to>
    <cdr:sp macro="" textlink="">
      <cdr:nvSpPr>
        <cdr:cNvPr id="27660" name="Oval 12"/>
        <cdr:cNvSpPr>
          <a:spLocks xmlns:a="http://schemas.openxmlformats.org/drawingml/2006/main" noChangeAspect="1" noChangeArrowheads="1"/>
        </cdr:cNvSpPr>
      </cdr:nvSpPr>
      <cdr:spPr bwMode="auto">
        <a:xfrm xmlns:a="http://schemas.openxmlformats.org/drawingml/2006/main">
          <a:off x="2231286" y="3109127"/>
          <a:ext cx="108225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FFFFFF" mc:Ignorable="a14" a14:legacySpreadsheetColorIndex="65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0.5235</cdr:x>
      <cdr:y>0.1425</cdr:y>
    </cdr:from>
    <cdr:to>
      <cdr:x>0.69625</cdr:x>
      <cdr:y>0.2155</cdr:y>
    </cdr:to>
    <cdr:sp macro="" textlink="">
      <cdr:nvSpPr>
        <cdr:cNvPr id="27677" name="Text Box 2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821788" y="800814"/>
          <a:ext cx="1591144" cy="4102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xmlns:mc="http://schemas.openxmlformats.org/markup-compatibility/2006" val="FFFFFF" mc:Ignorable="a14" a14:legacySpreadsheetColorIndex="9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xmlns:mc="http://schemas.openxmlformats.org/markup-compatibility/2006" val="000000" mc:Ignorable="a14" a14:legacySpreadsheetColorIndex="64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 lIns="27432" tIns="36576" rIns="0" bIns="0" anchor="t" upright="1">
          <a:spAutoFit/>
        </a:bodyPr>
        <a:lstStyle xmlns:a="http://schemas.openxmlformats.org/drawingml/2006/main"/>
        <a:p xmlns:a="http://schemas.openxmlformats.org/drawingml/2006/main">
          <a:pPr algn="l" rtl="0">
            <a:defRPr sz="1000"/>
          </a:pP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=(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1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, </a:t>
          </a:r>
          <a:r>
            <a:rPr lang="ru-RU" sz="1800" b="0" i="1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x</a:t>
          </a:r>
          <a:r>
            <a:rPr lang="ru-RU" sz="1800" b="0" i="0" u="none" strike="noStrike" baseline="-25000">
              <a:solidFill>
                <a:srgbClr val="000000"/>
              </a:solidFill>
              <a:latin typeface="Times New Roman"/>
              <a:cs typeface="Times New Roman"/>
            </a:rPr>
            <a:t>2</a:t>
          </a:r>
          <a:r>
            <a:rPr lang="ru-RU" sz="1800" b="0" i="0" u="none" strike="noStrike" baseline="30000">
              <a:solidFill>
                <a:srgbClr val="000000"/>
              </a:solidFill>
              <a:latin typeface="Times New Roman"/>
              <a:cs typeface="Times New Roman"/>
            </a:rPr>
            <a:t>(0)</a:t>
          </a:r>
          <a:r>
            <a:rPr lang="ru-RU" sz="1800" b="0" i="0" u="none" strike="noStrike" baseline="0">
              <a:solidFill>
                <a:srgbClr val="000000"/>
              </a:solidFill>
              <a:latin typeface="Times New Roman"/>
              <a:cs typeface="Times New Roman"/>
            </a:rPr>
            <a:t>)</a:t>
          </a:r>
        </a:p>
      </cdr:txBody>
    </cdr:sp>
  </cdr:relSizeAnchor>
  <cdr:relSizeAnchor xmlns:cdr="http://schemas.openxmlformats.org/drawingml/2006/chartDrawing">
    <cdr:from>
      <cdr:x>0.50875</cdr:x>
      <cdr:y>0.24875</cdr:y>
    </cdr:from>
    <cdr:to>
      <cdr:x>0.55375</cdr:x>
      <cdr:y>0.24875</cdr:y>
    </cdr:to>
    <cdr:sp macro="" textlink="">
      <cdr:nvSpPr>
        <cdr:cNvPr id="27682" name="Line 34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680000">
          <a:off x="4685931" y="1397913"/>
          <a:ext cx="414480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0.45675</cdr:x>
      <cdr:y>0.2015</cdr:y>
    </cdr:from>
    <cdr:to>
      <cdr:x>0.50175</cdr:x>
      <cdr:y>0.2015</cdr:y>
    </cdr:to>
    <cdr:sp macro="" textlink="">
      <cdr:nvSpPr>
        <cdr:cNvPr id="27683" name="Line 35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2480000">
          <a:off x="4206976" y="1132380"/>
          <a:ext cx="414480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0.3315</cdr:x>
      <cdr:y>0.06825</cdr:y>
    </cdr:from>
    <cdr:to>
      <cdr:x>0.34425</cdr:x>
      <cdr:y>0.0885</cdr:y>
    </cdr:to>
    <cdr:sp macro="" textlink="">
      <cdr:nvSpPr>
        <cdr:cNvPr id="27684" name="Oval 36"/>
        <cdr:cNvSpPr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053339" y="383548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0.4175</cdr:x>
      <cdr:y>0.16775</cdr:y>
    </cdr:from>
    <cdr:to>
      <cdr:x>0.46275</cdr:x>
      <cdr:y>0.16775</cdr:y>
    </cdr:to>
    <cdr:sp macro="" textlink="">
      <cdr:nvSpPr>
        <cdr:cNvPr id="27685" name="Line 37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2480000">
          <a:off x="3845457" y="942713"/>
          <a:ext cx="416783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0.3795</cdr:x>
      <cdr:y>0.13475</cdr:y>
    </cdr:from>
    <cdr:to>
      <cdr:x>0.4235</cdr:x>
      <cdr:y>0.13475</cdr:y>
    </cdr:to>
    <cdr:sp macro="" textlink="">
      <cdr:nvSpPr>
        <cdr:cNvPr id="27686" name="Line 38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2480000">
          <a:off x="3495451" y="757261"/>
          <a:ext cx="405270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0.34025</cdr:x>
      <cdr:y>0.101</cdr:y>
    </cdr:from>
    <cdr:to>
      <cdr:x>0.38525</cdr:x>
      <cdr:y>0.101</cdr:y>
    </cdr:to>
    <cdr:sp macro="" textlink="">
      <cdr:nvSpPr>
        <cdr:cNvPr id="27687" name="Line 3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2480000">
          <a:off x="3133932" y="567595"/>
          <a:ext cx="414481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0.33525</cdr:x>
      <cdr:y>0.044</cdr:y>
    </cdr:from>
    <cdr:to>
      <cdr:x>0.3805</cdr:x>
      <cdr:y>0.044</cdr:y>
    </cdr:to>
    <cdr:sp macro="" textlink="">
      <cdr:nvSpPr>
        <cdr:cNvPr id="27688" name="Line 4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8960000">
          <a:off x="3087879" y="247269"/>
          <a:ext cx="416783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0.29325</cdr:x>
      <cdr:y>0.11175</cdr:y>
    </cdr:from>
    <cdr:to>
      <cdr:x>0.33925</cdr:x>
      <cdr:y>0.11175</cdr:y>
    </cdr:to>
    <cdr:sp macro="" textlink="">
      <cdr:nvSpPr>
        <cdr:cNvPr id="27689" name="Line 41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8160000">
          <a:off x="2701030" y="628007"/>
          <a:ext cx="423691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0.263</cdr:x>
      <cdr:y>0.161</cdr:y>
    </cdr:from>
    <cdr:to>
      <cdr:x>0.307</cdr:x>
      <cdr:y>0.161</cdr:y>
    </cdr:to>
    <cdr:sp macro="" textlink="">
      <cdr:nvSpPr>
        <cdr:cNvPr id="27690" name="Line 42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8160000">
          <a:off x="2422408" y="904780"/>
          <a:ext cx="405269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0.2315</cdr:x>
      <cdr:y>0.20925</cdr:y>
    </cdr:from>
    <cdr:to>
      <cdr:x>0.27575</cdr:x>
      <cdr:y>0.20925</cdr:y>
    </cdr:to>
    <cdr:sp macro="" textlink="">
      <cdr:nvSpPr>
        <cdr:cNvPr id="27691" name="Line 43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8160000">
          <a:off x="2132271" y="1175933"/>
          <a:ext cx="407573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0.20025</cdr:x>
      <cdr:y>0.2575</cdr:y>
    </cdr:from>
    <cdr:to>
      <cdr:x>0.24425</cdr:x>
      <cdr:y>0.2575</cdr:y>
    </cdr:to>
    <cdr:sp macro="" textlink="">
      <cdr:nvSpPr>
        <cdr:cNvPr id="27692" name="Line 44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8160000">
          <a:off x="1844438" y="1447086"/>
          <a:ext cx="405269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0.17975</cdr:x>
      <cdr:y>0.3425</cdr:y>
    </cdr:from>
    <cdr:to>
      <cdr:x>0.22375</cdr:x>
      <cdr:y>0.3425</cdr:y>
    </cdr:to>
    <cdr:sp macro="" textlink="">
      <cdr:nvSpPr>
        <cdr:cNvPr id="27693" name="Line 45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300000">
          <a:off x="1655619" y="1924764"/>
          <a:ext cx="405270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0.167</cdr:x>
      <cdr:y>0.327</cdr:y>
    </cdr:from>
    <cdr:to>
      <cdr:x>0.17975</cdr:x>
      <cdr:y>0.34725</cdr:y>
    </cdr:to>
    <cdr:sp macro="" textlink="">
      <cdr:nvSpPr>
        <cdr:cNvPr id="27694" name="Oval 46"/>
        <cdr:cNvSpPr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538183" y="1837658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0.16975</cdr:x>
      <cdr:y>0.30475</cdr:y>
    </cdr:from>
    <cdr:to>
      <cdr:x>0.214</cdr:x>
      <cdr:y>0.30475</cdr:y>
    </cdr:to>
    <cdr:sp macro="" textlink="">
      <cdr:nvSpPr>
        <cdr:cNvPr id="27695" name="Line 47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8160000">
          <a:off x="1563512" y="1712619"/>
          <a:ext cx="407572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0.22375</cdr:x>
      <cdr:y>0.33675</cdr:y>
    </cdr:from>
    <cdr:to>
      <cdr:x>0.2365</cdr:x>
      <cdr:y>0.357</cdr:y>
    </cdr:to>
    <cdr:sp macro="" textlink="">
      <cdr:nvSpPr>
        <cdr:cNvPr id="27696" name="Oval 48"/>
        <cdr:cNvSpPr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060889" y="1892451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  <cdr:relSizeAnchor xmlns:cdr="http://schemas.openxmlformats.org/drawingml/2006/chartDrawing">
    <cdr:from>
      <cdr:x>0.22775</cdr:x>
      <cdr:y>0.26625</cdr:y>
    </cdr:from>
    <cdr:to>
      <cdr:x>0.22775</cdr:x>
      <cdr:y>0.33675</cdr:y>
    </cdr:to>
    <cdr:sp macro="" textlink="">
      <cdr:nvSpPr>
        <cdr:cNvPr id="27697" name="Line 49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15900000">
          <a:off x="1899634" y="1694355"/>
          <a:ext cx="396193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0.2325</cdr:x>
      <cdr:y>0.358</cdr:y>
    </cdr:from>
    <cdr:to>
      <cdr:x>0.2325</cdr:x>
      <cdr:y>0.4285</cdr:y>
    </cdr:to>
    <cdr:sp macro="" textlink="">
      <cdr:nvSpPr>
        <cdr:cNvPr id="27698" name="Line 50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5100000">
          <a:off x="1943386" y="2209967"/>
          <a:ext cx="396192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0.2365</cdr:x>
      <cdr:y>0.4265</cdr:y>
    </cdr:from>
    <cdr:to>
      <cdr:x>0.2365</cdr:x>
      <cdr:y>0.498</cdr:y>
    </cdr:to>
    <cdr:sp macro="" textlink="">
      <cdr:nvSpPr>
        <cdr:cNvPr id="27699" name="Line 51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5100000">
          <a:off x="1977418" y="2597730"/>
          <a:ext cx="401813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0.24025</cdr:x>
      <cdr:y>0.49625</cdr:y>
    </cdr:from>
    <cdr:to>
      <cdr:x>0.24025</cdr:x>
      <cdr:y>0.5675</cdr:y>
    </cdr:to>
    <cdr:sp macro="" textlink="">
      <cdr:nvSpPr>
        <cdr:cNvPr id="27700" name="Line 52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rot="5100000">
          <a:off x="2012661" y="2989005"/>
          <a:ext cx="400407" cy="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 type="triangle" w="med" len="med"/>
        </a:ln>
        <a:extLst xmlns:a="http://schemas.openxmlformats.org/drawingml/2006/main">
          <a:ext uri="{909E8E84-426E-40DD-AFC4-6F175D3DCCD1}">
            <a14:hiddenFill xmlns:a14="http://schemas.microsoft.com/office/drawing/2010/main">
              <a:noFill/>
            </a14:hiddenFill>
          </a:ext>
        </a:extLst>
      </cdr:spPr>
    </cdr:sp>
  </cdr:relSizeAnchor>
  <cdr:relSizeAnchor xmlns:cdr="http://schemas.openxmlformats.org/drawingml/2006/chartDrawing">
    <cdr:from>
      <cdr:x>0.2375</cdr:x>
      <cdr:y>0.56575</cdr:y>
    </cdr:from>
    <cdr:to>
      <cdr:x>0.25025</cdr:x>
      <cdr:y>0.586</cdr:y>
    </cdr:to>
    <cdr:sp macro="" textlink="">
      <cdr:nvSpPr>
        <cdr:cNvPr id="27701" name="Oval 53"/>
        <cdr:cNvSpPr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187535" y="3179374"/>
          <a:ext cx="117436" cy="113800"/>
        </a:xfrm>
        <a:prstGeom xmlns:a="http://schemas.openxmlformats.org/drawingml/2006/main" prst="ellipse">
          <a:avLst/>
        </a:prstGeom>
        <a:solidFill xmlns:a="http://schemas.openxmlformats.org/drawingml/2006/main">
          <a:srgbClr xmlns:mc="http://schemas.openxmlformats.org/markup-compatibility/2006" xmlns:a14="http://schemas.microsoft.com/office/drawing/2010/main" val="000000" mc:Ignorable="a14" a14:legacySpreadsheetColorIndex="8"/>
        </a:solidFill>
        <a:ln xmlns:a="http://schemas.openxmlformats.org/drawingml/2006/main" w="9525">
          <a:solidFill>
            <a:srgbClr xmlns:mc="http://schemas.openxmlformats.org/markup-compatibility/2006" xmlns:a14="http://schemas.microsoft.com/office/drawing/2010/main" val="000000" mc:Ignorable="a14" a14:legacySpreadsheetColorIndex="64"/>
          </a:solidFill>
          <a:round/>
          <a:headEnd/>
          <a:tailEnd/>
        </a:ln>
      </cdr:spPr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364D8-64EF-4A6E-95BE-BA53805DB404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53713-56B9-47E8-A160-8CDDA9FA0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19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2ED9-F8C0-4785-9912-8232FF6F4DE2}" type="datetime1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232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DB9A8-AEE9-474C-94D2-AE4FD65C8710}" type="datetime1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49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6E2BD-4CA5-442B-982D-67E702163CAE}" type="datetime1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78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86D2-D8E3-4B86-8BBF-5CE9DCC5F3CF}" type="datetime1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06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4936-AB81-4CBF-A547-0A6B86E0B153}" type="datetime1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51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8AEE-38E4-4747-896D-3A81E58116D6}" type="datetime1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80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92A-C37A-4430-AA2D-B5D216130DC5}" type="datetime1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46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C586-EFC8-4F29-ADAB-39286B8542AF}" type="datetime1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69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315-AEA3-448F-AFC4-E782275C6F62}" type="datetime1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54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7D0C-22DB-41DD-8B21-09150057617E}" type="datetime1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3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E226-477D-4433-8C46-13F6B7FF07C4}" type="datetime1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49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AA922-DCAC-4BC6-A29C-A90807DEB198}" type="datetime1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829E1-22CD-4006-A51E-1C9B67A2B4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51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8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10.w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5.wmf"/><Relationship Id="rId1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8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5.wmf"/><Relationship Id="rId1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11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image" Target="../media/image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9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5.wmf"/><Relationship Id="rId1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556792"/>
            <a:ext cx="914400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Мног</a:t>
            </a:r>
            <a:r>
              <a:rPr lang="ru-RU" sz="5400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омерная оптимизация</a:t>
            </a:r>
            <a:endParaRPr lang="en-US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endParaRPr lang="ru-RU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Методы градиентного поиска</a:t>
            </a:r>
            <a:endParaRPr lang="en-US" sz="5400" b="1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02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0" y="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Использование информации о производных для определения направления улучшения целевой функции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12" name="Диаграмма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3259302"/>
              </p:ext>
            </p:extLst>
          </p:nvPr>
        </p:nvGraphicFramePr>
        <p:xfrm>
          <a:off x="1900" y="1556792"/>
          <a:ext cx="6083300" cy="370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5205"/>
              </p:ext>
            </p:extLst>
          </p:nvPr>
        </p:nvGraphicFramePr>
        <p:xfrm>
          <a:off x="3755198" y="1844824"/>
          <a:ext cx="536408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Угол </a:t>
                      </a:r>
                      <a:r>
                        <a:rPr lang="en-US" i="1" dirty="0">
                          <a:latin typeface="Symbol" panose="05050102010706020507" pitchFamily="18" charset="2"/>
                        </a:rPr>
                        <a:t>a</a:t>
                      </a:r>
                      <a:endParaRPr lang="ru-RU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R’(x)</a:t>
                      </a:r>
                    </a:p>
                    <a:p>
                      <a:pPr algn="ctr"/>
                      <a:r>
                        <a:rPr lang="en-US" dirty="0" err="1"/>
                        <a:t>tg</a:t>
                      </a:r>
                      <a:r>
                        <a:rPr lang="en-US" dirty="0"/>
                        <a:t>(</a:t>
                      </a:r>
                      <a:r>
                        <a:rPr lang="en-US" i="1" dirty="0">
                          <a:latin typeface="Symbol" panose="05050102010706020507" pitchFamily="18" charset="2"/>
                        </a:rPr>
                        <a:t>a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 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Направление улучшения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Острый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</a:t>
                      </a:r>
                      <a:r>
                        <a:rPr lang="en-US" baseline="0" dirty="0"/>
                        <a:t> 0</a:t>
                      </a:r>
                      <a:endParaRPr lang="ru-RU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Минимизация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Отрицательное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Тупой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0</a:t>
                      </a:r>
                      <a:endParaRPr lang="ru-RU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Положительное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Острый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</a:t>
                      </a:r>
                      <a:r>
                        <a:rPr lang="en-US" baseline="0" dirty="0"/>
                        <a:t> 0</a:t>
                      </a:r>
                      <a:endParaRPr lang="ru-RU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Максимизация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Положительное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Тупой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0</a:t>
                      </a:r>
                      <a:endParaRPr lang="ru-RU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Отрицательное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95536" y="4653136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Отрицательное направление: </a:t>
            </a:r>
            <a:r>
              <a:rPr lang="en-US" sz="2000" b="1" i="1" dirty="0" err="1">
                <a:latin typeface="Times New Roman" panose="02020603050405020304" pitchFamily="18" charset="0"/>
              </a:rPr>
              <a:t>s</a:t>
            </a:r>
            <a:r>
              <a:rPr lang="en-US" sz="2000" b="1" i="1" baseline="-25000" dirty="0" err="1">
                <a:latin typeface="Times New Roman" panose="02020603050405020304" pitchFamily="18" charset="0"/>
              </a:rPr>
              <a:t>j</a:t>
            </a:r>
            <a:r>
              <a:rPr lang="en-US" sz="2000" b="1" dirty="0">
                <a:solidFill>
                  <a:srgbClr val="7030A0"/>
                </a:solidFill>
              </a:rPr>
              <a:t> = –1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Положительное направление: </a:t>
            </a:r>
            <a:r>
              <a:rPr lang="en-US" sz="2000" b="1" i="1" dirty="0" err="1">
                <a:latin typeface="Times New Roman" panose="02020603050405020304" pitchFamily="18" charset="0"/>
              </a:rPr>
              <a:t>s</a:t>
            </a:r>
            <a:r>
              <a:rPr lang="en-US" sz="2000" b="1" i="1" baseline="-25000" dirty="0" err="1">
                <a:latin typeface="Times New Roman" panose="02020603050405020304" pitchFamily="18" charset="0"/>
              </a:rPr>
              <a:t>j</a:t>
            </a:r>
            <a:r>
              <a:rPr lang="en-US" sz="2000" b="1" dirty="0">
                <a:solidFill>
                  <a:srgbClr val="7030A0"/>
                </a:solidFill>
              </a:rPr>
              <a:t> = 1</a:t>
            </a:r>
          </a:p>
          <a:p>
            <a:endParaRPr lang="en-US" sz="2000" b="1" dirty="0">
              <a:solidFill>
                <a:srgbClr val="7030A0"/>
              </a:solidFill>
            </a:endParaRPr>
          </a:p>
          <a:p>
            <a:r>
              <a:rPr lang="ru-RU" sz="2000" b="1" dirty="0">
                <a:solidFill>
                  <a:srgbClr val="7030A0"/>
                </a:solidFill>
              </a:rPr>
              <a:t>Аналогично используется информация о частных производных при оптимизации многомерных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414117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3" y="620688"/>
            <a:ext cx="3687482" cy="319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068318"/>
            <a:ext cx="2133600" cy="365125"/>
          </a:xfrm>
        </p:spPr>
        <p:txBody>
          <a:bodyPr/>
          <a:lstStyle/>
          <a:p>
            <a:fld id="{B6F829E1-22CD-4006-A51E-1C9B67A2B4DF}" type="slidenum">
              <a:rPr lang="ru-RU" smtClean="0"/>
              <a:t>3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релаксаций (алгоритм)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8008" y="618941"/>
            <a:ext cx="56743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Задаются:</a:t>
            </a:r>
            <a:br>
              <a:rPr lang="ru-RU" sz="2000" b="1" dirty="0">
                <a:solidFill>
                  <a:srgbClr val="7030A0"/>
                </a:solidFill>
              </a:rPr>
            </a:br>
            <a:r>
              <a:rPr lang="ru-RU" sz="2000" b="1" dirty="0">
                <a:solidFill>
                  <a:srgbClr val="7030A0"/>
                </a:solidFill>
              </a:rPr>
              <a:t>– начальная точка поиска оптимума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– начальный шаг поиска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ru-RU" sz="2000" b="1" dirty="0">
                <a:solidFill>
                  <a:srgbClr val="7030A0"/>
                </a:solidFill>
              </a:rPr>
              <a:t> и точность </a:t>
            </a:r>
            <a:r>
              <a:rPr lang="en-US" sz="2000" b="1" i="1" dirty="0">
                <a:latin typeface="Symbol" panose="05050102010706020507" pitchFamily="18" charset="2"/>
              </a:rPr>
              <a:t>e</a:t>
            </a:r>
            <a:r>
              <a:rPr lang="en-US" sz="2000" b="1" dirty="0">
                <a:solidFill>
                  <a:srgbClr val="7030A0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2</a:t>
            </a:r>
            <a:r>
              <a:rPr lang="ru-RU" sz="2000" b="1" dirty="0">
                <a:solidFill>
                  <a:srgbClr val="7030A0"/>
                </a:solidFill>
              </a:rPr>
              <a:t>. Рассчитываются значения частных производных по всем переменным, кроме последней использовавшейся. С учётом вида задачи по величине (наибольшей по модулю) и знаку частной производной определяется переменная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000" b="1" dirty="0">
                <a:solidFill>
                  <a:srgbClr val="7030A0"/>
                </a:solidFill>
              </a:rPr>
              <a:t> и знак осевого направления </a:t>
            </a:r>
            <a:r>
              <a:rPr lang="en-US" sz="2000" b="1" i="1" dirty="0" err="1">
                <a:latin typeface="Times New Roman" panose="02020603050405020304" pitchFamily="18" charset="0"/>
              </a:rPr>
              <a:t>s</a:t>
            </a:r>
            <a:r>
              <a:rPr lang="en-US" sz="2000" b="1" i="1" baseline="-25000" dirty="0" err="1">
                <a:latin typeface="Times New Roman" panose="02020603050405020304" pitchFamily="18" charset="0"/>
              </a:rPr>
              <a:t>j</a:t>
            </a:r>
            <a:r>
              <a:rPr lang="ru-RU" sz="2000" b="1" dirty="0">
                <a:solidFill>
                  <a:srgbClr val="7030A0"/>
                </a:solidFill>
              </a:rPr>
              <a:t> наискорейшего улучшения целевой функции.</a:t>
            </a: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99711"/>
              </p:ext>
            </p:extLst>
          </p:nvPr>
        </p:nvGraphicFramePr>
        <p:xfrm>
          <a:off x="7826600" y="882259"/>
          <a:ext cx="471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266400" imgH="215640" progId="Equation.3">
                  <p:embed/>
                </p:oleObj>
              </mc:Choice>
              <mc:Fallback>
                <p:oleObj name="Формула" r:id="rId3" imgW="266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600" y="882259"/>
                        <a:ext cx="471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792" y="3717032"/>
            <a:ext cx="90822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3</a:t>
            </a:r>
            <a:r>
              <a:rPr lang="ru-RU" sz="2000" b="1" dirty="0">
                <a:solidFill>
                  <a:srgbClr val="7030A0"/>
                </a:solidFill>
              </a:rPr>
              <a:t>. Из последней лучшей точки выполняется последовательность шагов в выбранном направлении оси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000" b="1" dirty="0">
                <a:solidFill>
                  <a:srgbClr val="7030A0"/>
                </a:solidFill>
              </a:rPr>
              <a:t> до тех пор, пока целевая функция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000" b="1" dirty="0">
                <a:solidFill>
                  <a:srgbClr val="7030A0"/>
                </a:solidFill>
              </a:rPr>
              <a:t> продолжает улучшаться: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4. Если выбор ни одной новой переменной после расчёта частных производных не привёл к улучшению целевой функции, проверяется выполнение условия окончания:               . Если оно выполняется, вычисления заканчиваются. Решение – последняя лучшая точка.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Иначе уменьшается шаг поиска:</a:t>
            </a:r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000" b="1" dirty="0">
                <a:solidFill>
                  <a:srgbClr val="7030A0"/>
                </a:solidFill>
              </a:rPr>
              <a:t> – кратность уменьшения шага (обычно от 2 до 10, целесообразно: 3, 5, 7).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Возврат к п. 2</a:t>
            </a: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584781"/>
              </p:ext>
            </p:extLst>
          </p:nvPr>
        </p:nvGraphicFramePr>
        <p:xfrm>
          <a:off x="1463179" y="4299843"/>
          <a:ext cx="22447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5" imgW="1269720" imgH="279360" progId="Equation.3">
                  <p:embed/>
                </p:oleObj>
              </mc:Choice>
              <mc:Fallback>
                <p:oleObj name="Формула" r:id="rId5" imgW="1269720" imgH="279360" progId="Equation.3">
                  <p:embed/>
                  <p:pic>
                    <p:nvPicPr>
                      <p:cNvPr id="0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179" y="4299843"/>
                        <a:ext cx="22447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250273"/>
              </p:ext>
            </p:extLst>
          </p:nvPr>
        </p:nvGraphicFramePr>
        <p:xfrm>
          <a:off x="3748860" y="5846454"/>
          <a:ext cx="1584176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7" imgW="977760" imgH="253800" progId="Equation.3">
                  <p:embed/>
                </p:oleObj>
              </mc:Choice>
              <mc:Fallback>
                <p:oleObj name="Формула" r:id="rId7" imgW="977760" imgH="253800" progId="Equation.3">
                  <p:embed/>
                  <p:pic>
                    <p:nvPicPr>
                      <p:cNvPr id="0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860" y="5846454"/>
                        <a:ext cx="1584176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91298"/>
              </p:ext>
            </p:extLst>
          </p:nvPr>
        </p:nvGraphicFramePr>
        <p:xfrm>
          <a:off x="1403648" y="5229200"/>
          <a:ext cx="8620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9" imgW="533160" imgH="215640" progId="Equation.3">
                  <p:embed/>
                </p:oleObj>
              </mc:Choice>
              <mc:Fallback>
                <p:oleObj name="Формула" r:id="rId9" imgW="533160" imgH="215640" progId="Equation.3">
                  <p:embed/>
                  <p:pic>
                    <p:nvPicPr>
                      <p:cNvPr id="0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229200"/>
                        <a:ext cx="8620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72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6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72816"/>
            <a:ext cx="3276600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релаксаций (пример)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470703"/>
              </p:ext>
            </p:extLst>
          </p:nvPr>
        </p:nvGraphicFramePr>
        <p:xfrm>
          <a:off x="53975" y="681682"/>
          <a:ext cx="4302125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2857320" imgH="1346040" progId="Equation.3">
                  <p:embed/>
                </p:oleObj>
              </mc:Choice>
              <mc:Fallback>
                <p:oleObj name="Формула" r:id="rId3" imgW="2857320" imgH="1346040" progId="Equation.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681682"/>
                        <a:ext cx="4302125" cy="202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395643"/>
            <a:ext cx="3276600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180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418" y="4317811"/>
            <a:ext cx="345600" cy="18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451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градиента (иллюстрация)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11" name="Диаграмм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923096"/>
              </p:ext>
            </p:extLst>
          </p:nvPr>
        </p:nvGraphicFramePr>
        <p:xfrm>
          <a:off x="1115616" y="646331"/>
          <a:ext cx="9210675" cy="561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041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068318"/>
            <a:ext cx="2133600" cy="365125"/>
          </a:xfrm>
        </p:spPr>
        <p:txBody>
          <a:bodyPr/>
          <a:lstStyle/>
          <a:p>
            <a:fld id="{B6F829E1-22CD-4006-A51E-1C9B67A2B4DF}" type="slidenum">
              <a:rPr lang="ru-RU" smtClean="0"/>
              <a:t>6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градиента (алгоритм)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0136" y="618941"/>
            <a:ext cx="56743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Задаются:</a:t>
            </a:r>
            <a:br>
              <a:rPr lang="ru-RU" sz="2000" b="1" dirty="0">
                <a:solidFill>
                  <a:srgbClr val="7030A0"/>
                </a:solidFill>
              </a:rPr>
            </a:br>
            <a:r>
              <a:rPr lang="ru-RU" sz="2000" b="1" dirty="0">
                <a:solidFill>
                  <a:srgbClr val="7030A0"/>
                </a:solidFill>
              </a:rPr>
              <a:t>– начальная точка поиска оптимума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– начальный шаг поиска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ru-RU" sz="2000" b="1" dirty="0">
                <a:solidFill>
                  <a:srgbClr val="7030A0"/>
                </a:solidFill>
              </a:rPr>
              <a:t> и точность </a:t>
            </a:r>
            <a:r>
              <a:rPr lang="en-US" sz="2000" b="1" i="1" dirty="0">
                <a:latin typeface="Symbol" panose="05050102010706020507" pitchFamily="18" charset="2"/>
              </a:rPr>
              <a:t>e</a:t>
            </a:r>
            <a:r>
              <a:rPr lang="en-US" sz="2000" b="1" dirty="0">
                <a:solidFill>
                  <a:srgbClr val="7030A0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2</a:t>
            </a:r>
            <a:r>
              <a:rPr lang="ru-RU" sz="2000" b="1" dirty="0">
                <a:solidFill>
                  <a:srgbClr val="7030A0"/>
                </a:solidFill>
              </a:rPr>
              <a:t>. Рассчитываются значения частных производных по всем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ru-RU" sz="2000" b="1" dirty="0">
                <a:solidFill>
                  <a:srgbClr val="7030A0"/>
                </a:solidFill>
              </a:rPr>
              <a:t>переменным и координаты градиента в последней лучшей (или начальной) точке: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endParaRPr lang="ru-RU" sz="2000" b="1" dirty="0">
              <a:solidFill>
                <a:srgbClr val="7030A0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833523"/>
              </p:ext>
            </p:extLst>
          </p:nvPr>
        </p:nvGraphicFramePr>
        <p:xfrm>
          <a:off x="7826600" y="882259"/>
          <a:ext cx="471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66400" imgH="215640" progId="Equation.3">
                  <p:embed/>
                </p:oleObj>
              </mc:Choice>
              <mc:Fallback>
                <p:oleObj name="Формула" r:id="rId2" imgW="266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600" y="882259"/>
                        <a:ext cx="471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792" y="3717032"/>
            <a:ext cx="90822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3</a:t>
            </a:r>
            <a:r>
              <a:rPr lang="ru-RU" sz="2000" b="1" dirty="0">
                <a:solidFill>
                  <a:srgbClr val="7030A0"/>
                </a:solidFill>
              </a:rPr>
              <a:t>. Из последней лучшей точки выполняется шаг в направлении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ru-RU" sz="2000" b="1" dirty="0">
                <a:solidFill>
                  <a:srgbClr val="7030A0"/>
                </a:solidFill>
              </a:rPr>
              <a:t>оптимума:</a:t>
            </a:r>
            <a:br>
              <a:rPr lang="ru-RU" sz="2000" b="1" dirty="0">
                <a:solidFill>
                  <a:srgbClr val="7030A0"/>
                </a:solidFill>
              </a:rPr>
            </a:br>
            <a:r>
              <a:rPr lang="ru-RU" sz="2000" b="1" dirty="0">
                <a:solidFill>
                  <a:srgbClr val="7030A0"/>
                </a:solidFill>
              </a:rPr>
              <a:t>                                      – для минимизации и                                        – для максимизации. Рассчитывается значение критерия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000" b="1" dirty="0">
                <a:solidFill>
                  <a:srgbClr val="7030A0"/>
                </a:solidFill>
              </a:rPr>
              <a:t> в новой точке.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4. Если значение критерия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000" b="1" dirty="0">
                <a:solidFill>
                  <a:srgbClr val="7030A0"/>
                </a:solidFill>
              </a:rPr>
              <a:t> в новой точке лучше, чем в последней лучшей точке, новая точка запоминается как лучшая, и возврат к п. 2.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Иначе проверяется условие окончания вычислений                 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5. Если условие окончания выполняется, вычисления заканчиваются. Решение – последняя лучшая точка. Иначе уменьшается шаг поиска:</a:t>
            </a:r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000" b="1" dirty="0">
                <a:solidFill>
                  <a:srgbClr val="7030A0"/>
                </a:solidFill>
              </a:rPr>
              <a:t> – кратность уменьшения шага (обычно от 2 до 10).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Возврат к п. 2</a:t>
            </a: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405781"/>
              </p:ext>
            </p:extLst>
          </p:nvPr>
        </p:nvGraphicFramePr>
        <p:xfrm>
          <a:off x="107504" y="4005064"/>
          <a:ext cx="2194297" cy="4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307880" imgH="279360" progId="Equation.3">
                  <p:embed/>
                </p:oleObj>
              </mc:Choice>
              <mc:Fallback>
                <p:oleObj name="Формула" r:id="rId4" imgW="1307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4005064"/>
                        <a:ext cx="2194297" cy="47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956847"/>
              </p:ext>
            </p:extLst>
          </p:nvPr>
        </p:nvGraphicFramePr>
        <p:xfrm>
          <a:off x="6748239" y="5848697"/>
          <a:ext cx="1584176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977760" imgH="253800" progId="Equation.3">
                  <p:embed/>
                </p:oleObj>
              </mc:Choice>
              <mc:Fallback>
                <p:oleObj name="Формула" r:id="rId6" imgW="977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239" y="5848697"/>
                        <a:ext cx="1584176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084212"/>
              </p:ext>
            </p:extLst>
          </p:nvPr>
        </p:nvGraphicFramePr>
        <p:xfrm>
          <a:off x="5940152" y="5229200"/>
          <a:ext cx="8620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533160" imgH="215640" progId="Equation.3">
                  <p:embed/>
                </p:oleObj>
              </mc:Choice>
              <mc:Fallback>
                <p:oleObj name="Формула" r:id="rId8" imgW="533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5229200"/>
                        <a:ext cx="8620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" y="652271"/>
            <a:ext cx="3600400" cy="313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893816"/>
              </p:ext>
            </p:extLst>
          </p:nvPr>
        </p:nvGraphicFramePr>
        <p:xfrm>
          <a:off x="5868144" y="2470872"/>
          <a:ext cx="1440160" cy="132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1" imgW="1193760" imgH="1091880" progId="Equation.3">
                  <p:embed/>
                </p:oleObj>
              </mc:Choice>
              <mc:Fallback>
                <p:oleObj name="Формула" r:id="rId11" imgW="1193760" imgH="1091880" progId="Equation.3">
                  <p:embed/>
                  <p:pic>
                    <p:nvPicPr>
                      <p:cNvPr id="0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470872"/>
                        <a:ext cx="1440160" cy="1326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255810"/>
              </p:ext>
            </p:extLst>
          </p:nvPr>
        </p:nvGraphicFramePr>
        <p:xfrm>
          <a:off x="4788024" y="4005064"/>
          <a:ext cx="21939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3" imgW="1307880" imgH="279360" progId="Equation.3">
                  <p:embed/>
                </p:oleObj>
              </mc:Choice>
              <mc:Fallback>
                <p:oleObj name="Формула" r:id="rId13" imgW="1307880" imgH="279360" progId="Equation.3">
                  <p:embed/>
                  <p:pic>
                    <p:nvPicPr>
                      <p:cNvPr id="0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005064"/>
                        <a:ext cx="21939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3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градиента (пример)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115020"/>
              </p:ext>
            </p:extLst>
          </p:nvPr>
        </p:nvGraphicFramePr>
        <p:xfrm>
          <a:off x="53975" y="681682"/>
          <a:ext cx="4302125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857320" imgH="1346040" progId="Equation.3">
                  <p:embed/>
                </p:oleObj>
              </mc:Choice>
              <mc:Fallback>
                <p:oleObj name="Формула" r:id="rId2" imgW="2857320" imgH="1346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681682"/>
                        <a:ext cx="4302125" cy="202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1772816"/>
            <a:ext cx="5431680" cy="404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69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наискорейшего спуска (иллюстрация)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4" name="Диаграмм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437257"/>
              </p:ext>
            </p:extLst>
          </p:nvPr>
        </p:nvGraphicFramePr>
        <p:xfrm>
          <a:off x="1115616" y="836712"/>
          <a:ext cx="9210675" cy="561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550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068318"/>
            <a:ext cx="2133600" cy="365125"/>
          </a:xfrm>
        </p:spPr>
        <p:txBody>
          <a:bodyPr/>
          <a:lstStyle/>
          <a:p>
            <a:fld id="{B6F829E1-22CD-4006-A51E-1C9B67A2B4DF}" type="slidenum">
              <a:rPr lang="ru-RU" smtClean="0"/>
              <a:t>9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наискорейшего спуска (алгоритм)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0136" y="618941"/>
            <a:ext cx="56743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Задаются:</a:t>
            </a:r>
            <a:br>
              <a:rPr lang="ru-RU" sz="2000" b="1" dirty="0">
                <a:solidFill>
                  <a:srgbClr val="7030A0"/>
                </a:solidFill>
              </a:rPr>
            </a:br>
            <a:r>
              <a:rPr lang="ru-RU" sz="2000" b="1" dirty="0">
                <a:solidFill>
                  <a:srgbClr val="7030A0"/>
                </a:solidFill>
              </a:rPr>
              <a:t>– начальная точка поиска оптимума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– начальный шаг поиска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ru-RU" sz="2000" b="1" dirty="0">
                <a:solidFill>
                  <a:srgbClr val="7030A0"/>
                </a:solidFill>
              </a:rPr>
              <a:t> и точность </a:t>
            </a:r>
            <a:r>
              <a:rPr lang="en-US" sz="2000" b="1" i="1" dirty="0">
                <a:latin typeface="Symbol" panose="05050102010706020507" pitchFamily="18" charset="2"/>
              </a:rPr>
              <a:t>e</a:t>
            </a:r>
            <a:r>
              <a:rPr lang="en-US" sz="2000" b="1" dirty="0">
                <a:solidFill>
                  <a:srgbClr val="7030A0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2</a:t>
            </a:r>
            <a:r>
              <a:rPr lang="ru-RU" sz="2000" b="1" dirty="0">
                <a:solidFill>
                  <a:srgbClr val="7030A0"/>
                </a:solidFill>
              </a:rPr>
              <a:t>. Рассчитываются значения частных производных по всем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ru-RU" sz="2000" b="1" dirty="0">
                <a:solidFill>
                  <a:srgbClr val="7030A0"/>
                </a:solidFill>
              </a:rPr>
              <a:t>переменным и координаты градиента в последней лучшей (или начальной) точке: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endParaRPr lang="ru-RU" sz="2000" b="1" dirty="0">
              <a:solidFill>
                <a:srgbClr val="7030A0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28513"/>
              </p:ext>
            </p:extLst>
          </p:nvPr>
        </p:nvGraphicFramePr>
        <p:xfrm>
          <a:off x="7826600" y="882259"/>
          <a:ext cx="471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66400" imgH="215640" progId="Equation.3">
                  <p:embed/>
                </p:oleObj>
              </mc:Choice>
              <mc:Fallback>
                <p:oleObj name="Формула" r:id="rId2" imgW="266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600" y="882259"/>
                        <a:ext cx="471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792" y="3717032"/>
            <a:ext cx="90822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3</a:t>
            </a:r>
            <a:r>
              <a:rPr lang="ru-RU" sz="2000" b="1" dirty="0">
                <a:solidFill>
                  <a:srgbClr val="7030A0"/>
                </a:solidFill>
              </a:rPr>
              <a:t>. Из последней лучшей точки выполняется серия шагов в направлении улучшения целевой функции:                                       – для минимизации,</a:t>
            </a:r>
            <a:br>
              <a:rPr lang="ru-RU" sz="2000" b="1" dirty="0">
                <a:solidFill>
                  <a:srgbClr val="7030A0"/>
                </a:solidFill>
              </a:rPr>
            </a:br>
            <a:r>
              <a:rPr lang="ru-RU" sz="2000" b="1" dirty="0">
                <a:solidFill>
                  <a:srgbClr val="7030A0"/>
                </a:solidFill>
              </a:rPr>
              <a:t>                                      –  для максимизации до тех пор, пока продолжает улучшаться значение критерия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000" b="1" dirty="0">
                <a:solidFill>
                  <a:srgbClr val="7030A0"/>
                </a:solidFill>
              </a:rPr>
              <a:t>. Если улучшение ни разу не произошло, шаг поиска уменьшается:                           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000" b="1" dirty="0">
                <a:solidFill>
                  <a:srgbClr val="7030A0"/>
                </a:solidFill>
              </a:rPr>
              <a:t> – кратность уменьшения шага (обычно от 2 до 10). Затем возврат к п. 2.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4. Если значение критерия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000" b="1" dirty="0">
                <a:solidFill>
                  <a:srgbClr val="7030A0"/>
                </a:solidFill>
              </a:rPr>
              <a:t> ухудшилось после хотя бы одного удачного шага, проверяется условие окончания вычислений                 . Если оно выполняется, вычисления заканчиваются. Решение – последняя лучшая точка.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Иначе возврат к п. 2 без изменения размера шага.</a:t>
            </a: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194657"/>
              </p:ext>
            </p:extLst>
          </p:nvPr>
        </p:nvGraphicFramePr>
        <p:xfrm>
          <a:off x="3457823" y="4021540"/>
          <a:ext cx="2194297" cy="4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307880" imgH="279360" progId="Equation.3">
                  <p:embed/>
                </p:oleObj>
              </mc:Choice>
              <mc:Fallback>
                <p:oleObj name="Формула" r:id="rId4" imgW="1307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823" y="4021540"/>
                        <a:ext cx="2194297" cy="47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22337"/>
              </p:ext>
            </p:extLst>
          </p:nvPr>
        </p:nvGraphicFramePr>
        <p:xfrm>
          <a:off x="2483768" y="4941168"/>
          <a:ext cx="1584176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977760" imgH="253800" progId="Equation.3">
                  <p:embed/>
                </p:oleObj>
              </mc:Choice>
              <mc:Fallback>
                <p:oleObj name="Формула" r:id="rId6" imgW="977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941168"/>
                        <a:ext cx="1584176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967668"/>
              </p:ext>
            </p:extLst>
          </p:nvPr>
        </p:nvGraphicFramePr>
        <p:xfrm>
          <a:off x="5181016" y="5846454"/>
          <a:ext cx="8620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533160" imgH="215640" progId="Equation.3">
                  <p:embed/>
                </p:oleObj>
              </mc:Choice>
              <mc:Fallback>
                <p:oleObj name="Формула" r:id="rId8" imgW="533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016" y="5846454"/>
                        <a:ext cx="8620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77572"/>
              </p:ext>
            </p:extLst>
          </p:nvPr>
        </p:nvGraphicFramePr>
        <p:xfrm>
          <a:off x="5868144" y="2404554"/>
          <a:ext cx="1512168" cy="1392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0" imgW="1193760" imgH="1091880" progId="Equation.3">
                  <p:embed/>
                </p:oleObj>
              </mc:Choice>
              <mc:Fallback>
                <p:oleObj name="Формула" r:id="rId10" imgW="119376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404554"/>
                        <a:ext cx="1512168" cy="1392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1" y="613558"/>
            <a:ext cx="3636965" cy="315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52399"/>
              </p:ext>
            </p:extLst>
          </p:nvPr>
        </p:nvGraphicFramePr>
        <p:xfrm>
          <a:off x="107504" y="4325665"/>
          <a:ext cx="21939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3" imgW="1307880" imgH="279360" progId="Equation.3">
                  <p:embed/>
                </p:oleObj>
              </mc:Choice>
              <mc:Fallback>
                <p:oleObj name="Формула" r:id="rId13" imgW="1307880" imgH="279360" progId="Equation.3">
                  <p:embed/>
                  <p:pic>
                    <p:nvPicPr>
                      <p:cNvPr id="0" name="Объект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4325665"/>
                        <a:ext cx="21939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658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732309"/>
            <a:ext cx="4276725" cy="5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10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наискорейшего спуска (пример)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371536"/>
              </p:ext>
            </p:extLst>
          </p:nvPr>
        </p:nvGraphicFramePr>
        <p:xfrm>
          <a:off x="53975" y="681682"/>
          <a:ext cx="4302125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2857320" imgH="1346040" progId="Equation.3">
                  <p:embed/>
                </p:oleObj>
              </mc:Choice>
              <mc:Fallback>
                <p:oleObj name="Формула" r:id="rId3" imgW="2857320" imgH="1346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681682"/>
                        <a:ext cx="4302125" cy="202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739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Сравнение работы градиентных методов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6" name="Диаграмм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490086"/>
              </p:ext>
            </p:extLst>
          </p:nvPr>
        </p:nvGraphicFramePr>
        <p:xfrm>
          <a:off x="827584" y="836712"/>
          <a:ext cx="9210675" cy="561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077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12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Вычислительные проблемы градиентных методов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1268760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Возможность остановки поиска решения в локальной точке оптимума целевой функции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r>
              <a:rPr lang="ru-RU" sz="2000" b="1" dirty="0">
                <a:solidFill>
                  <a:srgbClr val="7030A0"/>
                </a:solidFill>
              </a:rPr>
              <a:t>2. Вероятна недостижимость решения с требуемой точностью для не дифференцируемых целевых функций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-1588" y="323678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Варианты решения проблем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3958024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Решение задачи с использованием различных начальных приближений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r>
              <a:rPr lang="ru-RU" sz="2000" b="1" dirty="0">
                <a:solidFill>
                  <a:srgbClr val="7030A0"/>
                </a:solidFill>
              </a:rPr>
              <a:t>2. Использование методов оптимизации, основанных на других принципах приближения к оптимуму</a:t>
            </a:r>
          </a:p>
        </p:txBody>
      </p:sp>
    </p:spTree>
    <p:extLst>
      <p:ext uri="{BB962C8B-B14F-4D97-AF65-F5344CB8AC3E}">
        <p14:creationId xmlns:p14="http://schemas.microsoft.com/office/powerpoint/2010/main" val="482053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556792"/>
            <a:ext cx="914400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Мног</a:t>
            </a:r>
            <a:r>
              <a:rPr lang="ru-RU" sz="5400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омерная оптимизация</a:t>
            </a:r>
            <a:endParaRPr lang="en-US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endParaRPr lang="ru-RU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Методы случайного поиска</a:t>
            </a:r>
            <a:endParaRPr lang="ru-RU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642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90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Методы случайного поиска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7436" y="912777"/>
            <a:ext cx="83529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u="sng" dirty="0">
                <a:solidFill>
                  <a:srgbClr val="7030A0"/>
                </a:solidFill>
              </a:rPr>
              <a:t>Метод случайных направлений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1. Поиск нового случайного направления улучшения целевой функции в каждой новой точке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pPr algn="ctr"/>
            <a:r>
              <a:rPr lang="ru-RU" sz="2000" b="1" u="sng" dirty="0">
                <a:solidFill>
                  <a:srgbClr val="7030A0"/>
                </a:solidFill>
              </a:rPr>
              <a:t>Метод случайных направлений с обратным шагом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1. Поиск нового случайного направления улучшения целевой функции в каждой новой точке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2. Попытка поиска в противоположном направлении в случае неудачного нового направления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pPr algn="ctr"/>
            <a:r>
              <a:rPr lang="ru-RU" sz="2000" b="1" u="sng" dirty="0">
                <a:solidFill>
                  <a:srgbClr val="7030A0"/>
                </a:solidFill>
              </a:rPr>
              <a:t>Метод спуска с наказанием случайностью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1. Поиск нового случайного направления улучшения целевой функции в каждой новой точке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2. Попытка поиска в противоположном направлении в случае неудачного нового направления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3. Движение вдоль последнего направления улучшения целевой функции, пока она продолжает улучшаться</a:t>
            </a:r>
          </a:p>
        </p:txBody>
      </p:sp>
    </p:spTree>
    <p:extLst>
      <p:ext uri="{BB962C8B-B14F-4D97-AF65-F5344CB8AC3E}">
        <p14:creationId xmlns:p14="http://schemas.microsoft.com/office/powerpoint/2010/main" val="818909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900" y="0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спуска с наказанием случайностью (иллюстрация)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4" name="Диаграмм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084999"/>
              </p:ext>
            </p:extLst>
          </p:nvPr>
        </p:nvGraphicFramePr>
        <p:xfrm>
          <a:off x="1043608" y="1171933"/>
          <a:ext cx="9210675" cy="561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29963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900" y="-75585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спуска с наказанием случайностью (алгоритм)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068318"/>
            <a:ext cx="2133600" cy="365125"/>
          </a:xfrm>
        </p:spPr>
        <p:txBody>
          <a:bodyPr/>
          <a:lstStyle/>
          <a:p>
            <a:fld id="{B6F829E1-22CD-4006-A51E-1C9B67A2B4DF}" type="slidenum">
              <a:rPr lang="ru-RU" smtClean="0"/>
              <a:t>16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650136" y="968042"/>
            <a:ext cx="56743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Задаются:</a:t>
            </a:r>
            <a:br>
              <a:rPr lang="ru-RU" sz="2000" b="1" dirty="0">
                <a:solidFill>
                  <a:srgbClr val="7030A0"/>
                </a:solidFill>
              </a:rPr>
            </a:br>
            <a:r>
              <a:rPr lang="ru-RU" sz="2000" b="1" dirty="0">
                <a:solidFill>
                  <a:srgbClr val="7030A0"/>
                </a:solidFill>
              </a:rPr>
              <a:t>– начальная точка поиска оптимума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– начальный шаг поиска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ru-RU" sz="2000" b="1" dirty="0">
                <a:solidFill>
                  <a:srgbClr val="7030A0"/>
                </a:solidFill>
              </a:rPr>
              <a:t> и точность </a:t>
            </a:r>
            <a:r>
              <a:rPr lang="en-US" sz="2000" b="1" i="1" dirty="0">
                <a:latin typeface="Symbol" panose="05050102010706020507" pitchFamily="18" charset="2"/>
              </a:rPr>
              <a:t>e</a:t>
            </a:r>
            <a:r>
              <a:rPr lang="ru-RU" sz="2000" b="1" dirty="0">
                <a:solidFill>
                  <a:srgbClr val="7030A0"/>
                </a:solidFill>
              </a:rPr>
              <a:t> и предельное количество неудачных попыток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2</a:t>
            </a:r>
            <a:r>
              <a:rPr lang="ru-RU" sz="2000" b="1" dirty="0">
                <a:solidFill>
                  <a:srgbClr val="7030A0"/>
                </a:solidFill>
              </a:rPr>
              <a:t>. Случайным образом генерируются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b="1" dirty="0">
                <a:solidFill>
                  <a:srgbClr val="7030A0"/>
                </a:solidFill>
              </a:rPr>
              <a:t> чисел из симметричного относительно начала отсчёта диапазона: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000" b="1" dirty="0"/>
              <a:t>–</a:t>
            </a:r>
            <a:r>
              <a:rPr lang="en-US" sz="2000" b="1" i="1" dirty="0">
                <a:latin typeface="Symbol" panose="05050102010706020507" pitchFamily="18" charset="2"/>
              </a:rPr>
              <a:t>a</a:t>
            </a:r>
            <a:r>
              <a:rPr lang="en-US" sz="2000" b="1" dirty="0"/>
              <a:t>; </a:t>
            </a:r>
            <a:r>
              <a:rPr lang="en-US" sz="2000" b="1" i="1" dirty="0">
                <a:latin typeface="Symbol" panose="05050102010706020507" pitchFamily="18" charset="2"/>
              </a:rPr>
              <a:t>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dirty="0">
                <a:solidFill>
                  <a:srgbClr val="7030A0"/>
                </a:solidFill>
              </a:rPr>
              <a:t>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3</a:t>
            </a:r>
            <a:r>
              <a:rPr lang="ru-RU" sz="2000" b="1" dirty="0">
                <a:solidFill>
                  <a:srgbClr val="7030A0"/>
                </a:solidFill>
              </a:rPr>
              <a:t>. Рассчитываются координаты случайного направления:</a:t>
            </a: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857277"/>
              </p:ext>
            </p:extLst>
          </p:nvPr>
        </p:nvGraphicFramePr>
        <p:xfrm>
          <a:off x="7812360" y="1228551"/>
          <a:ext cx="471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66400" imgH="215640" progId="Equation.3">
                  <p:embed/>
                </p:oleObj>
              </mc:Choice>
              <mc:Fallback>
                <p:oleObj name="Формула" r:id="rId2" imgW="266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1228551"/>
                        <a:ext cx="471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792" y="4005064"/>
            <a:ext cx="90822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4. Из последней лучшей точки выполняется серия шагов в случайном направлении:                                        до тех пор, пока продолжает улучшаться значение критерия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000" b="1" dirty="0">
                <a:solidFill>
                  <a:srgbClr val="7030A0"/>
                </a:solidFill>
              </a:rPr>
              <a:t>. Если улучшение ни разу не произошло, делается попытка выполнить удачную серию в обратном направлении:                                       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5. Если прямое и обратное направления ни разу не дали улучшение критерия, счётчик неудачных попыток увеличивается на 1 и возврат к п. 2.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6. Если выполнено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b="1" dirty="0">
                <a:solidFill>
                  <a:srgbClr val="7030A0"/>
                </a:solidFill>
              </a:rPr>
              <a:t> неудачных попыток, проверяется условие окончания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             . Если оно выполняется, вычисления заканчиваются, иначе шаг поиска уменьшается                            и возврат к п. 2.</a:t>
            </a: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338954"/>
              </p:ext>
            </p:extLst>
          </p:nvPr>
        </p:nvGraphicFramePr>
        <p:xfrm>
          <a:off x="1690886" y="4309006"/>
          <a:ext cx="2194297" cy="4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307880" imgH="279360" progId="Equation.3">
                  <p:embed/>
                </p:oleObj>
              </mc:Choice>
              <mc:Fallback>
                <p:oleObj name="Формула" r:id="rId4" imgW="1307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886" y="4309006"/>
                        <a:ext cx="2194297" cy="47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004050"/>
              </p:ext>
            </p:extLst>
          </p:nvPr>
        </p:nvGraphicFramePr>
        <p:xfrm>
          <a:off x="1619672" y="6453869"/>
          <a:ext cx="1584176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977760" imgH="253800" progId="Equation.3">
                  <p:embed/>
                </p:oleObj>
              </mc:Choice>
              <mc:Fallback>
                <p:oleObj name="Формула" r:id="rId6" imgW="977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6453869"/>
                        <a:ext cx="1584176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26234"/>
              </p:ext>
            </p:extLst>
          </p:nvPr>
        </p:nvGraphicFramePr>
        <p:xfrm>
          <a:off x="59382" y="6093296"/>
          <a:ext cx="8620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533160" imgH="215640" progId="Equation.3">
                  <p:embed/>
                </p:oleObj>
              </mc:Choice>
              <mc:Fallback>
                <p:oleObj name="Формула" r:id="rId8" imgW="533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2" y="6093296"/>
                        <a:ext cx="8620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534930"/>
              </p:ext>
            </p:extLst>
          </p:nvPr>
        </p:nvGraphicFramePr>
        <p:xfrm>
          <a:off x="5364088" y="3278113"/>
          <a:ext cx="11890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0" imgW="939600" imgH="723600" progId="Equation.3">
                  <p:embed/>
                </p:oleObj>
              </mc:Choice>
              <mc:Fallback>
                <p:oleObj name="Формула" r:id="rId10" imgW="93960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278113"/>
                        <a:ext cx="11890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92696"/>
            <a:ext cx="3419871" cy="299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116786"/>
              </p:ext>
            </p:extLst>
          </p:nvPr>
        </p:nvGraphicFramePr>
        <p:xfrm>
          <a:off x="6085309" y="4917837"/>
          <a:ext cx="21939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3" imgW="1307880" imgH="279360" progId="Equation.3">
                  <p:embed/>
                </p:oleObj>
              </mc:Choice>
              <mc:Fallback>
                <p:oleObj name="Формула" r:id="rId13" imgW="1307880" imgH="279360" progId="Equation.3">
                  <p:embed/>
                  <p:pic>
                    <p:nvPicPr>
                      <p:cNvPr id="0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309" y="4917837"/>
                        <a:ext cx="21939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3061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17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0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 спуска с наказанием случайностью (пример)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553584"/>
              </p:ext>
            </p:extLst>
          </p:nvPr>
        </p:nvGraphicFramePr>
        <p:xfrm>
          <a:off x="53975" y="1113730"/>
          <a:ext cx="4302125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857320" imgH="1346040" progId="Equation.3">
                  <p:embed/>
                </p:oleObj>
              </mc:Choice>
              <mc:Fallback>
                <p:oleObj name="Формула" r:id="rId2" imgW="2857320" imgH="1346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1113730"/>
                        <a:ext cx="4302125" cy="202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070" y="1200329"/>
            <a:ext cx="3656338" cy="5614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847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18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00" y="47841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Недостатки методов случайного поиска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1268760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Большое количество шагов вычислений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r>
              <a:rPr lang="ru-RU" sz="2000" b="1" dirty="0">
                <a:solidFill>
                  <a:srgbClr val="7030A0"/>
                </a:solidFill>
              </a:rPr>
              <a:t>2. Большой объём вычислений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r>
              <a:rPr lang="ru-RU" sz="2000" b="1" dirty="0">
                <a:solidFill>
                  <a:srgbClr val="7030A0"/>
                </a:solidFill>
              </a:rPr>
              <a:t>3. Продолжительное время поиска решения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-1588" y="323678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Преимущества методов случайного поиска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4049777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1. Возможность поиска решения для функций со сложным рельефом поверхности</a:t>
            </a:r>
          </a:p>
          <a:p>
            <a:endParaRPr lang="ru-RU" sz="2000" b="1" dirty="0">
              <a:solidFill>
                <a:srgbClr val="7030A0"/>
              </a:solidFill>
            </a:endParaRPr>
          </a:p>
          <a:p>
            <a:r>
              <a:rPr lang="ru-RU" sz="2000" b="1" dirty="0">
                <a:solidFill>
                  <a:srgbClr val="7030A0"/>
                </a:solidFill>
              </a:rPr>
              <a:t>2. Не нужно численно рассчитывать частные производные</a:t>
            </a:r>
          </a:p>
        </p:txBody>
      </p:sp>
    </p:spTree>
    <p:extLst>
      <p:ext uri="{BB962C8B-B14F-4D97-AF65-F5344CB8AC3E}">
        <p14:creationId xmlns:p14="http://schemas.microsoft.com/office/powerpoint/2010/main" val="2212147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1900" y="46365"/>
            <a:ext cx="485813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Домашнее задание</a:t>
            </a:r>
            <a:endParaRPr lang="ru-RU" sz="36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 txBox="1"/>
              <p:nvPr/>
            </p:nvSpPr>
            <p:spPr bwMode="auto">
              <a:xfrm>
                <a:off x="1982788" y="1852613"/>
                <a:ext cx="5135562" cy="1504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ru-RU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0, 0, 0</m:t>
                          </m:r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=0,01; 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=0,2; 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788" y="1852613"/>
                <a:ext cx="5135562" cy="1504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900" y="843930"/>
            <a:ext cx="9142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</a:rPr>
              <a:t>Определить тип задачи многомерной оптимизации и решить её методами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ru-RU" sz="2000" b="1" dirty="0">
                <a:solidFill>
                  <a:srgbClr val="7030A0"/>
                </a:solidFill>
              </a:rPr>
              <a:t>релаксаций, градиента, наискорейшего спуска, спуска с наказанием случайностью. </a:t>
            </a:r>
            <a:r>
              <a:rPr lang="en-US" sz="20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b="1" dirty="0">
                <a:solidFill>
                  <a:srgbClr val="7030A0"/>
                </a:solidFill>
              </a:rPr>
              <a:t> – номер варианта лабораторного практикума.</a:t>
            </a:r>
          </a:p>
        </p:txBody>
      </p:sp>
    </p:spTree>
    <p:extLst>
      <p:ext uri="{BB962C8B-B14F-4D97-AF65-F5344CB8AC3E}">
        <p14:creationId xmlns:p14="http://schemas.microsoft.com/office/powerpoint/2010/main" val="2590669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556792"/>
            <a:ext cx="914400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Мног</a:t>
            </a:r>
            <a:r>
              <a:rPr lang="ru-RU" sz="5400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омерная оптимизация</a:t>
            </a:r>
            <a:endParaRPr lang="en-US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endParaRPr lang="ru-RU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Методы градиентного поиска</a:t>
            </a:r>
            <a:endParaRPr lang="en-US" sz="5400" b="1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ru-RU" sz="54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Методы случайного поиска</a:t>
            </a:r>
            <a:endParaRPr lang="ru-RU" sz="5400" b="1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829E1-22CD-4006-A51E-1C9B67A2B4D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6421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6239</TotalTime>
  <Words>1122</Words>
  <PresentationFormat>Экран (4:3)</PresentationFormat>
  <Paragraphs>153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2020-04-10T10:11:46Z</dcterms:created>
  <dcterms:modified xsi:type="dcterms:W3CDTF">2025-12-18T19:07:32Z</dcterms:modified>
</cp:coreProperties>
</file>