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BC7AF6-37A6-4FA4-A7D1-7DC34A9D325D}" v="5" dt="2022-12-26T19:40:42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0" autoAdjust="0"/>
    <p:restoredTop sz="94595" autoAdjust="0"/>
  </p:normalViewPr>
  <p:slideViewPr>
    <p:cSldViewPr>
      <p:cViewPr varScale="1">
        <p:scale>
          <a:sx n="85" d="100"/>
          <a:sy n="85" d="100"/>
        </p:scale>
        <p:origin x="115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Будин Дмитрий Игоревич" userId="S::stud115797@vyatsu.ru::48ca22d9-aa30-401b-af03-732b2e4b05e9" providerId="AD" clId="Web-{17BC7AF6-37A6-4FA4-A7D1-7DC34A9D325D}"/>
    <pc:docChg chg="modSld">
      <pc:chgData name="Будин Дмитрий Игоревич" userId="S::stud115797@vyatsu.ru::48ca22d9-aa30-401b-af03-732b2e4b05e9" providerId="AD" clId="Web-{17BC7AF6-37A6-4FA4-A7D1-7DC34A9D325D}" dt="2022-12-26T19:40:42.538" v="3" actId="20577"/>
      <pc:docMkLst>
        <pc:docMk/>
      </pc:docMkLst>
      <pc:sldChg chg="modSp">
        <pc:chgData name="Будин Дмитрий Игоревич" userId="S::stud115797@vyatsu.ru::48ca22d9-aa30-401b-af03-732b2e4b05e9" providerId="AD" clId="Web-{17BC7AF6-37A6-4FA4-A7D1-7DC34A9D325D}" dt="2022-12-26T19:40:42.538" v="3" actId="20577"/>
        <pc:sldMkLst>
          <pc:docMk/>
          <pc:sldMk cId="0" sldId="261"/>
        </pc:sldMkLst>
        <pc:spChg chg="mod">
          <ac:chgData name="Будин Дмитрий Игоревич" userId="S::stud115797@vyatsu.ru::48ca22d9-aa30-401b-af03-732b2e4b05e9" providerId="AD" clId="Web-{17BC7AF6-37A6-4FA4-A7D1-7DC34A9D325D}" dt="2022-12-26T19:40:42.538" v="3" actId="20577"/>
          <ac:spMkLst>
            <pc:docMk/>
            <pc:sldMk cId="0" sldId="261"/>
            <ac:spMk id="1024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5972B6-A2B4-43D0-9ADF-A45F32AAA16F}" type="datetimeFigureOut">
              <a:rPr lang="ru-RU"/>
              <a:pPr>
                <a:defRPr/>
              </a:pPr>
              <a:t>26.12.2022</a:t>
            </a:fld>
            <a:endParaRPr lang="ru-RU"/>
          </a:p>
        </p:txBody>
      </p:sp>
      <p:sp>
        <p:nvSpPr>
          <p:cNvPr id="5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61FF71-FEE3-4FE3-8328-8C992791626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03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388EF-735A-45B5-8F10-CC6CD03FD4CF}" type="datetimeFigureOut">
              <a:rPr lang="ru-RU"/>
              <a:pPr>
                <a:defRPr/>
              </a:pPr>
              <a:t>26.12.2022</a:t>
            </a:fld>
            <a:endParaRPr lang="ru-RU"/>
          </a:p>
        </p:txBody>
      </p:sp>
      <p:sp>
        <p:nvSpPr>
          <p:cNvPr id="5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69F40-FD61-44D0-B612-C21FAC7C281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28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BA6DA-1B3A-4D15-A6DE-47C24D042A22}" type="datetimeFigureOut">
              <a:rPr lang="ru-RU"/>
              <a:pPr>
                <a:defRPr/>
              </a:pPr>
              <a:t>26.12.2022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D6B9ED-2315-4602-9494-83394C1C2DE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2643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646EE9-8347-4009-A4D9-016B629C5515}" type="datetimeFigureOut">
              <a:rPr lang="ru-RU"/>
              <a:pPr>
                <a:defRPr/>
              </a:pPr>
              <a:t>26.12.2022</a:t>
            </a:fld>
            <a:endParaRPr lang="ru-RU"/>
          </a:p>
        </p:txBody>
      </p:sp>
      <p:sp>
        <p:nvSpPr>
          <p:cNvPr id="6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DEF6E-39C0-41BF-B8F1-639749E8DED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667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60B725-96C6-4D50-890D-C1441DC0ABF1}" type="datetimeFigureOut">
              <a:rPr lang="ru-RU"/>
              <a:pPr>
                <a:defRPr/>
              </a:pPr>
              <a:t>26.12.2022</a:t>
            </a:fld>
            <a:endParaRPr lang="ru-RU"/>
          </a:p>
        </p:txBody>
      </p:sp>
      <p:sp>
        <p:nvSpPr>
          <p:cNvPr id="8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E2FFA7-8DE7-4FD6-A347-90C0CACBDD7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445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5A24C1-D389-49E8-8504-385C48BD026F}" type="datetimeFigureOut">
              <a:rPr lang="ru-RU"/>
              <a:pPr>
                <a:defRPr/>
              </a:pPr>
              <a:t>26.12.2022</a:t>
            </a:fld>
            <a:endParaRPr lang="ru-RU"/>
          </a:p>
        </p:txBody>
      </p:sp>
      <p:sp>
        <p:nvSpPr>
          <p:cNvPr id="4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E3494D-91CC-4EE6-95F5-E0AEB097702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121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5DE0CA-91EC-4C55-922B-0B004EC8EA60}" type="datetimeFigureOut">
              <a:rPr lang="ru-RU"/>
              <a:pPr>
                <a:defRPr/>
              </a:pPr>
              <a:t>26.12.2022</a:t>
            </a:fld>
            <a:endParaRPr lang="ru-RU"/>
          </a:p>
        </p:txBody>
      </p:sp>
      <p:sp>
        <p:nvSpPr>
          <p:cNvPr id="3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2C3939-40C1-4B42-A575-DE7AFA268F5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0030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1453B2-8DA9-4FA2-98C6-1ED2D6338776}" type="datetimeFigureOut">
              <a:rPr lang="ru-RU"/>
              <a:pPr>
                <a:defRPr/>
              </a:pPr>
              <a:t>26.12.2022</a:t>
            </a:fld>
            <a:endParaRPr lang="ru-RU"/>
          </a:p>
        </p:txBody>
      </p:sp>
      <p:sp>
        <p:nvSpPr>
          <p:cNvPr id="6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9041AB-5D64-447D-9755-34E196911A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357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с одним вырезанным скругленным углом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Прямоугольный треугольник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Полилиния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9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19EA1A-B9E9-4194-8F2C-133FF3823296}" type="datetimeFigureOut">
              <a:rPr lang="ru-RU"/>
              <a:pPr>
                <a:defRPr/>
              </a:pPr>
              <a:t>26.12.2022</a:t>
            </a:fld>
            <a:endParaRPr lang="ru-RU"/>
          </a:p>
        </p:txBody>
      </p:sp>
      <p:sp>
        <p:nvSpPr>
          <p:cNvPr id="10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3B5877-E038-491E-8140-FF080E77CB0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81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F34385-75F4-41BF-8CC7-593587769F6E}" type="datetimeFigureOut">
              <a:rPr lang="ru-RU"/>
              <a:pPr>
                <a:defRPr/>
              </a:pPr>
              <a:t>26.12.2022</a:t>
            </a:fld>
            <a:endParaRPr lang="ru-RU"/>
          </a:p>
        </p:txBody>
      </p:sp>
      <p:sp>
        <p:nvSpPr>
          <p:cNvPr id="5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B9BCD-6A63-4DF5-B425-6A039BA88B7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275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CCF7-56DD-42DC-A134-D1895B01EF9E}" type="datetimeFigureOut">
              <a:rPr lang="ru-RU"/>
              <a:pPr>
                <a:defRPr/>
              </a:pPr>
              <a:t>26.12.2022</a:t>
            </a:fld>
            <a:endParaRPr lang="ru-RU"/>
          </a:p>
        </p:txBody>
      </p:sp>
      <p:sp>
        <p:nvSpPr>
          <p:cNvPr id="5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8C1A9-D746-4D05-8A44-E39B3D2EC77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712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8" name="Заголовок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29" name="Текст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C31FF59C-BB5D-486A-9527-93D00B773053}" type="datetimeFigureOut">
              <a:rPr lang="ru-RU"/>
              <a:pPr>
                <a:defRPr/>
              </a:pPr>
              <a:t>26.12.2022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7D4178CA-499E-408F-A459-D560F1FBA0C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1033" name="Группа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4" r:id="rId2"/>
    <p:sldLayoutId id="2147483746" r:id="rId3"/>
    <p:sldLayoutId id="2147483743" r:id="rId4"/>
    <p:sldLayoutId id="2147483742" r:id="rId5"/>
    <p:sldLayoutId id="2147483741" r:id="rId6"/>
    <p:sldLayoutId id="2147483740" r:id="rId7"/>
    <p:sldLayoutId id="2147483739" r:id="rId8"/>
    <p:sldLayoutId id="2147483747" r:id="rId9"/>
    <p:sldLayoutId id="2147483738" r:id="rId10"/>
    <p:sldLayoutId id="214748373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Метод </a:t>
            </a:r>
            <a:r>
              <a:rPr lang="ru-RU" dirty="0" err="1"/>
              <a:t>Нелдера</a:t>
            </a:r>
            <a:r>
              <a:rPr lang="ru-RU" dirty="0"/>
              <a:t> — </a:t>
            </a:r>
            <a:r>
              <a:rPr lang="ru-RU" dirty="0" err="1"/>
              <a:t>Мида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Метод </a:t>
            </a:r>
            <a:r>
              <a:rPr lang="ru-RU" dirty="0" err="1"/>
              <a:t>Нелдера</a:t>
            </a:r>
            <a:r>
              <a:rPr lang="ru-RU" dirty="0"/>
              <a:t> — </a:t>
            </a:r>
            <a:r>
              <a:rPr lang="ru-RU" dirty="0" err="1"/>
              <a:t>Мида</a:t>
            </a:r>
            <a:r>
              <a:rPr lang="ru-RU" dirty="0"/>
              <a:t>, также известный как метод  деформируемого многогранника </a:t>
            </a:r>
            <a:r>
              <a:rPr lang="ru-RU"/>
              <a:t>и симплексный метод</a:t>
            </a:r>
            <a:r>
              <a:rPr lang="ru-RU" dirty="0"/>
              <a:t>, — метод безусловной оптимизации функции от нескольких переменных, не использующий производной (точнее — градиентов) функции, а поэтому легко применим к негладким или зашумлённым функциям.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ru-RU" dirty="0"/>
              <a:t>Суть метода заключается в последовательном перемещении и деформировании симплекса вокруг точки экстремума.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ru-RU" dirty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ru-RU" dirty="0"/>
              <a:t>Метод находит локальный экстремум и может «застрять» в одном из них. Если всё же требуется найти глобальный экстремум, можно пробовать выбирать другой начальный симплекс. Более развитый подход к исключению локальных экстремумов предлагается в алгоритмах, основанных на методе Монте-Карло, а также в эволюционных алгоритмах.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Алгоритм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400"/>
              <a:t>Пусть требуется найти безусловный минимум функции </a:t>
            </a:r>
            <a:r>
              <a:rPr lang="ru-RU" sz="2400">
                <a:latin typeface="Arial" charset="0"/>
              </a:rPr>
              <a:t>			</a:t>
            </a:r>
            <a:r>
              <a:rPr lang="ru-RU" sz="2400"/>
              <a:t>n переменных . </a:t>
            </a:r>
          </a:p>
          <a:p>
            <a:pPr eaLnBrk="1" hangingPunct="1">
              <a:lnSpc>
                <a:spcPct val="80000"/>
              </a:lnSpc>
            </a:pPr>
            <a:r>
              <a:rPr lang="ru-RU" sz="2400"/>
              <a:t>Предполагается, что серьёзных ограничений на область определения функции нет, то есть функция определена во всех встречающихся точках.</a:t>
            </a:r>
          </a:p>
          <a:p>
            <a:pPr eaLnBrk="1" hangingPunct="1">
              <a:lnSpc>
                <a:spcPct val="80000"/>
              </a:lnSpc>
            </a:pPr>
            <a:r>
              <a:rPr lang="ru-RU" sz="2400" u="sng"/>
              <a:t>Параметрами метода являются</a:t>
            </a:r>
            <a:r>
              <a:rPr lang="ru-RU" sz="2400"/>
              <a:t>:</a:t>
            </a:r>
          </a:p>
          <a:p>
            <a:pPr eaLnBrk="1" hangingPunct="1">
              <a:lnSpc>
                <a:spcPct val="80000"/>
              </a:lnSpc>
            </a:pPr>
            <a:r>
              <a:rPr lang="ru-RU" sz="2400"/>
              <a:t>коэффициент отражения α &gt; 0, обычно выбирается равным 1.</a:t>
            </a:r>
          </a:p>
          <a:p>
            <a:pPr eaLnBrk="1" hangingPunct="1">
              <a:lnSpc>
                <a:spcPct val="80000"/>
              </a:lnSpc>
            </a:pPr>
            <a:r>
              <a:rPr lang="ru-RU" sz="2400"/>
              <a:t>коэффициент сжатия β &gt; 0, обычно выбирается равным 0,5.</a:t>
            </a:r>
          </a:p>
          <a:p>
            <a:pPr eaLnBrk="1" hangingPunct="1">
              <a:lnSpc>
                <a:spcPct val="80000"/>
              </a:lnSpc>
            </a:pPr>
            <a:r>
              <a:rPr lang="ru-RU" sz="2400"/>
              <a:t>коэффициент растяжения γ &gt; 0, обычно выбирается равным 2.</a:t>
            </a:r>
          </a:p>
        </p:txBody>
      </p:sp>
      <p:pic>
        <p:nvPicPr>
          <p:cNvPr id="819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305047"/>
            <a:ext cx="16668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Содержимое 2"/>
          <p:cNvSpPr>
            <a:spLocks noGrp="1"/>
          </p:cNvSpPr>
          <p:nvPr>
            <p:ph idx="1"/>
          </p:nvPr>
        </p:nvSpPr>
        <p:spPr>
          <a:xfrm>
            <a:off x="428625" y="1000125"/>
            <a:ext cx="8229600" cy="5318125"/>
          </a:xfrm>
        </p:spPr>
        <p:txBody>
          <a:bodyPr/>
          <a:lstStyle/>
          <a:p>
            <a:pPr eaLnBrk="1" hangingPunct="1"/>
            <a:r>
              <a:rPr lang="en-US"/>
              <a:t>1.</a:t>
            </a:r>
            <a:r>
              <a:rPr lang="ru-RU"/>
              <a:t>«Подготовка». Вначале выбирается n + 1 точка </a:t>
            </a:r>
          </a:p>
          <a:p>
            <a:pPr eaLnBrk="1" hangingPunct="1">
              <a:buFont typeface="Wingdings 2" pitchFamily="18" charset="2"/>
              <a:buNone/>
            </a:pPr>
            <a:r>
              <a:rPr lang="ru-RU"/>
              <a:t>				, образующие симплекс n-мерного пространства. В этих точках вычисляются значения функции:					    .</a:t>
            </a:r>
          </a:p>
          <a:p>
            <a:pPr eaLnBrk="1" hangingPunct="1"/>
            <a:r>
              <a:rPr lang="en-US"/>
              <a:t>2.</a:t>
            </a:r>
            <a:r>
              <a:rPr lang="ru-RU"/>
              <a:t>«Сортировка». Из вершин симплекса выбираем три точки: </a:t>
            </a:r>
            <a:r>
              <a:rPr lang="en-US"/>
              <a:t>x</a:t>
            </a:r>
            <a:r>
              <a:rPr lang="ru-RU" sz="1800"/>
              <a:t>h</a:t>
            </a:r>
            <a:r>
              <a:rPr lang="ru-RU"/>
              <a:t> с наибольшим (из выбранных) значением функции </a:t>
            </a:r>
            <a:r>
              <a:rPr lang="en-US"/>
              <a:t>f</a:t>
            </a:r>
            <a:r>
              <a:rPr lang="ru-RU" sz="1800"/>
              <a:t>h</a:t>
            </a:r>
            <a:r>
              <a:rPr lang="ru-RU"/>
              <a:t>, </a:t>
            </a:r>
            <a:r>
              <a:rPr lang="en-US"/>
              <a:t>x</a:t>
            </a:r>
            <a:r>
              <a:rPr lang="ru-RU" sz="1800"/>
              <a:t>g</a:t>
            </a:r>
            <a:r>
              <a:rPr lang="ru-RU"/>
              <a:t> со следующим по величине значением </a:t>
            </a:r>
            <a:r>
              <a:rPr lang="en-US"/>
              <a:t>f</a:t>
            </a:r>
            <a:r>
              <a:rPr lang="ru-RU" sz="1800"/>
              <a:t>g</a:t>
            </a:r>
            <a:r>
              <a:rPr lang="ru-RU"/>
              <a:t> и </a:t>
            </a:r>
            <a:r>
              <a:rPr lang="en-US"/>
              <a:t>x</a:t>
            </a:r>
            <a:r>
              <a:rPr lang="ru-RU" sz="1800"/>
              <a:t>l</a:t>
            </a:r>
            <a:r>
              <a:rPr lang="ru-RU"/>
              <a:t> с наименьшим значением функции </a:t>
            </a:r>
            <a:r>
              <a:rPr lang="en-US"/>
              <a:t>f</a:t>
            </a:r>
            <a:r>
              <a:rPr lang="ru-RU" sz="1800"/>
              <a:t>l</a:t>
            </a:r>
            <a:r>
              <a:rPr lang="ru-RU"/>
              <a:t>. Целью дальнейших манипуляций будет уменьшение по крайней мере f</a:t>
            </a:r>
            <a:r>
              <a:rPr lang="ru-RU" sz="1800"/>
              <a:t>h</a:t>
            </a:r>
            <a:r>
              <a:rPr lang="ru-RU"/>
              <a:t>.</a:t>
            </a:r>
          </a:p>
        </p:txBody>
      </p:sp>
      <p:pic>
        <p:nvPicPr>
          <p:cNvPr id="92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1571625"/>
            <a:ext cx="2351088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2357438"/>
            <a:ext cx="44291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Содержимое 2"/>
          <p:cNvSpPr>
            <a:spLocks noGrp="1"/>
          </p:cNvSpPr>
          <p:nvPr>
            <p:ph idx="1"/>
          </p:nvPr>
        </p:nvSpPr>
        <p:spPr>
          <a:xfrm>
            <a:off x="457200" y="928688"/>
            <a:ext cx="8229600" cy="5395912"/>
          </a:xfrm>
        </p:spPr>
        <p:txBody>
          <a:bodyPr/>
          <a:lstStyle/>
          <a:p>
            <a:pPr eaLnBrk="1" hangingPunct="1"/>
            <a:r>
              <a:rPr lang="en-US" dirty="0"/>
              <a:t>3.</a:t>
            </a:r>
            <a:r>
              <a:rPr lang="ru-RU" sz="2400" dirty="0"/>
              <a:t>Найдём центр тяжести всех точек, за исключением </a:t>
            </a:r>
            <a:r>
              <a:rPr lang="ru-RU" sz="2400" dirty="0" err="1"/>
              <a:t>xh</a:t>
            </a:r>
            <a:r>
              <a:rPr lang="en-US" sz="2400" dirty="0"/>
              <a:t> (</a:t>
            </a:r>
            <a:r>
              <a:rPr lang="ru-RU" sz="2400" dirty="0"/>
              <a:t>вычисление проводится по каждой координате</a:t>
            </a:r>
            <a:r>
              <a:rPr lang="en-US" sz="2400" dirty="0"/>
              <a:t>)</a:t>
            </a:r>
            <a:r>
              <a:rPr lang="ru-RU" sz="2400" dirty="0"/>
              <a:t>: </a:t>
            </a:r>
            <a:r>
              <a:rPr lang="en-US" sz="2400" dirty="0"/>
              <a:t>				</a:t>
            </a:r>
            <a:r>
              <a:rPr lang="ru-RU" sz="2400" dirty="0"/>
              <a:t>. </a:t>
            </a:r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>
              <a:buFont typeface="Wingdings 2" pitchFamily="18" charset="2"/>
              <a:buNone/>
            </a:pPr>
            <a:r>
              <a:rPr lang="en-US" sz="2400" dirty="0"/>
              <a:t>   </a:t>
            </a:r>
            <a:r>
              <a:rPr lang="ru-RU" sz="2400" dirty="0"/>
              <a:t>Вычислять </a:t>
            </a:r>
            <a:r>
              <a:rPr lang="ru-RU" sz="2400" dirty="0" err="1"/>
              <a:t>f</a:t>
            </a:r>
            <a:r>
              <a:rPr lang="ru-RU" sz="1600" dirty="0" err="1"/>
              <a:t>c</a:t>
            </a:r>
            <a:r>
              <a:rPr lang="ru-RU" sz="2400" dirty="0"/>
              <a:t> = f(</a:t>
            </a:r>
            <a:r>
              <a:rPr lang="ru-RU" sz="2400" dirty="0" err="1"/>
              <a:t>x</a:t>
            </a:r>
            <a:r>
              <a:rPr lang="ru-RU" sz="1600" dirty="0" err="1"/>
              <a:t>c</a:t>
            </a:r>
            <a:r>
              <a:rPr lang="ru-RU" sz="2400" dirty="0"/>
              <a:t>) не обязательно.</a:t>
            </a:r>
          </a:p>
          <a:p>
            <a:pPr algn="just" eaLnBrk="1" hangingPunct="1"/>
            <a:r>
              <a:rPr lang="en-US" sz="2400" dirty="0"/>
              <a:t>4.</a:t>
            </a:r>
            <a:r>
              <a:rPr lang="ru-RU" sz="2400" dirty="0"/>
              <a:t>«Отражение». Отразим точку </a:t>
            </a:r>
            <a:r>
              <a:rPr lang="ru-RU" sz="2400" dirty="0" err="1"/>
              <a:t>x</a:t>
            </a:r>
            <a:r>
              <a:rPr lang="ru-RU" sz="1600" dirty="0" err="1"/>
              <a:t>h</a:t>
            </a:r>
            <a:r>
              <a:rPr lang="ru-RU" sz="2400" dirty="0"/>
              <a:t> относительно </a:t>
            </a:r>
            <a:r>
              <a:rPr lang="ru-RU" sz="2400" dirty="0" err="1"/>
              <a:t>x</a:t>
            </a:r>
            <a:r>
              <a:rPr lang="ru-RU" sz="1600" dirty="0" err="1"/>
              <a:t>c</a:t>
            </a:r>
            <a:r>
              <a:rPr lang="ru-RU" sz="2400" dirty="0"/>
              <a:t> с коэффициентом α (при α = 1 это будет центральная симметрия, в общем случае — гомотетия), получим точку </a:t>
            </a:r>
            <a:r>
              <a:rPr lang="ru-RU" sz="2400" dirty="0" err="1"/>
              <a:t>xr</a:t>
            </a:r>
            <a:r>
              <a:rPr lang="ru-RU" sz="2400" dirty="0"/>
              <a:t> и вычислим в ней функцию: </a:t>
            </a:r>
            <a:r>
              <a:rPr lang="ru-RU" sz="2400" dirty="0" err="1"/>
              <a:t>f</a:t>
            </a:r>
            <a:r>
              <a:rPr lang="ru-RU" sz="1600" dirty="0" err="1"/>
              <a:t>r</a:t>
            </a:r>
            <a:r>
              <a:rPr lang="ru-RU" sz="2400" dirty="0"/>
              <a:t> = f(</a:t>
            </a:r>
            <a:r>
              <a:rPr lang="ru-RU" sz="2400" dirty="0" err="1"/>
              <a:t>x</a:t>
            </a:r>
            <a:r>
              <a:rPr lang="ru-RU" sz="1600" dirty="0" err="1"/>
              <a:t>r</a:t>
            </a:r>
            <a:r>
              <a:rPr lang="ru-RU" sz="2400" dirty="0"/>
              <a:t>). Координаты новой точки вычисляются по формуле: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2400" dirty="0"/>
              <a:t>    </a:t>
            </a:r>
            <a:r>
              <a:rPr lang="ru-RU" sz="2400" dirty="0" err="1"/>
              <a:t>x</a:t>
            </a:r>
            <a:r>
              <a:rPr lang="ru-RU" sz="1600" dirty="0" err="1"/>
              <a:t>r</a:t>
            </a:r>
            <a:r>
              <a:rPr lang="ru-RU" sz="2400" dirty="0"/>
              <a:t> = (1 + α)</a:t>
            </a:r>
            <a:r>
              <a:rPr lang="ru-RU" sz="2400" dirty="0" err="1"/>
              <a:t>x</a:t>
            </a:r>
            <a:r>
              <a:rPr lang="ru-RU" sz="1600" dirty="0" err="1"/>
              <a:t>c</a:t>
            </a:r>
            <a:r>
              <a:rPr lang="ru-RU" sz="2400" dirty="0"/>
              <a:t> − α</a:t>
            </a:r>
            <a:r>
              <a:rPr lang="ru-RU" sz="2400" dirty="0" err="1"/>
              <a:t>x</a:t>
            </a:r>
            <a:r>
              <a:rPr lang="ru-RU" sz="1600" dirty="0" err="1"/>
              <a:t>h</a:t>
            </a:r>
            <a:endParaRPr lang="ru-RU" sz="1600" dirty="0"/>
          </a:p>
          <a:p>
            <a:pPr algn="just" eaLnBrk="1" hangingPunct="1">
              <a:buFont typeface="Wingdings 2" pitchFamily="18" charset="2"/>
              <a:buNone/>
            </a:pPr>
            <a:r>
              <a:rPr lang="ru-RU" sz="2400" dirty="0"/>
              <a:t>Полученная точка является кандидатом на введение в симплекс. Проверяем, является ли она «хорошей»</a:t>
            </a:r>
          </a:p>
        </p:txBody>
      </p:sp>
      <p:pic>
        <p:nvPicPr>
          <p:cNvPr id="1024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2087612"/>
            <a:ext cx="1584176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857250"/>
            <a:ext cx="8229600" cy="5467350"/>
          </a:xfrm>
        </p:spPr>
        <p:txBody>
          <a:bodyPr>
            <a:normAutofit fontScale="62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dirty="0"/>
              <a:t>5.  </a:t>
            </a:r>
            <a:r>
              <a:rPr lang="ru-RU" dirty="0"/>
              <a:t>Далее смотрим, насколько нам удалось уменьшить функцию, ищем место </a:t>
            </a:r>
            <a:r>
              <a:rPr lang="ru-RU" dirty="0" err="1"/>
              <a:t>fr</a:t>
            </a:r>
            <a:r>
              <a:rPr lang="ru-RU" dirty="0"/>
              <a:t> в ряду </a:t>
            </a:r>
            <a:r>
              <a:rPr lang="ru-RU" dirty="0" err="1"/>
              <a:t>fh,fg,fl</a:t>
            </a:r>
            <a:r>
              <a:rPr lang="ru-RU" dirty="0"/>
              <a:t>.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dirty="0"/>
              <a:t>	</a:t>
            </a:r>
            <a:endParaRPr lang="ru-RU" dirty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ru-RU" dirty="0"/>
              <a:t>    </a:t>
            </a:r>
            <a:r>
              <a:rPr lang="ru-RU" b="1" dirty="0"/>
              <a:t>ситуация 1</a:t>
            </a:r>
            <a:r>
              <a:rPr lang="ru-RU" dirty="0"/>
              <a:t>: Если </a:t>
            </a:r>
            <a:r>
              <a:rPr lang="ru-RU" dirty="0" err="1"/>
              <a:t>fr</a:t>
            </a:r>
            <a:r>
              <a:rPr lang="ru-RU" dirty="0"/>
              <a:t> &lt; </a:t>
            </a:r>
            <a:r>
              <a:rPr lang="ru-RU" dirty="0" err="1"/>
              <a:t>fl</a:t>
            </a:r>
            <a:r>
              <a:rPr lang="ru-RU" dirty="0"/>
              <a:t>, т.е. получили значение, меньшее всех имеющихся, то направление выбрано удачное и можно попробовать увеличить шаг. Производим «растяжение». Новая точка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ru-RU" dirty="0"/>
              <a:t>     </a:t>
            </a:r>
            <a:r>
              <a:rPr lang="ru-RU" dirty="0" err="1"/>
              <a:t>xe</a:t>
            </a:r>
            <a:r>
              <a:rPr lang="ru-RU" dirty="0"/>
              <a:t> = (1 − γ)</a:t>
            </a:r>
            <a:r>
              <a:rPr lang="ru-RU" dirty="0" err="1"/>
              <a:t>xc</a:t>
            </a:r>
            <a:r>
              <a:rPr lang="ru-RU" dirty="0"/>
              <a:t> + </a:t>
            </a:r>
            <a:r>
              <a:rPr lang="ru-RU" dirty="0" err="1"/>
              <a:t>γxr</a:t>
            </a:r>
            <a:r>
              <a:rPr lang="ru-RU" dirty="0"/>
              <a:t> и значение функции </a:t>
            </a:r>
            <a:r>
              <a:rPr lang="ru-RU" dirty="0" err="1"/>
              <a:t>fe</a:t>
            </a:r>
            <a:r>
              <a:rPr lang="ru-RU" dirty="0"/>
              <a:t> = f(</a:t>
            </a:r>
            <a:r>
              <a:rPr lang="ru-RU" dirty="0" err="1"/>
              <a:t>xe</a:t>
            </a:r>
            <a:r>
              <a:rPr lang="ru-RU" dirty="0"/>
              <a:t>).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dirty="0"/>
              <a:t>	</a:t>
            </a:r>
            <a:r>
              <a:rPr lang="ru-RU" dirty="0"/>
              <a:t>Если </a:t>
            </a:r>
            <a:r>
              <a:rPr lang="ru-RU" dirty="0" err="1"/>
              <a:t>fe</a:t>
            </a:r>
            <a:r>
              <a:rPr lang="ru-RU" dirty="0"/>
              <a:t> &lt; f</a:t>
            </a:r>
            <a:r>
              <a:rPr lang="en-US" dirty="0"/>
              <a:t>l</a:t>
            </a:r>
            <a:r>
              <a:rPr lang="ru-RU" dirty="0"/>
              <a:t>, то можно расширить симплекс до этой точки: присваиваем точке </a:t>
            </a:r>
            <a:r>
              <a:rPr lang="ru-RU" dirty="0" err="1"/>
              <a:t>xh</a:t>
            </a:r>
            <a:r>
              <a:rPr lang="ru-RU" dirty="0"/>
              <a:t> значение </a:t>
            </a:r>
            <a:r>
              <a:rPr lang="ru-RU" dirty="0" err="1"/>
              <a:t>xe</a:t>
            </a:r>
            <a:r>
              <a:rPr lang="ru-RU" dirty="0"/>
              <a:t> и заканчиваем итерацию (на шаг 9).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dirty="0"/>
              <a:t>	</a:t>
            </a:r>
            <a:r>
              <a:rPr lang="ru-RU" dirty="0"/>
              <a:t>Если </a:t>
            </a:r>
            <a:r>
              <a:rPr lang="ru-RU" dirty="0" err="1"/>
              <a:t>fe</a:t>
            </a:r>
            <a:r>
              <a:rPr lang="ru-RU" dirty="0"/>
              <a:t> &gt; f</a:t>
            </a:r>
            <a:r>
              <a:rPr lang="en-US" dirty="0"/>
              <a:t>l</a:t>
            </a:r>
            <a:r>
              <a:rPr lang="ru-RU" dirty="0"/>
              <a:t>, то переместились слишком далеко: присваиваем точке </a:t>
            </a:r>
            <a:r>
              <a:rPr lang="ru-RU" dirty="0" err="1"/>
              <a:t>xh</a:t>
            </a:r>
            <a:r>
              <a:rPr lang="ru-RU" dirty="0"/>
              <a:t> значение </a:t>
            </a:r>
            <a:r>
              <a:rPr lang="ru-RU" dirty="0" err="1"/>
              <a:t>xr</a:t>
            </a:r>
            <a:r>
              <a:rPr lang="ru-RU" dirty="0"/>
              <a:t> и заканчиваем итерацию (на шаг 9).</a:t>
            </a:r>
            <a:endParaRPr lang="en-US" dirty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ru-RU" b="1" dirty="0"/>
              <a:t>Замечание 1</a:t>
            </a:r>
            <a:r>
              <a:rPr lang="ru-RU" dirty="0"/>
              <a:t>: можно сравнивать </a:t>
            </a:r>
            <a:r>
              <a:rPr lang="en-US" dirty="0" err="1"/>
              <a:t>fe</a:t>
            </a:r>
            <a:r>
              <a:rPr lang="ru-RU" dirty="0"/>
              <a:t> не с </a:t>
            </a:r>
            <a:r>
              <a:rPr lang="en-US" dirty="0" err="1"/>
              <a:t>fl</a:t>
            </a:r>
            <a:r>
              <a:rPr lang="ru-RU" dirty="0"/>
              <a:t>, а с </a:t>
            </a:r>
            <a:r>
              <a:rPr lang="en-US" dirty="0" err="1"/>
              <a:t>fr</a:t>
            </a:r>
            <a:r>
              <a:rPr lang="ru-RU" dirty="0"/>
              <a:t>. </a:t>
            </a:r>
            <a:r>
              <a:rPr lang="ru-RU"/>
              <a:t>Тогда </a:t>
            </a:r>
            <a:r>
              <a:rPr lang="ru-RU" dirty="0"/>
              <a:t>растянуть симплекс шансов меньше.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dirty="0"/>
              <a:t>	</a:t>
            </a:r>
            <a:r>
              <a:rPr lang="ru-RU" b="1" dirty="0"/>
              <a:t>ситуация 2</a:t>
            </a:r>
            <a:r>
              <a:rPr lang="ru-RU" dirty="0"/>
              <a:t>: Если </a:t>
            </a:r>
            <a:r>
              <a:rPr lang="ru-RU" dirty="0" err="1"/>
              <a:t>fl</a:t>
            </a:r>
            <a:r>
              <a:rPr lang="ru-RU" dirty="0"/>
              <a:t> &lt; </a:t>
            </a:r>
            <a:r>
              <a:rPr lang="ru-RU" dirty="0" err="1"/>
              <a:t>fr</a:t>
            </a:r>
            <a:r>
              <a:rPr lang="ru-RU" dirty="0"/>
              <a:t> &lt; </a:t>
            </a:r>
            <a:r>
              <a:rPr lang="ru-RU" dirty="0" err="1"/>
              <a:t>fg</a:t>
            </a:r>
            <a:r>
              <a:rPr lang="ru-RU" dirty="0"/>
              <a:t>, то выбор точки неплохой (новая лучше двух прежних). Исключаем из симплекса точку </a:t>
            </a:r>
            <a:r>
              <a:rPr lang="ru-RU" dirty="0" err="1"/>
              <a:t>xh</a:t>
            </a:r>
            <a:r>
              <a:rPr lang="ru-RU" dirty="0"/>
              <a:t>, вместо нее вводим </a:t>
            </a:r>
            <a:r>
              <a:rPr lang="ru-RU" dirty="0" err="1"/>
              <a:t>xr</a:t>
            </a:r>
            <a:r>
              <a:rPr lang="ru-RU" dirty="0"/>
              <a:t> и переходим на шаг 9.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dirty="0"/>
              <a:t>	</a:t>
            </a:r>
            <a:r>
              <a:rPr lang="ru-RU" b="1" dirty="0"/>
              <a:t>ситуация 3</a:t>
            </a:r>
            <a:r>
              <a:rPr lang="ru-RU" dirty="0"/>
              <a:t>: Если </a:t>
            </a:r>
            <a:r>
              <a:rPr lang="ru-RU" dirty="0" err="1"/>
              <a:t>fh</a:t>
            </a:r>
            <a:r>
              <a:rPr lang="ru-RU" dirty="0"/>
              <a:t> &gt; </a:t>
            </a:r>
            <a:r>
              <a:rPr lang="ru-RU" dirty="0" err="1"/>
              <a:t>fr</a:t>
            </a:r>
            <a:r>
              <a:rPr lang="ru-RU" dirty="0"/>
              <a:t> &gt; </a:t>
            </a:r>
            <a:r>
              <a:rPr lang="ru-RU" dirty="0" err="1"/>
              <a:t>fg</a:t>
            </a:r>
            <a:r>
              <a:rPr lang="ru-RU" dirty="0"/>
              <a:t>, то выбор тоже неплохой (новая точка лучше одной). Действуем аналогично ситуации 2.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dirty="0"/>
              <a:t>	</a:t>
            </a:r>
            <a:r>
              <a:rPr lang="ru-RU" b="1" dirty="0"/>
              <a:t>ситуация 4</a:t>
            </a:r>
            <a:r>
              <a:rPr lang="ru-RU" dirty="0"/>
              <a:t>: Если </a:t>
            </a:r>
            <a:r>
              <a:rPr lang="ru-RU" dirty="0" err="1"/>
              <a:t>fr</a:t>
            </a:r>
            <a:r>
              <a:rPr lang="ru-RU" dirty="0"/>
              <a:t> &gt; </a:t>
            </a:r>
            <a:r>
              <a:rPr lang="ru-RU" dirty="0" err="1"/>
              <a:t>fh</a:t>
            </a:r>
            <a:r>
              <a:rPr lang="ru-RU" dirty="0"/>
              <a:t>, то шагнули совсем неудачно (получили значение, большее всех имеющихся). Значит, мы находимся вблизи минимума, попытаемся сжать симплекс. Идём на следующий шаг 6.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ru-RU" b="1" dirty="0"/>
              <a:t>Замечание 2</a:t>
            </a:r>
            <a:r>
              <a:rPr lang="ru-RU" dirty="0"/>
              <a:t>: ситуацию 3 можно считать неудачной, и действовать так же, как в ситуации 4 – сжимать симплекс.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Содержимое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/>
              <a:t>6. </a:t>
            </a:r>
            <a:r>
              <a:rPr lang="ru-RU"/>
              <a:t>«Сжатие». Строим точку xs = βxh + (1 − β)xc и вычисляем в ней значение fs = f(xs).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/>
              <a:t>7. </a:t>
            </a:r>
            <a:r>
              <a:rPr lang="ru-RU"/>
              <a:t>Если fs &lt; fh, то присваиваем точке xh значение xs и идём на шаг 9.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/>
              <a:t>8 .</a:t>
            </a:r>
            <a:r>
              <a:rPr lang="ru-RU"/>
              <a:t>Если fs &gt; fh, то первоначальные точки оказались самыми удачными. Делаем «глобальное сжатие» симплекса — гомотетию к точке с наименьшим значением xl: </a:t>
            </a:r>
            <a:r>
              <a:rPr lang="en-US"/>
              <a:t>					</a:t>
            </a:r>
            <a:r>
              <a:rPr lang="ru-RU"/>
              <a:t> .</a:t>
            </a:r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4214813"/>
            <a:ext cx="2714625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313" y="4214813"/>
            <a:ext cx="696912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Содержимое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dirty="0"/>
              <a:t>9. </a:t>
            </a:r>
            <a:r>
              <a:rPr lang="ru-RU" dirty="0"/>
              <a:t>Последний шаг — проверка сходимости. Может выполняться по-разному, например, оценкой дисперсии набора точек или по длинам сторон </a:t>
            </a:r>
            <a:r>
              <a:rPr lang="ru-RU"/>
              <a:t>симплекса. Суть </a:t>
            </a:r>
            <a:r>
              <a:rPr lang="ru-RU" dirty="0"/>
              <a:t>проверки заключается в том, чтобы проверить взаимную близость полученных вершин симплекса, что предполагает и близость их к искомому минимуму. Если требуемая точность ещё не достигнута, можно продолжить итерации с шага 2.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Поток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Поток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FBF428940E464449957EF839F99AF2D9" ma:contentTypeVersion="3" ma:contentTypeDescription="Создание документа." ma:contentTypeScope="" ma:versionID="7ac685089d01c1da65417384b682971d">
  <xsd:schema xmlns:xsd="http://www.w3.org/2001/XMLSchema" xmlns:xs="http://www.w3.org/2001/XMLSchema" xmlns:p="http://schemas.microsoft.com/office/2006/metadata/properties" xmlns:ns2="1031b800-467b-4d06-9f1c-d9121b56614e" targetNamespace="http://schemas.microsoft.com/office/2006/metadata/properties" ma:root="true" ma:fieldsID="1e9963d4e82c7072328bc5fe16b2ef1a" ns2:_="">
    <xsd:import namespace="1031b800-467b-4d06-9f1c-d9121b5661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31b800-467b-4d06-9f1c-d9121b5661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84802F-F997-4DF1-8ADD-50FACA28BA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07B7B92-7E7E-4B81-AAAF-A40168F287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31b800-467b-4d06-9f1c-d9121b56614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198</TotalTime>
  <Words>804</Words>
  <PresentationFormat>Экран (4:3)</PresentationFormat>
  <Paragraphs>36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Поток</vt:lpstr>
      <vt:lpstr>Метод Нелдера — Мида</vt:lpstr>
      <vt:lpstr>Презентация PowerPoint</vt:lpstr>
      <vt:lpstr>Презентация PowerPoint</vt:lpstr>
      <vt:lpstr>Алгоритм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2011-04-25T19:00:04Z</dcterms:created>
  <dcterms:modified xsi:type="dcterms:W3CDTF">2022-12-26T19:40:51Z</dcterms:modified>
</cp:coreProperties>
</file>