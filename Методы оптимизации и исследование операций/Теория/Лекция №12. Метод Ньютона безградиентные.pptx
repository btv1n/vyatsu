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8"/>
  </p:notesMasterIdLst>
  <p:sldIdLst>
    <p:sldId id="256" r:id="rId2"/>
    <p:sldId id="257" r:id="rId3"/>
    <p:sldId id="258" r:id="rId4"/>
    <p:sldId id="262" r:id="rId5"/>
    <p:sldId id="261" r:id="rId6"/>
    <p:sldId id="259" r:id="rId7"/>
    <p:sldId id="260" r:id="rId8"/>
    <p:sldId id="263" r:id="rId9"/>
    <p:sldId id="264" r:id="rId10"/>
    <p:sldId id="265" r:id="rId11"/>
    <p:sldId id="266" r:id="rId12"/>
    <p:sldId id="268" r:id="rId13"/>
    <p:sldId id="267" r:id="rId14"/>
    <p:sldId id="271" r:id="rId15"/>
    <p:sldId id="270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9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4" Type="http://schemas.openxmlformats.org/officeDocument/2006/relationships/image" Target="../media/image19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CC95D9-C663-43F4-9992-3A9470287C30}" type="datetimeFigureOut">
              <a:rPr lang="ru-RU" smtClean="0"/>
              <a:t>18.12.2023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7BE338-7FD4-4333-9265-C86C54B0A0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6280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1D7CB50-5B26-4A7C-A220-ACBBF4FDE2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71ACC7-34EB-4561-AEF7-814817C6642D}" type="slidenum">
              <a:rPr lang="ru-RU" altLang="ru-RU"/>
              <a:pPr/>
              <a:t>12</a:t>
            </a:fld>
            <a:endParaRPr lang="ru-RU" altLang="ru-RU"/>
          </a:p>
        </p:txBody>
      </p:sp>
      <p:sp>
        <p:nvSpPr>
          <p:cNvPr id="6146" name="Rectangle 7">
            <a:extLst>
              <a:ext uri="{FF2B5EF4-FFF2-40B4-BE49-F238E27FC236}">
                <a16:creationId xmlns:a16="http://schemas.microsoft.com/office/drawing/2014/main" id="{47C45E87-2E8B-4F82-B733-BF8F1E6F314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727776B7-15FE-466C-8DBE-2AC72AB1B1B2}" type="slidenum">
              <a:rPr lang="ru-RU" altLang="ru-RU" sz="1200"/>
              <a:pPr algn="r"/>
              <a:t>12</a:t>
            </a:fld>
            <a:endParaRPr lang="ru-RU" altLang="ru-RU" sz="12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1798D91-0734-4C1D-B913-AB88C4FAD2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729C8B22-B784-4403-ACD8-57A98030EE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A5FE38-951B-49A1-B62D-83F239304E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B0496C-F28C-4DC9-9854-184EE01E12F6}" type="slidenum">
              <a:rPr lang="ru-RU" altLang="ru-RU"/>
              <a:pPr/>
              <a:t>16</a:t>
            </a:fld>
            <a:endParaRPr lang="ru-RU" altLang="ru-RU"/>
          </a:p>
        </p:txBody>
      </p:sp>
      <p:sp>
        <p:nvSpPr>
          <p:cNvPr id="8194" name="Rectangle 7">
            <a:extLst>
              <a:ext uri="{FF2B5EF4-FFF2-40B4-BE49-F238E27FC236}">
                <a16:creationId xmlns:a16="http://schemas.microsoft.com/office/drawing/2014/main" id="{56629EDF-FC2D-427C-8FE7-7BCB85F10BB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0AF41B30-E9E1-4A4F-B786-AE0759637BD1}" type="slidenum">
              <a:rPr lang="ru-RU" altLang="ru-RU" sz="1200"/>
              <a:pPr algn="r"/>
              <a:t>16</a:t>
            </a:fld>
            <a:endParaRPr lang="ru-RU" altLang="ru-RU" sz="12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2A4763D1-E01D-45E2-9B3F-CA2B00509D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B00E7F1F-7095-4BCC-9407-6FF74C751E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67AA2-1148-419F-A409-73663E94E8A1}" type="datetime1">
              <a:rPr lang="ru-RU" smtClean="0"/>
              <a:t>18.12.2023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9201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1296F-63A0-4EEA-AD74-E5A035CC19E3}" type="datetime1">
              <a:rPr lang="ru-RU" smtClean="0"/>
              <a:t>18.12.2023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5600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8D2F-FD79-4DA1-9C5D-BFC69143A18B}" type="datetime1">
              <a:rPr lang="ru-RU" smtClean="0"/>
              <a:t>18.12.2023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385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A412C-1C32-4471-9D7D-FEF833124600}" type="datetime1">
              <a:rPr lang="ru-RU" smtClean="0"/>
              <a:t>18.12.2023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94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B823A-E5E4-4441-91E1-41B9CD39D0B1}" type="datetime1">
              <a:rPr lang="ru-RU" smtClean="0"/>
              <a:t>18.12.2023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750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24A87-826F-4D67-8DF7-943A06721715}" type="datetime1">
              <a:rPr lang="ru-RU" smtClean="0"/>
              <a:t>18.12.2023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534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8583B-23BB-49B1-8F4E-39BA7558129D}" type="datetime1">
              <a:rPr lang="ru-RU" smtClean="0"/>
              <a:t>18.12.2023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6680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40B0B-A715-460A-82F0-6D722618ED25}" type="datetime1">
              <a:rPr lang="ru-RU" smtClean="0"/>
              <a:t>18.12.2023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3487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318B6-59C0-49E3-AAD6-D806AD741383}" type="datetime1">
              <a:rPr lang="ru-RU" smtClean="0"/>
              <a:t>18.12.2023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782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5E1CE-92FA-4F5E-8AFB-809EDF427881}" type="datetime1">
              <a:rPr lang="ru-RU" smtClean="0"/>
              <a:t>18.12.2023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951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CBE47-E744-49AE-9F10-BFC30C7AB6EE}" type="datetime1">
              <a:rPr lang="ru-RU" smtClean="0"/>
              <a:t>18.12.2023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5340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9840D-9C98-426D-A58E-681BF0E394D0}" type="datetime1">
              <a:rPr lang="ru-RU" smtClean="0"/>
              <a:t>18.12.2023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7679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CEB31-0BAB-4FD6-AB18-12A89F5F6501}" type="datetime1">
              <a:rPr lang="ru-RU" smtClean="0"/>
              <a:t>18.12.2023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6458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234B-8659-4BD8-B2B9-366516202583}" type="datetime1">
              <a:rPr lang="ru-RU" smtClean="0"/>
              <a:t>18.12.2023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2805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51AB2-9B5F-4E91-AE4C-3786ABF4FDB2}" type="datetime1">
              <a:rPr lang="ru-RU" smtClean="0"/>
              <a:t>18.12.2023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46984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762C-A721-4A52-8396-76CDBBECBA02}" type="datetime1">
              <a:rPr lang="ru-RU" smtClean="0"/>
              <a:t>18.12.2023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3339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A19F1-AF44-4516-8858-EE71C9B46AC8}" type="datetime1">
              <a:rPr lang="ru-RU" smtClean="0"/>
              <a:t>18.12.2023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2C260BC-758F-4744-87FE-C087F4F8DE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964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19.wmf"/><Relationship Id="rId5" Type="http://schemas.openxmlformats.org/officeDocument/2006/relationships/image" Target="../media/image16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18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0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AF8415-A162-4280-A48F-5A2EDDF7D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0595" y="1437883"/>
            <a:ext cx="5826719" cy="1646302"/>
          </a:xfrm>
        </p:spPr>
        <p:txBody>
          <a:bodyPr/>
          <a:lstStyle/>
          <a:p>
            <a:r>
              <a:rPr lang="ru-RU" sz="6000" dirty="0"/>
              <a:t>Метод Ньютона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B6B472-A2B1-4AA8-A5A3-5A63881B5B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4896" y="3319313"/>
            <a:ext cx="6738017" cy="1096899"/>
          </a:xfrm>
        </p:spPr>
        <p:txBody>
          <a:bodyPr>
            <a:noAutofit/>
          </a:bodyPr>
          <a:lstStyle/>
          <a:p>
            <a:pPr algn="ctr"/>
            <a:r>
              <a:rPr lang="ru-RU" sz="3400" b="1" i="0" dirty="0">
                <a:solidFill>
                  <a:srgbClr val="000000"/>
                </a:solidFill>
                <a:effectLst/>
                <a:latin typeface="-apple-system"/>
              </a:rPr>
              <a:t>метод безусловной оптимизации </a:t>
            </a:r>
            <a:br>
              <a:rPr lang="en-US" sz="3400" b="1" i="0" dirty="0">
                <a:solidFill>
                  <a:srgbClr val="000000"/>
                </a:solidFill>
                <a:effectLst/>
                <a:latin typeface="-apple-system"/>
              </a:rPr>
            </a:br>
            <a:r>
              <a:rPr lang="ru-RU" sz="3400" b="1" i="0" dirty="0">
                <a:solidFill>
                  <a:srgbClr val="000000"/>
                </a:solidFill>
                <a:effectLst/>
                <a:latin typeface="-apple-system"/>
              </a:rPr>
              <a:t>второго порядка</a:t>
            </a:r>
            <a:endParaRPr lang="ru-RU" sz="3400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7C53F12-7C82-4A30-992C-09D7158A1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1</a:t>
            </a:fld>
            <a:endParaRPr lang="ru-RU"/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C5DB48C4-95D1-436F-B8E9-21F46A4DE732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15087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E07AA7E1-BE40-4B52-BB1C-FE2842165A16}" type="slidenum">
              <a:rPr lang="ru-RU" altLang="ru-RU" sz="1400"/>
              <a:pPr algn="r"/>
              <a:t>1</a:t>
            </a:fld>
            <a:endParaRPr lang="ru-RU" altLang="ru-RU" sz="1400" dirty="0"/>
          </a:p>
        </p:txBody>
      </p:sp>
    </p:spTree>
    <p:extLst>
      <p:ext uri="{BB962C8B-B14F-4D97-AF65-F5344CB8AC3E}">
        <p14:creationId xmlns:p14="http://schemas.microsoft.com/office/powerpoint/2010/main" val="2801646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901C68C-AFC2-4DC2-A673-88C50F9C80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461" y="540796"/>
                <a:ext cx="6897189" cy="6077718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ru-RU" sz="2400" b="0" i="0" u="none" strike="noStrike" baseline="0" dirty="0">
                    <a:latin typeface="TimesNewRomanPSMT"/>
                  </a:rPr>
                  <a:t>Метод Ньютона</a:t>
                </a:r>
                <a:r>
                  <a:rPr lang="ru-RU" sz="2400" b="0" i="0" u="none" strike="noStrike" baseline="0" dirty="0">
                    <a:latin typeface="TimesNewRomanPSMT+1"/>
                  </a:rPr>
                  <a:t>, </a:t>
                </a:r>
                <a:r>
                  <a:rPr lang="ru-RU" sz="2400" b="0" i="0" u="none" strike="noStrike" baseline="0" dirty="0">
                    <a:latin typeface="TimesNewRomanPSMT"/>
                  </a:rPr>
                  <a:t>так же как и градиентные методы</a:t>
                </a:r>
                <a:r>
                  <a:rPr lang="ru-RU" sz="2400" b="0" i="0" u="none" strike="noStrike" baseline="0" dirty="0">
                    <a:latin typeface="TimesNewRomanPSMT+1"/>
                  </a:rPr>
                  <a:t>, </a:t>
                </a:r>
                <a:r>
                  <a:rPr lang="ru-RU" sz="2400" b="0" i="0" u="none" strike="noStrike" baseline="0" dirty="0">
                    <a:latin typeface="TimesNewRomanPSMT"/>
                  </a:rPr>
                  <a:t>относится </a:t>
                </a:r>
                <a:r>
                  <a:rPr lang="ru-RU" sz="2400" b="1" i="0" u="none" strike="noStrike" baseline="0" dirty="0">
                    <a:latin typeface="TimesNewRomanPSMT"/>
                  </a:rPr>
                  <a:t>к методам спуска</a:t>
                </a:r>
                <a:r>
                  <a:rPr lang="ru-RU" sz="2400" b="0" i="0" u="none" strike="noStrike" baseline="0" dirty="0">
                    <a:latin typeface="TimesNewRomanPSMT+1"/>
                  </a:rPr>
                  <a:t>, </a:t>
                </a:r>
                <a:br>
                  <a:rPr lang="en-US" sz="2400" b="0" i="0" u="none" strike="noStrike" baseline="0" dirty="0">
                    <a:latin typeface="TimesNewRomanPSMT+1"/>
                  </a:rPr>
                </a:br>
                <a:r>
                  <a:rPr lang="ru-RU" sz="2400" b="0" i="0" u="none" strike="noStrike" baseline="0" dirty="0">
                    <a:latin typeface="TimesNewRomanPSMT"/>
                  </a:rPr>
                  <a:t>т</a:t>
                </a:r>
                <a:r>
                  <a:rPr lang="ru-RU" sz="2400" b="0" i="0" u="none" strike="noStrike" baseline="0" dirty="0">
                    <a:latin typeface="TimesNewRomanPSMT+1"/>
                  </a:rPr>
                  <a:t>.</a:t>
                </a:r>
                <a:r>
                  <a:rPr lang="ru-RU" sz="2400" b="0" i="0" u="none" strike="noStrike" baseline="0" dirty="0">
                    <a:latin typeface="TimesNewRomanPSMT"/>
                  </a:rPr>
                  <a:t>е</a:t>
                </a:r>
                <a:r>
                  <a:rPr lang="ru-RU" sz="2400" b="0" i="0" u="none" strike="noStrike" baseline="0" dirty="0">
                    <a:latin typeface="TimesNewRomanPSMT+1"/>
                  </a:rPr>
                  <a:t>. </a:t>
                </a:r>
                <a:r>
                  <a:rPr lang="ru-RU" sz="2400" b="0" i="0" u="none" strike="noStrike" baseline="0" dirty="0">
                    <a:latin typeface="TimesNewRomanPSMT"/>
                  </a:rPr>
                  <a:t>предназначен для численного решения задач безусловной минимизации</a:t>
                </a:r>
                <a:r>
                  <a:rPr lang="ru-RU" sz="2400" dirty="0">
                    <a:latin typeface="TimesNewRomanPSMT+1"/>
                  </a:rPr>
                  <a:t>:</a:t>
                </a: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ru-RU" sz="2400" dirty="0">
                  <a:latin typeface="TimesNewRomanPSMT+1"/>
                </a:endParaRPr>
              </a:p>
              <a:p>
                <a:pPr algn="l"/>
                <a:r>
                  <a:rPr lang="ru-RU" sz="2400" b="0" i="0" u="none" strike="noStrike" baseline="0" dirty="0">
                    <a:latin typeface="TimesNewRomanPSMT"/>
                  </a:rPr>
                  <a:t>Метод Ньютона основан на идее замены минимизируемой функции </a:t>
                </a:r>
                <a:r>
                  <a:rPr lang="ru-RU" sz="2400" b="0" i="1" u="none" strike="noStrike" baseline="0" dirty="0">
                    <a:latin typeface="TimesNewRomanPS-ItalicMT+1"/>
                  </a:rPr>
                  <a:t>f </a:t>
                </a:r>
                <a:r>
                  <a:rPr lang="ru-RU" sz="2400" b="0" i="0" u="none" strike="noStrike" baseline="0" dirty="0">
                    <a:latin typeface="TimesNewRomanPSMT+1"/>
                  </a:rPr>
                  <a:t>(</a:t>
                </a:r>
                <a:r>
                  <a:rPr lang="ru-RU" sz="2400" b="0" i="1" u="none" strike="noStrike" baseline="0" dirty="0">
                    <a:latin typeface="TimesNewRomanPS-ItalicMT+1"/>
                  </a:rPr>
                  <a:t>x</a:t>
                </a:r>
                <a:r>
                  <a:rPr lang="ru-RU" sz="2400" b="0" i="0" u="none" strike="noStrike" baseline="0" dirty="0">
                    <a:latin typeface="TimesNewRomanPSMT+1"/>
                  </a:rPr>
                  <a:t>) </a:t>
                </a:r>
                <a:r>
                  <a:rPr lang="ru-RU" sz="2400" b="0" i="0" u="none" strike="noStrike" baseline="0" dirty="0">
                    <a:latin typeface="TimesNewRomanPSMT"/>
                  </a:rPr>
                  <a:t>в окрестности точки </a:t>
                </a:r>
                <a:r>
                  <a:rPr lang="ru-RU" sz="2400" b="0" i="1" u="none" strike="noStrike" baseline="0" dirty="0">
                    <a:latin typeface="TimesNewRomanPS-ItalicMT+1"/>
                  </a:rPr>
                  <a:t>x</a:t>
                </a:r>
                <a:r>
                  <a:rPr lang="ru-RU" sz="2400" b="0" i="0" u="none" strike="noStrike" baseline="30000" dirty="0">
                    <a:latin typeface="TimesNewRomanPSMT+1"/>
                  </a:rPr>
                  <a:t>(</a:t>
                </a:r>
                <a:r>
                  <a:rPr lang="ru-RU" sz="2400" b="0" i="1" u="none" strike="noStrike" baseline="30000" dirty="0">
                    <a:latin typeface="TimesNewRomanPS-ItalicMT+1"/>
                  </a:rPr>
                  <a:t>k</a:t>
                </a:r>
                <a:r>
                  <a:rPr lang="ru-RU" sz="2400" b="0" i="0" u="none" strike="noStrike" baseline="30000" dirty="0">
                    <a:latin typeface="TimesNewRomanPSMT+1"/>
                  </a:rPr>
                  <a:t>)</a:t>
                </a:r>
                <a:r>
                  <a:rPr lang="ru-RU" sz="2400" b="0" i="0" u="none" strike="noStrike" baseline="0" dirty="0">
                    <a:latin typeface="TimesNewRomanPSMT+1"/>
                  </a:rPr>
                  <a:t> </a:t>
                </a:r>
                <a:r>
                  <a:rPr lang="ru-RU" sz="2400" b="0" i="0" u="none" strike="noStrike" baseline="0" dirty="0">
                    <a:latin typeface="TimesNewRomanPSMT"/>
                  </a:rPr>
                  <a:t>квадратичной частью её разложения в ряд Тейлора</a:t>
                </a:r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901C68C-AFC2-4DC2-A673-88C50F9C8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461" y="540796"/>
                <a:ext cx="6897189" cy="6077718"/>
              </a:xfrm>
              <a:blipFill>
                <a:blip r:embed="rId2"/>
                <a:stretch>
                  <a:fillRect l="-707" t="-802" r="-1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7D098C-8AAB-4FE8-99BE-B352CB370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680" y="4053839"/>
            <a:ext cx="5094518" cy="58782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51A098E-92A4-4888-9518-A2DF1A103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680" y="4711336"/>
            <a:ext cx="5458036" cy="836023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8A866C-773F-402B-A2DE-4F30E2EEB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2</a:t>
            </a:fld>
            <a:endParaRPr lang="ru-RU"/>
          </a:p>
        </p:txBody>
      </p:sp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08EA8D42-89FE-4A82-943A-59C934F52782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15087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E07AA7E1-BE40-4B52-BB1C-FE2842165A16}" type="slidenum">
              <a:rPr lang="ru-RU" altLang="ru-RU" sz="1400"/>
              <a:pPr algn="r"/>
              <a:t>2</a:t>
            </a:fld>
            <a:endParaRPr lang="ru-RU" altLang="ru-RU" sz="1400" dirty="0"/>
          </a:p>
        </p:txBody>
      </p:sp>
    </p:spTree>
    <p:extLst>
      <p:ext uri="{BB962C8B-B14F-4D97-AF65-F5344CB8AC3E}">
        <p14:creationId xmlns:p14="http://schemas.microsoft.com/office/powerpoint/2010/main" val="403636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BD25D6-7DD3-4323-A957-4D505EC50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050" y="217714"/>
            <a:ext cx="6347713" cy="740229"/>
          </a:xfrm>
        </p:spPr>
        <p:txBody>
          <a:bodyPr/>
          <a:lstStyle/>
          <a:p>
            <a:r>
              <a:rPr lang="ru-RU" dirty="0"/>
              <a:t>Описание метода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298F772-89F2-4D25-BBFD-3E565FA2F6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7442" y="957943"/>
                <a:ext cx="7175865" cy="5372325"/>
              </a:xfrm>
            </p:spPr>
            <p:txBody>
              <a:bodyPr>
                <a:normAutofit fontScale="92500" lnSpcReduction="10000"/>
              </a:bodyPr>
              <a:lstStyle/>
              <a:p>
                <a:pPr algn="l"/>
                <a:r>
                  <a:rPr lang="ru-RU" sz="2600" b="0" i="0" u="none" strike="noStrike" baseline="0" dirty="0">
                    <a:latin typeface="TimesNewRomanPSMT"/>
                  </a:rPr>
                  <a:t>В методе Ньютона очередная точка </a:t>
                </a:r>
                <a:r>
                  <a:rPr lang="ru-RU" sz="2600" b="0" i="1" u="none" strike="noStrike" baseline="0" dirty="0">
                    <a:latin typeface="TimesNewRomanPS-ItalicMT+1"/>
                  </a:rPr>
                  <a:t>x</a:t>
                </a:r>
                <a:r>
                  <a:rPr lang="ru-RU" sz="2600" b="0" i="0" u="none" strike="noStrike" baseline="30000" dirty="0">
                    <a:latin typeface="TimesNewRomanPSMT+1"/>
                  </a:rPr>
                  <a:t>(</a:t>
                </a:r>
                <a:r>
                  <a:rPr lang="ru-RU" sz="2600" b="0" i="1" u="none" strike="noStrike" baseline="30000" dirty="0">
                    <a:latin typeface="TimesNewRomanPS-ItalicMT+1"/>
                  </a:rPr>
                  <a:t>k</a:t>
                </a:r>
                <a:r>
                  <a:rPr lang="ru-RU" sz="2600" b="0" i="0" u="none" strike="noStrike" baseline="30000" dirty="0">
                    <a:latin typeface="TimesNewRomanPSMT+1"/>
                  </a:rPr>
                  <a:t>)</a:t>
                </a:r>
                <a:r>
                  <a:rPr lang="ru-RU" sz="2600" b="0" i="0" u="none" strike="noStrike" baseline="0" dirty="0">
                    <a:latin typeface="TimesNewRomanPSMT+1"/>
                  </a:rPr>
                  <a:t> </a:t>
                </a:r>
                <a:r>
                  <a:rPr lang="ru-RU" sz="2600" b="0" i="0" u="none" strike="noStrike" baseline="0" dirty="0">
                    <a:latin typeface="TimesNewRomanPSMT"/>
                  </a:rPr>
                  <a:t>в последовательности </a:t>
                </a:r>
                <a:r>
                  <a:rPr lang="ru-RU" sz="2600" b="0" i="1" u="none" strike="noStrike" baseline="0" dirty="0">
                    <a:latin typeface="TimesNewRomanPS-ItalicMT+1"/>
                  </a:rPr>
                  <a:t>x</a:t>
                </a:r>
                <a:r>
                  <a:rPr lang="ru-RU" sz="2600" b="0" i="0" u="none" strike="noStrike" baseline="30000" dirty="0">
                    <a:latin typeface="TimesNewRomanPSMT+1"/>
                  </a:rPr>
                  <a:t>(0)</a:t>
                </a:r>
                <a:r>
                  <a:rPr lang="ru-RU" sz="2600" b="0" i="0" u="none" strike="noStrike" baseline="0" dirty="0">
                    <a:latin typeface="TimesNewRomanPSMT+1"/>
                  </a:rPr>
                  <a:t>, </a:t>
                </a:r>
                <a:r>
                  <a:rPr lang="ru-RU" sz="2600" b="0" i="1" u="none" strike="noStrike" baseline="0" dirty="0">
                    <a:latin typeface="TimesNewRomanPS-ItalicMT+1"/>
                  </a:rPr>
                  <a:t>x</a:t>
                </a:r>
                <a:r>
                  <a:rPr lang="ru-RU" sz="2600" b="0" i="0" u="none" strike="noStrike" baseline="30000" dirty="0">
                    <a:latin typeface="TimesNewRomanPSMT+1"/>
                  </a:rPr>
                  <a:t>(</a:t>
                </a:r>
                <a:r>
                  <a:rPr lang="ru-RU" sz="2600" b="0" i="0" u="none" strike="noStrike" baseline="30000" dirty="0">
                    <a:latin typeface="TimesNewRomanPSMT"/>
                  </a:rPr>
                  <a:t>1</a:t>
                </a:r>
                <a:r>
                  <a:rPr lang="ru-RU" sz="2600" b="0" i="0" u="none" strike="noStrike" baseline="30000" dirty="0">
                    <a:latin typeface="TimesNewRomanPSMT+1"/>
                  </a:rPr>
                  <a:t>)</a:t>
                </a:r>
                <a:r>
                  <a:rPr lang="ru-RU" sz="2600" b="0" i="0" u="none" strike="noStrike" baseline="0" dirty="0">
                    <a:latin typeface="TimesNewRomanPSMT+1"/>
                  </a:rPr>
                  <a:t>, </a:t>
                </a:r>
                <a:r>
                  <a:rPr lang="ru-RU" sz="2600" b="0" i="1" u="none" strike="noStrike" baseline="0" dirty="0">
                    <a:latin typeface="TimesNewRomanPS-ItalicMT+1"/>
                  </a:rPr>
                  <a:t>x</a:t>
                </a:r>
                <a:r>
                  <a:rPr lang="ru-RU" sz="2600" b="0" i="0" u="none" baseline="30000" dirty="0">
                    <a:latin typeface="TimesNewRomanPSMT+1"/>
                  </a:rPr>
                  <a:t>(2)</a:t>
                </a:r>
                <a:r>
                  <a:rPr lang="ru-RU" sz="2600" b="0" i="0" u="none" strike="noStrike" baseline="0" dirty="0">
                    <a:latin typeface="TimesNewRomanPSMT+1"/>
                  </a:rPr>
                  <a:t>, ... </a:t>
                </a:r>
                <a:r>
                  <a:rPr lang="ru-RU" sz="2600" b="0" i="0" u="none" strike="noStrike" baseline="0" dirty="0">
                    <a:latin typeface="TimesNewRomanPSMT"/>
                  </a:rPr>
                  <a:t>приближений к точке минимума </a:t>
                </a:r>
                <a:r>
                  <a:rPr lang="ru-RU" sz="2600" b="0" i="1" u="none" strike="noStrike" baseline="0" dirty="0">
                    <a:latin typeface="TimesNewRomanPS-ItalicMT+1"/>
                  </a:rPr>
                  <a:t>x</a:t>
                </a:r>
                <a:r>
                  <a:rPr lang="ru-RU" sz="2600" b="0" i="0" u="none" strike="noStrike" baseline="30000" dirty="0">
                    <a:latin typeface="TimesNewRomanPS-ItalicMT+1"/>
                  </a:rPr>
                  <a:t>∗</a:t>
                </a:r>
                <a:r>
                  <a:rPr lang="ru-RU" sz="2600" b="0" i="0" u="none" strike="noStrike" baseline="0" dirty="0">
                    <a:latin typeface="TimesNewRomanPS-ItalicMT+1"/>
                  </a:rPr>
                  <a:t> </a:t>
                </a:r>
                <a:r>
                  <a:rPr lang="ru-RU" sz="2600" b="0" i="0" u="none" strike="noStrike" baseline="0" dirty="0">
                    <a:latin typeface="TimesNewRomanPSMT"/>
                  </a:rPr>
                  <a:t>выбирается по правилу</a:t>
                </a:r>
              </a:p>
              <a:p>
                <a:pPr algn="l"/>
                <a:endParaRPr lang="ru-RU" sz="2400" dirty="0">
                  <a:latin typeface="TimesNewRomanPSMT"/>
                </a:endParaRPr>
              </a:p>
              <a:p>
                <a:pPr marL="0" indent="0">
                  <a:buNone/>
                </a:pPr>
                <a:r>
                  <a:rPr lang="ru-RU" sz="2400" dirty="0">
                    <a:latin typeface="TimesNewRomanPSMT"/>
                  </a:rPr>
                  <a:t>	</a:t>
                </a:r>
                <a:r>
                  <a:rPr lang="ru-RU" sz="2600" dirty="0">
                    <a:latin typeface="TimesNewRomanPSMT"/>
                  </a:rPr>
                  <a:t>где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d>
                                    <m:dPr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d>
                                    <m:d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2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2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2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ru-RU" sz="26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ru-RU" sz="2600" b="0" dirty="0">
                  <a:latin typeface="TimesNewRomanPSM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p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sz="2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sz="2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2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2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sz="2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num>
                                  <m:den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sz="2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sz="2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sz="2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2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2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sz="2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num>
                                  <m:den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sz="2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sz="2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2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2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sz="2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num>
                                  <m:den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sz="2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sz="2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2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2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sz="2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num>
                                  <m:den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en-US" sz="2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sz="2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ru-RU" sz="2600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6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6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sz="2600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600" dirty="0">
                    <a:latin typeface="TimesNewRomanPSMT"/>
                  </a:rPr>
                  <a:t>- </a:t>
                </a:r>
                <a:r>
                  <a:rPr lang="ru-RU" sz="2600" dirty="0">
                    <a:latin typeface="TimesNewRomanPSMT"/>
                  </a:rPr>
                  <a:t>обратная матрица</a:t>
                </a:r>
              </a:p>
              <a:p>
                <a:pPr marL="0" indent="0">
                  <a:buNone/>
                </a:pPr>
                <a:r>
                  <a:rPr lang="ru-RU" sz="2600" dirty="0">
                    <a:latin typeface="TimesNewRomanPSMT"/>
                  </a:rPr>
                  <a:t>(для случая функции двух переменных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600" dirty="0">
                    <a:latin typeface="TimesNewRomanPSMT"/>
                  </a:rPr>
                  <a:t>)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298F772-89F2-4D25-BBFD-3E565FA2F6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7442" y="957943"/>
                <a:ext cx="7175865" cy="5372325"/>
              </a:xfrm>
              <a:blipFill>
                <a:blip r:embed="rId2"/>
                <a:stretch>
                  <a:fillRect l="-1273" t="-1589" r="-15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CFBC0D7-73DA-4DFD-8DE7-EEC272E59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18" y="2148430"/>
            <a:ext cx="6569683" cy="429306"/>
          </a:xfrm>
          <a:prstGeom prst="rect">
            <a:avLst/>
          </a:prstGeom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5694603-E63B-4B55-9848-D410269F3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3</a:t>
            </a:fld>
            <a:endParaRPr lang="ru-RU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7DC964F0-BEB3-4E85-B223-87E33200F164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15087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E07AA7E1-BE40-4B52-BB1C-FE2842165A16}" type="slidenum">
              <a:rPr lang="ru-RU" altLang="ru-RU" sz="1400"/>
              <a:pPr algn="r"/>
              <a:t>3</a:t>
            </a:fld>
            <a:endParaRPr lang="ru-RU" altLang="ru-RU" sz="1400" dirty="0"/>
          </a:p>
        </p:txBody>
      </p:sp>
    </p:spTree>
    <p:extLst>
      <p:ext uri="{BB962C8B-B14F-4D97-AF65-F5344CB8AC3E}">
        <p14:creationId xmlns:p14="http://schemas.microsoft.com/office/powerpoint/2010/main" val="3641992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2AEF67-5004-4082-A503-BD7DC777D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8" y="0"/>
            <a:ext cx="7088779" cy="1053738"/>
          </a:xfrm>
        </p:spPr>
        <p:txBody>
          <a:bodyPr>
            <a:normAutofit/>
          </a:bodyPr>
          <a:lstStyle/>
          <a:p>
            <a:r>
              <a:rPr lang="ru-RU" sz="2800" dirty="0"/>
              <a:t>Алгоритм решения задачи безусловной минимизации методом Ньютона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2BA185-3E97-46AE-A925-F0B33E75A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674" y="1115561"/>
            <a:ext cx="7088778" cy="5224279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ru-RU" sz="2400" b="0" i="0" u="none" strike="noStrike" baseline="0" dirty="0">
                <a:latin typeface="TimesNewRomanPSMT"/>
              </a:rPr>
              <a:t>Задаются точность ε, начальное приближение </a:t>
            </a:r>
            <a:r>
              <a:rPr lang="ru-RU" sz="2400" b="0" i="1" u="none" strike="noStrike" baseline="0" dirty="0">
                <a:latin typeface="TimesNewRomanPS-ItalicMT+1"/>
              </a:rPr>
              <a:t>x</a:t>
            </a:r>
            <a:r>
              <a:rPr lang="ru-RU" sz="2400" b="0" i="0" u="none" strike="noStrike" baseline="30000" dirty="0">
                <a:latin typeface="TimesNewRomanPS-ItalicMT+1"/>
              </a:rPr>
              <a:t>(</a:t>
            </a:r>
            <a:r>
              <a:rPr lang="ru-RU" sz="2400" b="0" i="0" u="none" strike="noStrike" baseline="30000" dirty="0">
                <a:latin typeface="TimesNewRomanPSMT+1"/>
              </a:rPr>
              <a:t>0)</a:t>
            </a:r>
            <a:r>
              <a:rPr lang="ru-RU" sz="2400" b="0" i="0" u="none" strike="noStrike" baseline="0" dirty="0">
                <a:latin typeface="TimesNewRomanPSMT+1"/>
              </a:rPr>
              <a:t>; </a:t>
            </a:r>
            <a:br>
              <a:rPr lang="ru-RU" sz="2400" b="0" i="0" u="none" strike="noStrike" baseline="0" dirty="0">
                <a:latin typeface="TimesNewRomanPSMT+1"/>
              </a:rPr>
            </a:br>
            <a:r>
              <a:rPr lang="ru-RU" sz="2400" b="0" i="0" u="none" strike="noStrike" baseline="0" dirty="0">
                <a:latin typeface="TimesNewRomanPSMT"/>
              </a:rPr>
              <a:t>вычисляются </a:t>
            </a:r>
            <a:r>
              <a:rPr lang="ru-RU" sz="2400" b="0" i="1" u="none" strike="noStrike" baseline="0" dirty="0">
                <a:latin typeface="TimesNewRomanPS-ItalicMT+1"/>
              </a:rPr>
              <a:t>f </a:t>
            </a:r>
            <a:r>
              <a:rPr lang="ru-RU" sz="2400" b="0" i="0" u="none" strike="noStrike" baseline="0" dirty="0">
                <a:latin typeface="TimesNewRomanPSMT+1"/>
              </a:rPr>
              <a:t>(</a:t>
            </a:r>
            <a:r>
              <a:rPr lang="ru-RU" sz="2400" b="0" i="1" u="none" strike="noStrike" baseline="0" dirty="0">
                <a:latin typeface="TimesNewRomanPS-ItalicMT+1"/>
              </a:rPr>
              <a:t>x</a:t>
            </a:r>
            <a:r>
              <a:rPr lang="ru-RU" sz="2400" b="0" i="0" u="none" strike="noStrike" baseline="30000" dirty="0">
                <a:latin typeface="TimesNewRomanPSMT+1"/>
              </a:rPr>
              <a:t>(0)</a:t>
            </a:r>
            <a:r>
              <a:rPr lang="ru-RU" sz="2400" b="0" i="0" u="none" strike="noStrike" baseline="0" dirty="0">
                <a:latin typeface="TimesNewRomanPSMT+1"/>
              </a:rPr>
              <a:t>), </a:t>
            </a:r>
            <a:r>
              <a:rPr lang="ru-RU" sz="2400" b="0" i="1" u="none" strike="noStrike" baseline="0" dirty="0">
                <a:latin typeface="TimesNewRomanPS-ItalicMT+1"/>
              </a:rPr>
              <a:t>f </a:t>
            </a:r>
            <a:r>
              <a:rPr lang="ru-RU" sz="2400" b="0" i="0" u="none" strike="noStrike" baseline="0" dirty="0">
                <a:latin typeface="TimesNewRomanPS-ItalicMT+1"/>
              </a:rPr>
              <a:t>′</a:t>
            </a:r>
            <a:r>
              <a:rPr lang="ru-RU" sz="2400" b="0" i="0" u="none" strike="noStrike" baseline="0" dirty="0">
                <a:latin typeface="TimesNewRomanPSMT+1"/>
              </a:rPr>
              <a:t>(</a:t>
            </a:r>
            <a:r>
              <a:rPr lang="ru-RU" sz="2400" b="0" i="1" u="none" strike="noStrike" baseline="0" dirty="0">
                <a:latin typeface="TimesNewRomanPS-ItalicMT+1"/>
              </a:rPr>
              <a:t>x</a:t>
            </a:r>
            <a:r>
              <a:rPr lang="ru-RU" sz="2400" b="0" i="0" u="none" strike="noStrike" baseline="30000" dirty="0">
                <a:latin typeface="TimesNewRomanPSMT+1"/>
              </a:rPr>
              <a:t>(0)</a:t>
            </a:r>
            <a:r>
              <a:rPr lang="ru-RU" sz="2400" b="0" i="0" u="none" strike="noStrike" baseline="0" dirty="0">
                <a:latin typeface="TimesNewRomanPSMT+1"/>
              </a:rPr>
              <a:t>), </a:t>
            </a:r>
            <a:r>
              <a:rPr lang="en-US" sz="2400" b="0" i="0" u="none" strike="noStrike" baseline="0" dirty="0">
                <a:latin typeface="TimesNewRomanPSMT+1"/>
              </a:rPr>
              <a:t>||</a:t>
            </a:r>
            <a:r>
              <a:rPr lang="ru-RU" sz="2400" b="0" i="1" u="none" strike="noStrike" baseline="0" dirty="0">
                <a:latin typeface="TimesNewRomanPS-ItalicMT+1"/>
              </a:rPr>
              <a:t>f </a:t>
            </a:r>
            <a:r>
              <a:rPr lang="ru-RU" sz="2400" b="0" i="0" u="none" strike="noStrike" baseline="0" dirty="0">
                <a:latin typeface="TimesNewRomanPS-ItalicMT+1"/>
              </a:rPr>
              <a:t>′</a:t>
            </a:r>
            <a:r>
              <a:rPr lang="ru-RU" sz="2400" b="0" i="0" u="none" strike="noStrike" baseline="0" dirty="0">
                <a:latin typeface="TimesNewRomanPSMT+1"/>
              </a:rPr>
              <a:t>(</a:t>
            </a:r>
            <a:r>
              <a:rPr lang="ru-RU" sz="2400" b="0" i="1" u="none" strike="noStrike" baseline="0" dirty="0">
                <a:latin typeface="TimesNewRomanPS-ItalicMT+1"/>
              </a:rPr>
              <a:t>x</a:t>
            </a:r>
            <a:r>
              <a:rPr lang="ru-RU" sz="2400" b="0" i="0" u="none" strike="noStrike" baseline="30000" dirty="0">
                <a:latin typeface="TimesNewRomanPSMT+1"/>
              </a:rPr>
              <a:t>(0)</a:t>
            </a:r>
            <a:r>
              <a:rPr lang="ru-RU" sz="2400" b="0" i="0" u="none" strike="noStrike" baseline="0" dirty="0">
                <a:latin typeface="TimesNewRomanPSMT+1"/>
              </a:rPr>
              <a:t>)</a:t>
            </a:r>
            <a:r>
              <a:rPr lang="en-US" sz="2400" b="0" i="0" u="none" strike="noStrike" baseline="0">
                <a:latin typeface="TimesNewRomanPSMT+1"/>
              </a:rPr>
              <a:t>||</a:t>
            </a:r>
            <a:r>
              <a:rPr lang="ru-RU" sz="2400" b="0" i="0" u="none" strike="noStrike" baseline="0">
                <a:latin typeface="TimesNewRomanPSMT+1"/>
              </a:rPr>
              <a:t>; </a:t>
            </a:r>
            <a:br>
              <a:rPr lang="ru-RU" sz="2400" b="0" i="0" u="none" strike="noStrike" baseline="0" dirty="0">
                <a:latin typeface="TimesNewRomanPSMT+1"/>
              </a:rPr>
            </a:br>
            <a:r>
              <a:rPr lang="ru-RU" sz="2400" b="0" i="0" u="none" strike="noStrike" baseline="0" dirty="0">
                <a:latin typeface="TimesNewRomanPSMT"/>
              </a:rPr>
              <a:t>полагается </a:t>
            </a:r>
            <a:r>
              <a:rPr lang="ru-RU" sz="2400" b="0" i="1" u="none" strike="noStrike" baseline="0" dirty="0">
                <a:latin typeface="TimesNewRomanPS-ItalicMT+1"/>
              </a:rPr>
              <a:t>k </a:t>
            </a:r>
            <a:r>
              <a:rPr lang="ru-RU" sz="2400" b="0" i="0" u="none" strike="noStrike" baseline="0" dirty="0">
                <a:latin typeface="TimesNewRomanPS-ItalicMT+1"/>
              </a:rPr>
              <a:t>=</a:t>
            </a:r>
            <a:r>
              <a:rPr lang="ru-RU" sz="2400" b="0" i="0" u="none" strike="noStrike" baseline="0" dirty="0">
                <a:latin typeface="TimesNewRomanPSMT"/>
              </a:rPr>
              <a:t>1</a:t>
            </a:r>
            <a:r>
              <a:rPr lang="ru-RU" sz="2400" b="0" i="0" u="none" strike="noStrike" baseline="0" dirty="0">
                <a:latin typeface="TimesNewRomanPSMT+1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ru-RU" sz="2400" b="0" i="0" u="none" strike="noStrike" baseline="0" dirty="0">
                <a:latin typeface="TimesNewRomanPSMT"/>
              </a:rPr>
              <a:t>Вычисляется </a:t>
            </a:r>
            <a:r>
              <a:rPr lang="ru-RU" sz="2400" b="0" i="1" u="none" strike="noStrike" baseline="0" dirty="0">
                <a:latin typeface="TimesNewRomanPS-ItalicMT+1"/>
              </a:rPr>
              <a:t>f </a:t>
            </a:r>
            <a:r>
              <a:rPr lang="ru-RU" sz="2400" b="0" i="0" u="none" strike="noStrike" baseline="0" dirty="0">
                <a:latin typeface="TimesNewRomanPS-ItalicMT+1"/>
              </a:rPr>
              <a:t>′′</a:t>
            </a:r>
            <a:r>
              <a:rPr lang="ru-RU" sz="2400" b="0" i="0" u="none" strike="noStrike" baseline="0" dirty="0">
                <a:latin typeface="TimesNewRomanPSMT+1"/>
              </a:rPr>
              <a:t>(</a:t>
            </a:r>
            <a:r>
              <a:rPr lang="ru-RU" sz="2400" b="0" i="1" u="none" strike="noStrike" baseline="0" dirty="0">
                <a:latin typeface="TimesNewRomanPS-ItalicMT+1"/>
              </a:rPr>
              <a:t>x</a:t>
            </a:r>
            <a:r>
              <a:rPr lang="ru-RU" sz="2400" b="0" i="0" u="none" strike="noStrike" baseline="30000" dirty="0">
                <a:latin typeface="TimesNewRomanPSMT+1"/>
              </a:rPr>
              <a:t>(</a:t>
            </a:r>
            <a:r>
              <a:rPr lang="ru-RU" sz="2400" b="0" i="1" u="none" strike="noStrike" baseline="30000" dirty="0">
                <a:latin typeface="TimesNewRomanPS-ItalicMT+1"/>
              </a:rPr>
              <a:t>k </a:t>
            </a:r>
            <a:r>
              <a:rPr lang="ru-RU" sz="2400" b="0" i="0" u="none" strike="noStrike" baseline="30000" dirty="0">
                <a:latin typeface="TimesNewRomanPS-ItalicMT+1"/>
              </a:rPr>
              <a:t>−</a:t>
            </a:r>
            <a:r>
              <a:rPr lang="ru-RU" sz="2400" b="0" i="0" u="none" strike="noStrike" baseline="30000" dirty="0">
                <a:latin typeface="TimesNewRomanPSMT"/>
              </a:rPr>
              <a:t>1</a:t>
            </a:r>
            <a:r>
              <a:rPr lang="ru-RU" sz="2400" b="0" i="0" u="none" strike="noStrike" baseline="30000" dirty="0">
                <a:latin typeface="TimesNewRomanPSMT+1"/>
              </a:rPr>
              <a:t>)</a:t>
            </a:r>
            <a:r>
              <a:rPr lang="ru-RU" sz="2400" b="0" i="0" u="none" strike="noStrike" baseline="0" dirty="0">
                <a:latin typeface="TimesNewRomanPSMT+1"/>
              </a:rPr>
              <a:t>).</a:t>
            </a:r>
          </a:p>
          <a:p>
            <a:pPr algn="l">
              <a:buFont typeface="+mj-lt"/>
              <a:buAutoNum type="arabicPeriod"/>
            </a:pPr>
            <a:r>
              <a:rPr lang="ru-RU" sz="2400" b="0" i="0" u="none" strike="noStrike" baseline="0" dirty="0">
                <a:latin typeface="TimesNewRomanPSMT"/>
              </a:rPr>
              <a:t>Находится обратная матрица </a:t>
            </a:r>
            <a:r>
              <a:rPr lang="ru-RU" sz="2400" b="0" i="0" u="none" strike="noStrike" baseline="0" dirty="0">
                <a:latin typeface="TimesNewRomanPSMT+1"/>
              </a:rPr>
              <a:t>(</a:t>
            </a:r>
            <a:r>
              <a:rPr lang="ru-RU" sz="2400" b="0" i="1" u="none" strike="noStrike" baseline="0" dirty="0">
                <a:latin typeface="TimesNewRomanPS-ItalicMT+1"/>
              </a:rPr>
              <a:t>f </a:t>
            </a:r>
            <a:r>
              <a:rPr lang="ru-RU" sz="2400" b="0" i="0" u="none" strike="noStrike" baseline="0" dirty="0">
                <a:latin typeface="TimesNewRomanPS-ItalicMT+1"/>
              </a:rPr>
              <a:t>′′</a:t>
            </a:r>
            <a:r>
              <a:rPr lang="ru-RU" sz="2400" b="0" i="0" u="none" strike="noStrike" baseline="0" dirty="0">
                <a:latin typeface="TimesNewRomanPSMT+1"/>
              </a:rPr>
              <a:t>(</a:t>
            </a:r>
            <a:r>
              <a:rPr lang="ru-RU" sz="2400" b="0" i="1" u="none" strike="noStrike" baseline="0" dirty="0">
                <a:latin typeface="TimesNewRomanPS-ItalicMT+1"/>
              </a:rPr>
              <a:t>x</a:t>
            </a:r>
            <a:r>
              <a:rPr lang="ru-RU" sz="2400" b="0" i="0" u="none" strike="noStrike" baseline="30000" dirty="0">
                <a:latin typeface="TimesNewRomanPSMT+1"/>
              </a:rPr>
              <a:t>(</a:t>
            </a:r>
            <a:r>
              <a:rPr lang="ru-RU" sz="2400" b="0" i="1" u="none" strike="noStrike" baseline="30000" dirty="0">
                <a:latin typeface="TimesNewRomanPS-ItalicMT+1"/>
              </a:rPr>
              <a:t>k </a:t>
            </a:r>
            <a:r>
              <a:rPr lang="ru-RU" sz="2400" b="0" i="0" u="none" strike="noStrike" baseline="30000" dirty="0">
                <a:latin typeface="TimesNewRomanPS-ItalicMT+1"/>
              </a:rPr>
              <a:t>−</a:t>
            </a:r>
            <a:r>
              <a:rPr lang="ru-RU" sz="2400" b="0" i="0" u="none" strike="noStrike" baseline="30000" dirty="0">
                <a:latin typeface="TimesNewRomanPSMT"/>
              </a:rPr>
              <a:t>1</a:t>
            </a:r>
            <a:r>
              <a:rPr lang="ru-RU" sz="2400" b="0" i="0" u="none" strike="noStrike" baseline="30000" dirty="0">
                <a:latin typeface="TimesNewRomanPSMT+1"/>
              </a:rPr>
              <a:t>)</a:t>
            </a:r>
            <a:r>
              <a:rPr lang="ru-RU" sz="2400" b="0" i="0" u="none" strike="noStrike" baseline="0" dirty="0">
                <a:latin typeface="TimesNewRomanPSMT+1"/>
              </a:rPr>
              <a:t>))</a:t>
            </a:r>
            <a:r>
              <a:rPr lang="ru-RU" sz="2400" b="0" i="0" u="none" strike="noStrike" baseline="30000" dirty="0">
                <a:latin typeface="TimesNewRomanPSMT+1"/>
              </a:rPr>
              <a:t>−</a:t>
            </a:r>
            <a:r>
              <a:rPr lang="ru-RU" sz="2400" b="0" i="0" u="none" strike="noStrike" baseline="30000" dirty="0">
                <a:latin typeface="TimesNewRomanPSMT"/>
              </a:rPr>
              <a:t>1</a:t>
            </a:r>
            <a:r>
              <a:rPr lang="ru-RU" sz="2400" b="0" i="0" u="none" strike="noStrike" baseline="0" dirty="0">
                <a:latin typeface="TimesNewRomanPSMT+1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ru-RU" sz="2400" b="0" i="0" u="none" strike="noStrike" baseline="0" dirty="0">
                <a:latin typeface="TimesNewRomanPSMT"/>
              </a:rPr>
              <a:t>Вычисляются </a:t>
            </a:r>
            <a:r>
              <a:rPr lang="el-GR" sz="2400" b="0" i="0" u="none" strike="noStrike" baseline="0" dirty="0">
                <a:latin typeface="TimesNewRomanPSMT"/>
              </a:rPr>
              <a:t>Δ</a:t>
            </a:r>
            <a:r>
              <a:rPr lang="en-US" sz="2400" b="0" i="1" u="none" strike="noStrike" baseline="0" dirty="0">
                <a:latin typeface="TimesNewRomanPS-ItalicMT+1"/>
              </a:rPr>
              <a:t>x</a:t>
            </a:r>
            <a:r>
              <a:rPr lang="en-US" sz="2400" b="0" i="0" u="none" strike="noStrike" baseline="30000" dirty="0">
                <a:latin typeface="TimesNewRomanPSMT+1"/>
              </a:rPr>
              <a:t>(</a:t>
            </a:r>
            <a:r>
              <a:rPr lang="en-US" sz="2400" b="0" i="1" u="none" strike="noStrike" baseline="30000" dirty="0">
                <a:latin typeface="TimesNewRomanPS-ItalicMT+1"/>
              </a:rPr>
              <a:t>k</a:t>
            </a:r>
            <a:r>
              <a:rPr lang="en-US" sz="2400" b="0" i="0" u="none" strike="noStrike" baseline="30000" dirty="0">
                <a:latin typeface="TimesNewRomanPSMT+1"/>
              </a:rPr>
              <a:t>)</a:t>
            </a:r>
            <a:r>
              <a:rPr lang="en-US" sz="2400" b="0" i="0" u="none" strike="noStrike" baseline="0" dirty="0">
                <a:latin typeface="TimesNewRomanPSMT+1"/>
              </a:rPr>
              <a:t> = − </a:t>
            </a:r>
            <a:r>
              <a:rPr lang="en-US" sz="2400" b="0" i="1" u="none" strike="noStrike" baseline="0" dirty="0">
                <a:latin typeface="TimesNewRomanPS-ItalicMT+1"/>
              </a:rPr>
              <a:t>f </a:t>
            </a:r>
            <a:r>
              <a:rPr lang="en-US" sz="2400" b="0" i="0" u="none" strike="noStrike" baseline="0" dirty="0">
                <a:latin typeface="TimesNewRomanPS-ItalicMT+1"/>
              </a:rPr>
              <a:t>′</a:t>
            </a:r>
            <a:r>
              <a:rPr lang="en-US" sz="2400" b="0" i="0" u="none" strike="noStrike" baseline="0" dirty="0">
                <a:latin typeface="TimesNewRomanPSMT+1"/>
              </a:rPr>
              <a:t>(</a:t>
            </a:r>
            <a:r>
              <a:rPr lang="en-US" sz="2400" b="0" i="1" u="none" strike="noStrike" baseline="0" dirty="0">
                <a:latin typeface="TimesNewRomanPS-ItalicMT+1"/>
              </a:rPr>
              <a:t>x</a:t>
            </a:r>
            <a:r>
              <a:rPr lang="en-US" sz="2400" b="0" i="0" u="none" strike="noStrike" baseline="30000" dirty="0">
                <a:latin typeface="TimesNewRomanPSMT+1"/>
              </a:rPr>
              <a:t>(</a:t>
            </a:r>
            <a:r>
              <a:rPr lang="en-US" sz="2400" b="0" i="1" u="none" strike="noStrike" baseline="30000" dirty="0">
                <a:latin typeface="TimesNewRomanPS-ItalicMT+1"/>
              </a:rPr>
              <a:t>k </a:t>
            </a:r>
            <a:r>
              <a:rPr lang="en-US" sz="2400" b="0" i="0" u="none" strike="noStrike" baseline="30000" dirty="0">
                <a:latin typeface="TimesNewRomanPS-ItalicMT+1"/>
              </a:rPr>
              <a:t>−</a:t>
            </a:r>
            <a:r>
              <a:rPr lang="en-US" sz="2400" b="0" i="0" u="none" strike="noStrike" baseline="30000" dirty="0">
                <a:latin typeface="TimesNewRomanPSMT"/>
              </a:rPr>
              <a:t>1</a:t>
            </a:r>
            <a:r>
              <a:rPr lang="en-US" sz="2400" b="0" i="0" u="none" strike="noStrike" baseline="30000" dirty="0">
                <a:latin typeface="TimesNewRomanPSMT+1"/>
              </a:rPr>
              <a:t>)</a:t>
            </a:r>
            <a:r>
              <a:rPr lang="en-US" sz="2400" b="0" i="0" u="none" strike="noStrike" baseline="0" dirty="0">
                <a:latin typeface="TimesNewRomanPSMT+1"/>
              </a:rPr>
              <a:t>)( </a:t>
            </a:r>
            <a:r>
              <a:rPr lang="en-US" sz="2400" b="0" i="1" u="none" strike="noStrike" baseline="0" dirty="0">
                <a:latin typeface="TimesNewRomanPS-ItalicMT+1"/>
              </a:rPr>
              <a:t>f </a:t>
            </a:r>
            <a:r>
              <a:rPr lang="en-US" sz="2400" b="0" i="0" u="none" strike="noStrike" baseline="0" dirty="0">
                <a:latin typeface="TimesNewRomanPS-ItalicMT+1"/>
              </a:rPr>
              <a:t>′′</a:t>
            </a:r>
            <a:r>
              <a:rPr lang="en-US" sz="2400" b="0" i="0" u="none" strike="noStrike" baseline="0" dirty="0">
                <a:latin typeface="TimesNewRomanPSMT+1"/>
              </a:rPr>
              <a:t>(</a:t>
            </a:r>
            <a:r>
              <a:rPr lang="en-US" sz="2400" b="0" i="1" u="none" strike="noStrike" baseline="0" dirty="0">
                <a:latin typeface="TimesNewRomanPS-ItalicMT+1"/>
              </a:rPr>
              <a:t>x</a:t>
            </a:r>
            <a:r>
              <a:rPr lang="en-US" sz="2400" b="0" i="0" u="none" strike="noStrike" baseline="30000" dirty="0">
                <a:latin typeface="TimesNewRomanPSMT+1"/>
              </a:rPr>
              <a:t>(</a:t>
            </a:r>
            <a:r>
              <a:rPr lang="en-US" sz="2400" b="0" i="1" u="none" strike="noStrike" baseline="30000" dirty="0">
                <a:latin typeface="TimesNewRomanPS-ItalicMT+1"/>
              </a:rPr>
              <a:t>k </a:t>
            </a:r>
            <a:r>
              <a:rPr lang="en-US" sz="2400" b="0" i="0" u="none" strike="noStrike" baseline="30000" dirty="0">
                <a:latin typeface="TimesNewRomanPS-ItalicMT+1"/>
              </a:rPr>
              <a:t>−</a:t>
            </a:r>
            <a:r>
              <a:rPr lang="en-US" sz="2400" b="0" i="0" u="none" strike="noStrike" baseline="30000" dirty="0">
                <a:latin typeface="TimesNewRomanPSMT"/>
              </a:rPr>
              <a:t>1</a:t>
            </a:r>
            <a:r>
              <a:rPr lang="en-US" sz="2400" b="0" i="0" u="none" strike="noStrike" baseline="30000" dirty="0">
                <a:latin typeface="TimesNewRomanPSMT+1"/>
              </a:rPr>
              <a:t>)</a:t>
            </a:r>
            <a:r>
              <a:rPr lang="en-US" sz="2400" b="0" i="0" u="none" strike="noStrike" baseline="0" dirty="0">
                <a:latin typeface="TimesNewRomanPSMT+1"/>
              </a:rPr>
              <a:t>))</a:t>
            </a:r>
            <a:r>
              <a:rPr lang="en-US" sz="2400" b="0" i="0" u="none" strike="noStrike" baseline="30000" dirty="0">
                <a:latin typeface="TimesNewRomanPSMT+1"/>
              </a:rPr>
              <a:t>−</a:t>
            </a:r>
            <a:r>
              <a:rPr lang="en-US" sz="2400" b="0" i="0" u="none" strike="noStrike" baseline="30000" dirty="0">
                <a:latin typeface="TimesNewRomanPSMT"/>
              </a:rPr>
              <a:t>1</a:t>
            </a:r>
            <a:r>
              <a:rPr lang="en-US" sz="2400" b="0" i="0" u="none" strike="noStrike" baseline="0" dirty="0">
                <a:latin typeface="TimesNewRomanPSMT+1"/>
              </a:rPr>
              <a:t>, </a:t>
            </a:r>
            <a:br>
              <a:rPr lang="ru-RU" sz="2400" b="0" i="0" u="none" strike="noStrike" baseline="0" dirty="0">
                <a:latin typeface="TimesNewRomanPSMT+1"/>
              </a:rPr>
            </a:br>
            <a:r>
              <a:rPr lang="en-US" sz="2400" b="0" i="1" u="none" strike="noStrike" baseline="0" dirty="0">
                <a:latin typeface="TimesNewRomanPS-ItalicMT+1"/>
              </a:rPr>
              <a:t>x</a:t>
            </a:r>
            <a:r>
              <a:rPr lang="en-US" sz="2400" b="0" i="0" u="none" strike="noStrike" baseline="30000" dirty="0">
                <a:latin typeface="TimesNewRomanPSMT+1"/>
              </a:rPr>
              <a:t>(</a:t>
            </a:r>
            <a:r>
              <a:rPr lang="en-US" sz="2400" b="0" i="1" u="none" strike="noStrike" baseline="30000" dirty="0">
                <a:latin typeface="TimesNewRomanPSMT+1"/>
              </a:rPr>
              <a:t>k</a:t>
            </a:r>
            <a:r>
              <a:rPr lang="en-US" sz="2400" b="0" i="0" u="none" strike="noStrike" baseline="30000" dirty="0">
                <a:latin typeface="TimesNewRomanPSMT+1"/>
              </a:rPr>
              <a:t>)</a:t>
            </a:r>
            <a:r>
              <a:rPr lang="en-US" sz="2400" b="0" i="0" u="none" strike="noStrike" baseline="0" dirty="0">
                <a:latin typeface="TimesNewRomanPSMT+1"/>
              </a:rPr>
              <a:t> =</a:t>
            </a:r>
            <a:r>
              <a:rPr lang="en-US" sz="2400" b="0" i="0" u="none" strike="noStrike" baseline="0" dirty="0"/>
              <a:t> </a:t>
            </a:r>
            <a:r>
              <a:rPr lang="en-US" sz="2400" b="0" i="1" u="none" strike="noStrike" baseline="0" dirty="0">
                <a:latin typeface="TimesNewRomanPS-ItalicMT+1"/>
              </a:rPr>
              <a:t>x</a:t>
            </a:r>
            <a:r>
              <a:rPr lang="en-US" sz="2400" b="0" i="0" u="none" strike="noStrike" baseline="30000" dirty="0">
                <a:latin typeface="TimesNewRomanPSMT+1"/>
              </a:rPr>
              <a:t>(</a:t>
            </a:r>
            <a:r>
              <a:rPr lang="en-US" sz="2400" b="0" i="1" u="none" strike="noStrike" baseline="30000" dirty="0">
                <a:latin typeface="TimesNewRomanPS-ItalicMT+1"/>
              </a:rPr>
              <a:t>k</a:t>
            </a:r>
            <a:r>
              <a:rPr lang="en-US" sz="2400" b="0" i="0" u="none" strike="noStrike" baseline="30000" dirty="0">
                <a:latin typeface="TimesNewRomanPS-ItalicMT+1"/>
              </a:rPr>
              <a:t>−</a:t>
            </a:r>
            <a:r>
              <a:rPr lang="en-US" sz="2400" b="0" i="0" u="none" strike="noStrike" baseline="30000" dirty="0">
                <a:latin typeface="TimesNewRomanPSMT"/>
              </a:rPr>
              <a:t>1</a:t>
            </a:r>
            <a:r>
              <a:rPr lang="en-US" sz="2400" b="0" i="0" u="none" strike="noStrike" baseline="30000" dirty="0">
                <a:latin typeface="TimesNewRomanPSMT+1"/>
              </a:rPr>
              <a:t>)</a:t>
            </a:r>
            <a:r>
              <a:rPr lang="en-US" sz="2400" b="0" i="0" u="none" strike="noStrike" baseline="0" dirty="0">
                <a:latin typeface="TimesNewRomanPSMT+1"/>
              </a:rPr>
              <a:t> + </a:t>
            </a:r>
            <a:r>
              <a:rPr lang="el-GR" sz="2400" b="0" i="0" u="none" strike="noStrike" baseline="0" dirty="0">
                <a:latin typeface="TimesNewRomanPSMT+1"/>
              </a:rPr>
              <a:t>Δ</a:t>
            </a:r>
            <a:r>
              <a:rPr lang="en-US" sz="2400" b="0" i="1" u="none" strike="noStrike" baseline="0" dirty="0">
                <a:latin typeface="TimesNewRomanPS-ItalicMT+1"/>
              </a:rPr>
              <a:t>x</a:t>
            </a:r>
            <a:r>
              <a:rPr lang="en-US" sz="2400" b="0" i="0" u="none" strike="noStrike" baseline="30000" dirty="0">
                <a:latin typeface="TimesNewRomanPSMT+1"/>
              </a:rPr>
              <a:t>(</a:t>
            </a:r>
            <a:r>
              <a:rPr lang="en-US" sz="2400" b="0" i="1" u="none" strike="noStrike" baseline="30000" dirty="0">
                <a:latin typeface="TimesNewRomanPS-ItalicMT+1"/>
              </a:rPr>
              <a:t>k</a:t>
            </a:r>
            <a:r>
              <a:rPr lang="en-US" sz="2400" b="0" i="0" u="none" strike="noStrike" baseline="30000" dirty="0">
                <a:latin typeface="TimesNewRomanPSMT+1"/>
              </a:rPr>
              <a:t>)</a:t>
            </a:r>
            <a:r>
              <a:rPr lang="en-US" sz="2400" b="0" i="0" u="none" strike="noStrike" baseline="0" dirty="0">
                <a:latin typeface="TimesNewRomanPSMT+1"/>
              </a:rPr>
              <a:t>,</a:t>
            </a:r>
            <a:r>
              <a:rPr lang="ru-RU" sz="2400" b="0" i="0" u="none" strike="noStrike" baseline="0" dirty="0">
                <a:latin typeface="TimesNewRomanPSMT+1"/>
              </a:rPr>
              <a:t> новые значения </a:t>
            </a:r>
            <a:r>
              <a:rPr lang="en-US" sz="2400" b="0" i="0" u="none" strike="noStrike" baseline="0" dirty="0">
                <a:latin typeface="TimesNewRomanPSMT+1"/>
              </a:rPr>
              <a:t> </a:t>
            </a:r>
            <a:r>
              <a:rPr lang="en-US" sz="2400" b="0" i="1" u="none" strike="noStrike" baseline="0" dirty="0">
                <a:latin typeface="TimesNewRomanPS-ItalicMT+1"/>
              </a:rPr>
              <a:t>f </a:t>
            </a:r>
            <a:r>
              <a:rPr lang="en-US" sz="2400" b="0" i="0" u="none" strike="noStrike" baseline="0" dirty="0">
                <a:latin typeface="TimesNewRomanPS-ItalicMT+1"/>
              </a:rPr>
              <a:t>′</a:t>
            </a:r>
            <a:r>
              <a:rPr lang="en-US" sz="2400" b="0" i="0" u="none" strike="noStrike" baseline="0" dirty="0">
                <a:latin typeface="TimesNewRomanPSMT+1"/>
              </a:rPr>
              <a:t>(</a:t>
            </a:r>
            <a:r>
              <a:rPr lang="en-US" sz="2400" b="0" i="1" u="none" strike="noStrike" baseline="0" dirty="0">
                <a:latin typeface="TimesNewRomanPS-ItalicMT+1"/>
              </a:rPr>
              <a:t>x</a:t>
            </a:r>
            <a:r>
              <a:rPr lang="en-US" sz="2400" b="0" i="0" u="none" strike="noStrike" baseline="30000" dirty="0">
                <a:latin typeface="TimesNewRomanPSMT+1"/>
              </a:rPr>
              <a:t>(</a:t>
            </a:r>
            <a:r>
              <a:rPr lang="en-US" sz="2400" b="0" i="1" u="none" strike="noStrike" baseline="30000" dirty="0">
                <a:latin typeface="TimesNewRomanPS-ItalicMT+1"/>
              </a:rPr>
              <a:t>k</a:t>
            </a:r>
            <a:r>
              <a:rPr lang="en-US" sz="2400" b="0" i="0" u="none" strike="noStrike" baseline="30000" dirty="0">
                <a:latin typeface="TimesNewRomanPSMT+1"/>
              </a:rPr>
              <a:t>)</a:t>
            </a:r>
            <a:r>
              <a:rPr lang="en-US" sz="2400" b="0" i="0" u="none" strike="noStrike" baseline="0" dirty="0">
                <a:latin typeface="TimesNewRomanPSMT+1"/>
              </a:rPr>
              <a:t>),</a:t>
            </a:r>
            <a:r>
              <a:rPr lang="ru-RU" sz="2400" b="0" i="0" u="none" strike="noStrike" baseline="0" dirty="0">
                <a:latin typeface="TimesNewRomanPSMT+1"/>
              </a:rPr>
              <a:t> </a:t>
            </a:r>
            <a:r>
              <a:rPr lang="en-US" sz="2400" b="0" i="0" u="none" strike="noStrike" baseline="0" dirty="0">
                <a:latin typeface="TimesNewRomanPSMT+1"/>
              </a:rPr>
              <a:t> </a:t>
            </a:r>
            <a:r>
              <a:rPr lang="en-US" sz="2400" dirty="0">
                <a:latin typeface="TimesNewRomanPSMT+1"/>
              </a:rPr>
              <a:t>||</a:t>
            </a:r>
            <a:r>
              <a:rPr lang="en-US" sz="2400" b="0" i="1" u="none" strike="noStrike" baseline="0" dirty="0">
                <a:latin typeface="TimesNewRomanPS-ItalicMT+1"/>
              </a:rPr>
              <a:t>f </a:t>
            </a:r>
            <a:r>
              <a:rPr lang="en-US" sz="2400" b="0" i="0" u="none" strike="noStrike" baseline="0" dirty="0">
                <a:latin typeface="TimesNewRomanPS-ItalicMT+1"/>
              </a:rPr>
              <a:t>′</a:t>
            </a:r>
            <a:r>
              <a:rPr lang="en-US" sz="2400" b="0" i="0" u="none" strike="noStrike" baseline="0" dirty="0">
                <a:latin typeface="TimesNewRomanPSMT+1"/>
              </a:rPr>
              <a:t>(</a:t>
            </a:r>
            <a:r>
              <a:rPr lang="en-US" sz="2400" b="0" i="1" u="none" strike="noStrike" baseline="0" dirty="0">
                <a:latin typeface="TimesNewRomanPS-ItalicMT+1"/>
              </a:rPr>
              <a:t>x</a:t>
            </a:r>
            <a:r>
              <a:rPr lang="en-US" sz="2400" b="0" i="0" u="none" strike="noStrike" baseline="30000" dirty="0">
                <a:latin typeface="TimesNewRomanPSMT+1"/>
              </a:rPr>
              <a:t>(</a:t>
            </a:r>
            <a:r>
              <a:rPr lang="en-US" sz="2400" b="0" i="1" u="none" strike="noStrike" baseline="30000" dirty="0">
                <a:latin typeface="TimesNewRomanPS-ItalicMT+1"/>
              </a:rPr>
              <a:t>k</a:t>
            </a:r>
            <a:r>
              <a:rPr lang="en-US" sz="2400" b="0" i="0" u="none" strike="noStrike" baseline="30000" dirty="0">
                <a:latin typeface="TimesNewRomanPSMT+1"/>
              </a:rPr>
              <a:t>)</a:t>
            </a:r>
            <a:r>
              <a:rPr lang="en-US" sz="2400" b="0" i="0" u="none" strike="noStrike" baseline="0" dirty="0">
                <a:latin typeface="TimesNewRomanPSMT+1"/>
              </a:rPr>
              <a:t>)||</a:t>
            </a:r>
          </a:p>
          <a:p>
            <a:pPr algn="l">
              <a:buFont typeface="+mj-lt"/>
              <a:buAutoNum type="arabicPeriod"/>
            </a:pPr>
            <a:r>
              <a:rPr lang="ru-RU" sz="2400" b="0" i="0" u="none" strike="noStrike" baseline="0" dirty="0">
                <a:latin typeface="TimesNewRomanPSMT"/>
              </a:rPr>
              <a:t>Проверяется условие окончания вычислений</a:t>
            </a:r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ABAE56-54CC-491B-8C45-B13D8A199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471" y="4684123"/>
            <a:ext cx="1641184" cy="575854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6CED08-4F22-42BC-8CFA-76C470ECD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4</a:t>
            </a:fld>
            <a:endParaRPr lang="ru-RU"/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141CA757-ECB9-4C4D-A924-CE22FCA3B6A6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15087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E07AA7E1-BE40-4B52-BB1C-FE2842165A16}" type="slidenum">
              <a:rPr lang="ru-RU" altLang="ru-RU" sz="1400"/>
              <a:pPr algn="r"/>
              <a:t>4</a:t>
            </a:fld>
            <a:endParaRPr lang="ru-RU" altLang="ru-RU" sz="1400" dirty="0"/>
          </a:p>
        </p:txBody>
      </p:sp>
    </p:spTree>
    <p:extLst>
      <p:ext uri="{BB962C8B-B14F-4D97-AF65-F5344CB8AC3E}">
        <p14:creationId xmlns:p14="http://schemas.microsoft.com/office/powerpoint/2010/main" val="2858262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91863DF-A40A-47AE-BEDC-C26604AEB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89436"/>
            <a:ext cx="7646126" cy="5851296"/>
          </a:xfrm>
        </p:spPr>
        <p:txBody>
          <a:bodyPr>
            <a:normAutofit/>
          </a:bodyPr>
          <a:lstStyle/>
          <a:p>
            <a:pPr algn="l"/>
            <a:r>
              <a:rPr lang="ru-RU" sz="2400" b="0" i="0" u="none" strike="noStrike" baseline="0" dirty="0">
                <a:latin typeface="TimesNewRomanPSMT"/>
              </a:rPr>
              <a:t>Метод Ньютона находит минимум квадратичной функции</a:t>
            </a:r>
            <a:r>
              <a:rPr lang="en-US" sz="2400" b="0" i="0" u="none" strike="noStrike" baseline="0" dirty="0">
                <a:latin typeface="TimesNewRomanPSMT"/>
              </a:rPr>
              <a:t> </a:t>
            </a:r>
            <a:r>
              <a:rPr lang="ru-RU" sz="2400" b="0" i="0" u="none" strike="noStrike" baseline="0" dirty="0">
                <a:latin typeface="TimesNewRomanPSMT"/>
              </a:rPr>
              <a:t>за один шаг</a:t>
            </a:r>
            <a:r>
              <a:rPr lang="ru-RU" sz="2400" b="0" i="0" u="none" strike="noStrike" baseline="0" dirty="0">
                <a:latin typeface="TimesNewRomanPSMT+1"/>
              </a:rPr>
              <a:t>, </a:t>
            </a:r>
            <a:r>
              <a:rPr lang="ru-RU" sz="2400" b="0" i="0" u="none" strike="noStrike" baseline="0" dirty="0">
                <a:latin typeface="TimesNewRomanPSMT"/>
              </a:rPr>
              <a:t>независимо от начальной точки </a:t>
            </a:r>
            <a:r>
              <a:rPr lang="ru-RU" sz="2400" b="0" i="1" u="none" strike="noStrike" baseline="0" dirty="0">
                <a:latin typeface="TimesNewRomanPS-ItalicMT+1"/>
              </a:rPr>
              <a:t>x</a:t>
            </a:r>
            <a:r>
              <a:rPr lang="ru-RU" sz="2400" b="0" i="0" u="none" strike="noStrike" baseline="30000" dirty="0">
                <a:latin typeface="TimesNewRomanPSMT+1"/>
              </a:rPr>
              <a:t>(0)</a:t>
            </a:r>
            <a:r>
              <a:rPr lang="ru-RU" sz="2400" b="0" i="0" u="none" strike="noStrike" baseline="0" dirty="0">
                <a:latin typeface="TimesNewRomanPSMT+1"/>
              </a:rPr>
              <a:t> </a:t>
            </a:r>
            <a:r>
              <a:rPr lang="ru-RU" sz="2400" b="0" i="0" u="none" strike="noStrike" baseline="0" dirty="0">
                <a:latin typeface="TimesNewRomanPSMT"/>
              </a:rPr>
              <a:t>и степени </a:t>
            </a:r>
            <a:r>
              <a:rPr lang="ru-RU" sz="2400" b="0" i="0" u="none" strike="noStrike" baseline="0" dirty="0" err="1">
                <a:latin typeface="TimesNewRomanPSMT"/>
              </a:rPr>
              <a:t>овражности</a:t>
            </a:r>
            <a:r>
              <a:rPr lang="ru-RU" sz="2400" b="0" i="0" u="none" strike="noStrike" baseline="0" dirty="0">
                <a:latin typeface="TimesNewRomanPSMT+1"/>
              </a:rPr>
              <a:t>. </a:t>
            </a:r>
            <a:endParaRPr lang="en-US" sz="2400" b="0" i="0" u="none" strike="noStrike" baseline="0" dirty="0">
              <a:latin typeface="TimesNewRomanPSMT+1"/>
            </a:endParaRPr>
          </a:p>
          <a:p>
            <a:pPr algn="l"/>
            <a:r>
              <a:rPr lang="ru-RU" sz="2400" b="0" i="0" u="none" strike="noStrike" baseline="0" dirty="0">
                <a:latin typeface="TimesNewRomanPSMT"/>
              </a:rPr>
              <a:t>Однако сходимость метода Ньютона в случае</a:t>
            </a:r>
            <a:r>
              <a:rPr lang="ru-RU" sz="2400" b="0" i="0" u="none" strike="noStrike" baseline="0" dirty="0">
                <a:latin typeface="TimesNewRomanPSMT+1"/>
              </a:rPr>
              <a:t>, </a:t>
            </a:r>
            <a:r>
              <a:rPr lang="ru-RU" sz="2400" b="0" i="0" u="none" strike="noStrike" baseline="0" dirty="0">
                <a:latin typeface="TimesNewRomanPSMT"/>
              </a:rPr>
              <a:t>когда</a:t>
            </a:r>
            <a:r>
              <a:rPr lang="en-US" sz="2400" b="0" i="0" u="none" strike="noStrike" baseline="0" dirty="0">
                <a:latin typeface="TimesNewRomanPSMT"/>
              </a:rPr>
              <a:t> </a:t>
            </a:r>
            <a:r>
              <a:rPr lang="ru-RU" sz="2400" b="0" i="0" u="none" strike="noStrike" baseline="0" dirty="0">
                <a:latin typeface="TimesNewRomanPSMT"/>
              </a:rPr>
              <a:t>целевая функция не является квадратичной</a:t>
            </a:r>
            <a:r>
              <a:rPr lang="ru-RU" sz="2400" b="0" i="0" u="none" strike="noStrike" baseline="0" dirty="0">
                <a:latin typeface="TimesNewRomanPSMT+1"/>
              </a:rPr>
              <a:t>, </a:t>
            </a:r>
            <a:r>
              <a:rPr lang="ru-RU" sz="2400" b="0" i="0" u="none" strike="noStrike" baseline="0" dirty="0">
                <a:latin typeface="TimesNewRomanPSMT"/>
              </a:rPr>
              <a:t>существенно зависит</a:t>
            </a:r>
            <a:r>
              <a:rPr lang="en-US" sz="2400" b="0" i="0" u="none" strike="noStrike" baseline="0" dirty="0">
                <a:latin typeface="TimesNewRomanPSMT"/>
              </a:rPr>
              <a:t> </a:t>
            </a:r>
            <a:r>
              <a:rPr lang="ru-RU" sz="2400" b="0" i="0" u="none" strike="noStrike" baseline="0" dirty="0">
                <a:latin typeface="TimesNewRomanPSMT"/>
              </a:rPr>
              <a:t>от начальной точки </a:t>
            </a:r>
            <a:r>
              <a:rPr lang="ru-RU" sz="2400" b="0" i="1" u="none" strike="noStrike" baseline="0" dirty="0">
                <a:latin typeface="TimesNewRomanPS-ItalicMT+1"/>
              </a:rPr>
              <a:t>x</a:t>
            </a:r>
            <a:r>
              <a:rPr lang="ru-RU" sz="2400" b="0" i="0" u="none" strike="noStrike" baseline="30000" dirty="0">
                <a:latin typeface="TimesNewRomanPSMT+1"/>
              </a:rPr>
              <a:t>(0)</a:t>
            </a:r>
            <a:r>
              <a:rPr lang="ru-RU" sz="2400" b="0" i="0" u="none" strike="noStrike" baseline="0" dirty="0">
                <a:latin typeface="TimesNewRomanPSMT+1"/>
              </a:rPr>
              <a:t>.</a:t>
            </a:r>
            <a:endParaRPr lang="en-US" sz="2400" b="0" i="0" u="none" strike="noStrike" baseline="0" dirty="0">
              <a:latin typeface="TimesNewRomanPSMT+1"/>
            </a:endParaRPr>
          </a:p>
          <a:p>
            <a:pPr algn="l"/>
            <a:r>
              <a:rPr lang="ru-RU" sz="2400" b="0" i="0" u="none" strike="noStrike" baseline="0" dirty="0">
                <a:latin typeface="TimesNewRomanPSMT"/>
              </a:rPr>
              <a:t>Ещ</a:t>
            </a:r>
            <a:r>
              <a:rPr lang="ru-RU" sz="2400" dirty="0">
                <a:latin typeface="TimesNewRomanPSMT"/>
              </a:rPr>
              <a:t>ё</a:t>
            </a:r>
            <a:r>
              <a:rPr lang="ru-RU" sz="2400" b="0" i="0" u="none" strike="noStrike" baseline="0" dirty="0">
                <a:latin typeface="TimesNewRomanPSMT"/>
              </a:rPr>
              <a:t> одним недостатком является высокая трудоёмкость метода</a:t>
            </a:r>
            <a:r>
              <a:rPr lang="ru-RU" sz="2400" b="0" i="0" u="none" strike="noStrike" baseline="0" dirty="0">
                <a:latin typeface="TimesNewRomanPSMT+1"/>
              </a:rPr>
              <a:t>, </a:t>
            </a:r>
            <a:r>
              <a:rPr lang="ru-RU" sz="2400" b="0" i="0" u="none" strike="noStrike" baseline="0" dirty="0">
                <a:latin typeface="TimesNewRomanPSMT"/>
              </a:rPr>
              <a:t>обусловленная необходимостью вычисления и обращения на каждом шаге матрицы вторых производных минимизируемой функции</a:t>
            </a:r>
            <a:r>
              <a:rPr lang="ru-RU" sz="2400" b="0" i="0" u="none" strike="noStrike" baseline="0" dirty="0">
                <a:latin typeface="TimesNewRomanPSMT+1"/>
              </a:rPr>
              <a:t>.</a:t>
            </a: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79B206-AAF6-4653-A18D-3EC817672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5</a:t>
            </a:fld>
            <a:endParaRPr lang="ru-RU"/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4494009D-9F4B-4014-B33A-6CC910E3B948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15087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E07AA7E1-BE40-4B52-BB1C-FE2842165A16}" type="slidenum">
              <a:rPr lang="ru-RU" altLang="ru-RU" sz="1400"/>
              <a:pPr algn="r"/>
              <a:t>5</a:t>
            </a:fld>
            <a:endParaRPr lang="ru-RU" altLang="ru-RU" sz="1400" dirty="0"/>
          </a:p>
        </p:txBody>
      </p:sp>
    </p:spTree>
    <p:extLst>
      <p:ext uri="{BB962C8B-B14F-4D97-AF65-F5344CB8AC3E}">
        <p14:creationId xmlns:p14="http://schemas.microsoft.com/office/powerpoint/2010/main" val="3617689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E6A49-759C-4AF5-894A-57631C404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548" y="60960"/>
            <a:ext cx="6347713" cy="679269"/>
          </a:xfrm>
        </p:spPr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1D23C2-C662-4F4C-B886-393C7C1B2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548" y="854305"/>
            <a:ext cx="7541623" cy="4614678"/>
          </a:xfrm>
        </p:spPr>
        <p:txBody>
          <a:bodyPr/>
          <a:lstStyle/>
          <a:p>
            <a:r>
              <a:rPr lang="ru-RU" sz="2400" dirty="0">
                <a:latin typeface="TimesNewRomanPSMT"/>
              </a:rPr>
              <a:t>Решить методом Ньютона задачу безусловной</a:t>
            </a:r>
            <a:r>
              <a:rPr lang="en-US" sz="2400" dirty="0">
                <a:latin typeface="TimesNewRomanPSMT"/>
              </a:rPr>
              <a:t> </a:t>
            </a:r>
            <a:r>
              <a:rPr lang="ru-RU" sz="2400" dirty="0">
                <a:latin typeface="TimesNewRomanPSMT"/>
              </a:rPr>
              <a:t>минимизации</a:t>
            </a:r>
          </a:p>
          <a:p>
            <a:endParaRPr lang="ru-RU" sz="2400" dirty="0">
              <a:latin typeface="TimesNewRomanPSMT"/>
            </a:endParaRPr>
          </a:p>
          <a:p>
            <a:endParaRPr lang="ru-RU" sz="2400" dirty="0">
              <a:latin typeface="TimesNewRomanPSMT"/>
            </a:endParaRPr>
          </a:p>
          <a:p>
            <a:endParaRPr lang="ru-RU" sz="2400" dirty="0">
              <a:latin typeface="TimesNewRomanPSMT"/>
            </a:endParaRPr>
          </a:p>
          <a:p>
            <a:r>
              <a:rPr lang="ru-RU" sz="2400" dirty="0">
                <a:latin typeface="TimesNewRomanPSMT"/>
              </a:rPr>
              <a:t>Находим частные производные </a:t>
            </a:r>
            <a:r>
              <a:rPr lang="en-US" sz="2400" i="1" dirty="0">
                <a:latin typeface="TimesNewRomanPSMT"/>
              </a:rPr>
              <a:t>f</a:t>
            </a:r>
            <a:r>
              <a:rPr lang="en-US" sz="2400" dirty="0">
                <a:latin typeface="TimesNewRomanPSMT"/>
              </a:rPr>
              <a:t>(</a:t>
            </a:r>
            <a:r>
              <a:rPr lang="en-US" sz="2400" i="1" dirty="0">
                <a:latin typeface="TimesNewRomanPSMT"/>
              </a:rPr>
              <a:t>x</a:t>
            </a:r>
            <a:r>
              <a:rPr lang="en-US" sz="2400" dirty="0">
                <a:latin typeface="TimesNewRomanPSMT"/>
              </a:rPr>
              <a:t>)</a:t>
            </a:r>
            <a:r>
              <a:rPr lang="ru-RU" sz="2400" dirty="0">
                <a:latin typeface="TimesNewRomanPSMT"/>
              </a:rPr>
              <a:t>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6C6BCFA-463F-4726-9E31-267D73EAC1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613"/>
          <a:stretch/>
        </p:blipFill>
        <p:spPr>
          <a:xfrm>
            <a:off x="1490118" y="1654472"/>
            <a:ext cx="5466247" cy="68797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DA6B23E-9F3D-41D5-B7D8-6D0E0E3C5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12" y="2342447"/>
            <a:ext cx="2912435" cy="422092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43A06DD-CA70-4FB8-BE8B-6E2C97E883DB}"/>
              </a:ext>
            </a:extLst>
          </p:cNvPr>
          <p:cNvSpPr txBox="1">
            <a:spLocks/>
          </p:cNvSpPr>
          <p:nvPr/>
        </p:nvSpPr>
        <p:spPr>
          <a:xfrm>
            <a:off x="390890" y="2631516"/>
            <a:ext cx="6347713" cy="6792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Решение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9F077EB-16E9-46BB-8B01-F0A27EA5F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118" y="3697221"/>
            <a:ext cx="4383208" cy="67926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0E73189-0437-45CE-9A36-FFB68E6420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6823" y="4521615"/>
            <a:ext cx="3374542" cy="73516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5B628BF-EA79-40D8-BE4E-D7CCC8A064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6452" y="5468983"/>
            <a:ext cx="2151708" cy="888447"/>
          </a:xfrm>
          <a:prstGeom prst="rect">
            <a:avLst/>
          </a:prstGeom>
        </p:spPr>
      </p:pic>
      <p:sp>
        <p:nvSpPr>
          <p:cNvPr id="15" name="Номер слайда 14">
            <a:extLst>
              <a:ext uri="{FF2B5EF4-FFF2-40B4-BE49-F238E27FC236}">
                <a16:creationId xmlns:a16="http://schemas.microsoft.com/office/drawing/2014/main" id="{A29C611F-546F-45AA-8803-87BCC298B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6</a:t>
            </a:fld>
            <a:endParaRPr lang="ru-RU"/>
          </a:p>
        </p:txBody>
      </p:sp>
      <p:sp>
        <p:nvSpPr>
          <p:cNvPr id="16" name="Номер слайда 3">
            <a:extLst>
              <a:ext uri="{FF2B5EF4-FFF2-40B4-BE49-F238E27FC236}">
                <a16:creationId xmlns:a16="http://schemas.microsoft.com/office/drawing/2014/main" id="{E11B69A9-1699-4E39-A347-8A21A7F1022C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15087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E07AA7E1-BE40-4B52-BB1C-FE2842165A16}" type="slidenum">
              <a:rPr lang="ru-RU" altLang="ru-RU" sz="1400"/>
              <a:pPr algn="r"/>
              <a:t>6</a:t>
            </a:fld>
            <a:endParaRPr lang="ru-RU" altLang="ru-RU" sz="1400" dirty="0"/>
          </a:p>
        </p:txBody>
      </p:sp>
    </p:spTree>
    <p:extLst>
      <p:ext uri="{BB962C8B-B14F-4D97-AF65-F5344CB8AC3E}">
        <p14:creationId xmlns:p14="http://schemas.microsoft.com/office/powerpoint/2010/main" val="2189476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34A0D7-E9A5-4CC4-A78F-60CF19531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73" y="119952"/>
            <a:ext cx="6347713" cy="428688"/>
          </a:xfrm>
        </p:spPr>
        <p:txBody>
          <a:bodyPr>
            <a:normAutofit fontScale="90000"/>
          </a:bodyPr>
          <a:lstStyle/>
          <a:p>
            <a:r>
              <a:rPr lang="ru-RU" sz="2800" i="1" dirty="0"/>
              <a:t>Итерация 1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DD853D4-729D-42F7-A417-5836AB65D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08" y="548640"/>
            <a:ext cx="5876442" cy="1656597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7D234D6-4463-44AE-B8F8-B6AFB17B83E5}"/>
              </a:ext>
            </a:extLst>
          </p:cNvPr>
          <p:cNvSpPr txBox="1">
            <a:spLocks/>
          </p:cNvSpPr>
          <p:nvPr/>
        </p:nvSpPr>
        <p:spPr>
          <a:xfrm>
            <a:off x="278673" y="2109440"/>
            <a:ext cx="6347713" cy="5244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500" i="1" dirty="0"/>
              <a:t>Итерация 2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525DDF3-2069-47B2-BD69-0DFA5DAF8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51" y="2633925"/>
            <a:ext cx="5904148" cy="1972492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763766B5-29FC-4FA6-A229-7123BD7808C4}"/>
              </a:ext>
            </a:extLst>
          </p:cNvPr>
          <p:cNvSpPr txBox="1">
            <a:spLocks/>
          </p:cNvSpPr>
          <p:nvPr/>
        </p:nvSpPr>
        <p:spPr>
          <a:xfrm>
            <a:off x="419086" y="4344174"/>
            <a:ext cx="6347713" cy="5244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500" i="1" dirty="0"/>
              <a:t>Итерация 3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301CECB-2CB5-4726-81D1-0308CF1B5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127" y="4788898"/>
            <a:ext cx="5517154" cy="1790010"/>
          </a:xfrm>
          <a:prstGeom prst="rect">
            <a:avLst/>
          </a:prstGeo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8B698744-D1B6-430B-9CE4-9B184FB2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7</a:t>
            </a:fld>
            <a:endParaRPr lang="ru-RU"/>
          </a:p>
        </p:txBody>
      </p:sp>
      <p:sp>
        <p:nvSpPr>
          <p:cNvPr id="13" name="Номер слайда 3">
            <a:extLst>
              <a:ext uri="{FF2B5EF4-FFF2-40B4-BE49-F238E27FC236}">
                <a16:creationId xmlns:a16="http://schemas.microsoft.com/office/drawing/2014/main" id="{F6D214E9-08D6-45D4-8FD9-40A53E050FF2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15087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E07AA7E1-BE40-4B52-BB1C-FE2842165A16}" type="slidenum">
              <a:rPr lang="ru-RU" altLang="ru-RU" sz="1400"/>
              <a:pPr algn="r"/>
              <a:t>7</a:t>
            </a:fld>
            <a:endParaRPr lang="ru-RU" altLang="ru-RU" sz="1400" dirty="0"/>
          </a:p>
        </p:txBody>
      </p:sp>
    </p:spTree>
    <p:extLst>
      <p:ext uri="{BB962C8B-B14F-4D97-AF65-F5344CB8AC3E}">
        <p14:creationId xmlns:p14="http://schemas.microsoft.com/office/powerpoint/2010/main" val="2048725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E64E2E-FA03-40C5-922A-C182B6339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22" y="1183686"/>
            <a:ext cx="7152478" cy="4067583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9AD567-6CDE-43E5-9494-652B9F81C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8</a:t>
            </a:fld>
            <a:endParaRPr lang="ru-RU"/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B32C7FEB-FA4A-4D01-B0B9-58696CF7BB6E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15087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E07AA7E1-BE40-4B52-BB1C-FE2842165A16}" type="slidenum">
              <a:rPr lang="ru-RU" altLang="ru-RU" sz="1400"/>
              <a:pPr algn="r"/>
              <a:t>8</a:t>
            </a:fld>
            <a:endParaRPr lang="ru-RU" altLang="ru-RU" sz="1400" dirty="0"/>
          </a:p>
        </p:txBody>
      </p:sp>
    </p:spTree>
    <p:extLst>
      <p:ext uri="{BB962C8B-B14F-4D97-AF65-F5344CB8AC3E}">
        <p14:creationId xmlns:p14="http://schemas.microsoft.com/office/powerpoint/2010/main" val="4155013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38344E9-8EA5-423A-934A-89BDD0666E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440" y="2496801"/>
            <a:ext cx="6236856" cy="1646302"/>
          </a:xfrm>
        </p:spPr>
        <p:txBody>
          <a:bodyPr/>
          <a:lstStyle/>
          <a:p>
            <a:pPr algn="ctr"/>
            <a:r>
              <a:rPr lang="ru-RU" dirty="0"/>
              <a:t>БЕЗГРАДИЕНТНЫЕ МЕТОДЫ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9C087E-FF82-4A47-8FCD-A72CEC6A8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9</a:t>
            </a:fld>
            <a:endParaRPr lang="ru-RU"/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7AD29BB7-BD0B-478E-9AB4-A4A7F67FFCC8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15087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E07AA7E1-BE40-4B52-BB1C-FE2842165A16}" type="slidenum">
              <a:rPr lang="ru-RU" altLang="ru-RU" sz="1400"/>
              <a:pPr algn="r"/>
              <a:t>9</a:t>
            </a:fld>
            <a:endParaRPr lang="ru-RU" altLang="ru-RU" sz="1400" dirty="0"/>
          </a:p>
        </p:txBody>
      </p:sp>
    </p:spTree>
    <p:extLst>
      <p:ext uri="{BB962C8B-B14F-4D97-AF65-F5344CB8AC3E}">
        <p14:creationId xmlns:p14="http://schemas.microsoft.com/office/powerpoint/2010/main" val="3805731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8DAF65-44AD-425D-9344-A994E288F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415" y="171269"/>
            <a:ext cx="6347713" cy="1320800"/>
          </a:xfrm>
        </p:spPr>
        <p:txBody>
          <a:bodyPr>
            <a:normAutofit fontScale="90000"/>
          </a:bodyPr>
          <a:lstStyle/>
          <a:p>
            <a:r>
              <a:rPr lang="ru-RU" dirty="0"/>
              <a:t>Многомерная </a:t>
            </a:r>
            <a:r>
              <a:rPr lang="ru-RU" dirty="0" err="1"/>
              <a:t>безградиентная</a:t>
            </a:r>
            <a:r>
              <a:rPr lang="ru-RU" dirty="0"/>
              <a:t> оптимизация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E0DF08-50F2-410D-A9EE-FCA858D46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049" y="1376819"/>
            <a:ext cx="7158447" cy="4649512"/>
          </a:xfrm>
        </p:spPr>
        <p:txBody>
          <a:bodyPr>
            <a:normAutofit lnSpcReduction="10000"/>
          </a:bodyPr>
          <a:lstStyle/>
          <a:p>
            <a:r>
              <a:rPr lang="ru-RU" sz="2400" dirty="0">
                <a:latin typeface="TimesNewRomanPSMT"/>
              </a:rPr>
              <a:t>В данном разделе рассматриваются численные методы опти­мизации, у которых величина и направление шага к оптимуму формируются однозначно по определённым детерминированным функциям в зависимости от свойств критерия оптимальности в окрестности текущей точки </a:t>
            </a:r>
            <a:r>
              <a:rPr lang="ru-RU" sz="2400" b="1" dirty="0">
                <a:latin typeface="TimesNewRomanPSMT"/>
              </a:rPr>
              <a:t>без использования производных (т.е. градиента). </a:t>
            </a:r>
          </a:p>
          <a:p>
            <a:r>
              <a:rPr lang="ru-RU" sz="2400" dirty="0">
                <a:latin typeface="TimesNewRomanPSMT"/>
              </a:rPr>
              <a:t>Все алгоритмы имеют итерационный характер и для переменной </a:t>
            </a:r>
            <a:r>
              <a:rPr lang="ru-RU" sz="2400" i="1" dirty="0">
                <a:latin typeface="TimesNewRomanPSMT"/>
              </a:rPr>
              <a:t>i </a:t>
            </a:r>
            <a:r>
              <a:rPr lang="ru-RU" sz="2400" dirty="0">
                <a:latin typeface="TimesNewRomanPSMT"/>
              </a:rPr>
              <a:t>на </a:t>
            </a:r>
            <a:r>
              <a:rPr lang="ru-RU" sz="2400" i="1" dirty="0">
                <a:latin typeface="TimesNewRomanPSMT"/>
              </a:rPr>
              <a:t>j</a:t>
            </a:r>
            <a:r>
              <a:rPr lang="ru-RU" sz="2400" dirty="0">
                <a:latin typeface="TimesNewRomanPSMT"/>
              </a:rPr>
              <a:t>+1 итерации вы­ражаются формулой:</a:t>
            </a:r>
          </a:p>
          <a:p>
            <a:pPr marL="0" indent="0" algn="ctr">
              <a:buNone/>
            </a:pPr>
            <a:r>
              <a:rPr lang="en-US" sz="3200" i="1" dirty="0">
                <a:latin typeface="TimesNewRomanPSMT"/>
              </a:rPr>
              <a:t>x</a:t>
            </a:r>
            <a:r>
              <a:rPr lang="en-US" sz="3200" i="1" baseline="-25000" dirty="0">
                <a:latin typeface="TimesNewRomanPSMT"/>
              </a:rPr>
              <a:t>i,j</a:t>
            </a:r>
            <a:r>
              <a:rPr lang="en-US" sz="3200" baseline="-25000" dirty="0">
                <a:latin typeface="TimesNewRomanPSMT"/>
              </a:rPr>
              <a:t>+1</a:t>
            </a:r>
            <a:r>
              <a:rPr lang="en-US" sz="3200" dirty="0">
                <a:latin typeface="TimesNewRomanPSMT"/>
              </a:rPr>
              <a:t> = </a:t>
            </a:r>
            <a:r>
              <a:rPr lang="en-US" sz="3200" i="1" dirty="0" err="1">
                <a:latin typeface="TimesNewRomanPSMT"/>
              </a:rPr>
              <a:t>x</a:t>
            </a:r>
            <a:r>
              <a:rPr lang="en-US" sz="3200" i="1" baseline="-25000" dirty="0" err="1">
                <a:latin typeface="TimesNewRomanPSMT"/>
              </a:rPr>
              <a:t>i,j</a:t>
            </a:r>
            <a:r>
              <a:rPr lang="en-US" sz="3200" dirty="0">
                <a:latin typeface="TimesNewRomanPSMT"/>
              </a:rPr>
              <a:t> + </a:t>
            </a:r>
            <a:r>
              <a:rPr lang="en-US" sz="3200" dirty="0">
                <a:latin typeface="TimesNewRomanPSMT"/>
                <a:sym typeface="Symbol" panose="05050102010706020507" pitchFamily="18" charset="2"/>
              </a:rPr>
              <a:t></a:t>
            </a:r>
            <a:r>
              <a:rPr lang="en-US" sz="3200" i="1" dirty="0" err="1">
                <a:latin typeface="TimesNewRomanPSMT"/>
              </a:rPr>
              <a:t>x</a:t>
            </a:r>
            <a:r>
              <a:rPr lang="en-US" sz="3200" i="1" baseline="-25000" dirty="0" err="1">
                <a:latin typeface="TimesNewRomanPSMT"/>
              </a:rPr>
              <a:t>i,j</a:t>
            </a:r>
            <a:endParaRPr lang="ru-RU" sz="3200" dirty="0">
              <a:latin typeface="TimesNewRomanPSMT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EC3953-5B0D-464E-B432-259F970CA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10</a:t>
            </a:fld>
            <a:endParaRPr lang="ru-RU"/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940F060A-E5BE-469B-BCCA-0102ECCBB9F2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15087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E07AA7E1-BE40-4B52-BB1C-FE2842165A16}" type="slidenum">
              <a:rPr lang="ru-RU" altLang="ru-RU" sz="1400"/>
              <a:pPr algn="r"/>
              <a:t>10</a:t>
            </a:fld>
            <a:endParaRPr lang="ru-RU" altLang="ru-RU" sz="1400" dirty="0"/>
          </a:p>
        </p:txBody>
      </p:sp>
    </p:spTree>
    <p:extLst>
      <p:ext uri="{BB962C8B-B14F-4D97-AF65-F5344CB8AC3E}">
        <p14:creationId xmlns:p14="http://schemas.microsoft.com/office/powerpoint/2010/main" val="3413928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857AF84-6D81-4D4A-BB74-3A5F89285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143" y="2404534"/>
            <a:ext cx="6304171" cy="1646302"/>
          </a:xfrm>
        </p:spPr>
        <p:txBody>
          <a:bodyPr/>
          <a:lstStyle/>
          <a:p>
            <a:pPr algn="ctr"/>
            <a:r>
              <a:rPr lang="ru-RU" altLang="ru-RU" sz="5400" b="1" dirty="0">
                <a:solidFill>
                  <a:schemeClr val="accent2"/>
                </a:solidFill>
              </a:rPr>
              <a:t>Метод покоординатного спуска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E51A45-EDEB-4771-9A56-E58324BF1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11</a:t>
            </a:fld>
            <a:endParaRPr lang="ru-RU"/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4D6A792C-A5AF-4454-B757-C33FA553F519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15087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E07AA7E1-BE40-4B52-BB1C-FE2842165A16}" type="slidenum">
              <a:rPr lang="ru-RU" altLang="ru-RU" sz="1400"/>
              <a:pPr algn="r"/>
              <a:t>11</a:t>
            </a:fld>
            <a:endParaRPr lang="ru-RU" altLang="ru-RU" sz="1400" dirty="0"/>
          </a:p>
        </p:txBody>
      </p:sp>
    </p:spTree>
    <p:extLst>
      <p:ext uri="{BB962C8B-B14F-4D97-AF65-F5344CB8AC3E}">
        <p14:creationId xmlns:p14="http://schemas.microsoft.com/office/powerpoint/2010/main" val="3559803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Line 2">
            <a:extLst>
              <a:ext uri="{FF2B5EF4-FFF2-40B4-BE49-F238E27FC236}">
                <a16:creationId xmlns:a16="http://schemas.microsoft.com/office/drawing/2014/main" id="{01F56DE0-4149-43DE-BCB8-C7B4AA4ED6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124" name="Text Box 3">
            <a:extLst>
              <a:ext uri="{FF2B5EF4-FFF2-40B4-BE49-F238E27FC236}">
                <a16:creationId xmlns:a16="http://schemas.microsoft.com/office/drawing/2014/main" id="{99D12F72-AD92-4D16-9E0A-C8E2D5F0E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88913"/>
            <a:ext cx="81407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ru-RU" altLang="ru-RU" sz="3000" b="1" dirty="0">
                <a:solidFill>
                  <a:schemeClr val="accent1">
                    <a:lumMod val="75000"/>
                  </a:schemeClr>
                </a:solidFill>
              </a:rPr>
              <a:t>Метод покоординатного спуска</a:t>
            </a:r>
          </a:p>
        </p:txBody>
      </p:sp>
      <p:sp>
        <p:nvSpPr>
          <p:cNvPr id="923652" name="Rectangle 4">
            <a:extLst>
              <a:ext uri="{FF2B5EF4-FFF2-40B4-BE49-F238E27FC236}">
                <a16:creationId xmlns:a16="http://schemas.microsoft.com/office/drawing/2014/main" id="{F4F21EE0-D020-4215-A282-BB4696C0D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24" y="982929"/>
            <a:ext cx="4962525" cy="5154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79375">
              <a:tabLst>
                <a:tab pos="2587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57188" indent="-98425">
              <a:tabLst>
                <a:tab pos="2587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82713" indent="-228600">
              <a:tabLst>
                <a:tab pos="2587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90700" indent="-228600">
              <a:tabLst>
                <a:tab pos="2587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8688" indent="-228600">
              <a:tabLst>
                <a:tab pos="2587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5888" indent="-228600" fontAlgn="base">
              <a:spcBef>
                <a:spcPct val="0"/>
              </a:spcBef>
              <a:spcAft>
                <a:spcPct val="0"/>
              </a:spcAft>
              <a:tabLst>
                <a:tab pos="2587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13088" indent="-228600" fontAlgn="base">
              <a:spcBef>
                <a:spcPct val="0"/>
              </a:spcBef>
              <a:spcAft>
                <a:spcPct val="0"/>
              </a:spcAft>
              <a:tabLst>
                <a:tab pos="2587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70288" indent="-228600" fontAlgn="base">
              <a:spcBef>
                <a:spcPct val="0"/>
              </a:spcBef>
              <a:spcAft>
                <a:spcPct val="0"/>
              </a:spcAft>
              <a:tabLst>
                <a:tab pos="2587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27488" indent="-228600" fontAlgn="base">
              <a:spcBef>
                <a:spcPct val="0"/>
              </a:spcBef>
              <a:spcAft>
                <a:spcPct val="0"/>
              </a:spcAft>
              <a:tabLst>
                <a:tab pos="2587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5000"/>
              </a:spcBef>
            </a:pPr>
            <a:r>
              <a:rPr lang="ru-RU" altLang="ru-RU" sz="2400" b="1" dirty="0">
                <a:solidFill>
                  <a:schemeClr val="accent2"/>
                </a:solidFill>
              </a:rPr>
              <a:t>Идея</a:t>
            </a:r>
            <a:r>
              <a:rPr lang="ru-RU" altLang="ru-RU" sz="2400" b="1" dirty="0"/>
              <a:t>:</a:t>
            </a:r>
          </a:p>
          <a:p>
            <a:pPr lvl="1">
              <a:spcBef>
                <a:spcPct val="25000"/>
              </a:spcBef>
              <a:buFontTx/>
              <a:buChar char="•"/>
            </a:pPr>
            <a:r>
              <a:rPr lang="ru-RU" alt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Предположим, что нам известна  прямоугольная область, на которой находится минимум функции</a:t>
            </a:r>
            <a:r>
              <a:rPr lang="en-US" alt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 </a:t>
            </a:r>
            <a:r>
              <a:rPr lang="en-US" altLang="ru-RU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f</a:t>
            </a:r>
            <a:r>
              <a:rPr lang="en-US" alt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(</a:t>
            </a:r>
            <a:r>
              <a:rPr lang="en-US" altLang="ru-RU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x</a:t>
            </a:r>
            <a:r>
              <a:rPr lang="en-US" altLang="ru-RU" sz="24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1</a:t>
            </a:r>
            <a:r>
              <a:rPr lang="en-US" alt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, </a:t>
            </a:r>
            <a:r>
              <a:rPr lang="en-US" altLang="ru-RU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x</a:t>
            </a:r>
            <a:r>
              <a:rPr lang="en-US" altLang="ru-RU" sz="24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2</a:t>
            </a:r>
            <a:r>
              <a:rPr lang="en-US" alt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)</a:t>
            </a:r>
            <a:r>
              <a:rPr lang="ru-RU" alt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.</a:t>
            </a:r>
          </a:p>
          <a:p>
            <a:pPr lvl="1">
              <a:spcBef>
                <a:spcPct val="10000"/>
              </a:spcBef>
              <a:buFontTx/>
              <a:buChar char="•"/>
            </a:pPr>
            <a:r>
              <a:rPr lang="ru-RU" alt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выбираем начальную точку</a:t>
            </a:r>
          </a:p>
          <a:p>
            <a:pPr lvl="1">
              <a:spcBef>
                <a:spcPct val="10000"/>
              </a:spcBef>
              <a:buFontTx/>
              <a:buChar char="•"/>
            </a:pPr>
            <a:r>
              <a:rPr lang="ru-RU" alt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будем менять только </a:t>
            </a:r>
            <a:r>
              <a:rPr lang="en-US" altLang="ru-RU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x</a:t>
            </a:r>
            <a:r>
              <a:rPr lang="ru-RU" altLang="ru-RU" sz="24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1</a:t>
            </a:r>
            <a:r>
              <a:rPr lang="en-US" alt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, </a:t>
            </a:r>
            <a:r>
              <a:rPr lang="ru-RU" alt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а остальные переменные «заморозим», находим минимум по </a:t>
            </a:r>
            <a:r>
              <a:rPr lang="en-US" altLang="ru-RU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x</a:t>
            </a:r>
            <a:r>
              <a:rPr lang="ru-RU" altLang="ru-RU" sz="24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1</a:t>
            </a:r>
          </a:p>
          <a:p>
            <a:pPr lvl="1">
              <a:spcBef>
                <a:spcPct val="25000"/>
              </a:spcBef>
              <a:buFontTx/>
              <a:buChar char="•"/>
            </a:pPr>
            <a:r>
              <a:rPr lang="ru-RU" alt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теперь будем менять только </a:t>
            </a:r>
            <a:r>
              <a:rPr lang="en-US" altLang="ru-RU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x</a:t>
            </a:r>
            <a:r>
              <a:rPr lang="ru-RU" altLang="ru-RU" sz="24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2</a:t>
            </a:r>
            <a:r>
              <a:rPr lang="en-US" alt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, </a:t>
            </a:r>
            <a:r>
              <a:rPr lang="ru-RU" alt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а остальные переменные «заморозим», … </a:t>
            </a:r>
          </a:p>
        </p:txBody>
      </p:sp>
      <p:grpSp>
        <p:nvGrpSpPr>
          <p:cNvPr id="5126" name="Group 25">
            <a:extLst>
              <a:ext uri="{FF2B5EF4-FFF2-40B4-BE49-F238E27FC236}">
                <a16:creationId xmlns:a16="http://schemas.microsoft.com/office/drawing/2014/main" id="{7C8A66CC-06B3-4FC9-9BAB-BC91ADE5A8BF}"/>
              </a:ext>
            </a:extLst>
          </p:cNvPr>
          <p:cNvGrpSpPr>
            <a:grpSpLocks/>
          </p:cNvGrpSpPr>
          <p:nvPr/>
        </p:nvGrpSpPr>
        <p:grpSpPr bwMode="auto">
          <a:xfrm>
            <a:off x="5167313" y="1330325"/>
            <a:ext cx="3786187" cy="2328863"/>
            <a:chOff x="3255" y="838"/>
            <a:chExt cx="2385" cy="1467"/>
          </a:xfrm>
        </p:grpSpPr>
        <p:sp>
          <p:nvSpPr>
            <p:cNvPr id="5127" name="Oval 5">
              <a:extLst>
                <a:ext uri="{FF2B5EF4-FFF2-40B4-BE49-F238E27FC236}">
                  <a16:creationId xmlns:a16="http://schemas.microsoft.com/office/drawing/2014/main" id="{C5EE2725-0510-495C-8C45-B402ED3733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114705">
              <a:off x="3255" y="838"/>
              <a:ext cx="2385" cy="1467"/>
            </a:xfrm>
            <a:prstGeom prst="ellipse">
              <a:avLst/>
            </a:prstGeom>
            <a:solidFill>
              <a:schemeClr val="accent2">
                <a:alpha val="7059"/>
              </a:schemeClr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wrap="none" lIns="90000" tIns="46800" rIns="90000" bIns="468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ru-RU" altLang="ru-RU" b="1"/>
            </a:p>
          </p:txBody>
        </p:sp>
        <p:sp>
          <p:nvSpPr>
            <p:cNvPr id="5128" name="Oval 6">
              <a:extLst>
                <a:ext uri="{FF2B5EF4-FFF2-40B4-BE49-F238E27FC236}">
                  <a16:creationId xmlns:a16="http://schemas.microsoft.com/office/drawing/2014/main" id="{E24C8B65-1C79-432B-8214-950E52679EC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114705">
              <a:off x="3442" y="1014"/>
              <a:ext cx="1958" cy="1137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wrap="none" lIns="90000" tIns="46800" rIns="90000" bIns="468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ru-RU" altLang="ru-RU" b="1"/>
            </a:p>
          </p:txBody>
        </p:sp>
        <p:sp>
          <p:nvSpPr>
            <p:cNvPr id="5129" name="Oval 7">
              <a:extLst>
                <a:ext uri="{FF2B5EF4-FFF2-40B4-BE49-F238E27FC236}">
                  <a16:creationId xmlns:a16="http://schemas.microsoft.com/office/drawing/2014/main" id="{221BCB70-92D3-4B28-8F3C-385D63428EF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643651">
              <a:off x="3677" y="1151"/>
              <a:ext cx="1546" cy="798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wrap="none" lIns="90000" tIns="46800" rIns="90000" bIns="468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ru-RU" altLang="ru-RU" b="1"/>
            </a:p>
          </p:txBody>
        </p:sp>
        <p:sp>
          <p:nvSpPr>
            <p:cNvPr id="5130" name="Oval 8">
              <a:extLst>
                <a:ext uri="{FF2B5EF4-FFF2-40B4-BE49-F238E27FC236}">
                  <a16:creationId xmlns:a16="http://schemas.microsoft.com/office/drawing/2014/main" id="{692F633F-0AB7-4F2D-8F30-C9992BD098A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897524">
              <a:off x="3886" y="1246"/>
              <a:ext cx="1154" cy="596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wrap="none" lIns="90000" tIns="46800" rIns="90000" bIns="468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ru-RU" altLang="ru-RU" b="1"/>
            </a:p>
          </p:txBody>
        </p:sp>
        <p:sp>
          <p:nvSpPr>
            <p:cNvPr id="5131" name="Oval 9">
              <a:extLst>
                <a:ext uri="{FF2B5EF4-FFF2-40B4-BE49-F238E27FC236}">
                  <a16:creationId xmlns:a16="http://schemas.microsoft.com/office/drawing/2014/main" id="{1658D98C-D65D-4DC4-A1B9-520EEF21FF2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01400">
              <a:off x="4068" y="1339"/>
              <a:ext cx="804" cy="415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wrap="none" lIns="90000" tIns="46800" rIns="90000" bIns="468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ru-RU" altLang="ru-RU" b="1"/>
            </a:p>
          </p:txBody>
        </p:sp>
        <p:sp>
          <p:nvSpPr>
            <p:cNvPr id="5132" name="Oval 10">
              <a:extLst>
                <a:ext uri="{FF2B5EF4-FFF2-40B4-BE49-F238E27FC236}">
                  <a16:creationId xmlns:a16="http://schemas.microsoft.com/office/drawing/2014/main" id="{3684F547-D811-4327-ADA4-F7787A9618A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19371">
              <a:off x="4265" y="1448"/>
              <a:ext cx="406" cy="209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wrap="none" lIns="90000" tIns="46800" rIns="90000" bIns="468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ru-RU" altLang="ru-RU" b="1"/>
            </a:p>
          </p:txBody>
        </p:sp>
        <p:sp>
          <p:nvSpPr>
            <p:cNvPr id="5133" name="Oval 11">
              <a:extLst>
                <a:ext uri="{FF2B5EF4-FFF2-40B4-BE49-F238E27FC236}">
                  <a16:creationId xmlns:a16="http://schemas.microsoft.com/office/drawing/2014/main" id="{9AE3FB5A-723F-48C9-829E-3345C8F7D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8" y="1513"/>
              <a:ext cx="56" cy="56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bg1"/>
              </a:solidFill>
              <a:round/>
              <a:headEnd/>
              <a:tailEnd type="none" w="lg" len="lg"/>
            </a:ln>
          </p:spPr>
          <p:txBody>
            <a:bodyPr wrap="none" lIns="90000" tIns="46800" rIns="90000" bIns="468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ru-RU" altLang="ru-RU" b="1"/>
            </a:p>
          </p:txBody>
        </p:sp>
      </p:grpSp>
      <p:sp>
        <p:nvSpPr>
          <p:cNvPr id="5134" name="Line 13">
            <a:extLst>
              <a:ext uri="{FF2B5EF4-FFF2-40B4-BE49-F238E27FC236}">
                <a16:creationId xmlns:a16="http://schemas.microsoft.com/office/drawing/2014/main" id="{39BB3CC6-C186-4D66-A270-11A5F83365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4713" y="4075113"/>
            <a:ext cx="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ru-RU"/>
          </a:p>
        </p:txBody>
      </p:sp>
      <p:sp>
        <p:nvSpPr>
          <p:cNvPr id="923664" name="Line 16">
            <a:extLst>
              <a:ext uri="{FF2B5EF4-FFF2-40B4-BE49-F238E27FC236}">
                <a16:creationId xmlns:a16="http://schemas.microsoft.com/office/drawing/2014/main" id="{DD3DA96E-99AA-4DA9-9EB8-7669947B5B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30988" y="2446338"/>
            <a:ext cx="0" cy="10287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ru-RU"/>
          </a:p>
        </p:txBody>
      </p:sp>
      <p:sp>
        <p:nvSpPr>
          <p:cNvPr id="923665" name="Line 17">
            <a:extLst>
              <a:ext uri="{FF2B5EF4-FFF2-40B4-BE49-F238E27FC236}">
                <a16:creationId xmlns:a16="http://schemas.microsoft.com/office/drawing/2014/main" id="{1516D5F4-A9E4-457B-AF5A-3B624B21287B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6119019" y="2967832"/>
            <a:ext cx="0" cy="101441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ru-RU"/>
          </a:p>
        </p:txBody>
      </p:sp>
      <p:sp>
        <p:nvSpPr>
          <p:cNvPr id="923669" name="Line 21">
            <a:extLst>
              <a:ext uri="{FF2B5EF4-FFF2-40B4-BE49-F238E27FC236}">
                <a16:creationId xmlns:a16="http://schemas.microsoft.com/office/drawing/2014/main" id="{8D1A8AF9-38D0-457A-AEDB-C9B57E921DC2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6821488" y="2265362"/>
            <a:ext cx="0" cy="37147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ru-RU"/>
          </a:p>
        </p:txBody>
      </p:sp>
      <p:sp>
        <p:nvSpPr>
          <p:cNvPr id="923670" name="Oval 22">
            <a:extLst>
              <a:ext uri="{FF2B5EF4-FFF2-40B4-BE49-F238E27FC236}">
                <a16:creationId xmlns:a16="http://schemas.microsoft.com/office/drawing/2014/main" id="{3BC0C319-7C0A-4C73-958F-BCC578E5E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775" y="3430588"/>
            <a:ext cx="88900" cy="88900"/>
          </a:xfrm>
          <a:prstGeom prst="ellipse">
            <a:avLst/>
          </a:prstGeom>
          <a:solidFill>
            <a:srgbClr val="00CC00"/>
          </a:solidFill>
          <a:ln w="12700">
            <a:solidFill>
              <a:schemeClr val="bg1"/>
            </a:solidFill>
            <a:round/>
            <a:headEnd/>
            <a:tailEnd type="none" w="lg" len="lg"/>
          </a:ln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ru-RU" altLang="ru-RU" b="1"/>
          </a:p>
        </p:txBody>
      </p:sp>
      <p:sp>
        <p:nvSpPr>
          <p:cNvPr id="923671" name="AutoShape 23">
            <a:extLst>
              <a:ext uri="{FF2B5EF4-FFF2-40B4-BE49-F238E27FC236}">
                <a16:creationId xmlns:a16="http://schemas.microsoft.com/office/drawing/2014/main" id="{C378C190-D937-49C5-B478-E63347649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0413" y="3656013"/>
            <a:ext cx="2133600" cy="781050"/>
          </a:xfrm>
          <a:prstGeom prst="wedgeRoundRectCallout">
            <a:avLst>
              <a:gd name="adj1" fmla="val -60417"/>
              <a:gd name="adj2" fmla="val -73579"/>
              <a:gd name="adj3" fmla="val 16667"/>
            </a:avLst>
          </a:prstGeom>
          <a:solidFill>
            <a:srgbClr val="FFFF99"/>
          </a:solidFill>
          <a:ln w="12700">
            <a:noFill/>
            <a:miter lim="800000"/>
            <a:headEnd/>
            <a:tailEnd type="none" w="lg" len="lg"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0000" tIns="46800" rIns="90000" bIns="468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b="1"/>
              <a:t>начальное приближение</a:t>
            </a:r>
          </a:p>
        </p:txBody>
      </p:sp>
      <p:sp>
        <p:nvSpPr>
          <p:cNvPr id="923672" name="AutoShape 24">
            <a:extLst>
              <a:ext uri="{FF2B5EF4-FFF2-40B4-BE49-F238E27FC236}">
                <a16:creationId xmlns:a16="http://schemas.microsoft.com/office/drawing/2014/main" id="{1CD1751A-8957-4F75-B96E-3AC8FE2FE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2063" y="1243013"/>
            <a:ext cx="1414462" cy="487362"/>
          </a:xfrm>
          <a:prstGeom prst="wedgeRoundRectCallout">
            <a:avLst>
              <a:gd name="adj1" fmla="val -1065"/>
              <a:gd name="adj2" fmla="val 182245"/>
              <a:gd name="adj3" fmla="val 16667"/>
            </a:avLst>
          </a:prstGeom>
          <a:solidFill>
            <a:srgbClr val="FFFF99"/>
          </a:solidFill>
          <a:ln w="12700">
            <a:noFill/>
            <a:miter lim="800000"/>
            <a:headEnd/>
            <a:tailEnd type="none" w="lg" len="lg"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0000" tIns="46800" rIns="90000" bIns="468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b="1"/>
              <a:t>минимум</a:t>
            </a:r>
          </a:p>
        </p:txBody>
      </p:sp>
      <p:graphicFrame>
        <p:nvGraphicFramePr>
          <p:cNvPr id="5153" name="Object 33">
            <a:extLst>
              <a:ext uri="{FF2B5EF4-FFF2-40B4-BE49-F238E27FC236}">
                <a16:creationId xmlns:a16="http://schemas.microsoft.com/office/drawing/2014/main" id="{96768D20-C749-404E-AFF8-438885DD51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3357563"/>
          <a:ext cx="1439862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Формула" r:id="rId4" imgW="660240" imgH="253800" progId="Equation.3">
                  <p:embed/>
                </p:oleObj>
              </mc:Choice>
              <mc:Fallback>
                <p:oleObj name="Формула" r:id="rId4" imgW="660240" imgH="253800" progId="Equation.3">
                  <p:embed/>
                  <p:pic>
                    <p:nvPicPr>
                      <p:cNvPr id="5153" name="Object 33">
                        <a:extLst>
                          <a:ext uri="{FF2B5EF4-FFF2-40B4-BE49-F238E27FC236}">
                            <a16:creationId xmlns:a16="http://schemas.microsoft.com/office/drawing/2014/main" id="{96768D20-C749-404E-AFF8-438885DD51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3357563"/>
                        <a:ext cx="1439862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54" name="Object 34">
            <a:extLst>
              <a:ext uri="{FF2B5EF4-FFF2-40B4-BE49-F238E27FC236}">
                <a16:creationId xmlns:a16="http://schemas.microsoft.com/office/drawing/2014/main" id="{246CE898-71F8-47DB-9EB5-1F94ECDB70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2588" y="3068638"/>
          <a:ext cx="1584325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Формула" r:id="rId6" imgW="660240" imgH="253800" progId="Equation.3">
                  <p:embed/>
                </p:oleObj>
              </mc:Choice>
              <mc:Fallback>
                <p:oleObj name="Формула" r:id="rId6" imgW="660240" imgH="253800" progId="Equation.3">
                  <p:embed/>
                  <p:pic>
                    <p:nvPicPr>
                      <p:cNvPr id="5154" name="Object 34">
                        <a:extLst>
                          <a:ext uri="{FF2B5EF4-FFF2-40B4-BE49-F238E27FC236}">
                            <a16:creationId xmlns:a16="http://schemas.microsoft.com/office/drawing/2014/main" id="{246CE898-71F8-47DB-9EB5-1F94ECDB70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3068638"/>
                        <a:ext cx="1584325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55" name="Object 35">
            <a:extLst>
              <a:ext uri="{FF2B5EF4-FFF2-40B4-BE49-F238E27FC236}">
                <a16:creationId xmlns:a16="http://schemas.microsoft.com/office/drawing/2014/main" id="{B85D3879-614A-4E41-B4A3-CE40236C67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48275" y="1916113"/>
          <a:ext cx="1411288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Формула" r:id="rId8" imgW="647640" imgH="253800" progId="Equation.3">
                  <p:embed/>
                </p:oleObj>
              </mc:Choice>
              <mc:Fallback>
                <p:oleObj name="Формула" r:id="rId8" imgW="647640" imgH="253800" progId="Equation.3">
                  <p:embed/>
                  <p:pic>
                    <p:nvPicPr>
                      <p:cNvPr id="5155" name="Object 35">
                        <a:extLst>
                          <a:ext uri="{FF2B5EF4-FFF2-40B4-BE49-F238E27FC236}">
                            <a16:creationId xmlns:a16="http://schemas.microsoft.com/office/drawing/2014/main" id="{B85D3879-614A-4E41-B4A3-CE40236C67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8275" y="1916113"/>
                        <a:ext cx="1411288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59" name="Object 39">
            <a:extLst>
              <a:ext uri="{FF2B5EF4-FFF2-40B4-BE49-F238E27FC236}">
                <a16:creationId xmlns:a16="http://schemas.microsoft.com/office/drawing/2014/main" id="{11DA5E1F-5BA8-497B-8F0B-5FDCE68DCC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2950" y="1773238"/>
          <a:ext cx="151130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" name="Формула" r:id="rId10" imgW="672840" imgH="253800" progId="Equation.3">
                  <p:embed/>
                </p:oleObj>
              </mc:Choice>
              <mc:Fallback>
                <p:oleObj name="Формула" r:id="rId10" imgW="672840" imgH="253800" progId="Equation.3">
                  <p:embed/>
                  <p:pic>
                    <p:nvPicPr>
                      <p:cNvPr id="5159" name="Object 39">
                        <a:extLst>
                          <a:ext uri="{FF2B5EF4-FFF2-40B4-BE49-F238E27FC236}">
                            <a16:creationId xmlns:a16="http://schemas.microsoft.com/office/drawing/2014/main" id="{11DA5E1F-5BA8-497B-8F0B-5FDCE68DCC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1773238"/>
                        <a:ext cx="1511300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14BAB19-151F-4136-9917-A85386F69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60BC-758F-4744-87FE-C087F4F8DEC6}" type="slidenum">
              <a:rPr lang="ru-RU" smtClean="0"/>
              <a:t>12</a:t>
            </a:fld>
            <a:endParaRPr lang="ru-RU"/>
          </a:p>
        </p:txBody>
      </p:sp>
      <p:sp>
        <p:nvSpPr>
          <p:cNvPr id="26" name="Номер слайда 3">
            <a:extLst>
              <a:ext uri="{FF2B5EF4-FFF2-40B4-BE49-F238E27FC236}">
                <a16:creationId xmlns:a16="http://schemas.microsoft.com/office/drawing/2014/main" id="{C18CB77C-583B-4128-9918-A8D51E644129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15087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E07AA7E1-BE40-4B52-BB1C-FE2842165A16}" type="slidenum">
              <a:rPr lang="ru-RU" altLang="ru-RU" sz="1400"/>
              <a:pPr algn="r"/>
              <a:t>12</a:t>
            </a:fld>
            <a:endParaRPr lang="ru-RU" altLang="ru-RU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3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23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23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23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23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23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236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923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923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652" grpId="0" build="p" bldLvl="2"/>
      <p:bldP spid="923670" grpId="0" animBg="1"/>
      <p:bldP spid="923671" grpId="0" animBg="1"/>
      <p:bldP spid="92367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824BB7-0EB5-4DC5-B984-8089CCC7E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332617" cy="600891"/>
          </a:xfrm>
        </p:spPr>
        <p:txBody>
          <a:bodyPr>
            <a:normAutofit/>
          </a:bodyPr>
          <a:lstStyle/>
          <a:p>
            <a:r>
              <a:rPr lang="ru-RU" sz="2800" dirty="0"/>
              <a:t>Алгоритм метода покоординатного спуска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C0A2E9-4111-4C45-8F02-F2EC1FA5D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79" y="619172"/>
            <a:ext cx="7149738" cy="5694542"/>
          </a:xfrm>
        </p:spPr>
        <p:txBody>
          <a:bodyPr/>
          <a:lstStyle/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Выбирается начальное приближение для каждой переменной функции.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каждой переменной по очереди выполняются следующие шаги:</a:t>
            </a:r>
          </a:p>
          <a:p>
            <a:pPr marL="742950" lvl="1" indent="-285750" algn="l">
              <a:spcBef>
                <a:spcPts val="0"/>
              </a:spcBef>
              <a:buFont typeface="+mj-lt"/>
              <a:buAutoNum type="arabicPeriod"/>
            </a:pPr>
            <a:r>
              <a:rPr lang="ru-RU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Фиксируется значение всех переменных, кроме текущей.</a:t>
            </a:r>
          </a:p>
          <a:p>
            <a:pPr marL="742950" lvl="1" indent="-285750" algn="l">
              <a:spcBef>
                <a:spcPts val="0"/>
              </a:spcBef>
              <a:buFont typeface="+mj-lt"/>
              <a:buAutoNum type="arabicPeriod"/>
            </a:pPr>
            <a:r>
              <a:rPr lang="ru-RU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Находится оптимальное значение текущей переменной, которое минимизирует (или максимизирует) функцию при фиксированных значениях остальных переменных. Для этого может использоваться одномерная оптимизация, например, метод золотого сечения или метод дихотомии.</a:t>
            </a:r>
          </a:p>
          <a:p>
            <a:pPr marL="742950" lvl="1" indent="-285750" algn="l">
              <a:spcBef>
                <a:spcPts val="0"/>
              </a:spcBef>
              <a:buFont typeface="+mj-lt"/>
              <a:buAutoNum type="arabicPeriod"/>
            </a:pPr>
            <a:r>
              <a:rPr lang="ru-RU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Обновляется значение текущей переменной в соответствии с найденным оптимальным значением.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Повторяются шаги 2-3 до достижения заданного критерия остановки (например, заданной точности или максимального числа итераций).</a:t>
            </a:r>
          </a:p>
          <a:p>
            <a:endParaRPr lang="ru-RU" dirty="0"/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263EF2E9-DB71-4A73-AFB1-22DB2E9F36D8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15087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E07AA7E1-BE40-4B52-BB1C-FE2842165A16}" type="slidenum">
              <a:rPr lang="ru-RU" altLang="ru-RU" sz="1400"/>
              <a:pPr algn="r"/>
              <a:t>13</a:t>
            </a:fld>
            <a:endParaRPr lang="ru-RU" altLang="ru-RU" sz="1400" dirty="0"/>
          </a:p>
        </p:txBody>
      </p:sp>
    </p:spTree>
    <p:extLst>
      <p:ext uri="{BB962C8B-B14F-4D97-AF65-F5344CB8AC3E}">
        <p14:creationId xmlns:p14="http://schemas.microsoft.com/office/powerpoint/2010/main" val="2417393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61A2E5-EB5B-4404-98E1-9A0F3F506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176" y="461555"/>
            <a:ext cx="6347713" cy="1320800"/>
          </a:xfrm>
        </p:spPr>
        <p:txBody>
          <a:bodyPr/>
          <a:lstStyle/>
          <a:p>
            <a:r>
              <a:rPr lang="ru-RU" dirty="0"/>
              <a:t>Условия завершения итерационного процесса</a:t>
            </a:r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C9404D10-4089-47C7-90B7-4830652CFD5B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15087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E07AA7E1-BE40-4B52-BB1C-FE2842165A16}" type="slidenum">
              <a:rPr lang="ru-RU" altLang="ru-RU" sz="1400"/>
              <a:pPr algn="r"/>
              <a:t>14</a:t>
            </a:fld>
            <a:endParaRPr lang="ru-RU" altLang="ru-RU" sz="1400" dirty="0"/>
          </a:p>
        </p:txBody>
      </p:sp>
      <p:graphicFrame>
        <p:nvGraphicFramePr>
          <p:cNvPr id="8" name="Object 19">
            <a:extLst>
              <a:ext uri="{FF2B5EF4-FFF2-40B4-BE49-F238E27FC236}">
                <a16:creationId xmlns:a16="http://schemas.microsoft.com/office/drawing/2014/main" id="{7E60E81F-7D89-46A5-A762-6180B05ED5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767924"/>
              </p:ext>
            </p:extLst>
          </p:nvPr>
        </p:nvGraphicFramePr>
        <p:xfrm>
          <a:off x="2127110" y="1994157"/>
          <a:ext cx="3097213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Формула" r:id="rId3" imgW="1015559" imgH="253890" progId="Equation.3">
                  <p:embed/>
                </p:oleObj>
              </mc:Choice>
              <mc:Fallback>
                <p:oleObj name="Формула" r:id="rId3" imgW="1015559" imgH="253890" progId="Equation.3">
                  <p:embed/>
                  <p:pic>
                    <p:nvPicPr>
                      <p:cNvPr id="9235" name="Object 19">
                        <a:extLst>
                          <a:ext uri="{FF2B5EF4-FFF2-40B4-BE49-F238E27FC236}">
                            <a16:creationId xmlns:a16="http://schemas.microsoft.com/office/drawing/2014/main" id="{45590F11-05F9-460C-8224-83C5471308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110" y="1994157"/>
                        <a:ext cx="3097213" cy="792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1">
            <a:extLst>
              <a:ext uri="{FF2B5EF4-FFF2-40B4-BE49-F238E27FC236}">
                <a16:creationId xmlns:a16="http://schemas.microsoft.com/office/drawing/2014/main" id="{5E104605-50CB-4605-9A55-81C639FB4A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34457"/>
              </p:ext>
            </p:extLst>
          </p:nvPr>
        </p:nvGraphicFramePr>
        <p:xfrm>
          <a:off x="2200135" y="2998121"/>
          <a:ext cx="3024188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Формула" r:id="rId5" imgW="1015559" imgH="253890" progId="Equation.3">
                  <p:embed/>
                </p:oleObj>
              </mc:Choice>
              <mc:Fallback>
                <p:oleObj name="Формула" r:id="rId5" imgW="1015559" imgH="253890" progId="Equation.3">
                  <p:embed/>
                  <p:pic>
                    <p:nvPicPr>
                      <p:cNvPr id="9237" name="Object 21">
                        <a:extLst>
                          <a:ext uri="{FF2B5EF4-FFF2-40B4-BE49-F238E27FC236}">
                            <a16:creationId xmlns:a16="http://schemas.microsoft.com/office/drawing/2014/main" id="{37B40B29-F560-4C94-A619-239E23450B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0135" y="2998121"/>
                        <a:ext cx="3024188" cy="792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0321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61AE01-8410-47B3-93B0-FE4946282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86" y="119951"/>
            <a:ext cx="1942012" cy="696686"/>
          </a:xfrm>
        </p:spPr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51B44A-FA9A-4978-BDBE-ED56799B6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279" y="2003835"/>
            <a:ext cx="7511977" cy="4466634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Пусть начальное приближение будет (</a:t>
            </a:r>
            <a:r>
              <a:rPr lang="ru-RU" sz="1900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1900" b="0" i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900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sz="1900" b="0" i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= (2, 3).</a:t>
            </a:r>
          </a:p>
          <a:p>
            <a:pPr marL="0" indent="0" algn="l">
              <a:buNone/>
            </a:pPr>
            <a:r>
              <a:rPr lang="ru-RU" sz="19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Шаг 1: 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Инициализируем переменные </a:t>
            </a:r>
            <a:r>
              <a:rPr lang="ru-RU" sz="1900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900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значением </a:t>
            </a:r>
            <a:r>
              <a:rPr lang="ru-RU" sz="1900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1900" b="0" i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900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sz="1900" b="0" i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соответственно.</a:t>
            </a:r>
          </a:p>
          <a:p>
            <a:pPr marL="0" indent="0" algn="l">
              <a:buNone/>
            </a:pPr>
            <a:r>
              <a:rPr lang="ru-RU" sz="19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Шаг 2: 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Обновляем значение </a:t>
            </a:r>
            <a:r>
              <a:rPr lang="ru-RU" sz="1900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минимизируя функцию </a:t>
            </a:r>
            <a:r>
              <a:rPr lang="ru-RU" sz="1900" i="1" dirty="0">
                <a:solidFill>
                  <a:srgbClr val="43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sz="1900" b="0" i="0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900" b="0" i="1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1900" b="0" i="0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900" b="0" i="1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sz="1900" b="0" i="0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 переменной x при фиксированном значении </a:t>
            </a:r>
            <a:r>
              <a:rPr lang="ru-RU" sz="1900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l">
              <a:buNone/>
            </a:pP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Для этого мы можем взять производную функции </a:t>
            </a:r>
            <a:r>
              <a:rPr lang="ru-RU" sz="1900" i="1" dirty="0">
                <a:solidFill>
                  <a:srgbClr val="43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sz="1900" b="0" i="0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900" b="0" i="1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1900" b="0" i="0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900" b="0" i="1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sz="1900" b="0" i="0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 </a:t>
            </a:r>
            <a:r>
              <a:rPr lang="ru-RU" sz="1900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приравнять </a:t>
            </a:r>
            <a:b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её к нулю: </a:t>
            </a:r>
            <a:r>
              <a:rPr lang="ru-RU" sz="1900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ru-RU" sz="19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900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900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= 2</a:t>
            </a:r>
            <a:r>
              <a:rPr lang="ru-RU" sz="1900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0. Отсюда получаем </a:t>
            </a:r>
            <a:r>
              <a:rPr lang="ru-RU" sz="1900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0.</a:t>
            </a:r>
          </a:p>
          <a:p>
            <a:pPr marL="0" indent="0" algn="l">
              <a:buNone/>
            </a:pPr>
            <a:r>
              <a:rPr lang="ru-RU" sz="19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Шаг 3: 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Обновляем значение </a:t>
            </a:r>
            <a:r>
              <a:rPr lang="ru-RU" sz="1900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минимизируя функцию </a:t>
            </a:r>
            <a:r>
              <a:rPr lang="ru-RU" sz="1900" i="1" dirty="0">
                <a:solidFill>
                  <a:srgbClr val="43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sz="1900" b="0" i="0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900" b="0" i="1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1900" b="0" i="0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900" b="0" i="1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sz="1900" b="0" i="0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 переменной </a:t>
            </a:r>
            <a:r>
              <a:rPr lang="ru-RU" sz="1900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при фиксированном значении </a:t>
            </a:r>
            <a:r>
              <a:rPr lang="ru-RU" sz="1900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l">
              <a:buNone/>
            </a:pP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Для этого мы можем взять производную функции </a:t>
            </a:r>
            <a:r>
              <a:rPr lang="ru-RU" sz="1900" i="1" dirty="0">
                <a:solidFill>
                  <a:srgbClr val="43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sz="1900" b="0" i="0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900" b="0" i="1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1900" b="0" i="0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900" b="0" i="1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sz="1900" b="0" i="0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 y и приравнять ее к нулю: </a:t>
            </a:r>
            <a:r>
              <a:rPr lang="ru-RU" sz="1900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ru-RU" sz="19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900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900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= 2</a:t>
            </a:r>
            <a:r>
              <a:rPr lang="ru-RU" sz="1900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0. Отсюда получаем </a:t>
            </a:r>
            <a:r>
              <a:rPr lang="ru-RU" sz="1900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0.</a:t>
            </a:r>
          </a:p>
          <a:p>
            <a:pPr algn="l"/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образом, мы получили новое приближение (</a:t>
            </a:r>
            <a:r>
              <a:rPr lang="ru-RU" sz="1900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19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900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sz="19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19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= (0, 0).</a:t>
            </a:r>
          </a:p>
          <a:p>
            <a:pPr marL="0" indent="0" algn="l">
              <a:buNone/>
            </a:pPr>
            <a:r>
              <a:rPr lang="ru-RU" sz="2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Мы можем продолжить выполнять шаги 2 и 3 до достижения заданного критерия остановки, например, заданной точности или максимального числа итераций.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6EB88E-13F9-4906-8452-06EEBB1045CF}"/>
              </a:ext>
            </a:extLst>
          </p:cNvPr>
          <p:cNvSpPr txBox="1"/>
          <p:nvPr/>
        </p:nvSpPr>
        <p:spPr>
          <a:xfrm>
            <a:off x="369279" y="741793"/>
            <a:ext cx="6911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43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Будем минимизировать функцию </a:t>
            </a:r>
            <a:r>
              <a:rPr lang="ru-RU" sz="2400" i="1" dirty="0">
                <a:solidFill>
                  <a:srgbClr val="43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sz="2400" b="0" i="0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400" b="0" i="1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2400" b="0" i="0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b="0" i="1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sz="2400" b="0" i="0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ru-RU" sz="2400" b="0" i="1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2400" b="0" i="0" baseline="30000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400" b="0" i="0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2400" b="0" i="1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sz="2400" b="0" i="0" baseline="30000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400" b="0" i="0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методом покоординатного спуска для нахождения локального минимума.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CFBCE628-2BE7-4D0A-A647-A438F109B126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15087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E07AA7E1-BE40-4B52-BB1C-FE2842165A16}" type="slidenum">
              <a:rPr lang="ru-RU" altLang="ru-RU" sz="1400"/>
              <a:pPr algn="r"/>
              <a:t>15</a:t>
            </a:fld>
            <a:endParaRPr lang="ru-RU" altLang="ru-RU" sz="1400" dirty="0"/>
          </a:p>
        </p:txBody>
      </p:sp>
    </p:spTree>
    <p:extLst>
      <p:ext uri="{BB962C8B-B14F-4D97-AF65-F5344CB8AC3E}">
        <p14:creationId xmlns:p14="http://schemas.microsoft.com/office/powerpoint/2010/main" val="3393659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Номер слайда 3">
            <a:extLst>
              <a:ext uri="{FF2B5EF4-FFF2-40B4-BE49-F238E27FC236}">
                <a16:creationId xmlns:a16="http://schemas.microsoft.com/office/drawing/2014/main" id="{1A076521-9485-43D9-9B3A-BAC92FC1EE6B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15087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E07AA7E1-BE40-4B52-BB1C-FE2842165A16}" type="slidenum">
              <a:rPr lang="ru-RU" altLang="ru-RU" sz="1400"/>
              <a:pPr algn="r"/>
              <a:t>16</a:t>
            </a:fld>
            <a:endParaRPr lang="ru-RU" altLang="ru-RU" sz="1400" dirty="0"/>
          </a:p>
        </p:txBody>
      </p:sp>
      <p:sp>
        <p:nvSpPr>
          <p:cNvPr id="7171" name="Line 2">
            <a:extLst>
              <a:ext uri="{FF2B5EF4-FFF2-40B4-BE49-F238E27FC236}">
                <a16:creationId xmlns:a16="http://schemas.microsoft.com/office/drawing/2014/main" id="{9A3221EE-DAA1-4E48-B14D-33DAC26827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172" name="Text Box 3">
            <a:extLst>
              <a:ext uri="{FF2B5EF4-FFF2-40B4-BE49-F238E27FC236}">
                <a16:creationId xmlns:a16="http://schemas.microsoft.com/office/drawing/2014/main" id="{D2D79F2E-2CB2-4973-87F6-7D2D73B09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88913"/>
            <a:ext cx="81407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ru-RU" altLang="ru-RU" sz="3000" b="1"/>
              <a:t>Метод покоординатного спуска</a:t>
            </a:r>
          </a:p>
        </p:txBody>
      </p:sp>
      <p:sp>
        <p:nvSpPr>
          <p:cNvPr id="7182" name="Line 13">
            <a:extLst>
              <a:ext uri="{FF2B5EF4-FFF2-40B4-BE49-F238E27FC236}">
                <a16:creationId xmlns:a16="http://schemas.microsoft.com/office/drawing/2014/main" id="{AC40ED7C-1EFC-42ED-8F60-43287149721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4713" y="4075113"/>
            <a:ext cx="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ru-RU"/>
          </a:p>
        </p:txBody>
      </p:sp>
      <p:sp>
        <p:nvSpPr>
          <p:cNvPr id="923683" name="Rectangle 35">
            <a:extLst>
              <a:ext uri="{FF2B5EF4-FFF2-40B4-BE49-F238E27FC236}">
                <a16:creationId xmlns:a16="http://schemas.microsoft.com/office/drawing/2014/main" id="{11C1557E-09FD-4395-B3D5-853C8C753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" y="4602163"/>
            <a:ext cx="7980363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46800" rIns="90000" bIns="46800"/>
          <a:lstStyle>
            <a:lvl1pPr marL="176213" indent="-1762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ru-RU" altLang="ru-RU" sz="2400" b="1">
              <a:solidFill>
                <a:schemeClr val="accent2"/>
              </a:solidFill>
            </a:endParaRPr>
          </a:p>
        </p:txBody>
      </p:sp>
      <p:sp>
        <p:nvSpPr>
          <p:cNvPr id="2" name="Rectangle 35">
            <a:extLst>
              <a:ext uri="{FF2B5EF4-FFF2-40B4-BE49-F238E27FC236}">
                <a16:creationId xmlns:a16="http://schemas.microsoft.com/office/drawing/2014/main" id="{C6BCAECE-0223-4E02-8F40-CEE9A5C3C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668" y="852489"/>
            <a:ext cx="7980362" cy="3040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46800" rIns="90000" bIns="46800"/>
          <a:lstStyle>
            <a:lvl1pPr marL="176213" indent="31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633413" indent="-188913">
              <a:buFont typeface="Arial" panose="020B0604020202020204" pitchFamily="34" charset="0"/>
              <a:buChar char="•"/>
            </a:pPr>
            <a:r>
              <a:rPr lang="ru-RU" alt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Простота реализации: метод является относительно простым, не требует сложных математических выкладок или специальных знаний</a:t>
            </a:r>
            <a:endParaRPr lang="en-US" altLang="ru-RU" sz="2400" dirty="0">
              <a:solidFill>
                <a:schemeClr val="tx1">
                  <a:lumMod val="75000"/>
                  <a:lumOff val="25000"/>
                </a:schemeClr>
              </a:solidFill>
              <a:latin typeface="TimesNewRomanPSMT"/>
              <a:cs typeface="+mn-cs"/>
            </a:endParaRPr>
          </a:p>
          <a:p>
            <a:pPr marL="633413" indent="-188913">
              <a:buFont typeface="Arial" panose="020B0604020202020204" pitchFamily="34" charset="0"/>
              <a:buChar char="•"/>
            </a:pPr>
            <a:r>
              <a:rPr lang="ru-RU" alt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Эффективность на небольших размерностях</a:t>
            </a:r>
            <a:endParaRPr lang="en-US" altLang="ru-RU" sz="2400" dirty="0">
              <a:solidFill>
                <a:schemeClr val="tx1">
                  <a:lumMod val="75000"/>
                  <a:lumOff val="25000"/>
                </a:schemeClr>
              </a:solidFill>
              <a:latin typeface="TimesNewRomanPSMT"/>
              <a:cs typeface="+mn-cs"/>
            </a:endParaRPr>
          </a:p>
          <a:p>
            <a:pPr marL="633413" indent="-188913">
              <a:buFont typeface="Arial" panose="020B0604020202020204" pitchFamily="34" charset="0"/>
              <a:buChar char="•"/>
            </a:pPr>
            <a:r>
              <a:rPr lang="ru-RU" alt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Возможность применения к негладким функциям: метод покоординатного спуска может быть применен к функциям, которые не являются гладкими или дифференцируемыми</a:t>
            </a:r>
            <a:endParaRPr lang="en-US" altLang="ru-RU" sz="2400" dirty="0">
              <a:solidFill>
                <a:schemeClr val="tx1">
                  <a:lumMod val="75000"/>
                  <a:lumOff val="25000"/>
                </a:schemeClr>
              </a:solidFill>
              <a:latin typeface="TimesNewRomanPSMT"/>
              <a:cs typeface="+mn-cs"/>
            </a:endParaRPr>
          </a:p>
          <a:p>
            <a:endParaRPr lang="ru-RU" altLang="ru-RU" sz="2800" dirty="0">
              <a:solidFill>
                <a:schemeClr val="tx1">
                  <a:lumMod val="75000"/>
                  <a:lumOff val="25000"/>
                </a:schemeClr>
              </a:solidFill>
              <a:latin typeface="TimesNewRomanPSMT"/>
              <a:cs typeface="+mn-cs"/>
            </a:endParaRPr>
          </a:p>
        </p:txBody>
      </p:sp>
      <p:grpSp>
        <p:nvGrpSpPr>
          <p:cNvPr id="4" name="Group 29">
            <a:extLst>
              <a:ext uri="{FF2B5EF4-FFF2-40B4-BE49-F238E27FC236}">
                <a16:creationId xmlns:a16="http://schemas.microsoft.com/office/drawing/2014/main" id="{DE545E8A-8EBB-4857-AA8D-57A1AD3549F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52613" y="963546"/>
            <a:ext cx="417512" cy="417513"/>
            <a:chOff x="2816" y="2458"/>
            <a:chExt cx="1728" cy="1728"/>
          </a:xfrm>
        </p:grpSpPr>
        <p:sp>
          <p:nvSpPr>
            <p:cNvPr id="7202" name="Oval 30">
              <a:extLst>
                <a:ext uri="{FF2B5EF4-FFF2-40B4-BE49-F238E27FC236}">
                  <a16:creationId xmlns:a16="http://schemas.microsoft.com/office/drawing/2014/main" id="{85075D73-9ADD-4F7A-8DBB-841CDB92A7D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6" y="2458"/>
              <a:ext cx="1728" cy="172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ru-RU" altLang="ru-RU" b="1"/>
            </a:p>
          </p:txBody>
        </p:sp>
        <p:grpSp>
          <p:nvGrpSpPr>
            <p:cNvPr id="7203" name="Group 31">
              <a:extLst>
                <a:ext uri="{FF2B5EF4-FFF2-40B4-BE49-F238E27FC236}">
                  <a16:creationId xmlns:a16="http://schemas.microsoft.com/office/drawing/2014/main" id="{DCF1B403-7F2B-4C58-8DBA-3FB4672F119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051" y="2667"/>
              <a:ext cx="1299" cy="1299"/>
              <a:chOff x="3051" y="2667"/>
              <a:chExt cx="1299" cy="1299"/>
            </a:xfrm>
          </p:grpSpPr>
          <p:sp>
            <p:nvSpPr>
              <p:cNvPr id="7204" name="Rectangle 32">
                <a:extLst>
                  <a:ext uri="{FF2B5EF4-FFF2-40B4-BE49-F238E27FC236}">
                    <a16:creationId xmlns:a16="http://schemas.microsoft.com/office/drawing/2014/main" id="{D6CA036B-AEA8-411E-B5EC-BBBB03D761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051" y="3105"/>
                <a:ext cx="1299" cy="4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ru-RU" altLang="ru-RU" b="1"/>
              </a:p>
            </p:txBody>
          </p:sp>
          <p:sp>
            <p:nvSpPr>
              <p:cNvPr id="7205" name="Rectangle 33">
                <a:extLst>
                  <a:ext uri="{FF2B5EF4-FFF2-40B4-BE49-F238E27FC236}">
                    <a16:creationId xmlns:a16="http://schemas.microsoft.com/office/drawing/2014/main" id="{39E71928-E082-4665-B4F3-A69D3E72A7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-5400000">
                <a:off x="3057" y="3105"/>
                <a:ext cx="1299" cy="4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ru-RU" altLang="ru-RU" b="1"/>
              </a:p>
            </p:txBody>
          </p:sp>
        </p:grpSp>
        <p:sp>
          <p:nvSpPr>
            <p:cNvPr id="7206" name="Freeform 34">
              <a:extLst>
                <a:ext uri="{FF2B5EF4-FFF2-40B4-BE49-F238E27FC236}">
                  <a16:creationId xmlns:a16="http://schemas.microsoft.com/office/drawing/2014/main" id="{D8939913-8B6E-4D85-9002-D0A9DFCDEDF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048" y="2664"/>
              <a:ext cx="1302" cy="1299"/>
            </a:xfrm>
            <a:custGeom>
              <a:avLst/>
              <a:gdLst>
                <a:gd name="T0" fmla="*/ 3 w 1302"/>
                <a:gd name="T1" fmla="*/ 438 h 1299"/>
                <a:gd name="T2" fmla="*/ 444 w 1302"/>
                <a:gd name="T3" fmla="*/ 438 h 1299"/>
                <a:gd name="T4" fmla="*/ 444 w 1302"/>
                <a:gd name="T5" fmla="*/ 0 h 1299"/>
                <a:gd name="T6" fmla="*/ 870 w 1302"/>
                <a:gd name="T7" fmla="*/ 0 h 1299"/>
                <a:gd name="T8" fmla="*/ 870 w 1302"/>
                <a:gd name="T9" fmla="*/ 441 h 1299"/>
                <a:gd name="T10" fmla="*/ 1302 w 1302"/>
                <a:gd name="T11" fmla="*/ 441 h 1299"/>
                <a:gd name="T12" fmla="*/ 1302 w 1302"/>
                <a:gd name="T13" fmla="*/ 864 h 1299"/>
                <a:gd name="T14" fmla="*/ 870 w 1302"/>
                <a:gd name="T15" fmla="*/ 864 h 1299"/>
                <a:gd name="T16" fmla="*/ 870 w 1302"/>
                <a:gd name="T17" fmla="*/ 1299 h 1299"/>
                <a:gd name="T18" fmla="*/ 447 w 1302"/>
                <a:gd name="T19" fmla="*/ 1299 h 1299"/>
                <a:gd name="T20" fmla="*/ 447 w 1302"/>
                <a:gd name="T21" fmla="*/ 867 h 1299"/>
                <a:gd name="T22" fmla="*/ 0 w 1302"/>
                <a:gd name="T23" fmla="*/ 867 h 1299"/>
                <a:gd name="T24" fmla="*/ 3 w 1302"/>
                <a:gd name="T25" fmla="*/ 438 h 12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02"/>
                <a:gd name="T40" fmla="*/ 0 h 1299"/>
                <a:gd name="T41" fmla="*/ 1302 w 1302"/>
                <a:gd name="T42" fmla="*/ 1299 h 129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02" h="1299">
                  <a:moveTo>
                    <a:pt x="3" y="438"/>
                  </a:moveTo>
                  <a:lnTo>
                    <a:pt x="444" y="438"/>
                  </a:lnTo>
                  <a:lnTo>
                    <a:pt x="444" y="0"/>
                  </a:lnTo>
                  <a:lnTo>
                    <a:pt x="870" y="0"/>
                  </a:lnTo>
                  <a:lnTo>
                    <a:pt x="870" y="441"/>
                  </a:lnTo>
                  <a:lnTo>
                    <a:pt x="1302" y="441"/>
                  </a:lnTo>
                  <a:lnTo>
                    <a:pt x="1302" y="864"/>
                  </a:lnTo>
                  <a:lnTo>
                    <a:pt x="870" y="864"/>
                  </a:lnTo>
                  <a:lnTo>
                    <a:pt x="870" y="1299"/>
                  </a:lnTo>
                  <a:lnTo>
                    <a:pt x="447" y="1299"/>
                  </a:lnTo>
                  <a:lnTo>
                    <a:pt x="447" y="867"/>
                  </a:lnTo>
                  <a:lnTo>
                    <a:pt x="0" y="867"/>
                  </a:lnTo>
                  <a:lnTo>
                    <a:pt x="3" y="438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3" name="Group 26">
            <a:extLst>
              <a:ext uri="{FF2B5EF4-FFF2-40B4-BE49-F238E27FC236}">
                <a16:creationId xmlns:a16="http://schemas.microsoft.com/office/drawing/2014/main" id="{C2BD0A94-4ABE-46DA-A140-F73E23DC6F5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52613" y="3942503"/>
            <a:ext cx="417512" cy="417513"/>
            <a:chOff x="552" y="2523"/>
            <a:chExt cx="1728" cy="1728"/>
          </a:xfrm>
        </p:grpSpPr>
        <p:sp>
          <p:nvSpPr>
            <p:cNvPr id="7208" name="Oval 27">
              <a:extLst>
                <a:ext uri="{FF2B5EF4-FFF2-40B4-BE49-F238E27FC236}">
                  <a16:creationId xmlns:a16="http://schemas.microsoft.com/office/drawing/2014/main" id="{705CC7CC-46A4-47E6-A083-A54F92027A2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52" y="2523"/>
              <a:ext cx="1728" cy="172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ru-RU" altLang="ru-RU" b="1"/>
            </a:p>
          </p:txBody>
        </p:sp>
        <p:sp>
          <p:nvSpPr>
            <p:cNvPr id="7209" name="Rectangle 28">
              <a:extLst>
                <a:ext uri="{FF2B5EF4-FFF2-40B4-BE49-F238E27FC236}">
                  <a16:creationId xmlns:a16="http://schemas.microsoft.com/office/drawing/2014/main" id="{50EC1422-B648-484F-830C-796323AF0C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74" y="3183"/>
              <a:ext cx="1299" cy="4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ru-RU" altLang="ru-RU" b="1"/>
            </a:p>
          </p:txBody>
        </p:sp>
      </p:grpSp>
      <p:sp>
        <p:nvSpPr>
          <p:cNvPr id="923684" name="Rectangle 36">
            <a:extLst>
              <a:ext uri="{FF2B5EF4-FFF2-40B4-BE49-F238E27FC236}">
                <a16:creationId xmlns:a16="http://schemas.microsoft.com/office/drawing/2014/main" id="{FE6F686B-7DD7-4F23-876F-1B4009E64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106" y="3980179"/>
            <a:ext cx="7951787" cy="2434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46800" rIns="90000" bIns="46800"/>
          <a:lstStyle>
            <a:lvl1pPr marL="176213" indent="-1762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ru-RU" altLang="ru-RU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можно двигаться к минимуму быстрее</a:t>
            </a:r>
          </a:p>
          <a:p>
            <a:pPr>
              <a:buFontTx/>
              <a:buChar char="•"/>
            </a:pPr>
            <a:r>
              <a:rPr lang="ru-RU" altLang="ru-RU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большой объем вычислений</a:t>
            </a:r>
          </a:p>
          <a:p>
            <a:pPr>
              <a:buFontTx/>
              <a:buChar char="•"/>
            </a:pPr>
            <a:r>
              <a:rPr lang="ru-RU" altLang="ru-RU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может не найти решение для сложных функций</a:t>
            </a:r>
            <a:endParaRPr lang="en-US" altLang="ru-RU" sz="2800" dirty="0">
              <a:solidFill>
                <a:schemeClr val="tx1">
                  <a:lumMod val="75000"/>
                  <a:lumOff val="25000"/>
                </a:schemeClr>
              </a:solidFill>
              <a:latin typeface="TimesNewRomanPSMT"/>
              <a:cs typeface="+mn-cs"/>
            </a:endParaRPr>
          </a:p>
          <a:p>
            <a:pPr>
              <a:buFontTx/>
              <a:buChar char="•"/>
            </a:pPr>
            <a:r>
              <a:rPr lang="ru-RU" altLang="ru-RU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NewRomanPSMT"/>
                <a:cs typeface="+mn-cs"/>
              </a:rPr>
              <a:t>ограниченная применимость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95</TotalTime>
  <Words>909</Words>
  <PresentationFormat>Экран (4:3)</PresentationFormat>
  <Paragraphs>103</Paragraphs>
  <Slides>16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9" baseType="lpstr">
      <vt:lpstr>-apple-system</vt:lpstr>
      <vt:lpstr>Arial</vt:lpstr>
      <vt:lpstr>Calibri</vt:lpstr>
      <vt:lpstr>Cambria Math</vt:lpstr>
      <vt:lpstr>Symbol</vt:lpstr>
      <vt:lpstr>Times New Roman</vt:lpstr>
      <vt:lpstr>TimesNewRomanPS-ItalicMT+1</vt:lpstr>
      <vt:lpstr>TimesNewRomanPSMT</vt:lpstr>
      <vt:lpstr>TimesNewRomanPSMT+1</vt:lpstr>
      <vt:lpstr>Trebuchet MS</vt:lpstr>
      <vt:lpstr>Wingdings 3</vt:lpstr>
      <vt:lpstr>Аспект</vt:lpstr>
      <vt:lpstr>Формула</vt:lpstr>
      <vt:lpstr>Метод Ньютона</vt:lpstr>
      <vt:lpstr>Презентация PowerPoint</vt:lpstr>
      <vt:lpstr>Описание метода</vt:lpstr>
      <vt:lpstr>Алгоритм решения задачи безусловной минимизации методом Ньютона</vt:lpstr>
      <vt:lpstr>Презентация PowerPoint</vt:lpstr>
      <vt:lpstr>Пример</vt:lpstr>
      <vt:lpstr>Итерация 1</vt:lpstr>
      <vt:lpstr>Презентация PowerPoint</vt:lpstr>
      <vt:lpstr>БЕЗГРАДИЕНТНЫЕ МЕТОДЫ</vt:lpstr>
      <vt:lpstr>Многомерная безградиентная оптимизация</vt:lpstr>
      <vt:lpstr>Метод покоординатного спуска</vt:lpstr>
      <vt:lpstr>Презентация PowerPoint</vt:lpstr>
      <vt:lpstr>Алгоритм метода покоординатного спуска</vt:lpstr>
      <vt:lpstr>Условия завершения итерационного процесса</vt:lpstr>
      <vt:lpstr>Пример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2023-12-17T12:51:44Z</dcterms:created>
  <dcterms:modified xsi:type="dcterms:W3CDTF">2023-12-18T05:55:06Z</dcterms:modified>
</cp:coreProperties>
</file>