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8" r:id="rId3"/>
    <p:sldId id="279" r:id="rId4"/>
    <p:sldId id="277" r:id="rId5"/>
    <p:sldId id="280" r:id="rId6"/>
    <p:sldId id="281" r:id="rId7"/>
    <p:sldId id="257" r:id="rId8"/>
    <p:sldId id="25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22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7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30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0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66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5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47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7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19364-6B93-4924-9F1C-D25CD7FBEC24}" type="datetimeFigureOut">
              <a:rPr lang="ru-RU" smtClean="0"/>
              <a:t>вс 05.09.21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64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27355" y="1175455"/>
            <a:ext cx="6858000" cy="2270138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МЕТОДЫ </a:t>
            </a:r>
            <a:r>
              <a:rPr lang="ru-RU" altLang="ru-RU" b="1" dirty="0" smtClean="0"/>
              <a:t>ОПТИМИЗАЦИИ</a:t>
            </a:r>
            <a:br>
              <a:rPr lang="ru-RU" altLang="ru-RU" b="1" dirty="0" smtClean="0"/>
            </a:br>
            <a:r>
              <a:rPr lang="ru-RU" altLang="ru-RU" b="1" dirty="0" smtClean="0"/>
              <a:t>и ИССЛЕДОВАНИЕ ОПЕРАЦИЙ</a:t>
            </a:r>
            <a:endParaRPr lang="ru-RU" altLang="ru-RU" b="1" dirty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12418" y="3380952"/>
            <a:ext cx="4514850" cy="1314450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ru-RU" altLang="ru-RU" dirty="0" smtClean="0"/>
              <a:t>Лекция 2. Линейное программирование. Переборный и симплекс-метод</a:t>
            </a:r>
            <a:endParaRPr lang="ru-RU" altLang="ru-RU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3" y="3396277"/>
            <a:ext cx="4520487" cy="259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-99392"/>
            <a:ext cx="8435280" cy="1143000"/>
          </a:xfrm>
        </p:spPr>
        <p:txBody>
          <a:bodyPr>
            <a:noAutofit/>
          </a:bodyPr>
          <a:lstStyle/>
          <a:p>
            <a:r>
              <a:rPr lang="ru-RU" sz="3600" b="1" i="1" dirty="0"/>
              <a:t>История линейного </a:t>
            </a:r>
            <a:r>
              <a:rPr lang="ru-RU" sz="3600" b="1" i="1" dirty="0" smtClean="0"/>
              <a:t>программирования</a:t>
            </a:r>
            <a:endParaRPr lang="ru-RU" sz="3600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836712"/>
            <a:ext cx="8579296" cy="5832648"/>
          </a:xfrm>
        </p:spPr>
        <p:txBody>
          <a:bodyPr>
            <a:noAutofit/>
          </a:bodyPr>
          <a:lstStyle/>
          <a:p>
            <a:pPr algn="just"/>
            <a:r>
              <a:rPr lang="ru-RU" sz="1800" dirty="0"/>
              <a:t>Временем рождения линейного программирования принято считать 1939г., когда была напечатана брошюра Леонида Витальевича Канторовича "Математические методы организации и планирования производства". Поскольку методы, изложенные </a:t>
            </a:r>
            <a:r>
              <a:rPr lang="ru-RU" sz="1800" dirty="0" err="1"/>
              <a:t>Л.В.Канторовичем</a:t>
            </a:r>
            <a:r>
              <a:rPr lang="ru-RU" sz="1800" dirty="0"/>
              <a:t>, были мало пригодны для ручного счета, а быстродействующих вычислительных машин в то время не существовало, работа </a:t>
            </a:r>
            <a:r>
              <a:rPr lang="ru-RU" sz="1800" dirty="0" err="1"/>
              <a:t>Л.В.Канторовича</a:t>
            </a:r>
            <a:r>
              <a:rPr lang="ru-RU" sz="1800" dirty="0"/>
              <a:t> осталась почти не замеченной.</a:t>
            </a:r>
          </a:p>
          <a:p>
            <a:pPr algn="just"/>
            <a:r>
              <a:rPr lang="ru-RU" sz="1800" dirty="0"/>
              <a:t>Свое второе рождение линейное программирование получило в начале пятидесятых годов с появлением ЭВМ. Тогда началось всеобщее увлечение линейным </a:t>
            </a:r>
            <a:r>
              <a:rPr lang="ru-RU" sz="1800" dirty="0" smtClean="0"/>
              <a:t>программированием. В </a:t>
            </a:r>
            <a:r>
              <a:rPr lang="ru-RU" sz="1800" dirty="0"/>
              <a:t>1975 году академик </a:t>
            </a:r>
            <a:r>
              <a:rPr lang="ru-RU" sz="1800" dirty="0" err="1"/>
              <a:t>Л.В.Канторович</a:t>
            </a:r>
            <a:r>
              <a:rPr lang="ru-RU" sz="1800" dirty="0"/>
              <a:t> и американец профессор Т. </a:t>
            </a:r>
            <a:r>
              <a:rPr lang="ru-RU" sz="1800" dirty="0" err="1"/>
              <a:t>Купманс</a:t>
            </a:r>
            <a:r>
              <a:rPr lang="ru-RU" sz="1800" dirty="0"/>
              <a:t> получили Нобелевскую премию по экономическим наукам за "вклад в разработку теории и оптимального использования ресурсов в экономике".</a:t>
            </a:r>
          </a:p>
          <a:p>
            <a:pPr algn="just"/>
            <a:r>
              <a:rPr lang="ru-RU" sz="1800" dirty="0"/>
              <a:t>Было осознано, что надо научиться решать задачи о нахождении экстремумов линейных функций на многогранниках, задаваемых линейными неравенствами. По предложению </a:t>
            </a:r>
            <a:r>
              <a:rPr lang="ru-RU" sz="1800" dirty="0" err="1"/>
              <a:t>Купманса</a:t>
            </a:r>
            <a:r>
              <a:rPr lang="ru-RU" sz="1800" dirty="0"/>
              <a:t> этот раздел математики получил название линейного программирования.</a:t>
            </a:r>
          </a:p>
          <a:p>
            <a:pPr algn="just"/>
            <a:r>
              <a:rPr lang="ru-RU" sz="1800" dirty="0"/>
              <a:t>Американский математик А. Данциг в 1947 году разработал весьма эффективный конкретный метод численного решения задач линейного программирования (он получил название симплекс метода). Идеи линейного программирования в течении пяти шести лет получили грандиозное распространение в мире, и имена </a:t>
            </a:r>
            <a:r>
              <a:rPr lang="ru-RU" sz="1800" dirty="0" err="1"/>
              <a:t>Купманса</a:t>
            </a:r>
            <a:r>
              <a:rPr lang="ru-RU" sz="1800" dirty="0"/>
              <a:t> и Данцига стали повсюду широко известны.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7652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/>
              <a:t>Линейное программирование</a:t>
            </a:r>
            <a:r>
              <a:rPr lang="ru-RU" dirty="0"/>
              <a:t> - наиболее разработанный и широко применяемый раздел математического программирования.</a:t>
            </a:r>
          </a:p>
          <a:p>
            <a:pPr marL="0" indent="0" algn="just">
              <a:buNone/>
            </a:pPr>
            <a:r>
              <a:rPr lang="ru-RU" dirty="0"/>
              <a:t>Круг задач, решаемых при помощи методов линейного программирования достаточно широк:</a:t>
            </a:r>
          </a:p>
          <a:p>
            <a:pPr algn="just"/>
            <a:r>
              <a:rPr lang="ru-RU" dirty="0"/>
              <a:t>задача об оптимальном использовании ресурсов при производственном планировании;</a:t>
            </a:r>
          </a:p>
          <a:p>
            <a:pPr algn="just"/>
            <a:r>
              <a:rPr lang="ru-RU" dirty="0"/>
              <a:t>задача о смесях (планирование состава продукции);</a:t>
            </a:r>
          </a:p>
          <a:p>
            <a:pPr algn="just"/>
            <a:r>
              <a:rPr lang="ru-RU" dirty="0"/>
              <a:t>задача о нахождении оптимальной комбинации различных видов продукции для хранения на складах (управление товарно-материальными запасами или "задача о рюкзаке");</a:t>
            </a:r>
          </a:p>
          <a:p>
            <a:pPr algn="just"/>
            <a:r>
              <a:rPr lang="ru-RU" dirty="0"/>
              <a:t>транспортные задачи (анализ размещения предприятия, перемещение грузов).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41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838200" y="365125"/>
            <a:ext cx="7910264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38200" indent="-838200"/>
            <a:r>
              <a:rPr lang="ru-RU" altLang="ru-RU" b="1" i="1" dirty="0" smtClean="0"/>
              <a:t>Постановка задачи линейного программирования (ЗЛП)</a:t>
            </a:r>
            <a:endParaRPr lang="ru-RU" altLang="ru-RU" b="1" i="1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323528" y="184482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Задача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линейного программирования включает: целевую функцию, оптимальное значение которой (максимум или минимум) требуется отыскать; ограничения в виде системы линейных уравнений или неравенств; требование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неотрицательности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 переменных.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3199289"/>
            <a:ext cx="8273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В общем виде 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задача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записывается следующим образом:</a:t>
            </a:r>
          </a:p>
          <a:p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целевая функция: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 F(x)= c</a:t>
            </a:r>
            <a:r>
              <a:rPr lang="ru-RU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x</a:t>
            </a:r>
            <a:r>
              <a:rPr lang="ru-RU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 + c</a:t>
            </a:r>
            <a:r>
              <a:rPr lang="ru-RU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2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x</a:t>
            </a:r>
            <a:r>
              <a:rPr lang="ru-RU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2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 + ... +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c</a:t>
            </a:r>
            <a:r>
              <a:rPr lang="ru-RU" baseline="-25000" dirty="0" err="1">
                <a:solidFill>
                  <a:srgbClr val="333333"/>
                </a:solidFill>
                <a:latin typeface="Arial" panose="020B0604020202020204" pitchFamily="34" charset="0"/>
              </a:rPr>
              <a:t>n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x</a:t>
            </a:r>
            <a:r>
              <a:rPr lang="ru-RU" baseline="-25000" dirty="0" err="1">
                <a:solidFill>
                  <a:srgbClr val="333333"/>
                </a:solidFill>
                <a:latin typeface="Arial" panose="020B0604020202020204" pitchFamily="34" charset="0"/>
              </a:rPr>
              <a:t>n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 →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max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min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) (1)</a:t>
            </a:r>
            <a:endParaRPr lang="ru-RU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" y="3999756"/>
            <a:ext cx="921067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1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71600" y="692696"/>
            <a:ext cx="71287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При этом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a</a:t>
            </a:r>
            <a:r>
              <a:rPr lang="ru-RU" baseline="-25000" dirty="0" err="1">
                <a:solidFill>
                  <a:srgbClr val="333333"/>
                </a:solidFill>
                <a:latin typeface="Arial" panose="020B0604020202020204" pitchFamily="34" charset="0"/>
              </a:rPr>
              <a:t>ij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,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b</a:t>
            </a:r>
            <a:r>
              <a:rPr lang="ru-RU" baseline="-25000" dirty="0" err="1">
                <a:solidFill>
                  <a:srgbClr val="333333"/>
                </a:solidFill>
                <a:latin typeface="Arial" panose="020B0604020202020204" pitchFamily="34" charset="0"/>
              </a:rPr>
              <a:t>i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, </a:t>
            </a:r>
            <a:r>
              <a:rPr lang="ru-RU" dirty="0" err="1">
                <a:solidFill>
                  <a:srgbClr val="333333"/>
                </a:solidFill>
                <a:latin typeface="Arial" panose="020B0604020202020204" pitchFamily="34" charset="0"/>
              </a:rPr>
              <a:t>c</a:t>
            </a:r>
            <a:r>
              <a:rPr lang="ru-RU" baseline="-25000" dirty="0" err="1">
                <a:solidFill>
                  <a:srgbClr val="333333"/>
                </a:solidFill>
                <a:latin typeface="Arial" panose="020B0604020202020204" pitchFamily="34" charset="0"/>
              </a:rPr>
              <a:t>j</a:t>
            </a:r>
            <a:r>
              <a:rPr lang="ru-RU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(I = 1, 2, ….., m; j = 1, 2,……, n) - 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заданные постоянные величины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</a:p>
          <a:p>
            <a:pPr algn="just"/>
            <a:endParaRPr lang="ru-RU" dirty="0" smtClean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Задача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состоит в нахождении оптимального значения функции (1) при соблюдении ограничений (2) и (3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).</a:t>
            </a:r>
          </a:p>
          <a:p>
            <a:pPr algn="just"/>
            <a:endParaRPr lang="ru-RU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Систему ограничений (2) называют 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функциональными ограничениями задачи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, а ограничения (3) - 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прямыми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. Система (2) и ограничения (3) задают в </a:t>
            </a:r>
            <a:r>
              <a:rPr 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n-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мерном пространстве область, называемую </a:t>
            </a:r>
            <a:r>
              <a:rPr lang="ru-RU" b="1" dirty="0" smtClean="0">
                <a:solidFill>
                  <a:srgbClr val="333333"/>
                </a:solidFill>
                <a:latin typeface="Arial" panose="020B0604020202020204" pitchFamily="34" charset="0"/>
              </a:rPr>
              <a:t>областью допустимых решений (ОДР)</a:t>
            </a:r>
          </a:p>
          <a:p>
            <a:pPr algn="just"/>
            <a:endParaRPr lang="ru-RU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Вектор, удовлетворяющий ограничениям (2) и (3), называется допустимым решением (планом) задачи линейного программирования. План, при котором функция (1) достигает своего максимального (минимального) значения, называется 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оптимальным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endParaRPr lang="ru-RU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9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4"/>
          <p:cNvSpPr>
            <a:spLocks noGrp="1"/>
          </p:cNvSpPr>
          <p:nvPr>
            <p:ph type="title"/>
          </p:nvPr>
        </p:nvSpPr>
        <p:spPr>
          <a:xfrm>
            <a:off x="722312" y="3717032"/>
            <a:ext cx="8098159" cy="2051943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dirty="0" smtClean="0"/>
              <a:t>ПЕРЕБОРНЫЙ МЕТОД РЕШЕНИЯ ЗАДАЧИ ЛИНЕЙНОГО ПРОГРАММИРОВАНИЯ</a:t>
            </a:r>
            <a:endParaRPr lang="ru-RU" altLang="ru-RU" dirty="0" smtClean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82289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344816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Переборный метод решения основан на </a:t>
            </a:r>
            <a:r>
              <a:rPr lang="ru-RU" sz="2800" dirty="0" smtClean="0"/>
              <a:t>следующих основных теоремах</a:t>
            </a:r>
            <a:r>
              <a:rPr lang="en-US" sz="2800" dirty="0" smtClean="0"/>
              <a:t> </a:t>
            </a:r>
            <a:r>
              <a:rPr lang="ru-RU" sz="2800" dirty="0" smtClean="0"/>
              <a:t>линейного программирования:</a:t>
            </a:r>
          </a:p>
          <a:p>
            <a:pPr algn="just"/>
            <a:endParaRPr lang="ru-RU" sz="2800" dirty="0"/>
          </a:p>
          <a:p>
            <a:pPr algn="just"/>
            <a:r>
              <a:rPr lang="ru-RU" sz="3200" b="1" dirty="0" smtClean="0"/>
              <a:t>Теорема 1. ОДР задачи линейного программирования представляет собой выпуклое множество с конечным числом крайних точек (вершин). </a:t>
            </a:r>
          </a:p>
          <a:p>
            <a:pPr algn="just"/>
            <a:r>
              <a:rPr lang="ru-RU" sz="3200" b="1" dirty="0" smtClean="0"/>
              <a:t>Теорема 2. Если </a:t>
            </a:r>
            <a:r>
              <a:rPr lang="ru-RU" sz="3200" b="1" dirty="0"/>
              <a:t>целевая функция имеет максимум (минимум), то он </a:t>
            </a:r>
            <a:r>
              <a:rPr lang="ru-RU" sz="3200" b="1" dirty="0" err="1" smtClean="0"/>
              <a:t>дос-тигается</a:t>
            </a:r>
            <a:r>
              <a:rPr lang="ru-RU" sz="3200" b="1" dirty="0" smtClean="0"/>
              <a:t> </a:t>
            </a:r>
            <a:r>
              <a:rPr lang="ru-RU" sz="3200" b="1" dirty="0"/>
              <a:t>в крайней точке (вершине) области допустимых решений. </a:t>
            </a:r>
            <a:endParaRPr lang="ru-RU" sz="3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009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52736"/>
            <a:ext cx="846043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82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548680"/>
            <a:ext cx="734481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</a:p>
          <a:p>
            <a:r>
              <a:rPr lang="ru-RU" sz="2800" dirty="0"/>
              <a:t>Поэтому для поиска максимума или минимума целевой функции следует</a:t>
            </a:r>
            <a:r>
              <a:rPr lang="ru-RU" sz="2800" dirty="0" smtClean="0"/>
              <a:t>:</a:t>
            </a:r>
          </a:p>
          <a:p>
            <a:endParaRPr lang="ru-RU" sz="28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2800" dirty="0"/>
              <a:t>перебрать все вершины многоугольника;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2800" dirty="0"/>
              <a:t>для каждой вершины найти значение целевой функции;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2800" dirty="0"/>
              <a:t>выбрать вершину, в которой достигается оптимальное значение.</a:t>
            </a:r>
          </a:p>
          <a:p>
            <a:r>
              <a:rPr lang="ru-RU" sz="2800" dirty="0"/>
              <a:t> </a:t>
            </a:r>
          </a:p>
          <a:p>
            <a:r>
              <a:rPr lang="ru-RU" sz="2800" dirty="0"/>
              <a:t>Основной вопрос: </a:t>
            </a:r>
            <a:r>
              <a:rPr lang="ru-RU" sz="2800" b="1" dirty="0"/>
              <a:t>как осуществить поиск вершин</a:t>
            </a:r>
            <a:r>
              <a:rPr lang="ru-RU" sz="2800" dirty="0"/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484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7584" y="692696"/>
            <a:ext cx="705678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Для ответа на этот вопрос рассмотрим </a:t>
            </a:r>
            <a:r>
              <a:rPr lang="ru-RU" sz="2800" b="1" dirty="0"/>
              <a:t>геометрическую интерпретацию ЗЛП</a:t>
            </a:r>
            <a:r>
              <a:rPr lang="ru-RU" sz="2800" dirty="0"/>
              <a:t>.</a:t>
            </a:r>
          </a:p>
          <a:p>
            <a:r>
              <a:rPr lang="ru-RU" sz="2800" dirty="0"/>
              <a:t>  </a:t>
            </a:r>
          </a:p>
          <a:p>
            <a:r>
              <a:rPr lang="ru-RU" sz="2800" dirty="0"/>
              <a:t>Рассмотрим ЗЛП, имеющую ограничения в виде неравенств</a:t>
            </a:r>
          </a:p>
          <a:p>
            <a:r>
              <a:rPr lang="ru-RU" sz="2800" dirty="0"/>
              <a:t> </a:t>
            </a:r>
          </a:p>
          <a:p>
            <a:r>
              <a:rPr lang="en-US" sz="3600" dirty="0"/>
              <a:t>a</a:t>
            </a:r>
            <a:r>
              <a:rPr lang="ru-RU" sz="3600" baseline="-25000" dirty="0" smtClean="0"/>
              <a:t>11</a:t>
            </a:r>
            <a:r>
              <a:rPr lang="en-US" sz="3600" dirty="0"/>
              <a:t>x</a:t>
            </a:r>
            <a:r>
              <a:rPr lang="ru-RU" sz="3600" baseline="-25000" dirty="0"/>
              <a:t>1</a:t>
            </a:r>
            <a:r>
              <a:rPr lang="ru-RU" sz="3600" dirty="0"/>
              <a:t>+</a:t>
            </a:r>
            <a:r>
              <a:rPr lang="en-US" sz="3600" dirty="0"/>
              <a:t>a</a:t>
            </a:r>
            <a:r>
              <a:rPr lang="ru-RU" sz="3600" baseline="-25000" dirty="0" smtClean="0"/>
              <a:t>12</a:t>
            </a:r>
            <a:r>
              <a:rPr lang="en-US" sz="3600" dirty="0"/>
              <a:t>x</a:t>
            </a:r>
            <a:r>
              <a:rPr lang="ru-RU" sz="3600" baseline="-25000" dirty="0"/>
              <a:t>2</a:t>
            </a:r>
            <a:r>
              <a:rPr lang="ru-RU" sz="3600" dirty="0"/>
              <a:t>+…+</a:t>
            </a:r>
            <a:r>
              <a:rPr lang="en-US" sz="3600" dirty="0"/>
              <a:t>a</a:t>
            </a:r>
            <a:r>
              <a:rPr lang="ru-RU" sz="3600" baseline="-25000" dirty="0" smtClean="0"/>
              <a:t>1</a:t>
            </a:r>
            <a:r>
              <a:rPr lang="en-US" sz="3600" baseline="-25000" dirty="0" err="1" smtClean="0"/>
              <a:t>n</a:t>
            </a:r>
            <a:r>
              <a:rPr lang="en-US" sz="3600" dirty="0" err="1" smtClean="0"/>
              <a:t>x</a:t>
            </a:r>
            <a:r>
              <a:rPr lang="en-US" sz="3600" baseline="-25000" dirty="0" err="1" smtClean="0"/>
              <a:t>n</a:t>
            </a:r>
            <a:r>
              <a:rPr lang="en-US" sz="3600" baseline="-25000" dirty="0" smtClean="0"/>
              <a:t> </a:t>
            </a:r>
            <a:r>
              <a:rPr lang="ru-RU" sz="3600" dirty="0"/>
              <a:t>≥ </a:t>
            </a:r>
            <a:r>
              <a:rPr lang="en-US" sz="3600" dirty="0"/>
              <a:t>b</a:t>
            </a:r>
            <a:r>
              <a:rPr lang="ru-RU" sz="3600" baseline="-25000" dirty="0"/>
              <a:t>1</a:t>
            </a:r>
            <a:r>
              <a:rPr lang="ru-RU" sz="3600" dirty="0"/>
              <a:t>,</a:t>
            </a:r>
          </a:p>
          <a:p>
            <a:r>
              <a:rPr lang="en-US" sz="3600" dirty="0" smtClean="0"/>
              <a:t>a</a:t>
            </a:r>
            <a:r>
              <a:rPr lang="en-US" sz="3600" baseline="-25000" dirty="0" smtClean="0"/>
              <a:t>21</a:t>
            </a:r>
            <a:r>
              <a:rPr lang="en-US" sz="3600" dirty="0" smtClean="0"/>
              <a:t>x</a:t>
            </a:r>
            <a:r>
              <a:rPr lang="en-US" sz="3600" baseline="-25000" dirty="0" smtClean="0"/>
              <a:t>1</a:t>
            </a:r>
            <a:r>
              <a:rPr lang="en-US" sz="3600" dirty="0" smtClean="0"/>
              <a:t>+a</a:t>
            </a:r>
            <a:r>
              <a:rPr lang="en-US" sz="3600" baseline="-25000" dirty="0" smtClean="0"/>
              <a:t>22</a:t>
            </a:r>
            <a:r>
              <a:rPr lang="en-US" sz="3600" dirty="0" smtClean="0"/>
              <a:t>x</a:t>
            </a:r>
            <a:r>
              <a:rPr lang="en-US" sz="3600" baseline="-25000" dirty="0" smtClean="0"/>
              <a:t>2</a:t>
            </a:r>
            <a:r>
              <a:rPr lang="en-US" sz="3600" dirty="0"/>
              <a:t>+…+</a:t>
            </a:r>
            <a:r>
              <a:rPr lang="en-US" sz="3600" dirty="0" smtClean="0"/>
              <a:t>a</a:t>
            </a:r>
            <a:r>
              <a:rPr lang="en-US" sz="3600" baseline="-25000" dirty="0" smtClean="0"/>
              <a:t>2n</a:t>
            </a:r>
            <a:r>
              <a:rPr lang="en-US" sz="3600" dirty="0" smtClean="0"/>
              <a:t>x</a:t>
            </a:r>
            <a:r>
              <a:rPr lang="en-US" sz="3600" baseline="-25000" dirty="0" smtClean="0"/>
              <a:t>n </a:t>
            </a:r>
            <a:r>
              <a:rPr lang="en-US" sz="3600" dirty="0"/>
              <a:t>≥ b</a:t>
            </a:r>
            <a:r>
              <a:rPr lang="en-US" sz="3600" baseline="-25000" dirty="0"/>
              <a:t>2</a:t>
            </a:r>
            <a:r>
              <a:rPr lang="en-US" sz="3600" dirty="0"/>
              <a:t>,                      </a:t>
            </a:r>
            <a:endParaRPr lang="ru-RU" sz="3600" dirty="0"/>
          </a:p>
          <a:p>
            <a:r>
              <a:rPr lang="en-US" sz="3600" dirty="0"/>
              <a:t>. . . . . . . . . . . . . . . . . . . . . . .,</a:t>
            </a:r>
            <a:endParaRPr lang="ru-RU" sz="3600" dirty="0"/>
          </a:p>
          <a:p>
            <a:r>
              <a:rPr lang="en-US" sz="3600" dirty="0" smtClean="0"/>
              <a:t>a</a:t>
            </a:r>
            <a:r>
              <a:rPr lang="en-US" sz="3600" baseline="-25000" dirty="0" smtClean="0"/>
              <a:t>m1</a:t>
            </a:r>
            <a:r>
              <a:rPr lang="en-US" sz="3600" dirty="0" smtClean="0"/>
              <a:t>x</a:t>
            </a:r>
            <a:r>
              <a:rPr lang="en-US" sz="3600" baseline="-25000" dirty="0" smtClean="0"/>
              <a:t>1</a:t>
            </a:r>
            <a:r>
              <a:rPr lang="en-US" sz="3600" dirty="0" smtClean="0"/>
              <a:t>+a</a:t>
            </a:r>
            <a:r>
              <a:rPr lang="en-US" sz="3600" baseline="-25000" dirty="0" smtClean="0"/>
              <a:t>m2</a:t>
            </a:r>
            <a:r>
              <a:rPr lang="en-US" sz="3600" dirty="0" smtClean="0"/>
              <a:t>x</a:t>
            </a:r>
            <a:r>
              <a:rPr lang="en-US" sz="3600" baseline="-25000" dirty="0" smtClean="0"/>
              <a:t>2</a:t>
            </a:r>
            <a:r>
              <a:rPr lang="en-US" sz="3600" dirty="0"/>
              <a:t>+…+</a:t>
            </a:r>
            <a:r>
              <a:rPr lang="en-US" sz="3600" dirty="0" err="1" smtClean="0"/>
              <a:t>a</a:t>
            </a:r>
            <a:r>
              <a:rPr lang="en-US" sz="3600" baseline="-25000" dirty="0" err="1" smtClean="0"/>
              <a:t>mn</a:t>
            </a:r>
            <a:r>
              <a:rPr lang="en-US" sz="3600" dirty="0" err="1" smtClean="0"/>
              <a:t>x</a:t>
            </a:r>
            <a:r>
              <a:rPr lang="en-US" sz="3600" baseline="-25000" dirty="0" err="1" smtClean="0"/>
              <a:t>n</a:t>
            </a:r>
            <a:r>
              <a:rPr lang="en-US" sz="3600" dirty="0" smtClean="0"/>
              <a:t> </a:t>
            </a:r>
            <a:r>
              <a:rPr lang="en-US" sz="3600" dirty="0"/>
              <a:t>≥</a:t>
            </a:r>
            <a:r>
              <a:rPr lang="en-US" sz="3600" dirty="0" err="1"/>
              <a:t>b</a:t>
            </a:r>
            <a:r>
              <a:rPr lang="en-US" sz="3600" baseline="-25000" dirty="0" err="1"/>
              <a:t>m</a:t>
            </a:r>
            <a:r>
              <a:rPr lang="en-US" sz="3600" dirty="0"/>
              <a:t>,</a:t>
            </a:r>
            <a:endParaRPr lang="ru-RU" sz="3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838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11629"/>
              </p:ext>
            </p:extLst>
          </p:nvPr>
        </p:nvGraphicFramePr>
        <p:xfrm>
          <a:off x="323528" y="620688"/>
          <a:ext cx="8424935" cy="65201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7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180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/>
                          <a:ea typeface="Times New Roman"/>
                        </a:rPr>
                        <a:t>Размерность задачи (N)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N = 2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N = 3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imes New Roman"/>
                          <a:ea typeface="Times New Roman"/>
                        </a:rPr>
                        <a:t>N &gt; 3</a:t>
                      </a:r>
                      <a:endParaRPr lang="ru-RU" sz="18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11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/>
                          <a:ea typeface="Times New Roman"/>
                        </a:rPr>
                        <a:t>Ограничение, взятое со знаком равно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2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2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= b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,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прямая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1,3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3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= b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плоскость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+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2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+…+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</a:t>
                      </a:r>
                      <a:r>
                        <a:rPr lang="en-US" sz="1800" baseline="-25000" dirty="0" err="1">
                          <a:effectLst/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en-US" sz="1800" dirty="0" err="1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 err="1">
                          <a:effectLst/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=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b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  <a:latin typeface="Times New Roman"/>
                          <a:ea typeface="Times New Roman"/>
                        </a:rPr>
                        <a:t>гиперп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62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/>
                          <a:ea typeface="Times New Roman"/>
                        </a:rPr>
                        <a:t>Ограничение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2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2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≥ b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,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полуплоскость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+a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1,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3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3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≥ b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полупространство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1,1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+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1,2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2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+…+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a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1,</a:t>
                      </a:r>
                      <a:r>
                        <a:rPr lang="en-US" sz="1800" baseline="-25000" dirty="0" err="1">
                          <a:effectLst/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en-US" sz="1800" dirty="0" err="1">
                          <a:effectLst/>
                          <a:latin typeface="Courier New"/>
                          <a:ea typeface="Times New Roman"/>
                        </a:rPr>
                        <a:t>x</a:t>
                      </a:r>
                      <a:r>
                        <a:rPr lang="en-US" sz="1800" baseline="-25000" dirty="0" err="1">
                          <a:effectLst/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en-US" sz="1800" baseline="-25000" dirty="0">
                          <a:effectLst/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Courier New"/>
                          <a:ea typeface="Times New Roman"/>
                        </a:rPr>
                        <a:t>≥ </a:t>
                      </a:r>
                      <a:r>
                        <a:rPr lang="en-US" sz="1800" dirty="0">
                          <a:effectLst/>
                          <a:latin typeface="Courier New"/>
                          <a:ea typeface="Times New Roman"/>
                        </a:rPr>
                        <a:t>b</a:t>
                      </a:r>
                      <a:r>
                        <a:rPr lang="ru-RU" sz="1800" baseline="-25000" dirty="0">
                          <a:effectLst/>
                          <a:latin typeface="Courier New"/>
                          <a:ea typeface="Times New Roman"/>
                        </a:rPr>
                        <a:t>1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/>
                          <a:ea typeface="Times New Roman"/>
                        </a:rPr>
                        <a:t>полугиперпространство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721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/>
                          <a:ea typeface="Times New Roman"/>
                        </a:rPr>
                        <a:t>Область допустимых решений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7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Многоугольник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/>
                          <a:ea typeface="Times New Roman"/>
                        </a:rPr>
                        <a:t>Многогранник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/>
                          <a:ea typeface="Times New Roman"/>
                        </a:rPr>
                        <a:t>Гипермногогранник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9441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Times New Roman"/>
                          <a:ea typeface="Times New Roman"/>
                        </a:rPr>
                        <a:t>Вершина образуется в результате пересечения… </a:t>
                      </a:r>
                      <a:endParaRPr lang="ru-RU" sz="1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90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двух прямых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трех плоскостей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N </a:t>
                      </a:r>
                      <a:r>
                        <a:rPr lang="ru-RU" sz="1800" dirty="0">
                          <a:effectLst/>
                          <a:latin typeface="Times New Roman"/>
                          <a:ea typeface="Times New Roman"/>
                        </a:rPr>
                        <a:t>гиперплоскостей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71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836712"/>
            <a:ext cx="648072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Вывод:</a:t>
            </a:r>
            <a:r>
              <a:rPr lang="ru-RU" dirty="0"/>
              <a:t> для того, чтобы получить вершину области допустимых решений, нужно:</a:t>
            </a:r>
          </a:p>
          <a:p>
            <a:r>
              <a:rPr lang="ru-RU" dirty="0"/>
              <a:t> 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из системы ограничений взять </a:t>
            </a:r>
            <a:r>
              <a:rPr lang="en-US" dirty="0"/>
              <a:t>N</a:t>
            </a:r>
            <a:r>
              <a:rPr lang="ru-RU" dirty="0"/>
              <a:t> ограничений (где </a:t>
            </a:r>
            <a:r>
              <a:rPr lang="en-US" dirty="0"/>
              <a:t>N</a:t>
            </a:r>
            <a:r>
              <a:rPr lang="ru-RU" dirty="0"/>
              <a:t> – количество неизвестных);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записать их со знаком </a:t>
            </a:r>
            <a:r>
              <a:rPr lang="ru-RU" dirty="0" smtClean="0"/>
              <a:t>равно</a:t>
            </a:r>
            <a:r>
              <a:rPr lang="ru-RU" dirty="0"/>
              <a:t>;</a:t>
            </a:r>
            <a:endParaRPr lang="ru-RU" dirty="0" smtClean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smtClean="0"/>
              <a:t>составить </a:t>
            </a:r>
            <a:r>
              <a:rPr lang="ru-RU" dirty="0"/>
              <a:t>систему линейных </a:t>
            </a:r>
            <a:r>
              <a:rPr lang="ru-RU" dirty="0" smtClean="0"/>
              <a:t>уравнений;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smtClean="0"/>
              <a:t>решить систему;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smtClean="0"/>
              <a:t>проверить</a:t>
            </a:r>
            <a:r>
              <a:rPr lang="ru-RU" b="1" dirty="0"/>
              <a:t>, является ли полученная точка вершиной (!!!)</a:t>
            </a:r>
            <a:r>
              <a:rPr lang="ru-RU" dirty="0"/>
              <a:t>. Для этого нужно подставить ее во все ограничения системы. Если она удовлетворяет всем ограничениям – это вершина.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Чтобы получить </a:t>
            </a:r>
            <a:r>
              <a:rPr lang="ru-RU" b="1" dirty="0"/>
              <a:t>все вершины</a:t>
            </a:r>
            <a:r>
              <a:rPr lang="ru-RU" dirty="0"/>
              <a:t>, нужно выполнить пункт 1 </a:t>
            </a:r>
            <a:r>
              <a:rPr lang="ru-RU" b="1" dirty="0"/>
              <a:t>всеми возможными способами</a:t>
            </a:r>
            <a:r>
              <a:rPr lang="ru-RU" dirty="0"/>
              <a:t>. Если </a:t>
            </a:r>
            <a:r>
              <a:rPr lang="en-US" dirty="0"/>
              <a:t>M </a:t>
            </a:r>
            <a:r>
              <a:rPr lang="ru-RU" dirty="0"/>
              <a:t>– число ограничений, </a:t>
            </a:r>
            <a:r>
              <a:rPr lang="en-US" dirty="0"/>
              <a:t>N</a:t>
            </a:r>
            <a:r>
              <a:rPr lang="ru-RU" dirty="0"/>
              <a:t> – число неизвестных, то число способов равно </a:t>
            </a:r>
          </a:p>
          <a:p>
            <a:endParaRPr lang="ru-R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405139"/>
              </p:ext>
            </p:extLst>
          </p:nvPr>
        </p:nvGraphicFramePr>
        <p:xfrm>
          <a:off x="3203848" y="5661248"/>
          <a:ext cx="2160240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3" imgW="1180588" imgH="431613" progId="Equation.3">
                  <p:embed/>
                </p:oleObj>
              </mc:Choice>
              <mc:Fallback>
                <p:oleObj name="Equation" r:id="rId3" imgW="1180588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5661248"/>
                        <a:ext cx="2160240" cy="79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967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8352928" cy="4623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10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6672"/>
            <a:ext cx="8064896" cy="54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200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404664"/>
            <a:ext cx="6120679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3208189"/>
            <a:ext cx="5940425" cy="315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414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9815"/>
            <a:ext cx="6066556" cy="613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420888"/>
            <a:ext cx="10375346" cy="244827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333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B0AEA32E65E94995565B0B65EA5F29" ma:contentTypeVersion="4" ma:contentTypeDescription="Создание документа." ma:contentTypeScope="" ma:versionID="7c965ccae3a1f444781a71e656121271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4270dc9ca96dc443d20df5ea72ba1a94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A5E177-B33D-4061-8354-5B98E4564E5D}"/>
</file>

<file path=customXml/itemProps2.xml><?xml version="1.0" encoding="utf-8"?>
<ds:datastoreItem xmlns:ds="http://schemas.openxmlformats.org/officeDocument/2006/customXml" ds:itemID="{79A733C8-43DA-4007-806A-D38EB955329D}"/>
</file>

<file path=customXml/itemProps3.xml><?xml version="1.0" encoding="utf-8"?>
<ds:datastoreItem xmlns:ds="http://schemas.openxmlformats.org/officeDocument/2006/customXml" ds:itemID="{E69D723D-C488-408E-B7F5-E6BE1D7CFFA7}"/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433</Words>
  <PresentationFormat>Экран (4:3)</PresentationFormat>
  <Paragraphs>80</Paragraphs>
  <Slides>16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Times New Roman</vt:lpstr>
      <vt:lpstr>Тема Office</vt:lpstr>
      <vt:lpstr>Equation</vt:lpstr>
      <vt:lpstr>МЕТОДЫ ОПТИМИЗАЦИИ и ИССЛЕДОВАНИЕ ОПЕРАЦИЙ</vt:lpstr>
      <vt:lpstr>История линейного программирования</vt:lpstr>
      <vt:lpstr>Презентация PowerPoint</vt:lpstr>
      <vt:lpstr>Презентация PowerPoint</vt:lpstr>
      <vt:lpstr>Презентация PowerPoint</vt:lpstr>
      <vt:lpstr>ПЕРЕБОРНЫЙ МЕТОД РЕШЕНИЯ ЗАДАЧИ ЛИНЕЙНОГО ПРОГРАММИРОВАНИЯ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2015-09-10T05:48:00Z</dcterms:created>
  <dcterms:modified xsi:type="dcterms:W3CDTF">2021-09-05T17:52:38Z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0x01010070B0AEA32E65E94995565B0B65EA5F29</vt:lpwstr>
  </property>
  <property fmtid="{D5CDD505-2E9C-101B-9397-08002B2CF9AE}" pid="3" name="MediaServiceImageTags">
    <vt:lpwstr/>
  </property>
</Properties>
</file>