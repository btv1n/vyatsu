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82" r:id="rId3"/>
    <p:sldId id="266" r:id="rId4"/>
    <p:sldId id="267" r:id="rId5"/>
    <p:sldId id="283" r:id="rId6"/>
    <p:sldId id="269" r:id="rId7"/>
    <p:sldId id="268" r:id="rId8"/>
    <p:sldId id="270" r:id="rId9"/>
    <p:sldId id="284" r:id="rId10"/>
    <p:sldId id="271" r:id="rId11"/>
    <p:sldId id="275" r:id="rId12"/>
    <p:sldId id="272" r:id="rId13"/>
    <p:sldId id="273" r:id="rId14"/>
    <p:sldId id="274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797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27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22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07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30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09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66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4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57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47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7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19364-6B93-4924-9F1C-D25CD7FBEC24}" type="datetimeFigureOut">
              <a:rPr lang="ru-RU" smtClean="0"/>
              <a:t>вс 19.09.21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64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7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27355" y="1175455"/>
            <a:ext cx="6858000" cy="2270138"/>
          </a:xfrm>
        </p:spPr>
        <p:txBody>
          <a:bodyPr/>
          <a:lstStyle/>
          <a:p>
            <a:pPr eaLnBrk="1" hangingPunct="1"/>
            <a:r>
              <a:rPr lang="ru-RU" altLang="ru-RU" b="1" dirty="0" smtClean="0"/>
              <a:t>МЕТОДЫ ОПТИМИЗАЦИИ</a:t>
            </a:r>
            <a:br>
              <a:rPr lang="ru-RU" altLang="ru-RU" b="1" dirty="0" smtClean="0"/>
            </a:br>
            <a:r>
              <a:rPr lang="ru-RU" altLang="ru-RU" b="1" dirty="0" smtClean="0"/>
              <a:t>и ИССЛЕДОВАНИЕ ОПЕРАЦИЙ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12418" y="3380952"/>
            <a:ext cx="4514850" cy="1314450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ru-RU" altLang="ru-RU" dirty="0" smtClean="0"/>
              <a:t>Лекция 2. Линейное программирование. Переборный и симплекс-метод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83" y="3396277"/>
            <a:ext cx="4520487" cy="259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82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4"/>
          <p:cNvSpPr>
            <a:spLocks noGrp="1"/>
          </p:cNvSpPr>
          <p:nvPr>
            <p:ph type="title"/>
          </p:nvPr>
        </p:nvSpPr>
        <p:spPr>
          <a:xfrm>
            <a:off x="722312" y="3717032"/>
            <a:ext cx="8098159" cy="205194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dirty="0" smtClean="0"/>
              <a:t>СИМПЛЕКС-МЕТОД РЕШЕНИЯ ЗАДАЧИ ЛИНЕЙНОГО </a:t>
            </a:r>
            <a:r>
              <a:rPr lang="ru-RU" altLang="ru-RU" dirty="0" smtClean="0"/>
              <a:t>ПРОГРАММИРОВАНИЯ. Одноэтапный симплекс-метод</a:t>
            </a:r>
            <a:endParaRPr lang="ru-RU" altLang="ru-RU" dirty="0" smtClean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526966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6672"/>
            <a:ext cx="8159865" cy="4531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17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8880309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64" y="2942588"/>
            <a:ext cx="8811124" cy="2879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891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340768"/>
                <a:ext cx="81369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 smtClean="0"/>
                  <a:t>Дана задача линейного программирования:</a:t>
                </a:r>
              </a:p>
              <a:p>
                <a:r>
                  <a:rPr lang="ru-RU" dirty="0" smtClean="0"/>
                  <a:t>Найти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𝑚𝑎𝑥</m:t>
                    </m:r>
                  </m:oMath>
                </a14:m>
                <a:endParaRPr lang="en-US" dirty="0" smtClean="0"/>
              </a:p>
              <a:p>
                <a:r>
                  <a:rPr lang="ru-RU" dirty="0" smtClean="0"/>
                  <a:t>При ограничениях</a:t>
                </a:r>
                <a:endParaRPr lang="ru-R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340768"/>
                <a:ext cx="8136904" cy="923330"/>
              </a:xfrm>
              <a:prstGeom prst="rect">
                <a:avLst/>
              </a:prstGeom>
              <a:blipFill>
                <a:blip r:embed="rId3"/>
                <a:stretch>
                  <a:fillRect l="-599" t="-3974" b="-99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827584" y="226409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383381"/>
              </p:ext>
            </p:extLst>
          </p:nvPr>
        </p:nvGraphicFramePr>
        <p:xfrm>
          <a:off x="699966" y="2132483"/>
          <a:ext cx="1408112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Уравнение" r:id="rId4" imgW="1054080" imgH="939600" progId="Equation.3">
                  <p:embed/>
                </p:oleObj>
              </mc:Choice>
              <mc:Fallback>
                <p:oleObj name="Уравнение" r:id="rId4" imgW="105408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66" y="2132483"/>
                        <a:ext cx="1408112" cy="1254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802360" y="3264860"/>
                <a:ext cx="8595173" cy="2031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altLang="ru-RU" dirty="0" smtClean="0"/>
                  <a:t>Приведем эту задачу к стандартному виду. </a:t>
                </a:r>
                <a:r>
                  <a:rPr lang="ru-RU" altLang="ru-RU" dirty="0" smtClean="0"/>
                  <a:t>Для этого целевую функцию умножим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u-RU" altLang="ru-RU" dirty="0" smtClean="0"/>
                  <a:t>на -1. Для перехода от неравенств к равенствам введем вспомогательные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dirty="0" smtClean="0"/>
                  <a:t>переменные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altLang="ru-R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altLang="ru-RU" dirty="0" smtClean="0"/>
                  <a:t>. Первое уравнение умножим на -1, чтобы его правая часть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dirty="0" smtClean="0"/>
                  <a:t>Стала положительной. Получили стандартный вид. </a:t>
                </a:r>
                <a:r>
                  <a:rPr lang="ru-RU" altLang="ru-RU" dirty="0" smtClean="0"/>
                  <a:t>Этот </a:t>
                </a:r>
                <a:r>
                  <a:rPr lang="ru-RU" altLang="ru-RU" dirty="0" smtClean="0"/>
                  <a:t>вид является каноническим.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dirty="0" smtClean="0"/>
                  <a:t>Базисные переменные: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altLang="ru-RU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ru-RU" altLang="ru-RU" dirty="0" smtClean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altLang="ru-RU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2360" y="3264860"/>
                <a:ext cx="8595173" cy="2031325"/>
              </a:xfrm>
              <a:prstGeom prst="rect">
                <a:avLst/>
              </a:prstGeom>
              <a:blipFill>
                <a:blip r:embed="rId6"/>
                <a:stretch>
                  <a:fillRect l="-638" t="-120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330382"/>
              </p:ext>
            </p:extLst>
          </p:nvPr>
        </p:nvGraphicFramePr>
        <p:xfrm>
          <a:off x="827584" y="4941168"/>
          <a:ext cx="2257472" cy="1757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Уравнение" r:id="rId7" imgW="1206500" imgH="939800" progId="Equation.3">
                  <p:embed/>
                </p:oleObj>
              </mc:Choice>
              <mc:Fallback>
                <p:oleObj name="Уравнение" r:id="rId7" imgW="1206500" imgH="93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941168"/>
                        <a:ext cx="2257472" cy="1757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700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43122"/>
            <a:ext cx="8388424" cy="3030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945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/>
          <p:nvPr/>
        </p:nvCxnSpPr>
        <p:spPr>
          <a:xfrm>
            <a:off x="1187624" y="4869160"/>
            <a:ext cx="66247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/>
          <p:nvPr/>
        </p:nvCxnSpPr>
        <p:spPr>
          <a:xfrm flipV="1">
            <a:off x="1187624" y="764704"/>
            <a:ext cx="0" cy="41044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1187624" y="1988840"/>
            <a:ext cx="0" cy="288032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187624" y="4869160"/>
            <a:ext cx="122413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2411760" y="3392996"/>
            <a:ext cx="2880320" cy="14761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1187624" y="1988840"/>
            <a:ext cx="26642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>
            <a:off x="3851920" y="1988840"/>
            <a:ext cx="1440160" cy="14041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99592" y="483545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611560" y="162880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3779912" y="170080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5292080" y="321297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267744" y="481468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60648"/>
            <a:ext cx="604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Область допустимых решений представляет собой многоугольник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446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01" y="1772816"/>
            <a:ext cx="8603032" cy="278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365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/>
          <a:srcRect b="1675"/>
          <a:stretch/>
        </p:blipFill>
        <p:spPr>
          <a:xfrm>
            <a:off x="179237" y="641649"/>
            <a:ext cx="8982075" cy="29313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3568" y="272317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Анализ таблицы</a:t>
            </a:r>
            <a:endParaRPr lang="ru-RU" b="1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86" y="3789040"/>
            <a:ext cx="8410575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5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11560" y="1015463"/>
            <a:ext cx="741682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Алгоритм одноэтапного </a:t>
            </a:r>
            <a:r>
              <a:rPr lang="ru-RU" sz="2800" b="1" dirty="0" smtClean="0"/>
              <a:t>симплекс-метода</a:t>
            </a:r>
            <a:endParaRPr lang="en-US" sz="2800" b="1" dirty="0" smtClean="0"/>
          </a:p>
          <a:p>
            <a:endParaRPr lang="ru-RU" sz="2800" b="1" dirty="0"/>
          </a:p>
          <a:p>
            <a:r>
              <a:rPr lang="ru-RU" sz="2800" dirty="0"/>
              <a:t>Одноэтапный симплекс-метод применяется к задачам, записанным в канонической форме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endParaRPr lang="en-US" sz="2800" dirty="0"/>
          </a:p>
          <a:p>
            <a:r>
              <a:rPr lang="ru-RU" sz="2800" dirty="0" smtClean="0"/>
              <a:t>Если после приведения к стандартному виду получен вид не канонический – применяем </a:t>
            </a:r>
            <a:r>
              <a:rPr lang="ru-RU" sz="2800" b="1" dirty="0" smtClean="0"/>
              <a:t>двухэтапный симплекс-метод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02494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1052736"/>
            <a:ext cx="727280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ru-RU" sz="2800" b="1" dirty="0"/>
              <a:t>Основная идея СМ</a:t>
            </a:r>
            <a:r>
              <a:rPr lang="ru-RU" sz="2800" dirty="0"/>
              <a:t>: от имеющегося БР (вершины) перейти к другому БР (соседней вершине), чтобы при этом значение целевой функции </a:t>
            </a:r>
            <a:r>
              <a:rPr lang="ru-RU" sz="2800" dirty="0" smtClean="0"/>
              <a:t>уменьшилось.</a:t>
            </a:r>
          </a:p>
          <a:p>
            <a:pPr algn="just">
              <a:lnSpc>
                <a:spcPct val="150000"/>
              </a:lnSpc>
            </a:pPr>
            <a:r>
              <a:rPr lang="ru-RU" sz="2800" dirty="0" smtClean="0"/>
              <a:t>Будем проходить не по всем вершинам (как в переборном методе)!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97204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908720"/>
            <a:ext cx="69127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/>
              <a:t>0 шаг.</a:t>
            </a:r>
            <a:r>
              <a:rPr lang="ru-RU" sz="2800" dirty="0"/>
              <a:t> Убедиться, что задача записана в каноническом виде. Выразить целевую функцию через нулевые переменные</a:t>
            </a:r>
            <a:r>
              <a:rPr lang="ru-RU" sz="2800" dirty="0" smtClean="0"/>
              <a:t>.</a:t>
            </a:r>
          </a:p>
          <a:p>
            <a:pPr algn="just"/>
            <a:endParaRPr lang="ru-RU" sz="2800" dirty="0"/>
          </a:p>
          <a:p>
            <a:pPr algn="just"/>
            <a:r>
              <a:rPr lang="ru-RU" sz="2800" b="1" dirty="0"/>
              <a:t>1 шаг.</a:t>
            </a:r>
            <a:r>
              <a:rPr lang="ru-RU" sz="2800" dirty="0"/>
              <a:t> Выписать полученное допустимое базисное решение, найти значение целевой функции. Если среди коэффициентов целевой функции нет отрицательных – решение оптимально. Если отрицательные есть – иди к шагу 2.</a:t>
            </a:r>
          </a:p>
        </p:txBody>
      </p:sp>
    </p:spTree>
    <p:extLst>
      <p:ext uri="{BB962C8B-B14F-4D97-AF65-F5344CB8AC3E}">
        <p14:creationId xmlns:p14="http://schemas.microsoft.com/office/powerpoint/2010/main" val="2799818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33054" y="335340"/>
            <a:ext cx="7011353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/>
              <a:t>2 шаг.</a:t>
            </a:r>
            <a:r>
              <a:rPr lang="ru-RU" sz="2800" dirty="0"/>
              <a:t> Выбираем </a:t>
            </a:r>
            <a:r>
              <a:rPr lang="ru-RU" sz="2800" b="1" dirty="0"/>
              <a:t>ведущий столбец</a:t>
            </a:r>
            <a:r>
              <a:rPr lang="ru-RU" sz="2800" dirty="0"/>
              <a:t>: среди отрицательных коэффициентов целевой функции выбираем наибольший по модулю</a:t>
            </a:r>
            <a:r>
              <a:rPr lang="ru-RU" sz="2800" dirty="0" smtClean="0"/>
              <a:t>.</a:t>
            </a:r>
          </a:p>
          <a:p>
            <a:pPr algn="just"/>
            <a:r>
              <a:rPr lang="ru-RU" sz="2800" dirty="0" smtClean="0"/>
              <a:t>Переменную, соответствующую выбран-ному столбцу, будем вводить в базис.</a:t>
            </a:r>
          </a:p>
          <a:p>
            <a:pPr algn="just"/>
            <a:endParaRPr lang="ru-RU" sz="2800" dirty="0"/>
          </a:p>
          <a:p>
            <a:pPr algn="just"/>
            <a:r>
              <a:rPr lang="ru-RU" sz="2800" b="1" dirty="0"/>
              <a:t>3 шаг.</a:t>
            </a:r>
            <a:r>
              <a:rPr lang="ru-RU" sz="2800" dirty="0"/>
              <a:t> Выбираем </a:t>
            </a:r>
            <a:r>
              <a:rPr lang="ru-RU" sz="2800" b="1" dirty="0"/>
              <a:t>ведущую строку</a:t>
            </a:r>
            <a:r>
              <a:rPr lang="ru-RU" sz="2800" dirty="0"/>
              <a:t>. Для этого составляем отношения правых частей уравнений к элементам ведущего столбца, среди </a:t>
            </a:r>
            <a:r>
              <a:rPr lang="ru-RU" sz="2800" i="1" dirty="0"/>
              <a:t>неотрицательных</a:t>
            </a:r>
            <a:r>
              <a:rPr lang="ru-RU" sz="2800" dirty="0"/>
              <a:t>  отношений выбираем наименьшее. Соответствующая ему строка будет </a:t>
            </a:r>
            <a:r>
              <a:rPr lang="ru-RU" sz="2800" dirty="0" smtClean="0"/>
              <a:t>ведущей (переменная выйдет из базиса). </a:t>
            </a:r>
            <a:r>
              <a:rPr lang="ru-RU" sz="2800" dirty="0"/>
              <a:t>Если ведущую строку выбрать невозможно – целевая функция не ограничена  (</a:t>
            </a:r>
            <a:r>
              <a:rPr lang="en-US" sz="2800" i="1" dirty="0" err="1"/>
              <a:t>f</a:t>
            </a:r>
            <a:r>
              <a:rPr lang="en-US" sz="2800" i="1" baseline="-25000" dirty="0" err="1"/>
              <a:t>min</a:t>
            </a:r>
            <a:r>
              <a:rPr lang="ru-RU" sz="2800" i="1" dirty="0"/>
              <a:t> = -</a:t>
            </a:r>
            <a:r>
              <a:rPr lang="ru-RU" sz="2800" i="1" dirty="0">
                <a:sym typeface="Symbol"/>
              </a:rPr>
              <a:t></a:t>
            </a:r>
            <a:r>
              <a:rPr lang="ru-RU" sz="2800" i="1" dirty="0"/>
              <a:t>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43047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15616" y="302359"/>
            <a:ext cx="705678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/>
              <a:t>4 шаг.</a:t>
            </a:r>
            <a:r>
              <a:rPr lang="ru-RU" sz="2800" dirty="0"/>
              <a:t> На пересечении ведущей строки и ведущего столбца получить единицу, поделив ведущую строку на соответствующий коэффициент. Исключить переменную ведущего столбца из всех остальных уравнений и из целевой функции. Для этого из уравнений нужно вычитать ведущую строку, умноженную на нужный коэффициент</a:t>
            </a:r>
            <a:r>
              <a:rPr lang="ru-RU" sz="2800" dirty="0" smtClean="0"/>
              <a:t>.</a:t>
            </a:r>
          </a:p>
          <a:p>
            <a:pPr algn="just"/>
            <a:endParaRPr lang="ru-RU" sz="2800" dirty="0"/>
          </a:p>
          <a:p>
            <a:pPr algn="just"/>
            <a:r>
              <a:rPr lang="ru-RU" sz="2800" b="1" dirty="0"/>
              <a:t>5 шаг</a:t>
            </a:r>
            <a:r>
              <a:rPr lang="ru-RU" sz="2800" dirty="0"/>
              <a:t>. Перейти к шагу 1.</a:t>
            </a:r>
          </a:p>
        </p:txBody>
      </p:sp>
    </p:spTree>
    <p:extLst>
      <p:ext uri="{BB962C8B-B14F-4D97-AF65-F5344CB8AC3E}">
        <p14:creationId xmlns:p14="http://schemas.microsoft.com/office/powerpoint/2010/main" val="34783619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B0AEA32E65E94995565B0B65EA5F29" ma:contentTypeVersion="4" ma:contentTypeDescription="Создание документа." ma:contentTypeScope="" ma:versionID="7c965ccae3a1f444781a71e656121271">
  <xsd:schema xmlns:xsd="http://www.w3.org/2001/XMLSchema" xmlns:xs="http://www.w3.org/2001/XMLSchema" xmlns:p="http://schemas.microsoft.com/office/2006/metadata/properties" xmlns:ns2="22acfdec-9ce1-4ae7-873a-8b443fedbaba" targetNamespace="http://schemas.microsoft.com/office/2006/metadata/properties" ma:root="true" ma:fieldsID="4270dc9ca96dc443d20df5ea72ba1a94" ns2:_="">
    <xsd:import namespace="22acfdec-9ce1-4ae7-873a-8b443fedba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cfdec-9ce1-4ae7-873a-8b443fedba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1147CE-5E1B-45E5-BB37-5EB6B2B602DB}"/>
</file>

<file path=customXml/itemProps2.xml><?xml version="1.0" encoding="utf-8"?>
<ds:datastoreItem xmlns:ds="http://schemas.openxmlformats.org/officeDocument/2006/customXml" ds:itemID="{BD168A69-7AF0-414F-8EB5-956A8F5C7060}"/>
</file>

<file path=customXml/itemProps3.xml><?xml version="1.0" encoding="utf-8"?>
<ds:datastoreItem xmlns:ds="http://schemas.openxmlformats.org/officeDocument/2006/customXml" ds:itemID="{D4B8229F-F754-4654-AFA8-B52242574520}"/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320</Words>
  <PresentationFormat>Экран (4:3)</PresentationFormat>
  <Paragraphs>37</Paragraphs>
  <Slides>14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Symbol</vt:lpstr>
      <vt:lpstr>Тема Office</vt:lpstr>
      <vt:lpstr>Уравнение</vt:lpstr>
      <vt:lpstr>МЕТОДЫ ОПТИМИЗАЦИИ и ИССЛЕДОВАНИЕ ОПЕРАЦИЙ</vt:lpstr>
      <vt:lpstr>СИМПЛЕКС-МЕТОД РЕШЕНИЯ ЗАДАЧИ ЛИНЕЙНОГО ПРОГРАММИРОВАНИЯ. Одноэтапный симплекс-метод</vt:lpstr>
      <vt:lpstr>Презентация PowerPoint</vt:lpstr>
      <vt:lpstr>Презентация PowerPoint</vt:lpstr>
      <vt:lpstr>Пример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2015-09-10T05:48:00Z</dcterms:created>
  <dcterms:modified xsi:type="dcterms:W3CDTF">2021-09-19T16:40:31Z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0x01010070B0AEA32E65E94995565B0B65EA5F29</vt:lpwstr>
  </property>
  <property fmtid="{D5CDD505-2E9C-101B-9397-08002B2CF9AE}" pid="3" name="MediaServiceImageTags">
    <vt:lpwstr/>
  </property>
</Properties>
</file>