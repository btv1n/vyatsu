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82" r:id="rId6"/>
    <p:sldId id="267" r:id="rId7"/>
    <p:sldId id="285" r:id="rId8"/>
    <p:sldId id="286" r:id="rId9"/>
    <p:sldId id="288" r:id="rId10"/>
    <p:sldId id="287" r:id="rId11"/>
    <p:sldId id="289" r:id="rId12"/>
    <p:sldId id="290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27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22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07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30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09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66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57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47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7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19364-6B93-4924-9F1C-D25CD7FBEC24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4D148-FB2A-44EE-8C99-3B55915E99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64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image" Target="../media/image9.png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6.wmf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png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27355" y="1175455"/>
            <a:ext cx="6858000" cy="2270138"/>
          </a:xfrm>
        </p:spPr>
        <p:txBody>
          <a:bodyPr/>
          <a:lstStyle/>
          <a:p>
            <a:pPr eaLnBrk="1" hangingPunct="1"/>
            <a:r>
              <a:rPr lang="ru-RU" altLang="ru-RU" b="1" dirty="0"/>
              <a:t>МЕТОДЫ ОПТИМИЗАЦИИ</a:t>
            </a:r>
            <a:br>
              <a:rPr lang="ru-RU" altLang="ru-RU" b="1" dirty="0"/>
            </a:br>
            <a:r>
              <a:rPr lang="ru-RU" altLang="ru-RU" b="1" dirty="0"/>
              <a:t>и ИССЛЕДОВАНИЕ ОПЕРАЦИЙ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12418" y="3380952"/>
            <a:ext cx="4514850" cy="131445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dirty="0"/>
              <a:t>Лекция 2. Двухэтапный </a:t>
            </a:r>
          </a:p>
          <a:p>
            <a:pPr eaLnBrk="1" hangingPunct="1"/>
            <a:r>
              <a:rPr lang="ru-RU" altLang="ru-RU" dirty="0"/>
              <a:t>симплекс-метод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3" y="3396277"/>
            <a:ext cx="4520487" cy="259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8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4"/>
          <p:cNvSpPr>
            <a:spLocks noGrp="1"/>
          </p:cNvSpPr>
          <p:nvPr>
            <p:ph type="title"/>
          </p:nvPr>
        </p:nvSpPr>
        <p:spPr>
          <a:xfrm>
            <a:off x="722312" y="3717032"/>
            <a:ext cx="8098159" cy="205194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dirty="0"/>
              <a:t>СИМПЛЕКС-МЕТОД РЕШЕНИЯ ЗАДАЧИ ЛИНЕЙНОГО ПРОГРАММИРОВАНИЯ. Двухэтапный симплекс-метод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96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63CAE-4953-45CC-9E8E-0107C9D36706}"/>
              </a:ext>
            </a:extLst>
          </p:cNvPr>
          <p:cNvSpPr txBox="1"/>
          <p:nvPr/>
        </p:nvSpPr>
        <p:spPr>
          <a:xfrm>
            <a:off x="899592" y="692696"/>
            <a:ext cx="74168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Если задача линейного программирования записана в стандартном виде, который не является каноническим (т.е. не в каждом ограничении-равенстве есть базисная переменная), то использовать одноэтапный симплекс-метод нельзя!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891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63CAE-4953-45CC-9E8E-0107C9D36706}"/>
              </a:ext>
            </a:extLst>
          </p:cNvPr>
          <p:cNvSpPr txBox="1"/>
          <p:nvPr/>
        </p:nvSpPr>
        <p:spPr>
          <a:xfrm>
            <a:off x="755576" y="1268760"/>
            <a:ext cx="741682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1 этап – приведение к каноническому виду, нахождение начального допустимого базисного решения (НДБР).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dirty="0"/>
              <a:t>2 этап – решение полученной канонической </a:t>
            </a:r>
            <a:r>
              <a:rPr lang="ru-RU" sz="2400"/>
              <a:t>задачи одноэтапным </a:t>
            </a:r>
            <a:r>
              <a:rPr lang="ru-RU" sz="2400" dirty="0"/>
              <a:t>симплекс-методом</a:t>
            </a:r>
          </a:p>
          <a:p>
            <a:endParaRPr lang="ru-RU" dirty="0"/>
          </a:p>
          <a:p>
            <a:pPr algn="just"/>
            <a:r>
              <a:rPr lang="ru-RU" sz="2400" b="1" i="1" dirty="0"/>
              <a:t>Замечание</a:t>
            </a:r>
            <a:r>
              <a:rPr lang="ru-RU" sz="2400" dirty="0"/>
              <a:t>: если НДБР на 1 этапе найти не удалось, то это означает, что область допустимых решений пуста, т.е. ограничения задачи противоречивы, поэтому решения у ЗЛП нет.</a:t>
            </a:r>
          </a:p>
          <a:p>
            <a:r>
              <a:rPr lang="ru-RU" dirty="0"/>
              <a:t>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B88EDE3-13B3-4F4F-AB0C-C5FF17286F90}"/>
              </a:ext>
            </a:extLst>
          </p:cNvPr>
          <p:cNvSpPr txBox="1">
            <a:spLocks/>
          </p:cNvSpPr>
          <p:nvPr/>
        </p:nvSpPr>
        <p:spPr>
          <a:xfrm>
            <a:off x="395536" y="26064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Двухэтапный СМ</a:t>
            </a:r>
          </a:p>
        </p:txBody>
      </p:sp>
    </p:spTree>
    <p:extLst>
      <p:ext uri="{BB962C8B-B14F-4D97-AF65-F5344CB8AC3E}">
        <p14:creationId xmlns:p14="http://schemas.microsoft.com/office/powerpoint/2010/main" val="44500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63CAE-4953-45CC-9E8E-0107C9D36706}"/>
              </a:ext>
            </a:extLst>
          </p:cNvPr>
          <p:cNvSpPr txBox="1"/>
          <p:nvPr/>
        </p:nvSpPr>
        <p:spPr>
          <a:xfrm>
            <a:off x="755576" y="1268760"/>
            <a:ext cx="7416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Алгебраическими преобразованиями: выбрать переменные и сделать их базисными, исключив из остальных уравнений. </a:t>
            </a:r>
            <a:r>
              <a:rPr lang="ru-RU" b="1" i="1" dirty="0">
                <a:solidFill>
                  <a:srgbClr val="0070C0"/>
                </a:solidFill>
              </a:rPr>
              <a:t>Проблема – могут появиться отрицательные числа в правой части равенств.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М-метод. </a:t>
            </a:r>
            <a:r>
              <a:rPr lang="ru-RU" b="1" i="1" dirty="0">
                <a:solidFill>
                  <a:srgbClr val="0070C0"/>
                </a:solidFill>
              </a:rPr>
              <a:t>Проблема – плохо алгоритмизируется.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Метод искусственного базиса (составление и решение вспомогательной задачи).</a:t>
            </a:r>
          </a:p>
          <a:p>
            <a:endParaRPr lang="ru-RU" dirty="0"/>
          </a:p>
          <a:p>
            <a:pPr algn="just"/>
            <a:r>
              <a:rPr lang="ru-RU" dirty="0"/>
              <a:t>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B88EDE3-13B3-4F4F-AB0C-C5FF17286F90}"/>
              </a:ext>
            </a:extLst>
          </p:cNvPr>
          <p:cNvSpPr txBox="1">
            <a:spLocks/>
          </p:cNvSpPr>
          <p:nvPr/>
        </p:nvSpPr>
        <p:spPr>
          <a:xfrm>
            <a:off x="457200" y="26064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Приведение к каноническому виду </a:t>
            </a:r>
            <a:br>
              <a:rPr lang="ru-RU" sz="3600" dirty="0"/>
            </a:br>
            <a:r>
              <a:rPr lang="ru-RU" sz="3600" dirty="0"/>
              <a:t>(1 этап)</a:t>
            </a:r>
          </a:p>
        </p:txBody>
      </p:sp>
    </p:spTree>
    <p:extLst>
      <p:ext uri="{BB962C8B-B14F-4D97-AF65-F5344CB8AC3E}">
        <p14:creationId xmlns:p14="http://schemas.microsoft.com/office/powerpoint/2010/main" val="213635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63CAE-4953-45CC-9E8E-0107C9D36706}"/>
              </a:ext>
            </a:extLst>
          </p:cNvPr>
          <p:cNvSpPr txBox="1"/>
          <p:nvPr/>
        </p:nvSpPr>
        <p:spPr>
          <a:xfrm>
            <a:off x="755576" y="1268760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Дана ЗЛП в стандартном не каноническом виде</a:t>
            </a:r>
          </a:p>
          <a:p>
            <a:endParaRPr lang="ru-RU" dirty="0"/>
          </a:p>
          <a:p>
            <a:pPr algn="just"/>
            <a:r>
              <a:rPr lang="ru-RU" dirty="0"/>
              <a:t>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B88EDE3-13B3-4F4F-AB0C-C5FF17286F90}"/>
              </a:ext>
            </a:extLst>
          </p:cNvPr>
          <p:cNvSpPr txBox="1">
            <a:spLocks/>
          </p:cNvSpPr>
          <p:nvPr/>
        </p:nvSpPr>
        <p:spPr>
          <a:xfrm>
            <a:off x="457200" y="26064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Вспомогательная задача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Объект 17">
                <a:extLst>
                  <a:ext uri="{FF2B5EF4-FFF2-40B4-BE49-F238E27FC236}">
                    <a16:creationId xmlns:a16="http://schemas.microsoft.com/office/drawing/2014/main" id="{95284777-4E62-4003-B63F-FC7AB942260A}"/>
                  </a:ext>
                </a:extLst>
              </p:cNvPr>
              <p:cNvSpPr txBox="1"/>
              <p:nvPr/>
            </p:nvSpPr>
            <p:spPr bwMode="auto">
              <a:xfrm>
                <a:off x="668338" y="1906588"/>
                <a:ext cx="5127625" cy="4397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ru-RU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/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Объект 17">
                <a:extLst>
                  <a:ext uri="{FF2B5EF4-FFF2-40B4-BE49-F238E27FC236}">
                    <a16:creationId xmlns:a16="http://schemas.microsoft.com/office/drawing/2014/main" id="{95284777-4E62-4003-B63F-FC7AB9422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8338" y="1906588"/>
                <a:ext cx="5127625" cy="439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EEF86BD6-A62E-4EE9-ADEC-53DE4D9963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688" y="2328292"/>
          <a:ext cx="262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4" r:id="rId4" imgW="1790700" imgH="228600" progId="Equation.3">
                  <p:embed/>
                </p:oleObj>
              </mc:Choice>
              <mc:Fallback>
                <p:oleObj r:id="rId4" imgW="1790700" imgH="228600" progId="Equation.3">
                  <p:embed/>
                  <p:pic>
                    <p:nvPicPr>
                      <p:cNvPr id="19" name="Объект 18">
                        <a:extLst>
                          <a:ext uri="{FF2B5EF4-FFF2-40B4-BE49-F238E27FC236}">
                            <a16:creationId xmlns:a16="http://schemas.microsoft.com/office/drawing/2014/main" id="{EEF86BD6-A62E-4EE9-ADEC-53DE4D9963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328292"/>
                        <a:ext cx="2628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Объект 19">
            <a:extLst>
              <a:ext uri="{FF2B5EF4-FFF2-40B4-BE49-F238E27FC236}">
                <a16:creationId xmlns:a16="http://schemas.microsoft.com/office/drawing/2014/main" id="{240156D2-EE2C-4690-B650-7D487A2FF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688" y="2671192"/>
          <a:ext cx="270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5" r:id="rId6" imgW="1841500" imgH="228600" progId="Equation.3">
                  <p:embed/>
                </p:oleObj>
              </mc:Choice>
              <mc:Fallback>
                <p:oleObj r:id="rId6" imgW="1841500" imgH="228600" progId="Equation.3">
                  <p:embed/>
                  <p:pic>
                    <p:nvPicPr>
                      <p:cNvPr id="20" name="Объект 19">
                        <a:extLst>
                          <a:ext uri="{FF2B5EF4-FFF2-40B4-BE49-F238E27FC236}">
                            <a16:creationId xmlns:a16="http://schemas.microsoft.com/office/drawing/2014/main" id="{240156D2-EE2C-4690-B650-7D487A2FFB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71192"/>
                        <a:ext cx="2705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>
            <a:extLst>
              <a:ext uri="{FF2B5EF4-FFF2-40B4-BE49-F238E27FC236}">
                <a16:creationId xmlns:a16="http://schemas.microsoft.com/office/drawing/2014/main" id="{A0845675-F834-4C0D-9773-5C12D2E50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786064"/>
              </p:ext>
            </p:extLst>
          </p:nvPr>
        </p:nvGraphicFramePr>
        <p:xfrm>
          <a:off x="1771763" y="3238327"/>
          <a:ext cx="281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r:id="rId8" imgW="1917700" imgH="228600" progId="Equation.3">
                  <p:embed/>
                </p:oleObj>
              </mc:Choice>
              <mc:Fallback>
                <p:oleObj r:id="rId8" imgW="1917700" imgH="228600" progId="Equation.3">
                  <p:embed/>
                  <p:pic>
                    <p:nvPicPr>
                      <p:cNvPr id="21" name="Объект 20">
                        <a:extLst>
                          <a:ext uri="{FF2B5EF4-FFF2-40B4-BE49-F238E27FC236}">
                            <a16:creationId xmlns:a16="http://schemas.microsoft.com/office/drawing/2014/main" id="{A0845675-F834-4C0D-9773-5C12D2E50A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763" y="3238327"/>
                        <a:ext cx="2819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>
            <a:extLst>
              <a:ext uri="{FF2B5EF4-FFF2-40B4-BE49-F238E27FC236}">
                <a16:creationId xmlns:a16="http://schemas.microsoft.com/office/drawing/2014/main" id="{0D52C61C-040C-4BF3-9A42-352B5DEDFC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735466"/>
              </p:ext>
            </p:extLst>
          </p:nvPr>
        </p:nvGraphicFramePr>
        <p:xfrm>
          <a:off x="1763688" y="3451636"/>
          <a:ext cx="195103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r:id="rId10" imgW="1129810" imgH="355446" progId="Equation.3">
                  <p:embed/>
                </p:oleObj>
              </mc:Choice>
              <mc:Fallback>
                <p:oleObj r:id="rId10" imgW="1129810" imgH="355446" progId="Equation.3">
                  <p:embed/>
                  <p:pic>
                    <p:nvPicPr>
                      <p:cNvPr id="22" name="Объект 21">
                        <a:extLst>
                          <a:ext uri="{FF2B5EF4-FFF2-40B4-BE49-F238E27FC236}">
                            <a16:creationId xmlns:a16="http://schemas.microsoft.com/office/drawing/2014/main" id="{0D52C61C-040C-4BF3-9A42-352B5DEDF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51636"/>
                        <a:ext cx="1951038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17">
            <a:extLst>
              <a:ext uri="{FF2B5EF4-FFF2-40B4-BE49-F238E27FC236}">
                <a16:creationId xmlns:a16="http://schemas.microsoft.com/office/drawing/2014/main" id="{7AC74264-94EE-4E3F-9CB8-E28DFC358908}"/>
              </a:ext>
            </a:extLst>
          </p:cNvPr>
          <p:cNvSpPr>
            <a:spLocks/>
          </p:cNvSpPr>
          <p:nvPr/>
        </p:nvSpPr>
        <p:spPr bwMode="auto">
          <a:xfrm>
            <a:off x="1231875" y="2375917"/>
            <a:ext cx="77788" cy="1555750"/>
          </a:xfrm>
          <a:prstGeom prst="leftBrace">
            <a:avLst>
              <a:gd name="adj1" fmla="val 166666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3952D73C-6C93-4931-AF86-EF4778E8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158216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4510CE82-DCBB-4526-952B-4967D8B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9227CB27-1B84-4261-9F41-A8A2374A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51F63E09-0A4C-4787-A705-28143720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671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FF971BC2-60C0-4BA9-A191-C46B885C0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21" y="3182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80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…………………………………………….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58C661DE-F093-4D96-8F45-6A69D54E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33569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4BB910-FBC8-44A3-9D35-06A5B8B6121C}"/>
              </a:ext>
            </a:extLst>
          </p:cNvPr>
          <p:cNvSpPr txBox="1"/>
          <p:nvPr/>
        </p:nvSpPr>
        <p:spPr>
          <a:xfrm>
            <a:off x="771803" y="4077079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Добавим к ограничениям-равенствам новые неотрицательные переменные – искусственный базис</a:t>
            </a:r>
          </a:p>
        </p:txBody>
      </p:sp>
      <p:graphicFrame>
        <p:nvGraphicFramePr>
          <p:cNvPr id="57" name="Объект 56">
            <a:extLst>
              <a:ext uri="{FF2B5EF4-FFF2-40B4-BE49-F238E27FC236}">
                <a16:creationId xmlns:a16="http://schemas.microsoft.com/office/drawing/2014/main" id="{851B955E-006D-4501-9A33-DEE2C7D155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664" y="4729292"/>
          <a:ext cx="30940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r:id="rId12" imgW="2108200" imgH="228600" progId="Equation.3">
                  <p:embed/>
                </p:oleObj>
              </mc:Choice>
              <mc:Fallback>
                <p:oleObj r:id="rId12" imgW="2108200" imgH="228600" progId="Equation.3">
                  <p:embed/>
                  <p:pic>
                    <p:nvPicPr>
                      <p:cNvPr id="57" name="Объект 56">
                        <a:extLst>
                          <a:ext uri="{FF2B5EF4-FFF2-40B4-BE49-F238E27FC236}">
                            <a16:creationId xmlns:a16="http://schemas.microsoft.com/office/drawing/2014/main" id="{851B955E-006D-4501-9A33-DEE2C7D155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729292"/>
                        <a:ext cx="309403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Объект 57">
            <a:extLst>
              <a:ext uri="{FF2B5EF4-FFF2-40B4-BE49-F238E27FC236}">
                <a16:creationId xmlns:a16="http://schemas.microsoft.com/office/drawing/2014/main" id="{1C926C4A-3712-4DA9-9EEC-564BD6902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664" y="5072192"/>
          <a:ext cx="31924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" r:id="rId14" imgW="2171700" imgH="228600" progId="Equation.3">
                  <p:embed/>
                </p:oleObj>
              </mc:Choice>
              <mc:Fallback>
                <p:oleObj r:id="rId14" imgW="2171700" imgH="228600" progId="Equation.3">
                  <p:embed/>
                  <p:pic>
                    <p:nvPicPr>
                      <p:cNvPr id="58" name="Объект 57">
                        <a:extLst>
                          <a:ext uri="{FF2B5EF4-FFF2-40B4-BE49-F238E27FC236}">
                            <a16:creationId xmlns:a16="http://schemas.microsoft.com/office/drawing/2014/main" id="{1C926C4A-3712-4DA9-9EEC-564BD69025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072192"/>
                        <a:ext cx="319246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Объект 58">
            <a:extLst>
              <a:ext uri="{FF2B5EF4-FFF2-40B4-BE49-F238E27FC236}">
                <a16:creationId xmlns:a16="http://schemas.microsoft.com/office/drawing/2014/main" id="{2C06EC8B-E52E-496A-B4FA-AEBD4D2D2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499785"/>
              </p:ext>
            </p:extLst>
          </p:nvPr>
        </p:nvGraphicFramePr>
        <p:xfrm>
          <a:off x="1513000" y="5646439"/>
          <a:ext cx="33369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" r:id="rId16" imgW="2273300" imgH="228600" progId="Equation.3">
                  <p:embed/>
                </p:oleObj>
              </mc:Choice>
              <mc:Fallback>
                <p:oleObj r:id="rId16" imgW="2273300" imgH="228600" progId="Equation.3">
                  <p:embed/>
                  <p:pic>
                    <p:nvPicPr>
                      <p:cNvPr id="59" name="Объект 58">
                        <a:extLst>
                          <a:ext uri="{FF2B5EF4-FFF2-40B4-BE49-F238E27FC236}">
                            <a16:creationId xmlns:a16="http://schemas.microsoft.com/office/drawing/2014/main" id="{2C06EC8B-E52E-496A-B4FA-AEBD4D2D2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000" y="5646439"/>
                        <a:ext cx="33369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54">
            <a:extLst>
              <a:ext uri="{FF2B5EF4-FFF2-40B4-BE49-F238E27FC236}">
                <a16:creationId xmlns:a16="http://schemas.microsoft.com/office/drawing/2014/main" id="{F4088920-6B12-4D7A-BB92-6A47E8812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427209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1" name="Rectangle 55">
            <a:extLst>
              <a:ext uri="{FF2B5EF4-FFF2-40B4-BE49-F238E27FC236}">
                <a16:creationId xmlns:a16="http://schemas.microsoft.com/office/drawing/2014/main" id="{3C091E58-D9AD-4A17-A985-689BF497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072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2" name="Rectangle 56">
            <a:extLst>
              <a:ext uri="{FF2B5EF4-FFF2-40B4-BE49-F238E27FC236}">
                <a16:creationId xmlns:a16="http://schemas.microsoft.com/office/drawing/2014/main" id="{A3F4909F-BD16-4F42-A96D-A33B32F90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21" y="56464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80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…………………………………………….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62C9E93C-80D1-4834-89CD-0495E565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6021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14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9">
            <a:extLst>
              <a:ext uri="{FF2B5EF4-FFF2-40B4-BE49-F238E27FC236}">
                <a16:creationId xmlns:a16="http://schemas.microsoft.com/office/drawing/2014/main" id="{3952D73C-6C93-4931-AF86-EF4778E8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158216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4510CE82-DCBB-4526-952B-4967D8B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9227CB27-1B84-4261-9F41-A8A2374A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51F63E09-0A4C-4787-A705-28143720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671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58C661DE-F093-4D96-8F45-6A69D54E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705" y="662002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4BB910-FBC8-44A3-9D35-06A5B8B6121C}"/>
              </a:ext>
            </a:extLst>
          </p:cNvPr>
          <p:cNvSpPr txBox="1"/>
          <p:nvPr/>
        </p:nvSpPr>
        <p:spPr>
          <a:xfrm>
            <a:off x="1007914" y="976426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Добавим к ограничениям-равенствам новые неотрицательные переменные – искусственный базис</a:t>
            </a:r>
          </a:p>
        </p:txBody>
      </p:sp>
      <p:graphicFrame>
        <p:nvGraphicFramePr>
          <p:cNvPr id="57" name="Объект 56">
            <a:extLst>
              <a:ext uri="{FF2B5EF4-FFF2-40B4-BE49-F238E27FC236}">
                <a16:creationId xmlns:a16="http://schemas.microsoft.com/office/drawing/2014/main" id="{851B955E-006D-4501-9A33-DEE2C7D15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509956"/>
              </p:ext>
            </p:extLst>
          </p:nvPr>
        </p:nvGraphicFramePr>
        <p:xfrm>
          <a:off x="1477962" y="1565957"/>
          <a:ext cx="30940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" r:id="rId3" imgW="2108200" imgH="228600" progId="Equation.3">
                  <p:embed/>
                </p:oleObj>
              </mc:Choice>
              <mc:Fallback>
                <p:oleObj r:id="rId3" imgW="2108200" imgH="22860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2" y="1565957"/>
                        <a:ext cx="309403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Объект 57">
            <a:extLst>
              <a:ext uri="{FF2B5EF4-FFF2-40B4-BE49-F238E27FC236}">
                <a16:creationId xmlns:a16="http://schemas.microsoft.com/office/drawing/2014/main" id="{1C926C4A-3712-4DA9-9EEC-564BD6902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1264434"/>
              </p:ext>
            </p:extLst>
          </p:nvPr>
        </p:nvGraphicFramePr>
        <p:xfrm>
          <a:off x="1477962" y="1908857"/>
          <a:ext cx="31924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" r:id="rId5" imgW="2171700" imgH="228600" progId="Equation.3">
                  <p:embed/>
                </p:oleObj>
              </mc:Choice>
              <mc:Fallback>
                <p:oleObj r:id="rId5" imgW="2171700" imgH="22860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2" y="1908857"/>
                        <a:ext cx="319246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Объект 58">
            <a:extLst>
              <a:ext uri="{FF2B5EF4-FFF2-40B4-BE49-F238E27FC236}">
                <a16:creationId xmlns:a16="http://schemas.microsoft.com/office/drawing/2014/main" id="{2C06EC8B-E52E-496A-B4FA-AEBD4D2D2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709803"/>
              </p:ext>
            </p:extLst>
          </p:nvPr>
        </p:nvGraphicFramePr>
        <p:xfrm>
          <a:off x="1450984" y="2451001"/>
          <a:ext cx="33369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7" r:id="rId7" imgW="2273300" imgH="228600" progId="Equation.3">
                  <p:embed/>
                </p:oleObj>
              </mc:Choice>
              <mc:Fallback>
                <p:oleObj r:id="rId7" imgW="2273300" imgH="228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84" y="2451001"/>
                        <a:ext cx="33369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55">
            <a:extLst>
              <a:ext uri="{FF2B5EF4-FFF2-40B4-BE49-F238E27FC236}">
                <a16:creationId xmlns:a16="http://schemas.microsoft.com/office/drawing/2014/main" id="{3C091E58-D9AD-4A17-A985-689BF497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072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2" name="Rectangle 56">
            <a:extLst>
              <a:ext uri="{FF2B5EF4-FFF2-40B4-BE49-F238E27FC236}">
                <a16:creationId xmlns:a16="http://schemas.microsoft.com/office/drawing/2014/main" id="{A3F4909F-BD16-4F42-A96D-A33B32F90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247299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80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…………………………………………….</a:t>
            </a:r>
            <a:endParaRPr kumimoji="0" lang="ru-RU" altLang="ru-RU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1809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62C9E93C-80D1-4834-89CD-0495E565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7579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18645961-54B9-43E1-AEEC-C3E2CADA42D7}"/>
                  </a:ext>
                </a:extLst>
              </p:cNvPr>
              <p:cNvSpPr/>
              <p:nvPr/>
            </p:nvSpPr>
            <p:spPr>
              <a:xfrm>
                <a:off x="1450984" y="2825264"/>
                <a:ext cx="250369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≥0,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=1,...,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18645961-54B9-43E1-AEEC-C3E2CADA42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984" y="2825264"/>
                <a:ext cx="25036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70">
            <a:extLst>
              <a:ext uri="{FF2B5EF4-FFF2-40B4-BE49-F238E27FC236}">
                <a16:creationId xmlns:a16="http://schemas.microsoft.com/office/drawing/2014/main" id="{A6A31E4E-94BF-4EFE-8B38-7AA00F079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936" y="3238616"/>
            <a:ext cx="72634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8097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Целевая функция вспомогательной задачи составляется из добавленных переменных. Возьмем их сумму и будем искать ее минимум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6" name="Объект 65">
            <a:extLst>
              <a:ext uri="{FF2B5EF4-FFF2-40B4-BE49-F238E27FC236}">
                <a16:creationId xmlns:a16="http://schemas.microsoft.com/office/drawing/2014/main" id="{6F84EA51-828D-4057-8B9C-BACEF7809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536018"/>
              </p:ext>
            </p:extLst>
          </p:nvPr>
        </p:nvGraphicFramePr>
        <p:xfrm>
          <a:off x="1008063" y="3916363"/>
          <a:ext cx="39227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" r:id="rId10" imgW="2108200" imgH="228600" progId="Equation.3">
                  <p:embed/>
                </p:oleObj>
              </mc:Choice>
              <mc:Fallback>
                <p:oleObj r:id="rId10" imgW="2108200" imgH="22860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916363"/>
                        <a:ext cx="3922712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F73F2E54-D82E-4D41-A090-EB10F0F19E36}"/>
              </a:ext>
            </a:extLst>
          </p:cNvPr>
          <p:cNvSpPr txBox="1"/>
          <p:nvPr/>
        </p:nvSpPr>
        <p:spPr>
          <a:xfrm>
            <a:off x="1007914" y="4509120"/>
            <a:ext cx="7452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0070C0"/>
                </a:solidFill>
              </a:rPr>
              <a:t>Чему равен минимум функции</a:t>
            </a:r>
            <a:r>
              <a:rPr lang="en-US" b="1" i="1" dirty="0">
                <a:solidFill>
                  <a:srgbClr val="0070C0"/>
                </a:solidFill>
              </a:rPr>
              <a:t> F1</a:t>
            </a:r>
            <a:r>
              <a:rPr lang="ru-RU" b="1" i="1" dirty="0">
                <a:solidFill>
                  <a:srgbClr val="0070C0"/>
                </a:solidFill>
              </a:rPr>
              <a:t>?  Можно ли его найти одноэтапным симплекс-методом?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E64A40-3424-44D1-8768-448FC8F714B4}"/>
              </a:ext>
            </a:extLst>
          </p:cNvPr>
          <p:cNvSpPr txBox="1"/>
          <p:nvPr/>
        </p:nvSpPr>
        <p:spPr>
          <a:xfrm>
            <a:off x="1007914" y="5203841"/>
            <a:ext cx="65884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Если минимум </a:t>
            </a:r>
            <a:r>
              <a:rPr lang="en-US" dirty="0"/>
              <a:t>F1 </a:t>
            </a:r>
            <a:r>
              <a:rPr lang="ru-RU" dirty="0"/>
              <a:t>найден симплекс-методом и все искусственные базисные переменные выведены из базиса, то ОДР исходной задачи будет совпадать с ОДР вспомогательной задачи, т.е. получим исходную задачу, записанную в каноническом виде.</a:t>
            </a:r>
          </a:p>
        </p:txBody>
      </p:sp>
    </p:spTree>
    <p:extLst>
      <p:ext uri="{BB962C8B-B14F-4D97-AF65-F5344CB8AC3E}">
        <p14:creationId xmlns:p14="http://schemas.microsoft.com/office/powerpoint/2010/main" val="1410259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9">
            <a:extLst>
              <a:ext uri="{FF2B5EF4-FFF2-40B4-BE49-F238E27FC236}">
                <a16:creationId xmlns:a16="http://schemas.microsoft.com/office/drawing/2014/main" id="{3952D73C-6C93-4931-AF86-EF4778E8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158216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4510CE82-DCBB-4526-952B-4967D8B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9227CB27-1B84-4261-9F41-A8A2374A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51F63E09-0A4C-4787-A705-28143720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671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58C661DE-F093-4D96-8F45-6A69D54E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705" y="662002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4BB910-FBC8-44A3-9D35-06A5B8B6121C}"/>
              </a:ext>
            </a:extLst>
          </p:cNvPr>
          <p:cNvSpPr txBox="1"/>
          <p:nvPr/>
        </p:nvSpPr>
        <p:spPr>
          <a:xfrm>
            <a:off x="1007914" y="976426"/>
            <a:ext cx="6480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Перед началом использования симплекс метода для вспомогательной задачи нужно выразить целевую функцию F1 через нулевые (свободные) переменные.</a:t>
            </a:r>
          </a:p>
        </p:txBody>
      </p:sp>
      <p:sp>
        <p:nvSpPr>
          <p:cNvPr id="61" name="Rectangle 55">
            <a:extLst>
              <a:ext uri="{FF2B5EF4-FFF2-40B4-BE49-F238E27FC236}">
                <a16:creationId xmlns:a16="http://schemas.microsoft.com/office/drawing/2014/main" id="{3C091E58-D9AD-4A17-A985-689BF497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072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62C9E93C-80D1-4834-89CD-0495E565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7579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5" name="Rectangle 70">
            <a:extLst>
              <a:ext uri="{FF2B5EF4-FFF2-40B4-BE49-F238E27FC236}">
                <a16:creationId xmlns:a16="http://schemas.microsoft.com/office/drawing/2014/main" id="{A6A31E4E-94BF-4EFE-8B38-7AA00F079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2010326"/>
            <a:ext cx="58233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80975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Целевая функция вспомогательной задачи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6" name="Объект 65">
            <a:extLst>
              <a:ext uri="{FF2B5EF4-FFF2-40B4-BE49-F238E27FC236}">
                <a16:creationId xmlns:a16="http://schemas.microsoft.com/office/drawing/2014/main" id="{6F84EA51-828D-4057-8B9C-BACEF7809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940116"/>
              </p:ext>
            </p:extLst>
          </p:nvPr>
        </p:nvGraphicFramePr>
        <p:xfrm>
          <a:off x="1223938" y="2479054"/>
          <a:ext cx="39227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r:id="rId3" imgW="2108200" imgH="228600" progId="Equation.3">
                  <p:embed/>
                </p:oleObj>
              </mc:Choice>
              <mc:Fallback>
                <p:oleObj r:id="rId3" imgW="2108200" imgH="228600" progId="Equation.3">
                  <p:embed/>
                  <p:pic>
                    <p:nvPicPr>
                      <p:cNvPr id="66" name="Объект 65">
                        <a:extLst>
                          <a:ext uri="{FF2B5EF4-FFF2-40B4-BE49-F238E27FC236}">
                            <a16:creationId xmlns:a16="http://schemas.microsoft.com/office/drawing/2014/main" id="{6F84EA51-828D-4057-8B9C-BACEF7809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38" y="2479054"/>
                        <a:ext cx="3922712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D4E64A40-3424-44D1-8768-448FC8F714B4}"/>
              </a:ext>
            </a:extLst>
          </p:cNvPr>
          <p:cNvSpPr txBox="1"/>
          <p:nvPr/>
        </p:nvSpPr>
        <p:spPr>
          <a:xfrm>
            <a:off x="798175" y="4418434"/>
            <a:ext cx="6588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Коэффициент при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ru-RU" i="1" baseline="-25000" dirty="0"/>
              <a:t>  </a:t>
            </a:r>
            <a:r>
              <a:rPr lang="ru-RU" dirty="0"/>
              <a:t>равен сумме коэффициентов </a:t>
            </a:r>
            <a:r>
              <a:rPr lang="en-US" dirty="0" err="1"/>
              <a:t>i</a:t>
            </a:r>
            <a:r>
              <a:rPr lang="en-US" dirty="0"/>
              <a:t>-</a:t>
            </a:r>
            <a:r>
              <a:rPr lang="ru-RU" dirty="0" err="1"/>
              <a:t>го</a:t>
            </a:r>
            <a:r>
              <a:rPr lang="ru-RU" dirty="0"/>
              <a:t> столбца, взятой со знаком минус.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A5C0DDE8-756C-4912-A0DA-1D1B51733753}"/>
                  </a:ext>
                </a:extLst>
              </p:cNvPr>
              <p:cNvSpPr/>
              <p:nvPr/>
            </p:nvSpPr>
            <p:spPr>
              <a:xfrm>
                <a:off x="1329206" y="2922805"/>
                <a:ext cx="5526360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−...−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−...−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           ………..</a:t>
                </a:r>
              </a:p>
              <a:p>
                <a:endParaRPr lang="en-US" i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−...−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ru-RU" i="1">
                            <a:latin typeface="Cambria Math" panose="02040503050406030204" pitchFamily="18" charset="0"/>
                          </a:rPr>
                          <m:t>𝑚𝑖𝑛</m:t>
                        </m:r>
                      </m:fName>
                      <m:e/>
                    </m:fun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A5C0DDE8-756C-4912-A0DA-1D1B51733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206" y="2922805"/>
                <a:ext cx="5526360" cy="1477328"/>
              </a:xfrm>
              <a:prstGeom prst="rect">
                <a:avLst/>
              </a:prstGeom>
              <a:blipFill>
                <a:blip r:embed="rId5"/>
                <a:stretch>
                  <a:fillRect l="-882" t="-20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71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9">
            <a:extLst>
              <a:ext uri="{FF2B5EF4-FFF2-40B4-BE49-F238E27FC236}">
                <a16:creationId xmlns:a16="http://schemas.microsoft.com/office/drawing/2014/main" id="{3952D73C-6C93-4931-AF86-EF4778E8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158216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4510CE82-DCBB-4526-952B-4967D8B20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9227CB27-1B84-4261-9F41-A8A2374A2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3282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51F63E09-0A4C-4787-A705-28143720A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38" y="2671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58C661DE-F093-4D96-8F45-6A69D54ED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705" y="662002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4BB910-FBC8-44A3-9D35-06A5B8B6121C}"/>
              </a:ext>
            </a:extLst>
          </p:cNvPr>
          <p:cNvSpPr txBox="1"/>
          <p:nvPr/>
        </p:nvSpPr>
        <p:spPr>
          <a:xfrm>
            <a:off x="1007914" y="976426"/>
            <a:ext cx="648072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При решении вспомогательной задачи целевую функцию исходной задачи можно подвергать тем же алгебраическим преобразованиям, что и ограничения.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  <p:sp>
        <p:nvSpPr>
          <p:cNvPr id="61" name="Rectangle 55">
            <a:extLst>
              <a:ext uri="{FF2B5EF4-FFF2-40B4-BE49-F238E27FC236}">
                <a16:creationId xmlns:a16="http://schemas.microsoft.com/office/drawing/2014/main" id="{3C091E58-D9AD-4A17-A985-689BF497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0721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62C9E93C-80D1-4834-89CD-0495E565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914" y="57579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5" name="Rectangle 70">
            <a:extLst>
              <a:ext uri="{FF2B5EF4-FFF2-40B4-BE49-F238E27FC236}">
                <a16:creationId xmlns:a16="http://schemas.microsoft.com/office/drawing/2014/main" id="{A6A31E4E-94BF-4EFE-8B38-7AA00F079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75" y="2541997"/>
            <a:ext cx="7043991" cy="189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80975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latin typeface="Arial" panose="020B0604020202020204" pitchFamily="34" charset="0"/>
                <a:ea typeface="Times New Roman" panose="02020603050405020304" pitchFamily="18" charset="0"/>
              </a:rPr>
              <a:t>После завершения решения вспомогательной задачи убеждаемся, что все искусственные базисные переменные вышли из базиса. Тогда отбрасываем их, выражаем целевую функцию исходной задачи через свободные переменные и переходим ко второму этапу – решаем полученную каноническую задачу одноэтапным симплекс-методом.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3F2E54-D82E-4D41-A090-EB10F0F19E36}"/>
              </a:ext>
            </a:extLst>
          </p:cNvPr>
          <p:cNvSpPr txBox="1"/>
          <p:nvPr/>
        </p:nvSpPr>
        <p:spPr>
          <a:xfrm>
            <a:off x="798175" y="5309594"/>
            <a:ext cx="7452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0070C0"/>
                </a:solidFill>
              </a:rPr>
              <a:t>Можно добавлять искусственные базисные переменные не во все уравнения, а только в те, в которых базисной переменной нет. Это уменьшит объем вычислений. </a:t>
            </a:r>
          </a:p>
        </p:txBody>
      </p:sp>
    </p:spTree>
    <p:extLst>
      <p:ext uri="{BB962C8B-B14F-4D97-AF65-F5344CB8AC3E}">
        <p14:creationId xmlns:p14="http://schemas.microsoft.com/office/powerpoint/2010/main" val="2937812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11560" y="1015463"/>
            <a:ext cx="741682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Алгоритм двухэтапного симплекс-метода</a:t>
            </a:r>
            <a:endParaRPr lang="en-US" sz="2800" b="1" dirty="0"/>
          </a:p>
          <a:p>
            <a:endParaRPr lang="ru-RU" sz="2800" b="1" dirty="0"/>
          </a:p>
          <a:p>
            <a:pPr algn="just"/>
            <a:r>
              <a:rPr lang="ru-RU" sz="2800" dirty="0"/>
              <a:t>Двухэтапный симплекс-метод применяется к задачам, записанным в стандартном, но не каноническом виде.</a:t>
            </a:r>
            <a:endParaRPr lang="en-US" sz="2800" dirty="0"/>
          </a:p>
          <a:p>
            <a:endParaRPr lang="en-US" sz="2800" dirty="0"/>
          </a:p>
          <a:p>
            <a:pPr algn="just"/>
            <a:r>
              <a:rPr lang="ru-RU" sz="2800" dirty="0"/>
              <a:t>Если после приведения к стандартному виду получен канонический  вид – лучше применять </a:t>
            </a:r>
            <a:r>
              <a:rPr lang="ru-RU" sz="2800" b="1" dirty="0"/>
              <a:t>одноэтапный симплекс-метод </a:t>
            </a:r>
            <a:r>
              <a:rPr lang="ru-RU" sz="2800" dirty="0"/>
              <a:t>– ответ будет получен быстрее.</a:t>
            </a:r>
          </a:p>
        </p:txBody>
      </p:sp>
    </p:spTree>
    <p:extLst>
      <p:ext uri="{BB962C8B-B14F-4D97-AF65-F5344CB8AC3E}">
        <p14:creationId xmlns:p14="http://schemas.microsoft.com/office/powerpoint/2010/main" val="380249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908720"/>
            <a:ext cx="69127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1 шаг.</a:t>
            </a:r>
            <a:r>
              <a:rPr lang="ru-RU" sz="2800" dirty="0"/>
              <a:t> Убедиться, что задача записана в стандартном виде. Если нет – привести к стандартному виду. 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/>
              <a:t>2 шаг.</a:t>
            </a:r>
            <a:r>
              <a:rPr lang="ru-RU" sz="2800" dirty="0"/>
              <a:t> Добавить искусственные базисные переменные, составить целевую функцию </a:t>
            </a:r>
            <a:r>
              <a:rPr lang="en-US" sz="2800" i="1" dirty="0"/>
              <a:t>F1</a:t>
            </a:r>
            <a:r>
              <a:rPr lang="ru-RU" sz="2800" dirty="0"/>
              <a:t> для вспомогательной задачи, просуммировав добавленные переменные. Решить составленную вспомогательную задачу одноэтапным симплекс-методом.</a:t>
            </a:r>
          </a:p>
        </p:txBody>
      </p:sp>
    </p:spTree>
    <p:extLst>
      <p:ext uri="{BB962C8B-B14F-4D97-AF65-F5344CB8AC3E}">
        <p14:creationId xmlns:p14="http://schemas.microsoft.com/office/powerpoint/2010/main" val="2799818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33054" y="335340"/>
            <a:ext cx="701135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/>
              <a:t>3 шаг.</a:t>
            </a:r>
            <a:r>
              <a:rPr lang="ru-RU" sz="2800" dirty="0"/>
              <a:t> Если вспомогательная задача не имеет решения или по окончании решения</a:t>
            </a:r>
          </a:p>
          <a:p>
            <a:pPr algn="just"/>
            <a:r>
              <a:rPr lang="ru-RU" sz="2800" dirty="0"/>
              <a:t>не все искусственные базисные переменные вышли из базиса - исходная задача не имеет решения (ОДР пуста), иначе иди к 4 шагу.</a:t>
            </a:r>
          </a:p>
          <a:p>
            <a:pPr algn="just"/>
            <a:endParaRPr lang="ru-RU" sz="2800" b="1" dirty="0"/>
          </a:p>
          <a:p>
            <a:pPr algn="just"/>
            <a:r>
              <a:rPr lang="ru-RU" sz="2800" b="1" dirty="0"/>
              <a:t>4 шаг. </a:t>
            </a:r>
            <a:r>
              <a:rPr lang="ru-RU" sz="2800" dirty="0"/>
              <a:t>Отбросить вспомогательную целевую функцию и искусственные базисные переменные, выписать начальное допустимое базисное решение.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b="1" dirty="0"/>
              <a:t>5 шаг.</a:t>
            </a:r>
            <a:r>
              <a:rPr lang="ru-RU" sz="2800" dirty="0"/>
              <a:t> Решить полученную каноническую задачу одноэтапным симплекс-методом.</a:t>
            </a:r>
          </a:p>
        </p:txBody>
      </p:sp>
    </p:spTree>
    <p:extLst>
      <p:ext uri="{BB962C8B-B14F-4D97-AF65-F5344CB8AC3E}">
        <p14:creationId xmlns:p14="http://schemas.microsoft.com/office/powerpoint/2010/main" val="20430471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B0AEA32E65E94995565B0B65EA5F29" ma:contentTypeVersion="4" ma:contentTypeDescription="Создание документа." ma:contentTypeScope="" ma:versionID="7c965ccae3a1f444781a71e656121271">
  <xsd:schema xmlns:xsd="http://www.w3.org/2001/XMLSchema" xmlns:xs="http://www.w3.org/2001/XMLSchema" xmlns:p="http://schemas.microsoft.com/office/2006/metadata/properties" xmlns:ns2="22acfdec-9ce1-4ae7-873a-8b443fedbaba" targetNamespace="http://schemas.microsoft.com/office/2006/metadata/properties" ma:root="true" ma:fieldsID="4270dc9ca96dc443d20df5ea72ba1a94" ns2:_="">
    <xsd:import namespace="22acfdec-9ce1-4ae7-873a-8b443fedb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cfdec-9ce1-4ae7-873a-8b443fedb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1147CE-5E1B-45E5-BB37-5EB6B2B602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acfdec-9ce1-4ae7-873a-8b443fedba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B8229F-F754-4654-AFA8-B52242574520}">
  <ds:schemaRefs>
    <ds:schemaRef ds:uri="http://purl.org/dc/terms/"/>
    <ds:schemaRef ds:uri="http://schemas.openxmlformats.org/package/2006/metadata/core-properties"/>
    <ds:schemaRef ds:uri="22acfdec-9ce1-4ae7-873a-8b443fedbaba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168A69-7AF0-414F-8EB5-956A8F5C70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603</Words>
  <PresentationFormat>Экран (4:3)</PresentationFormat>
  <Paragraphs>60</Paragraphs>
  <Slides>12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Тема Office</vt:lpstr>
      <vt:lpstr>Equation.3</vt:lpstr>
      <vt:lpstr>МЕТОДЫ ОПТИМИЗАЦИИ и ИССЛЕДОВАНИЕ ОПЕРАЦИЙ</vt:lpstr>
      <vt:lpstr>СИМПЛЕКС-МЕТОД РЕШЕНИЯ ЗАДАЧИ ЛИНЕЙНОГО ПРОГРАММИРОВАНИЯ. Двухэтапный симплекс-метод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2015-09-10T05:48:00Z</dcterms:created>
  <dcterms:modified xsi:type="dcterms:W3CDTF">2025-10-02T15:21:03Z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0x01010070B0AEA32E65E94995565B0B65EA5F29</vt:lpwstr>
  </property>
  <property fmtid="{D5CDD505-2E9C-101B-9397-08002B2CF9AE}" pid="3" name="MediaServiceImageTags">
    <vt:lpwstr/>
  </property>
</Properties>
</file>