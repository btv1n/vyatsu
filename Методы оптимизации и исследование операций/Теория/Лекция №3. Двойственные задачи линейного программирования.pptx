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7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F155D903-7694-47F0-B08A-6F960731B396}" type="datetimeFigureOut">
              <a:rPr lang="ru-RU" smtClean="0"/>
              <a:t>31.10.2022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102C54C3-AE25-43E7-9CA9-CA55A8F33E03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1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44008" y="2420888"/>
            <a:ext cx="3456384" cy="2926296"/>
          </a:xfrm>
        </p:spPr>
        <p:txBody>
          <a:bodyPr>
            <a:normAutofit/>
          </a:bodyPr>
          <a:lstStyle/>
          <a:p>
            <a:r>
              <a:rPr lang="ru-RU" dirty="0"/>
              <a:t>Двойственные задачи</a:t>
            </a:r>
            <a:br>
              <a:rPr lang="en-US" sz="2400" dirty="0"/>
            </a:br>
            <a:br>
              <a:rPr lang="en-US" sz="2400" dirty="0"/>
            </a:br>
            <a:r>
              <a:rPr lang="ru-RU" sz="2400" dirty="0"/>
              <a:t>линейного программирования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733365" y="5445224"/>
            <a:ext cx="3309803" cy="236485"/>
          </a:xfrm>
        </p:spPr>
        <p:txBody>
          <a:bodyPr>
            <a:normAutofit fontScale="62500" lnSpcReduction="20000"/>
          </a:bodyPr>
          <a:lstStyle/>
          <a:p>
            <a:endParaRPr lang="ru-RU" dirty="0"/>
          </a:p>
        </p:txBody>
      </p:sp>
      <p:pic>
        <p:nvPicPr>
          <p:cNvPr id="17410" name="Picture 2" descr="http://mosmetod.ru/files/metod/SPO/foto_spo/410375592_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-3529"/>
            <a:ext cx="3528392" cy="230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22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492" y="1196752"/>
            <a:ext cx="6777317" cy="4635877"/>
          </a:xfrm>
        </p:spPr>
        <p:txBody>
          <a:bodyPr/>
          <a:lstStyle/>
          <a:p>
            <a:pPr marL="68580" indent="0" algn="just">
              <a:buNone/>
            </a:pPr>
            <a:r>
              <a:rPr lang="ru-RU" dirty="0"/>
              <a:t>Для каждой </a:t>
            </a:r>
            <a:r>
              <a:rPr lang="ru-RU" b="1" dirty="0"/>
              <a:t>задачи линейного программирования</a:t>
            </a:r>
            <a:r>
              <a:rPr lang="ru-RU" dirty="0"/>
              <a:t> по определённым правилам можно составить соответствующую задачу, </a:t>
            </a:r>
            <a:r>
              <a:rPr lang="ru-RU" dirty="0" err="1"/>
              <a:t>называ</a:t>
            </a:r>
            <a:r>
              <a:rPr lang="en-US" dirty="0"/>
              <a:t>-</a:t>
            </a:r>
            <a:r>
              <a:rPr lang="ru-RU" dirty="0" err="1"/>
              <a:t>емую</a:t>
            </a:r>
            <a:r>
              <a:rPr lang="ru-RU" dirty="0"/>
              <a:t> </a:t>
            </a:r>
            <a:r>
              <a:rPr lang="ru-RU" b="1" i="1" dirty="0"/>
              <a:t>двойственной задачей</a:t>
            </a:r>
            <a:r>
              <a:rPr lang="ru-RU" dirty="0"/>
              <a:t>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Рассмотрим </a:t>
            </a:r>
            <a:r>
              <a:rPr lang="ru-RU" b="1" i="1" dirty="0"/>
              <a:t>прямую задачу линейного программирования и двойственную задачу</a:t>
            </a:r>
            <a:r>
              <a:rPr lang="ru-RU" dirty="0"/>
              <a:t>.</a:t>
            </a:r>
          </a:p>
          <a:p>
            <a:pPr algn="just"/>
            <a:endParaRPr lang="ru-RU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3046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492" y="908720"/>
            <a:ext cx="6777317" cy="4923909"/>
          </a:xfrm>
        </p:spPr>
        <p:txBody>
          <a:bodyPr/>
          <a:lstStyle/>
          <a:p>
            <a:pPr marL="68580" indent="0">
              <a:buNone/>
            </a:pP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96752"/>
            <a:ext cx="7167163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062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490" y="764704"/>
            <a:ext cx="7024744" cy="360040"/>
          </a:xfrm>
        </p:spPr>
        <p:txBody>
          <a:bodyPr>
            <a:normAutofit fontScale="90000"/>
          </a:bodyPr>
          <a:lstStyle/>
          <a:p>
            <a:r>
              <a:rPr lang="ru-RU" dirty="0"/>
              <a:t>Свойства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124744"/>
            <a:ext cx="7704856" cy="5256584"/>
          </a:xfrm>
        </p:spPr>
        <p:txBody>
          <a:bodyPr>
            <a:normAutofit fontScale="85000" lnSpcReduction="20000"/>
          </a:bodyPr>
          <a:lstStyle/>
          <a:p>
            <a:pPr marL="525780" indent="-457200" algn="just">
              <a:buFont typeface="+mj-lt"/>
              <a:buAutoNum type="arabicPeriod"/>
            </a:pPr>
            <a:r>
              <a:rPr lang="ru-RU" dirty="0"/>
              <a:t>В </a:t>
            </a:r>
            <a:r>
              <a:rPr lang="ru-RU" b="1" i="1" dirty="0"/>
              <a:t>прямой задаче</a:t>
            </a:r>
            <a:r>
              <a:rPr lang="ru-RU" dirty="0"/>
              <a:t> ищется максимум функции цели (линейной формы), а в </a:t>
            </a:r>
            <a:r>
              <a:rPr lang="ru-RU" b="1" i="1" dirty="0"/>
              <a:t>двойственной задаче</a:t>
            </a:r>
            <a:r>
              <a:rPr lang="ru-RU" dirty="0"/>
              <a:t> - минимум.</a:t>
            </a:r>
          </a:p>
          <a:p>
            <a:pPr marL="525780" indent="-457200" algn="just">
              <a:buFont typeface="+mj-lt"/>
              <a:buAutoNum type="arabicPeriod"/>
            </a:pPr>
            <a:endParaRPr lang="ru-RU" dirty="0"/>
          </a:p>
          <a:p>
            <a:pPr marL="525780" indent="-457200" algn="just">
              <a:buFont typeface="+mj-lt"/>
              <a:buAutoNum type="arabicPeriod"/>
            </a:pPr>
            <a:r>
              <a:rPr lang="ru-RU" dirty="0"/>
              <a:t>Коэффициенты при переменных в функции цели </a:t>
            </a:r>
            <a:r>
              <a:rPr lang="ru-RU" b="1" i="1" dirty="0"/>
              <a:t>прямой задачи</a:t>
            </a:r>
            <a:r>
              <a:rPr lang="ru-RU" dirty="0"/>
              <a:t> являются свободными членами системы ограничений </a:t>
            </a:r>
            <a:r>
              <a:rPr lang="ru-RU" b="1" i="1" dirty="0"/>
              <a:t>двойственной задачи</a:t>
            </a:r>
            <a:r>
              <a:rPr lang="ru-RU" dirty="0"/>
              <a:t>, и наоборот, свободные члены системы ограничений </a:t>
            </a:r>
            <a:r>
              <a:rPr lang="ru-RU" b="1" i="1" dirty="0"/>
              <a:t>прямой задачи</a:t>
            </a:r>
            <a:r>
              <a:rPr lang="ru-RU" dirty="0"/>
              <a:t> - коэффициентами при переменных в функции цели </a:t>
            </a:r>
            <a:r>
              <a:rPr lang="ru-RU" b="1" i="1" dirty="0"/>
              <a:t>двойственной задачи</a:t>
            </a:r>
            <a:r>
              <a:rPr lang="ru-RU" dirty="0"/>
              <a:t>.</a:t>
            </a:r>
          </a:p>
          <a:p>
            <a:pPr marL="525780" indent="-457200" algn="just">
              <a:buFont typeface="+mj-lt"/>
              <a:buAutoNum type="arabicPeriod"/>
            </a:pPr>
            <a:endParaRPr lang="ru-RU" dirty="0"/>
          </a:p>
          <a:p>
            <a:pPr marL="525780" indent="-457200" algn="just">
              <a:buFont typeface="+mj-lt"/>
              <a:buAutoNum type="arabicPeriod"/>
            </a:pPr>
            <a:r>
              <a:rPr lang="ru-RU" dirty="0"/>
              <a:t>В каждой задаче система ограничений задаётся в виде неравенств, причём все они одного смысла, а именно: при нахождении максимума функции цели (</a:t>
            </a:r>
            <a:r>
              <a:rPr lang="ru-RU" b="1" i="1" dirty="0"/>
              <a:t>прямая задача</a:t>
            </a:r>
            <a:r>
              <a:rPr lang="ru-RU" dirty="0"/>
              <a:t>) эти неравенства записываются со знаком "меньше или равно", а при нахождении минимума (</a:t>
            </a:r>
            <a:r>
              <a:rPr lang="ru-RU" b="1" i="1" dirty="0"/>
              <a:t>двойственная задача</a:t>
            </a:r>
            <a:r>
              <a:rPr lang="ru-RU" dirty="0"/>
              <a:t>) - со знаком "больше или равно".</a:t>
            </a:r>
          </a:p>
          <a:p>
            <a:pPr marL="68580" indent="0" algn="just">
              <a:buNone/>
            </a:pPr>
            <a:endParaRPr lang="ru-RU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113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492" y="1124744"/>
            <a:ext cx="6777317" cy="4707885"/>
          </a:xfrm>
        </p:spPr>
        <p:txBody>
          <a:bodyPr>
            <a:normAutofit fontScale="85000" lnSpcReduction="20000"/>
          </a:bodyPr>
          <a:lstStyle/>
          <a:p>
            <a:pPr marL="68580" indent="0" algn="just">
              <a:buNone/>
            </a:pPr>
            <a:r>
              <a:rPr lang="ru-RU" dirty="0"/>
              <a:t>4. Коэффициенты при переменных в системах ограничений описываются матрицами 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которые являются транспонированными относительно друг друга.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5. Число неравенств в системе ограничений </a:t>
            </a:r>
            <a:r>
              <a:rPr lang="ru-RU" b="1" i="1" dirty="0"/>
              <a:t>прямой задачи</a:t>
            </a:r>
            <a:r>
              <a:rPr lang="ru-RU" dirty="0"/>
              <a:t> совпадает с числом переменных </a:t>
            </a:r>
            <a:r>
              <a:rPr lang="ru-RU" b="1" i="1" dirty="0"/>
              <a:t>двойственной задачи</a:t>
            </a:r>
            <a:r>
              <a:rPr lang="ru-RU" dirty="0"/>
              <a:t>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6. Условия </a:t>
            </a:r>
            <a:r>
              <a:rPr lang="ru-RU" dirty="0" err="1"/>
              <a:t>неотрицательности</a:t>
            </a:r>
            <a:r>
              <a:rPr lang="ru-RU" dirty="0"/>
              <a:t> переменных сохраняются как в </a:t>
            </a:r>
            <a:r>
              <a:rPr lang="ru-RU" b="1" i="1" dirty="0"/>
              <a:t>прямой</a:t>
            </a:r>
            <a:r>
              <a:rPr lang="ru-RU" dirty="0"/>
              <a:t>, так и в </a:t>
            </a:r>
            <a:r>
              <a:rPr lang="ru-RU" b="1" i="1" dirty="0"/>
              <a:t>двойственной задаче</a:t>
            </a:r>
            <a:r>
              <a:rPr lang="ru-RU" dirty="0"/>
              <a:t>.</a:t>
            </a:r>
          </a:p>
          <a:p>
            <a:pPr marL="68580" indent="0" algn="just">
              <a:buNone/>
            </a:pPr>
            <a:endParaRPr lang="ru-RU" dirty="0"/>
          </a:p>
        </p:txBody>
      </p:sp>
      <p:pic>
        <p:nvPicPr>
          <p:cNvPr id="2050" name="Picture 2" descr="https://function-x.ru/linprog/dz008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844824"/>
            <a:ext cx="15811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function-x.ru/linprog/dz008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15811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717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492" y="980728"/>
            <a:ext cx="6777317" cy="4851901"/>
          </a:xfrm>
        </p:spPr>
        <p:txBody>
          <a:bodyPr>
            <a:normAutofit fontScale="92500"/>
          </a:bodyPr>
          <a:lstStyle/>
          <a:p>
            <a:pPr marL="68580" indent="0" algn="just">
              <a:buNone/>
            </a:pPr>
            <a:r>
              <a:rPr lang="ru-RU" dirty="0"/>
              <a:t>Две задачи линейного программирования, удовлетворяющие указанным выше условиям, называются симметричными взаимно-двойственными задачами.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Мы </a:t>
            </a:r>
            <a:r>
              <a:rPr lang="ru-RU" dirty="0" err="1"/>
              <a:t>обусловимся</a:t>
            </a:r>
            <a:r>
              <a:rPr lang="ru-RU" dirty="0"/>
              <a:t> называть их просто взаимно-двойственными задачами.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Прямая и двойственная ей задача, взятые вместе, образуют пару взаимно двойственных задач, причём любую из них можно рассматривать как исходную, тогда другая окажется двойственной ей.</a:t>
            </a:r>
          </a:p>
          <a:p>
            <a:pPr marL="68580" indent="0" algn="just">
              <a:buNone/>
            </a:pPr>
            <a:endParaRPr lang="ru-RU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593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1268760"/>
            <a:ext cx="7024744" cy="504056"/>
          </a:xfrm>
        </p:spPr>
        <p:txBody>
          <a:bodyPr>
            <a:normAutofit fontScale="90000"/>
          </a:bodyPr>
          <a:lstStyle/>
          <a:p>
            <a:pPr algn="just"/>
            <a:r>
              <a:rPr lang="ru-RU" dirty="0"/>
              <a:t>Правила составления задачи в </a:t>
            </a:r>
            <a:r>
              <a:rPr lang="ru-RU" dirty="0" err="1"/>
              <a:t>кононическом</a:t>
            </a:r>
            <a:r>
              <a:rPr lang="ru-RU" dirty="0"/>
              <a:t> виде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492" y="1988840"/>
            <a:ext cx="6777317" cy="3843789"/>
          </a:xfrm>
        </p:spPr>
        <p:txBody>
          <a:bodyPr>
            <a:normAutofit fontScale="92500"/>
          </a:bodyPr>
          <a:lstStyle/>
          <a:p>
            <a:pPr marL="525780" indent="-457200" algn="just">
              <a:buFont typeface="+mj-lt"/>
              <a:buAutoNum type="arabicPeriod"/>
            </a:pPr>
            <a:r>
              <a:rPr lang="ru-RU" dirty="0"/>
              <a:t>Приводят все неравенства системы ограничений исходной задачи к неравенствам одного смысла(то есть с одним и тем же знаком): если в исходной задаче ищется максимум функции цели (линейной формы) - они записываются со знаком "меньше или равно", если же минимум - со знаком "больше или равно". Для этого неравенства, в которых это требование не выполняется, умножают на минус единицу.</a:t>
            </a:r>
          </a:p>
          <a:p>
            <a:pPr marL="68580" indent="0" algn="r">
              <a:buNone/>
            </a:pPr>
            <a:endParaRPr lang="ru-RU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4372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908720"/>
            <a:ext cx="7632848" cy="5400600"/>
          </a:xfrm>
        </p:spPr>
        <p:txBody>
          <a:bodyPr>
            <a:normAutofit lnSpcReduction="10000"/>
          </a:bodyPr>
          <a:lstStyle/>
          <a:p>
            <a:pPr marL="68580" indent="0" algn="just">
              <a:buNone/>
            </a:pPr>
            <a:r>
              <a:rPr lang="en-US" dirty="0"/>
              <a:t>2. </a:t>
            </a:r>
            <a:r>
              <a:rPr lang="ru-RU" dirty="0"/>
              <a:t>Выписывают матрицу </a:t>
            </a:r>
            <a:r>
              <a:rPr lang="ru-RU" i="1" dirty="0"/>
              <a:t>A</a:t>
            </a:r>
            <a:r>
              <a:rPr lang="ru-RU" dirty="0"/>
              <a:t> коэффициентов при переменных исходной задачи, полученную после преобразований, описанных в предыдущем пункте, и составляют матрицу </a:t>
            </a:r>
            <a:r>
              <a:rPr lang="ru-RU" i="1" dirty="0"/>
              <a:t>A</a:t>
            </a:r>
            <a:r>
              <a:rPr lang="ru-RU" dirty="0"/>
              <a:t>', транспонированную относительно матрицы </a:t>
            </a:r>
            <a:r>
              <a:rPr lang="ru-RU" i="1" dirty="0"/>
              <a:t>A</a:t>
            </a:r>
            <a:r>
              <a:rPr lang="ru-RU" dirty="0"/>
              <a:t>.</a:t>
            </a:r>
          </a:p>
          <a:p>
            <a:pPr marL="68580" indent="0" algn="just">
              <a:buNone/>
            </a:pPr>
            <a:endParaRPr lang="en-US" dirty="0"/>
          </a:p>
          <a:p>
            <a:pPr marL="68580" indent="0" algn="just">
              <a:buNone/>
            </a:pPr>
            <a:r>
              <a:rPr lang="ru-RU" dirty="0"/>
              <a:t>3. Составляют систему ограничений двойственной задачи, взяв в качестве коэффициентов при переменных элементы матрицы </a:t>
            </a:r>
            <a:r>
              <a:rPr lang="ru-RU" i="1" dirty="0"/>
              <a:t>A</a:t>
            </a:r>
            <a:r>
              <a:rPr lang="ru-RU" dirty="0"/>
              <a:t>', а в качестве свободных членов - коэффициенты при переменных в функции цели исходной задачи и записывают неравенства противоположного смысла (то есть меняют знак) по сравнению с неравенствами, полученными в пункте 1.</a:t>
            </a:r>
          </a:p>
          <a:p>
            <a:pPr marL="68580" indent="0" algn="just">
              <a:buNone/>
            </a:pPr>
            <a:endParaRPr lang="ru-RU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791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836712"/>
            <a:ext cx="7632848" cy="5472608"/>
          </a:xfrm>
        </p:spPr>
        <p:txBody>
          <a:bodyPr>
            <a:normAutofit/>
          </a:bodyPr>
          <a:lstStyle/>
          <a:p>
            <a:pPr marL="68580" indent="0" algn="just">
              <a:buNone/>
            </a:pPr>
            <a:r>
              <a:rPr lang="ru-RU" dirty="0"/>
              <a:t>4. Составляют функцию цели (линейную форму) двойственной задачи, приняв за коэффициенты при переменных свободные члены системы ограничений исходной задачи, полученные в пункте 1.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5. Указывают, что необходимо найти при решении двойственной задачи, а именно: минимум функции цели, если в исходной задаче ищется максимум, и максимум, если в исходной задаче ищется минимум.</a:t>
            </a:r>
          </a:p>
          <a:p>
            <a:pPr marL="68580" indent="0" algn="just">
              <a:buNone/>
            </a:pPr>
            <a:r>
              <a:rPr lang="ru-RU" dirty="0"/>
              <a:t>Записывают условие </a:t>
            </a:r>
            <a:r>
              <a:rPr lang="ru-RU" dirty="0" err="1"/>
              <a:t>неотрицательности</a:t>
            </a:r>
            <a:r>
              <a:rPr lang="ru-RU" dirty="0"/>
              <a:t> переменных двойственной задачи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9334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1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492" y="1700808"/>
            <a:ext cx="6777317" cy="4131821"/>
          </a:xfrm>
        </p:spPr>
        <p:txBody>
          <a:bodyPr/>
          <a:lstStyle/>
          <a:p>
            <a:pPr marL="68580" indent="0" algn="just">
              <a:buNone/>
            </a:pPr>
            <a:r>
              <a:rPr lang="ru-RU" b="1" dirty="0"/>
              <a:t>Составить задачу, двойственную следующей</a:t>
            </a:r>
            <a:r>
              <a:rPr lang="ru-RU" dirty="0"/>
              <a:t>: найти максимум функции               при ограничениях</a:t>
            </a:r>
          </a:p>
        </p:txBody>
      </p:sp>
      <p:pic>
        <p:nvPicPr>
          <p:cNvPr id="3074" name="Picture 2" descr="https://function-x.ru/linprog/dz010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068959"/>
            <a:ext cx="1872208" cy="209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564903"/>
            <a:ext cx="1008112" cy="319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021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492" y="1052736"/>
            <a:ext cx="6777317" cy="4779893"/>
          </a:xfrm>
        </p:spPr>
        <p:txBody>
          <a:bodyPr/>
          <a:lstStyle/>
          <a:p>
            <a:pPr marL="68580" indent="0" algn="just">
              <a:buNone/>
            </a:pPr>
            <a:r>
              <a:rPr lang="ru-RU" b="1" dirty="0"/>
              <a:t>Решение.</a:t>
            </a:r>
            <a:r>
              <a:rPr lang="ru-RU" dirty="0"/>
              <a:t> Третье неравенство системы исходной задачи не удовлетворяет пункту 1 правил составления двойственной задачи. Поэтому умножим его на минус единицу:</a:t>
            </a:r>
          </a:p>
        </p:txBody>
      </p:sp>
      <p:pic>
        <p:nvPicPr>
          <p:cNvPr id="4098" name="Picture 2" descr="https://function-x.ru/linprog/dz01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068960"/>
            <a:ext cx="2016224" cy="225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277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908721"/>
            <a:ext cx="7704856" cy="3240360"/>
          </a:xfrm>
        </p:spPr>
        <p:txBody>
          <a:bodyPr>
            <a:normAutofit fontScale="85000" lnSpcReduction="10000"/>
          </a:bodyPr>
          <a:lstStyle/>
          <a:p>
            <a:pPr marL="68580" indent="0" algn="just">
              <a:buNone/>
            </a:pPr>
            <a:r>
              <a:rPr lang="ru-RU" dirty="0"/>
              <a:t>Для облегчения составления двойственной задачи лучше пользоваться расширенной матрицей </a:t>
            </a:r>
            <a:r>
              <a:rPr lang="ru-RU" i="1" dirty="0"/>
              <a:t>B</a:t>
            </a:r>
            <a:r>
              <a:rPr lang="ru-RU" dirty="0"/>
              <a:t>, в которую наряду с коэффициентами при переменных системы ограничений исходной задачи запишем свободные члены и коэффициенты при переменных в функции цели, выделив для этой цели дополнительные столбец (отделён чертой) и строку (выделена красным цветом). Матрицу </a:t>
            </a:r>
            <a:r>
              <a:rPr lang="ru-RU" i="1" dirty="0"/>
              <a:t>B</a:t>
            </a:r>
            <a:r>
              <a:rPr lang="ru-RU" dirty="0"/>
              <a:t> транспонируем и, используя транспонированную матрицу </a:t>
            </a:r>
            <a:r>
              <a:rPr lang="ru-RU" i="1" dirty="0"/>
              <a:t>B</a:t>
            </a:r>
            <a:r>
              <a:rPr lang="ru-RU" dirty="0"/>
              <a:t>', составляем задачу, двойственную исходной. Матрицы </a:t>
            </a:r>
            <a:r>
              <a:rPr lang="ru-RU" i="1" dirty="0"/>
              <a:t>B</a:t>
            </a:r>
            <a:r>
              <a:rPr lang="ru-RU" dirty="0"/>
              <a:t> и </a:t>
            </a:r>
            <a:r>
              <a:rPr lang="ru-RU" i="1" dirty="0"/>
              <a:t>B</a:t>
            </a:r>
            <a:r>
              <a:rPr lang="ru-RU" dirty="0"/>
              <a:t>' имеют вид</a:t>
            </a:r>
          </a:p>
        </p:txBody>
      </p:sp>
      <p:pic>
        <p:nvPicPr>
          <p:cNvPr id="5122" name="Picture 2" descr="https://function-x.ru/linprog/dz01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419" y="4437112"/>
            <a:ext cx="3116040" cy="141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933056"/>
            <a:ext cx="2448272" cy="2380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722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492" y="1052736"/>
            <a:ext cx="6777317" cy="4779893"/>
          </a:xfrm>
        </p:spPr>
        <p:txBody>
          <a:bodyPr/>
          <a:lstStyle/>
          <a:p>
            <a:pPr marL="68580" indent="0" algn="just">
              <a:buNone/>
            </a:pPr>
            <a:r>
              <a:rPr lang="ru-RU" dirty="0"/>
              <a:t>Таким образом, двойственная задача линейного программирования сводится к нахождению минимума функции </a:t>
            </a:r>
          </a:p>
          <a:p>
            <a:pPr marL="68580" indent="0">
              <a:buNone/>
            </a:pPr>
            <a:endParaRPr lang="ru-RU" dirty="0"/>
          </a:p>
          <a:p>
            <a:pPr marL="68580" indent="0">
              <a:buNone/>
            </a:pPr>
            <a:r>
              <a:rPr lang="ru-RU" dirty="0"/>
              <a:t> при ограничениях</a:t>
            </a: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276872"/>
            <a:ext cx="2708609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431680"/>
            <a:ext cx="4004753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9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73144"/>
          </a:xfrm>
        </p:spPr>
        <p:txBody>
          <a:bodyPr>
            <a:normAutofit fontScale="90000"/>
          </a:bodyPr>
          <a:lstStyle/>
          <a:p>
            <a:r>
              <a:rPr lang="ru-RU" dirty="0"/>
              <a:t>Правила составления задачи в общей форме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492" y="1988840"/>
            <a:ext cx="6777317" cy="3843789"/>
          </a:xfrm>
        </p:spPr>
        <p:txBody>
          <a:bodyPr>
            <a:normAutofit fontScale="92500" lnSpcReduction="20000"/>
          </a:bodyPr>
          <a:lstStyle/>
          <a:p>
            <a:pPr marL="525780" indent="-457200" algn="just">
              <a:buFont typeface="+mj-lt"/>
              <a:buAutoNum type="arabicPeriod"/>
            </a:pPr>
            <a:r>
              <a:rPr lang="ru-RU" dirty="0"/>
              <a:t>Свободные члены в прямой задаче - коэффициенты функции цели в двойственной задаче.</a:t>
            </a:r>
          </a:p>
          <a:p>
            <a:pPr marL="525780" indent="-457200" algn="just">
              <a:buFont typeface="+mj-lt"/>
              <a:buAutoNum type="arabicPeriod"/>
            </a:pPr>
            <a:r>
              <a:rPr lang="ru-RU" dirty="0"/>
              <a:t>Коэффициенты функции цели в прямой задаче - свободные члены в двойственной задаче.</a:t>
            </a:r>
          </a:p>
          <a:p>
            <a:pPr marL="525780" indent="-457200" algn="just">
              <a:buFont typeface="+mj-lt"/>
              <a:buAutoNum type="arabicPeriod"/>
            </a:pPr>
            <a:r>
              <a:rPr lang="ru-RU" dirty="0"/>
              <a:t>Расширенная матрица в прямой задаче - транспонированная расширенная матрица в двойственной задаче.</a:t>
            </a:r>
          </a:p>
          <a:p>
            <a:pPr marL="525780" indent="-457200" algn="just">
              <a:buFont typeface="+mj-lt"/>
              <a:buAutoNum type="arabicPeriod"/>
            </a:pPr>
            <a:r>
              <a:rPr lang="ru-RU" i="1" dirty="0"/>
              <a:t>j</a:t>
            </a:r>
            <a:r>
              <a:rPr lang="ru-RU" dirty="0"/>
              <a:t>-й неизвестный в прямой задаче неотрицательный - </a:t>
            </a:r>
            <a:r>
              <a:rPr lang="ru-RU" i="1" dirty="0"/>
              <a:t>j</a:t>
            </a:r>
            <a:r>
              <a:rPr lang="ru-RU" dirty="0"/>
              <a:t>-е неравенство в двойственной задаче со знаком "больше или равно".</a:t>
            </a:r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621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3492" y="836712"/>
            <a:ext cx="6777317" cy="5688632"/>
          </a:xfrm>
        </p:spPr>
        <p:txBody>
          <a:bodyPr>
            <a:normAutofit fontScale="85000" lnSpcReduction="20000"/>
          </a:bodyPr>
          <a:lstStyle/>
          <a:p>
            <a:pPr marL="68580" indent="0" algn="just">
              <a:buNone/>
            </a:pPr>
            <a:r>
              <a:rPr lang="ru-RU" i="1" dirty="0"/>
              <a:t>5. j</a:t>
            </a:r>
            <a:r>
              <a:rPr lang="ru-RU" dirty="0"/>
              <a:t>-й неизвестный в прямой задаче без ограничения знака - </a:t>
            </a:r>
            <a:r>
              <a:rPr lang="ru-RU" i="1" dirty="0"/>
              <a:t>j</a:t>
            </a:r>
            <a:r>
              <a:rPr lang="ru-RU" dirty="0"/>
              <a:t>-е ограничение в двойственной задаче в виде уравнения.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i="1" dirty="0"/>
              <a:t>6. j</a:t>
            </a:r>
            <a:r>
              <a:rPr lang="ru-RU" dirty="0"/>
              <a:t>-й неизвестный в прямой задаче неположительный - </a:t>
            </a:r>
            <a:r>
              <a:rPr lang="ru-RU" i="1" dirty="0"/>
              <a:t>j</a:t>
            </a:r>
            <a:r>
              <a:rPr lang="ru-RU" dirty="0"/>
              <a:t>-е неравенство в двойственной задаче со знаком "меньше или равно".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i="1" dirty="0"/>
              <a:t>7. i</a:t>
            </a:r>
            <a:r>
              <a:rPr lang="ru-RU" dirty="0"/>
              <a:t>-е неравенство в прямой задаче со знаком "меньше или равно" - </a:t>
            </a:r>
            <a:r>
              <a:rPr lang="ru-RU" i="1" dirty="0"/>
              <a:t>i</a:t>
            </a:r>
            <a:r>
              <a:rPr lang="ru-RU" dirty="0"/>
              <a:t>-е неизвестный в двойственной задаче неотрицательный.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i="1" dirty="0"/>
              <a:t>8. i</a:t>
            </a:r>
            <a:r>
              <a:rPr lang="ru-RU" dirty="0"/>
              <a:t>-е ограничение в прямой задаче в виде уравнения - </a:t>
            </a:r>
            <a:r>
              <a:rPr lang="ru-RU" i="1" dirty="0"/>
              <a:t>i</a:t>
            </a:r>
            <a:r>
              <a:rPr lang="ru-RU" dirty="0"/>
              <a:t>-й неизвестный в двойственной задаче без ограничения знака.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i="1" dirty="0"/>
              <a:t>9. i</a:t>
            </a:r>
            <a:r>
              <a:rPr lang="ru-RU" dirty="0"/>
              <a:t>-е неравенство в прямой задаче со знаком "больше или равно" - </a:t>
            </a:r>
            <a:r>
              <a:rPr lang="ru-RU" i="1" dirty="0"/>
              <a:t>i</a:t>
            </a:r>
            <a:r>
              <a:rPr lang="ru-RU" dirty="0"/>
              <a:t>-й неизвестный в двойственной задаче неположительный.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021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692696"/>
            <a:ext cx="7024744" cy="1143000"/>
          </a:xfrm>
        </p:spPr>
        <p:txBody>
          <a:bodyPr>
            <a:normAutofit fontScale="90000"/>
          </a:bodyPr>
          <a:lstStyle/>
          <a:p>
            <a:pPr algn="just"/>
            <a:r>
              <a:rPr lang="ru-RU" b="1" dirty="0"/>
              <a:t>Основные теоремы двойственности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1844824"/>
            <a:ext cx="7416824" cy="4392488"/>
          </a:xfrm>
        </p:spPr>
        <p:txBody>
          <a:bodyPr>
            <a:normAutofit fontScale="92500" lnSpcReduction="10000"/>
          </a:bodyPr>
          <a:lstStyle/>
          <a:p>
            <a:pPr marL="68580" indent="0" algn="just">
              <a:buNone/>
            </a:pPr>
            <a:r>
              <a:rPr lang="ru-RU" b="1" dirty="0"/>
              <a:t>Теорема 1.</a:t>
            </a:r>
            <a:r>
              <a:rPr lang="ru-RU" dirty="0"/>
              <a:t> </a:t>
            </a:r>
          </a:p>
          <a:p>
            <a:pPr marL="68580" indent="0" algn="just">
              <a:buNone/>
            </a:pPr>
            <a:r>
              <a:rPr lang="ru-RU" i="1" dirty="0"/>
              <a:t>Для прямой и двойственной задач в силе одно и только одно из следующих утверждений. </a:t>
            </a:r>
          </a:p>
          <a:p>
            <a:pPr marL="525780" indent="-457200" algn="just">
              <a:buAutoNum type="arabicPeriod"/>
            </a:pPr>
            <a:r>
              <a:rPr lang="ru-RU" i="1" dirty="0"/>
              <a:t>Если одна из задач линейного программирования имеет конечный оптимум, то и двойственная к ней задача также имеет конечный оптимум, причём оптимальные значения линейных форм обеих задач совпадают, т. е. </a:t>
            </a:r>
            <a:r>
              <a:rPr lang="ru-RU" i="1" dirty="0" err="1"/>
              <a:t>F</a:t>
            </a:r>
            <a:r>
              <a:rPr lang="ru-RU" dirty="0" err="1"/>
              <a:t>max</a:t>
            </a:r>
            <a:r>
              <a:rPr lang="ru-RU" dirty="0"/>
              <a:t> = </a:t>
            </a:r>
            <a:r>
              <a:rPr lang="ru-RU" i="1" dirty="0" err="1"/>
              <a:t>Z</a:t>
            </a:r>
            <a:r>
              <a:rPr lang="ru-RU" dirty="0" err="1"/>
              <a:t>min</a:t>
            </a:r>
            <a:r>
              <a:rPr lang="ru-RU" dirty="0"/>
              <a:t> </a:t>
            </a:r>
            <a:r>
              <a:rPr lang="ru-RU" i="1" dirty="0"/>
              <a:t>или</a:t>
            </a:r>
            <a:r>
              <a:rPr lang="ru-RU" dirty="0"/>
              <a:t> </a:t>
            </a:r>
            <a:r>
              <a:rPr lang="ru-RU" i="1" dirty="0" err="1"/>
              <a:t>F</a:t>
            </a:r>
            <a:r>
              <a:rPr lang="ru-RU" dirty="0" err="1"/>
              <a:t>min</a:t>
            </a:r>
            <a:r>
              <a:rPr lang="ru-RU" dirty="0"/>
              <a:t> = </a:t>
            </a:r>
            <a:r>
              <a:rPr lang="ru-RU" i="1" dirty="0" err="1"/>
              <a:t>Z</a:t>
            </a:r>
            <a:r>
              <a:rPr lang="ru-RU" dirty="0" err="1"/>
              <a:t>max</a:t>
            </a:r>
            <a:r>
              <a:rPr lang="ru-RU" dirty="0"/>
              <a:t>. </a:t>
            </a:r>
          </a:p>
          <a:p>
            <a:pPr marL="525780" indent="-457200" algn="just">
              <a:buAutoNum type="arabicPeriod"/>
            </a:pPr>
            <a:r>
              <a:rPr lang="ru-RU" i="1" dirty="0"/>
              <a:t>Если линейная форма одной из двойственных задач не ограничена, то условия другой задачи противоречивы. </a:t>
            </a:r>
          </a:p>
          <a:p>
            <a:pPr marL="68580" indent="0" algn="just">
              <a:buNone/>
            </a:pPr>
            <a:r>
              <a:rPr lang="ru-RU" i="1" dirty="0"/>
              <a:t> </a:t>
            </a:r>
            <a:endParaRPr lang="ru-RU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620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764704"/>
            <a:ext cx="7848872" cy="5760640"/>
          </a:xfrm>
        </p:spPr>
        <p:txBody>
          <a:bodyPr>
            <a:normAutofit fontScale="92500"/>
          </a:bodyPr>
          <a:lstStyle/>
          <a:p>
            <a:pPr marL="68580" indent="0" algn="just">
              <a:buNone/>
            </a:pPr>
            <a:r>
              <a:rPr lang="ru-RU" dirty="0"/>
              <a:t>При решении </a:t>
            </a:r>
            <a:r>
              <a:rPr lang="ru-RU" b="1" dirty="0"/>
              <a:t>симплекс-методом</a:t>
            </a:r>
            <a:r>
              <a:rPr lang="ru-RU" dirty="0"/>
              <a:t> исходной задачи для сведения системы неравенств к эквивалентной ей системе уравнений нужно ввести </a:t>
            </a:r>
            <a:r>
              <a:rPr lang="ru-RU" i="1" dirty="0"/>
              <a:t>m</a:t>
            </a:r>
            <a:r>
              <a:rPr lang="ru-RU" dirty="0"/>
              <a:t> добавочных неотрицательных переменных (по числу неравенств в системе ограничений) </a:t>
            </a:r>
            <a:r>
              <a:rPr lang="ru-RU" i="1" dirty="0"/>
              <a:t>x</a:t>
            </a:r>
            <a:r>
              <a:rPr lang="ru-RU" baseline="-25000" dirty="0"/>
              <a:t>n+1</a:t>
            </a:r>
            <a:r>
              <a:rPr lang="ru-RU" dirty="0"/>
              <a:t>, </a:t>
            </a:r>
            <a:r>
              <a:rPr lang="ru-RU" i="1" dirty="0"/>
              <a:t>x</a:t>
            </a:r>
            <a:r>
              <a:rPr lang="ru-RU" baseline="-25000" dirty="0"/>
              <a:t>n+2</a:t>
            </a:r>
            <a:r>
              <a:rPr lang="ru-RU" dirty="0"/>
              <a:t>, ..., </a:t>
            </a:r>
            <a:r>
              <a:rPr lang="ru-RU" i="1" dirty="0" err="1"/>
              <a:t>x</a:t>
            </a:r>
            <a:r>
              <a:rPr lang="ru-RU" baseline="-25000" dirty="0" err="1"/>
              <a:t>n+i</a:t>
            </a:r>
            <a:r>
              <a:rPr lang="ru-RU" dirty="0"/>
              <a:t>, ..., </a:t>
            </a:r>
            <a:r>
              <a:rPr lang="ru-RU" i="1" dirty="0" err="1"/>
              <a:t>x</a:t>
            </a:r>
            <a:r>
              <a:rPr lang="ru-RU" baseline="-25000" dirty="0" err="1"/>
              <a:t>n+m</a:t>
            </a:r>
            <a:r>
              <a:rPr lang="ru-RU" dirty="0"/>
              <a:t>, где </a:t>
            </a:r>
            <a:r>
              <a:rPr lang="ru-RU" i="1" dirty="0"/>
              <a:t>i</a:t>
            </a:r>
            <a:r>
              <a:rPr lang="ru-RU" dirty="0"/>
              <a:t> = 1, 2, ..., </a:t>
            </a:r>
            <a:r>
              <a:rPr lang="ru-RU" i="1" dirty="0"/>
              <a:t>m</a:t>
            </a:r>
            <a:r>
              <a:rPr lang="ru-RU" dirty="0"/>
              <a:t> означает номер неравенства, в которое была введена добавочная переменная </a:t>
            </a:r>
            <a:r>
              <a:rPr lang="ru-RU" i="1" dirty="0" err="1"/>
              <a:t>x</a:t>
            </a:r>
            <a:r>
              <a:rPr lang="ru-RU" baseline="-25000" dirty="0" err="1"/>
              <a:t>n+i</a:t>
            </a:r>
            <a:r>
              <a:rPr lang="ru-RU" dirty="0"/>
              <a:t>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Система ограничений двойственной задачи состоит из </a:t>
            </a:r>
            <a:r>
              <a:rPr lang="ru-RU" i="1" dirty="0"/>
              <a:t>n</a:t>
            </a:r>
            <a:r>
              <a:rPr lang="ru-RU" dirty="0"/>
              <a:t> неравенств, содержащих </a:t>
            </a:r>
            <a:r>
              <a:rPr lang="ru-RU" i="1" dirty="0"/>
              <a:t>m </a:t>
            </a:r>
            <a:r>
              <a:rPr lang="ru-RU" dirty="0"/>
              <a:t>переменных. Если решать эту задачу симплекс-методом, то следует ввести </a:t>
            </a:r>
            <a:r>
              <a:rPr lang="ru-RU" i="1" dirty="0"/>
              <a:t>n </a:t>
            </a:r>
            <a:r>
              <a:rPr lang="ru-RU" dirty="0"/>
              <a:t>добавочных неотрицательных переменных </a:t>
            </a:r>
            <a:r>
              <a:rPr lang="ru-RU" i="1" dirty="0"/>
              <a:t>y</a:t>
            </a:r>
            <a:r>
              <a:rPr lang="ru-RU" baseline="-25000" dirty="0"/>
              <a:t>m+1</a:t>
            </a:r>
            <a:r>
              <a:rPr lang="ru-RU" dirty="0"/>
              <a:t>, </a:t>
            </a:r>
            <a:r>
              <a:rPr lang="ru-RU" i="1" dirty="0"/>
              <a:t>y</a:t>
            </a:r>
            <a:r>
              <a:rPr lang="ru-RU" baseline="-25000" dirty="0"/>
              <a:t>m+2</a:t>
            </a:r>
            <a:r>
              <a:rPr lang="ru-RU" dirty="0"/>
              <a:t>, ..., </a:t>
            </a:r>
            <a:r>
              <a:rPr lang="ru-RU" i="1" dirty="0" err="1"/>
              <a:t>y</a:t>
            </a:r>
            <a:r>
              <a:rPr lang="ru-RU" baseline="-25000" dirty="0" err="1"/>
              <a:t>m+j</a:t>
            </a:r>
            <a:r>
              <a:rPr lang="ru-RU" dirty="0"/>
              <a:t>, ..., </a:t>
            </a:r>
            <a:r>
              <a:rPr lang="ru-RU" i="1" dirty="0" err="1"/>
              <a:t>y</a:t>
            </a:r>
            <a:r>
              <a:rPr lang="ru-RU" baseline="-25000" dirty="0" err="1"/>
              <a:t>m+n</a:t>
            </a:r>
            <a:r>
              <a:rPr lang="ru-RU" dirty="0"/>
              <a:t>, где </a:t>
            </a:r>
            <a:r>
              <a:rPr lang="ru-RU" i="1" dirty="0"/>
              <a:t>j</a:t>
            </a:r>
            <a:r>
              <a:rPr lang="ru-RU" dirty="0"/>
              <a:t> = 1, 2, ..., </a:t>
            </a:r>
            <a:r>
              <a:rPr lang="ru-RU" i="1" dirty="0"/>
              <a:t>n </a:t>
            </a:r>
            <a:r>
              <a:rPr lang="ru-RU" dirty="0"/>
              <a:t>означает номер неравенства системы ограничений двойственной задачи, в которое была введена добавочная переменная </a:t>
            </a:r>
            <a:r>
              <a:rPr lang="ru-RU" i="1" dirty="0" err="1"/>
              <a:t>y</a:t>
            </a:r>
            <a:r>
              <a:rPr lang="ru-RU" baseline="-25000" dirty="0" err="1"/>
              <a:t>m+j</a:t>
            </a:r>
            <a:r>
              <a:rPr lang="ru-RU" dirty="0"/>
              <a:t>.</a:t>
            </a:r>
          </a:p>
          <a:p>
            <a:pPr marL="68580" indent="0" algn="just">
              <a:buNone/>
            </a:pPr>
            <a:endParaRPr lang="ru-RU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180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836712"/>
            <a:ext cx="7920880" cy="5616624"/>
          </a:xfrm>
        </p:spPr>
        <p:txBody>
          <a:bodyPr>
            <a:normAutofit fontScale="92500" lnSpcReduction="20000"/>
          </a:bodyPr>
          <a:lstStyle/>
          <a:p>
            <a:pPr marL="68580" indent="0" algn="just">
              <a:buNone/>
            </a:pPr>
            <a:r>
              <a:rPr lang="ru-RU" dirty="0"/>
              <a:t>Всё вышесказанное было приведено для того, чтобы установить следующее соответствие между переменными в исходной и двойственной задачах линейного программирования: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ctr">
              <a:buNone/>
            </a:pPr>
            <a:r>
              <a:rPr lang="ru-RU" i="1" dirty="0"/>
              <a:t>x</a:t>
            </a:r>
            <a:r>
              <a:rPr lang="ru-RU" baseline="-25000" dirty="0"/>
              <a:t>1</a:t>
            </a:r>
            <a:r>
              <a:rPr lang="ru-RU" dirty="0"/>
              <a:t> ↔ </a:t>
            </a:r>
            <a:r>
              <a:rPr lang="ru-RU" i="1" dirty="0"/>
              <a:t>y</a:t>
            </a:r>
            <a:r>
              <a:rPr lang="ru-RU" baseline="-25000" dirty="0"/>
              <a:t>m+1</a:t>
            </a:r>
          </a:p>
          <a:p>
            <a:pPr marL="68580" indent="0" algn="ctr">
              <a:buNone/>
            </a:pPr>
            <a:r>
              <a:rPr lang="ru-RU" i="1" dirty="0"/>
              <a:t>x</a:t>
            </a:r>
            <a:r>
              <a:rPr lang="ru-RU" baseline="-25000" dirty="0"/>
              <a:t>2</a:t>
            </a:r>
            <a:r>
              <a:rPr lang="ru-RU" dirty="0"/>
              <a:t> ↔ </a:t>
            </a:r>
            <a:r>
              <a:rPr lang="ru-RU" i="1" baseline="-25000" dirty="0"/>
              <a:t>y</a:t>
            </a:r>
            <a:r>
              <a:rPr lang="ru-RU" baseline="-25000" dirty="0"/>
              <a:t>m+2</a:t>
            </a:r>
          </a:p>
          <a:p>
            <a:pPr marL="68580" indent="0" algn="ctr">
              <a:buNone/>
            </a:pPr>
            <a:r>
              <a:rPr lang="ru-RU" dirty="0"/>
              <a:t>...</a:t>
            </a:r>
          </a:p>
          <a:p>
            <a:pPr marL="68580" indent="0" algn="ctr">
              <a:buNone/>
            </a:pPr>
            <a:r>
              <a:rPr lang="ru-RU" i="1" dirty="0" err="1"/>
              <a:t>x</a:t>
            </a:r>
            <a:r>
              <a:rPr lang="ru-RU" baseline="-25000" dirty="0" err="1"/>
              <a:t>j</a:t>
            </a:r>
            <a:r>
              <a:rPr lang="ru-RU" dirty="0"/>
              <a:t> ↔ </a:t>
            </a:r>
            <a:r>
              <a:rPr lang="ru-RU" i="1" dirty="0" err="1"/>
              <a:t>y</a:t>
            </a:r>
            <a:r>
              <a:rPr lang="ru-RU" baseline="-25000" dirty="0" err="1"/>
              <a:t>m+j</a:t>
            </a:r>
            <a:endParaRPr lang="ru-RU" baseline="-25000" dirty="0"/>
          </a:p>
          <a:p>
            <a:pPr marL="68580" indent="0" algn="ctr">
              <a:buNone/>
            </a:pPr>
            <a:r>
              <a:rPr lang="ru-RU" dirty="0"/>
              <a:t>...</a:t>
            </a:r>
          </a:p>
          <a:p>
            <a:pPr marL="68580" indent="0" algn="ctr">
              <a:buNone/>
            </a:pPr>
            <a:r>
              <a:rPr lang="ru-RU" i="1" dirty="0" err="1"/>
              <a:t>x</a:t>
            </a:r>
            <a:r>
              <a:rPr lang="ru-RU" baseline="-25000" dirty="0" err="1"/>
              <a:t>n</a:t>
            </a:r>
            <a:r>
              <a:rPr lang="ru-RU" dirty="0"/>
              <a:t> ↔ </a:t>
            </a:r>
            <a:r>
              <a:rPr lang="ru-RU" i="1" dirty="0" err="1"/>
              <a:t>y</a:t>
            </a:r>
            <a:r>
              <a:rPr lang="ru-RU" baseline="-25000" dirty="0" err="1"/>
              <a:t>m+n</a:t>
            </a:r>
            <a:endParaRPr lang="ru-RU" baseline="-25000" dirty="0"/>
          </a:p>
          <a:p>
            <a:pPr marL="68580" indent="0" algn="ctr">
              <a:buNone/>
            </a:pPr>
            <a:r>
              <a:rPr lang="ru-RU" i="1" dirty="0"/>
              <a:t>x</a:t>
            </a:r>
            <a:r>
              <a:rPr lang="ru-RU" baseline="-25000" dirty="0"/>
              <a:t>n+1</a:t>
            </a:r>
            <a:r>
              <a:rPr lang="ru-RU" dirty="0"/>
              <a:t> ↔ </a:t>
            </a:r>
            <a:r>
              <a:rPr lang="ru-RU" i="1" dirty="0"/>
              <a:t>y</a:t>
            </a:r>
            <a:r>
              <a:rPr lang="ru-RU" baseline="-25000" dirty="0"/>
              <a:t>1</a:t>
            </a:r>
          </a:p>
          <a:p>
            <a:pPr marL="68580" indent="0" algn="ctr">
              <a:buNone/>
            </a:pPr>
            <a:r>
              <a:rPr lang="ru-RU" i="1" dirty="0"/>
              <a:t>x</a:t>
            </a:r>
            <a:r>
              <a:rPr lang="ru-RU" baseline="-25000" dirty="0"/>
              <a:t>n+2</a:t>
            </a:r>
            <a:r>
              <a:rPr lang="ru-RU" dirty="0"/>
              <a:t> ↔ </a:t>
            </a:r>
            <a:r>
              <a:rPr lang="ru-RU" i="1" dirty="0"/>
              <a:t>y</a:t>
            </a:r>
            <a:r>
              <a:rPr lang="ru-RU" baseline="-25000" dirty="0"/>
              <a:t>2</a:t>
            </a:r>
          </a:p>
          <a:p>
            <a:pPr marL="68580" indent="0" algn="ctr">
              <a:buNone/>
            </a:pPr>
            <a:r>
              <a:rPr lang="ru-RU" dirty="0"/>
              <a:t>...</a:t>
            </a:r>
          </a:p>
          <a:p>
            <a:pPr marL="68580" indent="0" algn="ctr">
              <a:buNone/>
            </a:pPr>
            <a:r>
              <a:rPr lang="ru-RU" i="1" dirty="0" err="1"/>
              <a:t>x</a:t>
            </a:r>
            <a:r>
              <a:rPr lang="ru-RU" baseline="-25000" dirty="0" err="1"/>
              <a:t>n+i</a:t>
            </a:r>
            <a:r>
              <a:rPr lang="ru-RU" dirty="0"/>
              <a:t> ↔ </a:t>
            </a:r>
            <a:r>
              <a:rPr lang="ru-RU" i="1" dirty="0" err="1"/>
              <a:t>y</a:t>
            </a:r>
            <a:r>
              <a:rPr lang="ru-RU" baseline="-25000" dirty="0" err="1"/>
              <a:t>i</a:t>
            </a:r>
            <a:endParaRPr lang="ru-RU" baseline="-25000" dirty="0"/>
          </a:p>
          <a:p>
            <a:pPr marL="68580" indent="0" algn="ctr">
              <a:buNone/>
            </a:pPr>
            <a:r>
              <a:rPr lang="ru-RU" dirty="0"/>
              <a:t>...</a:t>
            </a:r>
          </a:p>
          <a:p>
            <a:pPr marL="68580" indent="0" algn="ctr">
              <a:buNone/>
            </a:pPr>
            <a:r>
              <a:rPr lang="ru-RU" i="1" dirty="0" err="1"/>
              <a:t>x</a:t>
            </a:r>
            <a:r>
              <a:rPr lang="ru-RU" baseline="-25000" dirty="0" err="1"/>
              <a:t>n+m</a:t>
            </a:r>
            <a:r>
              <a:rPr lang="ru-RU" dirty="0"/>
              <a:t> ↔ </a:t>
            </a:r>
            <a:r>
              <a:rPr lang="ru-RU" i="1" dirty="0" err="1"/>
              <a:t>y</a:t>
            </a:r>
            <a:r>
              <a:rPr lang="ru-RU" baseline="-25000" dirty="0" err="1"/>
              <a:t>m</a:t>
            </a:r>
            <a:endParaRPr lang="ru-RU" baseline="-25000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940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76470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Вывод по Теореме 1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12776"/>
            <a:ext cx="7704856" cy="4752528"/>
          </a:xfrm>
        </p:spPr>
        <p:txBody>
          <a:bodyPr>
            <a:normAutofit fontScale="85000" lnSpcReduction="10000"/>
          </a:bodyPr>
          <a:lstStyle/>
          <a:p>
            <a:pPr marL="68580" indent="0" algn="just">
              <a:buNone/>
            </a:pPr>
            <a:r>
              <a:rPr lang="ru-RU" dirty="0"/>
              <a:t>То есть, основные переменные исходной задачи, в порядке их следования, соответствуют добавочным переменным двойственной задачи, тоже в порядке их следования. В свою очередь добавочные переменные исходной задачи, в порядке их следования, соответствуют основным переменным двойственной задачи, также в порядке их следования.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Иными словами, каждой первоначальной переменной исходной </a:t>
            </a:r>
            <a:r>
              <a:rPr lang="ru-RU" dirty="0" err="1"/>
              <a:t>задачи</a:t>
            </a:r>
            <a:r>
              <a:rPr lang="ru-RU" i="1" dirty="0" err="1"/>
              <a:t>x</a:t>
            </a:r>
            <a:r>
              <a:rPr lang="ru-RU" i="1" dirty="0"/>
              <a:t> </a:t>
            </a:r>
            <a:r>
              <a:rPr lang="ru-RU" dirty="0"/>
              <a:t>j (</a:t>
            </a:r>
            <a:r>
              <a:rPr lang="ru-RU" i="1" dirty="0"/>
              <a:t>j</a:t>
            </a:r>
            <a:r>
              <a:rPr lang="ru-RU" dirty="0"/>
              <a:t> = 1, 2, ..., </a:t>
            </a:r>
            <a:r>
              <a:rPr lang="ru-RU" i="1" dirty="0"/>
              <a:t>n</a:t>
            </a:r>
            <a:r>
              <a:rPr lang="ru-RU" dirty="0"/>
              <a:t>) ставится в соответствие добавочная переменная </a:t>
            </a:r>
            <a:r>
              <a:rPr lang="ru-RU" i="1" dirty="0" err="1"/>
              <a:t>y</a:t>
            </a:r>
            <a:r>
              <a:rPr lang="ru-RU" baseline="-25000" dirty="0" err="1"/>
              <a:t>m+j</a:t>
            </a:r>
            <a:r>
              <a:rPr lang="ru-RU" dirty="0"/>
              <a:t>, введённая в </a:t>
            </a:r>
            <a:r>
              <a:rPr lang="ru-RU" i="1" dirty="0"/>
              <a:t>j</a:t>
            </a:r>
            <a:r>
              <a:rPr lang="ru-RU" dirty="0"/>
              <a:t>-е неравенство двойственной задачи, а каждой добавочной переменной </a:t>
            </a:r>
            <a:r>
              <a:rPr lang="ru-RU" i="1" dirty="0" err="1"/>
              <a:t>x</a:t>
            </a:r>
            <a:r>
              <a:rPr lang="ru-RU" baseline="-25000" dirty="0" err="1"/>
              <a:t>n+i</a:t>
            </a:r>
            <a:r>
              <a:rPr lang="ru-RU" dirty="0"/>
              <a:t> исходной задачи (</a:t>
            </a:r>
            <a:r>
              <a:rPr lang="ru-RU" i="1" dirty="0"/>
              <a:t>i</a:t>
            </a:r>
            <a:r>
              <a:rPr lang="ru-RU" dirty="0"/>
              <a:t> = 1, 2, ..., </a:t>
            </a:r>
            <a:r>
              <a:rPr lang="ru-RU" i="1" dirty="0"/>
              <a:t>m</a:t>
            </a:r>
            <a:r>
              <a:rPr lang="ru-RU" dirty="0"/>
              <a:t>), введённой в </a:t>
            </a:r>
            <a:r>
              <a:rPr lang="ru-RU" i="1" dirty="0"/>
              <a:t>i</a:t>
            </a:r>
            <a:r>
              <a:rPr lang="ru-RU" dirty="0"/>
              <a:t>-е неравенство исходной задачи, - первоначальная переменная </a:t>
            </a:r>
            <a:r>
              <a:rPr lang="ru-RU" i="1" dirty="0" err="1"/>
              <a:t>y</a:t>
            </a:r>
            <a:r>
              <a:rPr lang="ru-RU" baseline="-25000" dirty="0" err="1"/>
              <a:t>i</a:t>
            </a:r>
            <a:r>
              <a:rPr lang="ru-RU" dirty="0"/>
              <a:t> двойственной задачи.</a:t>
            </a:r>
          </a:p>
          <a:p>
            <a:pPr marL="68580" indent="0" algn="just">
              <a:buNone/>
            </a:pPr>
            <a:endParaRPr lang="ru-RU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272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980728"/>
            <a:ext cx="7272808" cy="5184576"/>
          </a:xfrm>
        </p:spPr>
        <p:txBody>
          <a:bodyPr/>
          <a:lstStyle/>
          <a:p>
            <a:pPr marL="68580" indent="0" algn="just">
              <a:buNone/>
            </a:pPr>
            <a:r>
              <a:rPr lang="ru-RU" b="1" dirty="0"/>
              <a:t>Теорема 2.</a:t>
            </a:r>
            <a:r>
              <a:rPr lang="ru-RU" dirty="0"/>
              <a:t> </a:t>
            </a:r>
          </a:p>
          <a:p>
            <a:pPr marL="68580" indent="0" algn="just">
              <a:buNone/>
            </a:pPr>
            <a:r>
              <a:rPr lang="ru-RU" i="1" dirty="0"/>
              <a:t>Компоненты оптимального решения одной из задач (прямой или двойственной) равны абсолютным величинам коэффициентов при соответствующих переменных в выражении функции цели (линейной формы) другой задачи (двойственной или прямой) при достижении ею оптимума и при условии, что полученное оптимальное решение не является вырожденным.</a:t>
            </a:r>
            <a:endParaRPr lang="ru-RU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734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24109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3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1412776"/>
            <a:ext cx="7560840" cy="4896544"/>
          </a:xfrm>
        </p:spPr>
        <p:txBody>
          <a:bodyPr/>
          <a:lstStyle/>
          <a:p>
            <a:pPr marL="68580" indent="0" algn="just">
              <a:buNone/>
            </a:pPr>
            <a:r>
              <a:rPr lang="ru-RU" dirty="0"/>
              <a:t>На основании решений прямой и двойственной задач линейного программирования из примера 1 убедиться в справедливости теорем 1 и 2.</a:t>
            </a:r>
          </a:p>
          <a:p>
            <a:pPr marL="68580" indent="0" algn="just">
              <a:buNone/>
            </a:pPr>
            <a:r>
              <a:rPr lang="ru-RU" dirty="0"/>
              <a:t>В примере 1 была дана исходная задача: найти максимум функции   </a:t>
            </a:r>
          </a:p>
          <a:p>
            <a:pPr marL="68580" indent="0" algn="just">
              <a:buNone/>
            </a:pPr>
            <a:r>
              <a:rPr lang="ru-RU" dirty="0"/>
              <a:t>при ограничениях</a:t>
            </a:r>
          </a:p>
          <a:p>
            <a:pPr marL="68580" indent="0" algn="just">
              <a:buNone/>
            </a:pPr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991" y="3356992"/>
            <a:ext cx="1410281" cy="570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 descr="https://function-x.ru/linprog/dz010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651" y="4149080"/>
            <a:ext cx="1737045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1028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980728"/>
            <a:ext cx="7488832" cy="4851901"/>
          </a:xfrm>
        </p:spPr>
        <p:txBody>
          <a:bodyPr>
            <a:normAutofit/>
          </a:bodyPr>
          <a:lstStyle/>
          <a:p>
            <a:pPr marL="68580" indent="0" algn="just">
              <a:buNone/>
            </a:pPr>
            <a:r>
              <a:rPr lang="ru-RU" dirty="0"/>
              <a:t>Мы составили двойственную ей задачу: найти минимум функции </a:t>
            </a:r>
          </a:p>
          <a:p>
            <a:pPr marL="68580" indent="0" algn="just">
              <a:buNone/>
            </a:pPr>
            <a:r>
              <a:rPr lang="ru-RU" dirty="0"/>
              <a:t>при ограничениях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Для решения прямой задачи симплекс-методом система ограничений-неравенств сводится к системе уравнений путём введения добавочных неотрицательных переменных </a:t>
            </a:r>
            <a:r>
              <a:rPr lang="ru-RU" i="1" dirty="0"/>
              <a:t>x</a:t>
            </a:r>
            <a:r>
              <a:rPr lang="ru-RU" baseline="-25000" dirty="0"/>
              <a:t>3</a:t>
            </a:r>
            <a:r>
              <a:rPr lang="ru-RU" dirty="0"/>
              <a:t>, </a:t>
            </a:r>
            <a:r>
              <a:rPr lang="ru-RU" i="1" dirty="0"/>
              <a:t>x</a:t>
            </a:r>
            <a:r>
              <a:rPr lang="ru-RU" baseline="-25000" dirty="0"/>
              <a:t>4</a:t>
            </a:r>
            <a:r>
              <a:rPr lang="ru-RU" dirty="0"/>
              <a:t>, </a:t>
            </a:r>
            <a:r>
              <a:rPr lang="ru-RU" i="1" dirty="0"/>
              <a:t>x</a:t>
            </a:r>
            <a:r>
              <a:rPr lang="ru-RU" baseline="-25000" dirty="0"/>
              <a:t>5</a:t>
            </a:r>
            <a:r>
              <a:rPr lang="ru-RU" dirty="0"/>
              <a:t>, </a:t>
            </a:r>
            <a:r>
              <a:rPr lang="ru-RU" i="1" dirty="0"/>
              <a:t>x</a:t>
            </a:r>
            <a:r>
              <a:rPr lang="ru-RU" baseline="-25000" dirty="0"/>
              <a:t>6</a:t>
            </a:r>
            <a:r>
              <a:rPr lang="ru-RU" dirty="0"/>
              <a:t>: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484784"/>
            <a:ext cx="2535554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988840"/>
            <a:ext cx="3530248" cy="123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653136"/>
            <a:ext cx="2692217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653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836712"/>
            <a:ext cx="7560840" cy="4995917"/>
          </a:xfrm>
        </p:spPr>
        <p:txBody>
          <a:bodyPr/>
          <a:lstStyle/>
          <a:p>
            <a:pPr marL="68580" indent="0" algn="just">
              <a:buNone/>
            </a:pPr>
            <a:r>
              <a:rPr lang="ru-RU" dirty="0"/>
              <a:t>Читатель может проверить, решив задачу </a:t>
            </a:r>
            <a:r>
              <a:rPr lang="ru-RU" b="1" dirty="0"/>
              <a:t>симплекс-методом</a:t>
            </a:r>
            <a:r>
              <a:rPr lang="ru-RU" dirty="0"/>
              <a:t>, что она имеет следующие решения: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а максимум целевой функции </a:t>
            </a:r>
            <a:r>
              <a:rPr lang="ru-RU" i="1" dirty="0" err="1"/>
              <a:t>F</a:t>
            </a:r>
            <a:r>
              <a:rPr lang="ru-RU" baseline="-25000" dirty="0" err="1"/>
              <a:t>max</a:t>
            </a:r>
            <a:r>
              <a:rPr lang="ru-RU" dirty="0"/>
              <a:t> = 13,</a:t>
            </a:r>
          </a:p>
          <a:p>
            <a:pPr marL="68580" indent="0" algn="just">
              <a:buNone/>
            </a:pPr>
            <a:r>
              <a:rPr lang="ru-RU" dirty="0"/>
              <a:t>при этом сама целевая функция выражается как</a:t>
            </a:r>
          </a:p>
          <a:p>
            <a:pPr marL="68580" indent="0" algn="just">
              <a:buNone/>
            </a:pPr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72816"/>
            <a:ext cx="649072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135" y="4437112"/>
            <a:ext cx="2190036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453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5576" y="836712"/>
            <a:ext cx="7920880" cy="5544616"/>
          </a:xfrm>
        </p:spPr>
        <p:txBody>
          <a:bodyPr>
            <a:normAutofit/>
          </a:bodyPr>
          <a:lstStyle/>
          <a:p>
            <a:pPr marL="68580" indent="0" algn="just">
              <a:buNone/>
            </a:pPr>
            <a:r>
              <a:rPr lang="ru-RU" dirty="0"/>
              <a:t>Система ограничений двойственной задачи сводится к системе уравнений путём введения добавочных переменных </a:t>
            </a:r>
            <a:r>
              <a:rPr lang="ru-RU" i="1" dirty="0"/>
              <a:t>y</a:t>
            </a:r>
            <a:r>
              <a:rPr lang="ru-RU" baseline="-25000" dirty="0"/>
              <a:t>5</a:t>
            </a:r>
            <a:r>
              <a:rPr lang="ru-RU" dirty="0"/>
              <a:t>, </a:t>
            </a:r>
            <a:r>
              <a:rPr lang="ru-RU" i="1" dirty="0"/>
              <a:t>y</a:t>
            </a:r>
            <a:r>
              <a:rPr lang="ru-RU" baseline="-25000" dirty="0"/>
              <a:t>6</a:t>
            </a:r>
            <a:r>
              <a:rPr lang="ru-RU" dirty="0"/>
              <a:t>: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Решение двойственной задачи симплекс-методом даёт следующий ответ: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а минимум целевой функции </a:t>
            </a:r>
            <a:r>
              <a:rPr lang="ru-RU" i="1" dirty="0" err="1"/>
              <a:t>Z</a:t>
            </a:r>
            <a:r>
              <a:rPr lang="ru-RU" baseline="-25000" dirty="0" err="1"/>
              <a:t>min</a:t>
            </a:r>
            <a:r>
              <a:rPr lang="ru-RU" dirty="0"/>
              <a:t> = 13,</a:t>
            </a:r>
          </a:p>
          <a:p>
            <a:pPr marL="68580" indent="0" algn="just">
              <a:buNone/>
            </a:pPr>
            <a:r>
              <a:rPr lang="ru-RU" dirty="0"/>
              <a:t>при этом сама целевая функция выражается как</a:t>
            </a:r>
          </a:p>
          <a:p>
            <a:pPr marL="68580" indent="0" algn="just">
              <a:buNone/>
            </a:pPr>
            <a:endParaRPr lang="ru-RU" dirty="0"/>
          </a:p>
        </p:txBody>
      </p:sp>
      <p:pic>
        <p:nvPicPr>
          <p:cNvPr id="13314" name="Picture 2" descr="https://function-x.ru/linprog/dz018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971086"/>
            <a:ext cx="2064850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 descr="https://function-x.ru/linprog/dz020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069" y="3356992"/>
            <a:ext cx="600698" cy="1486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function-x.ru/linprog/dz021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59" y="5589240"/>
            <a:ext cx="2760307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375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980728"/>
            <a:ext cx="7344816" cy="5256584"/>
          </a:xfrm>
        </p:spPr>
        <p:txBody>
          <a:bodyPr>
            <a:normAutofit fontScale="92500" lnSpcReduction="10000"/>
          </a:bodyPr>
          <a:lstStyle/>
          <a:p>
            <a:pPr marL="68580" indent="0" algn="just">
              <a:buNone/>
            </a:pPr>
            <a:r>
              <a:rPr lang="ru-RU" dirty="0"/>
              <a:t>Решив двойственную задачу, убеждаемся в справедливости первой части теоремы 1: двойственная задача тоже имеет конечный оптимум, причём </a:t>
            </a:r>
            <a:r>
              <a:rPr lang="ru-RU" i="1" dirty="0" err="1"/>
              <a:t>Z</a:t>
            </a:r>
            <a:r>
              <a:rPr lang="ru-RU" baseline="-25000" dirty="0" err="1"/>
              <a:t>min</a:t>
            </a:r>
            <a:r>
              <a:rPr lang="ru-RU" dirty="0"/>
              <a:t> = </a:t>
            </a:r>
            <a:r>
              <a:rPr lang="ru-RU" i="1" dirty="0" err="1"/>
              <a:t>F</a:t>
            </a:r>
            <a:r>
              <a:rPr lang="ru-RU" baseline="-25000" dirty="0" err="1"/>
              <a:t>max</a:t>
            </a:r>
            <a:r>
              <a:rPr lang="ru-RU" dirty="0"/>
              <a:t> = 13.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Убедимся, что справедливо также и утверждение теоремы 2. Для этого запишем переменные прямой и двойственной задачи, соблюдая их соответствие:</a:t>
            </a:r>
          </a:p>
          <a:p>
            <a:pPr marL="68580" indent="0" algn="ctr">
              <a:buNone/>
            </a:pPr>
            <a:r>
              <a:rPr lang="ru-RU" i="1" dirty="0"/>
              <a:t>x</a:t>
            </a:r>
            <a:r>
              <a:rPr lang="ru-RU" baseline="-25000" dirty="0"/>
              <a:t>1</a:t>
            </a:r>
            <a:r>
              <a:rPr lang="ru-RU" dirty="0"/>
              <a:t> ↔ </a:t>
            </a:r>
            <a:r>
              <a:rPr lang="ru-RU" i="1" dirty="0"/>
              <a:t>y</a:t>
            </a:r>
            <a:r>
              <a:rPr lang="ru-RU" baseline="-25000" dirty="0"/>
              <a:t>5</a:t>
            </a:r>
          </a:p>
          <a:p>
            <a:pPr marL="68580" indent="0" algn="ctr">
              <a:buNone/>
            </a:pPr>
            <a:r>
              <a:rPr lang="ru-RU" i="1" dirty="0"/>
              <a:t>x</a:t>
            </a:r>
            <a:r>
              <a:rPr lang="ru-RU" baseline="-25000" dirty="0"/>
              <a:t>2</a:t>
            </a:r>
            <a:r>
              <a:rPr lang="ru-RU" dirty="0"/>
              <a:t> ↔ </a:t>
            </a:r>
            <a:r>
              <a:rPr lang="ru-RU" i="1" dirty="0"/>
              <a:t>y</a:t>
            </a:r>
            <a:r>
              <a:rPr lang="ru-RU" baseline="-25000" dirty="0"/>
              <a:t>6</a:t>
            </a:r>
          </a:p>
          <a:p>
            <a:pPr marL="68580" indent="0" algn="ctr">
              <a:buNone/>
            </a:pPr>
            <a:r>
              <a:rPr lang="ru-RU" i="1" dirty="0"/>
              <a:t>x</a:t>
            </a:r>
            <a:r>
              <a:rPr lang="ru-RU" baseline="-25000" dirty="0"/>
              <a:t>3</a:t>
            </a:r>
            <a:r>
              <a:rPr lang="ru-RU" dirty="0"/>
              <a:t> ↔ </a:t>
            </a:r>
            <a:r>
              <a:rPr lang="ru-RU" i="1" dirty="0"/>
              <a:t>y</a:t>
            </a:r>
            <a:r>
              <a:rPr lang="ru-RU" baseline="-25000" dirty="0"/>
              <a:t>1</a:t>
            </a:r>
          </a:p>
          <a:p>
            <a:pPr marL="68580" indent="0" algn="ctr">
              <a:buNone/>
            </a:pPr>
            <a:r>
              <a:rPr lang="ru-RU" i="1" dirty="0"/>
              <a:t>x</a:t>
            </a:r>
            <a:r>
              <a:rPr lang="ru-RU" baseline="-25000" dirty="0"/>
              <a:t>4</a:t>
            </a:r>
            <a:r>
              <a:rPr lang="ru-RU" dirty="0"/>
              <a:t> ↔ </a:t>
            </a:r>
            <a:r>
              <a:rPr lang="ru-RU" i="1" dirty="0"/>
              <a:t>y</a:t>
            </a:r>
            <a:r>
              <a:rPr lang="ru-RU" baseline="-25000" dirty="0"/>
              <a:t>2</a:t>
            </a:r>
          </a:p>
          <a:p>
            <a:pPr marL="68580" indent="0" algn="ctr">
              <a:buNone/>
            </a:pPr>
            <a:r>
              <a:rPr lang="ru-RU" i="1" dirty="0"/>
              <a:t>x</a:t>
            </a:r>
            <a:r>
              <a:rPr lang="ru-RU" baseline="-25000" dirty="0"/>
              <a:t>5</a:t>
            </a:r>
            <a:r>
              <a:rPr lang="ru-RU" dirty="0"/>
              <a:t> ↔ </a:t>
            </a:r>
            <a:r>
              <a:rPr lang="ru-RU" i="1" dirty="0"/>
              <a:t>y</a:t>
            </a:r>
            <a:r>
              <a:rPr lang="ru-RU" baseline="-25000" dirty="0"/>
              <a:t>3</a:t>
            </a:r>
          </a:p>
          <a:p>
            <a:pPr marL="68580" indent="0" algn="ctr">
              <a:buNone/>
            </a:pPr>
            <a:r>
              <a:rPr lang="ru-RU" i="1" dirty="0"/>
              <a:t>x</a:t>
            </a:r>
            <a:r>
              <a:rPr lang="ru-RU" baseline="-25000" dirty="0"/>
              <a:t>6</a:t>
            </a:r>
            <a:r>
              <a:rPr lang="ru-RU" dirty="0"/>
              <a:t> ↔ </a:t>
            </a:r>
            <a:r>
              <a:rPr lang="ru-RU" i="1" dirty="0"/>
              <a:t>y</a:t>
            </a:r>
            <a:r>
              <a:rPr lang="ru-RU" baseline="-25000" dirty="0"/>
              <a:t>4</a:t>
            </a:r>
          </a:p>
          <a:p>
            <a:pPr marL="68580" indent="0">
              <a:buNone/>
            </a:pPr>
            <a:endParaRPr lang="ru-RU" dirty="0"/>
          </a:p>
        </p:txBody>
      </p:sp>
      <p:pic>
        <p:nvPicPr>
          <p:cNvPr id="4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413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410" y="980728"/>
            <a:ext cx="7344990" cy="5400600"/>
          </a:xfrm>
        </p:spPr>
        <p:txBody>
          <a:bodyPr>
            <a:normAutofit fontScale="85000" lnSpcReduction="10000"/>
          </a:bodyPr>
          <a:lstStyle/>
          <a:p>
            <a:pPr marL="68580" indent="0" algn="just">
              <a:buNone/>
            </a:pPr>
            <a:r>
              <a:rPr lang="ru-RU" dirty="0"/>
              <a:t>Как видим, основные переменные исходной задачи, в порядке их следования, соответствуют добавочным переменным двойственной задачи, тоже в порядке их следования. В свою очередь добавочные переменные исходной задачи, в порядке их следования, соответствуют основным переменным двойственной задачи, также в порядке их следования.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Функцию цели, полученную на последнем шаге решения двойственной задачи, выразим через все переменные этой задачи: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Рассматривая коэффициенты при переменных </a:t>
            </a:r>
            <a:r>
              <a:rPr lang="ru-RU" i="1" dirty="0" err="1"/>
              <a:t>y</a:t>
            </a:r>
            <a:r>
              <a:rPr lang="ru-RU" baseline="-25000" dirty="0" err="1"/>
              <a:t>j</a:t>
            </a:r>
            <a:r>
              <a:rPr lang="ru-RU" dirty="0"/>
              <a:t> в этой функции цели и учитывая их соответствие коэффициентам при переменных </a:t>
            </a:r>
            <a:r>
              <a:rPr lang="ru-RU" i="1" dirty="0" err="1"/>
              <a:t>x</a:t>
            </a:r>
            <a:r>
              <a:rPr lang="ru-RU" baseline="-25000" dirty="0" err="1"/>
              <a:t>i</a:t>
            </a:r>
            <a:r>
              <a:rPr lang="ru-RU" dirty="0"/>
              <a:t>, получим решение (4; 1; 0; 5; 4; 0), совпадающее с решением прямой задачи.</a:t>
            </a:r>
          </a:p>
        </p:txBody>
      </p:sp>
      <p:pic>
        <p:nvPicPr>
          <p:cNvPr id="14338" name="Picture 2" descr="https://function-x.ru/linprog/dz02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786" y="4293096"/>
            <a:ext cx="4626514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249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01136"/>
          </a:xfrm>
        </p:spPr>
        <p:txBody>
          <a:bodyPr>
            <a:normAutofit fontScale="90000"/>
          </a:bodyPr>
          <a:lstStyle/>
          <a:p>
            <a:r>
              <a:rPr lang="ru-RU" dirty="0"/>
              <a:t>Замечание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1772816"/>
            <a:ext cx="7344816" cy="4608512"/>
          </a:xfrm>
        </p:spPr>
        <p:txBody>
          <a:bodyPr>
            <a:normAutofit fontScale="92500" lnSpcReduction="10000"/>
          </a:bodyPr>
          <a:lstStyle/>
          <a:p>
            <a:pPr marL="68580" indent="0" algn="just">
              <a:buNone/>
            </a:pPr>
            <a:r>
              <a:rPr lang="ru-RU" dirty="0"/>
              <a:t>Решив прямую задачу, можно сразу получить решение двойственной задачи линейного программирования. Если выразить функцию цели, полученную при решении прямой задачи, через все переменные задачи, то получим</a:t>
            </a:r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endParaRPr lang="ru-RU" dirty="0"/>
          </a:p>
          <a:p>
            <a:pPr marL="68580" indent="0" algn="just">
              <a:buNone/>
            </a:pPr>
            <a:r>
              <a:rPr lang="ru-RU" dirty="0"/>
              <a:t>На основании теоремы 2, учитывая соответствие между переменными в прямой и двойственной задачах и взяв абсолютную величину коэффициентов при переменных, найдём оптимальное решение двойственной задачи (2/3; 0; 0; 7/3; 0; 0). При этом </a:t>
            </a:r>
            <a:r>
              <a:rPr lang="ru-RU" i="1" dirty="0" err="1"/>
              <a:t>Z</a:t>
            </a:r>
            <a:r>
              <a:rPr lang="ru-RU" dirty="0" err="1"/>
              <a:t>min</a:t>
            </a:r>
            <a:r>
              <a:rPr lang="ru-RU" dirty="0"/>
              <a:t> = </a:t>
            </a:r>
            <a:r>
              <a:rPr lang="ru-RU" i="1" dirty="0" err="1"/>
              <a:t>F</a:t>
            </a:r>
            <a:r>
              <a:rPr lang="ru-RU" dirty="0" err="1"/>
              <a:t>max</a:t>
            </a:r>
            <a:r>
              <a:rPr lang="ru-RU" dirty="0"/>
              <a:t> = 13.</a:t>
            </a:r>
          </a:p>
          <a:p>
            <a:pPr marL="68580" indent="0">
              <a:buNone/>
            </a:pPr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429000"/>
            <a:ext cx="3456384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http://mosmetod.ru/files/metod/SPO/foto_spo/410375592_l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31"/>
          <a:stretch/>
        </p:blipFill>
        <p:spPr bwMode="auto">
          <a:xfrm>
            <a:off x="4644008" y="0"/>
            <a:ext cx="3528392" cy="6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411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стин">
  <a:themeElements>
    <a:clrScheme name="Изящная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Остин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Главная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229</TotalTime>
  <Words>1789</Words>
  <PresentationFormat>Экран (4:3)</PresentationFormat>
  <Paragraphs>128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0" baseType="lpstr">
      <vt:lpstr>Century Gothic</vt:lpstr>
      <vt:lpstr>Wingdings 2</vt:lpstr>
      <vt:lpstr>Остин</vt:lpstr>
      <vt:lpstr>Двойственные задачи  линейного программирования</vt:lpstr>
      <vt:lpstr>Презентация PowerPoint</vt:lpstr>
      <vt:lpstr>Презентация PowerPoint</vt:lpstr>
      <vt:lpstr>Свойства</vt:lpstr>
      <vt:lpstr>Презентация PowerPoint</vt:lpstr>
      <vt:lpstr>Презентация PowerPoint</vt:lpstr>
      <vt:lpstr>Правила составления задачи в кононическом виде</vt:lpstr>
      <vt:lpstr>Презентация PowerPoint</vt:lpstr>
      <vt:lpstr>Презентация PowerPoint</vt:lpstr>
      <vt:lpstr>Пример 1</vt:lpstr>
      <vt:lpstr>Презентация PowerPoint</vt:lpstr>
      <vt:lpstr>Презентация PowerPoint</vt:lpstr>
      <vt:lpstr>Презентация PowerPoint</vt:lpstr>
      <vt:lpstr>Правила составления задачи в общей форме</vt:lpstr>
      <vt:lpstr>Презентация PowerPoint</vt:lpstr>
      <vt:lpstr>Основные теоремы двойственности</vt:lpstr>
      <vt:lpstr>Презентация PowerPoint</vt:lpstr>
      <vt:lpstr>Презентация PowerPoint</vt:lpstr>
      <vt:lpstr>Вывод по Теореме 1</vt:lpstr>
      <vt:lpstr>Презентация PowerPoint</vt:lpstr>
      <vt:lpstr>Пример 3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Замечание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2018-12-27T15:49:18Z</dcterms:created>
  <dcterms:modified xsi:type="dcterms:W3CDTF">2022-10-31T05:16:00Z</dcterms:modified>
</cp:coreProperties>
</file>