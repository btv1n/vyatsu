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2" r:id="rId18"/>
    <p:sldId id="271" r:id="rId19"/>
    <p:sldId id="273" r:id="rId20"/>
    <p:sldId id="274" r:id="rId21"/>
    <p:sldId id="275" r:id="rId22"/>
    <p:sldId id="270" r:id="rId23"/>
    <p:sldId id="26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3CF532-DC73-9FF3-1CA4-D99FA81EAA67}" v="2" dt="2025-11-09T04:36:30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5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Гость" userId="S::urn:spo:tenantanon#9feed2cc-ba06-4560-9d13-954ee5d83983::" providerId="AD" clId="Web-{5C3CF532-DC73-9FF3-1CA4-D99FA81EAA67}"/>
    <pc:docChg chg="modSld">
      <pc:chgData name="Гость" userId="S::urn:spo:tenantanon#9feed2cc-ba06-4560-9d13-954ee5d83983::" providerId="AD" clId="Web-{5C3CF532-DC73-9FF3-1CA4-D99FA81EAA67}" dt="2025-11-09T04:36:30.531" v="1" actId="1076"/>
      <pc:docMkLst>
        <pc:docMk/>
      </pc:docMkLst>
      <pc:sldChg chg="modSp">
        <pc:chgData name="Гость" userId="S::urn:spo:tenantanon#9feed2cc-ba06-4560-9d13-954ee5d83983::" providerId="AD" clId="Web-{5C3CF532-DC73-9FF3-1CA4-D99FA81EAA67}" dt="2025-11-09T04:36:30.531" v="1" actId="1076"/>
        <pc:sldMkLst>
          <pc:docMk/>
          <pc:sldMk cId="1723892257" sldId="258"/>
        </pc:sldMkLst>
        <pc:spChg chg="mod">
          <ac:chgData name="Гость" userId="S::urn:spo:tenantanon#9feed2cc-ba06-4560-9d13-954ee5d83983::" providerId="AD" clId="Web-{5C3CF532-DC73-9FF3-1CA4-D99FA81EAA67}" dt="2025-11-09T04:36:30.531" v="1" actId="1076"/>
          <ac:spMkLst>
            <pc:docMk/>
            <pc:sldMk cId="1723892257" sldId="258"/>
            <ac:spMk id="3" creationId="{AA0F53E9-47F4-4BBE-8CA0-C45B66BABA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014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95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0993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194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138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72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894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18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773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446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360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6D4C8-87D5-4638-BB41-648D441A7BD0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5C75F-5F8E-41DC-977B-5DB09ED5A3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440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reshmat.ru/example_transport_1.html" TargetMode="External"/><Relationship Id="rId2" Type="http://schemas.openxmlformats.org/officeDocument/2006/relationships/hyperlink" Target="https://habr.com/ru/post/573224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B855B5-E833-4243-8516-EB6A25F18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595" y="676412"/>
            <a:ext cx="7772400" cy="1833519"/>
          </a:xfrm>
        </p:spPr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ТРАНСПОРТНАЯ ЗАДАЧА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3D36AD-DB47-4403-A50B-383580142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646341"/>
            <a:ext cx="6858000" cy="1655762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потенциалов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35B336B-1FAC-4F60-A266-55195DA46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666" y="3645218"/>
            <a:ext cx="4827951" cy="321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717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588434-C4A8-4CF1-83FD-35C40D58B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199663"/>
            <a:ext cx="7886700" cy="653777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Linux Libertine"/>
              </a:rPr>
              <a:t>Постановка 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1FB8EE-D02F-40C2-A211-FC2D29462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085397"/>
            <a:ext cx="8576310" cy="557294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Транспортная задача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(задача Монжа-Канторовича) — математическая задача линейного программирования специального вида.</a:t>
            </a:r>
          </a:p>
          <a:p>
            <a:pPr>
              <a:spcBef>
                <a:spcPts val="120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простоты понимания рассматривается как задача об оптимальном плане перевозок грузов из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пунктов отправления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(например, складов) в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пункты потребления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(например, магазины),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минимальными общими затратами на перевозки.</a:t>
            </a:r>
          </a:p>
        </p:txBody>
      </p:sp>
    </p:spTree>
    <p:extLst>
      <p:ext uri="{BB962C8B-B14F-4D97-AF65-F5344CB8AC3E}">
        <p14:creationId xmlns:p14="http://schemas.microsoft.com/office/powerpoint/2010/main" val="616776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E9CF92-A0D6-40DC-8F38-7D30AB2E8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19" y="105637"/>
            <a:ext cx="7886700" cy="575400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solidFill>
                  <a:srgbClr val="000000"/>
                </a:solidFill>
                <a:latin typeface="Linux Libertine"/>
              </a:rPr>
              <a:t>Математическая модель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A0F53E9-47F4-4BBE-8CA0-C45B66BABA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9563" y="615134"/>
                <a:ext cx="8846275" cy="6242865"/>
              </a:xfrm>
            </p:spPr>
            <p:txBody>
              <a:bodyPr>
                <a:normAutofit/>
              </a:bodyPr>
              <a:lstStyle/>
              <a:p>
                <a:pPr marL="0" indent="269875">
                  <a:spcBef>
                    <a:spcPts val="0"/>
                  </a:spcBef>
                  <a:tabLst>
                    <a:tab pos="357188" algn="l"/>
                  </a:tabLst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имеются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поставщиков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u-RU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u-RU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…,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endParaRPr lang="ru-RU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269875">
                  <a:spcBef>
                    <a:spcPts val="0"/>
                  </a:spcBef>
                  <a:buNone/>
                  <a:tabLst>
                    <a:tab pos="357188" algn="l"/>
                  </a:tabLst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потребителей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ru-RU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ru-RU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…, </a:t>
                </a:r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некоторого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однородного продукта.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-го поставщика задан объём производства </a:t>
                </a:r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≥ 0 </a:t>
                </a:r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а для j-го потребителя – объём потребления 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 0 (j =</a:t>
                </a:r>
                <a:r>
                  <a:rPr lang="ru-RU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и известна стоимость доставки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≥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единицы продукта из пункта производства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пункт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потребления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Переменные </a:t>
                </a:r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≥ 0 характеризуют объём перевозки между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-м поставщиком и 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-м потребителем.</a:t>
                </a:r>
              </a:p>
              <a:p>
                <a:pPr>
                  <a:spcBef>
                    <a:spcPts val="0"/>
                  </a:spcBef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Оптимальный план транспортировки соответствует минимуму линейной целевой функции:</a:t>
                </a:r>
              </a:p>
              <a:p>
                <a:pPr>
                  <a:spcBef>
                    <a:spcPts val="0"/>
                  </a:spcBef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при ограничениях на потребление и поставку</a:t>
                </a: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A0F53E9-47F4-4BBE-8CA0-C45B66BABA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9563" y="615134"/>
                <a:ext cx="8846275" cy="6242865"/>
              </a:xfrm>
              <a:blipFill>
                <a:blip r:embed="rId2"/>
                <a:stretch>
                  <a:fillRect l="-1447" t="-1758" r="-2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333A10-80E9-41CF-9916-D2EFF427C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504" y="4928142"/>
            <a:ext cx="2439489" cy="59308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8EEF932-61EB-46C3-BBF4-4ABA1C5B5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093" y="6082301"/>
            <a:ext cx="3856536" cy="59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92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B2120B1-CCED-4259-8297-ECECC49F9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346" y="258082"/>
            <a:ext cx="8680813" cy="6421392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 базисных переменных в системе ограничений равно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− 1.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целочисленных объёмах производства и потребления транспортная задача обладает целочисленным оптимальным планом – это было впервые экспериментально подмечено Данцигом при применении симплекс-метода для решения данной задачи, что позволяет включить транспортную задачу в класс задач целочисленного линейного программирования.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Специальные методы, разработанные для решения транспортной задачи, как и симплекс-метод позволяют найти начальное опорное решение,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затем, улучшая его, получить оптимальное решение.</a:t>
            </a:r>
          </a:p>
        </p:txBody>
      </p:sp>
    </p:spTree>
    <p:extLst>
      <p:ext uri="{BB962C8B-B14F-4D97-AF65-F5344CB8AC3E}">
        <p14:creationId xmlns:p14="http://schemas.microsoft.com/office/powerpoint/2010/main" val="3749256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CF67C5-E4A3-4D3F-98A3-BB593ACAC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132" y="5534"/>
            <a:ext cx="7886700" cy="681037"/>
          </a:xfrm>
        </p:spPr>
        <p:txBody>
          <a:bodyPr>
            <a:normAutofit fontScale="90000"/>
          </a:bodyPr>
          <a:lstStyle/>
          <a:p>
            <a:r>
              <a:rPr lang="ru-RU" sz="4400" dirty="0">
                <a:solidFill>
                  <a:srgbClr val="000000"/>
                </a:solidFill>
                <a:latin typeface="Linux Libertine"/>
              </a:rPr>
              <a:t>Классификация моделей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6A8DF4-E6AA-4407-B7EB-87449683E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61" y="686571"/>
            <a:ext cx="8872401" cy="6071280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суммарные запасы поставщиков равны суммарным запросам потребителей, то такая задача называется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сбалансированной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(задачей с правильным балансом), а её модель –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закрытой:</a:t>
            </a:r>
          </a:p>
          <a:p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Задачи, в которых условие баланса не задано называют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несбалансированными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Для решения они должны быть приведены к сбалансированному виду.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можно выполнить использованием фиктивных перевозок.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разрешимости транспортной задачи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Транспортная задача разрешима только, если она имеет правильный баланс.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9191D2-8EC7-440E-BBE3-4AEDD744C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779" y="1904320"/>
            <a:ext cx="1426537" cy="76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09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85F75D0-7572-4198-8C53-633D4B6D3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566" y="118746"/>
            <a:ext cx="8908868" cy="681037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rgbClr val="000000"/>
                </a:solidFill>
                <a:latin typeface="Linux Libertine"/>
              </a:rPr>
              <a:t>Приведение к сбалансированному виду</a:t>
            </a:r>
            <a:endParaRPr lang="ru-RU" sz="3600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D9BCCBE5-3449-4518-8255-CF889366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684" y="989602"/>
            <a:ext cx="8667750" cy="5749652"/>
          </a:xfrm>
        </p:spPr>
        <p:txBody>
          <a:bodyPr/>
          <a:lstStyle/>
          <a:p>
            <a:pPr marL="514350" indent="-514350"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Запасы превосходят потребности: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случае вводится фиктивный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й пункт назначения с потребностью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стоимостью перевозки в этот пункт одной единицы продукта равна нулю: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i,n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Запасы меньше потребностей, т.е.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Здесь вводится фиктивный пункт отправления с запасами 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стоимостью перевозки из него равной 0.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7D7CF22-4B12-476E-AEEF-95A9CAD1B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5372" y="1951127"/>
            <a:ext cx="2341856" cy="82554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1F23231-4D7A-41FB-BCE7-AC40404C4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553" y="880925"/>
            <a:ext cx="1304653" cy="65232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8158C5B-A758-49BC-9882-4436EC663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300" y="3669527"/>
            <a:ext cx="1304652" cy="694869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88013C1-529A-4DAD-8AAD-1FFC3948293B}"/>
              </a:ext>
            </a:extLst>
          </p:cNvPr>
          <p:cNvGrpSpPr/>
          <p:nvPr/>
        </p:nvGrpSpPr>
        <p:grpSpPr>
          <a:xfrm>
            <a:off x="2069239" y="4828902"/>
            <a:ext cx="2120266" cy="692332"/>
            <a:chOff x="2069239" y="4828902"/>
            <a:chExt cx="2120266" cy="692332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F261F82D-99C7-45E0-B0D0-986BCD300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69239" y="4828902"/>
              <a:ext cx="2120266" cy="692332"/>
            </a:xfrm>
            <a:prstGeom prst="rect">
              <a:avLst/>
            </a:prstGeom>
          </p:spPr>
        </p:pic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A17605A6-CB8B-4783-B265-4B260681F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80151" y="5046480"/>
              <a:ext cx="276225" cy="2571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1672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B2EF5-0E18-434F-8FC8-9CACBF0D2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760823" cy="124595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solidFill>
                  <a:srgbClr val="000000"/>
                </a:solidFill>
                <a:latin typeface="Linux Libertine"/>
              </a:rPr>
              <a:t>М</a:t>
            </a:r>
            <a:r>
              <a:rPr lang="ru-RU" sz="4400" dirty="0">
                <a:solidFill>
                  <a:srgbClr val="000000"/>
                </a:solidFill>
                <a:latin typeface="Linux Libertine"/>
              </a:rPr>
              <a:t>етоды решения транспортной 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3C1211-908E-4132-8EF1-1AF10C831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61" y="1410085"/>
            <a:ext cx="7886700" cy="435133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транспортной задачи методом потенциалов,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транспортной задачи с использованием симплекс метода.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324A9FD-DF27-4B53-A21F-3FB1418A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858" y="1485054"/>
            <a:ext cx="814251" cy="70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37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F2097-559A-4064-A2C3-FA8350109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5"/>
            <a:ext cx="8760823" cy="98323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solidFill>
                  <a:srgbClr val="000000"/>
                </a:solidFill>
                <a:latin typeface="Linux Libertine"/>
              </a:rPr>
              <a:t>Алгоритм решения транспортной задачи в самом общем виде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13057-0DC8-49F0-B25C-2B56333AF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889" y="1132114"/>
            <a:ext cx="8497933" cy="562020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Построение транспортной таблицы.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Проверка задачи на закрытость.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Составление опорного плана.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Проверка опорного плана на вырожденность.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Вычисление потенциалов для плана перевозки.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Проверка опорного плана на оптимальность.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Перераспределение поставок.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Если оптимальное решение найдено, переходим к п. 9, если нет — к п. 5. 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Вычисление общих затрат на перевозку груза.</a:t>
            </a:r>
          </a:p>
          <a:p>
            <a:pPr marL="514350" indent="-514350">
              <a:buFont typeface="+mj-lt"/>
              <a:buAutoNum type="arabicPeriod"/>
            </a:pPr>
            <a:r>
              <a:rPr lang="ru-RU" b="0" i="0" dirty="0">
                <a:solidFill>
                  <a:srgbClr val="222222"/>
                </a:solidFill>
                <a:effectLst/>
                <a:latin typeface="Georgia" panose="02040502050405020303" pitchFamily="18" charset="0"/>
              </a:rPr>
              <a:t>Построение графа перевозок.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726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1F8AC-55B3-4AB6-8397-C6A8C4D78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01" y="465818"/>
            <a:ext cx="7886700" cy="736599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rgbClr val="000000"/>
                </a:solidFill>
                <a:latin typeface="Linux Libertine"/>
              </a:rPr>
              <a:t>Транспортная таблица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4607749-3EFF-4130-94D2-2070F4720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490" y="1328464"/>
            <a:ext cx="5248275" cy="319087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367864-E514-40E0-A092-281DDD9686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42"/>
          <a:stretch/>
        </p:blipFill>
        <p:spPr>
          <a:xfrm>
            <a:off x="2059440" y="4475794"/>
            <a:ext cx="5267325" cy="1089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13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F83C705-5771-492F-BA5A-5DF6CE64A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513" y="832848"/>
            <a:ext cx="8261168" cy="5350238"/>
          </a:xfrm>
        </p:spPr>
        <p:txBody>
          <a:bodyPr/>
          <a:lstStyle/>
          <a:p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Начальным опорным планом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называется план перевозок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(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удовлетворяет всем ограничениям транспортной задачи.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опорного плана можно выполнить несколькими способами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северо-западного угла,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минимальных стоимостей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(«наименьшего элемента»),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двойного предпочтения,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 аппроксимации Фогеля.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6B9B40F-A477-4B02-8B45-A9AA8933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6928"/>
            <a:ext cx="7886700" cy="584109"/>
          </a:xfrm>
        </p:spPr>
        <p:txBody>
          <a:bodyPr>
            <a:normAutofit fontScale="90000"/>
          </a:bodyPr>
          <a:lstStyle/>
          <a:p>
            <a:r>
              <a:rPr lang="ru-RU" sz="3600" dirty="0">
                <a:solidFill>
                  <a:srgbClr val="000000"/>
                </a:solidFill>
                <a:latin typeface="Linux Libertine"/>
              </a:rPr>
              <a:t>Построение опорного плана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50A74A-AB3F-4130-90C0-B8944E1CD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783" y="2797810"/>
            <a:ext cx="796834" cy="69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58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8B33CF-510F-466F-AC3F-B6207F51C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313" y="105637"/>
            <a:ext cx="7886700" cy="575400"/>
          </a:xfrm>
        </p:spPr>
        <p:txBody>
          <a:bodyPr/>
          <a:lstStyle/>
          <a:p>
            <a:r>
              <a:rPr lang="ru-RU" sz="3200" dirty="0">
                <a:solidFill>
                  <a:srgbClr val="000000"/>
                </a:solidFill>
                <a:latin typeface="Linux Libertine"/>
              </a:rPr>
              <a:t>Метод северо-западного угла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ED6D2D-335B-428E-A7DD-21E89C30C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885" y="806722"/>
            <a:ext cx="8698229" cy="3373392"/>
          </a:xfrm>
        </p:spPr>
        <p:txBody>
          <a:bodyPr>
            <a:normAutofit lnSpcReduction="10000"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каждом этапе максимально возможным числом заполняют левую верхнюю клетку оставшейся части таблицы. 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Заполнение таким образом, что полностью выносится груз из </a:t>
            </a:r>
            <a:r>
              <a:rPr lang="ru-RU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3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полностью удовлетворяется потребность </a:t>
            </a:r>
            <a:r>
              <a:rPr lang="ru-RU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32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7CA036-F8B9-44A1-BB04-8B721A02A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25" y="4047716"/>
            <a:ext cx="7594430" cy="136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466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B751E9-9B81-434F-9CA0-7D10AE3C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82" y="18255"/>
            <a:ext cx="8889818" cy="1052899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000000"/>
                </a:solidFill>
                <a:latin typeface="Linux Libertine"/>
              </a:rPr>
              <a:t>Вырожденность опорного плана транспортной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1AF3FF-D78E-4608-8E7D-2E7B2E52B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01" y="1253331"/>
            <a:ext cx="8480516" cy="5286806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Опорный план транспортной задачи называется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невырожденным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если число базисных ячеек равно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1,  где 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количество строк,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количество столбцов транспортной задачи.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число перевозок меньше чем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1,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такой план называется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вырожденным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Правило: количество базисных (заполненных) клеток в первоначальном опорном плане ВСЕГДА должно быть равно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1, 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количество поставщиков, 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количество потребителей транспортной задачи.</a:t>
            </a:r>
          </a:p>
        </p:txBody>
      </p:sp>
    </p:spTree>
    <p:extLst>
      <p:ext uri="{BB962C8B-B14F-4D97-AF65-F5344CB8AC3E}">
        <p14:creationId xmlns:p14="http://schemas.microsoft.com/office/powerpoint/2010/main" val="3808520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CBE467-DCB5-42D5-B921-56C4BB492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3411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rgbClr val="000000"/>
                </a:solidFill>
                <a:latin typeface="Linux Libertine"/>
              </a:rPr>
              <a:t>Метод потенциалов решения транспортной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A6BEA5-D45F-4AF1-9C82-F04AFE8AF5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5805" y="1253331"/>
                <a:ext cx="8706938" cy="4351338"/>
              </a:xfrm>
            </p:spPr>
            <p:txBody>
              <a:bodyPr>
                <a:normAutofit/>
              </a:bodyPr>
              <a:lstStyle/>
              <a:p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Теорема.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допустимое решение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= (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</m:acc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b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транспортной задачи является оптимальным, то существуют потенциалы поставщиков </a:t>
                </a:r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и потребителей </a:t>
                </a:r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ru-RU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удовлетворяющие условиям:</a:t>
                </a:r>
              </a:p>
              <a:p>
                <a:pPr marL="444500"/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&gt; 0,</a:t>
                </a:r>
              </a:p>
              <a:p>
                <a:pPr marL="444500"/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</a:t>
                </a:r>
                <a:r>
                  <a:rPr lang="ru-RU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ru-RU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ij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</a:t>
                </a:r>
              </a:p>
              <a:p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8A6BEA5-D45F-4AF1-9C82-F04AFE8AF5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5805" y="1253331"/>
                <a:ext cx="8706938" cy="4351338"/>
              </a:xfrm>
              <a:blipFill>
                <a:blip r:embed="rId2"/>
                <a:stretch>
                  <a:fillRect l="-1261" t="-2384" r="-2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811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9F4DAB5-75A7-4120-A69D-52143DCC6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638" y="284207"/>
            <a:ext cx="8689521" cy="5132523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Циклом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называется такая последовательность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клеток транспортной таблицы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которой две и только две соседние клетки расположены 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одной строке или столбце, причем первая и последняя клетки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находятся в одной строке или столбце.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 изображают в транспортной таблице в виде замкнутой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ломаной линии. В любой клетке цикла происходит поворот звена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ломаной линии на 90°.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67BAF6-7A17-4369-A92B-0568BE282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104" y="789894"/>
            <a:ext cx="2733675" cy="3143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26D4C3B-C677-4707-85D2-56841BA38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410" y="4443458"/>
            <a:ext cx="5131180" cy="162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685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9EF2104-D352-43FE-83AA-1025594F2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679" y="275499"/>
            <a:ext cx="8625024" cy="5594078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 называется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означенным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если его угловые клетки пронумерованы по порядку 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нечётным клеткам приписан знак «+», а чётным – знак «–».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Сдвигом по циклу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величину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называется увеличение объёмов перевозок во всех нечётных клетках цикла, отмеченных знаком «+», на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уменьшение объёмов перевозок во всех чётных клетках, отмеченных знаком «–», на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/>
              <a:t> 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431489-B9B4-4B2E-8C70-BCF03E426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2581" y="1907586"/>
            <a:ext cx="2467805" cy="152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47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9B80AB-667E-48A3-9750-B1BDC828E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010828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rgbClr val="000000"/>
                </a:solidFill>
                <a:latin typeface="Linux Libertine"/>
              </a:rPr>
              <a:t>Алгоритм решения задачи методом потенциалов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EB82F4-3DF7-4EC9-9A49-AAB75DFA0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462" y="1010828"/>
            <a:ext cx="8813075" cy="5811792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Построить начальное опорное решение и проверить правильность его построения (количество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занятых клеток должно быть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1). Если количество занятых клеток меньше, то некоторым свободным клеткам необходимо присвоить нулевые перевозки.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Записать систему потенциалов, соответствующих опорному решению. Для этого решить систему уравнений.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Проверить, выполняется ли условие оптимальности для свободных клеток таблицы.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Перейти к новому опорному решению. Для этого найти клетку таблицы, которой соответствует наибольшая положительная оценка. Построить цикл, включающий данную клетку и часть клеток, занятых опорным решением.</a:t>
            </a:r>
          </a:p>
        </p:txBody>
      </p:sp>
    </p:spTree>
    <p:extLst>
      <p:ext uri="{BB962C8B-B14F-4D97-AF65-F5344CB8AC3E}">
        <p14:creationId xmlns:p14="http://schemas.microsoft.com/office/powerpoint/2010/main" val="258831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DAAC947-3801-45FC-BF9B-5E5992121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48" y="248784"/>
            <a:ext cx="8472623" cy="6360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клетках цикла расставить поочередно знаки «+» и «–», начиная с «+» в клетке с наибольшей положительной оценкой.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сдвиг по циклу на величину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среди клеток со знаком «–». Клетка со знаком «–», в которой достигается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остается пустой. 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минимум достигается в нескольких клетках, то одна из них остается пустой, а в остальных записываются базисные нули, чтобы число занятых клеток оставалось равным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Затем перейти к п. 3</a:t>
            </a:r>
          </a:p>
        </p:txBody>
      </p:sp>
    </p:spTree>
    <p:extLst>
      <p:ext uri="{BB962C8B-B14F-4D97-AF65-F5344CB8AC3E}">
        <p14:creationId xmlns:p14="http://schemas.microsoft.com/office/powerpoint/2010/main" val="3222496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7804D1-7280-42A3-90C0-FABFC15F1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95" y="138704"/>
            <a:ext cx="7886700" cy="610234"/>
          </a:xfrm>
        </p:spPr>
        <p:txBody>
          <a:bodyPr>
            <a:normAutofit fontScale="90000"/>
          </a:bodyPr>
          <a:lstStyle/>
          <a:p>
            <a:r>
              <a:rPr lang="ru-RU" sz="4000" dirty="0">
                <a:solidFill>
                  <a:srgbClr val="000000"/>
                </a:solidFill>
                <a:latin typeface="Linux Libertine"/>
              </a:rPr>
              <a:t>Пример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28F8C27-F269-4976-85B3-683FB40B8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906" y="1182459"/>
            <a:ext cx="5360344" cy="323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95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227F8-608E-415D-8954-A6BB8D707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187" y="0"/>
            <a:ext cx="7886700" cy="601525"/>
          </a:xfrm>
        </p:spPr>
        <p:txBody>
          <a:bodyPr>
            <a:normAutofit fontScale="90000"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Linux Libertine"/>
              </a:rPr>
              <a:t>Обобщения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031141-4FF0-4931-B9A4-B0181F888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41" y="663576"/>
            <a:ext cx="8581482" cy="6042024"/>
          </a:xfrm>
        </p:spPr>
        <p:txBody>
          <a:bodyPr>
            <a:normAutofit fontScale="77500" lnSpcReduction="20000"/>
          </a:bodyPr>
          <a:lstStyle/>
          <a:p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Транспортная задача в сетевой постановке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этом варианте пункты не делятся на пункты отправления и пункты потребления, все пункты равноправны, но производство задается положительным числом, а потребление — отрицательным. Перевозки осуществляются по заданной сети, в которой дуги могут соединять любые пункты, включая производитель — производитель, потребитель — потребитель.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решается слегка измененным методом потенциалов, практически тем же, что и классическая постановка.</a:t>
            </a:r>
          </a:p>
          <a:p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Транспортная задача с ограничениями пропускной способности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транспортной задачи в сетевой постановке, при котором задается максимальная пропускная способность некоторых дуг.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 решается слегка усложненным методом потенциалов.</a:t>
            </a:r>
          </a:p>
          <a:p>
            <a:r>
              <a:rPr lang="ru-RU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Многопродуктовая</a:t>
            </a:r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транспортная задача</a:t>
            </a:r>
          </a:p>
          <a:p>
            <a:pPr marL="0" indent="0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транспортной задачи, в которой присутствует несколько продуктов (пункты могут производить/потреблять несколько продуктов). Для некоторых дуг задается ограничение на пропускную способность (без этого ограничения задача распадается на отдельные задачи по продуктам).</a:t>
            </a:r>
          </a:p>
        </p:txBody>
      </p:sp>
    </p:spTree>
    <p:extLst>
      <p:ext uri="{BB962C8B-B14F-4D97-AF65-F5344CB8AC3E}">
        <p14:creationId xmlns:p14="http://schemas.microsoft.com/office/powerpoint/2010/main" val="3504261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FDE64-3B1C-431E-9A1A-5A42349D2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47" y="236266"/>
            <a:ext cx="7886700" cy="566691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solidFill>
                  <a:srgbClr val="000000"/>
                </a:solidFill>
                <a:latin typeface="Linux Libertine"/>
              </a:rPr>
              <a:t>Дополнительные материалы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52F1A6-A8ED-4377-B919-8F0D7A38F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68" y="902517"/>
            <a:ext cx="8428264" cy="4351338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Транспортная задача линейного программирования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https://habr.com/ru/post/573224/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 для решения задач по линейному программированию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http://reshmat.ru/example_transport_1.html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(много примеров, в т.ч. решение несбалансированных задач)</a:t>
            </a:r>
          </a:p>
        </p:txBody>
      </p:sp>
    </p:spTree>
    <p:extLst>
      <p:ext uri="{BB962C8B-B14F-4D97-AF65-F5344CB8AC3E}">
        <p14:creationId xmlns:p14="http://schemas.microsoft.com/office/powerpoint/2010/main" val="7261652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70B0AEA32E65E94995565B0B65EA5F29" ma:contentTypeVersion="4" ma:contentTypeDescription="Создание документа." ma:contentTypeScope="" ma:versionID="7c965ccae3a1f444781a71e656121271">
  <xsd:schema xmlns:xsd="http://www.w3.org/2001/XMLSchema" xmlns:xs="http://www.w3.org/2001/XMLSchema" xmlns:p="http://schemas.microsoft.com/office/2006/metadata/properties" xmlns:ns2="22acfdec-9ce1-4ae7-873a-8b443fedbaba" targetNamespace="http://schemas.microsoft.com/office/2006/metadata/properties" ma:root="true" ma:fieldsID="4270dc9ca96dc443d20df5ea72ba1a94" ns2:_="">
    <xsd:import namespace="22acfdec-9ce1-4ae7-873a-8b443fedba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cfdec-9ce1-4ae7-873a-8b443fedba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179DD3-D275-4AD6-819E-7677DE5C78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acfdec-9ce1-4ae7-873a-8b443fedbab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3062C36-2F5A-4E70-9FF4-378CF6A43D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729562-F2B4-440A-836F-BA56FAAA2C7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</TotalTime>
  <Words>1232</Words>
  <PresentationFormat>On-screen Show (4:3)</PresentationFormat>
  <Paragraphs>96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Тема Office</vt:lpstr>
      <vt:lpstr>ТРАНСПОРТНАЯ ЗАДАЧА</vt:lpstr>
      <vt:lpstr>Постановка задачи</vt:lpstr>
      <vt:lpstr>Математическая модель</vt:lpstr>
      <vt:lpstr>PowerPoint Presentation</vt:lpstr>
      <vt:lpstr>Классификация моделей</vt:lpstr>
      <vt:lpstr>Приведение к сбалансированному виду</vt:lpstr>
      <vt:lpstr>Методы решения транспортной задачи</vt:lpstr>
      <vt:lpstr>Алгоритм решения транспортной задачи в самом общем виде</vt:lpstr>
      <vt:lpstr>Транспортная таблица</vt:lpstr>
      <vt:lpstr>Построение опорного плана</vt:lpstr>
      <vt:lpstr>Метод северо-западного угла</vt:lpstr>
      <vt:lpstr>Вырожденность опорного плана транспортной задачи</vt:lpstr>
      <vt:lpstr>Метод потенциалов решения транспортной задачи</vt:lpstr>
      <vt:lpstr>PowerPoint Presentation</vt:lpstr>
      <vt:lpstr>PowerPoint Presentation</vt:lpstr>
      <vt:lpstr>Алгоритм решения задачи методом потенциалов</vt:lpstr>
      <vt:lpstr>PowerPoint Presentation</vt:lpstr>
      <vt:lpstr>Пример</vt:lpstr>
      <vt:lpstr>Обобщения</vt:lpstr>
      <vt:lpstr>Дополнительные материалы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2022-10-16T12:04:55Z</dcterms:created>
  <dcterms:modified xsi:type="dcterms:W3CDTF">2025-11-09T04:36:30Z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0x01010070B0AEA32E65E94995565B0B65EA5F29</vt:lpwstr>
  </property>
</Properties>
</file>