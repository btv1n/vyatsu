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4"/>
  </p:sldMasterIdLst>
  <p:notesMasterIdLst>
    <p:notesMasterId r:id="rId18"/>
  </p:notesMasterIdLst>
  <p:sldIdLst>
    <p:sldId id="263" r:id="rId5"/>
    <p:sldId id="324" r:id="rId6"/>
    <p:sldId id="335" r:id="rId7"/>
    <p:sldId id="336" r:id="rId8"/>
    <p:sldId id="338" r:id="rId9"/>
    <p:sldId id="340" r:id="rId10"/>
    <p:sldId id="325" r:id="rId11"/>
    <p:sldId id="326" r:id="rId12"/>
    <p:sldId id="294" r:id="rId13"/>
    <p:sldId id="328" r:id="rId14"/>
    <p:sldId id="331" r:id="rId15"/>
    <p:sldId id="330" r:id="rId16"/>
    <p:sldId id="332" r:id="rId17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Средний стиль 1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400" autoAdjust="0"/>
    <p:restoredTop sz="80241" autoAdjust="0"/>
  </p:normalViewPr>
  <p:slideViewPr>
    <p:cSldViewPr>
      <p:cViewPr varScale="1">
        <p:scale>
          <a:sx n="73" d="100"/>
          <a:sy n="73" d="100"/>
        </p:scale>
        <p:origin x="39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358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Еремин Даниил Романович" userId="S::stud145026@vyatsu.ru::22fa4ff9-60a9-4773-b9b5-55c04a320bd9" providerId="AD" clId="Web-{57484AF3-960D-9EBD-F27F-9F4D1A48B9C5}"/>
    <pc:docChg chg="modSld">
      <pc:chgData name="Еремин Даниил Романович" userId="S::stud145026@vyatsu.ru::22fa4ff9-60a9-4773-b9b5-55c04a320bd9" providerId="AD" clId="Web-{57484AF3-960D-9EBD-F27F-9F4D1A48B9C5}" dt="2023-11-22T16:22:59.268" v="0" actId="1076"/>
      <pc:docMkLst>
        <pc:docMk/>
      </pc:docMkLst>
      <pc:sldChg chg="modSp">
        <pc:chgData name="Еремин Даниил Романович" userId="S::stud145026@vyatsu.ru::22fa4ff9-60a9-4773-b9b5-55c04a320bd9" providerId="AD" clId="Web-{57484AF3-960D-9EBD-F27F-9F4D1A48B9C5}" dt="2023-11-22T16:22:59.268" v="0" actId="1076"/>
        <pc:sldMkLst>
          <pc:docMk/>
          <pc:sldMk cId="0" sldId="325"/>
        </pc:sldMkLst>
        <pc:graphicFrameChg chg="mod">
          <ac:chgData name="Еремин Даниил Романович" userId="S::stud145026@vyatsu.ru::22fa4ff9-60a9-4773-b9b5-55c04a320bd9" providerId="AD" clId="Web-{57484AF3-960D-9EBD-F27F-9F4D1A48B9C5}" dt="2023-11-22T16:22:59.268" v="0" actId="1076"/>
          <ac:graphicFrameMkLst>
            <pc:docMk/>
            <pc:sldMk cId="0" sldId="325"/>
            <ac:graphicFrameMk id="8194" creationId="{00000000-0000-0000-0000-000000000000}"/>
          </ac:graphicFrameMkLst>
        </pc:graphicFrame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0754A6AD-A066-4218-8D1A-E614F3E2A1CA}" type="datetimeFigureOut">
              <a:rPr lang="ru-RU"/>
              <a:pPr>
                <a:defRPr/>
              </a:pPr>
              <a:t>21.10.2025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D0E78FD4-0469-4C3C-9949-6C8C98CCA955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/>
          </a:p>
        </p:txBody>
      </p:sp>
      <p:sp>
        <p:nvSpPr>
          <p:cNvPr id="21508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81F2F909-BE75-4509-A88E-CA62D4CEDCC2}" type="slidenum">
              <a:rPr lang="ru-RU" altLang="ru-RU"/>
              <a:pPr algn="r" eaLnBrk="1" hangingPunct="1"/>
              <a:t>7</a:t>
            </a:fld>
            <a:endParaRPr lang="ru-RU" alt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Freeform 2"/>
          <p:cNvSpPr>
            <a:spLocks/>
          </p:cNvSpPr>
          <p:nvPr/>
        </p:nvSpPr>
        <p:spPr bwMode="blackWhite">
          <a:xfrm>
            <a:off x="20638" y="12700"/>
            <a:ext cx="8896350" cy="6780213"/>
          </a:xfrm>
          <a:custGeom>
            <a:avLst/>
            <a:gdLst>
              <a:gd name="T0" fmla="*/ 2822 w 3985"/>
              <a:gd name="T1" fmla="*/ 0 h 3619"/>
              <a:gd name="T2" fmla="*/ 0 w 3985"/>
              <a:gd name="T3" fmla="*/ 975 h 3619"/>
              <a:gd name="T4" fmla="*/ 2169 w 3985"/>
              <a:gd name="T5" fmla="*/ 3619 h 3619"/>
              <a:gd name="T6" fmla="*/ 3985 w 3985"/>
              <a:gd name="T7" fmla="*/ 1125 h 3619"/>
              <a:gd name="T8" fmla="*/ 2822 w 3985"/>
              <a:gd name="T9" fmla="*/ 0 h 3619"/>
              <a:gd name="T10" fmla="*/ 2822 w 3985"/>
              <a:gd name="T11" fmla="*/ 0 h 36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985" h="3619">
                <a:moveTo>
                  <a:pt x="2822" y="0"/>
                </a:moveTo>
                <a:lnTo>
                  <a:pt x="0" y="975"/>
                </a:lnTo>
                <a:lnTo>
                  <a:pt x="2169" y="3619"/>
                </a:lnTo>
                <a:lnTo>
                  <a:pt x="3985" y="1125"/>
                </a:lnTo>
                <a:lnTo>
                  <a:pt x="2822" y="0"/>
                </a:lnTo>
                <a:lnTo>
                  <a:pt x="282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371600" y="1511300"/>
            <a:ext cx="6400800" cy="2273300"/>
          </a:xfrm>
          <a:effectLst>
            <a:outerShdw dist="45791" dir="2021404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ru-RU" altLang="ru-RU" noProof="0"/>
              <a:t>Образец заголовка</a:t>
            </a:r>
          </a:p>
        </p:txBody>
      </p:sp>
      <p:sp>
        <p:nvSpPr>
          <p:cNvPr id="5222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9400" y="4051300"/>
            <a:ext cx="6032500" cy="1003300"/>
          </a:xfrm>
        </p:spPr>
        <p:txBody>
          <a:bodyPr/>
          <a:lstStyle>
            <a:lvl1pPr marL="0" indent="0" algn="ctr">
              <a:buFontTx/>
              <a:buNone/>
              <a:defRPr sz="28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ru-RU" altLang="ru-RU" noProof="0"/>
              <a:t>Образец подзаголовка</a:t>
            </a:r>
          </a:p>
        </p:txBody>
      </p:sp>
      <p:sp>
        <p:nvSpPr>
          <p:cNvPr id="52229" name="Rectangle 5"/>
          <p:cNvSpPr>
            <a:spLocks noGrp="1" noChangeArrowheads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1F1F4D0-1DA0-4A69-A6E6-9CFA6F13FDD4}" type="datetime1">
              <a:rPr lang="ru-RU" altLang="ru-RU"/>
              <a:pPr/>
              <a:t>21.10.2025</a:t>
            </a:fld>
            <a:endParaRPr lang="ru-RU" altLang="ru-RU"/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584B2CAE-69C1-44A9-BB70-F8ABF2168B46}" type="slidenum">
              <a:rPr lang="ru-RU" altLang="ru-RU"/>
              <a:pPr/>
              <a:t>‹#›</a:t>
            </a:fld>
            <a:endParaRPr lang="ru-RU" altLang="ru-RU"/>
          </a:p>
        </p:txBody>
      </p:sp>
      <p:grpSp>
        <p:nvGrpSpPr>
          <p:cNvPr id="52232" name="Group 8"/>
          <p:cNvGrpSpPr>
            <a:grpSpLocks/>
          </p:cNvGrpSpPr>
          <p:nvPr/>
        </p:nvGrpSpPr>
        <p:grpSpPr bwMode="auto">
          <a:xfrm>
            <a:off x="195263" y="234950"/>
            <a:ext cx="3787775" cy="1778000"/>
            <a:chOff x="123" y="148"/>
            <a:chExt cx="2386" cy="1120"/>
          </a:xfrm>
        </p:grpSpPr>
        <p:sp>
          <p:nvSpPr>
            <p:cNvPr id="52233" name="Freeform 9"/>
            <p:cNvSpPr>
              <a:spLocks/>
            </p:cNvSpPr>
            <p:nvPr userDrawn="1"/>
          </p:nvSpPr>
          <p:spPr bwMode="auto">
            <a:xfrm>
              <a:off x="177" y="177"/>
              <a:ext cx="2250" cy="1017"/>
            </a:xfrm>
            <a:custGeom>
              <a:avLst/>
              <a:gdLst>
                <a:gd name="T0" fmla="*/ 794 w 794"/>
                <a:gd name="T1" fmla="*/ 395 h 414"/>
                <a:gd name="T2" fmla="*/ 710 w 794"/>
                <a:gd name="T3" fmla="*/ 318 h 414"/>
                <a:gd name="T4" fmla="*/ 556 w 794"/>
                <a:gd name="T5" fmla="*/ 210 h 414"/>
                <a:gd name="T6" fmla="*/ 71 w 794"/>
                <a:gd name="T7" fmla="*/ 0 h 414"/>
                <a:gd name="T8" fmla="*/ 23 w 794"/>
                <a:gd name="T9" fmla="*/ 20 h 414"/>
                <a:gd name="T10" fmla="*/ 0 w 794"/>
                <a:gd name="T11" fmla="*/ 83 h 414"/>
                <a:gd name="T12" fmla="*/ 28 w 794"/>
                <a:gd name="T13" fmla="*/ 155 h 414"/>
                <a:gd name="T14" fmla="*/ 570 w 794"/>
                <a:gd name="T15" fmla="*/ 409 h 414"/>
                <a:gd name="T16" fmla="*/ 689 w 794"/>
                <a:gd name="T17" fmla="*/ 393 h 414"/>
                <a:gd name="T18" fmla="*/ 785 w 794"/>
                <a:gd name="T19" fmla="*/ 414 h 414"/>
                <a:gd name="T20" fmla="*/ 794 w 794"/>
                <a:gd name="T21" fmla="*/ 395 h 414"/>
                <a:gd name="T22" fmla="*/ 794 w 794"/>
                <a:gd name="T23" fmla="*/ 395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2234" name="Freeform 10"/>
            <p:cNvSpPr>
              <a:spLocks/>
            </p:cNvSpPr>
            <p:nvPr userDrawn="1"/>
          </p:nvSpPr>
          <p:spPr bwMode="auto">
            <a:xfrm>
              <a:off x="166" y="261"/>
              <a:ext cx="2244" cy="1007"/>
            </a:xfrm>
            <a:custGeom>
              <a:avLst/>
              <a:gdLst>
                <a:gd name="T0" fmla="*/ 137 w 1586"/>
                <a:gd name="T1" fmla="*/ 0 h 821"/>
                <a:gd name="T2" fmla="*/ 1331 w 1586"/>
                <a:gd name="T3" fmla="*/ 519 h 821"/>
                <a:gd name="T4" fmla="*/ 1428 w 1586"/>
                <a:gd name="T5" fmla="*/ 638 h 821"/>
                <a:gd name="T6" fmla="*/ 1586 w 1586"/>
                <a:gd name="T7" fmla="*/ 792 h 821"/>
                <a:gd name="T8" fmla="*/ 1565 w 1586"/>
                <a:gd name="T9" fmla="*/ 821 h 821"/>
                <a:gd name="T10" fmla="*/ 1350 w 1586"/>
                <a:gd name="T11" fmla="*/ 787 h 821"/>
                <a:gd name="T12" fmla="*/ 1145 w 1586"/>
                <a:gd name="T13" fmla="*/ 811 h 821"/>
                <a:gd name="T14" fmla="*/ 42 w 1586"/>
                <a:gd name="T15" fmla="*/ 298 h 821"/>
                <a:gd name="T16" fmla="*/ 0 w 1586"/>
                <a:gd name="T17" fmla="*/ 150 h 821"/>
                <a:gd name="T18" fmla="*/ 46 w 1586"/>
                <a:gd name="T19" fmla="*/ 32 h 821"/>
                <a:gd name="T20" fmla="*/ 137 w 1586"/>
                <a:gd name="T21" fmla="*/ 0 h 821"/>
                <a:gd name="T22" fmla="*/ 137 w 1586"/>
                <a:gd name="T23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2235" name="Freeform 11"/>
            <p:cNvSpPr>
              <a:spLocks/>
            </p:cNvSpPr>
            <p:nvPr userDrawn="1"/>
          </p:nvSpPr>
          <p:spPr bwMode="auto">
            <a:xfrm>
              <a:off x="474" y="344"/>
              <a:ext cx="1488" cy="919"/>
            </a:xfrm>
            <a:custGeom>
              <a:avLst/>
              <a:gdLst>
                <a:gd name="T0" fmla="*/ 0 w 1049"/>
                <a:gd name="T1" fmla="*/ 325 h 747"/>
                <a:gd name="T2" fmla="*/ 922 w 1049"/>
                <a:gd name="T3" fmla="*/ 747 h 747"/>
                <a:gd name="T4" fmla="*/ 939 w 1049"/>
                <a:gd name="T5" fmla="*/ 534 h 747"/>
                <a:gd name="T6" fmla="*/ 1049 w 1049"/>
                <a:gd name="T7" fmla="*/ 422 h 747"/>
                <a:gd name="T8" fmla="*/ 78 w 1049"/>
                <a:gd name="T9" fmla="*/ 0 h 747"/>
                <a:gd name="T10" fmla="*/ 0 w 1049"/>
                <a:gd name="T11" fmla="*/ 127 h 747"/>
                <a:gd name="T12" fmla="*/ 0 w 1049"/>
                <a:gd name="T13" fmla="*/ 325 h 747"/>
                <a:gd name="T14" fmla="*/ 0 w 1049"/>
                <a:gd name="T15" fmla="*/ 325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grpSp>
          <p:nvGrpSpPr>
            <p:cNvPr id="52236" name="Group 12"/>
            <p:cNvGrpSpPr>
              <a:grpSpLocks/>
            </p:cNvGrpSpPr>
            <p:nvPr userDrawn="1"/>
          </p:nvGrpSpPr>
          <p:grpSpPr bwMode="auto">
            <a:xfrm>
              <a:off x="123" y="148"/>
              <a:ext cx="2386" cy="1081"/>
              <a:chOff x="123" y="148"/>
              <a:chExt cx="2386" cy="1081"/>
            </a:xfrm>
          </p:grpSpPr>
          <p:sp>
            <p:nvSpPr>
              <p:cNvPr id="52237" name="Freeform 13"/>
              <p:cNvSpPr>
                <a:spLocks/>
              </p:cNvSpPr>
              <p:nvPr userDrawn="1"/>
            </p:nvSpPr>
            <p:spPr bwMode="auto">
              <a:xfrm>
                <a:off x="2005" y="934"/>
                <a:ext cx="212" cy="214"/>
              </a:xfrm>
              <a:custGeom>
                <a:avLst/>
                <a:gdLst>
                  <a:gd name="T0" fmla="*/ 110 w 150"/>
                  <a:gd name="T1" fmla="*/ 0 h 173"/>
                  <a:gd name="T2" fmla="*/ 40 w 150"/>
                  <a:gd name="T3" fmla="*/ 66 h 173"/>
                  <a:gd name="T4" fmla="*/ 0 w 150"/>
                  <a:gd name="T5" fmla="*/ 173 h 173"/>
                  <a:gd name="T6" fmla="*/ 80 w 150"/>
                  <a:gd name="T7" fmla="*/ 160 h 173"/>
                  <a:gd name="T8" fmla="*/ 103 w 150"/>
                  <a:gd name="T9" fmla="*/ 84 h 173"/>
                  <a:gd name="T10" fmla="*/ 150 w 150"/>
                  <a:gd name="T11" fmla="*/ 27 h 173"/>
                  <a:gd name="T12" fmla="*/ 110 w 150"/>
                  <a:gd name="T13" fmla="*/ 0 h 173"/>
                  <a:gd name="T14" fmla="*/ 110 w 150"/>
                  <a:gd name="T15" fmla="*/ 0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2238" name="Freeform 14"/>
              <p:cNvSpPr>
                <a:spLocks/>
              </p:cNvSpPr>
              <p:nvPr userDrawn="1"/>
            </p:nvSpPr>
            <p:spPr bwMode="auto">
              <a:xfrm>
                <a:off x="123" y="148"/>
                <a:ext cx="2386" cy="1081"/>
              </a:xfrm>
              <a:custGeom>
                <a:avLst/>
                <a:gdLst>
                  <a:gd name="T0" fmla="*/ 156 w 1684"/>
                  <a:gd name="T1" fmla="*/ 0 h 880"/>
                  <a:gd name="T2" fmla="*/ 63 w 1684"/>
                  <a:gd name="T3" fmla="*/ 52 h 880"/>
                  <a:gd name="T4" fmla="*/ 0 w 1684"/>
                  <a:gd name="T5" fmla="*/ 208 h 880"/>
                  <a:gd name="T6" fmla="*/ 67 w 1684"/>
                  <a:gd name="T7" fmla="*/ 358 h 880"/>
                  <a:gd name="T8" fmla="*/ 1182 w 1684"/>
                  <a:gd name="T9" fmla="*/ 867 h 880"/>
                  <a:gd name="T10" fmla="*/ 1422 w 1684"/>
                  <a:gd name="T11" fmla="*/ 835 h 880"/>
                  <a:gd name="T12" fmla="*/ 1616 w 1684"/>
                  <a:gd name="T13" fmla="*/ 880 h 880"/>
                  <a:gd name="T14" fmla="*/ 1684 w 1684"/>
                  <a:gd name="T15" fmla="*/ 808 h 880"/>
                  <a:gd name="T16" fmla="*/ 1502 w 1684"/>
                  <a:gd name="T17" fmla="*/ 664 h 880"/>
                  <a:gd name="T18" fmla="*/ 1428 w 1684"/>
                  <a:gd name="T19" fmla="*/ 512 h 880"/>
                  <a:gd name="T20" fmla="*/ 1369 w 1684"/>
                  <a:gd name="T21" fmla="*/ 527 h 880"/>
                  <a:gd name="T22" fmla="*/ 1439 w 1684"/>
                  <a:gd name="T23" fmla="*/ 664 h 880"/>
                  <a:gd name="T24" fmla="*/ 1578 w 1684"/>
                  <a:gd name="T25" fmla="*/ 810 h 880"/>
                  <a:gd name="T26" fmla="*/ 1413 w 1684"/>
                  <a:gd name="T27" fmla="*/ 787 h 880"/>
                  <a:gd name="T28" fmla="*/ 1219 w 1684"/>
                  <a:gd name="T29" fmla="*/ 814 h 880"/>
                  <a:gd name="T30" fmla="*/ 1255 w 1684"/>
                  <a:gd name="T31" fmla="*/ 650 h 880"/>
                  <a:gd name="T32" fmla="*/ 1338 w 1684"/>
                  <a:gd name="T33" fmla="*/ 538 h 880"/>
                  <a:gd name="T34" fmla="*/ 1241 w 1684"/>
                  <a:gd name="T35" fmla="*/ 552 h 880"/>
                  <a:gd name="T36" fmla="*/ 1165 w 1684"/>
                  <a:gd name="T37" fmla="*/ 658 h 880"/>
                  <a:gd name="T38" fmla="*/ 1139 w 1684"/>
                  <a:gd name="T39" fmla="*/ 791 h 880"/>
                  <a:gd name="T40" fmla="*/ 107 w 1684"/>
                  <a:gd name="T41" fmla="*/ 310 h 880"/>
                  <a:gd name="T42" fmla="*/ 80 w 1684"/>
                  <a:gd name="T43" fmla="*/ 215 h 880"/>
                  <a:gd name="T44" fmla="*/ 103 w 1684"/>
                  <a:gd name="T45" fmla="*/ 95 h 880"/>
                  <a:gd name="T46" fmla="*/ 217 w 1684"/>
                  <a:gd name="T47" fmla="*/ 0 h 880"/>
                  <a:gd name="T48" fmla="*/ 156 w 1684"/>
                  <a:gd name="T49" fmla="*/ 0 h 880"/>
                  <a:gd name="T50" fmla="*/ 156 w 1684"/>
                  <a:gd name="T51" fmla="*/ 0 h 8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2239" name="Freeform 15"/>
              <p:cNvSpPr>
                <a:spLocks/>
              </p:cNvSpPr>
              <p:nvPr userDrawn="1"/>
            </p:nvSpPr>
            <p:spPr bwMode="auto">
              <a:xfrm>
                <a:off x="324" y="158"/>
                <a:ext cx="1686" cy="614"/>
              </a:xfrm>
              <a:custGeom>
                <a:avLst/>
                <a:gdLst>
                  <a:gd name="T0" fmla="*/ 100 w 1190"/>
                  <a:gd name="T1" fmla="*/ 0 h 500"/>
                  <a:gd name="T2" fmla="*/ 1190 w 1190"/>
                  <a:gd name="T3" fmla="*/ 490 h 500"/>
                  <a:gd name="T4" fmla="*/ 1076 w 1190"/>
                  <a:gd name="T5" fmla="*/ 500 h 500"/>
                  <a:gd name="T6" fmla="*/ 0 w 1190"/>
                  <a:gd name="T7" fmla="*/ 27 h 500"/>
                  <a:gd name="T8" fmla="*/ 100 w 1190"/>
                  <a:gd name="T9" fmla="*/ 0 h 500"/>
                  <a:gd name="T10" fmla="*/ 100 w 1190"/>
                  <a:gd name="T11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2240" name="Freeform 16"/>
              <p:cNvSpPr>
                <a:spLocks/>
              </p:cNvSpPr>
              <p:nvPr userDrawn="1"/>
            </p:nvSpPr>
            <p:spPr bwMode="auto">
              <a:xfrm>
                <a:off x="409" y="251"/>
                <a:ext cx="227" cy="410"/>
              </a:xfrm>
              <a:custGeom>
                <a:avLst/>
                <a:gdLst>
                  <a:gd name="T0" fmla="*/ 116 w 160"/>
                  <a:gd name="T1" fmla="*/ 0 h 335"/>
                  <a:gd name="T2" fmla="*/ 19 w 160"/>
                  <a:gd name="T3" fmla="*/ 106 h 335"/>
                  <a:gd name="T4" fmla="*/ 0 w 160"/>
                  <a:gd name="T5" fmla="*/ 230 h 335"/>
                  <a:gd name="T6" fmla="*/ 33 w 160"/>
                  <a:gd name="T7" fmla="*/ 314 h 335"/>
                  <a:gd name="T8" fmla="*/ 94 w 160"/>
                  <a:gd name="T9" fmla="*/ 335 h 335"/>
                  <a:gd name="T10" fmla="*/ 76 w 160"/>
                  <a:gd name="T11" fmla="*/ 154 h 335"/>
                  <a:gd name="T12" fmla="*/ 160 w 160"/>
                  <a:gd name="T13" fmla="*/ 17 h 335"/>
                  <a:gd name="T14" fmla="*/ 116 w 160"/>
                  <a:gd name="T15" fmla="*/ 0 h 335"/>
                  <a:gd name="T16" fmla="*/ 116 w 160"/>
                  <a:gd name="T17" fmla="*/ 0 h 3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2241" name="Freeform 17"/>
              <p:cNvSpPr>
                <a:spLocks/>
              </p:cNvSpPr>
              <p:nvPr userDrawn="1"/>
            </p:nvSpPr>
            <p:spPr bwMode="auto">
              <a:xfrm>
                <a:off x="846" y="536"/>
                <a:ext cx="691" cy="364"/>
              </a:xfrm>
              <a:custGeom>
                <a:avLst/>
                <a:gdLst>
                  <a:gd name="T0" fmla="*/ 14 w 489"/>
                  <a:gd name="T1" fmla="*/ 34 h 296"/>
                  <a:gd name="T2" fmla="*/ 160 w 489"/>
                  <a:gd name="T3" fmla="*/ 66 h 296"/>
                  <a:gd name="T4" fmla="*/ 324 w 489"/>
                  <a:gd name="T5" fmla="*/ 137 h 296"/>
                  <a:gd name="T6" fmla="*/ 440 w 489"/>
                  <a:gd name="T7" fmla="*/ 243 h 296"/>
                  <a:gd name="T8" fmla="*/ 326 w 489"/>
                  <a:gd name="T9" fmla="*/ 230 h 296"/>
                  <a:gd name="T10" fmla="*/ 139 w 489"/>
                  <a:gd name="T11" fmla="*/ 146 h 296"/>
                  <a:gd name="T12" fmla="*/ 50 w 489"/>
                  <a:gd name="T13" fmla="*/ 80 h 296"/>
                  <a:gd name="T14" fmla="*/ 107 w 489"/>
                  <a:gd name="T15" fmla="*/ 163 h 296"/>
                  <a:gd name="T16" fmla="*/ 272 w 489"/>
                  <a:gd name="T17" fmla="*/ 270 h 296"/>
                  <a:gd name="T18" fmla="*/ 466 w 489"/>
                  <a:gd name="T19" fmla="*/ 296 h 296"/>
                  <a:gd name="T20" fmla="*/ 489 w 489"/>
                  <a:gd name="T21" fmla="*/ 224 h 296"/>
                  <a:gd name="T22" fmla="*/ 394 w 489"/>
                  <a:gd name="T23" fmla="*/ 120 h 296"/>
                  <a:gd name="T24" fmla="*/ 170 w 489"/>
                  <a:gd name="T25" fmla="*/ 17 h 296"/>
                  <a:gd name="T26" fmla="*/ 0 w 489"/>
                  <a:gd name="T27" fmla="*/ 0 h 296"/>
                  <a:gd name="T28" fmla="*/ 14 w 489"/>
                  <a:gd name="T29" fmla="*/ 34 h 296"/>
                  <a:gd name="T30" fmla="*/ 14 w 489"/>
                  <a:gd name="T31" fmla="*/ 34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</p:grpSp>
      <p:grpSp>
        <p:nvGrpSpPr>
          <p:cNvPr id="52242" name="Group 18"/>
          <p:cNvGrpSpPr>
            <a:grpSpLocks/>
          </p:cNvGrpSpPr>
          <p:nvPr/>
        </p:nvGrpSpPr>
        <p:grpSpPr bwMode="auto">
          <a:xfrm>
            <a:off x="7915275" y="4368800"/>
            <a:ext cx="742950" cy="1058863"/>
            <a:chOff x="4986" y="2752"/>
            <a:chExt cx="468" cy="667"/>
          </a:xfrm>
        </p:grpSpPr>
        <p:sp>
          <p:nvSpPr>
            <p:cNvPr id="52243" name="Freeform 19"/>
            <p:cNvSpPr>
              <a:spLocks/>
            </p:cNvSpPr>
            <p:nvPr userDrawn="1"/>
          </p:nvSpPr>
          <p:spPr bwMode="auto">
            <a:xfrm rot="7320404">
              <a:off x="4909" y="2936"/>
              <a:ext cx="629" cy="293"/>
            </a:xfrm>
            <a:custGeom>
              <a:avLst/>
              <a:gdLst>
                <a:gd name="T0" fmla="*/ 794 w 794"/>
                <a:gd name="T1" fmla="*/ 395 h 414"/>
                <a:gd name="T2" fmla="*/ 710 w 794"/>
                <a:gd name="T3" fmla="*/ 318 h 414"/>
                <a:gd name="T4" fmla="*/ 556 w 794"/>
                <a:gd name="T5" fmla="*/ 210 h 414"/>
                <a:gd name="T6" fmla="*/ 71 w 794"/>
                <a:gd name="T7" fmla="*/ 0 h 414"/>
                <a:gd name="T8" fmla="*/ 23 w 794"/>
                <a:gd name="T9" fmla="*/ 20 h 414"/>
                <a:gd name="T10" fmla="*/ 0 w 794"/>
                <a:gd name="T11" fmla="*/ 83 h 414"/>
                <a:gd name="T12" fmla="*/ 28 w 794"/>
                <a:gd name="T13" fmla="*/ 155 h 414"/>
                <a:gd name="T14" fmla="*/ 570 w 794"/>
                <a:gd name="T15" fmla="*/ 409 h 414"/>
                <a:gd name="T16" fmla="*/ 689 w 794"/>
                <a:gd name="T17" fmla="*/ 393 h 414"/>
                <a:gd name="T18" fmla="*/ 785 w 794"/>
                <a:gd name="T19" fmla="*/ 414 h 414"/>
                <a:gd name="T20" fmla="*/ 794 w 794"/>
                <a:gd name="T21" fmla="*/ 395 h 414"/>
                <a:gd name="T22" fmla="*/ 794 w 794"/>
                <a:gd name="T23" fmla="*/ 395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2244" name="Freeform 20"/>
            <p:cNvSpPr>
              <a:spLocks/>
            </p:cNvSpPr>
            <p:nvPr userDrawn="1"/>
          </p:nvSpPr>
          <p:spPr bwMode="auto">
            <a:xfrm rot="7320404">
              <a:off x="4893" y="2923"/>
              <a:ext cx="627" cy="290"/>
            </a:xfrm>
            <a:custGeom>
              <a:avLst/>
              <a:gdLst>
                <a:gd name="T0" fmla="*/ 137 w 1586"/>
                <a:gd name="T1" fmla="*/ 0 h 821"/>
                <a:gd name="T2" fmla="*/ 1331 w 1586"/>
                <a:gd name="T3" fmla="*/ 519 h 821"/>
                <a:gd name="T4" fmla="*/ 1428 w 1586"/>
                <a:gd name="T5" fmla="*/ 638 h 821"/>
                <a:gd name="T6" fmla="*/ 1586 w 1586"/>
                <a:gd name="T7" fmla="*/ 792 h 821"/>
                <a:gd name="T8" fmla="*/ 1565 w 1586"/>
                <a:gd name="T9" fmla="*/ 821 h 821"/>
                <a:gd name="T10" fmla="*/ 1350 w 1586"/>
                <a:gd name="T11" fmla="*/ 787 h 821"/>
                <a:gd name="T12" fmla="*/ 1145 w 1586"/>
                <a:gd name="T13" fmla="*/ 811 h 821"/>
                <a:gd name="T14" fmla="*/ 42 w 1586"/>
                <a:gd name="T15" fmla="*/ 298 h 821"/>
                <a:gd name="T16" fmla="*/ 0 w 1586"/>
                <a:gd name="T17" fmla="*/ 150 h 821"/>
                <a:gd name="T18" fmla="*/ 46 w 1586"/>
                <a:gd name="T19" fmla="*/ 32 h 821"/>
                <a:gd name="T20" fmla="*/ 137 w 1586"/>
                <a:gd name="T21" fmla="*/ 0 h 821"/>
                <a:gd name="T22" fmla="*/ 137 w 1586"/>
                <a:gd name="T23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2245" name="Freeform 21"/>
            <p:cNvSpPr>
              <a:spLocks/>
            </p:cNvSpPr>
            <p:nvPr userDrawn="1"/>
          </p:nvSpPr>
          <p:spPr bwMode="auto">
            <a:xfrm rot="7320404">
              <a:off x="5000" y="2912"/>
              <a:ext cx="416" cy="265"/>
            </a:xfrm>
            <a:custGeom>
              <a:avLst/>
              <a:gdLst>
                <a:gd name="T0" fmla="*/ 0 w 1049"/>
                <a:gd name="T1" fmla="*/ 325 h 747"/>
                <a:gd name="T2" fmla="*/ 922 w 1049"/>
                <a:gd name="T3" fmla="*/ 747 h 747"/>
                <a:gd name="T4" fmla="*/ 939 w 1049"/>
                <a:gd name="T5" fmla="*/ 534 h 747"/>
                <a:gd name="T6" fmla="*/ 1049 w 1049"/>
                <a:gd name="T7" fmla="*/ 422 h 747"/>
                <a:gd name="T8" fmla="*/ 78 w 1049"/>
                <a:gd name="T9" fmla="*/ 0 h 747"/>
                <a:gd name="T10" fmla="*/ 0 w 1049"/>
                <a:gd name="T11" fmla="*/ 127 h 747"/>
                <a:gd name="T12" fmla="*/ 0 w 1049"/>
                <a:gd name="T13" fmla="*/ 325 h 747"/>
                <a:gd name="T14" fmla="*/ 0 w 1049"/>
                <a:gd name="T15" fmla="*/ 325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grpSp>
          <p:nvGrpSpPr>
            <p:cNvPr id="52246" name="Group 22"/>
            <p:cNvGrpSpPr>
              <a:grpSpLocks/>
            </p:cNvGrpSpPr>
            <p:nvPr userDrawn="1"/>
          </p:nvGrpSpPr>
          <p:grpSpPr bwMode="auto">
            <a:xfrm>
              <a:off x="4986" y="2752"/>
              <a:ext cx="468" cy="667"/>
              <a:chOff x="4986" y="2752"/>
              <a:chExt cx="468" cy="667"/>
            </a:xfrm>
          </p:grpSpPr>
          <p:sp>
            <p:nvSpPr>
              <p:cNvPr id="52247" name="Freeform 23"/>
              <p:cNvSpPr>
                <a:spLocks/>
              </p:cNvSpPr>
              <p:nvPr userDrawn="1"/>
            </p:nvSpPr>
            <p:spPr bwMode="auto">
              <a:xfrm rot="7320404">
                <a:off x="4987" y="3190"/>
                <a:ext cx="59" cy="61"/>
              </a:xfrm>
              <a:custGeom>
                <a:avLst/>
                <a:gdLst>
                  <a:gd name="T0" fmla="*/ 110 w 150"/>
                  <a:gd name="T1" fmla="*/ 0 h 173"/>
                  <a:gd name="T2" fmla="*/ 40 w 150"/>
                  <a:gd name="T3" fmla="*/ 66 h 173"/>
                  <a:gd name="T4" fmla="*/ 0 w 150"/>
                  <a:gd name="T5" fmla="*/ 173 h 173"/>
                  <a:gd name="T6" fmla="*/ 80 w 150"/>
                  <a:gd name="T7" fmla="*/ 160 h 173"/>
                  <a:gd name="T8" fmla="*/ 103 w 150"/>
                  <a:gd name="T9" fmla="*/ 84 h 173"/>
                  <a:gd name="T10" fmla="*/ 150 w 150"/>
                  <a:gd name="T11" fmla="*/ 27 h 173"/>
                  <a:gd name="T12" fmla="*/ 110 w 150"/>
                  <a:gd name="T13" fmla="*/ 0 h 173"/>
                  <a:gd name="T14" fmla="*/ 110 w 150"/>
                  <a:gd name="T15" fmla="*/ 0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2248" name="Freeform 24"/>
              <p:cNvSpPr>
                <a:spLocks/>
              </p:cNvSpPr>
              <p:nvPr userDrawn="1"/>
            </p:nvSpPr>
            <p:spPr bwMode="auto">
              <a:xfrm rot="7320404">
                <a:off x="4887" y="2930"/>
                <a:ext cx="667" cy="311"/>
              </a:xfrm>
              <a:custGeom>
                <a:avLst/>
                <a:gdLst>
                  <a:gd name="T0" fmla="*/ 156 w 1684"/>
                  <a:gd name="T1" fmla="*/ 0 h 880"/>
                  <a:gd name="T2" fmla="*/ 63 w 1684"/>
                  <a:gd name="T3" fmla="*/ 52 h 880"/>
                  <a:gd name="T4" fmla="*/ 0 w 1684"/>
                  <a:gd name="T5" fmla="*/ 208 h 880"/>
                  <a:gd name="T6" fmla="*/ 67 w 1684"/>
                  <a:gd name="T7" fmla="*/ 358 h 880"/>
                  <a:gd name="T8" fmla="*/ 1182 w 1684"/>
                  <a:gd name="T9" fmla="*/ 867 h 880"/>
                  <a:gd name="T10" fmla="*/ 1422 w 1684"/>
                  <a:gd name="T11" fmla="*/ 835 h 880"/>
                  <a:gd name="T12" fmla="*/ 1616 w 1684"/>
                  <a:gd name="T13" fmla="*/ 880 h 880"/>
                  <a:gd name="T14" fmla="*/ 1684 w 1684"/>
                  <a:gd name="T15" fmla="*/ 808 h 880"/>
                  <a:gd name="T16" fmla="*/ 1502 w 1684"/>
                  <a:gd name="T17" fmla="*/ 664 h 880"/>
                  <a:gd name="T18" fmla="*/ 1428 w 1684"/>
                  <a:gd name="T19" fmla="*/ 512 h 880"/>
                  <a:gd name="T20" fmla="*/ 1369 w 1684"/>
                  <a:gd name="T21" fmla="*/ 527 h 880"/>
                  <a:gd name="T22" fmla="*/ 1439 w 1684"/>
                  <a:gd name="T23" fmla="*/ 664 h 880"/>
                  <a:gd name="T24" fmla="*/ 1578 w 1684"/>
                  <a:gd name="T25" fmla="*/ 810 h 880"/>
                  <a:gd name="T26" fmla="*/ 1413 w 1684"/>
                  <a:gd name="T27" fmla="*/ 787 h 880"/>
                  <a:gd name="T28" fmla="*/ 1219 w 1684"/>
                  <a:gd name="T29" fmla="*/ 814 h 880"/>
                  <a:gd name="T30" fmla="*/ 1255 w 1684"/>
                  <a:gd name="T31" fmla="*/ 650 h 880"/>
                  <a:gd name="T32" fmla="*/ 1338 w 1684"/>
                  <a:gd name="T33" fmla="*/ 538 h 880"/>
                  <a:gd name="T34" fmla="*/ 1241 w 1684"/>
                  <a:gd name="T35" fmla="*/ 552 h 880"/>
                  <a:gd name="T36" fmla="*/ 1165 w 1684"/>
                  <a:gd name="T37" fmla="*/ 658 h 880"/>
                  <a:gd name="T38" fmla="*/ 1139 w 1684"/>
                  <a:gd name="T39" fmla="*/ 791 h 880"/>
                  <a:gd name="T40" fmla="*/ 107 w 1684"/>
                  <a:gd name="T41" fmla="*/ 310 h 880"/>
                  <a:gd name="T42" fmla="*/ 80 w 1684"/>
                  <a:gd name="T43" fmla="*/ 215 h 880"/>
                  <a:gd name="T44" fmla="*/ 103 w 1684"/>
                  <a:gd name="T45" fmla="*/ 95 h 880"/>
                  <a:gd name="T46" fmla="*/ 217 w 1684"/>
                  <a:gd name="T47" fmla="*/ 0 h 880"/>
                  <a:gd name="T48" fmla="*/ 156 w 1684"/>
                  <a:gd name="T49" fmla="*/ 0 h 880"/>
                  <a:gd name="T50" fmla="*/ 156 w 1684"/>
                  <a:gd name="T51" fmla="*/ 0 h 8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2249" name="Freeform 25"/>
              <p:cNvSpPr>
                <a:spLocks/>
              </p:cNvSpPr>
              <p:nvPr userDrawn="1"/>
            </p:nvSpPr>
            <p:spPr bwMode="auto">
              <a:xfrm rot="7320404">
                <a:off x="5062" y="2997"/>
                <a:ext cx="472" cy="176"/>
              </a:xfrm>
              <a:custGeom>
                <a:avLst/>
                <a:gdLst>
                  <a:gd name="T0" fmla="*/ 100 w 1190"/>
                  <a:gd name="T1" fmla="*/ 0 h 500"/>
                  <a:gd name="T2" fmla="*/ 1190 w 1190"/>
                  <a:gd name="T3" fmla="*/ 490 h 500"/>
                  <a:gd name="T4" fmla="*/ 1076 w 1190"/>
                  <a:gd name="T5" fmla="*/ 500 h 500"/>
                  <a:gd name="T6" fmla="*/ 0 w 1190"/>
                  <a:gd name="T7" fmla="*/ 27 h 500"/>
                  <a:gd name="T8" fmla="*/ 100 w 1190"/>
                  <a:gd name="T9" fmla="*/ 0 h 500"/>
                  <a:gd name="T10" fmla="*/ 100 w 1190"/>
                  <a:gd name="T11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2250" name="Freeform 26"/>
              <p:cNvSpPr>
                <a:spLocks/>
              </p:cNvSpPr>
              <p:nvPr userDrawn="1"/>
            </p:nvSpPr>
            <p:spPr bwMode="auto">
              <a:xfrm rot="7320404">
                <a:off x="5363" y="2874"/>
                <a:ext cx="63" cy="118"/>
              </a:xfrm>
              <a:custGeom>
                <a:avLst/>
                <a:gdLst>
                  <a:gd name="T0" fmla="*/ 116 w 160"/>
                  <a:gd name="T1" fmla="*/ 0 h 335"/>
                  <a:gd name="T2" fmla="*/ 19 w 160"/>
                  <a:gd name="T3" fmla="*/ 106 h 335"/>
                  <a:gd name="T4" fmla="*/ 0 w 160"/>
                  <a:gd name="T5" fmla="*/ 230 h 335"/>
                  <a:gd name="T6" fmla="*/ 33 w 160"/>
                  <a:gd name="T7" fmla="*/ 314 h 335"/>
                  <a:gd name="T8" fmla="*/ 94 w 160"/>
                  <a:gd name="T9" fmla="*/ 335 h 335"/>
                  <a:gd name="T10" fmla="*/ 76 w 160"/>
                  <a:gd name="T11" fmla="*/ 154 h 335"/>
                  <a:gd name="T12" fmla="*/ 160 w 160"/>
                  <a:gd name="T13" fmla="*/ 17 h 335"/>
                  <a:gd name="T14" fmla="*/ 116 w 160"/>
                  <a:gd name="T15" fmla="*/ 0 h 335"/>
                  <a:gd name="T16" fmla="*/ 116 w 160"/>
                  <a:gd name="T17" fmla="*/ 0 h 3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2251" name="Freeform 27"/>
              <p:cNvSpPr>
                <a:spLocks/>
              </p:cNvSpPr>
              <p:nvPr userDrawn="1"/>
            </p:nvSpPr>
            <p:spPr bwMode="auto">
              <a:xfrm rot="7320404">
                <a:off x="5136" y="3000"/>
                <a:ext cx="193" cy="104"/>
              </a:xfrm>
              <a:custGeom>
                <a:avLst/>
                <a:gdLst>
                  <a:gd name="T0" fmla="*/ 14 w 489"/>
                  <a:gd name="T1" fmla="*/ 34 h 296"/>
                  <a:gd name="T2" fmla="*/ 160 w 489"/>
                  <a:gd name="T3" fmla="*/ 66 h 296"/>
                  <a:gd name="T4" fmla="*/ 324 w 489"/>
                  <a:gd name="T5" fmla="*/ 137 h 296"/>
                  <a:gd name="T6" fmla="*/ 440 w 489"/>
                  <a:gd name="T7" fmla="*/ 243 h 296"/>
                  <a:gd name="T8" fmla="*/ 326 w 489"/>
                  <a:gd name="T9" fmla="*/ 230 h 296"/>
                  <a:gd name="T10" fmla="*/ 139 w 489"/>
                  <a:gd name="T11" fmla="*/ 146 h 296"/>
                  <a:gd name="T12" fmla="*/ 50 w 489"/>
                  <a:gd name="T13" fmla="*/ 80 h 296"/>
                  <a:gd name="T14" fmla="*/ 107 w 489"/>
                  <a:gd name="T15" fmla="*/ 163 h 296"/>
                  <a:gd name="T16" fmla="*/ 272 w 489"/>
                  <a:gd name="T17" fmla="*/ 270 h 296"/>
                  <a:gd name="T18" fmla="*/ 466 w 489"/>
                  <a:gd name="T19" fmla="*/ 296 h 296"/>
                  <a:gd name="T20" fmla="*/ 489 w 489"/>
                  <a:gd name="T21" fmla="*/ 224 h 296"/>
                  <a:gd name="T22" fmla="*/ 394 w 489"/>
                  <a:gd name="T23" fmla="*/ 120 h 296"/>
                  <a:gd name="T24" fmla="*/ 170 w 489"/>
                  <a:gd name="T25" fmla="*/ 17 h 296"/>
                  <a:gd name="T26" fmla="*/ 0 w 489"/>
                  <a:gd name="T27" fmla="*/ 0 h 296"/>
                  <a:gd name="T28" fmla="*/ 14 w 489"/>
                  <a:gd name="T29" fmla="*/ 34 h 296"/>
                  <a:gd name="T30" fmla="*/ 14 w 489"/>
                  <a:gd name="T31" fmla="*/ 34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</p:grpSp>
      <p:sp>
        <p:nvSpPr>
          <p:cNvPr id="52252" name="Freeform 28"/>
          <p:cNvSpPr>
            <a:spLocks/>
          </p:cNvSpPr>
          <p:nvPr/>
        </p:nvSpPr>
        <p:spPr bwMode="auto">
          <a:xfrm>
            <a:off x="901700" y="5054600"/>
            <a:ext cx="6807200" cy="728663"/>
          </a:xfrm>
          <a:custGeom>
            <a:avLst/>
            <a:gdLst>
              <a:gd name="T0" fmla="*/ 0 w 4288"/>
              <a:gd name="T1" fmla="*/ 0 h 459"/>
              <a:gd name="T2" fmla="*/ 816 w 4288"/>
              <a:gd name="T3" fmla="*/ 256 h 459"/>
              <a:gd name="T4" fmla="*/ 1560 w 4288"/>
              <a:gd name="T5" fmla="*/ 144 h 459"/>
              <a:gd name="T6" fmla="*/ 1856 w 4288"/>
              <a:gd name="T7" fmla="*/ 376 h 459"/>
              <a:gd name="T8" fmla="*/ 2344 w 4288"/>
              <a:gd name="T9" fmla="*/ 152 h 459"/>
              <a:gd name="T10" fmla="*/ 3536 w 4288"/>
              <a:gd name="T11" fmla="*/ 456 h 459"/>
              <a:gd name="T12" fmla="*/ 4288 w 4288"/>
              <a:gd name="T13" fmla="*/ 136 h 4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288" h="459">
                <a:moveTo>
                  <a:pt x="0" y="0"/>
                </a:moveTo>
                <a:cubicBezTo>
                  <a:pt x="136" y="43"/>
                  <a:pt x="556" y="232"/>
                  <a:pt x="816" y="256"/>
                </a:cubicBezTo>
                <a:cubicBezTo>
                  <a:pt x="1076" y="280"/>
                  <a:pt x="1387" y="124"/>
                  <a:pt x="1560" y="144"/>
                </a:cubicBezTo>
                <a:cubicBezTo>
                  <a:pt x="1733" y="164"/>
                  <a:pt x="1725" y="375"/>
                  <a:pt x="1856" y="376"/>
                </a:cubicBezTo>
                <a:cubicBezTo>
                  <a:pt x="1987" y="377"/>
                  <a:pt x="2064" y="139"/>
                  <a:pt x="2344" y="152"/>
                </a:cubicBezTo>
                <a:cubicBezTo>
                  <a:pt x="2624" y="165"/>
                  <a:pt x="3212" y="459"/>
                  <a:pt x="3536" y="456"/>
                </a:cubicBezTo>
                <a:cubicBezTo>
                  <a:pt x="3860" y="453"/>
                  <a:pt x="4165" y="188"/>
                  <a:pt x="4288" y="136"/>
                </a:cubicBezTo>
              </a:path>
            </a:pathLst>
          </a:custGeom>
          <a:noFill/>
          <a:ln w="76200" cap="flat" cmpd="sng">
            <a:solidFill>
              <a:schemeClr val="folHlink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52253" name="Freeform 29"/>
          <p:cNvSpPr>
            <a:spLocks/>
          </p:cNvSpPr>
          <p:nvPr/>
        </p:nvSpPr>
        <p:spPr bwMode="auto">
          <a:xfrm>
            <a:off x="4076700" y="1930400"/>
            <a:ext cx="889000" cy="381000"/>
          </a:xfrm>
          <a:custGeom>
            <a:avLst/>
            <a:gdLst>
              <a:gd name="T0" fmla="*/ 0 w 560"/>
              <a:gd name="T1" fmla="*/ 32 h 240"/>
              <a:gd name="T2" fmla="*/ 280 w 560"/>
              <a:gd name="T3" fmla="*/ 144 h 240"/>
              <a:gd name="T4" fmla="*/ 448 w 560"/>
              <a:gd name="T5" fmla="*/ 16 h 240"/>
              <a:gd name="T6" fmla="*/ 560 w 560"/>
              <a:gd name="T7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60" h="240">
                <a:moveTo>
                  <a:pt x="0" y="32"/>
                </a:moveTo>
                <a:cubicBezTo>
                  <a:pt x="102" y="89"/>
                  <a:pt x="205" y="147"/>
                  <a:pt x="280" y="144"/>
                </a:cubicBezTo>
                <a:cubicBezTo>
                  <a:pt x="355" y="141"/>
                  <a:pt x="401" y="0"/>
                  <a:pt x="448" y="16"/>
                </a:cubicBezTo>
                <a:cubicBezTo>
                  <a:pt x="495" y="32"/>
                  <a:pt x="541" y="201"/>
                  <a:pt x="560" y="240"/>
                </a:cubicBezTo>
              </a:path>
            </a:pathLst>
          </a:custGeom>
          <a:noFill/>
          <a:ln w="114300" cmpd="sng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288246A-D67B-421A-9C93-15AACA8A7F27}" type="datetime1">
              <a:rPr lang="ru-RU" altLang="ru-RU"/>
              <a:pPr/>
              <a:t>21.10.2025</a:t>
            </a:fld>
            <a:endParaRPr lang="ru-RU" alt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BEB0F1-B5DA-4A6B-8754-27714B5EEB93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187355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48D507C-11A8-4E29-B599-D8B52CCA1FC7}" type="datetime1">
              <a:rPr lang="ru-RU" altLang="ru-RU"/>
              <a:pPr/>
              <a:t>21.10.2025</a:t>
            </a:fld>
            <a:endParaRPr lang="ru-RU" alt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A7524C-06C3-45F4-B9D1-E6159122C1D8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755805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3771900" cy="36576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10100" y="1828800"/>
            <a:ext cx="3771900" cy="36576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2A81A84-F54D-4BA8-833C-39DB13F167BB}" type="datetime1">
              <a:rPr lang="ru-RU" altLang="ru-RU"/>
              <a:pPr/>
              <a:t>21.10.2025</a:t>
            </a:fld>
            <a:endParaRPr lang="ru-RU" alt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838167-2F0B-401D-964F-96F5E9719255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266087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2FF58E7-DC6D-4E30-9240-639444BCA66C}" type="datetime1">
              <a:rPr lang="ru-RU" altLang="ru-RU"/>
              <a:pPr/>
              <a:t>21.10.2025</a:t>
            </a:fld>
            <a:endParaRPr lang="ru-RU" alt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1B7B65-4C4D-4114-9FDE-02FF38BADA3B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77206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E1FED5E-A16B-4B2E-B1AC-5F3F0E4B56DC}" type="datetime1">
              <a:rPr lang="ru-RU" altLang="ru-RU"/>
              <a:pPr/>
              <a:t>21.10.2025</a:t>
            </a:fld>
            <a:endParaRPr lang="ru-RU" alt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D07520-58F9-4C75-90A1-7124DD6E6317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393941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23BEC62-9F5F-4E3F-A066-7DF945A7DF88}" type="datetime1">
              <a:rPr lang="ru-RU" altLang="ru-RU"/>
              <a:pPr/>
              <a:t>21.10.2025</a:t>
            </a:fld>
            <a:endParaRPr lang="ru-RU" alt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1FBA42-7725-46BF-9207-AB429E65D638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5437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789732D-08E3-423C-A5B5-D63ADCA2B128}" type="datetime1">
              <a:rPr lang="ru-RU" altLang="ru-RU"/>
              <a:pPr/>
              <a:t>21.10.2025</a:t>
            </a:fld>
            <a:endParaRPr lang="ru-RU" alt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E90D3D-5AD6-405A-80F6-74DD3978897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776903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E12755-DB10-4408-876F-4DD7E5D818F7}" type="datetime1">
              <a:rPr lang="ru-RU" altLang="ru-RU"/>
              <a:pPr/>
              <a:t>21.10.2025</a:t>
            </a:fld>
            <a:endParaRPr lang="ru-RU" alt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790E4F-DE42-4614-B880-4FCBEFB39AE0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670029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4D91F73-FE1D-4806-ADB7-4CA97B1884D0}" type="datetime1">
              <a:rPr lang="ru-RU" altLang="ru-RU"/>
              <a:pPr/>
              <a:t>21.10.2025</a:t>
            </a:fld>
            <a:endParaRPr lang="ru-RU" alt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176357-C2D3-499D-AA45-EED4E96A66F0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74795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457950" y="152400"/>
            <a:ext cx="1924050" cy="5334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19750" cy="53340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74B2B63-2F81-49D0-BB8C-CDCD5CAE2259}" type="datetime1">
              <a:rPr lang="ru-RU" altLang="ru-RU"/>
              <a:pPr/>
              <a:t>21.10.2025</a:t>
            </a:fld>
            <a:endParaRPr lang="ru-RU" alt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83B48E-2A92-492E-9580-1B7A1FF62E68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919301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Freeform 2"/>
          <p:cNvSpPr>
            <a:spLocks/>
          </p:cNvSpPr>
          <p:nvPr/>
        </p:nvSpPr>
        <p:spPr bwMode="auto">
          <a:xfrm rot="-3172564">
            <a:off x="7777957" y="-15081"/>
            <a:ext cx="1162050" cy="2084387"/>
          </a:xfrm>
          <a:custGeom>
            <a:avLst/>
            <a:gdLst>
              <a:gd name="T0" fmla="*/ 2903 w 2903"/>
              <a:gd name="T1" fmla="*/ 433 h 3686"/>
              <a:gd name="T2" fmla="*/ 2565 w 2903"/>
              <a:gd name="T3" fmla="*/ 80 h 3686"/>
              <a:gd name="T4" fmla="*/ 2241 w 2903"/>
              <a:gd name="T5" fmla="*/ 0 h 3686"/>
              <a:gd name="T6" fmla="*/ 110 w 2903"/>
              <a:gd name="T7" fmla="*/ 2811 h 3686"/>
              <a:gd name="T8" fmla="*/ 110 w 2903"/>
              <a:gd name="T9" fmla="*/ 3228 h 3686"/>
              <a:gd name="T10" fmla="*/ 0 w 2903"/>
              <a:gd name="T11" fmla="*/ 3631 h 3686"/>
              <a:gd name="T12" fmla="*/ 72 w 2903"/>
              <a:gd name="T13" fmla="*/ 3686 h 3686"/>
              <a:gd name="T14" fmla="*/ 441 w 2903"/>
              <a:gd name="T15" fmla="*/ 3355 h 3686"/>
              <a:gd name="T16" fmla="*/ 740 w 2903"/>
              <a:gd name="T17" fmla="*/ 3228 h 3686"/>
              <a:gd name="T18" fmla="*/ 2903 w 2903"/>
              <a:gd name="T19" fmla="*/ 433 h 3686"/>
              <a:gd name="T20" fmla="*/ 2903 w 2903"/>
              <a:gd name="T21" fmla="*/ 433 h 36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903" h="3686">
                <a:moveTo>
                  <a:pt x="2903" y="433"/>
                </a:moveTo>
                <a:lnTo>
                  <a:pt x="2565" y="80"/>
                </a:lnTo>
                <a:lnTo>
                  <a:pt x="2241" y="0"/>
                </a:lnTo>
                <a:lnTo>
                  <a:pt x="110" y="2811"/>
                </a:lnTo>
                <a:lnTo>
                  <a:pt x="110" y="3228"/>
                </a:lnTo>
                <a:lnTo>
                  <a:pt x="0" y="3631"/>
                </a:lnTo>
                <a:lnTo>
                  <a:pt x="72" y="3686"/>
                </a:lnTo>
                <a:lnTo>
                  <a:pt x="441" y="3355"/>
                </a:lnTo>
                <a:lnTo>
                  <a:pt x="740" y="3228"/>
                </a:lnTo>
                <a:lnTo>
                  <a:pt x="2903" y="433"/>
                </a:lnTo>
                <a:lnTo>
                  <a:pt x="2903" y="4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68707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5120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828800"/>
            <a:ext cx="76962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5120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69B5856A-ACF8-416B-9FA7-28FF22B9E60C}" type="datetime1">
              <a:rPr lang="ru-RU" altLang="ru-RU"/>
              <a:pPr/>
              <a:t>21.10.2025</a:t>
            </a:fld>
            <a:endParaRPr lang="ru-RU" altLang="ru-RU"/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ru-RU" altLang="ru-RU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445B6B8-7D50-4D0E-8088-3302A203343D}" type="slidenum">
              <a:rPr lang="ru-RU" altLang="ru-RU"/>
              <a:pPr/>
              <a:t>‹#›</a:t>
            </a:fld>
            <a:endParaRPr lang="ru-RU" altLang="ru-RU"/>
          </a:p>
        </p:txBody>
      </p:sp>
      <p:sp>
        <p:nvSpPr>
          <p:cNvPr id="51208" name="Freeform 8"/>
          <p:cNvSpPr>
            <a:spLocks/>
          </p:cNvSpPr>
          <p:nvPr/>
        </p:nvSpPr>
        <p:spPr bwMode="auto">
          <a:xfrm rot="-3172564">
            <a:off x="7865269" y="24607"/>
            <a:ext cx="1165225" cy="2097087"/>
          </a:xfrm>
          <a:custGeom>
            <a:avLst/>
            <a:gdLst>
              <a:gd name="T0" fmla="*/ 2293 w 2911"/>
              <a:gd name="T1" fmla="*/ 0 h 3703"/>
              <a:gd name="T2" fmla="*/ 130 w 2911"/>
              <a:gd name="T3" fmla="*/ 2835 h 3703"/>
              <a:gd name="T4" fmla="*/ 131 w 2911"/>
              <a:gd name="T5" fmla="*/ 3201 h 3703"/>
              <a:gd name="T6" fmla="*/ 0 w 2911"/>
              <a:gd name="T7" fmla="*/ 3633 h 3703"/>
              <a:gd name="T8" fmla="*/ 50 w 2911"/>
              <a:gd name="T9" fmla="*/ 3703 h 3703"/>
              <a:gd name="T10" fmla="*/ 422 w 2911"/>
              <a:gd name="T11" fmla="*/ 3352 h 3703"/>
              <a:gd name="T12" fmla="*/ 763 w 2911"/>
              <a:gd name="T13" fmla="*/ 3220 h 3703"/>
              <a:gd name="T14" fmla="*/ 2911 w 2911"/>
              <a:gd name="T15" fmla="*/ 428 h 3703"/>
              <a:gd name="T16" fmla="*/ 2589 w 2911"/>
              <a:gd name="T17" fmla="*/ 96 h 3703"/>
              <a:gd name="T18" fmla="*/ 2293 w 2911"/>
              <a:gd name="T19" fmla="*/ 0 h 3703"/>
              <a:gd name="T20" fmla="*/ 2293 w 2911"/>
              <a:gd name="T21" fmla="*/ 0 h 37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911" h="3703">
                <a:moveTo>
                  <a:pt x="2293" y="0"/>
                </a:moveTo>
                <a:lnTo>
                  <a:pt x="130" y="2835"/>
                </a:lnTo>
                <a:lnTo>
                  <a:pt x="131" y="3201"/>
                </a:lnTo>
                <a:lnTo>
                  <a:pt x="0" y="3633"/>
                </a:lnTo>
                <a:lnTo>
                  <a:pt x="50" y="3703"/>
                </a:lnTo>
                <a:lnTo>
                  <a:pt x="422" y="3352"/>
                </a:lnTo>
                <a:lnTo>
                  <a:pt x="763" y="3220"/>
                </a:lnTo>
                <a:lnTo>
                  <a:pt x="2911" y="428"/>
                </a:lnTo>
                <a:lnTo>
                  <a:pt x="2589" y="96"/>
                </a:lnTo>
                <a:lnTo>
                  <a:pt x="2293" y="0"/>
                </a:lnTo>
                <a:lnTo>
                  <a:pt x="2293" y="0"/>
                </a:lnTo>
                <a:close/>
              </a:path>
            </a:pathLst>
          </a:cu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51209" name="Freeform 9"/>
          <p:cNvSpPr>
            <a:spLocks/>
          </p:cNvSpPr>
          <p:nvPr/>
        </p:nvSpPr>
        <p:spPr bwMode="auto">
          <a:xfrm rot="-3172564">
            <a:off x="7831138" y="192088"/>
            <a:ext cx="1025525" cy="1571625"/>
          </a:xfrm>
          <a:custGeom>
            <a:avLst/>
            <a:gdLst>
              <a:gd name="T0" fmla="*/ 0 w 2561"/>
              <a:gd name="T1" fmla="*/ 2485 h 2777"/>
              <a:gd name="T2" fmla="*/ 432 w 2561"/>
              <a:gd name="T3" fmla="*/ 2553 h 2777"/>
              <a:gd name="T4" fmla="*/ 736 w 2561"/>
              <a:gd name="T5" fmla="*/ 2777 h 2777"/>
              <a:gd name="T6" fmla="*/ 2561 w 2561"/>
              <a:gd name="T7" fmla="*/ 399 h 2777"/>
              <a:gd name="T8" fmla="*/ 2118 w 2561"/>
              <a:gd name="T9" fmla="*/ 82 h 2777"/>
              <a:gd name="T10" fmla="*/ 1898 w 2561"/>
              <a:gd name="T11" fmla="*/ 0 h 2777"/>
              <a:gd name="T12" fmla="*/ 0 w 2561"/>
              <a:gd name="T13" fmla="*/ 2485 h 2777"/>
              <a:gd name="T14" fmla="*/ 0 w 2561"/>
              <a:gd name="T15" fmla="*/ 2485 h 27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561" h="2777">
                <a:moveTo>
                  <a:pt x="0" y="2485"/>
                </a:moveTo>
                <a:lnTo>
                  <a:pt x="432" y="2553"/>
                </a:lnTo>
                <a:lnTo>
                  <a:pt x="736" y="2777"/>
                </a:lnTo>
                <a:lnTo>
                  <a:pt x="2561" y="399"/>
                </a:lnTo>
                <a:lnTo>
                  <a:pt x="2118" y="82"/>
                </a:lnTo>
                <a:lnTo>
                  <a:pt x="1898" y="0"/>
                </a:lnTo>
                <a:lnTo>
                  <a:pt x="0" y="2485"/>
                </a:lnTo>
                <a:lnTo>
                  <a:pt x="0" y="2485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  <p:grpSp>
        <p:nvGrpSpPr>
          <p:cNvPr id="51210" name="Group 10"/>
          <p:cNvGrpSpPr>
            <a:grpSpLocks/>
          </p:cNvGrpSpPr>
          <p:nvPr/>
        </p:nvGrpSpPr>
        <p:grpSpPr bwMode="auto">
          <a:xfrm>
            <a:off x="7938" y="5540375"/>
            <a:ext cx="1784350" cy="1246188"/>
            <a:chOff x="5" y="3490"/>
            <a:chExt cx="1124" cy="785"/>
          </a:xfrm>
        </p:grpSpPr>
        <p:sp>
          <p:nvSpPr>
            <p:cNvPr id="51211" name="Freeform 11"/>
            <p:cNvSpPr>
              <a:spLocks/>
            </p:cNvSpPr>
            <p:nvPr userDrawn="1"/>
          </p:nvSpPr>
          <p:spPr bwMode="auto">
            <a:xfrm>
              <a:off x="24" y="3505"/>
              <a:ext cx="1089" cy="649"/>
            </a:xfrm>
            <a:custGeom>
              <a:avLst/>
              <a:gdLst>
                <a:gd name="T0" fmla="*/ 1587 w 2177"/>
                <a:gd name="T1" fmla="*/ 1260 h 1298"/>
                <a:gd name="T2" fmla="*/ 1420 w 2177"/>
                <a:gd name="T3" fmla="*/ 1106 h 1298"/>
                <a:gd name="T4" fmla="*/ 1331 w 2177"/>
                <a:gd name="T5" fmla="*/ 477 h 1298"/>
                <a:gd name="T6" fmla="*/ 2139 w 2177"/>
                <a:gd name="T7" fmla="*/ 330 h 1298"/>
                <a:gd name="T8" fmla="*/ 2177 w 2177"/>
                <a:gd name="T9" fmla="*/ 203 h 1298"/>
                <a:gd name="T10" fmla="*/ 2099 w 2177"/>
                <a:gd name="T11" fmla="*/ 100 h 1298"/>
                <a:gd name="T12" fmla="*/ 1276 w 2177"/>
                <a:gd name="T13" fmla="*/ 211 h 1298"/>
                <a:gd name="T14" fmla="*/ 1219 w 2177"/>
                <a:gd name="T15" fmla="*/ 32 h 1298"/>
                <a:gd name="T16" fmla="*/ 1085 w 2177"/>
                <a:gd name="T17" fmla="*/ 0 h 1298"/>
                <a:gd name="T18" fmla="*/ 958 w 2177"/>
                <a:gd name="T19" fmla="*/ 28 h 1298"/>
                <a:gd name="T20" fmla="*/ 888 w 2177"/>
                <a:gd name="T21" fmla="*/ 106 h 1298"/>
                <a:gd name="T22" fmla="*/ 937 w 2177"/>
                <a:gd name="T23" fmla="*/ 285 h 1298"/>
                <a:gd name="T24" fmla="*/ 660 w 2177"/>
                <a:gd name="T25" fmla="*/ 441 h 1298"/>
                <a:gd name="T26" fmla="*/ 983 w 2177"/>
                <a:gd name="T27" fmla="*/ 473 h 1298"/>
                <a:gd name="T28" fmla="*/ 1112 w 2177"/>
                <a:gd name="T29" fmla="*/ 889 h 1298"/>
                <a:gd name="T30" fmla="*/ 141 w 2177"/>
                <a:gd name="T31" fmla="*/ 469 h 1298"/>
                <a:gd name="T32" fmla="*/ 46 w 2177"/>
                <a:gd name="T33" fmla="*/ 509 h 1298"/>
                <a:gd name="T34" fmla="*/ 0 w 2177"/>
                <a:gd name="T35" fmla="*/ 636 h 1298"/>
                <a:gd name="T36" fmla="*/ 55 w 2177"/>
                <a:gd name="T37" fmla="*/ 779 h 1298"/>
                <a:gd name="T38" fmla="*/ 1139 w 2177"/>
                <a:gd name="T39" fmla="*/ 1288 h 1298"/>
                <a:gd name="T40" fmla="*/ 1378 w 2177"/>
                <a:gd name="T41" fmla="*/ 1256 h 1298"/>
                <a:gd name="T42" fmla="*/ 1570 w 2177"/>
                <a:gd name="T43" fmla="*/ 1298 h 1298"/>
                <a:gd name="T44" fmla="*/ 1587 w 2177"/>
                <a:gd name="T45" fmla="*/ 1260 h 1298"/>
                <a:gd name="T46" fmla="*/ 1587 w 2177"/>
                <a:gd name="T47" fmla="*/ 1260 h 1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177" h="1298">
                  <a:moveTo>
                    <a:pt x="1587" y="1260"/>
                  </a:moveTo>
                  <a:lnTo>
                    <a:pt x="1420" y="1106"/>
                  </a:lnTo>
                  <a:lnTo>
                    <a:pt x="1331" y="477"/>
                  </a:lnTo>
                  <a:lnTo>
                    <a:pt x="2139" y="330"/>
                  </a:lnTo>
                  <a:lnTo>
                    <a:pt x="2177" y="203"/>
                  </a:lnTo>
                  <a:lnTo>
                    <a:pt x="2099" y="100"/>
                  </a:lnTo>
                  <a:lnTo>
                    <a:pt x="1276" y="211"/>
                  </a:lnTo>
                  <a:lnTo>
                    <a:pt x="1219" y="32"/>
                  </a:lnTo>
                  <a:lnTo>
                    <a:pt x="1085" y="0"/>
                  </a:lnTo>
                  <a:lnTo>
                    <a:pt x="958" y="28"/>
                  </a:lnTo>
                  <a:lnTo>
                    <a:pt x="888" y="106"/>
                  </a:lnTo>
                  <a:lnTo>
                    <a:pt x="937" y="285"/>
                  </a:lnTo>
                  <a:lnTo>
                    <a:pt x="660" y="441"/>
                  </a:lnTo>
                  <a:lnTo>
                    <a:pt x="983" y="473"/>
                  </a:lnTo>
                  <a:lnTo>
                    <a:pt x="1112" y="889"/>
                  </a:lnTo>
                  <a:lnTo>
                    <a:pt x="141" y="469"/>
                  </a:lnTo>
                  <a:lnTo>
                    <a:pt x="46" y="509"/>
                  </a:lnTo>
                  <a:lnTo>
                    <a:pt x="0" y="636"/>
                  </a:lnTo>
                  <a:lnTo>
                    <a:pt x="55" y="779"/>
                  </a:lnTo>
                  <a:lnTo>
                    <a:pt x="1139" y="1288"/>
                  </a:lnTo>
                  <a:lnTo>
                    <a:pt x="1378" y="1256"/>
                  </a:lnTo>
                  <a:lnTo>
                    <a:pt x="1570" y="1298"/>
                  </a:lnTo>
                  <a:lnTo>
                    <a:pt x="1587" y="1260"/>
                  </a:lnTo>
                  <a:lnTo>
                    <a:pt x="1587" y="1260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1212" name="Freeform 12"/>
            <p:cNvSpPr>
              <a:spLocks/>
            </p:cNvSpPr>
            <p:nvPr userDrawn="1"/>
          </p:nvSpPr>
          <p:spPr bwMode="auto">
            <a:xfrm>
              <a:off x="1022" y="3582"/>
              <a:ext cx="71" cy="129"/>
            </a:xfrm>
            <a:custGeom>
              <a:avLst/>
              <a:gdLst>
                <a:gd name="T0" fmla="*/ 0 w 143"/>
                <a:gd name="T1" fmla="*/ 7 h 258"/>
                <a:gd name="T2" fmla="*/ 120 w 143"/>
                <a:gd name="T3" fmla="*/ 0 h 258"/>
                <a:gd name="T4" fmla="*/ 143 w 143"/>
                <a:gd name="T5" fmla="*/ 233 h 258"/>
                <a:gd name="T6" fmla="*/ 8 w 143"/>
                <a:gd name="T7" fmla="*/ 258 h 258"/>
                <a:gd name="T8" fmla="*/ 0 w 143"/>
                <a:gd name="T9" fmla="*/ 7 h 258"/>
                <a:gd name="T10" fmla="*/ 0 w 143"/>
                <a:gd name="T11" fmla="*/ 7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3" h="258">
                  <a:moveTo>
                    <a:pt x="0" y="7"/>
                  </a:moveTo>
                  <a:lnTo>
                    <a:pt x="120" y="0"/>
                  </a:lnTo>
                  <a:lnTo>
                    <a:pt x="143" y="233"/>
                  </a:lnTo>
                  <a:lnTo>
                    <a:pt x="8" y="258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1213" name="Freeform 13"/>
            <p:cNvSpPr>
              <a:spLocks/>
            </p:cNvSpPr>
            <p:nvPr userDrawn="1"/>
          </p:nvSpPr>
          <p:spPr bwMode="auto">
            <a:xfrm>
              <a:off x="20" y="3774"/>
              <a:ext cx="792" cy="410"/>
            </a:xfrm>
            <a:custGeom>
              <a:avLst/>
              <a:gdLst>
                <a:gd name="T0" fmla="*/ 137 w 1586"/>
                <a:gd name="T1" fmla="*/ 0 h 821"/>
                <a:gd name="T2" fmla="*/ 1331 w 1586"/>
                <a:gd name="T3" fmla="*/ 519 h 821"/>
                <a:gd name="T4" fmla="*/ 1428 w 1586"/>
                <a:gd name="T5" fmla="*/ 638 h 821"/>
                <a:gd name="T6" fmla="*/ 1586 w 1586"/>
                <a:gd name="T7" fmla="*/ 792 h 821"/>
                <a:gd name="T8" fmla="*/ 1565 w 1586"/>
                <a:gd name="T9" fmla="*/ 821 h 821"/>
                <a:gd name="T10" fmla="*/ 1350 w 1586"/>
                <a:gd name="T11" fmla="*/ 787 h 821"/>
                <a:gd name="T12" fmla="*/ 1145 w 1586"/>
                <a:gd name="T13" fmla="*/ 811 h 821"/>
                <a:gd name="T14" fmla="*/ 42 w 1586"/>
                <a:gd name="T15" fmla="*/ 298 h 821"/>
                <a:gd name="T16" fmla="*/ 0 w 1586"/>
                <a:gd name="T17" fmla="*/ 150 h 821"/>
                <a:gd name="T18" fmla="*/ 46 w 1586"/>
                <a:gd name="T19" fmla="*/ 32 h 821"/>
                <a:gd name="T20" fmla="*/ 137 w 1586"/>
                <a:gd name="T21" fmla="*/ 0 h 821"/>
                <a:gd name="T22" fmla="*/ 137 w 1586"/>
                <a:gd name="T23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1214" name="Freeform 14"/>
            <p:cNvSpPr>
              <a:spLocks/>
            </p:cNvSpPr>
            <p:nvPr userDrawn="1"/>
          </p:nvSpPr>
          <p:spPr bwMode="auto">
            <a:xfrm>
              <a:off x="129" y="3808"/>
              <a:ext cx="525" cy="374"/>
            </a:xfrm>
            <a:custGeom>
              <a:avLst/>
              <a:gdLst>
                <a:gd name="T0" fmla="*/ 0 w 1049"/>
                <a:gd name="T1" fmla="*/ 325 h 747"/>
                <a:gd name="T2" fmla="*/ 922 w 1049"/>
                <a:gd name="T3" fmla="*/ 747 h 747"/>
                <a:gd name="T4" fmla="*/ 939 w 1049"/>
                <a:gd name="T5" fmla="*/ 534 h 747"/>
                <a:gd name="T6" fmla="*/ 1049 w 1049"/>
                <a:gd name="T7" fmla="*/ 422 h 747"/>
                <a:gd name="T8" fmla="*/ 78 w 1049"/>
                <a:gd name="T9" fmla="*/ 0 h 747"/>
                <a:gd name="T10" fmla="*/ 0 w 1049"/>
                <a:gd name="T11" fmla="*/ 127 h 747"/>
                <a:gd name="T12" fmla="*/ 0 w 1049"/>
                <a:gd name="T13" fmla="*/ 325 h 747"/>
                <a:gd name="T14" fmla="*/ 0 w 1049"/>
                <a:gd name="T15" fmla="*/ 325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1215" name="Freeform 15"/>
            <p:cNvSpPr>
              <a:spLocks/>
            </p:cNvSpPr>
            <p:nvPr userDrawn="1"/>
          </p:nvSpPr>
          <p:spPr bwMode="auto">
            <a:xfrm>
              <a:off x="485" y="3532"/>
              <a:ext cx="135" cy="121"/>
            </a:xfrm>
            <a:custGeom>
              <a:avLst/>
              <a:gdLst>
                <a:gd name="T0" fmla="*/ 0 w 272"/>
                <a:gd name="T1" fmla="*/ 28 h 241"/>
                <a:gd name="T2" fmla="*/ 160 w 272"/>
                <a:gd name="T3" fmla="*/ 0 h 241"/>
                <a:gd name="T4" fmla="*/ 251 w 272"/>
                <a:gd name="T5" fmla="*/ 36 h 241"/>
                <a:gd name="T6" fmla="*/ 272 w 272"/>
                <a:gd name="T7" fmla="*/ 139 h 241"/>
                <a:gd name="T8" fmla="*/ 164 w 272"/>
                <a:gd name="T9" fmla="*/ 146 h 241"/>
                <a:gd name="T10" fmla="*/ 32 w 272"/>
                <a:gd name="T11" fmla="*/ 241 h 241"/>
                <a:gd name="T12" fmla="*/ 0 w 272"/>
                <a:gd name="T13" fmla="*/ 28 h 241"/>
                <a:gd name="T14" fmla="*/ 0 w 272"/>
                <a:gd name="T15" fmla="*/ 28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2" h="241">
                  <a:moveTo>
                    <a:pt x="0" y="28"/>
                  </a:moveTo>
                  <a:lnTo>
                    <a:pt x="160" y="0"/>
                  </a:lnTo>
                  <a:lnTo>
                    <a:pt x="251" y="36"/>
                  </a:lnTo>
                  <a:lnTo>
                    <a:pt x="272" y="139"/>
                  </a:lnTo>
                  <a:lnTo>
                    <a:pt x="164" y="146"/>
                  </a:lnTo>
                  <a:lnTo>
                    <a:pt x="32" y="241"/>
                  </a:lnTo>
                  <a:lnTo>
                    <a:pt x="0" y="28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1216" name="Freeform 16"/>
            <p:cNvSpPr>
              <a:spLocks/>
            </p:cNvSpPr>
            <p:nvPr userDrawn="1"/>
          </p:nvSpPr>
          <p:spPr bwMode="auto">
            <a:xfrm>
              <a:off x="641" y="4163"/>
              <a:ext cx="76" cy="112"/>
            </a:xfrm>
            <a:custGeom>
              <a:avLst/>
              <a:gdLst>
                <a:gd name="T0" fmla="*/ 152 w 152"/>
                <a:gd name="T1" fmla="*/ 4 h 224"/>
                <a:gd name="T2" fmla="*/ 152 w 152"/>
                <a:gd name="T3" fmla="*/ 224 h 224"/>
                <a:gd name="T4" fmla="*/ 0 w 152"/>
                <a:gd name="T5" fmla="*/ 8 h 224"/>
                <a:gd name="T6" fmla="*/ 72 w 152"/>
                <a:gd name="T7" fmla="*/ 0 h 224"/>
                <a:gd name="T8" fmla="*/ 152 w 152"/>
                <a:gd name="T9" fmla="*/ 4 h 224"/>
                <a:gd name="T10" fmla="*/ 152 w 152"/>
                <a:gd name="T11" fmla="*/ 4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2" h="224">
                  <a:moveTo>
                    <a:pt x="152" y="4"/>
                  </a:moveTo>
                  <a:lnTo>
                    <a:pt x="152" y="224"/>
                  </a:lnTo>
                  <a:lnTo>
                    <a:pt x="0" y="8"/>
                  </a:lnTo>
                  <a:lnTo>
                    <a:pt x="72" y="0"/>
                  </a:lnTo>
                  <a:lnTo>
                    <a:pt x="152" y="4"/>
                  </a:lnTo>
                  <a:lnTo>
                    <a:pt x="152" y="4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1217" name="Freeform 17"/>
            <p:cNvSpPr>
              <a:spLocks/>
            </p:cNvSpPr>
            <p:nvPr userDrawn="1"/>
          </p:nvSpPr>
          <p:spPr bwMode="auto">
            <a:xfrm>
              <a:off x="504" y="3607"/>
              <a:ext cx="193" cy="383"/>
            </a:xfrm>
            <a:custGeom>
              <a:avLst/>
              <a:gdLst>
                <a:gd name="T0" fmla="*/ 0 w 386"/>
                <a:gd name="T1" fmla="*/ 80 h 764"/>
                <a:gd name="T2" fmla="*/ 87 w 386"/>
                <a:gd name="T3" fmla="*/ 0 h 764"/>
                <a:gd name="T4" fmla="*/ 232 w 386"/>
                <a:gd name="T5" fmla="*/ 6 h 764"/>
                <a:gd name="T6" fmla="*/ 386 w 386"/>
                <a:gd name="T7" fmla="*/ 764 h 764"/>
                <a:gd name="T8" fmla="*/ 279 w 386"/>
                <a:gd name="T9" fmla="*/ 720 h 764"/>
                <a:gd name="T10" fmla="*/ 152 w 386"/>
                <a:gd name="T11" fmla="*/ 677 h 764"/>
                <a:gd name="T12" fmla="*/ 0 w 386"/>
                <a:gd name="T13" fmla="*/ 80 h 764"/>
                <a:gd name="T14" fmla="*/ 0 w 386"/>
                <a:gd name="T15" fmla="*/ 80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6" h="764">
                  <a:moveTo>
                    <a:pt x="0" y="80"/>
                  </a:moveTo>
                  <a:lnTo>
                    <a:pt x="87" y="0"/>
                  </a:lnTo>
                  <a:lnTo>
                    <a:pt x="232" y="6"/>
                  </a:lnTo>
                  <a:lnTo>
                    <a:pt x="386" y="764"/>
                  </a:lnTo>
                  <a:lnTo>
                    <a:pt x="279" y="720"/>
                  </a:lnTo>
                  <a:lnTo>
                    <a:pt x="152" y="677"/>
                  </a:lnTo>
                  <a:lnTo>
                    <a:pt x="0" y="80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1218" name="Freeform 18"/>
            <p:cNvSpPr>
              <a:spLocks/>
            </p:cNvSpPr>
            <p:nvPr userDrawn="1"/>
          </p:nvSpPr>
          <p:spPr bwMode="auto">
            <a:xfrm>
              <a:off x="668" y="3590"/>
              <a:ext cx="364" cy="174"/>
            </a:xfrm>
            <a:custGeom>
              <a:avLst/>
              <a:gdLst>
                <a:gd name="T0" fmla="*/ 692 w 728"/>
                <a:gd name="T1" fmla="*/ 0 h 348"/>
                <a:gd name="T2" fmla="*/ 0 w 728"/>
                <a:gd name="T3" fmla="*/ 106 h 348"/>
                <a:gd name="T4" fmla="*/ 28 w 728"/>
                <a:gd name="T5" fmla="*/ 348 h 348"/>
                <a:gd name="T6" fmla="*/ 715 w 728"/>
                <a:gd name="T7" fmla="*/ 237 h 348"/>
                <a:gd name="T8" fmla="*/ 728 w 728"/>
                <a:gd name="T9" fmla="*/ 43 h 348"/>
                <a:gd name="T10" fmla="*/ 692 w 728"/>
                <a:gd name="T11" fmla="*/ 0 h 348"/>
                <a:gd name="T12" fmla="*/ 692 w 728"/>
                <a:gd name="T13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8" h="348">
                  <a:moveTo>
                    <a:pt x="692" y="0"/>
                  </a:moveTo>
                  <a:lnTo>
                    <a:pt x="0" y="106"/>
                  </a:lnTo>
                  <a:lnTo>
                    <a:pt x="28" y="348"/>
                  </a:lnTo>
                  <a:lnTo>
                    <a:pt x="715" y="237"/>
                  </a:lnTo>
                  <a:lnTo>
                    <a:pt x="728" y="43"/>
                  </a:lnTo>
                  <a:lnTo>
                    <a:pt x="692" y="0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1219" name="Freeform 19"/>
            <p:cNvSpPr>
              <a:spLocks/>
            </p:cNvSpPr>
            <p:nvPr userDrawn="1"/>
          </p:nvSpPr>
          <p:spPr bwMode="auto">
            <a:xfrm>
              <a:off x="347" y="3693"/>
              <a:ext cx="156" cy="67"/>
            </a:xfrm>
            <a:custGeom>
              <a:avLst/>
              <a:gdLst>
                <a:gd name="T0" fmla="*/ 272 w 312"/>
                <a:gd name="T1" fmla="*/ 0 h 135"/>
                <a:gd name="T2" fmla="*/ 0 w 312"/>
                <a:gd name="T3" fmla="*/ 78 h 135"/>
                <a:gd name="T4" fmla="*/ 312 w 312"/>
                <a:gd name="T5" fmla="*/ 135 h 135"/>
                <a:gd name="T6" fmla="*/ 272 w 312"/>
                <a:gd name="T7" fmla="*/ 0 h 135"/>
                <a:gd name="T8" fmla="*/ 272 w 312"/>
                <a:gd name="T9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2" h="135">
                  <a:moveTo>
                    <a:pt x="272" y="0"/>
                  </a:moveTo>
                  <a:lnTo>
                    <a:pt x="0" y="78"/>
                  </a:lnTo>
                  <a:lnTo>
                    <a:pt x="312" y="135"/>
                  </a:lnTo>
                  <a:lnTo>
                    <a:pt x="272" y="0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grpSp>
          <p:nvGrpSpPr>
            <p:cNvPr id="51220" name="Group 20"/>
            <p:cNvGrpSpPr>
              <a:grpSpLocks/>
            </p:cNvGrpSpPr>
            <p:nvPr userDrawn="1"/>
          </p:nvGrpSpPr>
          <p:grpSpPr bwMode="auto">
            <a:xfrm>
              <a:off x="5" y="3490"/>
              <a:ext cx="1124" cy="780"/>
              <a:chOff x="5" y="3490"/>
              <a:chExt cx="1124" cy="780"/>
            </a:xfrm>
          </p:grpSpPr>
          <p:grpSp>
            <p:nvGrpSpPr>
              <p:cNvPr id="51221" name="Group 21"/>
              <p:cNvGrpSpPr>
                <a:grpSpLocks/>
              </p:cNvGrpSpPr>
              <p:nvPr userDrawn="1"/>
            </p:nvGrpSpPr>
            <p:grpSpPr bwMode="auto">
              <a:xfrm>
                <a:off x="499" y="3562"/>
                <a:ext cx="548" cy="708"/>
                <a:chOff x="499" y="3562"/>
                <a:chExt cx="548" cy="708"/>
              </a:xfrm>
            </p:grpSpPr>
            <p:sp>
              <p:nvSpPr>
                <p:cNvPr id="51222" name="Freeform 22"/>
                <p:cNvSpPr>
                  <a:spLocks/>
                </p:cNvSpPr>
                <p:nvPr userDrawn="1"/>
              </p:nvSpPr>
              <p:spPr bwMode="auto">
                <a:xfrm>
                  <a:off x="499" y="3587"/>
                  <a:ext cx="157" cy="87"/>
                </a:xfrm>
                <a:custGeom>
                  <a:avLst/>
                  <a:gdLst>
                    <a:gd name="T0" fmla="*/ 0 w 313"/>
                    <a:gd name="T1" fmla="*/ 107 h 175"/>
                    <a:gd name="T2" fmla="*/ 114 w 313"/>
                    <a:gd name="T3" fmla="*/ 10 h 175"/>
                    <a:gd name="T4" fmla="*/ 213 w 313"/>
                    <a:gd name="T5" fmla="*/ 0 h 175"/>
                    <a:gd name="T6" fmla="*/ 292 w 313"/>
                    <a:gd name="T7" fmla="*/ 27 h 175"/>
                    <a:gd name="T8" fmla="*/ 313 w 313"/>
                    <a:gd name="T9" fmla="*/ 91 h 175"/>
                    <a:gd name="T10" fmla="*/ 167 w 313"/>
                    <a:gd name="T11" fmla="*/ 67 h 175"/>
                    <a:gd name="T12" fmla="*/ 74 w 313"/>
                    <a:gd name="T13" fmla="*/ 101 h 175"/>
                    <a:gd name="T14" fmla="*/ 13 w 313"/>
                    <a:gd name="T15" fmla="*/ 175 h 175"/>
                    <a:gd name="T16" fmla="*/ 0 w 313"/>
                    <a:gd name="T17" fmla="*/ 107 h 175"/>
                    <a:gd name="T18" fmla="*/ 0 w 313"/>
                    <a:gd name="T19" fmla="*/ 107 h 1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13" h="175">
                      <a:moveTo>
                        <a:pt x="0" y="107"/>
                      </a:moveTo>
                      <a:lnTo>
                        <a:pt x="114" y="10"/>
                      </a:lnTo>
                      <a:lnTo>
                        <a:pt x="213" y="0"/>
                      </a:lnTo>
                      <a:lnTo>
                        <a:pt x="292" y="27"/>
                      </a:lnTo>
                      <a:lnTo>
                        <a:pt x="313" y="91"/>
                      </a:lnTo>
                      <a:lnTo>
                        <a:pt x="167" y="67"/>
                      </a:lnTo>
                      <a:lnTo>
                        <a:pt x="74" y="101"/>
                      </a:lnTo>
                      <a:lnTo>
                        <a:pt x="13" y="175"/>
                      </a:lnTo>
                      <a:lnTo>
                        <a:pt x="0" y="107"/>
                      </a:lnTo>
                      <a:lnTo>
                        <a:pt x="0" y="10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51223" name="Freeform 23"/>
                <p:cNvSpPr>
                  <a:spLocks/>
                </p:cNvSpPr>
                <p:nvPr userDrawn="1"/>
              </p:nvSpPr>
              <p:spPr bwMode="auto">
                <a:xfrm>
                  <a:off x="636" y="4137"/>
                  <a:ext cx="115" cy="133"/>
                </a:xfrm>
                <a:custGeom>
                  <a:avLst/>
                  <a:gdLst>
                    <a:gd name="T0" fmla="*/ 0 w 230"/>
                    <a:gd name="T1" fmla="*/ 40 h 266"/>
                    <a:gd name="T2" fmla="*/ 160 w 230"/>
                    <a:gd name="T3" fmla="*/ 266 h 266"/>
                    <a:gd name="T4" fmla="*/ 230 w 230"/>
                    <a:gd name="T5" fmla="*/ 251 h 266"/>
                    <a:gd name="T6" fmla="*/ 223 w 230"/>
                    <a:gd name="T7" fmla="*/ 17 h 266"/>
                    <a:gd name="T8" fmla="*/ 166 w 230"/>
                    <a:gd name="T9" fmla="*/ 0 h 266"/>
                    <a:gd name="T10" fmla="*/ 179 w 230"/>
                    <a:gd name="T11" fmla="*/ 197 h 266"/>
                    <a:gd name="T12" fmla="*/ 71 w 230"/>
                    <a:gd name="T13" fmla="*/ 4 h 266"/>
                    <a:gd name="T14" fmla="*/ 0 w 230"/>
                    <a:gd name="T15" fmla="*/ 40 h 266"/>
                    <a:gd name="T16" fmla="*/ 0 w 230"/>
                    <a:gd name="T17" fmla="*/ 40 h 2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30" h="266">
                      <a:moveTo>
                        <a:pt x="0" y="40"/>
                      </a:moveTo>
                      <a:lnTo>
                        <a:pt x="160" y="266"/>
                      </a:lnTo>
                      <a:lnTo>
                        <a:pt x="230" y="251"/>
                      </a:lnTo>
                      <a:lnTo>
                        <a:pt x="223" y="17"/>
                      </a:lnTo>
                      <a:lnTo>
                        <a:pt x="166" y="0"/>
                      </a:lnTo>
                      <a:lnTo>
                        <a:pt x="179" y="197"/>
                      </a:lnTo>
                      <a:lnTo>
                        <a:pt x="71" y="4"/>
                      </a:lnTo>
                      <a:lnTo>
                        <a:pt x="0" y="40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51224" name="Freeform 24"/>
                <p:cNvSpPr>
                  <a:spLocks/>
                </p:cNvSpPr>
                <p:nvPr userDrawn="1"/>
              </p:nvSpPr>
              <p:spPr bwMode="auto">
                <a:xfrm>
                  <a:off x="1004" y="3562"/>
                  <a:ext cx="43" cy="117"/>
                </a:xfrm>
                <a:custGeom>
                  <a:avLst/>
                  <a:gdLst>
                    <a:gd name="T0" fmla="*/ 0 w 87"/>
                    <a:gd name="T1" fmla="*/ 19 h 234"/>
                    <a:gd name="T2" fmla="*/ 36 w 87"/>
                    <a:gd name="T3" fmla="*/ 93 h 234"/>
                    <a:gd name="T4" fmla="*/ 44 w 87"/>
                    <a:gd name="T5" fmla="*/ 154 h 234"/>
                    <a:gd name="T6" fmla="*/ 27 w 87"/>
                    <a:gd name="T7" fmla="*/ 234 h 234"/>
                    <a:gd name="T8" fmla="*/ 80 w 87"/>
                    <a:gd name="T9" fmla="*/ 220 h 234"/>
                    <a:gd name="T10" fmla="*/ 87 w 87"/>
                    <a:gd name="T11" fmla="*/ 116 h 234"/>
                    <a:gd name="T12" fmla="*/ 46 w 87"/>
                    <a:gd name="T13" fmla="*/ 0 h 234"/>
                    <a:gd name="T14" fmla="*/ 0 w 87"/>
                    <a:gd name="T15" fmla="*/ 19 h 234"/>
                    <a:gd name="T16" fmla="*/ 0 w 87"/>
                    <a:gd name="T17" fmla="*/ 19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87" h="234">
                      <a:moveTo>
                        <a:pt x="0" y="19"/>
                      </a:moveTo>
                      <a:lnTo>
                        <a:pt x="36" y="93"/>
                      </a:lnTo>
                      <a:lnTo>
                        <a:pt x="44" y="154"/>
                      </a:lnTo>
                      <a:lnTo>
                        <a:pt x="27" y="234"/>
                      </a:lnTo>
                      <a:lnTo>
                        <a:pt x="80" y="220"/>
                      </a:lnTo>
                      <a:lnTo>
                        <a:pt x="87" y="116"/>
                      </a:lnTo>
                      <a:lnTo>
                        <a:pt x="46" y="0"/>
                      </a:lnTo>
                      <a:lnTo>
                        <a:pt x="0" y="19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sp>
            <p:nvSpPr>
              <p:cNvPr id="51225" name="Freeform 25"/>
              <p:cNvSpPr>
                <a:spLocks/>
              </p:cNvSpPr>
              <p:nvPr userDrawn="1"/>
            </p:nvSpPr>
            <p:spPr bwMode="auto">
              <a:xfrm>
                <a:off x="76" y="3732"/>
                <a:ext cx="595" cy="250"/>
              </a:xfrm>
              <a:custGeom>
                <a:avLst/>
                <a:gdLst>
                  <a:gd name="T0" fmla="*/ 100 w 1190"/>
                  <a:gd name="T1" fmla="*/ 0 h 500"/>
                  <a:gd name="T2" fmla="*/ 1190 w 1190"/>
                  <a:gd name="T3" fmla="*/ 490 h 500"/>
                  <a:gd name="T4" fmla="*/ 1076 w 1190"/>
                  <a:gd name="T5" fmla="*/ 500 h 500"/>
                  <a:gd name="T6" fmla="*/ 0 w 1190"/>
                  <a:gd name="T7" fmla="*/ 27 h 500"/>
                  <a:gd name="T8" fmla="*/ 100 w 1190"/>
                  <a:gd name="T9" fmla="*/ 0 h 500"/>
                  <a:gd name="T10" fmla="*/ 100 w 1190"/>
                  <a:gd name="T11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1226" name="Freeform 26"/>
              <p:cNvSpPr>
                <a:spLocks/>
              </p:cNvSpPr>
              <p:nvPr userDrawn="1"/>
            </p:nvSpPr>
            <p:spPr bwMode="auto">
              <a:xfrm>
                <a:off x="260" y="3886"/>
                <a:ext cx="244" cy="148"/>
              </a:xfrm>
              <a:custGeom>
                <a:avLst/>
                <a:gdLst>
                  <a:gd name="T0" fmla="*/ 14 w 489"/>
                  <a:gd name="T1" fmla="*/ 34 h 296"/>
                  <a:gd name="T2" fmla="*/ 160 w 489"/>
                  <a:gd name="T3" fmla="*/ 66 h 296"/>
                  <a:gd name="T4" fmla="*/ 324 w 489"/>
                  <a:gd name="T5" fmla="*/ 137 h 296"/>
                  <a:gd name="T6" fmla="*/ 440 w 489"/>
                  <a:gd name="T7" fmla="*/ 243 h 296"/>
                  <a:gd name="T8" fmla="*/ 326 w 489"/>
                  <a:gd name="T9" fmla="*/ 230 h 296"/>
                  <a:gd name="T10" fmla="*/ 139 w 489"/>
                  <a:gd name="T11" fmla="*/ 146 h 296"/>
                  <a:gd name="T12" fmla="*/ 50 w 489"/>
                  <a:gd name="T13" fmla="*/ 80 h 296"/>
                  <a:gd name="T14" fmla="*/ 107 w 489"/>
                  <a:gd name="T15" fmla="*/ 163 h 296"/>
                  <a:gd name="T16" fmla="*/ 272 w 489"/>
                  <a:gd name="T17" fmla="*/ 270 h 296"/>
                  <a:gd name="T18" fmla="*/ 466 w 489"/>
                  <a:gd name="T19" fmla="*/ 296 h 296"/>
                  <a:gd name="T20" fmla="*/ 489 w 489"/>
                  <a:gd name="T21" fmla="*/ 224 h 296"/>
                  <a:gd name="T22" fmla="*/ 394 w 489"/>
                  <a:gd name="T23" fmla="*/ 120 h 296"/>
                  <a:gd name="T24" fmla="*/ 170 w 489"/>
                  <a:gd name="T25" fmla="*/ 17 h 296"/>
                  <a:gd name="T26" fmla="*/ 0 w 489"/>
                  <a:gd name="T27" fmla="*/ 0 h 296"/>
                  <a:gd name="T28" fmla="*/ 14 w 489"/>
                  <a:gd name="T29" fmla="*/ 34 h 296"/>
                  <a:gd name="T30" fmla="*/ 14 w 489"/>
                  <a:gd name="T31" fmla="*/ 34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1227" name="Freeform 27"/>
              <p:cNvSpPr>
                <a:spLocks/>
              </p:cNvSpPr>
              <p:nvPr userDrawn="1"/>
            </p:nvSpPr>
            <p:spPr bwMode="auto">
              <a:xfrm>
                <a:off x="565" y="3680"/>
                <a:ext cx="107" cy="238"/>
              </a:xfrm>
              <a:custGeom>
                <a:avLst/>
                <a:gdLst>
                  <a:gd name="T0" fmla="*/ 24 w 213"/>
                  <a:gd name="T1" fmla="*/ 0 h 478"/>
                  <a:gd name="T2" fmla="*/ 91 w 213"/>
                  <a:gd name="T3" fmla="*/ 25 h 478"/>
                  <a:gd name="T4" fmla="*/ 80 w 213"/>
                  <a:gd name="T5" fmla="*/ 192 h 478"/>
                  <a:gd name="T6" fmla="*/ 106 w 213"/>
                  <a:gd name="T7" fmla="*/ 327 h 478"/>
                  <a:gd name="T8" fmla="*/ 213 w 213"/>
                  <a:gd name="T9" fmla="*/ 451 h 478"/>
                  <a:gd name="T10" fmla="*/ 97 w 213"/>
                  <a:gd name="T11" fmla="*/ 478 h 478"/>
                  <a:gd name="T12" fmla="*/ 30 w 213"/>
                  <a:gd name="T13" fmla="*/ 344 h 478"/>
                  <a:gd name="T14" fmla="*/ 0 w 213"/>
                  <a:gd name="T15" fmla="*/ 57 h 478"/>
                  <a:gd name="T16" fmla="*/ 24 w 213"/>
                  <a:gd name="T17" fmla="*/ 0 h 478"/>
                  <a:gd name="T18" fmla="*/ 24 w 213"/>
                  <a:gd name="T19" fmla="*/ 0 h 4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3" h="478">
                    <a:moveTo>
                      <a:pt x="24" y="0"/>
                    </a:moveTo>
                    <a:lnTo>
                      <a:pt x="91" y="25"/>
                    </a:lnTo>
                    <a:lnTo>
                      <a:pt x="80" y="192"/>
                    </a:lnTo>
                    <a:lnTo>
                      <a:pt x="106" y="327"/>
                    </a:lnTo>
                    <a:lnTo>
                      <a:pt x="213" y="451"/>
                    </a:lnTo>
                    <a:lnTo>
                      <a:pt x="97" y="478"/>
                    </a:lnTo>
                    <a:lnTo>
                      <a:pt x="30" y="344"/>
                    </a:lnTo>
                    <a:lnTo>
                      <a:pt x="0" y="57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grpSp>
            <p:nvGrpSpPr>
              <p:cNvPr id="51228" name="Group 28"/>
              <p:cNvGrpSpPr>
                <a:grpSpLocks/>
              </p:cNvGrpSpPr>
              <p:nvPr userDrawn="1"/>
            </p:nvGrpSpPr>
            <p:grpSpPr bwMode="auto">
              <a:xfrm>
                <a:off x="5" y="3490"/>
                <a:ext cx="1124" cy="678"/>
                <a:chOff x="5" y="3490"/>
                <a:chExt cx="1124" cy="678"/>
              </a:xfrm>
            </p:grpSpPr>
            <p:sp>
              <p:nvSpPr>
                <p:cNvPr id="51229" name="Freeform 29"/>
                <p:cNvSpPr>
                  <a:spLocks/>
                </p:cNvSpPr>
                <p:nvPr userDrawn="1"/>
              </p:nvSpPr>
              <p:spPr bwMode="auto">
                <a:xfrm>
                  <a:off x="669" y="4048"/>
                  <a:ext cx="75" cy="87"/>
                </a:xfrm>
                <a:custGeom>
                  <a:avLst/>
                  <a:gdLst>
                    <a:gd name="T0" fmla="*/ 110 w 150"/>
                    <a:gd name="T1" fmla="*/ 0 h 173"/>
                    <a:gd name="T2" fmla="*/ 40 w 150"/>
                    <a:gd name="T3" fmla="*/ 66 h 173"/>
                    <a:gd name="T4" fmla="*/ 0 w 150"/>
                    <a:gd name="T5" fmla="*/ 173 h 173"/>
                    <a:gd name="T6" fmla="*/ 80 w 150"/>
                    <a:gd name="T7" fmla="*/ 160 h 173"/>
                    <a:gd name="T8" fmla="*/ 103 w 150"/>
                    <a:gd name="T9" fmla="*/ 84 h 173"/>
                    <a:gd name="T10" fmla="*/ 150 w 150"/>
                    <a:gd name="T11" fmla="*/ 27 h 173"/>
                    <a:gd name="T12" fmla="*/ 110 w 150"/>
                    <a:gd name="T13" fmla="*/ 0 h 173"/>
                    <a:gd name="T14" fmla="*/ 110 w 150"/>
                    <a:gd name="T15" fmla="*/ 0 h 1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0" h="173">
                      <a:moveTo>
                        <a:pt x="110" y="0"/>
                      </a:moveTo>
                      <a:lnTo>
                        <a:pt x="40" y="66"/>
                      </a:lnTo>
                      <a:lnTo>
                        <a:pt x="0" y="173"/>
                      </a:lnTo>
                      <a:lnTo>
                        <a:pt x="80" y="160"/>
                      </a:lnTo>
                      <a:lnTo>
                        <a:pt x="103" y="84"/>
                      </a:lnTo>
                      <a:lnTo>
                        <a:pt x="150" y="27"/>
                      </a:lnTo>
                      <a:lnTo>
                        <a:pt x="110" y="0"/>
                      </a:lnTo>
                      <a:lnTo>
                        <a:pt x="11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51230" name="Freeform 30"/>
                <p:cNvSpPr>
                  <a:spLocks/>
                </p:cNvSpPr>
                <p:nvPr userDrawn="1"/>
              </p:nvSpPr>
              <p:spPr bwMode="auto">
                <a:xfrm>
                  <a:off x="5" y="3728"/>
                  <a:ext cx="842" cy="440"/>
                </a:xfrm>
                <a:custGeom>
                  <a:avLst/>
                  <a:gdLst>
                    <a:gd name="T0" fmla="*/ 156 w 1684"/>
                    <a:gd name="T1" fmla="*/ 0 h 880"/>
                    <a:gd name="T2" fmla="*/ 63 w 1684"/>
                    <a:gd name="T3" fmla="*/ 52 h 880"/>
                    <a:gd name="T4" fmla="*/ 0 w 1684"/>
                    <a:gd name="T5" fmla="*/ 208 h 880"/>
                    <a:gd name="T6" fmla="*/ 67 w 1684"/>
                    <a:gd name="T7" fmla="*/ 358 h 880"/>
                    <a:gd name="T8" fmla="*/ 1182 w 1684"/>
                    <a:gd name="T9" fmla="*/ 867 h 880"/>
                    <a:gd name="T10" fmla="*/ 1422 w 1684"/>
                    <a:gd name="T11" fmla="*/ 835 h 880"/>
                    <a:gd name="T12" fmla="*/ 1616 w 1684"/>
                    <a:gd name="T13" fmla="*/ 880 h 880"/>
                    <a:gd name="T14" fmla="*/ 1684 w 1684"/>
                    <a:gd name="T15" fmla="*/ 808 h 880"/>
                    <a:gd name="T16" fmla="*/ 1502 w 1684"/>
                    <a:gd name="T17" fmla="*/ 664 h 880"/>
                    <a:gd name="T18" fmla="*/ 1428 w 1684"/>
                    <a:gd name="T19" fmla="*/ 512 h 880"/>
                    <a:gd name="T20" fmla="*/ 1369 w 1684"/>
                    <a:gd name="T21" fmla="*/ 527 h 880"/>
                    <a:gd name="T22" fmla="*/ 1439 w 1684"/>
                    <a:gd name="T23" fmla="*/ 664 h 880"/>
                    <a:gd name="T24" fmla="*/ 1578 w 1684"/>
                    <a:gd name="T25" fmla="*/ 810 h 880"/>
                    <a:gd name="T26" fmla="*/ 1413 w 1684"/>
                    <a:gd name="T27" fmla="*/ 787 h 880"/>
                    <a:gd name="T28" fmla="*/ 1219 w 1684"/>
                    <a:gd name="T29" fmla="*/ 814 h 880"/>
                    <a:gd name="T30" fmla="*/ 1255 w 1684"/>
                    <a:gd name="T31" fmla="*/ 650 h 880"/>
                    <a:gd name="T32" fmla="*/ 1338 w 1684"/>
                    <a:gd name="T33" fmla="*/ 538 h 880"/>
                    <a:gd name="T34" fmla="*/ 1241 w 1684"/>
                    <a:gd name="T35" fmla="*/ 552 h 880"/>
                    <a:gd name="T36" fmla="*/ 1165 w 1684"/>
                    <a:gd name="T37" fmla="*/ 658 h 880"/>
                    <a:gd name="T38" fmla="*/ 1139 w 1684"/>
                    <a:gd name="T39" fmla="*/ 791 h 880"/>
                    <a:gd name="T40" fmla="*/ 107 w 1684"/>
                    <a:gd name="T41" fmla="*/ 310 h 880"/>
                    <a:gd name="T42" fmla="*/ 80 w 1684"/>
                    <a:gd name="T43" fmla="*/ 215 h 880"/>
                    <a:gd name="T44" fmla="*/ 103 w 1684"/>
                    <a:gd name="T45" fmla="*/ 95 h 880"/>
                    <a:gd name="T46" fmla="*/ 217 w 1684"/>
                    <a:gd name="T47" fmla="*/ 0 h 880"/>
                    <a:gd name="T48" fmla="*/ 156 w 1684"/>
                    <a:gd name="T49" fmla="*/ 0 h 880"/>
                    <a:gd name="T50" fmla="*/ 156 w 1684"/>
                    <a:gd name="T51" fmla="*/ 0 h 8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1684" h="880">
                      <a:moveTo>
                        <a:pt x="156" y="0"/>
                      </a:moveTo>
                      <a:lnTo>
                        <a:pt x="63" y="52"/>
                      </a:lnTo>
                      <a:lnTo>
                        <a:pt x="0" y="208"/>
                      </a:lnTo>
                      <a:lnTo>
                        <a:pt x="67" y="358"/>
                      </a:lnTo>
                      <a:lnTo>
                        <a:pt x="1182" y="867"/>
                      </a:lnTo>
                      <a:lnTo>
                        <a:pt x="1422" y="835"/>
                      </a:lnTo>
                      <a:lnTo>
                        <a:pt x="1616" y="880"/>
                      </a:lnTo>
                      <a:lnTo>
                        <a:pt x="1684" y="808"/>
                      </a:lnTo>
                      <a:lnTo>
                        <a:pt x="1502" y="664"/>
                      </a:lnTo>
                      <a:lnTo>
                        <a:pt x="1428" y="512"/>
                      </a:lnTo>
                      <a:lnTo>
                        <a:pt x="1369" y="527"/>
                      </a:lnTo>
                      <a:lnTo>
                        <a:pt x="1439" y="664"/>
                      </a:lnTo>
                      <a:lnTo>
                        <a:pt x="1578" y="810"/>
                      </a:lnTo>
                      <a:lnTo>
                        <a:pt x="1413" y="787"/>
                      </a:lnTo>
                      <a:lnTo>
                        <a:pt x="1219" y="814"/>
                      </a:lnTo>
                      <a:lnTo>
                        <a:pt x="1255" y="650"/>
                      </a:lnTo>
                      <a:lnTo>
                        <a:pt x="1338" y="538"/>
                      </a:lnTo>
                      <a:lnTo>
                        <a:pt x="1241" y="552"/>
                      </a:lnTo>
                      <a:lnTo>
                        <a:pt x="1165" y="658"/>
                      </a:lnTo>
                      <a:lnTo>
                        <a:pt x="1139" y="791"/>
                      </a:lnTo>
                      <a:lnTo>
                        <a:pt x="107" y="310"/>
                      </a:lnTo>
                      <a:lnTo>
                        <a:pt x="80" y="215"/>
                      </a:lnTo>
                      <a:lnTo>
                        <a:pt x="103" y="95"/>
                      </a:lnTo>
                      <a:lnTo>
                        <a:pt x="217" y="0"/>
                      </a:lnTo>
                      <a:lnTo>
                        <a:pt x="156" y="0"/>
                      </a:lnTo>
                      <a:lnTo>
                        <a:pt x="15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51231" name="Freeform 31"/>
                <p:cNvSpPr>
                  <a:spLocks/>
                </p:cNvSpPr>
                <p:nvPr userDrawn="1"/>
              </p:nvSpPr>
              <p:spPr bwMode="auto">
                <a:xfrm>
                  <a:off x="106" y="3770"/>
                  <a:ext cx="80" cy="167"/>
                </a:xfrm>
                <a:custGeom>
                  <a:avLst/>
                  <a:gdLst>
                    <a:gd name="T0" fmla="*/ 116 w 160"/>
                    <a:gd name="T1" fmla="*/ 0 h 335"/>
                    <a:gd name="T2" fmla="*/ 19 w 160"/>
                    <a:gd name="T3" fmla="*/ 106 h 335"/>
                    <a:gd name="T4" fmla="*/ 0 w 160"/>
                    <a:gd name="T5" fmla="*/ 230 h 335"/>
                    <a:gd name="T6" fmla="*/ 33 w 160"/>
                    <a:gd name="T7" fmla="*/ 314 h 335"/>
                    <a:gd name="T8" fmla="*/ 94 w 160"/>
                    <a:gd name="T9" fmla="*/ 335 h 335"/>
                    <a:gd name="T10" fmla="*/ 76 w 160"/>
                    <a:gd name="T11" fmla="*/ 154 h 335"/>
                    <a:gd name="T12" fmla="*/ 160 w 160"/>
                    <a:gd name="T13" fmla="*/ 17 h 335"/>
                    <a:gd name="T14" fmla="*/ 116 w 160"/>
                    <a:gd name="T15" fmla="*/ 0 h 335"/>
                    <a:gd name="T16" fmla="*/ 116 w 160"/>
                    <a:gd name="T17" fmla="*/ 0 h 3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60" h="335">
                      <a:moveTo>
                        <a:pt x="116" y="0"/>
                      </a:moveTo>
                      <a:lnTo>
                        <a:pt x="19" y="106"/>
                      </a:lnTo>
                      <a:lnTo>
                        <a:pt x="0" y="230"/>
                      </a:lnTo>
                      <a:lnTo>
                        <a:pt x="33" y="314"/>
                      </a:lnTo>
                      <a:lnTo>
                        <a:pt x="94" y="335"/>
                      </a:lnTo>
                      <a:lnTo>
                        <a:pt x="76" y="154"/>
                      </a:lnTo>
                      <a:lnTo>
                        <a:pt x="160" y="17"/>
                      </a:lnTo>
                      <a:lnTo>
                        <a:pt x="116" y="0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51232" name="Freeform 32"/>
                <p:cNvSpPr>
                  <a:spLocks/>
                </p:cNvSpPr>
                <p:nvPr userDrawn="1"/>
              </p:nvSpPr>
              <p:spPr bwMode="auto">
                <a:xfrm>
                  <a:off x="449" y="3490"/>
                  <a:ext cx="322" cy="594"/>
                </a:xfrm>
                <a:custGeom>
                  <a:avLst/>
                  <a:gdLst>
                    <a:gd name="T0" fmla="*/ 218 w 642"/>
                    <a:gd name="T1" fmla="*/ 896 h 1188"/>
                    <a:gd name="T2" fmla="*/ 0 w 642"/>
                    <a:gd name="T3" fmla="*/ 124 h 1188"/>
                    <a:gd name="T4" fmla="*/ 81 w 642"/>
                    <a:gd name="T5" fmla="*/ 38 h 1188"/>
                    <a:gd name="T6" fmla="*/ 258 w 642"/>
                    <a:gd name="T7" fmla="*/ 0 h 1188"/>
                    <a:gd name="T8" fmla="*/ 399 w 642"/>
                    <a:gd name="T9" fmla="*/ 57 h 1188"/>
                    <a:gd name="T10" fmla="*/ 642 w 642"/>
                    <a:gd name="T11" fmla="*/ 1188 h 1188"/>
                    <a:gd name="T12" fmla="*/ 555 w 642"/>
                    <a:gd name="T13" fmla="*/ 1091 h 1188"/>
                    <a:gd name="T14" fmla="*/ 355 w 642"/>
                    <a:gd name="T15" fmla="*/ 97 h 1188"/>
                    <a:gd name="T16" fmla="*/ 226 w 642"/>
                    <a:gd name="T17" fmla="*/ 61 h 1188"/>
                    <a:gd name="T18" fmla="*/ 119 w 642"/>
                    <a:gd name="T19" fmla="*/ 74 h 1188"/>
                    <a:gd name="T20" fmla="*/ 76 w 642"/>
                    <a:gd name="T21" fmla="*/ 141 h 1188"/>
                    <a:gd name="T22" fmla="*/ 306 w 642"/>
                    <a:gd name="T23" fmla="*/ 924 h 1188"/>
                    <a:gd name="T24" fmla="*/ 218 w 642"/>
                    <a:gd name="T25" fmla="*/ 896 h 1188"/>
                    <a:gd name="T26" fmla="*/ 218 w 642"/>
                    <a:gd name="T27" fmla="*/ 896 h 11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642" h="1188">
                      <a:moveTo>
                        <a:pt x="218" y="896"/>
                      </a:moveTo>
                      <a:lnTo>
                        <a:pt x="0" y="124"/>
                      </a:lnTo>
                      <a:lnTo>
                        <a:pt x="81" y="38"/>
                      </a:lnTo>
                      <a:lnTo>
                        <a:pt x="258" y="0"/>
                      </a:lnTo>
                      <a:lnTo>
                        <a:pt x="399" y="57"/>
                      </a:lnTo>
                      <a:lnTo>
                        <a:pt x="642" y="1188"/>
                      </a:lnTo>
                      <a:lnTo>
                        <a:pt x="555" y="1091"/>
                      </a:lnTo>
                      <a:lnTo>
                        <a:pt x="355" y="97"/>
                      </a:lnTo>
                      <a:lnTo>
                        <a:pt x="226" y="61"/>
                      </a:lnTo>
                      <a:lnTo>
                        <a:pt x="119" y="74"/>
                      </a:lnTo>
                      <a:lnTo>
                        <a:pt x="76" y="141"/>
                      </a:lnTo>
                      <a:lnTo>
                        <a:pt x="306" y="924"/>
                      </a:lnTo>
                      <a:lnTo>
                        <a:pt x="218" y="896"/>
                      </a:lnTo>
                      <a:lnTo>
                        <a:pt x="218" y="89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51233" name="Freeform 33"/>
                <p:cNvSpPr>
                  <a:spLocks/>
                </p:cNvSpPr>
                <p:nvPr userDrawn="1"/>
              </p:nvSpPr>
              <p:spPr bwMode="auto">
                <a:xfrm>
                  <a:off x="578" y="3650"/>
                  <a:ext cx="96" cy="252"/>
                </a:xfrm>
                <a:custGeom>
                  <a:avLst/>
                  <a:gdLst>
                    <a:gd name="T0" fmla="*/ 0 w 192"/>
                    <a:gd name="T1" fmla="*/ 27 h 504"/>
                    <a:gd name="T2" fmla="*/ 76 w 192"/>
                    <a:gd name="T3" fmla="*/ 194 h 504"/>
                    <a:gd name="T4" fmla="*/ 113 w 192"/>
                    <a:gd name="T5" fmla="*/ 318 h 504"/>
                    <a:gd name="T6" fmla="*/ 116 w 192"/>
                    <a:gd name="T7" fmla="*/ 504 h 504"/>
                    <a:gd name="T8" fmla="*/ 192 w 192"/>
                    <a:gd name="T9" fmla="*/ 504 h 504"/>
                    <a:gd name="T10" fmla="*/ 187 w 192"/>
                    <a:gd name="T11" fmla="*/ 360 h 504"/>
                    <a:gd name="T12" fmla="*/ 162 w 192"/>
                    <a:gd name="T13" fmla="*/ 208 h 504"/>
                    <a:gd name="T14" fmla="*/ 99 w 192"/>
                    <a:gd name="T15" fmla="*/ 59 h 504"/>
                    <a:gd name="T16" fmla="*/ 63 w 192"/>
                    <a:gd name="T17" fmla="*/ 0 h 504"/>
                    <a:gd name="T18" fmla="*/ 0 w 192"/>
                    <a:gd name="T19" fmla="*/ 27 h 504"/>
                    <a:gd name="T20" fmla="*/ 0 w 192"/>
                    <a:gd name="T21" fmla="*/ 27 h 5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92" h="504">
                      <a:moveTo>
                        <a:pt x="0" y="27"/>
                      </a:moveTo>
                      <a:lnTo>
                        <a:pt x="76" y="194"/>
                      </a:lnTo>
                      <a:lnTo>
                        <a:pt x="113" y="318"/>
                      </a:lnTo>
                      <a:lnTo>
                        <a:pt x="116" y="504"/>
                      </a:lnTo>
                      <a:lnTo>
                        <a:pt x="192" y="504"/>
                      </a:lnTo>
                      <a:lnTo>
                        <a:pt x="187" y="360"/>
                      </a:lnTo>
                      <a:lnTo>
                        <a:pt x="162" y="208"/>
                      </a:lnTo>
                      <a:lnTo>
                        <a:pt x="99" y="59"/>
                      </a:lnTo>
                      <a:lnTo>
                        <a:pt x="63" y="0"/>
                      </a:lnTo>
                      <a:lnTo>
                        <a:pt x="0" y="27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51234" name="Freeform 34"/>
                <p:cNvSpPr>
                  <a:spLocks/>
                </p:cNvSpPr>
                <p:nvPr userDrawn="1"/>
              </p:nvSpPr>
              <p:spPr bwMode="auto">
                <a:xfrm>
                  <a:off x="328" y="3630"/>
                  <a:ext cx="195" cy="135"/>
                </a:xfrm>
                <a:custGeom>
                  <a:avLst/>
                  <a:gdLst>
                    <a:gd name="T0" fmla="*/ 297 w 390"/>
                    <a:gd name="T1" fmla="*/ 0 h 269"/>
                    <a:gd name="T2" fmla="*/ 257 w 390"/>
                    <a:gd name="T3" fmla="*/ 17 h 269"/>
                    <a:gd name="T4" fmla="*/ 253 w 390"/>
                    <a:gd name="T5" fmla="*/ 66 h 269"/>
                    <a:gd name="T6" fmla="*/ 0 w 390"/>
                    <a:gd name="T7" fmla="*/ 169 h 269"/>
                    <a:gd name="T8" fmla="*/ 0 w 390"/>
                    <a:gd name="T9" fmla="*/ 222 h 269"/>
                    <a:gd name="T10" fmla="*/ 284 w 390"/>
                    <a:gd name="T11" fmla="*/ 226 h 269"/>
                    <a:gd name="T12" fmla="*/ 320 w 390"/>
                    <a:gd name="T13" fmla="*/ 269 h 269"/>
                    <a:gd name="T14" fmla="*/ 390 w 390"/>
                    <a:gd name="T15" fmla="*/ 266 h 269"/>
                    <a:gd name="T16" fmla="*/ 383 w 390"/>
                    <a:gd name="T17" fmla="*/ 190 h 269"/>
                    <a:gd name="T18" fmla="*/ 116 w 390"/>
                    <a:gd name="T19" fmla="*/ 176 h 269"/>
                    <a:gd name="T20" fmla="*/ 333 w 390"/>
                    <a:gd name="T21" fmla="*/ 89 h 269"/>
                    <a:gd name="T22" fmla="*/ 297 w 390"/>
                    <a:gd name="T23" fmla="*/ 0 h 269"/>
                    <a:gd name="T24" fmla="*/ 297 w 390"/>
                    <a:gd name="T25" fmla="*/ 0 h 2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90" h="269">
                      <a:moveTo>
                        <a:pt x="297" y="0"/>
                      </a:moveTo>
                      <a:lnTo>
                        <a:pt x="257" y="17"/>
                      </a:lnTo>
                      <a:lnTo>
                        <a:pt x="253" y="66"/>
                      </a:lnTo>
                      <a:lnTo>
                        <a:pt x="0" y="169"/>
                      </a:lnTo>
                      <a:lnTo>
                        <a:pt x="0" y="222"/>
                      </a:lnTo>
                      <a:lnTo>
                        <a:pt x="284" y="226"/>
                      </a:lnTo>
                      <a:lnTo>
                        <a:pt x="320" y="269"/>
                      </a:lnTo>
                      <a:lnTo>
                        <a:pt x="390" y="266"/>
                      </a:lnTo>
                      <a:lnTo>
                        <a:pt x="383" y="190"/>
                      </a:lnTo>
                      <a:lnTo>
                        <a:pt x="116" y="176"/>
                      </a:lnTo>
                      <a:lnTo>
                        <a:pt x="333" y="89"/>
                      </a:lnTo>
                      <a:lnTo>
                        <a:pt x="297" y="0"/>
                      </a:lnTo>
                      <a:lnTo>
                        <a:pt x="29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51235" name="Freeform 35"/>
                <p:cNvSpPr>
                  <a:spLocks/>
                </p:cNvSpPr>
                <p:nvPr userDrawn="1"/>
              </p:nvSpPr>
              <p:spPr bwMode="auto">
                <a:xfrm>
                  <a:off x="658" y="3538"/>
                  <a:ext cx="471" cy="212"/>
                </a:xfrm>
                <a:custGeom>
                  <a:avLst/>
                  <a:gdLst>
                    <a:gd name="T0" fmla="*/ 0 w 941"/>
                    <a:gd name="T1" fmla="*/ 131 h 424"/>
                    <a:gd name="T2" fmla="*/ 863 w 941"/>
                    <a:gd name="T3" fmla="*/ 0 h 424"/>
                    <a:gd name="T4" fmla="*/ 926 w 941"/>
                    <a:gd name="T5" fmla="*/ 78 h 424"/>
                    <a:gd name="T6" fmla="*/ 941 w 941"/>
                    <a:gd name="T7" fmla="*/ 181 h 424"/>
                    <a:gd name="T8" fmla="*/ 903 w 941"/>
                    <a:gd name="T9" fmla="*/ 282 h 424"/>
                    <a:gd name="T10" fmla="*/ 57 w 941"/>
                    <a:gd name="T11" fmla="*/ 424 h 424"/>
                    <a:gd name="T12" fmla="*/ 53 w 941"/>
                    <a:gd name="T13" fmla="*/ 384 h 424"/>
                    <a:gd name="T14" fmla="*/ 863 w 941"/>
                    <a:gd name="T15" fmla="*/ 242 h 424"/>
                    <a:gd name="T16" fmla="*/ 893 w 941"/>
                    <a:gd name="T17" fmla="*/ 145 h 424"/>
                    <a:gd name="T18" fmla="*/ 840 w 941"/>
                    <a:gd name="T19" fmla="*/ 57 h 424"/>
                    <a:gd name="T20" fmla="*/ 0 w 941"/>
                    <a:gd name="T21" fmla="*/ 185 h 424"/>
                    <a:gd name="T22" fmla="*/ 0 w 941"/>
                    <a:gd name="T23" fmla="*/ 131 h 424"/>
                    <a:gd name="T24" fmla="*/ 0 w 941"/>
                    <a:gd name="T25" fmla="*/ 131 h 4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941" h="424">
                      <a:moveTo>
                        <a:pt x="0" y="131"/>
                      </a:moveTo>
                      <a:lnTo>
                        <a:pt x="863" y="0"/>
                      </a:lnTo>
                      <a:lnTo>
                        <a:pt x="926" y="78"/>
                      </a:lnTo>
                      <a:lnTo>
                        <a:pt x="941" y="181"/>
                      </a:lnTo>
                      <a:lnTo>
                        <a:pt x="903" y="282"/>
                      </a:lnTo>
                      <a:lnTo>
                        <a:pt x="57" y="424"/>
                      </a:lnTo>
                      <a:lnTo>
                        <a:pt x="53" y="384"/>
                      </a:lnTo>
                      <a:lnTo>
                        <a:pt x="863" y="242"/>
                      </a:lnTo>
                      <a:lnTo>
                        <a:pt x="893" y="145"/>
                      </a:lnTo>
                      <a:lnTo>
                        <a:pt x="840" y="57"/>
                      </a:lnTo>
                      <a:lnTo>
                        <a:pt x="0" y="185"/>
                      </a:lnTo>
                      <a:lnTo>
                        <a:pt x="0" y="131"/>
                      </a:lnTo>
                      <a:lnTo>
                        <a:pt x="0" y="1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51236" name="Freeform 36"/>
                <p:cNvSpPr>
                  <a:spLocks/>
                </p:cNvSpPr>
                <p:nvPr userDrawn="1"/>
              </p:nvSpPr>
              <p:spPr bwMode="auto">
                <a:xfrm>
                  <a:off x="717" y="3606"/>
                  <a:ext cx="245" cy="86"/>
                </a:xfrm>
                <a:custGeom>
                  <a:avLst/>
                  <a:gdLst>
                    <a:gd name="T0" fmla="*/ 0 w 488"/>
                    <a:gd name="T1" fmla="*/ 126 h 173"/>
                    <a:gd name="T2" fmla="*/ 66 w 488"/>
                    <a:gd name="T3" fmla="*/ 173 h 173"/>
                    <a:gd name="T4" fmla="*/ 222 w 488"/>
                    <a:gd name="T5" fmla="*/ 166 h 173"/>
                    <a:gd name="T6" fmla="*/ 418 w 488"/>
                    <a:gd name="T7" fmla="*/ 116 h 173"/>
                    <a:gd name="T8" fmla="*/ 488 w 488"/>
                    <a:gd name="T9" fmla="*/ 42 h 173"/>
                    <a:gd name="T10" fmla="*/ 443 w 488"/>
                    <a:gd name="T11" fmla="*/ 2 h 173"/>
                    <a:gd name="T12" fmla="*/ 253 w 488"/>
                    <a:gd name="T13" fmla="*/ 0 h 173"/>
                    <a:gd name="T14" fmla="*/ 110 w 488"/>
                    <a:gd name="T15" fmla="*/ 12 h 173"/>
                    <a:gd name="T16" fmla="*/ 15 w 488"/>
                    <a:gd name="T17" fmla="*/ 76 h 173"/>
                    <a:gd name="T18" fmla="*/ 112 w 488"/>
                    <a:gd name="T19" fmla="*/ 95 h 173"/>
                    <a:gd name="T20" fmla="*/ 275 w 488"/>
                    <a:gd name="T21" fmla="*/ 53 h 173"/>
                    <a:gd name="T22" fmla="*/ 416 w 488"/>
                    <a:gd name="T23" fmla="*/ 53 h 173"/>
                    <a:gd name="T24" fmla="*/ 268 w 488"/>
                    <a:gd name="T25" fmla="*/ 110 h 173"/>
                    <a:gd name="T26" fmla="*/ 142 w 488"/>
                    <a:gd name="T27" fmla="*/ 126 h 173"/>
                    <a:gd name="T28" fmla="*/ 0 w 488"/>
                    <a:gd name="T29" fmla="*/ 126 h 173"/>
                    <a:gd name="T30" fmla="*/ 0 w 488"/>
                    <a:gd name="T31" fmla="*/ 126 h 1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488" h="173">
                      <a:moveTo>
                        <a:pt x="0" y="126"/>
                      </a:moveTo>
                      <a:lnTo>
                        <a:pt x="66" y="173"/>
                      </a:lnTo>
                      <a:lnTo>
                        <a:pt x="222" y="166"/>
                      </a:lnTo>
                      <a:lnTo>
                        <a:pt x="418" y="116"/>
                      </a:lnTo>
                      <a:lnTo>
                        <a:pt x="488" y="42"/>
                      </a:lnTo>
                      <a:lnTo>
                        <a:pt x="443" y="2"/>
                      </a:lnTo>
                      <a:lnTo>
                        <a:pt x="253" y="0"/>
                      </a:lnTo>
                      <a:lnTo>
                        <a:pt x="110" y="12"/>
                      </a:lnTo>
                      <a:lnTo>
                        <a:pt x="15" y="76"/>
                      </a:lnTo>
                      <a:lnTo>
                        <a:pt x="112" y="95"/>
                      </a:lnTo>
                      <a:lnTo>
                        <a:pt x="275" y="53"/>
                      </a:lnTo>
                      <a:lnTo>
                        <a:pt x="416" y="53"/>
                      </a:lnTo>
                      <a:lnTo>
                        <a:pt x="268" y="110"/>
                      </a:lnTo>
                      <a:lnTo>
                        <a:pt x="142" y="126"/>
                      </a:lnTo>
                      <a:lnTo>
                        <a:pt x="0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</p:grpSp>
        </p:grpSp>
      </p:grpSp>
      <p:grpSp>
        <p:nvGrpSpPr>
          <p:cNvPr id="51237" name="Group 37"/>
          <p:cNvGrpSpPr>
            <a:grpSpLocks/>
          </p:cNvGrpSpPr>
          <p:nvPr/>
        </p:nvGrpSpPr>
        <p:grpSpPr bwMode="auto">
          <a:xfrm>
            <a:off x="8680450" y="2116138"/>
            <a:ext cx="385763" cy="4308475"/>
            <a:chOff x="5468" y="1333"/>
            <a:chExt cx="243" cy="2714"/>
          </a:xfrm>
        </p:grpSpPr>
        <p:sp>
          <p:nvSpPr>
            <p:cNvPr id="51238" name="Freeform 38"/>
            <p:cNvSpPr>
              <a:spLocks/>
            </p:cNvSpPr>
            <p:nvPr userDrawn="1"/>
          </p:nvSpPr>
          <p:spPr bwMode="auto">
            <a:xfrm flipH="1">
              <a:off x="5468" y="2620"/>
              <a:ext cx="205" cy="1427"/>
            </a:xfrm>
            <a:custGeom>
              <a:avLst/>
              <a:gdLst>
                <a:gd name="T0" fmla="*/ 692 w 772"/>
                <a:gd name="T1" fmla="*/ 3156 h 3266"/>
                <a:gd name="T2" fmla="*/ 380 w 772"/>
                <a:gd name="T3" fmla="*/ 2945 h 3266"/>
                <a:gd name="T4" fmla="*/ 319 w 772"/>
                <a:gd name="T5" fmla="*/ 2783 h 3266"/>
                <a:gd name="T6" fmla="*/ 371 w 772"/>
                <a:gd name="T7" fmla="*/ 2542 h 3266"/>
                <a:gd name="T8" fmla="*/ 591 w 772"/>
                <a:gd name="T9" fmla="*/ 2251 h 3266"/>
                <a:gd name="T10" fmla="*/ 641 w 772"/>
                <a:gd name="T11" fmla="*/ 2070 h 3266"/>
                <a:gd name="T12" fmla="*/ 591 w 772"/>
                <a:gd name="T13" fmla="*/ 1948 h 3266"/>
                <a:gd name="T14" fmla="*/ 401 w 772"/>
                <a:gd name="T15" fmla="*/ 1859 h 3266"/>
                <a:gd name="T16" fmla="*/ 361 w 772"/>
                <a:gd name="T17" fmla="*/ 1747 h 3266"/>
                <a:gd name="T18" fmla="*/ 430 w 772"/>
                <a:gd name="T19" fmla="*/ 1587 h 3266"/>
                <a:gd name="T20" fmla="*/ 741 w 772"/>
                <a:gd name="T21" fmla="*/ 1156 h 3266"/>
                <a:gd name="T22" fmla="*/ 772 w 772"/>
                <a:gd name="T23" fmla="*/ 945 h 3266"/>
                <a:gd name="T24" fmla="*/ 692 w 772"/>
                <a:gd name="T25" fmla="*/ 713 h 3266"/>
                <a:gd name="T26" fmla="*/ 430 w 772"/>
                <a:gd name="T27" fmla="*/ 603 h 3266"/>
                <a:gd name="T28" fmla="*/ 200 w 772"/>
                <a:gd name="T29" fmla="*/ 422 h 3266"/>
                <a:gd name="T30" fmla="*/ 0 w 772"/>
                <a:gd name="T31" fmla="*/ 0 h 3266"/>
                <a:gd name="T32" fmla="*/ 29 w 772"/>
                <a:gd name="T33" fmla="*/ 382 h 3266"/>
                <a:gd name="T34" fmla="*/ 179 w 772"/>
                <a:gd name="T35" fmla="*/ 612 h 3266"/>
                <a:gd name="T36" fmla="*/ 380 w 772"/>
                <a:gd name="T37" fmla="*/ 753 h 3266"/>
                <a:gd name="T38" fmla="*/ 601 w 772"/>
                <a:gd name="T39" fmla="*/ 833 h 3266"/>
                <a:gd name="T40" fmla="*/ 612 w 772"/>
                <a:gd name="T41" fmla="*/ 1044 h 3266"/>
                <a:gd name="T42" fmla="*/ 500 w 772"/>
                <a:gd name="T43" fmla="*/ 1266 h 3266"/>
                <a:gd name="T44" fmla="*/ 240 w 772"/>
                <a:gd name="T45" fmla="*/ 1658 h 3266"/>
                <a:gd name="T46" fmla="*/ 230 w 772"/>
                <a:gd name="T47" fmla="*/ 1909 h 3266"/>
                <a:gd name="T48" fmla="*/ 471 w 772"/>
                <a:gd name="T49" fmla="*/ 2049 h 3266"/>
                <a:gd name="T50" fmla="*/ 460 w 772"/>
                <a:gd name="T51" fmla="*/ 2180 h 3266"/>
                <a:gd name="T52" fmla="*/ 249 w 772"/>
                <a:gd name="T53" fmla="*/ 2452 h 3266"/>
                <a:gd name="T54" fmla="*/ 160 w 772"/>
                <a:gd name="T55" fmla="*/ 2713 h 3266"/>
                <a:gd name="T56" fmla="*/ 240 w 772"/>
                <a:gd name="T57" fmla="*/ 2994 h 3266"/>
                <a:gd name="T58" fmla="*/ 430 w 772"/>
                <a:gd name="T59" fmla="*/ 3144 h 3266"/>
                <a:gd name="T60" fmla="*/ 671 w 772"/>
                <a:gd name="T61" fmla="*/ 3266 h 3266"/>
                <a:gd name="T62" fmla="*/ 692 w 772"/>
                <a:gd name="T63" fmla="*/ 3156 h 3266"/>
                <a:gd name="T64" fmla="*/ 692 w 772"/>
                <a:gd name="T65" fmla="*/ 3156 h 3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1239" name="Freeform 39"/>
            <p:cNvSpPr>
              <a:spLocks/>
            </p:cNvSpPr>
            <p:nvPr userDrawn="1"/>
          </p:nvSpPr>
          <p:spPr bwMode="auto">
            <a:xfrm flipH="1">
              <a:off x="5506" y="1333"/>
              <a:ext cx="205" cy="1633"/>
            </a:xfrm>
            <a:custGeom>
              <a:avLst/>
              <a:gdLst>
                <a:gd name="T0" fmla="*/ 692 w 772"/>
                <a:gd name="T1" fmla="*/ 3156 h 3266"/>
                <a:gd name="T2" fmla="*/ 380 w 772"/>
                <a:gd name="T3" fmla="*/ 2945 h 3266"/>
                <a:gd name="T4" fmla="*/ 319 w 772"/>
                <a:gd name="T5" fmla="*/ 2783 h 3266"/>
                <a:gd name="T6" fmla="*/ 371 w 772"/>
                <a:gd name="T7" fmla="*/ 2542 h 3266"/>
                <a:gd name="T8" fmla="*/ 591 w 772"/>
                <a:gd name="T9" fmla="*/ 2251 h 3266"/>
                <a:gd name="T10" fmla="*/ 641 w 772"/>
                <a:gd name="T11" fmla="*/ 2070 h 3266"/>
                <a:gd name="T12" fmla="*/ 591 w 772"/>
                <a:gd name="T13" fmla="*/ 1948 h 3266"/>
                <a:gd name="T14" fmla="*/ 401 w 772"/>
                <a:gd name="T15" fmla="*/ 1859 h 3266"/>
                <a:gd name="T16" fmla="*/ 361 w 772"/>
                <a:gd name="T17" fmla="*/ 1747 h 3266"/>
                <a:gd name="T18" fmla="*/ 430 w 772"/>
                <a:gd name="T19" fmla="*/ 1587 h 3266"/>
                <a:gd name="T20" fmla="*/ 741 w 772"/>
                <a:gd name="T21" fmla="*/ 1156 h 3266"/>
                <a:gd name="T22" fmla="*/ 772 w 772"/>
                <a:gd name="T23" fmla="*/ 945 h 3266"/>
                <a:gd name="T24" fmla="*/ 692 w 772"/>
                <a:gd name="T25" fmla="*/ 713 h 3266"/>
                <a:gd name="T26" fmla="*/ 430 w 772"/>
                <a:gd name="T27" fmla="*/ 603 h 3266"/>
                <a:gd name="T28" fmla="*/ 200 w 772"/>
                <a:gd name="T29" fmla="*/ 422 h 3266"/>
                <a:gd name="T30" fmla="*/ 0 w 772"/>
                <a:gd name="T31" fmla="*/ 0 h 3266"/>
                <a:gd name="T32" fmla="*/ 29 w 772"/>
                <a:gd name="T33" fmla="*/ 382 h 3266"/>
                <a:gd name="T34" fmla="*/ 179 w 772"/>
                <a:gd name="T35" fmla="*/ 612 h 3266"/>
                <a:gd name="T36" fmla="*/ 380 w 772"/>
                <a:gd name="T37" fmla="*/ 753 h 3266"/>
                <a:gd name="T38" fmla="*/ 601 w 772"/>
                <a:gd name="T39" fmla="*/ 833 h 3266"/>
                <a:gd name="T40" fmla="*/ 612 w 772"/>
                <a:gd name="T41" fmla="*/ 1044 h 3266"/>
                <a:gd name="T42" fmla="*/ 500 w 772"/>
                <a:gd name="T43" fmla="*/ 1266 h 3266"/>
                <a:gd name="T44" fmla="*/ 240 w 772"/>
                <a:gd name="T45" fmla="*/ 1658 h 3266"/>
                <a:gd name="T46" fmla="*/ 230 w 772"/>
                <a:gd name="T47" fmla="*/ 1909 h 3266"/>
                <a:gd name="T48" fmla="*/ 471 w 772"/>
                <a:gd name="T49" fmla="*/ 2049 h 3266"/>
                <a:gd name="T50" fmla="*/ 460 w 772"/>
                <a:gd name="T51" fmla="*/ 2180 h 3266"/>
                <a:gd name="T52" fmla="*/ 249 w 772"/>
                <a:gd name="T53" fmla="*/ 2452 h 3266"/>
                <a:gd name="T54" fmla="*/ 160 w 772"/>
                <a:gd name="T55" fmla="*/ 2713 h 3266"/>
                <a:gd name="T56" fmla="*/ 240 w 772"/>
                <a:gd name="T57" fmla="*/ 2994 h 3266"/>
                <a:gd name="T58" fmla="*/ 430 w 772"/>
                <a:gd name="T59" fmla="*/ 3144 h 3266"/>
                <a:gd name="T60" fmla="*/ 671 w 772"/>
                <a:gd name="T61" fmla="*/ 3266 h 3266"/>
                <a:gd name="T62" fmla="*/ 692 w 772"/>
                <a:gd name="T63" fmla="*/ 3156 h 3266"/>
                <a:gd name="T64" fmla="*/ 692 w 772"/>
                <a:gd name="T65" fmla="*/ 3156 h 3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51240" name="Group 40"/>
          <p:cNvGrpSpPr>
            <a:grpSpLocks/>
          </p:cNvGrpSpPr>
          <p:nvPr/>
        </p:nvGrpSpPr>
        <p:grpSpPr bwMode="auto">
          <a:xfrm>
            <a:off x="7318375" y="90488"/>
            <a:ext cx="2133600" cy="1911350"/>
            <a:chOff x="4610" y="57"/>
            <a:chExt cx="1344" cy="1204"/>
          </a:xfrm>
        </p:grpSpPr>
        <p:grpSp>
          <p:nvGrpSpPr>
            <p:cNvPr id="51241" name="Group 41"/>
            <p:cNvGrpSpPr>
              <a:grpSpLocks/>
            </p:cNvGrpSpPr>
            <p:nvPr userDrawn="1"/>
          </p:nvGrpSpPr>
          <p:grpSpPr bwMode="auto">
            <a:xfrm>
              <a:off x="4610" y="57"/>
              <a:ext cx="1344" cy="1204"/>
              <a:chOff x="4610" y="57"/>
              <a:chExt cx="1344" cy="1204"/>
            </a:xfrm>
          </p:grpSpPr>
          <p:sp>
            <p:nvSpPr>
              <p:cNvPr id="51242" name="Freeform 42"/>
              <p:cNvSpPr>
                <a:spLocks/>
              </p:cNvSpPr>
              <p:nvPr userDrawn="1"/>
            </p:nvSpPr>
            <p:spPr bwMode="auto">
              <a:xfrm rot="-3172564">
                <a:off x="5430" y="1086"/>
                <a:ext cx="62" cy="288"/>
              </a:xfrm>
              <a:custGeom>
                <a:avLst/>
                <a:gdLst>
                  <a:gd name="T0" fmla="*/ 123 w 245"/>
                  <a:gd name="T1" fmla="*/ 9 h 806"/>
                  <a:gd name="T2" fmla="*/ 131 w 245"/>
                  <a:gd name="T3" fmla="*/ 342 h 806"/>
                  <a:gd name="T4" fmla="*/ 0 w 245"/>
                  <a:gd name="T5" fmla="*/ 806 h 806"/>
                  <a:gd name="T6" fmla="*/ 79 w 245"/>
                  <a:gd name="T7" fmla="*/ 789 h 806"/>
                  <a:gd name="T8" fmla="*/ 218 w 245"/>
                  <a:gd name="T9" fmla="*/ 376 h 806"/>
                  <a:gd name="T10" fmla="*/ 245 w 245"/>
                  <a:gd name="T11" fmla="*/ 0 h 806"/>
                  <a:gd name="T12" fmla="*/ 123 w 245"/>
                  <a:gd name="T13" fmla="*/ 9 h 806"/>
                  <a:gd name="T14" fmla="*/ 123 w 245"/>
                  <a:gd name="T15" fmla="*/ 9 h 8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5" h="806">
                    <a:moveTo>
                      <a:pt x="123" y="9"/>
                    </a:moveTo>
                    <a:lnTo>
                      <a:pt x="131" y="342"/>
                    </a:lnTo>
                    <a:lnTo>
                      <a:pt x="0" y="806"/>
                    </a:lnTo>
                    <a:lnTo>
                      <a:pt x="79" y="789"/>
                    </a:lnTo>
                    <a:lnTo>
                      <a:pt x="218" y="376"/>
                    </a:lnTo>
                    <a:lnTo>
                      <a:pt x="245" y="0"/>
                    </a:lnTo>
                    <a:lnTo>
                      <a:pt x="123" y="9"/>
                    </a:lnTo>
                    <a:lnTo>
                      <a:pt x="123" y="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grpSp>
            <p:nvGrpSpPr>
              <p:cNvPr id="51243" name="Group 43"/>
              <p:cNvGrpSpPr>
                <a:grpSpLocks/>
              </p:cNvGrpSpPr>
              <p:nvPr userDrawn="1"/>
            </p:nvGrpSpPr>
            <p:grpSpPr bwMode="auto">
              <a:xfrm>
                <a:off x="4610" y="57"/>
                <a:ext cx="1344" cy="985"/>
                <a:chOff x="4610" y="57"/>
                <a:chExt cx="1344" cy="985"/>
              </a:xfrm>
            </p:grpSpPr>
            <p:sp>
              <p:nvSpPr>
                <p:cNvPr id="51244" name="Freeform 44"/>
                <p:cNvSpPr>
                  <a:spLocks/>
                </p:cNvSpPr>
                <p:nvPr userDrawn="1"/>
              </p:nvSpPr>
              <p:spPr bwMode="auto">
                <a:xfrm rot="-3172564">
                  <a:off x="4966" y="71"/>
                  <a:ext cx="153" cy="125"/>
                </a:xfrm>
                <a:custGeom>
                  <a:avLst/>
                  <a:gdLst>
                    <a:gd name="T0" fmla="*/ 0 w 604"/>
                    <a:gd name="T1" fmla="*/ 0 h 349"/>
                    <a:gd name="T2" fmla="*/ 298 w 604"/>
                    <a:gd name="T3" fmla="*/ 184 h 349"/>
                    <a:gd name="T4" fmla="*/ 500 w 604"/>
                    <a:gd name="T5" fmla="*/ 349 h 349"/>
                    <a:gd name="T6" fmla="*/ 604 w 604"/>
                    <a:gd name="T7" fmla="*/ 140 h 349"/>
                    <a:gd name="T8" fmla="*/ 359 w 604"/>
                    <a:gd name="T9" fmla="*/ 9 h 349"/>
                    <a:gd name="T10" fmla="*/ 464 w 604"/>
                    <a:gd name="T11" fmla="*/ 184 h 349"/>
                    <a:gd name="T12" fmla="*/ 131 w 604"/>
                    <a:gd name="T13" fmla="*/ 17 h 349"/>
                    <a:gd name="T14" fmla="*/ 0 w 604"/>
                    <a:gd name="T15" fmla="*/ 0 h 349"/>
                    <a:gd name="T16" fmla="*/ 0 w 604"/>
                    <a:gd name="T17" fmla="*/ 0 h 3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4" h="349">
                      <a:moveTo>
                        <a:pt x="0" y="0"/>
                      </a:moveTo>
                      <a:lnTo>
                        <a:pt x="298" y="184"/>
                      </a:lnTo>
                      <a:lnTo>
                        <a:pt x="500" y="349"/>
                      </a:lnTo>
                      <a:lnTo>
                        <a:pt x="604" y="140"/>
                      </a:lnTo>
                      <a:lnTo>
                        <a:pt x="359" y="9"/>
                      </a:lnTo>
                      <a:lnTo>
                        <a:pt x="464" y="184"/>
                      </a:lnTo>
                      <a:lnTo>
                        <a:pt x="131" y="17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51245" name="Freeform 45"/>
                <p:cNvSpPr>
                  <a:spLocks/>
                </p:cNvSpPr>
                <p:nvPr userDrawn="1"/>
              </p:nvSpPr>
              <p:spPr bwMode="auto">
                <a:xfrm rot="-3172564">
                  <a:off x="5048" y="332"/>
                  <a:ext cx="269" cy="438"/>
                </a:xfrm>
                <a:custGeom>
                  <a:avLst/>
                  <a:gdLst>
                    <a:gd name="T0" fmla="*/ 741 w 1064"/>
                    <a:gd name="T1" fmla="*/ 129 h 1230"/>
                    <a:gd name="T2" fmla="*/ 485 w 1064"/>
                    <a:gd name="T3" fmla="*/ 352 h 1230"/>
                    <a:gd name="T4" fmla="*/ 163 w 1064"/>
                    <a:gd name="T5" fmla="*/ 762 h 1230"/>
                    <a:gd name="T6" fmla="*/ 0 w 1064"/>
                    <a:gd name="T7" fmla="*/ 1101 h 1230"/>
                    <a:gd name="T8" fmla="*/ 59 w 1064"/>
                    <a:gd name="T9" fmla="*/ 1230 h 1230"/>
                    <a:gd name="T10" fmla="*/ 262 w 1064"/>
                    <a:gd name="T11" fmla="*/ 1201 h 1230"/>
                    <a:gd name="T12" fmla="*/ 578 w 1064"/>
                    <a:gd name="T13" fmla="*/ 914 h 1230"/>
                    <a:gd name="T14" fmla="*/ 876 w 1064"/>
                    <a:gd name="T15" fmla="*/ 534 h 1230"/>
                    <a:gd name="T16" fmla="*/ 1034 w 1064"/>
                    <a:gd name="T17" fmla="*/ 270 h 1230"/>
                    <a:gd name="T18" fmla="*/ 1064 w 1064"/>
                    <a:gd name="T19" fmla="*/ 84 h 1230"/>
                    <a:gd name="T20" fmla="*/ 977 w 1064"/>
                    <a:gd name="T21" fmla="*/ 0 h 1230"/>
                    <a:gd name="T22" fmla="*/ 836 w 1064"/>
                    <a:gd name="T23" fmla="*/ 65 h 1230"/>
                    <a:gd name="T24" fmla="*/ 969 w 1064"/>
                    <a:gd name="T25" fmla="*/ 107 h 1230"/>
                    <a:gd name="T26" fmla="*/ 876 w 1064"/>
                    <a:gd name="T27" fmla="*/ 352 h 1230"/>
                    <a:gd name="T28" fmla="*/ 690 w 1064"/>
                    <a:gd name="T29" fmla="*/ 656 h 1230"/>
                    <a:gd name="T30" fmla="*/ 350 w 1064"/>
                    <a:gd name="T31" fmla="*/ 1008 h 1230"/>
                    <a:gd name="T32" fmla="*/ 116 w 1064"/>
                    <a:gd name="T33" fmla="*/ 1114 h 1230"/>
                    <a:gd name="T34" fmla="*/ 135 w 1064"/>
                    <a:gd name="T35" fmla="*/ 943 h 1230"/>
                    <a:gd name="T36" fmla="*/ 437 w 1064"/>
                    <a:gd name="T37" fmla="*/ 504 h 1230"/>
                    <a:gd name="T38" fmla="*/ 831 w 1064"/>
                    <a:gd name="T39" fmla="*/ 118 h 1230"/>
                    <a:gd name="T40" fmla="*/ 741 w 1064"/>
                    <a:gd name="T41" fmla="*/ 129 h 1230"/>
                    <a:gd name="T42" fmla="*/ 741 w 1064"/>
                    <a:gd name="T43" fmla="*/ 129 h 12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064" h="1230">
                      <a:moveTo>
                        <a:pt x="741" y="129"/>
                      </a:moveTo>
                      <a:lnTo>
                        <a:pt x="485" y="352"/>
                      </a:lnTo>
                      <a:lnTo>
                        <a:pt x="163" y="762"/>
                      </a:lnTo>
                      <a:lnTo>
                        <a:pt x="0" y="1101"/>
                      </a:lnTo>
                      <a:lnTo>
                        <a:pt x="59" y="1230"/>
                      </a:lnTo>
                      <a:lnTo>
                        <a:pt x="262" y="1201"/>
                      </a:lnTo>
                      <a:lnTo>
                        <a:pt x="578" y="914"/>
                      </a:lnTo>
                      <a:lnTo>
                        <a:pt x="876" y="534"/>
                      </a:lnTo>
                      <a:lnTo>
                        <a:pt x="1034" y="270"/>
                      </a:lnTo>
                      <a:lnTo>
                        <a:pt x="1064" y="84"/>
                      </a:lnTo>
                      <a:lnTo>
                        <a:pt x="977" y="0"/>
                      </a:lnTo>
                      <a:lnTo>
                        <a:pt x="836" y="65"/>
                      </a:lnTo>
                      <a:lnTo>
                        <a:pt x="969" y="107"/>
                      </a:lnTo>
                      <a:lnTo>
                        <a:pt x="876" y="352"/>
                      </a:lnTo>
                      <a:lnTo>
                        <a:pt x="690" y="656"/>
                      </a:lnTo>
                      <a:lnTo>
                        <a:pt x="350" y="1008"/>
                      </a:lnTo>
                      <a:lnTo>
                        <a:pt x="116" y="1114"/>
                      </a:lnTo>
                      <a:lnTo>
                        <a:pt x="135" y="943"/>
                      </a:lnTo>
                      <a:lnTo>
                        <a:pt x="437" y="504"/>
                      </a:lnTo>
                      <a:lnTo>
                        <a:pt x="831" y="118"/>
                      </a:lnTo>
                      <a:lnTo>
                        <a:pt x="741" y="129"/>
                      </a:lnTo>
                      <a:lnTo>
                        <a:pt x="741" y="1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51246" name="Freeform 46"/>
                <p:cNvSpPr>
                  <a:spLocks/>
                </p:cNvSpPr>
                <p:nvPr userDrawn="1"/>
              </p:nvSpPr>
              <p:spPr bwMode="auto">
                <a:xfrm rot="-3172564">
                  <a:off x="4858" y="182"/>
                  <a:ext cx="505" cy="898"/>
                </a:xfrm>
                <a:custGeom>
                  <a:avLst/>
                  <a:gdLst>
                    <a:gd name="T0" fmla="*/ 1941 w 2002"/>
                    <a:gd name="T1" fmla="*/ 0 h 2521"/>
                    <a:gd name="T2" fmla="*/ 0 w 2002"/>
                    <a:gd name="T3" fmla="*/ 2521 h 2521"/>
                    <a:gd name="T4" fmla="*/ 192 w 2002"/>
                    <a:gd name="T5" fmla="*/ 2450 h 2521"/>
                    <a:gd name="T6" fmla="*/ 2002 w 2002"/>
                    <a:gd name="T7" fmla="*/ 61 h 2521"/>
                    <a:gd name="T8" fmla="*/ 1941 w 2002"/>
                    <a:gd name="T9" fmla="*/ 0 h 2521"/>
                    <a:gd name="T10" fmla="*/ 1941 w 2002"/>
                    <a:gd name="T11" fmla="*/ 0 h 25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002" h="2521">
                      <a:moveTo>
                        <a:pt x="1941" y="0"/>
                      </a:moveTo>
                      <a:lnTo>
                        <a:pt x="0" y="2521"/>
                      </a:lnTo>
                      <a:lnTo>
                        <a:pt x="192" y="2450"/>
                      </a:lnTo>
                      <a:lnTo>
                        <a:pt x="2002" y="61"/>
                      </a:lnTo>
                      <a:lnTo>
                        <a:pt x="1941" y="0"/>
                      </a:lnTo>
                      <a:lnTo>
                        <a:pt x="194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51247" name="Freeform 47"/>
                <p:cNvSpPr>
                  <a:spLocks/>
                </p:cNvSpPr>
                <p:nvPr userDrawn="1"/>
              </p:nvSpPr>
              <p:spPr bwMode="auto">
                <a:xfrm rot="-3172564">
                  <a:off x="4903" y="-19"/>
                  <a:ext cx="758" cy="1344"/>
                </a:xfrm>
                <a:custGeom>
                  <a:avLst/>
                  <a:gdLst>
                    <a:gd name="T0" fmla="*/ 95 w 3007"/>
                    <a:gd name="T1" fmla="*/ 2844 h 3771"/>
                    <a:gd name="T2" fmla="*/ 394 w 3007"/>
                    <a:gd name="T3" fmla="*/ 2834 h 3771"/>
                    <a:gd name="T4" fmla="*/ 821 w 3007"/>
                    <a:gd name="T5" fmla="*/ 3009 h 3771"/>
                    <a:gd name="T6" fmla="*/ 681 w 3007"/>
                    <a:gd name="T7" fmla="*/ 2817 h 3771"/>
                    <a:gd name="T8" fmla="*/ 367 w 3007"/>
                    <a:gd name="T9" fmla="*/ 2703 h 3771"/>
                    <a:gd name="T10" fmla="*/ 637 w 3007"/>
                    <a:gd name="T11" fmla="*/ 2720 h 3771"/>
                    <a:gd name="T12" fmla="*/ 979 w 3007"/>
                    <a:gd name="T13" fmla="*/ 2870 h 3771"/>
                    <a:gd name="T14" fmla="*/ 2859 w 3007"/>
                    <a:gd name="T15" fmla="*/ 420 h 3771"/>
                    <a:gd name="T16" fmla="*/ 2578 w 3007"/>
                    <a:gd name="T17" fmla="*/ 148 h 3771"/>
                    <a:gd name="T18" fmla="*/ 2308 w 3007"/>
                    <a:gd name="T19" fmla="*/ 0 h 3771"/>
                    <a:gd name="T20" fmla="*/ 2692 w 3007"/>
                    <a:gd name="T21" fmla="*/ 78 h 3771"/>
                    <a:gd name="T22" fmla="*/ 3007 w 3007"/>
                    <a:gd name="T23" fmla="*/ 428 h 3771"/>
                    <a:gd name="T24" fmla="*/ 831 w 3007"/>
                    <a:gd name="T25" fmla="*/ 3273 h 3771"/>
                    <a:gd name="T26" fmla="*/ 481 w 3007"/>
                    <a:gd name="T27" fmla="*/ 3412 h 3771"/>
                    <a:gd name="T28" fmla="*/ 105 w 3007"/>
                    <a:gd name="T29" fmla="*/ 3771 h 3771"/>
                    <a:gd name="T30" fmla="*/ 0 w 3007"/>
                    <a:gd name="T31" fmla="*/ 3667 h 3771"/>
                    <a:gd name="T32" fmla="*/ 131 w 3007"/>
                    <a:gd name="T33" fmla="*/ 3631 h 3771"/>
                    <a:gd name="T34" fmla="*/ 376 w 3007"/>
                    <a:gd name="T35" fmla="*/ 3385 h 3771"/>
                    <a:gd name="T36" fmla="*/ 165 w 3007"/>
                    <a:gd name="T37" fmla="*/ 3273 h 3771"/>
                    <a:gd name="T38" fmla="*/ 165 w 3007"/>
                    <a:gd name="T39" fmla="*/ 3176 h 3771"/>
                    <a:gd name="T40" fmla="*/ 411 w 3007"/>
                    <a:gd name="T41" fmla="*/ 3298 h 3771"/>
                    <a:gd name="T42" fmla="*/ 411 w 3007"/>
                    <a:gd name="T43" fmla="*/ 3186 h 3771"/>
                    <a:gd name="T44" fmla="*/ 603 w 3007"/>
                    <a:gd name="T45" fmla="*/ 3220 h 3771"/>
                    <a:gd name="T46" fmla="*/ 428 w 3007"/>
                    <a:gd name="T47" fmla="*/ 3079 h 3771"/>
                    <a:gd name="T48" fmla="*/ 629 w 3007"/>
                    <a:gd name="T49" fmla="*/ 3062 h 3771"/>
                    <a:gd name="T50" fmla="*/ 95 w 3007"/>
                    <a:gd name="T51" fmla="*/ 2844 h 3771"/>
                    <a:gd name="T52" fmla="*/ 95 w 3007"/>
                    <a:gd name="T53" fmla="*/ 2844 h 37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007" h="3771">
                      <a:moveTo>
                        <a:pt x="95" y="2844"/>
                      </a:moveTo>
                      <a:lnTo>
                        <a:pt x="394" y="2834"/>
                      </a:lnTo>
                      <a:lnTo>
                        <a:pt x="821" y="3009"/>
                      </a:lnTo>
                      <a:lnTo>
                        <a:pt x="681" y="2817"/>
                      </a:lnTo>
                      <a:lnTo>
                        <a:pt x="367" y="2703"/>
                      </a:lnTo>
                      <a:lnTo>
                        <a:pt x="637" y="2720"/>
                      </a:lnTo>
                      <a:lnTo>
                        <a:pt x="979" y="2870"/>
                      </a:lnTo>
                      <a:lnTo>
                        <a:pt x="2859" y="420"/>
                      </a:lnTo>
                      <a:lnTo>
                        <a:pt x="2578" y="148"/>
                      </a:lnTo>
                      <a:lnTo>
                        <a:pt x="2308" y="0"/>
                      </a:lnTo>
                      <a:lnTo>
                        <a:pt x="2692" y="78"/>
                      </a:lnTo>
                      <a:lnTo>
                        <a:pt x="3007" y="428"/>
                      </a:lnTo>
                      <a:lnTo>
                        <a:pt x="831" y="3273"/>
                      </a:lnTo>
                      <a:lnTo>
                        <a:pt x="481" y="3412"/>
                      </a:lnTo>
                      <a:lnTo>
                        <a:pt x="105" y="3771"/>
                      </a:lnTo>
                      <a:lnTo>
                        <a:pt x="0" y="3667"/>
                      </a:lnTo>
                      <a:lnTo>
                        <a:pt x="131" y="3631"/>
                      </a:lnTo>
                      <a:lnTo>
                        <a:pt x="376" y="3385"/>
                      </a:lnTo>
                      <a:lnTo>
                        <a:pt x="165" y="3273"/>
                      </a:lnTo>
                      <a:lnTo>
                        <a:pt x="165" y="3176"/>
                      </a:lnTo>
                      <a:lnTo>
                        <a:pt x="411" y="3298"/>
                      </a:lnTo>
                      <a:lnTo>
                        <a:pt x="411" y="3186"/>
                      </a:lnTo>
                      <a:lnTo>
                        <a:pt x="603" y="3220"/>
                      </a:lnTo>
                      <a:lnTo>
                        <a:pt x="428" y="3079"/>
                      </a:lnTo>
                      <a:lnTo>
                        <a:pt x="629" y="3062"/>
                      </a:lnTo>
                      <a:lnTo>
                        <a:pt x="95" y="2844"/>
                      </a:lnTo>
                      <a:lnTo>
                        <a:pt x="95" y="284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51248" name="Freeform 48"/>
                <p:cNvSpPr>
                  <a:spLocks/>
                </p:cNvSpPr>
                <p:nvPr userDrawn="1"/>
              </p:nvSpPr>
              <p:spPr bwMode="auto">
                <a:xfrm rot="-3172564">
                  <a:off x="5297" y="897"/>
                  <a:ext cx="169" cy="122"/>
                </a:xfrm>
                <a:custGeom>
                  <a:avLst/>
                  <a:gdLst>
                    <a:gd name="T0" fmla="*/ 0 w 673"/>
                    <a:gd name="T1" fmla="*/ 80 h 342"/>
                    <a:gd name="T2" fmla="*/ 255 w 673"/>
                    <a:gd name="T3" fmla="*/ 106 h 342"/>
                    <a:gd name="T4" fmla="*/ 639 w 673"/>
                    <a:gd name="T5" fmla="*/ 342 h 342"/>
                    <a:gd name="T6" fmla="*/ 673 w 673"/>
                    <a:gd name="T7" fmla="*/ 289 h 342"/>
                    <a:gd name="T8" fmla="*/ 447 w 673"/>
                    <a:gd name="T9" fmla="*/ 114 h 342"/>
                    <a:gd name="T10" fmla="*/ 26 w 673"/>
                    <a:gd name="T11" fmla="*/ 0 h 342"/>
                    <a:gd name="T12" fmla="*/ 0 w 673"/>
                    <a:gd name="T13" fmla="*/ 80 h 342"/>
                    <a:gd name="T14" fmla="*/ 0 w 673"/>
                    <a:gd name="T15" fmla="*/ 80 h 3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73" h="342">
                      <a:moveTo>
                        <a:pt x="0" y="80"/>
                      </a:moveTo>
                      <a:lnTo>
                        <a:pt x="255" y="106"/>
                      </a:lnTo>
                      <a:lnTo>
                        <a:pt x="639" y="342"/>
                      </a:lnTo>
                      <a:lnTo>
                        <a:pt x="673" y="289"/>
                      </a:lnTo>
                      <a:lnTo>
                        <a:pt x="447" y="114"/>
                      </a:lnTo>
                      <a:lnTo>
                        <a:pt x="26" y="0"/>
                      </a:lnTo>
                      <a:lnTo>
                        <a:pt x="0" y="80"/>
                      </a:lnTo>
                      <a:lnTo>
                        <a:pt x="0" y="8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51249" name="Freeform 49"/>
                <p:cNvSpPr>
                  <a:spLocks/>
                </p:cNvSpPr>
                <p:nvPr userDrawn="1"/>
              </p:nvSpPr>
              <p:spPr bwMode="auto">
                <a:xfrm rot="-3172564">
                  <a:off x="5253" y="806"/>
                  <a:ext cx="181" cy="144"/>
                </a:xfrm>
                <a:custGeom>
                  <a:avLst/>
                  <a:gdLst>
                    <a:gd name="T0" fmla="*/ 0 w 716"/>
                    <a:gd name="T1" fmla="*/ 78 h 403"/>
                    <a:gd name="T2" fmla="*/ 340 w 716"/>
                    <a:gd name="T3" fmla="*/ 148 h 403"/>
                    <a:gd name="T4" fmla="*/ 638 w 716"/>
                    <a:gd name="T5" fmla="*/ 403 h 403"/>
                    <a:gd name="T6" fmla="*/ 716 w 716"/>
                    <a:gd name="T7" fmla="*/ 296 h 403"/>
                    <a:gd name="T8" fmla="*/ 420 w 716"/>
                    <a:gd name="T9" fmla="*/ 114 h 403"/>
                    <a:gd name="T10" fmla="*/ 70 w 716"/>
                    <a:gd name="T11" fmla="*/ 0 h 403"/>
                    <a:gd name="T12" fmla="*/ 0 w 716"/>
                    <a:gd name="T13" fmla="*/ 78 h 403"/>
                    <a:gd name="T14" fmla="*/ 0 w 716"/>
                    <a:gd name="T15" fmla="*/ 78 h 4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716" h="403">
                      <a:moveTo>
                        <a:pt x="0" y="78"/>
                      </a:moveTo>
                      <a:lnTo>
                        <a:pt x="340" y="148"/>
                      </a:lnTo>
                      <a:lnTo>
                        <a:pt x="638" y="403"/>
                      </a:lnTo>
                      <a:lnTo>
                        <a:pt x="716" y="296"/>
                      </a:lnTo>
                      <a:lnTo>
                        <a:pt x="420" y="114"/>
                      </a:lnTo>
                      <a:lnTo>
                        <a:pt x="70" y="0"/>
                      </a:lnTo>
                      <a:lnTo>
                        <a:pt x="0" y="78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51250" name="Freeform 50"/>
                <p:cNvSpPr>
                  <a:spLocks/>
                </p:cNvSpPr>
                <p:nvPr userDrawn="1"/>
              </p:nvSpPr>
              <p:spPr bwMode="auto">
                <a:xfrm rot="-3172564">
                  <a:off x="4985" y="210"/>
                  <a:ext cx="181" cy="147"/>
                </a:xfrm>
                <a:custGeom>
                  <a:avLst/>
                  <a:gdLst>
                    <a:gd name="T0" fmla="*/ 0 w 717"/>
                    <a:gd name="T1" fmla="*/ 78 h 411"/>
                    <a:gd name="T2" fmla="*/ 316 w 717"/>
                    <a:gd name="T3" fmla="*/ 139 h 411"/>
                    <a:gd name="T4" fmla="*/ 649 w 717"/>
                    <a:gd name="T5" fmla="*/ 411 h 411"/>
                    <a:gd name="T6" fmla="*/ 717 w 717"/>
                    <a:gd name="T7" fmla="*/ 314 h 411"/>
                    <a:gd name="T8" fmla="*/ 394 w 717"/>
                    <a:gd name="T9" fmla="*/ 87 h 411"/>
                    <a:gd name="T10" fmla="*/ 54 w 717"/>
                    <a:gd name="T11" fmla="*/ 0 h 411"/>
                    <a:gd name="T12" fmla="*/ 0 w 717"/>
                    <a:gd name="T13" fmla="*/ 78 h 411"/>
                    <a:gd name="T14" fmla="*/ 0 w 717"/>
                    <a:gd name="T15" fmla="*/ 78 h 4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717" h="411">
                      <a:moveTo>
                        <a:pt x="0" y="78"/>
                      </a:moveTo>
                      <a:lnTo>
                        <a:pt x="316" y="139"/>
                      </a:lnTo>
                      <a:lnTo>
                        <a:pt x="649" y="411"/>
                      </a:lnTo>
                      <a:lnTo>
                        <a:pt x="717" y="314"/>
                      </a:lnTo>
                      <a:lnTo>
                        <a:pt x="394" y="87"/>
                      </a:lnTo>
                      <a:lnTo>
                        <a:pt x="54" y="0"/>
                      </a:lnTo>
                      <a:lnTo>
                        <a:pt x="0" y="78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51251" name="Freeform 51"/>
                <p:cNvSpPr>
                  <a:spLocks/>
                </p:cNvSpPr>
                <p:nvPr userDrawn="1"/>
              </p:nvSpPr>
              <p:spPr bwMode="auto">
                <a:xfrm rot="-3172564">
                  <a:off x="4948" y="142"/>
                  <a:ext cx="179" cy="138"/>
                </a:xfrm>
                <a:custGeom>
                  <a:avLst/>
                  <a:gdLst>
                    <a:gd name="T0" fmla="*/ 0 w 709"/>
                    <a:gd name="T1" fmla="*/ 88 h 386"/>
                    <a:gd name="T2" fmla="*/ 272 w 709"/>
                    <a:gd name="T3" fmla="*/ 131 h 386"/>
                    <a:gd name="T4" fmla="*/ 665 w 709"/>
                    <a:gd name="T5" fmla="*/ 386 h 386"/>
                    <a:gd name="T6" fmla="*/ 709 w 709"/>
                    <a:gd name="T7" fmla="*/ 308 h 386"/>
                    <a:gd name="T8" fmla="*/ 306 w 709"/>
                    <a:gd name="T9" fmla="*/ 53 h 386"/>
                    <a:gd name="T10" fmla="*/ 43 w 709"/>
                    <a:gd name="T11" fmla="*/ 0 h 386"/>
                    <a:gd name="T12" fmla="*/ 0 w 709"/>
                    <a:gd name="T13" fmla="*/ 88 h 386"/>
                    <a:gd name="T14" fmla="*/ 0 w 709"/>
                    <a:gd name="T15" fmla="*/ 88 h 3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709" h="386">
                      <a:moveTo>
                        <a:pt x="0" y="88"/>
                      </a:moveTo>
                      <a:lnTo>
                        <a:pt x="272" y="131"/>
                      </a:lnTo>
                      <a:lnTo>
                        <a:pt x="665" y="386"/>
                      </a:lnTo>
                      <a:lnTo>
                        <a:pt x="709" y="308"/>
                      </a:lnTo>
                      <a:lnTo>
                        <a:pt x="306" y="53"/>
                      </a:lnTo>
                      <a:lnTo>
                        <a:pt x="43" y="0"/>
                      </a:lnTo>
                      <a:lnTo>
                        <a:pt x="0" y="88"/>
                      </a:lnTo>
                      <a:lnTo>
                        <a:pt x="0" y="8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</p:grpSp>
        </p:grpSp>
        <p:sp>
          <p:nvSpPr>
            <p:cNvPr id="51252" name="Line 52"/>
            <p:cNvSpPr>
              <a:spLocks noChangeShapeType="1"/>
            </p:cNvSpPr>
            <p:nvPr userDrawn="1"/>
          </p:nvSpPr>
          <p:spPr bwMode="auto">
            <a:xfrm>
              <a:off x="4870" y="84"/>
              <a:ext cx="42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oleObject" Target="../embeddings/oleObject7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23850" y="260350"/>
            <a:ext cx="8229600" cy="1008063"/>
          </a:xfrm>
        </p:spPr>
        <p:txBody>
          <a:bodyPr anchor="ctr"/>
          <a:lstStyle/>
          <a:p>
            <a:r>
              <a:rPr lang="ru-RU" altLang="ru-RU" sz="2800" b="1">
                <a:latin typeface="Times New Roman" panose="02020603050405020304" pitchFamily="18" charset="0"/>
              </a:rPr>
              <a:t>Целочисленное </a:t>
            </a:r>
            <a:r>
              <a:rPr lang="ru-RU" altLang="ru-RU" sz="2800" b="1" dirty="0">
                <a:latin typeface="Times New Roman" panose="02020603050405020304" pitchFamily="18" charset="0"/>
              </a:rPr>
              <a:t>программирование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noFill/>
        </p:spPr>
        <p:txBody>
          <a:bodyPr anchor="ctr"/>
          <a:lstStyle>
            <a:lvl1pPr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57C84567-52E8-4B9D-B651-9166E7676559}" type="slidenum">
              <a:rPr lang="ru-RU" altLang="ru-RU" sz="1200">
                <a:solidFill>
                  <a:srgbClr val="898989"/>
                </a:solidFill>
                <a:latin typeface="Calibri" panose="020F0502020204030204" pitchFamily="34" charset="0"/>
              </a:rPr>
              <a:pPr algn="r" eaLnBrk="1" hangingPunct="1"/>
              <a:t>1</a:t>
            </a:fld>
            <a:endParaRPr lang="ru-RU" altLang="ru-RU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46E229-9E9E-42B3-9B16-BFBB06BE0939}"/>
              </a:ext>
            </a:extLst>
          </p:cNvPr>
          <p:cNvSpPr txBox="1"/>
          <p:nvPr/>
        </p:nvSpPr>
        <p:spPr>
          <a:xfrm>
            <a:off x="1547664" y="1028343"/>
            <a:ext cx="727248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ru-RU" dirty="0"/>
              <a:t>При рассмотрении целого ряда задач финансового менеджмента и бизнеса необходимо учитывать требование </a:t>
            </a:r>
            <a:r>
              <a:rPr lang="ru-RU" dirty="0" err="1"/>
              <a:t>целочисленности</a:t>
            </a:r>
            <a:r>
              <a:rPr lang="ru-RU" dirty="0"/>
              <a:t> использу­емых переменных. Такие задачи называются </a:t>
            </a:r>
            <a:r>
              <a:rPr lang="ru-RU" i="1" dirty="0"/>
              <a:t>задачами целочисленного программирования.</a:t>
            </a:r>
            <a:r>
              <a:rPr lang="ru-RU" dirty="0"/>
              <a:t>           </a:t>
            </a:r>
          </a:p>
          <a:p>
            <a:pPr>
              <a:buNone/>
            </a:pPr>
            <a:r>
              <a:rPr lang="ru-RU" dirty="0"/>
              <a:t>Под задачей целочисленного программирования (ЦП) понимается задача, в которой все или некоторые переменные должны принимать целые значения. В том случае, когда ограничения и целевая функция задачи представляют собой линейные зависимости, задачу называют целочисленной задачей линейного программирования. В противном случае это будет целочисленной задачей нелинейного программирования.</a:t>
            </a:r>
          </a:p>
          <a:p>
            <a:pPr>
              <a:buNone/>
            </a:pPr>
            <a:r>
              <a:rPr lang="ru-RU" dirty="0"/>
              <a:t>Особый интерес к задачам ЦП вызван тем, что во многих практических задачах необходимо находить целочисленное решение ввиду дискретности ряда значений искомых переменных.</a:t>
            </a:r>
          </a:p>
          <a:p>
            <a:pPr>
              <a:buNone/>
            </a:pPr>
            <a:r>
              <a:rPr lang="ru-RU" dirty="0"/>
              <a:t>Целочисленное программирование возникло в 50-60-е годы нашего века из нужд практики -  главным образом в работах американских математиков </a:t>
            </a:r>
            <a:r>
              <a:rPr lang="ru-RU" dirty="0" err="1"/>
              <a:t>Дж.Данцига</a:t>
            </a:r>
            <a:r>
              <a:rPr lang="ru-RU" dirty="0"/>
              <a:t> и </a:t>
            </a:r>
            <a:r>
              <a:rPr lang="ru-RU" dirty="0" err="1"/>
              <a:t>Р.Гомори</a:t>
            </a:r>
            <a:r>
              <a:rPr lang="ru-RU" dirty="0"/>
              <a:t>.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Заголовок 1"/>
          <p:cNvSpPr>
            <a:spLocks noGrp="1"/>
          </p:cNvSpPr>
          <p:nvPr>
            <p:ph type="title" idx="4294967295"/>
          </p:nvPr>
        </p:nvSpPr>
        <p:spPr>
          <a:xfrm>
            <a:off x="685800" y="152400"/>
            <a:ext cx="6870700" cy="615950"/>
          </a:xfrm>
        </p:spPr>
        <p:txBody>
          <a:bodyPr anchor="ctr"/>
          <a:lstStyle/>
          <a:p>
            <a:r>
              <a:rPr lang="ru-RU" altLang="ru-RU" sz="3200" b="1"/>
              <a:t/>
            </a:r>
            <a:br>
              <a:rPr lang="ru-RU" altLang="ru-RU" sz="3200" b="1"/>
            </a:br>
            <a:r>
              <a:rPr lang="ru-RU" altLang="ru-RU" sz="2800" b="1">
                <a:solidFill>
                  <a:srgbClr val="FF0000"/>
                </a:solidFill>
                <a:latin typeface="Times New Roman" panose="02020603050405020304" pitchFamily="18" charset="0"/>
              </a:rPr>
              <a:t>Задачи  ЦЛП</a:t>
            </a:r>
            <a:r>
              <a:rPr lang="ru-RU" altLang="ru-RU" sz="2800">
                <a:solidFill>
                  <a:srgbClr val="FF0000"/>
                </a:solidFill>
                <a:latin typeface="Times New Roman" panose="02020603050405020304" pitchFamily="18" charset="0"/>
              </a:rPr>
              <a:t/>
            </a:r>
            <a:br>
              <a:rPr lang="ru-RU" altLang="ru-RU" sz="2800">
                <a:solidFill>
                  <a:srgbClr val="FF0000"/>
                </a:solidFill>
                <a:latin typeface="Times New Roman" panose="02020603050405020304" pitchFamily="18" charset="0"/>
              </a:rPr>
            </a:br>
            <a:endParaRPr lang="ru-RU" altLang="ru-RU" sz="28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0" name="Содержимое 2"/>
          <p:cNvSpPr>
            <a:spLocks noGrp="1"/>
          </p:cNvSpPr>
          <p:nvPr>
            <p:ph idx="4294967295"/>
          </p:nvPr>
        </p:nvSpPr>
        <p:spPr>
          <a:xfrm>
            <a:off x="214313" y="981075"/>
            <a:ext cx="8515350" cy="55911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ru-RU" altLang="ru-RU" sz="2800">
                <a:latin typeface="Times New Roman" panose="02020603050405020304" pitchFamily="18" charset="0"/>
              </a:rPr>
              <a:t>1)</a:t>
            </a:r>
          </a:p>
          <a:p>
            <a:pPr>
              <a:lnSpc>
                <a:spcPct val="80000"/>
              </a:lnSpc>
            </a:pPr>
            <a:r>
              <a:rPr lang="en-US" altLang="ru-RU" sz="2800">
                <a:latin typeface="Times New Roman" panose="02020603050405020304" pitchFamily="18" charset="0"/>
              </a:rPr>
              <a:t>F</a:t>
            </a:r>
            <a:r>
              <a:rPr lang="ru-RU" altLang="ru-RU" sz="2800">
                <a:latin typeface="Times New Roman" panose="02020603050405020304" pitchFamily="18" charset="0"/>
              </a:rPr>
              <a:t>(</a:t>
            </a:r>
            <a:r>
              <a:rPr lang="en-US" altLang="ru-RU" sz="2800">
                <a:latin typeface="Times New Roman" panose="02020603050405020304" pitchFamily="18" charset="0"/>
              </a:rPr>
              <a:t>X)</a:t>
            </a:r>
            <a:r>
              <a:rPr lang="ru-RU" altLang="ru-RU" sz="2800">
                <a:latin typeface="Times New Roman" panose="02020603050405020304" pitchFamily="18" charset="0"/>
              </a:rPr>
              <a:t>=</a:t>
            </a:r>
          </a:p>
          <a:p>
            <a:pPr>
              <a:lnSpc>
                <a:spcPct val="80000"/>
              </a:lnSpc>
            </a:pPr>
            <a:r>
              <a:rPr lang="ru-RU" altLang="ru-RU"/>
              <a:t>  </a:t>
            </a:r>
          </a:p>
          <a:p>
            <a:pPr>
              <a:lnSpc>
                <a:spcPct val="80000"/>
              </a:lnSpc>
            </a:pPr>
            <a:endParaRPr lang="ru-RU" altLang="ru-RU"/>
          </a:p>
          <a:p>
            <a:pPr>
              <a:lnSpc>
                <a:spcPct val="80000"/>
              </a:lnSpc>
            </a:pPr>
            <a:endParaRPr lang="ru-RU" alt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429500" y="6072188"/>
            <a:ext cx="1257300" cy="649287"/>
          </a:xfrm>
          <a:noFill/>
        </p:spPr>
        <p:txBody>
          <a:bodyPr anchor="ctr"/>
          <a:lstStyle>
            <a:lvl1pPr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FC522E2E-7AC6-4C3E-B3EA-0FE8BD22B934}" type="slidenum">
              <a:rPr lang="ru-RU" altLang="ru-RU" sz="1200">
                <a:solidFill>
                  <a:srgbClr val="898989"/>
                </a:solidFill>
                <a:latin typeface="Calibri" panose="020F0502020204030204" pitchFamily="34" charset="0"/>
              </a:rPr>
              <a:pPr algn="r" eaLnBrk="1" hangingPunct="1"/>
              <a:t>2</a:t>
            </a:fld>
            <a:endParaRPr lang="ru-RU" altLang="ru-RU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/>
        </p:nvGraphicFramePr>
        <p:xfrm>
          <a:off x="571500" y="2286000"/>
          <a:ext cx="6645275" cy="205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Формула" r:id="rId3" imgW="3352680" imgH="965160" progId="Equation.3">
                  <p:embed/>
                </p:oleObj>
              </mc:Choice>
              <mc:Fallback>
                <p:oleObj name="Формула" r:id="rId3" imgW="3352680" imgH="9651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2286000"/>
                        <a:ext cx="6645275" cy="205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6"/>
          <p:cNvGraphicFramePr>
            <a:graphicFrameLocks noChangeAspect="1"/>
          </p:cNvGraphicFramePr>
          <p:nvPr/>
        </p:nvGraphicFramePr>
        <p:xfrm>
          <a:off x="1714500" y="1143000"/>
          <a:ext cx="1857375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Формула" r:id="rId5" imgW="1054080" imgH="444240" progId="Equation.3">
                  <p:embed/>
                </p:oleObj>
              </mc:Choice>
              <mc:Fallback>
                <p:oleObj name="Формула" r:id="rId5" imgW="1054080" imgH="4442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1143000"/>
                        <a:ext cx="1857375" cy="96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10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Формула" r:id="rId7" imgW="114120" imgH="215640" progId="Equation.3">
                  <p:embed/>
                </p:oleObj>
              </mc:Choice>
              <mc:Fallback>
                <p:oleObj name="Формула" r:id="rId7" imgW="114120" imgH="2156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Заголовок 1"/>
          <p:cNvSpPr>
            <a:spLocks noGrp="1"/>
          </p:cNvSpPr>
          <p:nvPr>
            <p:ph type="title" idx="4294967295"/>
          </p:nvPr>
        </p:nvSpPr>
        <p:spPr>
          <a:xfrm>
            <a:off x="685800" y="152400"/>
            <a:ext cx="6870700" cy="815975"/>
          </a:xfrm>
        </p:spPr>
        <p:txBody>
          <a:bodyPr anchor="ctr"/>
          <a:lstStyle/>
          <a:p>
            <a:r>
              <a:rPr lang="ru-RU" altLang="ru-RU" sz="2800" i="1">
                <a:solidFill>
                  <a:srgbClr val="FF0000"/>
                </a:solidFill>
                <a:latin typeface="Times New Roman" panose="02020603050405020304" pitchFamily="18" charset="0"/>
              </a:rPr>
              <a:t>Задача о назначениях</a:t>
            </a:r>
          </a:p>
        </p:txBody>
      </p:sp>
      <p:sp>
        <p:nvSpPr>
          <p:cNvPr id="2052" name="Содержимое 2"/>
          <p:cNvSpPr>
            <a:spLocks noGrp="1"/>
          </p:cNvSpPr>
          <p:nvPr>
            <p:ph idx="4294967295"/>
          </p:nvPr>
        </p:nvSpPr>
        <p:spPr>
          <a:xfrm>
            <a:off x="611188" y="765175"/>
            <a:ext cx="8229600" cy="4929188"/>
          </a:xfrm>
        </p:spPr>
        <p:txBody>
          <a:bodyPr/>
          <a:lstStyle/>
          <a:p>
            <a:r>
              <a:rPr lang="ru-RU" altLang="ru-RU" sz="2800">
                <a:latin typeface="Times New Roman" panose="02020603050405020304" pitchFamily="18" charset="0"/>
              </a:rPr>
              <a:t>Задача заключается в наиболее эффективном распределении </a:t>
            </a:r>
            <a:r>
              <a:rPr lang="en-US" altLang="ru-RU" sz="2800">
                <a:latin typeface="Times New Roman" panose="02020603050405020304" pitchFamily="18" charset="0"/>
              </a:rPr>
              <a:t>n</a:t>
            </a:r>
            <a:r>
              <a:rPr lang="ru-RU" altLang="ru-RU" sz="2800">
                <a:latin typeface="Times New Roman" panose="02020603050405020304" pitchFamily="18" charset="0"/>
              </a:rPr>
              <a:t> работ между </a:t>
            </a:r>
            <a:r>
              <a:rPr lang="en-US" altLang="ru-RU" sz="2800">
                <a:latin typeface="Times New Roman" panose="02020603050405020304" pitchFamily="18" charset="0"/>
              </a:rPr>
              <a:t>n</a:t>
            </a:r>
            <a:r>
              <a:rPr lang="ru-RU" altLang="ru-RU" sz="2800">
                <a:latin typeface="Times New Roman" panose="02020603050405020304" pitchFamily="18" charset="0"/>
              </a:rPr>
              <a:t> исполнителями.</a:t>
            </a:r>
          </a:p>
          <a:p>
            <a:r>
              <a:rPr lang="ru-RU" altLang="ru-RU" sz="2800">
                <a:latin typeface="Times New Roman" panose="02020603050405020304" pitchFamily="18" charset="0"/>
              </a:rPr>
              <a:t>Пусть </a:t>
            </a:r>
            <a:r>
              <a:rPr lang="en-US" altLang="ru-RU" sz="2800">
                <a:latin typeface="Times New Roman" panose="02020603050405020304" pitchFamily="18" charset="0"/>
              </a:rPr>
              <a:t>Cij</a:t>
            </a:r>
            <a:r>
              <a:rPr lang="ru-RU" altLang="ru-RU" sz="2800">
                <a:latin typeface="Times New Roman" panose="02020603050405020304" pitchFamily="18" charset="0"/>
              </a:rPr>
              <a:t> – производительность </a:t>
            </a:r>
            <a:r>
              <a:rPr lang="en-US" altLang="ru-RU" sz="2800">
                <a:latin typeface="Times New Roman" panose="02020603050405020304" pitchFamily="18" charset="0"/>
              </a:rPr>
              <a:t>j</a:t>
            </a:r>
            <a:r>
              <a:rPr lang="ru-RU" altLang="ru-RU" sz="2800">
                <a:latin typeface="Times New Roman" panose="02020603050405020304" pitchFamily="18" charset="0"/>
              </a:rPr>
              <a:t>-исполнителя на </a:t>
            </a:r>
            <a:r>
              <a:rPr lang="en-US" altLang="ru-RU" sz="2800">
                <a:latin typeface="Times New Roman" panose="02020603050405020304" pitchFamily="18" charset="0"/>
              </a:rPr>
              <a:t>i</a:t>
            </a:r>
            <a:r>
              <a:rPr lang="ru-RU" altLang="ru-RU" sz="2800">
                <a:latin typeface="Times New Roman" panose="02020603050405020304" pitchFamily="18" charset="0"/>
              </a:rPr>
              <a:t>-работе</a:t>
            </a:r>
          </a:p>
          <a:p>
            <a:r>
              <a:rPr lang="ru-RU" altLang="ru-RU" sz="2800">
                <a:latin typeface="Times New Roman" panose="02020603050405020304" pitchFamily="18" charset="0"/>
              </a:rPr>
              <a:t>Введем переменную </a:t>
            </a:r>
            <a:r>
              <a:rPr lang="en-US" altLang="ru-RU" sz="2800">
                <a:latin typeface="Times New Roman" panose="02020603050405020304" pitchFamily="18" charset="0"/>
              </a:rPr>
              <a:t>Xij</a:t>
            </a:r>
            <a:r>
              <a:rPr lang="ru-RU" altLang="ru-RU" sz="2800">
                <a:latin typeface="Times New Roman" panose="02020603050405020304" pitchFamily="18" charset="0"/>
              </a:rPr>
              <a:t>, которая равна 1, если на </a:t>
            </a:r>
            <a:r>
              <a:rPr lang="en-US" altLang="ru-RU" sz="2800">
                <a:latin typeface="Times New Roman" panose="02020603050405020304" pitchFamily="18" charset="0"/>
              </a:rPr>
              <a:t>i</a:t>
            </a:r>
            <a:r>
              <a:rPr lang="ru-RU" altLang="ru-RU" sz="2800">
                <a:latin typeface="Times New Roman" panose="02020603050405020304" pitchFamily="18" charset="0"/>
              </a:rPr>
              <a:t>-работу назначен </a:t>
            </a:r>
            <a:r>
              <a:rPr lang="en-US" altLang="ru-RU" sz="2800">
                <a:latin typeface="Times New Roman" panose="02020603050405020304" pitchFamily="18" charset="0"/>
              </a:rPr>
              <a:t>j </a:t>
            </a:r>
            <a:r>
              <a:rPr lang="ru-RU" altLang="ru-RU" sz="2800">
                <a:latin typeface="Times New Roman" panose="02020603050405020304" pitchFamily="18" charset="0"/>
              </a:rPr>
              <a:t>исполнитель, иначе 0</a:t>
            </a:r>
          </a:p>
          <a:p>
            <a:endParaRPr lang="en-US" altLang="ru-RU" sz="2800">
              <a:latin typeface="Times New Roman" panose="02020603050405020304" pitchFamily="18" charset="0"/>
            </a:endParaRPr>
          </a:p>
          <a:p>
            <a:endParaRPr lang="en-US" altLang="ru-RU" sz="2800"/>
          </a:p>
          <a:p>
            <a:endParaRPr lang="ru-RU" altLang="ru-RU" sz="280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noFill/>
        </p:spPr>
        <p:txBody>
          <a:bodyPr anchor="ctr"/>
          <a:lstStyle>
            <a:lvl1pPr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FA5538AC-2F5E-4532-8A80-2C2B9FB3AEE4}" type="slidenum">
              <a:rPr lang="ru-RU" altLang="ru-RU" sz="1200">
                <a:solidFill>
                  <a:srgbClr val="898989"/>
                </a:solidFill>
                <a:latin typeface="Calibri" panose="020F0502020204030204" pitchFamily="34" charset="0"/>
              </a:rPr>
              <a:pPr algn="r" eaLnBrk="1" hangingPunct="1"/>
              <a:t>3</a:t>
            </a:fld>
            <a:endParaRPr lang="ru-RU" altLang="ru-RU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2050" name="Object 3"/>
          <p:cNvGraphicFramePr>
            <a:graphicFrameLocks noChangeAspect="1"/>
          </p:cNvGraphicFramePr>
          <p:nvPr/>
        </p:nvGraphicFramePr>
        <p:xfrm>
          <a:off x="1311275" y="3714750"/>
          <a:ext cx="6664325" cy="200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Формула" r:id="rId3" imgW="2717640" imgH="799920" progId="Equation.3">
                  <p:embed/>
                </p:oleObj>
              </mc:Choice>
              <mc:Fallback>
                <p:oleObj name="Формула" r:id="rId3" imgW="2717640" imgH="79992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1275" y="3714750"/>
                        <a:ext cx="6664325" cy="200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Заголовок 1"/>
          <p:cNvSpPr>
            <a:spLocks noGrp="1"/>
          </p:cNvSpPr>
          <p:nvPr>
            <p:ph type="title" idx="4294967295"/>
          </p:nvPr>
        </p:nvSpPr>
        <p:spPr>
          <a:xfrm>
            <a:off x="428625" y="357188"/>
            <a:ext cx="8229600" cy="714375"/>
          </a:xfrm>
        </p:spPr>
        <p:txBody>
          <a:bodyPr anchor="ctr"/>
          <a:lstStyle/>
          <a:p>
            <a:r>
              <a:rPr lang="ru-RU" altLang="ru-RU" sz="2800">
                <a:solidFill>
                  <a:schemeClr val="accent2"/>
                </a:solidFill>
                <a:latin typeface="Times New Roman" panose="02020603050405020304" pitchFamily="18" charset="0"/>
              </a:rPr>
              <a:t>Экономико-математическая модель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noFill/>
        </p:spPr>
        <p:txBody>
          <a:bodyPr anchor="ctr"/>
          <a:lstStyle>
            <a:lvl1pPr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DD94BD63-96C4-48F3-B1C5-C229EE852FD7}" type="slidenum">
              <a:rPr lang="ru-RU" altLang="ru-RU" sz="1200">
                <a:solidFill>
                  <a:srgbClr val="898989"/>
                </a:solidFill>
                <a:latin typeface="Calibri" panose="020F0502020204030204" pitchFamily="34" charset="0"/>
              </a:rPr>
              <a:pPr algn="r" eaLnBrk="1" hangingPunct="1"/>
              <a:t>4</a:t>
            </a:fld>
            <a:endParaRPr lang="ru-RU" altLang="ru-RU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3074" name="Object 6"/>
          <p:cNvGraphicFramePr>
            <a:graphicFrameLocks noGrp="1" noChangeAspect="1"/>
          </p:cNvGraphicFramePr>
          <p:nvPr>
            <p:ph idx="4294967295"/>
          </p:nvPr>
        </p:nvGraphicFramePr>
        <p:xfrm>
          <a:off x="1890713" y="1214438"/>
          <a:ext cx="4933950" cy="471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Формула" r:id="rId3" imgW="2577960" imgH="2463480" progId="Equation.3">
                  <p:embed/>
                </p:oleObj>
              </mc:Choice>
              <mc:Fallback>
                <p:oleObj name="Формула" r:id="rId3" imgW="2577960" imgH="24634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0713" y="1214438"/>
                        <a:ext cx="4933950" cy="471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Заголовок 1"/>
          <p:cNvSpPr>
            <a:spLocks noGrp="1"/>
          </p:cNvSpPr>
          <p:nvPr>
            <p:ph type="title" idx="4294967295"/>
          </p:nvPr>
        </p:nvSpPr>
        <p:spPr>
          <a:xfrm>
            <a:off x="457200" y="0"/>
            <a:ext cx="8229600" cy="500063"/>
          </a:xfrm>
        </p:spPr>
        <p:txBody>
          <a:bodyPr anchor="ctr"/>
          <a:lstStyle/>
          <a:p>
            <a:r>
              <a:rPr lang="ru-RU" altLang="ru-RU" sz="2800">
                <a:solidFill>
                  <a:srgbClr val="FF0000"/>
                </a:solidFill>
              </a:rPr>
              <a:t/>
            </a:r>
            <a:br>
              <a:rPr lang="ru-RU" altLang="ru-RU" sz="2800">
                <a:solidFill>
                  <a:srgbClr val="FF0000"/>
                </a:solidFill>
              </a:rPr>
            </a:br>
            <a:r>
              <a:rPr lang="ru-RU" altLang="ru-RU" sz="2800">
                <a:solidFill>
                  <a:srgbClr val="FF0000"/>
                </a:solidFill>
                <a:latin typeface="Times New Roman" panose="02020603050405020304" pitchFamily="18" charset="0"/>
              </a:rPr>
              <a:t>Оптимальное исследование рынка</a:t>
            </a:r>
            <a:r>
              <a:rPr lang="ru-RU" altLang="ru-RU" sz="2800">
                <a:latin typeface="Times New Roman" panose="02020603050405020304" pitchFamily="18" charset="0"/>
              </a:rPr>
              <a:t/>
            </a:r>
            <a:br>
              <a:rPr lang="ru-RU" altLang="ru-RU" sz="2800">
                <a:latin typeface="Times New Roman" panose="02020603050405020304" pitchFamily="18" charset="0"/>
              </a:rPr>
            </a:br>
            <a:endParaRPr lang="ru-RU" altLang="ru-RU" sz="2800">
              <a:latin typeface="Times New Roman" panose="02020603050405020304" pitchFamily="18" charset="0"/>
            </a:endParaRPr>
          </a:p>
        </p:txBody>
      </p:sp>
      <p:sp>
        <p:nvSpPr>
          <p:cNvPr id="16387" name="Содержимое 2"/>
          <p:cNvSpPr>
            <a:spLocks noGrp="1"/>
          </p:cNvSpPr>
          <p:nvPr>
            <p:ph idx="4294967295"/>
          </p:nvPr>
        </p:nvSpPr>
        <p:spPr>
          <a:xfrm>
            <a:off x="457200" y="908050"/>
            <a:ext cx="8229600" cy="5378450"/>
          </a:xfrm>
        </p:spPr>
        <p:txBody>
          <a:bodyPr/>
          <a:lstStyle/>
          <a:p>
            <a:r>
              <a:rPr lang="ru-RU" altLang="ru-RU" sz="2800"/>
              <a:t>	</a:t>
            </a:r>
            <a:r>
              <a:rPr lang="ru-RU" altLang="ru-RU" sz="2400">
                <a:latin typeface="Times New Roman" panose="02020603050405020304" pitchFamily="18" charset="0"/>
              </a:rPr>
              <a:t>Группе, исследующей рынок, требуется получить данные из </a:t>
            </a:r>
            <a:r>
              <a:rPr lang="en-US" altLang="ru-RU" sz="2400" b="1" i="1">
                <a:latin typeface="Times New Roman" panose="02020603050405020304" pitchFamily="18" charset="0"/>
              </a:rPr>
              <a:t>n</a:t>
            </a:r>
            <a:r>
              <a:rPr lang="ru-RU" altLang="ru-RU" sz="2400">
                <a:latin typeface="Times New Roman" panose="02020603050405020304" pitchFamily="18" charset="0"/>
              </a:rPr>
              <a:t> различных мест. В её распоряжении имеется </a:t>
            </a:r>
            <a:r>
              <a:rPr lang="en-US" altLang="ru-RU" sz="2400" b="1" i="1">
                <a:latin typeface="Times New Roman" panose="02020603050405020304" pitchFamily="18" charset="0"/>
              </a:rPr>
              <a:t>n</a:t>
            </a:r>
            <a:r>
              <a:rPr lang="en-US" altLang="ru-RU" sz="2400">
                <a:latin typeface="Times New Roman" panose="02020603050405020304" pitchFamily="18" charset="0"/>
              </a:rPr>
              <a:t> </a:t>
            </a:r>
            <a:r>
              <a:rPr lang="ru-RU" altLang="ru-RU" sz="2400">
                <a:latin typeface="Times New Roman" panose="02020603050405020304" pitchFamily="18" charset="0"/>
              </a:rPr>
              <a:t>дней, и она предполагает провести по одному дню в каждом месте, проведя по </a:t>
            </a:r>
            <a:r>
              <a:rPr lang="en-US" altLang="ru-RU" sz="2400" i="1">
                <a:latin typeface="Times New Roman" panose="02020603050405020304" pitchFamily="18" charset="0"/>
              </a:rPr>
              <a:t>a</a:t>
            </a:r>
            <a:r>
              <a:rPr lang="en-US" altLang="ru-RU" sz="2400" i="1" baseline="-25000">
                <a:latin typeface="Times New Roman" panose="02020603050405020304" pitchFamily="18" charset="0"/>
              </a:rPr>
              <a:t>j  </a:t>
            </a:r>
            <a:r>
              <a:rPr lang="ru-RU" altLang="ru-RU" sz="2400">
                <a:latin typeface="Times New Roman" panose="02020603050405020304" pitchFamily="18" charset="0"/>
              </a:rPr>
              <a:t>опросов</a:t>
            </a:r>
            <a:r>
              <a:rPr lang="en-US" altLang="ru-RU" sz="2400" i="1" baseline="-25000">
                <a:latin typeface="Times New Roman" panose="02020603050405020304" pitchFamily="18" charset="0"/>
              </a:rPr>
              <a:t> </a:t>
            </a:r>
            <a:r>
              <a:rPr lang="en-US" altLang="ru-RU" sz="2400" i="1">
                <a:latin typeface="Times New Roman" panose="02020603050405020304" pitchFamily="18" charset="0"/>
              </a:rPr>
              <a:t>,</a:t>
            </a:r>
            <a:r>
              <a:rPr lang="en-US" altLang="ru-RU" sz="2400" i="1" baseline="-25000">
                <a:latin typeface="Times New Roman" panose="02020603050405020304" pitchFamily="18" charset="0"/>
              </a:rPr>
              <a:t> </a:t>
            </a:r>
            <a:r>
              <a:rPr lang="en-US" altLang="ru-RU" sz="2400">
                <a:latin typeface="Times New Roman" panose="02020603050405020304" pitchFamily="18" charset="0"/>
              </a:rPr>
              <a:t> j=1,2,..n</a:t>
            </a:r>
            <a:r>
              <a:rPr lang="ru-RU" altLang="ru-RU" sz="2400">
                <a:latin typeface="Times New Roman" panose="02020603050405020304" pitchFamily="18" charset="0"/>
              </a:rPr>
              <a:t>. Вероятность успешного опроса в каждом месте задаётся матрицей </a:t>
            </a:r>
            <a:r>
              <a:rPr lang="en-US" altLang="ru-RU" sz="2400">
                <a:latin typeface="Times New Roman" panose="02020603050405020304" pitchFamily="18" charset="0"/>
              </a:rPr>
              <a:t>P.   </a:t>
            </a:r>
            <a:r>
              <a:rPr lang="ru-RU" altLang="ru-RU" sz="2400">
                <a:latin typeface="Times New Roman" panose="02020603050405020304" pitchFamily="18" charset="0"/>
              </a:rPr>
              <a:t>Элемент матрицы </a:t>
            </a:r>
            <a:r>
              <a:rPr lang="en-US" altLang="ru-RU" sz="2400">
                <a:latin typeface="Times New Roman" panose="02020603050405020304" pitchFamily="18" charset="0"/>
              </a:rPr>
              <a:t>Pij </a:t>
            </a:r>
            <a:r>
              <a:rPr lang="ru-RU" altLang="ru-RU" sz="2400">
                <a:latin typeface="Times New Roman" panose="02020603050405020304" pitchFamily="18" charset="0"/>
              </a:rPr>
              <a:t>характеризует  вероятность успешного опроса в течении  </a:t>
            </a:r>
            <a:r>
              <a:rPr lang="en-US" altLang="ru-RU" sz="2400">
                <a:latin typeface="Times New Roman" panose="02020603050405020304" pitchFamily="18" charset="0"/>
              </a:rPr>
              <a:t>i</a:t>
            </a:r>
            <a:r>
              <a:rPr lang="ru-RU" altLang="ru-RU" sz="2400">
                <a:latin typeface="Times New Roman" panose="02020603050405020304" pitchFamily="18" charset="0"/>
              </a:rPr>
              <a:t> –го дня в  </a:t>
            </a:r>
            <a:r>
              <a:rPr lang="en-US" altLang="ru-RU" sz="2400">
                <a:latin typeface="Times New Roman" panose="02020603050405020304" pitchFamily="18" charset="0"/>
              </a:rPr>
              <a:t>j</a:t>
            </a:r>
            <a:r>
              <a:rPr lang="ru-RU" altLang="ru-RU" sz="2400">
                <a:latin typeface="Times New Roman" panose="02020603050405020304" pitchFamily="18" charset="0"/>
              </a:rPr>
              <a:t>-м месте, </a:t>
            </a:r>
            <a:r>
              <a:rPr lang="en-US" altLang="ru-RU" sz="2400" i="1" baseline="-25000">
                <a:latin typeface="Times New Roman" panose="02020603050405020304" pitchFamily="18" charset="0"/>
              </a:rPr>
              <a:t> </a:t>
            </a:r>
            <a:r>
              <a:rPr lang="en-US" altLang="ru-RU" sz="2400">
                <a:latin typeface="Times New Roman" panose="02020603050405020304" pitchFamily="18" charset="0"/>
              </a:rPr>
              <a:t>i=1,2,..n</a:t>
            </a:r>
            <a:r>
              <a:rPr lang="ru-RU" altLang="ru-RU" sz="2400">
                <a:latin typeface="Times New Roman" panose="02020603050405020304" pitchFamily="18" charset="0"/>
              </a:rPr>
              <a:t>. </a:t>
            </a:r>
          </a:p>
          <a:p>
            <a:r>
              <a:rPr lang="ru-RU" altLang="ru-RU" sz="2400">
                <a:latin typeface="Times New Roman" panose="02020603050405020304" pitchFamily="18" charset="0"/>
              </a:rPr>
              <a:t>Определить время проведения опросов, при котором общее число опросов максимально.</a:t>
            </a:r>
          </a:p>
          <a:p>
            <a:pPr lvl="1">
              <a:buFontTx/>
              <a:buNone/>
            </a:pPr>
            <a:r>
              <a:rPr lang="ru-RU" altLang="ru-RU" sz="2400" i="1">
                <a:latin typeface="Times New Roman" panose="02020603050405020304" pitchFamily="18" charset="0"/>
              </a:rPr>
              <a:t>   Сведём данную задачу к задаче о назначениях.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noFill/>
        </p:spPr>
        <p:txBody>
          <a:bodyPr anchor="ctr"/>
          <a:lstStyle>
            <a:lvl1pPr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7BDA785B-B8DF-4891-A05C-E6D8EA7EFB59}" type="slidenum">
              <a:rPr lang="ru-RU" altLang="ru-RU" sz="1200">
                <a:solidFill>
                  <a:srgbClr val="898989"/>
                </a:solidFill>
                <a:latin typeface="Calibri" panose="020F0502020204030204" pitchFamily="34" charset="0"/>
              </a:rPr>
              <a:pPr algn="r" eaLnBrk="1" hangingPunct="1"/>
              <a:t>5</a:t>
            </a:fld>
            <a:endParaRPr lang="ru-RU" altLang="ru-RU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Заголовок 1"/>
          <p:cNvSpPr>
            <a:spLocks noGrp="1"/>
          </p:cNvSpPr>
          <p:nvPr>
            <p:ph type="title" idx="4294967295"/>
          </p:nvPr>
        </p:nvSpPr>
        <p:spPr>
          <a:xfrm>
            <a:off x="685800" y="152400"/>
            <a:ext cx="6870700" cy="1216025"/>
          </a:xfrm>
        </p:spPr>
        <p:txBody>
          <a:bodyPr anchor="ctr"/>
          <a:lstStyle/>
          <a:p>
            <a:pPr algn="l"/>
            <a:r>
              <a:rPr lang="ru-RU" altLang="ru-RU" sz="2400">
                <a:latin typeface="Times New Roman" panose="02020603050405020304" pitchFamily="18" charset="0"/>
              </a:rPr>
              <a:t>Введём величину </a:t>
            </a:r>
            <a:r>
              <a:rPr lang="en-US" altLang="ru-RU" sz="2400">
                <a:latin typeface="Times New Roman" panose="02020603050405020304" pitchFamily="18" charset="0"/>
              </a:rPr>
              <a:t>r</a:t>
            </a:r>
            <a:r>
              <a:rPr lang="en-US" altLang="ru-RU" sz="2400" baseline="-25000">
                <a:latin typeface="Times New Roman" panose="02020603050405020304" pitchFamily="18" charset="0"/>
              </a:rPr>
              <a:t>ij</a:t>
            </a:r>
            <a:r>
              <a:rPr lang="en-US" altLang="ru-RU" sz="2400">
                <a:latin typeface="Times New Roman" panose="02020603050405020304" pitchFamily="18" charset="0"/>
              </a:rPr>
              <a:t>=p</a:t>
            </a:r>
            <a:r>
              <a:rPr lang="en-US" altLang="ru-RU" sz="2400" baseline="-25000">
                <a:latin typeface="Times New Roman" panose="02020603050405020304" pitchFamily="18" charset="0"/>
              </a:rPr>
              <a:t>ij</a:t>
            </a:r>
            <a:r>
              <a:rPr lang="en-US" altLang="ru-RU" sz="2400">
                <a:latin typeface="Times New Roman" panose="02020603050405020304" pitchFamily="18" charset="0"/>
              </a:rPr>
              <a:t>* </a:t>
            </a:r>
            <a:r>
              <a:rPr lang="en-US" altLang="ru-RU" sz="2400" i="1">
                <a:latin typeface="Times New Roman" panose="02020603050405020304" pitchFamily="18" charset="0"/>
              </a:rPr>
              <a:t>a</a:t>
            </a:r>
            <a:r>
              <a:rPr lang="en-US" altLang="ru-RU" sz="2400" baseline="-25000">
                <a:latin typeface="Times New Roman" panose="02020603050405020304" pitchFamily="18" charset="0"/>
              </a:rPr>
              <a:t>j </a:t>
            </a:r>
            <a:r>
              <a:rPr lang="en-US" altLang="ru-RU" sz="2400">
                <a:latin typeface="Times New Roman" panose="02020603050405020304" pitchFamily="18" charset="0"/>
              </a:rPr>
              <a:t>,</a:t>
            </a:r>
            <a:r>
              <a:rPr lang="ru-RU" altLang="ru-RU" sz="2400">
                <a:latin typeface="Times New Roman" panose="02020603050405020304" pitchFamily="18" charset="0"/>
              </a:rPr>
              <a:t> показывающую число успешных опросов в </a:t>
            </a:r>
            <a:r>
              <a:rPr lang="en-US" altLang="ru-RU" sz="2400">
                <a:latin typeface="Times New Roman" panose="02020603050405020304" pitchFamily="18" charset="0"/>
              </a:rPr>
              <a:t>j</a:t>
            </a:r>
            <a:r>
              <a:rPr lang="ru-RU" altLang="ru-RU" sz="2400">
                <a:latin typeface="Times New Roman" panose="02020603050405020304" pitchFamily="18" charset="0"/>
              </a:rPr>
              <a:t>-м месте в течение  </a:t>
            </a:r>
            <a:r>
              <a:rPr lang="en-US" altLang="ru-RU" sz="2400">
                <a:latin typeface="Times New Roman" panose="02020603050405020304" pitchFamily="18" charset="0"/>
              </a:rPr>
              <a:t>i</a:t>
            </a:r>
            <a:r>
              <a:rPr lang="ru-RU" altLang="ru-RU" sz="2400">
                <a:latin typeface="Times New Roman" panose="02020603050405020304" pitchFamily="18" charset="0"/>
              </a:rPr>
              <a:t> –го дня.</a:t>
            </a:r>
            <a:r>
              <a:rPr lang="ru-RU" altLang="ru-RU" sz="2800"/>
              <a:t>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noFill/>
        </p:spPr>
        <p:txBody>
          <a:bodyPr anchor="ctr"/>
          <a:lstStyle>
            <a:lvl1pPr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40DF3C6F-AC66-42EE-8E44-96B94C792625}" type="slidenum">
              <a:rPr lang="ru-RU" altLang="ru-RU" sz="1200">
                <a:solidFill>
                  <a:srgbClr val="898989"/>
                </a:solidFill>
                <a:latin typeface="Calibri" panose="020F0502020204030204" pitchFamily="34" charset="0"/>
              </a:rPr>
              <a:pPr algn="r" eaLnBrk="1" hangingPunct="1"/>
              <a:t>6</a:t>
            </a:fld>
            <a:endParaRPr lang="ru-RU" altLang="ru-RU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7170" name="Object 3"/>
          <p:cNvGraphicFramePr>
            <a:graphicFrameLocks noGrp="1" noChangeAspect="1"/>
          </p:cNvGraphicFramePr>
          <p:nvPr>
            <p:ph idx="4294967295"/>
          </p:nvPr>
        </p:nvGraphicFramePr>
        <p:xfrm>
          <a:off x="1514475" y="1143000"/>
          <a:ext cx="5900738" cy="571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Формула" r:id="rId3" imgW="4038480" imgH="3911400" progId="Equation.3">
                  <p:embed/>
                </p:oleObj>
              </mc:Choice>
              <mc:Fallback>
                <p:oleObj name="Формула" r:id="rId3" imgW="4038480" imgH="3911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4475" y="1143000"/>
                        <a:ext cx="5900738" cy="571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Заголовок 1"/>
          <p:cNvSpPr>
            <a:spLocks noGrp="1"/>
          </p:cNvSpPr>
          <p:nvPr>
            <p:ph type="title" idx="4294967295"/>
          </p:nvPr>
        </p:nvSpPr>
        <p:spPr>
          <a:xfrm>
            <a:off x="685800" y="368300"/>
            <a:ext cx="6715125" cy="800100"/>
          </a:xfrm>
        </p:spPr>
        <p:txBody>
          <a:bodyPr anchor="ctr"/>
          <a:lstStyle/>
          <a:p>
            <a:r>
              <a:rPr lang="ru-RU" altLang="ru-RU" sz="2400" i="1" u="sng"/>
              <a:t/>
            </a:r>
            <a:br>
              <a:rPr lang="ru-RU" altLang="ru-RU" sz="2400" i="1" u="sng"/>
            </a:br>
            <a:r>
              <a:rPr lang="ru-RU" altLang="ru-RU" sz="2800" i="1">
                <a:solidFill>
                  <a:schemeClr val="accent2"/>
                </a:solidFill>
                <a:latin typeface="Times New Roman" panose="02020603050405020304" pitchFamily="18" charset="0"/>
              </a:rPr>
              <a:t>Метод Гомори</a:t>
            </a:r>
            <a:r>
              <a:rPr lang="ru-RU" altLang="ru-RU" sz="2800">
                <a:solidFill>
                  <a:schemeClr val="accent2"/>
                </a:solidFill>
                <a:latin typeface="Times New Roman" panose="02020603050405020304" pitchFamily="18" charset="0"/>
              </a:rPr>
              <a:t/>
            </a:r>
            <a:br>
              <a:rPr lang="ru-RU" altLang="ru-RU" sz="2800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endParaRPr lang="ru-RU" altLang="ru-RU" sz="28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6" name="Содержимое 2"/>
          <p:cNvSpPr>
            <a:spLocks noGrp="1"/>
          </p:cNvSpPr>
          <p:nvPr>
            <p:ph idx="4294967295"/>
          </p:nvPr>
        </p:nvSpPr>
        <p:spPr>
          <a:xfrm>
            <a:off x="457200" y="1268413"/>
            <a:ext cx="8229600" cy="4857750"/>
          </a:xfrm>
        </p:spPr>
        <p:txBody>
          <a:bodyPr/>
          <a:lstStyle/>
          <a:p>
            <a:r>
              <a:rPr lang="ru-RU" altLang="ru-RU" sz="2400" dirty="0">
                <a:latin typeface="Times New Roman" panose="02020603050405020304" pitchFamily="18" charset="0"/>
              </a:rPr>
              <a:t>1. Используя симплекс-метод, находим оптимальное решение задачи без учёта требования </a:t>
            </a:r>
            <a:r>
              <a:rPr lang="ru-RU" altLang="ru-RU" sz="2400" dirty="0" err="1">
                <a:latin typeface="Times New Roman" panose="02020603050405020304" pitchFamily="18" charset="0"/>
              </a:rPr>
              <a:t>целочисленности</a:t>
            </a:r>
            <a:r>
              <a:rPr lang="ru-RU" altLang="ru-RU" sz="2400" dirty="0">
                <a:latin typeface="Times New Roman" panose="02020603050405020304" pitchFamily="18" charset="0"/>
              </a:rPr>
              <a:t>.</a:t>
            </a:r>
          </a:p>
          <a:p>
            <a:r>
              <a:rPr lang="ru-RU" altLang="ru-RU" sz="2400" dirty="0">
                <a:latin typeface="Times New Roman" panose="02020603050405020304" pitchFamily="18" charset="0"/>
              </a:rPr>
              <a:t>2. Если есть нецелые числа в оптимальном плане, то выбираем среди них решение с наибольшей дробной частью и рассматриваем соответствующую  ему строку  симплекс-таблицы.</a:t>
            </a:r>
          </a:p>
          <a:p>
            <a:r>
              <a:rPr lang="ru-RU" altLang="ru-RU" sz="2400" dirty="0">
                <a:latin typeface="Times New Roman" panose="02020603050405020304" pitchFamily="18" charset="0"/>
              </a:rPr>
              <a:t>Допустим,  это строка с номером </a:t>
            </a:r>
            <a:r>
              <a:rPr lang="en-US" altLang="ru-RU" sz="2400" dirty="0" smtClean="0">
                <a:latin typeface="Times New Roman" panose="02020603050405020304" pitchFamily="18" charset="0"/>
              </a:rPr>
              <a:t>l. </a:t>
            </a:r>
            <a:endParaRPr lang="en-US" altLang="ru-RU" sz="2400" dirty="0">
              <a:latin typeface="Times New Roman" panose="02020603050405020304" pitchFamily="18" charset="0"/>
            </a:endParaRPr>
          </a:p>
          <a:p>
            <a:r>
              <a:rPr lang="ru-RU" altLang="ru-RU" sz="2800" dirty="0">
                <a:latin typeface="Times New Roman" panose="02020603050405020304" pitchFamily="18" charset="0"/>
              </a:rPr>
              <a:t> </a:t>
            </a:r>
            <a:endParaRPr lang="ru-RU" altLang="ru-RU" dirty="0">
              <a:latin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noFill/>
        </p:spPr>
        <p:txBody>
          <a:bodyPr anchor="ctr"/>
          <a:lstStyle>
            <a:lvl1pPr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5D77DE30-6D7F-478A-B505-EDEA169B208C}" type="slidenum">
              <a:rPr lang="ru-RU" altLang="ru-RU" sz="1200">
                <a:solidFill>
                  <a:srgbClr val="898989"/>
                </a:solidFill>
                <a:latin typeface="Calibri" panose="020F0502020204030204" pitchFamily="34" charset="0"/>
              </a:rPr>
              <a:pPr algn="r" eaLnBrk="1" hangingPunct="1"/>
              <a:t>7</a:t>
            </a:fld>
            <a:endParaRPr lang="ru-RU" altLang="ru-RU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8194" name="Rectangle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6372706"/>
              </p:ext>
            </p:extLst>
          </p:nvPr>
        </p:nvGraphicFramePr>
        <p:xfrm>
          <a:off x="1366838" y="4325938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Формула" r:id="rId4" imgW="0" imgH="0" progId="Equation.3">
                  <p:embed/>
                </p:oleObj>
              </mc:Choice>
              <mc:Fallback>
                <p:oleObj name="Формула" r:id="rId4" imgW="0" imgH="0" progId="Equation.3">
                  <p:embed/>
                  <p:pic>
                    <p:nvPicPr>
                      <p:cNvPr id="0" name="Rectangle 6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6838" y="4325938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Заголовок 1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1868487"/>
          </a:xfrm>
        </p:spPr>
        <p:txBody>
          <a:bodyPr anchor="ctr"/>
          <a:lstStyle/>
          <a:p>
            <a:r>
              <a:rPr lang="ru-RU" altLang="ru-RU" sz="2800" i="1">
                <a:latin typeface="Times New Roman" panose="02020603050405020304" pitchFamily="18" charset="0"/>
              </a:rPr>
              <a:t>3. Записываем отсечение  (дополнительное ограничение), которое добавляем в симплекс-таблицу:</a:t>
            </a:r>
            <a:endParaRPr lang="ru-RU" altLang="ru-RU" sz="2800">
              <a:latin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noFill/>
        </p:spPr>
        <p:txBody>
          <a:bodyPr anchor="ctr"/>
          <a:lstStyle>
            <a:lvl1pPr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AE968FE3-4519-496F-837E-AEA5629CEB63}" type="slidenum">
              <a:rPr lang="ru-RU" altLang="ru-RU" sz="1200">
                <a:solidFill>
                  <a:srgbClr val="898989"/>
                </a:solidFill>
                <a:latin typeface="Calibri" panose="020F0502020204030204" pitchFamily="34" charset="0"/>
              </a:rPr>
              <a:pPr algn="r" eaLnBrk="1" hangingPunct="1"/>
              <a:t>8</a:t>
            </a:fld>
            <a:endParaRPr lang="ru-RU" altLang="ru-RU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18" name="Содержимое 4"/>
              <p:cNvSpPr txBox="1">
                <a:spLocks noGrp="1"/>
              </p:cNvSpPr>
              <p:nvPr>
                <p:ph idx="4294967295"/>
              </p:nvPr>
            </p:nvSpPr>
            <p:spPr bwMode="auto">
              <a:xfrm>
                <a:off x="1327150" y="2555875"/>
                <a:ext cx="6146800" cy="179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ru-RU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/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d>
                        <m:dPr>
                          <m:begChr m:val="{"/>
                          <m:endChr m:val="}"/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/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ru-RU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_____</m:t>
                          </m:r>
                        </m:fName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∗)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218" name="Содержимое 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 bwMode="auto">
              <a:xfrm>
                <a:off x="1327150" y="2555875"/>
                <a:ext cx="6146800" cy="17907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Заголовок 1"/>
          <p:cNvSpPr>
            <a:spLocks noGrp="1"/>
          </p:cNvSpPr>
          <p:nvPr>
            <p:ph type="title" idx="4294967295"/>
          </p:nvPr>
        </p:nvSpPr>
        <p:spPr>
          <a:xfrm>
            <a:off x="285750" y="285750"/>
            <a:ext cx="8229600" cy="1428750"/>
          </a:xfrm>
        </p:spPr>
        <p:txBody>
          <a:bodyPr anchor="ctr"/>
          <a:lstStyle/>
          <a:p>
            <a:pPr algn="l"/>
            <a:r>
              <a:rPr lang="ru-RU" altLang="ru-RU" sz="2800" dirty="0">
                <a:latin typeface="Times New Roman" panose="02020603050405020304" pitchFamily="18" charset="0"/>
              </a:rPr>
              <a:t>4.  Используя  двухэтапный симплексный метод , находим оптимальное решение, возвращаемся к пункту 2.</a:t>
            </a:r>
          </a:p>
        </p:txBody>
      </p:sp>
      <p:sp>
        <p:nvSpPr>
          <p:cNvPr id="17411" name="Содержимое 2"/>
          <p:cNvSpPr>
            <a:spLocks noGrp="1"/>
          </p:cNvSpPr>
          <p:nvPr>
            <p:ph idx="4294967295"/>
          </p:nvPr>
        </p:nvSpPr>
        <p:spPr>
          <a:xfrm>
            <a:off x="457200" y="1785938"/>
            <a:ext cx="8229600" cy="4500562"/>
          </a:xfrm>
        </p:spPr>
        <p:txBody>
          <a:bodyPr/>
          <a:lstStyle/>
          <a:p>
            <a:r>
              <a:rPr lang="ru-RU" altLang="ru-RU" sz="2800" dirty="0">
                <a:latin typeface="Times New Roman" panose="02020603050405020304" pitchFamily="18" charset="0"/>
              </a:rPr>
              <a:t>Пример.</a:t>
            </a:r>
          </a:p>
          <a:p>
            <a:r>
              <a:rPr lang="en-US" altLang="ru-RU" sz="2800" dirty="0">
                <a:latin typeface="Times New Roman" panose="02020603050405020304" pitchFamily="18" charset="0"/>
              </a:rPr>
              <a:t>f(x</a:t>
            </a:r>
            <a:r>
              <a:rPr lang="en-US" altLang="ru-RU" sz="2800" baseline="-25000" dirty="0">
                <a:latin typeface="Times New Roman" panose="02020603050405020304" pitchFamily="18" charset="0"/>
              </a:rPr>
              <a:t>1</a:t>
            </a:r>
            <a:r>
              <a:rPr lang="en-US" altLang="ru-RU" sz="2800" dirty="0">
                <a:latin typeface="Times New Roman" panose="02020603050405020304" pitchFamily="18" charset="0"/>
              </a:rPr>
              <a:t>, x</a:t>
            </a:r>
            <a:r>
              <a:rPr lang="en-US" altLang="ru-RU" sz="2800" baseline="-25000" dirty="0">
                <a:latin typeface="Times New Roman" panose="02020603050405020304" pitchFamily="18" charset="0"/>
              </a:rPr>
              <a:t>2</a:t>
            </a:r>
            <a:r>
              <a:rPr lang="en-US" altLang="ru-RU" sz="2800" dirty="0">
                <a:latin typeface="Times New Roman" panose="02020603050405020304" pitchFamily="18" charset="0"/>
              </a:rPr>
              <a:t>)=21x</a:t>
            </a:r>
            <a:r>
              <a:rPr lang="en-US" altLang="ru-RU" sz="2800" baseline="-25000" dirty="0">
                <a:latin typeface="Times New Roman" panose="02020603050405020304" pitchFamily="18" charset="0"/>
              </a:rPr>
              <a:t>1</a:t>
            </a:r>
            <a:r>
              <a:rPr lang="en-US" altLang="ru-RU" sz="2800" dirty="0">
                <a:latin typeface="Times New Roman" panose="02020603050405020304" pitchFamily="18" charset="0"/>
              </a:rPr>
              <a:t>+10x</a:t>
            </a:r>
            <a:r>
              <a:rPr lang="en-US" altLang="ru-RU" sz="2800" baseline="-25000" dirty="0">
                <a:latin typeface="Times New Roman" panose="02020603050405020304" pitchFamily="18" charset="0"/>
              </a:rPr>
              <a:t>2 </a:t>
            </a:r>
            <a:r>
              <a:rPr lang="en-US" altLang="ru-RU" sz="2800" dirty="0">
                <a:latin typeface="Times New Roman" panose="02020603050405020304" pitchFamily="18" charset="0"/>
              </a:rPr>
              <a:t>→max</a:t>
            </a:r>
          </a:p>
          <a:p>
            <a:r>
              <a:rPr lang="en-US" altLang="ru-RU" sz="2800" dirty="0">
                <a:latin typeface="Times New Roman" panose="02020603050405020304" pitchFamily="18" charset="0"/>
              </a:rPr>
              <a:t>7x</a:t>
            </a:r>
            <a:r>
              <a:rPr lang="en-US" altLang="ru-RU" sz="2800" baseline="-25000" dirty="0">
                <a:latin typeface="Times New Roman" panose="02020603050405020304" pitchFamily="18" charset="0"/>
              </a:rPr>
              <a:t>1</a:t>
            </a:r>
            <a:r>
              <a:rPr lang="en-US" altLang="ru-RU" sz="2800" dirty="0">
                <a:latin typeface="Times New Roman" panose="02020603050405020304" pitchFamily="18" charset="0"/>
              </a:rPr>
              <a:t>+4x</a:t>
            </a:r>
            <a:r>
              <a:rPr lang="en-US" altLang="ru-RU" sz="2800" baseline="-25000" dirty="0">
                <a:latin typeface="Times New Roman" panose="02020603050405020304" pitchFamily="18" charset="0"/>
              </a:rPr>
              <a:t>2</a:t>
            </a:r>
            <a:r>
              <a:rPr lang="en-US" altLang="ru-RU" sz="2800" dirty="0">
                <a:latin typeface="Times New Roman" panose="02020603050405020304" pitchFamily="18" charset="0"/>
              </a:rPr>
              <a:t>≤13</a:t>
            </a:r>
          </a:p>
          <a:p>
            <a:r>
              <a:rPr lang="en-US" altLang="ru-RU" sz="2800" dirty="0">
                <a:latin typeface="Times New Roman" panose="02020603050405020304" pitchFamily="18" charset="0"/>
              </a:rPr>
              <a:t>x</a:t>
            </a:r>
            <a:r>
              <a:rPr lang="en-US" altLang="ru-RU" sz="2800" baseline="-25000" dirty="0">
                <a:latin typeface="Times New Roman" panose="02020603050405020304" pitchFamily="18" charset="0"/>
              </a:rPr>
              <a:t>1</a:t>
            </a:r>
            <a:r>
              <a:rPr lang="en-US" altLang="ru-RU" sz="2800" dirty="0">
                <a:latin typeface="Times New Roman" panose="02020603050405020304" pitchFamily="18" charset="0"/>
              </a:rPr>
              <a:t>≥ 0, x</a:t>
            </a:r>
            <a:r>
              <a:rPr lang="en-US" altLang="ru-RU" sz="2800" baseline="-25000" dirty="0">
                <a:latin typeface="Times New Roman" panose="02020603050405020304" pitchFamily="18" charset="0"/>
              </a:rPr>
              <a:t>2</a:t>
            </a:r>
            <a:r>
              <a:rPr lang="en-US" altLang="ru-RU" sz="2800" dirty="0">
                <a:latin typeface="Times New Roman" panose="02020603050405020304" pitchFamily="18" charset="0"/>
              </a:rPr>
              <a:t>≥ 0</a:t>
            </a:r>
            <a:endParaRPr lang="ru-RU" altLang="ru-RU" sz="2800" dirty="0">
              <a:latin typeface="Times New Roman" panose="02020603050405020304" pitchFamily="18" charset="0"/>
            </a:endParaRPr>
          </a:p>
          <a:p>
            <a:endParaRPr lang="ru-RU" altLang="ru-RU" sz="2800" dirty="0">
              <a:latin typeface="Times New Roman" panose="02020603050405020304" pitchFamily="18" charset="0"/>
            </a:endParaRPr>
          </a:p>
          <a:p>
            <a:endParaRPr lang="ru-RU" altLang="ru-RU" sz="28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noFill/>
        </p:spPr>
        <p:txBody>
          <a:bodyPr anchor="ctr"/>
          <a:lstStyle>
            <a:lvl1pPr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D7F7B0B4-3E54-4395-BDD0-A429E9847CAE}" type="slidenum">
              <a:rPr lang="ru-RU" altLang="ru-RU" sz="1200">
                <a:solidFill>
                  <a:srgbClr val="898989"/>
                </a:solidFill>
                <a:latin typeface="Calibri" panose="020F0502020204030204" pitchFamily="34" charset="0"/>
              </a:rPr>
              <a:pPr algn="r" eaLnBrk="1" hangingPunct="1"/>
              <a:t>9</a:t>
            </a:fld>
            <a:endParaRPr lang="ru-RU" altLang="ru-RU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774637"/>
              </p:ext>
            </p:extLst>
          </p:nvPr>
        </p:nvGraphicFramePr>
        <p:xfrm>
          <a:off x="1352550" y="4149080"/>
          <a:ext cx="6096000" cy="1954213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18428055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1672277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06672468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96072125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05482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59680399"/>
                    </a:ext>
                  </a:extLst>
                </a:gridCol>
              </a:tblGrid>
              <a:tr h="749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Базис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С</a:t>
                      </a:r>
                      <a:r>
                        <a:rPr kumimoji="0" lang="en-US" alt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i(</a:t>
                      </a:r>
                      <a:r>
                        <a:rPr kumimoji="0" lang="ru-RU" alt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баз)</a:t>
                      </a:r>
                      <a:endParaRPr kumimoji="0" lang="ru-RU" altLang="ru-RU" sz="1800" b="1" i="0" u="none" strike="noStrike" cap="none" normalizeH="0" baseline="-2500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Опор </a:t>
                      </a:r>
                      <a:r>
                        <a:rPr kumimoji="0" lang="ru-RU" altLang="ru-RU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пл</a:t>
                      </a:r>
                      <a:endParaRPr kumimoji="0" lang="ru-RU" altLang="ru-RU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А</a:t>
                      </a:r>
                      <a:r>
                        <a:rPr kumimoji="0" lang="ru-RU" altLang="ru-RU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kumimoji="0" lang="ru-RU" altLang="ru-RU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А</a:t>
                      </a:r>
                      <a:r>
                        <a:rPr kumimoji="0" lang="ru-RU" altLang="ru-RU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kumimoji="0" lang="ru-RU" altLang="ru-RU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А</a:t>
                      </a:r>
                      <a:r>
                        <a:rPr kumimoji="0" lang="ru-RU" altLang="ru-RU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kumimoji="0" lang="ru-RU" altLang="ru-RU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259247"/>
                  </a:ext>
                </a:extLst>
              </a:tr>
              <a:tr h="6032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А</a:t>
                      </a:r>
                      <a:r>
                        <a:rPr kumimoji="0" lang="ru-RU" altLang="ru-RU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471399"/>
                  </a:ext>
                </a:extLst>
              </a:tr>
              <a:tr h="6016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-1</a:t>
                      </a: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281100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Заголовок 1"/>
          <p:cNvSpPr>
            <a:spLocks noGrp="1"/>
          </p:cNvSpPr>
          <p:nvPr>
            <p:ph type="title" idx="4294967295"/>
          </p:nvPr>
        </p:nvSpPr>
        <p:spPr>
          <a:xfrm>
            <a:off x="457200" y="428625"/>
            <a:ext cx="8229600" cy="2857500"/>
          </a:xfrm>
        </p:spPr>
        <p:txBody>
          <a:bodyPr anchor="ctr"/>
          <a:lstStyle/>
          <a:p>
            <a:endParaRPr lang="ru-RU" altLang="ru-RU" sz="2800" baseline="-2500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noFill/>
        </p:spPr>
        <p:txBody>
          <a:bodyPr anchor="ctr"/>
          <a:lstStyle>
            <a:lvl1pPr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9C827E94-DC1C-44DD-9F45-1E7E70AF57A2}" type="slidenum">
              <a:rPr lang="ru-RU" altLang="ru-RU" sz="1200">
                <a:solidFill>
                  <a:srgbClr val="898989"/>
                </a:solidFill>
                <a:latin typeface="Calibri" panose="020F0502020204030204" pitchFamily="34" charset="0"/>
              </a:rPr>
              <a:pPr algn="r" eaLnBrk="1" hangingPunct="1"/>
              <a:t>10</a:t>
            </a:fld>
            <a:endParaRPr lang="ru-RU" altLang="ru-RU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0245" name="Прямоугольник 3"/>
          <p:cNvSpPr>
            <a:spLocks noChangeArrowheads="1"/>
          </p:cNvSpPr>
          <p:nvPr/>
        </p:nvSpPr>
        <p:spPr bwMode="auto">
          <a:xfrm>
            <a:off x="714375" y="3143250"/>
            <a:ext cx="7858125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endParaRPr lang="ru-RU" altLang="ru-RU" sz="2800"/>
          </a:p>
          <a:p>
            <a:pPr eaLnBrk="1" hangingPunct="1">
              <a:lnSpc>
                <a:spcPct val="80000"/>
              </a:lnSpc>
            </a:pPr>
            <a:endParaRPr lang="ru-RU" altLang="ru-RU" sz="2800"/>
          </a:p>
          <a:p>
            <a:pPr eaLnBrk="1" hangingPunct="1">
              <a:lnSpc>
                <a:spcPct val="80000"/>
              </a:lnSpc>
            </a:pPr>
            <a:r>
              <a:rPr lang="ru-RU" altLang="ru-RU" sz="2800"/>
              <a:t> </a:t>
            </a:r>
            <a:endParaRPr lang="ru-RU" altLang="ru-RU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010017"/>
              </p:ext>
            </p:extLst>
          </p:nvPr>
        </p:nvGraphicFramePr>
        <p:xfrm>
          <a:off x="1043608" y="571500"/>
          <a:ext cx="6576392" cy="2428875"/>
        </p:xfrm>
        <a:graphic>
          <a:graphicData uri="http://schemas.openxmlformats.org/drawingml/2006/table">
            <a:tbl>
              <a:tblPr/>
              <a:tblGrid>
                <a:gridCol w="1001092">
                  <a:extLst>
                    <a:ext uri="{9D8B030D-6E8A-4147-A177-3AD203B41FA5}">
                      <a16:colId xmlns:a16="http://schemas.microsoft.com/office/drawing/2014/main" val="84869772"/>
                    </a:ext>
                  </a:extLst>
                </a:gridCol>
                <a:gridCol w="1114425">
                  <a:extLst>
                    <a:ext uri="{9D8B030D-6E8A-4147-A177-3AD203B41FA5}">
                      <a16:colId xmlns:a16="http://schemas.microsoft.com/office/drawing/2014/main" val="2008659248"/>
                    </a:ext>
                  </a:extLst>
                </a:gridCol>
                <a:gridCol w="1116013">
                  <a:extLst>
                    <a:ext uri="{9D8B030D-6E8A-4147-A177-3AD203B41FA5}">
                      <a16:colId xmlns:a16="http://schemas.microsoft.com/office/drawing/2014/main" val="3429383680"/>
                    </a:ext>
                  </a:extLst>
                </a:gridCol>
                <a:gridCol w="1114425">
                  <a:extLst>
                    <a:ext uri="{9D8B030D-6E8A-4147-A177-3AD203B41FA5}">
                      <a16:colId xmlns:a16="http://schemas.microsoft.com/office/drawing/2014/main" val="2091036638"/>
                    </a:ext>
                  </a:extLst>
                </a:gridCol>
                <a:gridCol w="1116012">
                  <a:extLst>
                    <a:ext uri="{9D8B030D-6E8A-4147-A177-3AD203B41FA5}">
                      <a16:colId xmlns:a16="http://schemas.microsoft.com/office/drawing/2014/main" val="580733600"/>
                    </a:ext>
                  </a:extLst>
                </a:gridCol>
                <a:gridCol w="1114425">
                  <a:extLst>
                    <a:ext uri="{9D8B030D-6E8A-4147-A177-3AD203B41FA5}">
                      <a16:colId xmlns:a16="http://schemas.microsoft.com/office/drawing/2014/main" val="68400074"/>
                    </a:ext>
                  </a:extLst>
                </a:gridCol>
              </a:tblGrid>
              <a:tr h="8096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Базис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С</a:t>
                      </a:r>
                      <a:r>
                        <a:rPr kumimoji="0" lang="en-US" altLang="ru-RU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kumimoji="0" lang="ru-RU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баз)</a:t>
                      </a:r>
                      <a:endParaRPr kumimoji="0" lang="ru-RU" altLang="ru-RU" sz="1800" b="1" i="0" u="none" strike="noStrike" cap="none" normalizeH="0" baseline="-2500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Опор </a:t>
                      </a:r>
                      <a:r>
                        <a:rPr kumimoji="0" lang="ru-RU" altLang="ru-RU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пл</a:t>
                      </a:r>
                      <a:endParaRPr kumimoji="0" lang="ru-RU" altLang="ru-RU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А</a:t>
                      </a:r>
                      <a:r>
                        <a:rPr kumimoji="0" lang="ru-RU" altLang="ru-RU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kumimoji="0" lang="ru-RU" altLang="ru-RU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А</a:t>
                      </a:r>
                      <a:r>
                        <a:rPr kumimoji="0" lang="ru-RU" altLang="ru-RU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kumimoji="0" lang="ru-RU" altLang="ru-RU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А</a:t>
                      </a:r>
                      <a:r>
                        <a:rPr kumimoji="0" lang="ru-RU" altLang="ru-RU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kumimoji="0" lang="ru-RU" altLang="ru-RU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319459"/>
                  </a:ext>
                </a:extLst>
              </a:tr>
              <a:tr h="8096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А</a:t>
                      </a:r>
                      <a:r>
                        <a:rPr kumimoji="0" lang="ru-RU" altLang="ru-RU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</a:t>
                      </a: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/7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/7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/7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123701"/>
                  </a:ext>
                </a:extLst>
              </a:tr>
              <a:tr h="8096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39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2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kumimoji="0" lang="ru-RU" alt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0661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242" name="Содержимое 4"/>
              <p:cNvSpPr txBox="1"/>
              <p:nvPr/>
            </p:nvSpPr>
            <p:spPr bwMode="auto">
              <a:xfrm>
                <a:off x="2357438" y="3643313"/>
                <a:ext cx="4143375" cy="20399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d>
                        <m:dPr>
                          <m:begChr m:val="{"/>
                          <m:endChr m:val="}"/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num>
                            <m:den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f>
                        <m:f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242" name="Содержимое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57438" y="3643313"/>
                <a:ext cx="4143375" cy="20399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Заголовок 1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2868612"/>
          </a:xfrm>
        </p:spPr>
        <p:txBody>
          <a:bodyPr anchor="ctr"/>
          <a:lstStyle/>
          <a:p>
            <a:endParaRPr lang="ru-RU" altLang="ru-RU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noFill/>
        </p:spPr>
        <p:txBody>
          <a:bodyPr anchor="ctr"/>
          <a:lstStyle>
            <a:lvl1pPr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7A11685F-24A1-449D-9787-FD8473311688}" type="slidenum">
              <a:rPr lang="ru-RU" altLang="ru-RU" sz="1200">
                <a:solidFill>
                  <a:srgbClr val="898989"/>
                </a:solidFill>
                <a:latin typeface="Calibri" panose="020F0502020204030204" pitchFamily="34" charset="0"/>
              </a:rPr>
              <a:pPr algn="r" eaLnBrk="1" hangingPunct="1"/>
              <a:t>11</a:t>
            </a:fld>
            <a:endParaRPr lang="ru-RU" altLang="ru-RU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029434"/>
              </p:ext>
            </p:extLst>
          </p:nvPr>
        </p:nvGraphicFramePr>
        <p:xfrm>
          <a:off x="1071563" y="500063"/>
          <a:ext cx="7000875" cy="2571752"/>
        </p:xfrm>
        <a:graphic>
          <a:graphicData uri="http://schemas.openxmlformats.org/drawingml/2006/table">
            <a:tbl>
              <a:tblPr/>
              <a:tblGrid>
                <a:gridCol w="1000125">
                  <a:extLst>
                    <a:ext uri="{9D8B030D-6E8A-4147-A177-3AD203B41FA5}">
                      <a16:colId xmlns:a16="http://schemas.microsoft.com/office/drawing/2014/main" val="906468379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286170112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501898216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861388227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4237082624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875872186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3474933552"/>
                    </a:ext>
                  </a:extLst>
                </a:gridCol>
              </a:tblGrid>
              <a:tr h="6429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anose="030F0702030302020204" pitchFamily="66" charset="0"/>
                        </a:rPr>
                        <a:t>Базис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anose="030F0702030302020204" pitchFamily="66" charset="0"/>
                        </a:rPr>
                        <a:t>С</a:t>
                      </a:r>
                      <a:r>
                        <a:rPr kumimoji="0" lang="en-US" altLang="ru-RU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anose="030F0702030302020204" pitchFamily="66" charset="0"/>
                        </a:rPr>
                        <a:t>i</a:t>
                      </a:r>
                      <a:r>
                        <a:rPr kumimoji="0" lang="en-US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anose="030F0702030302020204" pitchFamily="66" charset="0"/>
                        </a:rPr>
                        <a:t>(</a:t>
                      </a:r>
                      <a:r>
                        <a:rPr kumimoji="0" lang="ru-RU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anose="030F0702030302020204" pitchFamily="66" charset="0"/>
                        </a:rPr>
                        <a:t>баз)</a:t>
                      </a:r>
                      <a:endParaRPr kumimoji="0" lang="ru-RU" altLang="ru-RU" sz="1800" b="1" i="0" u="none" strike="noStrike" cap="none" normalizeH="0" baseline="-2500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anose="030F0702030302020204" pitchFamily="66" charset="0"/>
                        </a:rPr>
                        <a:t>Опор </a:t>
                      </a:r>
                      <a:r>
                        <a:rPr kumimoji="0" lang="ru-RU" altLang="ru-RU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anose="030F0702030302020204" pitchFamily="66" charset="0"/>
                        </a:rPr>
                        <a:t>пл</a:t>
                      </a:r>
                      <a:endParaRPr kumimoji="0" lang="ru-RU" altLang="ru-RU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anose="030F0702030302020204" pitchFamily="66" charset="0"/>
                        </a:rPr>
                        <a:t>А</a:t>
                      </a:r>
                      <a:r>
                        <a:rPr kumimoji="0" lang="ru-RU" altLang="ru-RU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anose="030F0702030302020204" pitchFamily="66" charset="0"/>
                        </a:rPr>
                        <a:t>1</a:t>
                      </a:r>
                      <a:endParaRPr kumimoji="0" lang="ru-RU" altLang="ru-RU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anose="030F0702030302020204" pitchFamily="66" charset="0"/>
                        </a:rPr>
                        <a:t>А</a:t>
                      </a:r>
                      <a:r>
                        <a:rPr kumimoji="0" lang="ru-RU" altLang="ru-RU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anose="030F0702030302020204" pitchFamily="66" charset="0"/>
                        </a:rPr>
                        <a:t>2</a:t>
                      </a:r>
                      <a:endParaRPr kumimoji="0" lang="ru-RU" altLang="ru-RU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anose="030F0702030302020204" pitchFamily="66" charset="0"/>
                        </a:rPr>
                        <a:t>А</a:t>
                      </a:r>
                      <a:r>
                        <a:rPr kumimoji="0" lang="ru-RU" altLang="ru-RU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anose="030F0702030302020204" pitchFamily="66" charset="0"/>
                        </a:rPr>
                        <a:t>3</a:t>
                      </a:r>
                      <a:endParaRPr kumimoji="0" lang="ru-RU" altLang="ru-RU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anose="030F0702030302020204" pitchFamily="66" charset="0"/>
                        </a:rPr>
                        <a:t>А</a:t>
                      </a:r>
                      <a:r>
                        <a:rPr kumimoji="0" lang="en-US" altLang="ru-RU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anose="030F0702030302020204" pitchFamily="66" charset="0"/>
                        </a:rPr>
                        <a:t>4</a:t>
                      </a:r>
                      <a:endParaRPr kumimoji="0" lang="ru-RU" altLang="ru-RU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832059"/>
                  </a:ext>
                </a:extLst>
              </a:tr>
              <a:tr h="6429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А</a:t>
                      </a:r>
                      <a:r>
                        <a:rPr kumimoji="0" lang="ru-RU" altLang="ru-RU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1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   </a:t>
                      </a:r>
                      <a:r>
                        <a:rPr kumimoji="0" lang="ru-RU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  1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    1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    0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   0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   1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074132"/>
                  </a:ext>
                </a:extLst>
              </a:tr>
              <a:tr h="6429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А</a:t>
                      </a:r>
                      <a:r>
                        <a:rPr kumimoji="0" lang="en-US" altLang="ru-RU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2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   10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3/2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     0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    1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  1/4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  -7/4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523071"/>
                  </a:ext>
                </a:extLst>
              </a:tr>
              <a:tr h="6429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   36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      0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     0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   5/2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    7/2</a:t>
                      </a:r>
                      <a:endParaRPr kumimoji="0" lang="ru-RU" alt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932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290" name="Содержимое 4"/>
              <p:cNvSpPr txBox="1"/>
              <p:nvPr/>
            </p:nvSpPr>
            <p:spPr bwMode="auto">
              <a:xfrm>
                <a:off x="2374900" y="3643313"/>
                <a:ext cx="4106863" cy="20399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d>
                        <m:dPr>
                          <m:begChr m:val="{"/>
                          <m:endChr m:val="}"/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f>
                        <m:f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290" name="Содержимое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74900" y="3643313"/>
                <a:ext cx="4106863" cy="20399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noFill/>
        </p:spPr>
        <p:txBody>
          <a:bodyPr anchor="ctr"/>
          <a:lstStyle>
            <a:lvl1pPr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A9CD4F98-2CA2-40EE-8CFC-ED22F5536577}" type="slidenum">
              <a:rPr lang="ru-RU" altLang="ru-RU" sz="1200">
                <a:solidFill>
                  <a:srgbClr val="898989"/>
                </a:solidFill>
                <a:latin typeface="Calibri" panose="020F0502020204030204" pitchFamily="34" charset="0"/>
              </a:rPr>
              <a:pPr algn="r" eaLnBrk="1" hangingPunct="1"/>
              <a:t>12</a:t>
            </a:fld>
            <a:endParaRPr lang="ru-RU" altLang="ru-RU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913669"/>
              </p:ext>
            </p:extLst>
          </p:nvPr>
        </p:nvGraphicFramePr>
        <p:xfrm>
          <a:off x="467544" y="476672"/>
          <a:ext cx="7786688" cy="2868932"/>
        </p:xfrm>
        <a:graphic>
          <a:graphicData uri="http://schemas.openxmlformats.org/drawingml/2006/table">
            <a:tbl>
              <a:tblPr/>
              <a:tblGrid>
                <a:gridCol w="973138">
                  <a:extLst>
                    <a:ext uri="{9D8B030D-6E8A-4147-A177-3AD203B41FA5}">
                      <a16:colId xmlns:a16="http://schemas.microsoft.com/office/drawing/2014/main" val="556266000"/>
                    </a:ext>
                  </a:extLst>
                </a:gridCol>
                <a:gridCol w="973137">
                  <a:extLst>
                    <a:ext uri="{9D8B030D-6E8A-4147-A177-3AD203B41FA5}">
                      <a16:colId xmlns:a16="http://schemas.microsoft.com/office/drawing/2014/main" val="82943815"/>
                    </a:ext>
                  </a:extLst>
                </a:gridCol>
                <a:gridCol w="973138">
                  <a:extLst>
                    <a:ext uri="{9D8B030D-6E8A-4147-A177-3AD203B41FA5}">
                      <a16:colId xmlns:a16="http://schemas.microsoft.com/office/drawing/2014/main" val="718374247"/>
                    </a:ext>
                  </a:extLst>
                </a:gridCol>
                <a:gridCol w="974725">
                  <a:extLst>
                    <a:ext uri="{9D8B030D-6E8A-4147-A177-3AD203B41FA5}">
                      <a16:colId xmlns:a16="http://schemas.microsoft.com/office/drawing/2014/main" val="510399618"/>
                    </a:ext>
                  </a:extLst>
                </a:gridCol>
                <a:gridCol w="973137">
                  <a:extLst>
                    <a:ext uri="{9D8B030D-6E8A-4147-A177-3AD203B41FA5}">
                      <a16:colId xmlns:a16="http://schemas.microsoft.com/office/drawing/2014/main" val="1551419140"/>
                    </a:ext>
                  </a:extLst>
                </a:gridCol>
                <a:gridCol w="973138">
                  <a:extLst>
                    <a:ext uri="{9D8B030D-6E8A-4147-A177-3AD203B41FA5}">
                      <a16:colId xmlns:a16="http://schemas.microsoft.com/office/drawing/2014/main" val="1863250875"/>
                    </a:ext>
                  </a:extLst>
                </a:gridCol>
                <a:gridCol w="973137">
                  <a:extLst>
                    <a:ext uri="{9D8B030D-6E8A-4147-A177-3AD203B41FA5}">
                      <a16:colId xmlns:a16="http://schemas.microsoft.com/office/drawing/2014/main" val="3285239933"/>
                    </a:ext>
                  </a:extLst>
                </a:gridCol>
                <a:gridCol w="973138">
                  <a:extLst>
                    <a:ext uri="{9D8B030D-6E8A-4147-A177-3AD203B41FA5}">
                      <a16:colId xmlns:a16="http://schemas.microsoft.com/office/drawing/2014/main" val="2035718462"/>
                    </a:ext>
                  </a:extLst>
                </a:gridCol>
              </a:tblGrid>
              <a:tr h="557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Базис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С</a:t>
                      </a:r>
                      <a:r>
                        <a:rPr kumimoji="0" lang="en-US" altLang="ru-RU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kumimoji="0" lang="ru-RU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баз)</a:t>
                      </a:r>
                      <a:endParaRPr kumimoji="0" lang="ru-RU" altLang="ru-RU" sz="1800" b="1" i="0" u="none" strike="noStrike" cap="none" normalizeH="0" baseline="-2500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Опор </a:t>
                      </a:r>
                      <a:r>
                        <a:rPr kumimoji="0" lang="ru-RU" altLang="ru-RU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пл</a:t>
                      </a:r>
                      <a:endParaRPr kumimoji="0" lang="ru-RU" altLang="ru-RU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    </a:t>
                      </a:r>
                      <a:r>
                        <a:rPr kumimoji="0" lang="ru-RU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А</a:t>
                      </a:r>
                      <a:r>
                        <a:rPr kumimoji="0" lang="ru-RU" altLang="ru-RU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kumimoji="0" lang="ru-RU" altLang="ru-RU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    </a:t>
                      </a:r>
                      <a:r>
                        <a:rPr kumimoji="0" lang="ru-RU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А</a:t>
                      </a:r>
                      <a:r>
                        <a:rPr kumimoji="0" lang="ru-RU" altLang="ru-RU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kumimoji="0" lang="ru-RU" altLang="ru-RU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    </a:t>
                      </a:r>
                      <a:r>
                        <a:rPr kumimoji="0" lang="ru-RU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А</a:t>
                      </a:r>
                      <a:r>
                        <a:rPr kumimoji="0" lang="ru-RU" altLang="ru-RU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kumimoji="0" lang="ru-RU" altLang="ru-RU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kumimoji="0" lang="ru-RU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А</a:t>
                      </a:r>
                      <a:r>
                        <a:rPr kumimoji="0" lang="en-US" altLang="ru-RU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kumimoji="0" lang="ru-RU" altLang="ru-RU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kumimoji="0" lang="ru-RU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А</a:t>
                      </a:r>
                      <a:r>
                        <a:rPr kumimoji="0" lang="en-US" altLang="ru-RU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kumimoji="0" lang="ru-RU" altLang="ru-RU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443477"/>
                  </a:ext>
                </a:extLst>
              </a:tr>
              <a:tr h="557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А</a:t>
                      </a:r>
                      <a:r>
                        <a:rPr kumimoji="0" lang="ru-RU" altLang="ru-RU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kumimoji="0" lang="ru-RU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   1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0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0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0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537220"/>
                  </a:ext>
                </a:extLst>
              </a:tr>
              <a:tr h="557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А</a:t>
                      </a:r>
                      <a:r>
                        <a:rPr kumimoji="0" lang="en-US" altLang="ru-RU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10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0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    1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0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-2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469086"/>
                  </a:ext>
                </a:extLst>
              </a:tr>
              <a:tr h="557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А</a:t>
                      </a:r>
                      <a:r>
                        <a:rPr kumimoji="0" lang="en-US" altLang="ru-RU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0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2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0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0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1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1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-4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019751"/>
                  </a:ext>
                </a:extLst>
              </a:tr>
              <a:tr h="557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31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0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0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0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10</a:t>
                      </a:r>
                      <a:endParaRPr kumimoji="0" lang="ru-RU" alt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935504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500063" y="500063"/>
            <a:ext cx="8229600" cy="3571875"/>
          </a:xfrm>
        </p:spPr>
        <p:txBody>
          <a:bodyPr anchor="ctr"/>
          <a:lstStyle/>
          <a:p>
            <a:r>
              <a:rPr lang="ru-RU" altLang="ru-RU" sz="2800" dirty="0">
                <a:latin typeface="Times New Roman" panose="02020603050405020304" pitchFamily="18" charset="0"/>
              </a:rPr>
              <a:t>Ответ: </a:t>
            </a:r>
            <a:r>
              <a:rPr lang="en-US" altLang="ru-RU" sz="2800" dirty="0">
                <a:latin typeface="Times New Roman" panose="02020603050405020304" pitchFamily="18" charset="0"/>
              </a:rPr>
              <a:t>x</a:t>
            </a:r>
            <a:r>
              <a:rPr lang="en-US" altLang="ru-RU" sz="2800" baseline="-25000" dirty="0">
                <a:latin typeface="Times New Roman" panose="02020603050405020304" pitchFamily="18" charset="0"/>
              </a:rPr>
              <a:t>1</a:t>
            </a:r>
            <a:r>
              <a:rPr lang="en-US" altLang="ru-RU" sz="2800" dirty="0">
                <a:latin typeface="Times New Roman" panose="02020603050405020304" pitchFamily="18" charset="0"/>
              </a:rPr>
              <a:t>=1</a:t>
            </a:r>
            <a:br>
              <a:rPr lang="en-US" altLang="ru-RU" sz="2800" dirty="0">
                <a:latin typeface="Times New Roman" panose="02020603050405020304" pitchFamily="18" charset="0"/>
              </a:rPr>
            </a:br>
            <a:r>
              <a:rPr lang="en-US" altLang="ru-RU" sz="2800" dirty="0">
                <a:latin typeface="Times New Roman" panose="02020603050405020304" pitchFamily="18" charset="0"/>
              </a:rPr>
              <a:t>             x</a:t>
            </a:r>
            <a:r>
              <a:rPr lang="en-US" altLang="ru-RU" sz="2800" baseline="-25000" dirty="0">
                <a:latin typeface="Times New Roman" panose="02020603050405020304" pitchFamily="18" charset="0"/>
              </a:rPr>
              <a:t>2</a:t>
            </a:r>
            <a:r>
              <a:rPr lang="en-US" altLang="ru-RU" sz="2800" dirty="0">
                <a:latin typeface="Times New Roman" panose="02020603050405020304" pitchFamily="18" charset="0"/>
              </a:rPr>
              <a:t>=1</a:t>
            </a:r>
            <a:br>
              <a:rPr lang="en-US" altLang="ru-RU" sz="2800" dirty="0">
                <a:latin typeface="Times New Roman" panose="02020603050405020304" pitchFamily="18" charset="0"/>
              </a:rPr>
            </a:br>
            <a:r>
              <a:rPr lang="en-US" altLang="ru-RU" sz="2800" dirty="0">
                <a:latin typeface="Times New Roman" panose="02020603050405020304" pitchFamily="18" charset="0"/>
              </a:rPr>
              <a:t>              </a:t>
            </a:r>
            <a:br>
              <a:rPr lang="en-US" altLang="ru-RU" sz="2800" dirty="0">
                <a:latin typeface="Times New Roman" panose="02020603050405020304" pitchFamily="18" charset="0"/>
              </a:rPr>
            </a:br>
            <a:r>
              <a:rPr lang="en-US" altLang="ru-RU" sz="2800" dirty="0">
                <a:latin typeface="Times New Roman" panose="02020603050405020304" pitchFamily="18" charset="0"/>
              </a:rPr>
              <a:t>      </a:t>
            </a:r>
            <a:r>
              <a:rPr lang="en-US" altLang="ru-RU" sz="2800" dirty="0" err="1" smtClean="0">
                <a:latin typeface="Times New Roman" panose="02020603050405020304" pitchFamily="18" charset="0"/>
              </a:rPr>
              <a:t>f</a:t>
            </a:r>
            <a:r>
              <a:rPr lang="en-US" altLang="ru-RU" sz="2800" baseline="-25000" dirty="0" err="1" smtClean="0">
                <a:latin typeface="Times New Roman" panose="02020603050405020304" pitchFamily="18" charset="0"/>
              </a:rPr>
              <a:t>max</a:t>
            </a:r>
            <a:r>
              <a:rPr lang="en-US" altLang="ru-RU" sz="2800" dirty="0" smtClean="0">
                <a:latin typeface="Times New Roman" panose="02020603050405020304" pitchFamily="18" charset="0"/>
              </a:rPr>
              <a:t>=31</a:t>
            </a:r>
            <a:br>
              <a:rPr lang="en-US" altLang="ru-RU" sz="2800" dirty="0" smtClean="0">
                <a:latin typeface="Times New Roman" panose="02020603050405020304" pitchFamily="18" charset="0"/>
              </a:rPr>
            </a:br>
            <a:r>
              <a:rPr lang="en-US" altLang="ru-RU" sz="2800" dirty="0">
                <a:latin typeface="Times New Roman" panose="02020603050405020304" pitchFamily="18" charset="0"/>
              </a:rPr>
              <a:t/>
            </a:r>
            <a:br>
              <a:rPr lang="en-US" altLang="ru-RU" sz="2800" dirty="0">
                <a:latin typeface="Times New Roman" panose="02020603050405020304" pitchFamily="18" charset="0"/>
              </a:rPr>
            </a:br>
            <a:r>
              <a:rPr lang="ru-RU" altLang="ru-RU" sz="2800" dirty="0" smtClean="0">
                <a:latin typeface="Times New Roman" panose="02020603050405020304" pitchFamily="18" charset="0"/>
              </a:rPr>
              <a:t>Этот ответ не мог быть получен округлением из (13/7; 0) – точки максимума ЗЛП без требования </a:t>
            </a:r>
            <a:r>
              <a:rPr lang="ru-RU" altLang="ru-RU" sz="2800" dirty="0" err="1" smtClean="0">
                <a:latin typeface="Times New Roman" panose="02020603050405020304" pitchFamily="18" charset="0"/>
              </a:rPr>
              <a:t>целочисленности</a:t>
            </a:r>
            <a:r>
              <a:rPr lang="ru-RU" altLang="ru-RU" sz="2800" dirty="0" smtClean="0">
                <a:latin typeface="Times New Roman" panose="02020603050405020304" pitchFamily="18" charset="0"/>
              </a:rPr>
              <a:t> </a:t>
            </a:r>
            <a:endParaRPr lang="ru-RU" altLang="ru-RU" sz="2800" dirty="0">
              <a:latin typeface="Times New Roman" panose="02020603050405020304" pitchFamily="18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noFill/>
        </p:spPr>
        <p:txBody>
          <a:bodyPr anchor="ctr"/>
          <a:lstStyle>
            <a:lvl1pPr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42C8F8EE-CA40-4E59-BE44-A57752B4F976}" type="slidenum">
              <a:rPr lang="ru-RU" altLang="ru-RU" sz="1200">
                <a:solidFill>
                  <a:srgbClr val="898989"/>
                </a:solidFill>
                <a:latin typeface="Calibri" panose="020F0502020204030204" pitchFamily="34" charset="0"/>
              </a:rPr>
              <a:pPr algn="r" eaLnBrk="1" hangingPunct="1"/>
              <a:t>13</a:t>
            </a:fld>
            <a:endParaRPr lang="ru-RU" altLang="ru-RU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Пастель">
  <a:themeElements>
    <a:clrScheme name="Пастель 1">
      <a:dk1>
        <a:srgbClr val="000000"/>
      </a:dk1>
      <a:lt1>
        <a:srgbClr val="FFFFFF"/>
      </a:lt1>
      <a:dk2>
        <a:srgbClr val="FF0000"/>
      </a:dk2>
      <a:lt2>
        <a:srgbClr val="FFB800"/>
      </a:lt2>
      <a:accent1>
        <a:srgbClr val="FFEF66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6B8"/>
      </a:accent5>
      <a:accent6>
        <a:srgbClr val="000000"/>
      </a:accent6>
      <a:hlink>
        <a:srgbClr val="00B200"/>
      </a:hlink>
      <a:folHlink>
        <a:srgbClr val="703DFF"/>
      </a:folHlink>
    </a:clrScheme>
    <a:fontScheme name="Пастель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Пастель 1">
        <a:dk1>
          <a:srgbClr val="000000"/>
        </a:dk1>
        <a:lt1>
          <a:srgbClr val="FFFFFF"/>
        </a:lt1>
        <a:dk2>
          <a:srgbClr val="FF0000"/>
        </a:dk2>
        <a:lt2>
          <a:srgbClr val="FFB800"/>
        </a:lt2>
        <a:accent1>
          <a:srgbClr val="FFEF66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FFF6B8"/>
        </a:accent5>
        <a:accent6>
          <a:srgbClr val="000000"/>
        </a:accent6>
        <a:hlink>
          <a:srgbClr val="00B200"/>
        </a:hlink>
        <a:folHlink>
          <a:srgbClr val="703D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астель 2">
        <a:dk1>
          <a:srgbClr val="000000"/>
        </a:dk1>
        <a:lt1>
          <a:srgbClr val="FFFFFF"/>
        </a:lt1>
        <a:dk2>
          <a:srgbClr val="000000"/>
        </a:dk2>
        <a:lt2>
          <a:srgbClr val="99CCFF"/>
        </a:lt2>
        <a:accent1>
          <a:srgbClr val="CCCCFF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005C"/>
        </a:accent6>
        <a:hlink>
          <a:srgbClr val="00B200"/>
        </a:hlink>
        <a:folHlink>
          <a:srgbClr val="CCFF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астель 3">
        <a:dk1>
          <a:srgbClr val="000000"/>
        </a:dk1>
        <a:lt1>
          <a:srgbClr val="FFFFFF"/>
        </a:lt1>
        <a:dk2>
          <a:srgbClr val="000000"/>
        </a:dk2>
        <a:lt2>
          <a:srgbClr val="3399FF"/>
        </a:lt2>
        <a:accent1>
          <a:srgbClr val="CCECFF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007373"/>
        </a:accent6>
        <a:hlink>
          <a:srgbClr val="009999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астель 4">
        <a:dk1>
          <a:srgbClr val="808000"/>
        </a:dk1>
        <a:lt1>
          <a:srgbClr val="FFFFFF"/>
        </a:lt1>
        <a:dk2>
          <a:srgbClr val="336600"/>
        </a:dk2>
        <a:lt2>
          <a:srgbClr val="FFFFFF"/>
        </a:lt2>
        <a:accent1>
          <a:srgbClr val="99CC00"/>
        </a:accent1>
        <a:accent2>
          <a:srgbClr val="003300"/>
        </a:accent2>
        <a:accent3>
          <a:srgbClr val="ADB8AA"/>
        </a:accent3>
        <a:accent4>
          <a:srgbClr val="DADADA"/>
        </a:accent4>
        <a:accent5>
          <a:srgbClr val="CAE2AA"/>
        </a:accent5>
        <a:accent6>
          <a:srgbClr val="002D00"/>
        </a:accent6>
        <a:hlink>
          <a:srgbClr val="CCCC00"/>
        </a:hlink>
        <a:folHlink>
          <a:srgbClr val="CCFF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астель 5">
        <a:dk1>
          <a:srgbClr val="808080"/>
        </a:dk1>
        <a:lt1>
          <a:srgbClr val="FFFFFF"/>
        </a:lt1>
        <a:dk2>
          <a:srgbClr val="003366"/>
        </a:dk2>
        <a:lt2>
          <a:srgbClr val="CCECFF"/>
        </a:lt2>
        <a:accent1>
          <a:srgbClr val="33CCCC"/>
        </a:accent1>
        <a:accent2>
          <a:srgbClr val="006699"/>
        </a:accent2>
        <a:accent3>
          <a:srgbClr val="AAADB8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00FF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астель 6">
        <a:dk1>
          <a:srgbClr val="6666FF"/>
        </a:dk1>
        <a:lt1>
          <a:srgbClr val="FFFFFF"/>
        </a:lt1>
        <a:dk2>
          <a:srgbClr val="000066"/>
        </a:dk2>
        <a:lt2>
          <a:srgbClr val="FFFFFF"/>
        </a:lt2>
        <a:accent1>
          <a:srgbClr val="33CCFF"/>
        </a:accent1>
        <a:accent2>
          <a:srgbClr val="0000FF"/>
        </a:accent2>
        <a:accent3>
          <a:srgbClr val="AAAAB8"/>
        </a:accent3>
        <a:accent4>
          <a:srgbClr val="DADADA"/>
        </a:accent4>
        <a:accent5>
          <a:srgbClr val="ADE2FF"/>
        </a:accent5>
        <a:accent6>
          <a:srgbClr val="0000E7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астель 7">
        <a:dk1>
          <a:srgbClr val="000000"/>
        </a:dk1>
        <a:lt1>
          <a:srgbClr val="FFFFFF"/>
        </a:lt1>
        <a:dk2>
          <a:srgbClr val="800080"/>
        </a:dk2>
        <a:lt2>
          <a:srgbClr val="FFFFFF"/>
        </a:lt2>
        <a:accent1>
          <a:srgbClr val="CC66FF"/>
        </a:accent1>
        <a:accent2>
          <a:srgbClr val="990099"/>
        </a:accent2>
        <a:accent3>
          <a:srgbClr val="C0AAC0"/>
        </a:accent3>
        <a:accent4>
          <a:srgbClr val="DADADA"/>
        </a:accent4>
        <a:accent5>
          <a:srgbClr val="E2B8FF"/>
        </a:accent5>
        <a:accent6>
          <a:srgbClr val="8A008A"/>
        </a:accent6>
        <a:hlink>
          <a:srgbClr val="FF9900"/>
        </a:hlink>
        <a:folHlink>
          <a:srgbClr val="FF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астель 8">
        <a:dk1>
          <a:srgbClr val="FF3300"/>
        </a:dk1>
        <a:lt1>
          <a:srgbClr val="FFFFFF"/>
        </a:lt1>
        <a:dk2>
          <a:srgbClr val="800000"/>
        </a:dk2>
        <a:lt2>
          <a:srgbClr val="FFFFCC"/>
        </a:lt2>
        <a:accent1>
          <a:srgbClr val="FF7C80"/>
        </a:accent1>
        <a:accent2>
          <a:srgbClr val="990000"/>
        </a:accent2>
        <a:accent3>
          <a:srgbClr val="C0AAAA"/>
        </a:accent3>
        <a:accent4>
          <a:srgbClr val="DADADA"/>
        </a:accent4>
        <a:accent5>
          <a:srgbClr val="FFBFC0"/>
        </a:accent5>
        <a:accent6>
          <a:srgbClr val="8A0000"/>
        </a:accent6>
        <a:hlink>
          <a:srgbClr val="FF66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70B0AEA32E65E94995565B0B65EA5F29" ma:contentTypeVersion="4" ma:contentTypeDescription="Создание документа." ma:contentTypeScope="" ma:versionID="7c965ccae3a1f444781a71e656121271">
  <xsd:schema xmlns:xsd="http://www.w3.org/2001/XMLSchema" xmlns:xs="http://www.w3.org/2001/XMLSchema" xmlns:p="http://schemas.microsoft.com/office/2006/metadata/properties" xmlns:ns2="22acfdec-9ce1-4ae7-873a-8b443fedbaba" targetNamespace="http://schemas.microsoft.com/office/2006/metadata/properties" ma:root="true" ma:fieldsID="4270dc9ca96dc443d20df5ea72ba1a94" ns2:_="">
    <xsd:import namespace="22acfdec-9ce1-4ae7-873a-8b443fedba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acfdec-9ce1-4ae7-873a-8b443fedba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34DD166-F69C-42B7-8B20-3C76448A21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acfdec-9ce1-4ae7-873a-8b443fedba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CDFBE21-F06A-4A10-8253-E2207F94D51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7A79C6-60E4-4FE8-B454-7C7EB4B105B3}">
  <ds:schemaRefs>
    <ds:schemaRef ds:uri="http://purl.org/dc/terms/"/>
    <ds:schemaRef ds:uri="http://schemas.openxmlformats.org/package/2006/metadata/core-properties"/>
    <ds:schemaRef ds:uri="1031b800-467b-4d06-9f1c-d9121b56614e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Crayons</Template>
  <TotalTime>1230</TotalTime>
  <Words>824</Words>
  <PresentationFormat>Экран (4:3)</PresentationFormat>
  <Paragraphs>148</Paragraphs>
  <Slides>13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Calibri</vt:lpstr>
      <vt:lpstr>Cambria Math</vt:lpstr>
      <vt:lpstr>Comic Sans MS</vt:lpstr>
      <vt:lpstr>Times New Roman</vt:lpstr>
      <vt:lpstr>Пастель</vt:lpstr>
      <vt:lpstr>Формула</vt:lpstr>
      <vt:lpstr>Целочисленное программирование</vt:lpstr>
      <vt:lpstr> Задачи  ЦЛП </vt:lpstr>
      <vt:lpstr>Задача о назначениях</vt:lpstr>
      <vt:lpstr>Экономико-математическая модель</vt:lpstr>
      <vt:lpstr> Оптимальное исследование рынка </vt:lpstr>
      <vt:lpstr>Введём величину rij=pij* aj , показывающую число успешных опросов в j-м месте в течение  i –го дня. </vt:lpstr>
      <vt:lpstr> Метод Гомори </vt:lpstr>
      <vt:lpstr>3. Записываем отсечение  (дополнительное ограничение), которое добавляем в симплекс-таблицу:</vt:lpstr>
      <vt:lpstr>4.  Используя  двухэтапный симплексный метод , находим оптимальное решение, возвращаемся к пункту 2.</vt:lpstr>
      <vt:lpstr>Презентация PowerPoint</vt:lpstr>
      <vt:lpstr>Презентация PowerPoint</vt:lpstr>
      <vt:lpstr>Презентация PowerPoint</vt:lpstr>
      <vt:lpstr>Ответ: x1=1              x2=1                      fmax=31  Этот ответ не мог быть получен округлением из (13/7; 0) – точки максимума ЗЛП без требования целочисленности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2009-10-20T18:28:48Z</dcterms:created>
  <dcterms:modified xsi:type="dcterms:W3CDTF">2025-10-21T12:06:06Z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0x0101006096BBC370779A4B8AB4A607029A77D9</vt:lpwstr>
  </property>
  <property fmtid="{D5CDD505-2E9C-101B-9397-08002B2CF9AE}" pid="3" name="MediaServiceImageTags">
    <vt:lpwstr/>
  </property>
</Properties>
</file>