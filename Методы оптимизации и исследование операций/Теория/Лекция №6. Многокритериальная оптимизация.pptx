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5"/>
  </p:notesMasterIdLst>
  <p:handoutMasterIdLst>
    <p:handoutMasterId r:id="rId26"/>
  </p:handoutMasterIdLst>
  <p:sldIdLst>
    <p:sldId id="257" r:id="rId2"/>
    <p:sldId id="259" r:id="rId3"/>
    <p:sldId id="260" r:id="rId4"/>
    <p:sldId id="261" r:id="rId5"/>
    <p:sldId id="264" r:id="rId6"/>
    <p:sldId id="262" r:id="rId7"/>
    <p:sldId id="263" r:id="rId8"/>
    <p:sldId id="265" r:id="rId9"/>
    <p:sldId id="266" r:id="rId10"/>
    <p:sldId id="280" r:id="rId11"/>
    <p:sldId id="267" r:id="rId12"/>
    <p:sldId id="271" r:id="rId13"/>
    <p:sldId id="272" r:id="rId14"/>
    <p:sldId id="273" r:id="rId15"/>
    <p:sldId id="274" r:id="rId16"/>
    <p:sldId id="277" r:id="rId17"/>
    <p:sldId id="276" r:id="rId18"/>
    <p:sldId id="275" r:id="rId19"/>
    <p:sldId id="278" r:id="rId20"/>
    <p:sldId id="279" r:id="rId21"/>
    <p:sldId id="268" r:id="rId22"/>
    <p:sldId id="269" r:id="rId23"/>
    <p:sldId id="270" r:id="rId2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F2607F-EAB8-462D-9596-B11A1C51125F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0EC31D-9C0F-4EDB-9AC9-93AE84D7514D}" type="datetime1">
              <a:rPr lang="ru-RU" smtClean="0"/>
              <a:t>28.10.2024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48E6C3-8E12-426B-A56F-861F8B162AC6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40FCE8-CB6C-4798-845F-C8260D76B307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C13A7E-4C64-47B0-B355-B165BE4012BA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1CA3B4-5CE4-4976-BBFE-4E91C7258FC5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 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316041-DA7D-4734-AA8C-761AB09393E2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92EF8B-D3DF-4216-96A1-1B1DE794B37A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09563768-3096-48CB-A41A-8D454362CCAD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0088EE-0E82-4198-BDFF-3B9755AA8919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323C2A-FDF4-456A-A556-14045268B55D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D5CFD7-CC7C-49C5-B221-A9E29F5846A0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6B9E6FA-8E94-487D-81C3-7EE9BB2FD23D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Прямоуголь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Прямоуголь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961337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ru-RU" sz="4000" dirty="0"/>
              <a:t>Многокритериальная оптимизация</a:t>
            </a:r>
            <a:endParaRPr lang="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ru" dirty="0"/>
              <a:t>Методы составления рейтингов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Рисунок 5" descr="Крупный план логотипа&#10;&#10;Автоматически созданное описание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8E65F1-7536-4FA2-BF7B-D90732E3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4461"/>
          </a:xfrm>
        </p:spPr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156DFF-FF94-43C9-9A6F-E1BC763CC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63" y="1487424"/>
            <a:ext cx="11029615" cy="3634486"/>
          </a:xfrm>
        </p:spPr>
        <p:txBody>
          <a:bodyPr>
            <a:normAutofit/>
          </a:bodyPr>
          <a:lstStyle/>
          <a:p>
            <a:r>
              <a:rPr lang="ru-RU" sz="2800" dirty="0"/>
              <a:t>Многокритериальная оптимизация — это процесс одновременной оптимизации </a:t>
            </a:r>
            <a:r>
              <a:rPr lang="ru-RU" sz="2800" b="1" dirty="0"/>
              <a:t>двух или более конфликтующих целевых функций </a:t>
            </a:r>
            <a:r>
              <a:rPr lang="ru-RU" sz="2800" dirty="0"/>
              <a:t>в заданной области определения. </a:t>
            </a:r>
          </a:p>
          <a:p>
            <a:r>
              <a:rPr lang="ru-RU" sz="2800" dirty="0"/>
              <a:t>Задачи многокритериальной оптимизации встречаются во многих областях науки, техники и экономики.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1D5F1B-BD70-460A-B411-F88D2DFD2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289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4A9FE-638F-410B-BEA9-528DAE19E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447375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литературный 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40776F-8547-4C51-83DB-62A083E2D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346" y="1301845"/>
            <a:ext cx="8728271" cy="3962400"/>
          </a:xfrm>
        </p:spPr>
        <p:txBody>
          <a:bodyPr>
            <a:normAutofit/>
          </a:bodyPr>
          <a:lstStyle/>
          <a:p>
            <a:r>
              <a:rPr lang="ru-RU" sz="2800" dirty="0"/>
              <a:t>“Если бы губы Никанора Ивановича да приставить </a:t>
            </a:r>
            <a:br>
              <a:rPr lang="ru-RU" sz="2800" dirty="0"/>
            </a:br>
            <a:r>
              <a:rPr lang="ru-RU" sz="2800" dirty="0"/>
              <a:t>к носу Ивана Кузьмича, да взять сколько-нибудь развязности, какая у </a:t>
            </a:r>
            <a:r>
              <a:rPr lang="ru-RU" sz="2800" dirty="0" err="1"/>
              <a:t>Балтазара</a:t>
            </a:r>
            <a:r>
              <a:rPr lang="ru-RU" sz="2800" dirty="0"/>
              <a:t> </a:t>
            </a:r>
            <a:r>
              <a:rPr lang="ru-RU" sz="2800" dirty="0" err="1"/>
              <a:t>Балтазарыча</a:t>
            </a:r>
            <a:r>
              <a:rPr lang="ru-RU" sz="2800" dirty="0"/>
              <a:t>, </a:t>
            </a:r>
            <a:br>
              <a:rPr lang="ru-RU" sz="2800" dirty="0"/>
            </a:br>
            <a:r>
              <a:rPr lang="ru-RU" sz="2800" dirty="0"/>
              <a:t>да, пожалуй, прибавить к этому еще дородности Ивана Павловича — я бы тогда тотчас же решилась.”</a:t>
            </a:r>
          </a:p>
          <a:p>
            <a:pPr marL="0" indent="0" algn="r">
              <a:buNone/>
            </a:pPr>
            <a:r>
              <a:rPr lang="ru-RU" sz="2000" dirty="0">
                <a:solidFill>
                  <a:srgbClr val="0070C0"/>
                </a:solidFill>
              </a:rPr>
              <a:t>персонаж Агафья Тихоновна, Н.В. Гоголь «Женитьба»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3CE793-7FBA-40F8-98FD-A19FFDBCF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31CD6EA-18F1-4670-8944-798AB2B3D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350" y="1149531"/>
            <a:ext cx="281940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17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543E9-09BD-45DD-B777-B726D907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47673"/>
          </a:xfrm>
        </p:spPr>
        <p:txBody>
          <a:bodyPr/>
          <a:lstStyle/>
          <a:p>
            <a:r>
              <a:rPr lang="ru-RU" dirty="0"/>
              <a:t>Практический пример – выбор автомобиля для  покупки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2C53E1-32AE-45CE-A2AC-5A75CC809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5007428"/>
            <a:ext cx="11029615" cy="967921"/>
          </a:xfrm>
        </p:spPr>
        <p:txBody>
          <a:bodyPr>
            <a:normAutofit fontScale="92500" lnSpcReduction="20000"/>
          </a:bodyPr>
          <a:lstStyle/>
          <a:p>
            <a:r>
              <a:rPr lang="ru-RU" sz="3200" dirty="0"/>
              <a:t>Какой автомобиль выбрать, чтобы он был мощным, недорогим, с малым расходом топлива? 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532851-374B-4FC2-A001-661C85C5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3D4945E-C013-4E17-A25D-3191EE152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1" y="1673225"/>
            <a:ext cx="852487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730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D227E1-1373-4DB7-8063-AC2342914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73798"/>
          </a:xfrm>
        </p:spPr>
        <p:txBody>
          <a:bodyPr/>
          <a:lstStyle/>
          <a:p>
            <a:r>
              <a:rPr lang="ru-RU" dirty="0"/>
              <a:t>Задача многокритериальной оптимизации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112288-E8A8-4752-886F-F890E76CF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895" y="1470006"/>
            <a:ext cx="11029615" cy="1177400"/>
          </a:xfrm>
        </p:spPr>
        <p:txBody>
          <a:bodyPr>
            <a:normAutofit/>
          </a:bodyPr>
          <a:lstStyle/>
          <a:p>
            <a:r>
              <a:rPr lang="ru-RU" sz="2400" dirty="0"/>
              <a:t>Требуется найти минимум для набора из </a:t>
            </a:r>
            <a:r>
              <a:rPr lang="en-US" sz="2400" i="1" dirty="0"/>
              <a:t>p</a:t>
            </a:r>
            <a:r>
              <a:rPr lang="en-US" sz="2400" dirty="0"/>
              <a:t> </a:t>
            </a:r>
            <a:r>
              <a:rPr lang="ru-RU" sz="2400" dirty="0"/>
              <a:t>функций в пространстве решений Х: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BEAF2F-9FE4-4A3B-9105-EE6BF61A3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49316A-291B-4091-9ACE-AA69CE997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509" y="2647406"/>
            <a:ext cx="2884442" cy="113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90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858A28E-9D67-4FF5-B4E4-E463AB375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47" y="1165207"/>
            <a:ext cx="11029615" cy="3634486"/>
          </a:xfrm>
        </p:spPr>
        <p:txBody>
          <a:bodyPr>
            <a:normAutofit/>
          </a:bodyPr>
          <a:lstStyle/>
          <a:p>
            <a:r>
              <a:rPr lang="ru-RU" sz="3200" dirty="0">
                <a:effectLst/>
                <a:ea typeface="Times New Roman" panose="02020603050405020304" pitchFamily="18" charset="0"/>
              </a:rPr>
              <a:t>Принятие решения в таких ситуациях можно осуществить, опираясь на мнение экспертов, на свой прошлый опыт </a:t>
            </a:r>
            <a:br>
              <a:rPr lang="ru-RU" sz="3200" dirty="0">
                <a:effectLst/>
                <a:ea typeface="Times New Roman" panose="02020603050405020304" pitchFamily="18" charset="0"/>
              </a:rPr>
            </a:br>
            <a:r>
              <a:rPr lang="ru-RU" sz="3200" dirty="0">
                <a:effectLst/>
                <a:ea typeface="Times New Roman" panose="02020603050405020304" pitchFamily="18" charset="0"/>
              </a:rPr>
              <a:t>и т. п. </a:t>
            </a:r>
          </a:p>
          <a:p>
            <a:r>
              <a:rPr lang="ru-RU" sz="3200" dirty="0">
                <a:effectLst/>
                <a:ea typeface="Times New Roman" panose="02020603050405020304" pitchFamily="18" charset="0"/>
              </a:rPr>
              <a:t>А можно применить </a:t>
            </a:r>
            <a:r>
              <a:rPr lang="ru-RU" sz="3200" b="1" dirty="0">
                <a:effectLst/>
                <a:ea typeface="Times New Roman" panose="02020603050405020304" pitchFamily="18" charset="0"/>
              </a:rPr>
              <a:t>математические методы</a:t>
            </a:r>
            <a:r>
              <a:rPr lang="ru-RU" sz="3200" dirty="0">
                <a:effectLst/>
                <a:ea typeface="Times New Roman" panose="02020603050405020304" pitchFamily="18" charset="0"/>
              </a:rPr>
              <a:t>, позволяющие для каждого объекта вычислить итоговый балл, и на его основе составить рейтинг объектов. </a:t>
            </a:r>
            <a:endParaRPr lang="ru-RU" sz="28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3E1295-B015-4B11-9D28-ADD1E7EC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099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D4B15-A26A-4E86-9AA6-04A20547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98" y="588944"/>
            <a:ext cx="11029616" cy="682507"/>
          </a:xfrm>
        </p:spPr>
        <p:txBody>
          <a:bodyPr/>
          <a:lstStyle/>
          <a:p>
            <a:r>
              <a:rPr lang="ru-RU" dirty="0"/>
              <a:t>Понятие рейтинга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19BCF5-02A9-40FA-A167-A35770A2E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692" y="1311664"/>
            <a:ext cx="11713027" cy="5294812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ru-RU" sz="2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Рейтинги как инструмент систематизации данных, отражающих положение и перспективы предприятия, продукта или персоны в конкурентной среде, становятся все более и более популярными.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ru-RU" sz="2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 то же время именно рейтинги вызывали и продолжают вызывать споры и столкновение мнений, особенно заинтересованных сторон.</a:t>
            </a:r>
            <a:endParaRPr lang="ru-RU" sz="2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ru-RU" sz="2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Современный словарь иностранных слов определяет рейтинг как «</a:t>
            </a:r>
            <a:r>
              <a:rPr lang="ru-RU" sz="2600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индивидуальный числовой показатель оценки популярности, авторитета, лица, организации, группы их деятельности, программ, планов в определённое время</a:t>
            </a:r>
            <a:r>
              <a:rPr lang="ru-RU" sz="2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».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ru-RU" sz="2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Под рейтингом также понимают </a:t>
            </a:r>
            <a:r>
              <a:rPr lang="ru-RU" sz="2600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список объектов, упорядоченных по величине одного или нескольких показателей (факторов).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ru-RU" sz="2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Рейтинги, оценивающие объекты в разные периоды времени, позволят оценить динамику изменений, что тоже очень важно. Знание методик составления рейтингов позволит  избежать многих ошибок при составлении рейтинга, а также понять, насколько конкретному рейтинговому продукту можно доверять. 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BED9D1-05F8-4116-A18A-1B15384D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9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1AD7B-5CC5-40B0-A8B2-BFD366E76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25753"/>
          </a:xfrm>
        </p:spPr>
        <p:txBody>
          <a:bodyPr/>
          <a:lstStyle/>
          <a:p>
            <a:r>
              <a:rPr lang="ru-RU" dirty="0"/>
              <a:t>Методика составления рейтингов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7D0BF3-D81B-46C8-8BE1-00B34A867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0B4076C7-2F6F-4B21-AE89-3E565C14D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954" y="156667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6" name="Group 1">
            <a:extLst>
              <a:ext uri="{FF2B5EF4-FFF2-40B4-BE49-F238E27FC236}">
                <a16:creationId xmlns:a16="http://schemas.microsoft.com/office/drawing/2014/main" id="{D040FF09-D91B-4C4F-AC6C-64FE6B58BAC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76535" y="1794637"/>
            <a:ext cx="9451890" cy="2880995"/>
            <a:chOff x="1235" y="177"/>
            <a:chExt cx="9289" cy="4537"/>
          </a:xfrm>
        </p:grpSpPr>
        <p:sp>
          <p:nvSpPr>
            <p:cNvPr id="7" name="AutoShape 16">
              <a:extLst>
                <a:ext uri="{FF2B5EF4-FFF2-40B4-BE49-F238E27FC236}">
                  <a16:creationId xmlns:a16="http://schemas.microsoft.com/office/drawing/2014/main" id="{D48CD3B4-B2D1-494A-A2FB-C643A58D76B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452" y="394"/>
              <a:ext cx="9072" cy="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" name="Rectangle 15">
              <a:extLst>
                <a:ext uri="{FF2B5EF4-FFF2-40B4-BE49-F238E27FC236}">
                  <a16:creationId xmlns:a16="http://schemas.microsoft.com/office/drawing/2014/main" id="{7E49BC6E-A756-4100-AB84-1D7126798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5" y="177"/>
              <a:ext cx="2935" cy="11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Решение подготовить рейтинг</a:t>
              </a:r>
              <a:endPara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A52DBC68-333A-419A-8BED-48675A274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2194"/>
              <a:ext cx="180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Постановка задачи</a:t>
              </a:r>
              <a:endPara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13">
              <a:extLst>
                <a:ext uri="{FF2B5EF4-FFF2-40B4-BE49-F238E27FC236}">
                  <a16:creationId xmlns:a16="http://schemas.microsoft.com/office/drawing/2014/main" id="{7F708F17-1E9C-4DB7-AE9F-159DA6F80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2194"/>
              <a:ext cx="180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Выбор критериев</a:t>
              </a:r>
              <a:endPara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0B07118E-5DD4-43EF-B3C2-54B740AB4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1" y="1474"/>
              <a:ext cx="198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Сбор информации</a:t>
              </a:r>
              <a:endPara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83D7D4-2B50-40B1-8C84-850A0F099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1" y="2734"/>
              <a:ext cx="198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Расстановка весов</a:t>
              </a:r>
              <a:endPara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C4922336-84F3-449C-AF4A-C23EB0985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0" y="2194"/>
              <a:ext cx="198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Обработка информации</a:t>
              </a:r>
              <a:endPara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DB85AB2D-C61C-48AF-A28F-75E4A0D93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0" y="3661"/>
              <a:ext cx="216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Обнародование результатов</a:t>
              </a:r>
              <a:endPara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AutoShape 8">
              <a:extLst>
                <a:ext uri="{FF2B5EF4-FFF2-40B4-BE49-F238E27FC236}">
                  <a16:creationId xmlns:a16="http://schemas.microsoft.com/office/drawing/2014/main" id="{5E5AB0E9-5E09-4AE1-9F4C-7BF7E48898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71" y="1294"/>
              <a:ext cx="45" cy="9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" name="AutoShape 7">
              <a:extLst>
                <a:ext uri="{FF2B5EF4-FFF2-40B4-BE49-F238E27FC236}">
                  <a16:creationId xmlns:a16="http://schemas.microsoft.com/office/drawing/2014/main" id="{CFCE5F33-38D1-4B1D-8205-90DDED6284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1" y="2644"/>
              <a:ext cx="27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AutoShape 6">
              <a:extLst>
                <a:ext uri="{FF2B5EF4-FFF2-40B4-BE49-F238E27FC236}">
                  <a16:creationId xmlns:a16="http://schemas.microsoft.com/office/drawing/2014/main" id="{B1E4580B-C83C-4255-8E0A-04DD70E651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41" y="1924"/>
              <a:ext cx="270" cy="7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" name="AutoShape 5">
              <a:extLst>
                <a:ext uri="{FF2B5EF4-FFF2-40B4-BE49-F238E27FC236}">
                  <a16:creationId xmlns:a16="http://schemas.microsoft.com/office/drawing/2014/main" id="{95656D36-6B25-46B0-B239-92FC919D3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1" y="2644"/>
              <a:ext cx="270" cy="5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" name="AutoShape 4">
              <a:extLst>
                <a:ext uri="{FF2B5EF4-FFF2-40B4-BE49-F238E27FC236}">
                  <a16:creationId xmlns:a16="http://schemas.microsoft.com/office/drawing/2014/main" id="{910E122F-9C08-4739-BDB7-2DBC00C52E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1" y="1924"/>
              <a:ext cx="359" cy="7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" name="AutoShape 3">
              <a:extLst>
                <a:ext uri="{FF2B5EF4-FFF2-40B4-BE49-F238E27FC236}">
                  <a16:creationId xmlns:a16="http://schemas.microsoft.com/office/drawing/2014/main" id="{7736C4D7-FBC1-4E32-853A-124519FAF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91" y="2644"/>
              <a:ext cx="359" cy="5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F2E364DC-226B-4E6C-8F94-1809D1DE1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0" y="3094"/>
              <a:ext cx="1" cy="5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023920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35B165-F122-4192-9B6F-5A3595C3F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855" y="624128"/>
            <a:ext cx="11029616" cy="517044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этапы составления рейтингов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B613F3-CC43-49D1-A6CE-71B551A03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76" y="1141172"/>
            <a:ext cx="11750144" cy="57168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i="0" dirty="0">
                <a:solidFill>
                  <a:srgbClr val="646464"/>
                </a:solidFill>
                <a:effectLst/>
              </a:rPr>
              <a:t>1. Постановка задачи. </a:t>
            </a:r>
            <a:r>
              <a:rPr lang="ru-RU" b="0" i="0" dirty="0">
                <a:solidFill>
                  <a:srgbClr val="646464"/>
                </a:solidFill>
                <a:effectLst/>
              </a:rPr>
              <a:t>Прежде чем приступать к составлению рейтинга, нужно не только знать, какие объекты в него войдут, но и понимать, с какой целью конкретный рейтинговый продукт будет использован - от этого в немалой степени зависит выбор методики.</a:t>
            </a:r>
          </a:p>
          <a:p>
            <a:pPr marL="0" indent="0" algn="just">
              <a:buNone/>
            </a:pPr>
            <a:r>
              <a:rPr lang="ru-RU" b="1" i="0" dirty="0">
                <a:solidFill>
                  <a:srgbClr val="646464"/>
                </a:solidFill>
                <a:effectLst/>
              </a:rPr>
              <a:t>2. Определение важнейших параметров, характеризующих объект. </a:t>
            </a:r>
            <a:r>
              <a:rPr lang="ru-RU" b="0" i="0" dirty="0">
                <a:solidFill>
                  <a:srgbClr val="646464"/>
                </a:solidFill>
                <a:effectLst/>
              </a:rPr>
              <a:t>Двумя основными способами такого определения являются: а) экспертные оценки; б) опрос целевой аудитории (людей, являющихся непосредственными потребителями товаров / услуг, предлагаемых объектами рейтинге).</a:t>
            </a:r>
          </a:p>
          <a:p>
            <a:pPr marL="0" indent="0" algn="just">
              <a:buNone/>
            </a:pPr>
            <a:r>
              <a:rPr lang="ru-RU" b="1" i="0" dirty="0">
                <a:solidFill>
                  <a:srgbClr val="646464"/>
                </a:solidFill>
                <a:effectLst/>
              </a:rPr>
              <a:t>3. Определение относительной значимости каждого параметра (весов). </a:t>
            </a:r>
            <a:r>
              <a:rPr lang="ru-RU" b="0" i="0" dirty="0">
                <a:solidFill>
                  <a:srgbClr val="646464"/>
                </a:solidFill>
                <a:effectLst/>
              </a:rPr>
              <a:t>После того как выбраны характеристики оценивания объекта, необходимо выяснить, насколько важен каждый из параметров, каков его удельный вес. Часто совокупную важность всех факторов считают единицей, а относительную значимость каждой отдельной характеристики выражают в долях единицы. </a:t>
            </a:r>
          </a:p>
          <a:p>
            <a:pPr marL="0" indent="0" algn="l">
              <a:buNone/>
            </a:pPr>
            <a:r>
              <a:rPr lang="ru-RU" b="0" i="1" dirty="0">
                <a:solidFill>
                  <a:srgbClr val="646464"/>
                </a:solidFill>
                <a:effectLst/>
              </a:rPr>
              <a:t>Способы определения удельного веса</a:t>
            </a:r>
            <a:r>
              <a:rPr lang="ru-RU" b="0" i="0" dirty="0">
                <a:solidFill>
                  <a:srgbClr val="646464"/>
                </a:solidFill>
                <a:effectLst/>
              </a:rPr>
              <a:t>: </a:t>
            </a:r>
          </a:p>
          <a:p>
            <a:r>
              <a:rPr lang="ru-RU" b="0" i="0" dirty="0">
                <a:solidFill>
                  <a:srgbClr val="646464"/>
                </a:solidFill>
                <a:effectLst/>
              </a:rPr>
              <a:t>рекомендации экспертов</a:t>
            </a:r>
          </a:p>
          <a:p>
            <a:r>
              <a:rPr lang="ru-RU" b="0" i="0" dirty="0">
                <a:solidFill>
                  <a:srgbClr val="646464"/>
                </a:solidFill>
                <a:effectLst/>
              </a:rPr>
              <a:t>опрос целевой аудитории. 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646464"/>
                </a:solidFill>
                <a:effectLst/>
              </a:rPr>
              <a:t>Например, опрошенных людей можно попросить оценить значимость каждой характеристики объекта по пяти или десятибалльной шкале, затем отдельно для каждого параметра сложить все имеющиеся оценки; наконец, разделить сумму на количество опрошенных, и получить среднее - удельный вес.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83FBF0-1D67-4EE7-A514-C602B2CB4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688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35B165-F122-4192-9B6F-5A3595C3F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855" y="624128"/>
            <a:ext cx="11029616" cy="517044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этапы составления рейтингов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B613F3-CC43-49D1-A6CE-71B551A03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76" y="1141172"/>
            <a:ext cx="11750144" cy="5716828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ru-RU" sz="2300" b="1" i="0" dirty="0">
                <a:solidFill>
                  <a:srgbClr val="646464"/>
                </a:solidFill>
                <a:effectLst/>
              </a:rPr>
              <a:t>4. Сбор информации</a:t>
            </a:r>
            <a:r>
              <a:rPr lang="ru-RU" sz="2300" b="0" i="0" dirty="0">
                <a:solidFill>
                  <a:srgbClr val="646464"/>
                </a:solidFill>
                <a:effectLst/>
              </a:rPr>
              <a:t>. Важно – иметь надежные источники достоверной информации.</a:t>
            </a:r>
          </a:p>
          <a:p>
            <a:r>
              <a:rPr lang="ru-RU" sz="2300" dirty="0">
                <a:solidFill>
                  <a:srgbClr val="646464"/>
                </a:solidFill>
              </a:rPr>
              <a:t>опросы, анкетирование (возможно анонимное);</a:t>
            </a:r>
          </a:p>
          <a:p>
            <a:r>
              <a:rPr lang="ru-RU" sz="2300" b="0" i="0" dirty="0">
                <a:solidFill>
                  <a:srgbClr val="646464"/>
                </a:solidFill>
                <a:effectLst/>
              </a:rPr>
              <a:t>анализ вторичной информации (например, данных Госкомстата);</a:t>
            </a:r>
          </a:p>
          <a:p>
            <a:r>
              <a:rPr lang="ru-RU" sz="2300" b="0" i="0" dirty="0">
                <a:solidFill>
                  <a:srgbClr val="646464"/>
                </a:solidFill>
                <a:effectLst/>
              </a:rPr>
              <a:t>эксперимент.</a:t>
            </a:r>
          </a:p>
          <a:p>
            <a:pPr marL="0" indent="0" algn="l">
              <a:buNone/>
            </a:pPr>
            <a:endParaRPr lang="ru-RU" sz="2300" b="0" i="0" dirty="0">
              <a:solidFill>
                <a:srgbClr val="646464"/>
              </a:solidFill>
              <a:effectLst/>
            </a:endParaRPr>
          </a:p>
          <a:p>
            <a:pPr marL="0" indent="0" algn="just">
              <a:buNone/>
            </a:pPr>
            <a:r>
              <a:rPr lang="ru-RU" sz="2300" b="1" i="0" dirty="0">
                <a:solidFill>
                  <a:srgbClr val="646464"/>
                </a:solidFill>
                <a:effectLst/>
              </a:rPr>
              <a:t>5. Обработка информации. </a:t>
            </a:r>
          </a:p>
          <a:p>
            <a:pPr algn="just"/>
            <a:r>
              <a:rPr lang="ru-RU" sz="2300" b="0" i="0" dirty="0">
                <a:solidFill>
                  <a:srgbClr val="646464"/>
                </a:solidFill>
                <a:effectLst/>
              </a:rPr>
              <a:t>определение итоговых показателей для каждого объекта рейтингования (сначала выбрать способ расчета итогового балла);</a:t>
            </a:r>
          </a:p>
          <a:p>
            <a:pPr algn="just"/>
            <a:r>
              <a:rPr lang="ru-RU" sz="2300" b="0" i="0" dirty="0">
                <a:solidFill>
                  <a:srgbClr val="646464"/>
                </a:solidFill>
                <a:effectLst/>
              </a:rPr>
              <a:t>ранжирование объектов от лучшего к худшему.</a:t>
            </a:r>
          </a:p>
          <a:p>
            <a:pPr marL="0" indent="0" algn="l">
              <a:buNone/>
            </a:pPr>
            <a:endParaRPr lang="ru-RU" sz="2300" b="0" i="0" dirty="0">
              <a:solidFill>
                <a:srgbClr val="646464"/>
              </a:solidFill>
              <a:effectLst/>
            </a:endParaRPr>
          </a:p>
          <a:p>
            <a:pPr marL="0" indent="0" algn="l">
              <a:buNone/>
            </a:pPr>
            <a:r>
              <a:rPr lang="ru-RU" sz="2300" b="1" i="0" dirty="0">
                <a:solidFill>
                  <a:srgbClr val="646464"/>
                </a:solidFill>
                <a:effectLst/>
              </a:rPr>
              <a:t>6. Обнародование результатов. </a:t>
            </a:r>
            <a:r>
              <a:rPr lang="ru-RU" sz="2300" b="0" i="0" dirty="0">
                <a:solidFill>
                  <a:srgbClr val="646464"/>
                </a:solidFill>
                <a:effectLst/>
              </a:rPr>
              <a:t>Здесь возможны три варианта: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0" i="0" dirty="0">
                <a:solidFill>
                  <a:srgbClr val="646464"/>
                </a:solidFill>
                <a:effectLst/>
              </a:rPr>
              <a:t>o (очень редко встречается) </a:t>
            </a:r>
            <a:r>
              <a:rPr lang="ru-RU" sz="2300" dirty="0">
                <a:solidFill>
                  <a:srgbClr val="646464"/>
                </a:solidFill>
              </a:rPr>
              <a:t>выложить </a:t>
            </a:r>
            <a:r>
              <a:rPr lang="ru-RU" sz="2300" b="0" i="0" dirty="0">
                <a:solidFill>
                  <a:srgbClr val="646464"/>
                </a:solidFill>
                <a:effectLst/>
              </a:rPr>
              <a:t>и сам рейтинг, и методику его составления, и однофакторный рейтинг по каждому из параметров.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0" i="0" dirty="0">
                <a:solidFill>
                  <a:srgbClr val="646464"/>
                </a:solidFill>
                <a:effectLst/>
              </a:rPr>
              <a:t>o (самый распространенный) привести только рейтинговые позиции и числовые показатели по каждому параметру для каждого из объектов рейтингования.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0" i="0" dirty="0">
                <a:solidFill>
                  <a:srgbClr val="646464"/>
                </a:solidFill>
                <a:effectLst/>
              </a:rPr>
              <a:t>o (если методика достаточно сомнительная) привести верхнюю часть рейтинга без указания конкретного места объектов рейтингования.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83FBF0-1D67-4EE7-A514-C602B2CB4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28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892AF-1229-4883-95CB-1E4316EA2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46479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Пример: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6DF248-FC26-472B-8695-DD66279A9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020" y="1166949"/>
            <a:ext cx="11029615" cy="1733005"/>
          </a:xfrm>
        </p:spPr>
        <p:txBody>
          <a:bodyPr/>
          <a:lstStyle/>
          <a:p>
            <a:r>
              <a:rPr lang="ru-RU" sz="2400" dirty="0">
                <a:effectLst/>
                <a:ea typeface="Times New Roman" panose="02020603050405020304" pitchFamily="18" charset="0"/>
              </a:rPr>
              <a:t>Имеется информация о трёх производственных линиях (см. таблицу 1). </a:t>
            </a:r>
          </a:p>
          <a:p>
            <a:r>
              <a:rPr lang="ru-RU" sz="2400" dirty="0">
                <a:effectLst/>
                <a:ea typeface="Times New Roman" panose="02020603050405020304" pitchFamily="18" charset="0"/>
              </a:rPr>
              <a:t>Требуется составить рейтинг этих линий и выбрать наилучшую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1C0776-0040-4F7C-B559-4433190D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89417F6-9B7D-4DF7-95C5-60B60D2C5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31" y="2410233"/>
            <a:ext cx="10504991" cy="203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81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1DB1620-D868-49AB-8B47-ABE849BF2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604" y="747196"/>
            <a:ext cx="11029615" cy="5676718"/>
          </a:xfrm>
        </p:spPr>
        <p:txBody>
          <a:bodyPr>
            <a:normAutofit/>
          </a:bodyPr>
          <a:lstStyle/>
          <a:p>
            <a:pPr algn="just"/>
            <a:r>
              <a:rPr lang="ru-RU" sz="2000" dirty="0"/>
              <a:t>Пусть для примера первые четыре этапа выполнены: критерии выбраны (цена и энергоёмкость минимизируются, производительность и надежность – </a:t>
            </a:r>
            <a:r>
              <a:rPr lang="ru-RU" sz="2000" dirty="0" err="1"/>
              <a:t>максимизируются</a:t>
            </a:r>
            <a:r>
              <a:rPr lang="ru-RU" sz="2000" dirty="0"/>
              <a:t>), информация собрана. </a:t>
            </a:r>
          </a:p>
          <a:p>
            <a:r>
              <a:rPr lang="ru-RU" sz="2000" dirty="0"/>
              <a:t>Необходимо выполнить расстановку весов. </a:t>
            </a:r>
          </a:p>
          <a:p>
            <a:pPr algn="just"/>
            <a:r>
              <a:rPr lang="ru-RU" sz="2000" dirty="0"/>
              <a:t>Данный этап в построении рейтингов – один из самых ответственных и требующих высокой квалификации от составителей. Вместе с тем он и самый творческий.</a:t>
            </a:r>
          </a:p>
          <a:p>
            <a:pPr algn="just"/>
            <a:r>
              <a:rPr lang="ru-RU" sz="2000" dirty="0"/>
              <a:t>Необходимо выяснить, насколько важен каждый из параметров, и численно оценить его значимость. При этом часто важность всех факторов берут за единицу, а относительную значимость каждой характеристики выражают в долях единицы.</a:t>
            </a:r>
          </a:p>
          <a:p>
            <a:pPr algn="just"/>
            <a:r>
              <a:rPr lang="ru-RU" sz="2000" dirty="0"/>
              <a:t>Один из способов получить расстановку весов – обратиться к помощи </a:t>
            </a:r>
            <a:r>
              <a:rPr lang="ru-RU" sz="2000" b="1" dirty="0"/>
              <a:t>экспертов</a:t>
            </a:r>
            <a:r>
              <a:rPr lang="ru-RU" sz="2000" dirty="0"/>
              <a:t>. Второй способ – обратиться к </a:t>
            </a:r>
            <a:r>
              <a:rPr lang="ru-RU" sz="2000" b="1" dirty="0"/>
              <a:t>целевой аудитории</a:t>
            </a:r>
            <a:r>
              <a:rPr lang="ru-RU" sz="2000" dirty="0"/>
              <a:t>. Например, опрашиваемых людей можно попросить оценить значимость каждой характеристики объекта по пяти- или десятибалльной шкале, затем отдельно для каждого параметра сложить оценки, поставленные всеми опрошенными и, разделив на сумму по всем показателям, получить веса.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0425F7-2DBC-460A-999B-575741468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105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2C40C9C-E209-45CB-ACE5-D508800C8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790738"/>
            <a:ext cx="11029615" cy="1874085"/>
          </a:xfrm>
        </p:spPr>
        <p:txBody>
          <a:bodyPr>
            <a:normAutofit/>
          </a:bodyPr>
          <a:lstStyle/>
          <a:p>
            <a:r>
              <a:rPr lang="ru-RU" sz="2000" dirty="0"/>
              <a:t>Пусть с целью определения важности критериев было опрошено 5 человек. </a:t>
            </a:r>
          </a:p>
          <a:p>
            <a:r>
              <a:rPr lang="ru-RU" sz="2000" dirty="0"/>
              <a:t>Каждый критерий было предложено оценить по 10-балльной шкале (0 – совсем не важно, 10 – очень важно). Результаты опроса представлены в табл. 2.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6CEA2C-723E-49E7-B343-889F6C88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AC8791F-0099-4E65-B5C8-4CCCC0D0E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239" y="2578993"/>
            <a:ext cx="8794935" cy="376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84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3983B64-E09F-41A8-9DB2-8695ADE16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07" y="912658"/>
            <a:ext cx="11575973" cy="5392348"/>
          </a:xfrm>
        </p:spPr>
        <p:txBody>
          <a:bodyPr>
            <a:normAutofit/>
          </a:bodyPr>
          <a:lstStyle/>
          <a:p>
            <a:r>
              <a:rPr lang="ru-RU" dirty="0"/>
              <a:t>Перейдём к следующему этапу – обработке информации. Рассмотрим несколько способов начисления итогового балла.</a:t>
            </a:r>
          </a:p>
          <a:p>
            <a:r>
              <a:rPr lang="ru-RU" b="1" dirty="0">
                <a:solidFill>
                  <a:schemeClr val="accent1"/>
                </a:solidFill>
              </a:rPr>
              <a:t>Первый способ. </a:t>
            </a:r>
            <a:r>
              <a:rPr lang="ru-RU" dirty="0"/>
              <a:t>Для каждого объекта итоговое значение  вычисляется по формуле:  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 Слагаемое берётся со знаком «+», если критерий </a:t>
            </a:r>
            <a:r>
              <a:rPr lang="ru-RU" dirty="0" err="1"/>
              <a:t>максимизируется</a:t>
            </a:r>
            <a:r>
              <a:rPr lang="ru-RU" dirty="0"/>
              <a:t> при решении задачи, и со знаком «–», если критерий подлежит минимизации. Наилучшим признается объект, получивший наибольший итоговый балл.</a:t>
            </a:r>
          </a:p>
          <a:p>
            <a:r>
              <a:rPr lang="ru-RU" dirty="0"/>
              <a:t>По таблице 1 вычисляем рейтинги для каждой производственной линии:</a:t>
            </a:r>
          </a:p>
          <a:p>
            <a:pPr marL="0" indent="0" algn="ctr">
              <a:buNone/>
            </a:pPr>
            <a:r>
              <a:rPr lang="ru-RU" dirty="0"/>
              <a:t>Линия I: –50*0,24 + 30*0,31 + 6*0,27 – 2*0,18 =  –1.44</a:t>
            </a:r>
          </a:p>
          <a:p>
            <a:pPr marL="0" indent="0" algn="ctr">
              <a:buNone/>
            </a:pPr>
            <a:r>
              <a:rPr lang="ru-RU" dirty="0"/>
              <a:t>Линия II: –80*0,24 + 48*0,31 + 5*0,27 – 8*0,18 = –4.41</a:t>
            </a:r>
          </a:p>
          <a:p>
            <a:pPr marL="0" indent="0" algn="ctr">
              <a:buNone/>
            </a:pPr>
            <a:r>
              <a:rPr lang="ru-RU" dirty="0"/>
              <a:t>Линия III: –40*0,24 + 50*0,31 + 1*0,27 – 7*0,18 = 4.91</a:t>
            </a:r>
          </a:p>
          <a:p>
            <a:r>
              <a:rPr lang="ru-RU" dirty="0"/>
              <a:t>Наибольший балл получила производственная линия III, на втором месте – линия I, на третьем – линия II.</a:t>
            </a:r>
          </a:p>
          <a:p>
            <a:r>
              <a:rPr lang="ru-RU" dirty="0"/>
              <a:t>Недостаток рассмотренного способа заключается в том, что для получения итогового балла складываются величины с разными единицами измерения (например, рубли с киловаттами). Кроме того, итоговый балл зависит от единиц измерения. Поэтому составители рейтингов </a:t>
            </a:r>
            <a:r>
              <a:rPr lang="ru-RU" b="1" dirty="0"/>
              <a:t>стараются перейти к безразмерным величинам. 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A0A125-8188-47BF-A318-80991BEAD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8C44C0C-D280-43C8-A2EA-29401AAEC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96" y="1826214"/>
            <a:ext cx="3701007" cy="49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73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28852DA-E9C9-42E9-AB8C-5454159D0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55" y="729777"/>
            <a:ext cx="11029615" cy="5322679"/>
          </a:xfrm>
        </p:spPr>
        <p:txBody>
          <a:bodyPr>
            <a:normAutofit fontScale="85000" lnSpcReduction="20000"/>
          </a:bodyPr>
          <a:lstStyle/>
          <a:p>
            <a:r>
              <a:rPr lang="ru-RU" sz="2600" dirty="0"/>
              <a:t>Рассмотрим другой способ начисления рейтингового балла.</a:t>
            </a:r>
          </a:p>
          <a:p>
            <a:r>
              <a:rPr lang="ru-RU" sz="2600" dirty="0"/>
              <a:t>Составляется вспомогательная таблица. </a:t>
            </a:r>
          </a:p>
          <a:p>
            <a:r>
              <a:rPr lang="ru-RU" sz="2600" dirty="0"/>
              <a:t>Для критериев, подлежащих максимизации, новые значения вычисляются по формуле  </a:t>
            </a:r>
          </a:p>
          <a:p>
            <a:endParaRPr lang="ru-RU" sz="2600" dirty="0"/>
          </a:p>
          <a:p>
            <a:r>
              <a:rPr lang="ru-RU" sz="2600" dirty="0"/>
              <a:t>Для критериев, подлежащих минимизации, новые значения вычисляются по формуле</a:t>
            </a:r>
          </a:p>
          <a:p>
            <a:endParaRPr lang="ru-RU" sz="2600" dirty="0"/>
          </a:p>
          <a:p>
            <a:endParaRPr lang="ru-RU" sz="2600" dirty="0"/>
          </a:p>
          <a:p>
            <a:r>
              <a:rPr lang="ru-RU" sz="2600" dirty="0"/>
              <a:t>В каждом столбце вспомогательной таблицы наилучшему значению соответствует максимальное число,  наихудшему – минимальное. </a:t>
            </a:r>
          </a:p>
          <a:p>
            <a:r>
              <a:rPr lang="ru-RU" sz="2600" dirty="0"/>
              <a:t>Таким образом, все критерии во вспомогательной таблице  </a:t>
            </a:r>
            <a:r>
              <a:rPr lang="ru-RU" sz="2600" dirty="0" err="1"/>
              <a:t>максимизируются</a:t>
            </a:r>
            <a:r>
              <a:rPr lang="ru-RU" sz="2600" dirty="0"/>
              <a:t>. Итоговый балл вычисляется с учётом весов. Наилучшим признается объект, получивший наибольший итоговый балл 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9A8041-CFF7-48BD-8605-9F7ED3F9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7DC5BB0-B5BA-4E5A-A8F8-55730DD2C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2019980"/>
            <a:ext cx="1229342" cy="55775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BF3FDD-7BD5-4F23-9F92-CB11252A4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740" y="3041429"/>
            <a:ext cx="1814106" cy="60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079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4B75DD1-A003-44E5-AF4B-69ED5D03E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052" y="3753394"/>
            <a:ext cx="11253756" cy="28956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000" dirty="0"/>
              <a:t>Наибольший балл получила производственная линия I, на втором месте – линия II, на третьем – линия III.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000" dirty="0"/>
              <a:t>Недостатком данного способа является то, что лучшее значение в столбцах с максимизацией критерия равно 1, а в столбцах с минимизацией это не так.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000" dirty="0"/>
              <a:t>И аналогично – худшее значение в столбцах с минимизацией равно 0, а в столбцах с максимизацией это не так. Из-за этого критерии находятся в неравном положении, что может сказаться на итоговом результате.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3AD4CD-A32C-4624-B71B-557D6E838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D161A0-1184-47B8-B7FA-9905A72D2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878" y="770708"/>
            <a:ext cx="78676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4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9A3A999-0022-469B-AA92-4FCF676C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599" y="674184"/>
            <a:ext cx="11029615" cy="1842594"/>
          </a:xfrm>
        </p:spPr>
        <p:txBody>
          <a:bodyPr>
            <a:normAutofit/>
          </a:bodyPr>
          <a:lstStyle/>
          <a:p>
            <a:r>
              <a:rPr lang="ru-RU" sz="1800" dirty="0"/>
              <a:t>Рассмотрим </a:t>
            </a:r>
            <a:r>
              <a:rPr lang="ru-RU" sz="1800" b="1" dirty="0">
                <a:solidFill>
                  <a:schemeClr val="accent1"/>
                </a:solidFill>
              </a:rPr>
              <a:t>третий способ </a:t>
            </a:r>
            <a:r>
              <a:rPr lang="ru-RU" sz="1800" dirty="0"/>
              <a:t>вычисления итогового балла. </a:t>
            </a:r>
          </a:p>
          <a:p>
            <a:r>
              <a:rPr lang="ru-RU" sz="1800" dirty="0"/>
              <a:t>Как и в предыдущем способе, строим вспомогательную таблицу. </a:t>
            </a:r>
          </a:p>
          <a:p>
            <a:r>
              <a:rPr lang="ru-RU" sz="1800" dirty="0"/>
              <a:t>Для критериев, подлежащих максимизации, новые значения вычисляются по формуле  . </a:t>
            </a:r>
          </a:p>
          <a:p>
            <a:r>
              <a:rPr lang="ru-RU" sz="1800" dirty="0"/>
              <a:t>Если же критерии минимизируются при решении задачи, то новые значения вычисляются по формуле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E2220A-98D6-4F34-9BD9-2416FBA8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FF78BC-3991-4F1D-B0F0-5BDD7CCD1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082" y="1414588"/>
            <a:ext cx="1879335" cy="59459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44F36B-7C73-40DF-A7CB-6293DB731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475" y="2435541"/>
            <a:ext cx="2068994" cy="67007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F67F5F-9AB9-4C7A-BCAE-500FCE1C0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250" y="2827147"/>
            <a:ext cx="789622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9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5AE1660-E00A-4287-9CA4-933D3F297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61" y="731519"/>
            <a:ext cx="11029615" cy="5312230"/>
          </a:xfrm>
        </p:spPr>
        <p:txBody>
          <a:bodyPr/>
          <a:lstStyle/>
          <a:p>
            <a:r>
              <a:rPr lang="ru-RU" dirty="0"/>
              <a:t>Анализ таблицы 4 показывает, что в каждом столбце лучшему значению соответствует 0, а худшему – 1 (независимо от того, какого вида критерий – на максимум или на минимум). После вычисления итогового балла с учётом весов, наилучшим признается объект, получивший минимальный итоговый балл.</a:t>
            </a:r>
          </a:p>
          <a:p>
            <a:r>
              <a:rPr lang="ru-RU" dirty="0"/>
              <a:t>При таком способе начисления итогового балла первое место в рейтинге заняла производственная линия I, на втором месте – линия III, на третьем – линия II.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7EC0C8-1DC9-4E0A-89D0-74475586C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864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BAAAEC-B203-421B-B1B8-E2DB9FC3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сравним результаты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138A166C-8DA8-451E-BF32-3B4837A52A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738900"/>
              </p:ext>
            </p:extLst>
          </p:nvPr>
        </p:nvGraphicFramePr>
        <p:xfrm>
          <a:off x="2638696" y="2123849"/>
          <a:ext cx="7323908" cy="156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977">
                  <a:extLst>
                    <a:ext uri="{9D8B030D-6E8A-4147-A177-3AD203B41FA5}">
                      <a16:colId xmlns:a16="http://schemas.microsoft.com/office/drawing/2014/main" val="1117209704"/>
                    </a:ext>
                  </a:extLst>
                </a:gridCol>
                <a:gridCol w="1830977">
                  <a:extLst>
                    <a:ext uri="{9D8B030D-6E8A-4147-A177-3AD203B41FA5}">
                      <a16:colId xmlns:a16="http://schemas.microsoft.com/office/drawing/2014/main" val="1948680079"/>
                    </a:ext>
                  </a:extLst>
                </a:gridCol>
                <a:gridCol w="1830977">
                  <a:extLst>
                    <a:ext uri="{9D8B030D-6E8A-4147-A177-3AD203B41FA5}">
                      <a16:colId xmlns:a16="http://schemas.microsoft.com/office/drawing/2014/main" val="2547965221"/>
                    </a:ext>
                  </a:extLst>
                </a:gridCol>
                <a:gridCol w="1830977">
                  <a:extLst>
                    <a:ext uri="{9D8B030D-6E8A-4147-A177-3AD203B41FA5}">
                      <a16:colId xmlns:a16="http://schemas.microsoft.com/office/drawing/2014/main" val="1015486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Способ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Способ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Способ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289783"/>
                  </a:ext>
                </a:extLst>
              </a:tr>
              <a:tr h="336323">
                <a:tc>
                  <a:txBody>
                    <a:bodyPr/>
                    <a:lstStyle/>
                    <a:p>
                      <a:r>
                        <a:rPr lang="ru-RU" dirty="0"/>
                        <a:t>линия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100409"/>
                  </a:ext>
                </a:extLst>
              </a:tr>
              <a:tr h="365351">
                <a:tc>
                  <a:txBody>
                    <a:bodyPr/>
                    <a:lstStyle/>
                    <a:p>
                      <a:r>
                        <a:rPr lang="ru-RU" dirty="0"/>
                        <a:t>линия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083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линия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764752"/>
                  </a:ext>
                </a:extLst>
              </a:tr>
            </a:tbl>
          </a:graphicData>
        </a:graphic>
      </p:graphicFrame>
      <p:sp>
        <p:nvSpPr>
          <p:cNvPr id="4" name="Дата 3">
            <a:extLst>
              <a:ext uri="{FF2B5EF4-FFF2-40B4-BE49-F238E27FC236}">
                <a16:creationId xmlns:a16="http://schemas.microsoft.com/office/drawing/2014/main" id="{8EC2820B-60C8-41B3-B948-5E94D463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9A95F1-916C-42C3-B85F-C07A2D901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168" y="2541475"/>
            <a:ext cx="548912" cy="42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83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3D07FD6-81B9-4200-9DB4-125BFF6BA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47" y="791374"/>
            <a:ext cx="11029615" cy="3789970"/>
          </a:xfrm>
        </p:spPr>
        <p:txBody>
          <a:bodyPr>
            <a:normAutofit/>
          </a:bodyPr>
          <a:lstStyle/>
          <a:p>
            <a:r>
              <a:rPr lang="ru-RU" sz="2000" dirty="0"/>
              <a:t>В идеальном случае, человек, читающий опубликованный рейтинг, должен знать полную методику его составления. </a:t>
            </a:r>
          </a:p>
          <a:p>
            <a:r>
              <a:rPr lang="ru-RU" sz="2000" dirty="0"/>
              <a:t>Это позволит понять, за счёт какого параметра объект поднялся в рейтинге </a:t>
            </a:r>
            <a:br>
              <a:rPr lang="ru-RU" sz="2000" dirty="0"/>
            </a:br>
            <a:r>
              <a:rPr lang="ru-RU" sz="2000" dirty="0"/>
              <a:t>или наоборот не сумел выйти на высокую позицию. </a:t>
            </a:r>
          </a:p>
          <a:p>
            <a:r>
              <a:rPr lang="ru-RU" sz="2000" dirty="0"/>
              <a:t>Однако идеальный вариант удается реализовать крайне редко. Несмотря на то, что опубликование методики повышают ценность рейтинга, некоторые крупные компании сознательно отказываются от этого шага, стремясь сохранить «</a:t>
            </a:r>
            <a:r>
              <a:rPr lang="ru-RU" sz="2000" dirty="0" err="1"/>
              <a:t>know-how</a:t>
            </a:r>
            <a:r>
              <a:rPr lang="ru-RU" sz="2000" dirty="0"/>
              <a:t>». </a:t>
            </a:r>
          </a:p>
          <a:p>
            <a:r>
              <a:rPr lang="ru-RU" sz="2000" dirty="0"/>
              <a:t>Иногда методику и результаты не представляют в полном объёме, поскольку это позволяет </a:t>
            </a:r>
            <a:br>
              <a:rPr lang="ru-RU" sz="2000" dirty="0"/>
            </a:br>
            <a:r>
              <a:rPr lang="ru-RU" sz="2000" dirty="0"/>
              <a:t>не привлекать внимания к спорным местам и избежать неприятных вопросов.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2224BA-FA64-4E6A-BE96-C800220D4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521A01-6C7D-49AE-9268-B7B12D995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4578704"/>
            <a:ext cx="247650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34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ABF95-1631-4BB2-81FC-29343434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1" y="571527"/>
            <a:ext cx="11029616" cy="708633"/>
          </a:xfrm>
        </p:spPr>
        <p:txBody>
          <a:bodyPr/>
          <a:lstStyle/>
          <a:p>
            <a:r>
              <a:rPr lang="ru-RU" dirty="0"/>
              <a:t>Примеры рейтингов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B20A8E-34F7-488D-9624-B1763A26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C623B3-5C9D-461C-B29E-F963075F6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737" y="1343510"/>
            <a:ext cx="9945189" cy="538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21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4BC5E-7DEE-4F97-8357-45A08F46E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17044"/>
          </a:xfrm>
        </p:spPr>
        <p:txBody>
          <a:bodyPr>
            <a:normAutofit fontScale="90000"/>
          </a:bodyPr>
          <a:lstStyle/>
          <a:p>
            <a:r>
              <a:rPr lang="en-US" dirty="0"/>
              <a:t>TOP500 LIST - JUNE 2022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2BADD6-CAAE-4171-AD34-6E805119F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F8DB7B-70D1-4466-97D2-066D21F14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268" y="716327"/>
            <a:ext cx="2949349" cy="589014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027C6E-D3DF-4BA4-846B-EF5B49107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89" y="1219200"/>
            <a:ext cx="4633518" cy="5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3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332A5A-6CF0-422B-8B86-C6FE91AF9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08335"/>
          </a:xfrm>
        </p:spPr>
        <p:txBody>
          <a:bodyPr>
            <a:normAutofit fontScale="90000"/>
          </a:bodyPr>
          <a:lstStyle/>
          <a:p>
            <a:r>
              <a:rPr lang="ru-RU" dirty="0"/>
              <a:t>Рэнкинг: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Рейтинг лучших вузов России RAEX-100, 2022 год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BAD1CB-9AA4-4D27-B4F4-80BFFD76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28.10.2024</a:t>
            </a:fld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3B1046-EB23-48F7-90B9-90B6CEC74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390" y="1210491"/>
            <a:ext cx="8357222" cy="555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26061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8_TF33552983" id="{160FF37C-0DDC-4D2E-AEAD-253EF6364DF1}" vid="{EC99DBC3-C858-4F3A-82DD-48D686A36D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{1D31AE87-CD91-463C-9F4C-35633900369D}tf33552983_win32</Template>
  <TotalTime>105</TotalTime>
  <Words>1482</Words>
  <PresentationFormat>Широкоэкранный</PresentationFormat>
  <Paragraphs>133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1" baseType="lpstr">
      <vt:lpstr>Arial</vt:lpstr>
      <vt:lpstr>Calibri</vt:lpstr>
      <vt:lpstr>Corbel</vt:lpstr>
      <vt:lpstr>Franklin Gothic Book</vt:lpstr>
      <vt:lpstr>Franklin Gothic Demi</vt:lpstr>
      <vt:lpstr>Times New Roman</vt:lpstr>
      <vt:lpstr>Wingdings 2</vt:lpstr>
      <vt:lpstr>ДивидендVTI</vt:lpstr>
      <vt:lpstr>Многокритериальная оптимизация</vt:lpstr>
      <vt:lpstr>Постановка задачи</vt:lpstr>
      <vt:lpstr>литературный пример</vt:lpstr>
      <vt:lpstr>Практический пример – выбор автомобиля для  покупки</vt:lpstr>
      <vt:lpstr>Задача многокритериальной оптимизации</vt:lpstr>
      <vt:lpstr>Презентация PowerPoint</vt:lpstr>
      <vt:lpstr>Понятие рейтинга</vt:lpstr>
      <vt:lpstr>Методика составления рейтингов</vt:lpstr>
      <vt:lpstr>этапы составления рейтингов</vt:lpstr>
      <vt:lpstr>этапы составления рейтингов</vt:lpstr>
      <vt:lpstr>Пример: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сравним результаты</vt:lpstr>
      <vt:lpstr>Презентация PowerPoint</vt:lpstr>
      <vt:lpstr>Примеры рейтингов</vt:lpstr>
      <vt:lpstr>TOP500 LIST - JUNE 2022</vt:lpstr>
      <vt:lpstr>Рэнкинг: Рейтинг лучших вузов России RAEX-100, 2022 год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2022-09-22T12:10:44Z</dcterms:created>
  <dcterms:modified xsi:type="dcterms:W3CDTF">2024-10-28T11:34:02Z</dcterms:modified>
</cp:coreProperties>
</file>