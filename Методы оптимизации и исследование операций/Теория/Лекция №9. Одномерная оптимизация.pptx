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4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006E54-76B1-47A4-B794-098C406851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877880-65D7-44B8-8B44-52E7BFEFD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AF79CF-1FDE-4F76-BA06-D6FF1123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8A90-67AA-4B7C-82F0-09984A37786E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7865B2-E632-4E20-BE14-7ED392456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91512A-8D1A-45E4-BCED-CD9EEBB3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017A-AFF9-4642-8F70-2B66E5B837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035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BB09FE-2D67-4EA9-B53F-9B4D5B5C8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6FF855-309C-4BB5-963A-D0AE801A9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BB372A-4E7A-4BF5-889A-279C05DFF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8A90-67AA-4B7C-82F0-09984A37786E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D61801-3BEC-41B0-9CF2-50499E3CD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C93AF6-B06A-4F84-8620-EB63CA758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017A-AFF9-4642-8F70-2B66E5B837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5935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9DDE77-773A-407C-8558-19DA2ED9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F26F0E-0CD4-4EDC-BF5B-4B4A3A04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6F49E2-3644-4203-BA18-B396168E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8A90-67AA-4B7C-82F0-09984A37786E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D7601C-BDFC-46BF-90FA-F34A4AD0D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16A9BD-39BA-4DE4-8655-230D7E5E7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017A-AFF9-4642-8F70-2B66E5B837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9413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C3F42-2797-4AB2-B268-EF0EB77A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F07B59-0BF5-4277-A65D-C0A634F87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8E9203E-A2D8-4B80-8B8E-3B9815F87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898930-77C8-4D8D-AF92-4ED781197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8A90-67AA-4B7C-82F0-09984A37786E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4CC0A5-92C6-40DF-B83D-CD138AD02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B9D124-D900-477C-B380-997EB96A6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017A-AFF9-4642-8F70-2B66E5B837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290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F78BE1-7DD9-4284-93D7-74616635B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180BE5-39F2-4EA9-9CC8-1F079870B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8A0F9D-792E-4811-B3F1-8D124CD2C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CC3917-345B-4D83-8690-7D785E5DF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41542C-1AC3-4619-9657-3C8B762F5D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845C45C-68BE-4902-AED9-10CE828F7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8A90-67AA-4B7C-82F0-09984A37786E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2BA6FFE-8328-4E56-A8BE-2E69C89D8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75B2D53-A37B-4A3F-AAB7-79A5F90F1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017A-AFF9-4642-8F70-2B66E5B837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69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ED2DF6-708E-403C-8F9D-27B9B5959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42284F5-651D-43CD-A41C-2E59C4158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8A90-67AA-4B7C-82F0-09984A37786E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09964E-7A9A-458B-AACD-50DE8B057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1BB6BB-FA3F-49DF-89B0-8873EB89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017A-AFF9-4642-8F70-2B66E5B837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6029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942702E-4925-47F7-B692-DA9FA0E52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8A90-67AA-4B7C-82F0-09984A37786E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66185A2-8A21-40D5-B2A3-BEADCDC5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378B4C-8A40-44A6-ACA2-9C450D769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017A-AFF9-4642-8F70-2B66E5B837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54E95F-40F0-4F72-95EF-2A9D38AF6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FB68CF-1E20-4048-A022-04DC987D1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D0F958-E701-4AC1-8EB0-150713051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975F4E-A0F8-490C-BBF4-A811774E1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8A90-67AA-4B7C-82F0-09984A37786E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9260DC-4F58-47B1-9D6F-1F8ABBCA8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2C6DF1-E5B4-4908-82CF-C353A7EC7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017A-AFF9-4642-8F70-2B66E5B837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328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E083A-88B6-40D6-A162-55BFAB4CF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DB8668B-C5C9-4951-8CE4-797F901FB1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CE6631-5B59-4F00-9C2E-B2F884BB4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232BE5-B231-47E4-9109-06C5FBBFD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8A90-67AA-4B7C-82F0-09984A37786E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5CD975-1A3C-4496-B249-3DE98B9B7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83F08A-D711-43ED-A17F-29B036250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017A-AFF9-4642-8F70-2B66E5B837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267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0E0711-75E4-4A4C-AB5D-C7140EDC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40C1487-514B-40D3-9888-FC5ADA067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9870B5-AB3C-4FF4-A849-EBBCAC3B4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8A90-67AA-4B7C-82F0-09984A37786E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B66728-1A73-48C5-87C8-0A04989A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07C350-658A-4147-A2DF-6F27963A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017A-AFF9-4642-8F70-2B66E5B837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23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8E05358-7C52-473B-9E52-57CF5306E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07A29C5-EABA-4836-AD77-16C65F33AE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CE7834-517B-47F9-939C-9EC604BAD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8A90-67AA-4B7C-82F0-09984A37786E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09C61D-751B-4DC8-836D-770BF5568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7F9C91-ADA0-4571-8B71-9C5E5C543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017A-AFF9-4642-8F70-2B66E5B837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924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D2EEF4-9CF1-4B84-B7D7-2DAABA04F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8C5121-B6FD-4113-AB72-58503D6D1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3A1DF3-6B58-4B0B-AFE4-446C7AD44A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48A90-67AA-4B7C-82F0-09984A37786E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B0335B-52AF-424E-970A-35E7BBB4A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5A43BF-01DD-4ED0-8D01-00D2EAC778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2017A-AFF9-4642-8F70-2B66E5B837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669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C9C871-1F03-4CCC-BAE1-E33A614585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Одномерная оптимизация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A87C93-E123-447A-BCC4-5AEAA3AF49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Численные методы поиска экстремумов функции одной переменной</a:t>
            </a:r>
          </a:p>
        </p:txBody>
      </p:sp>
    </p:spTree>
    <p:extLst>
      <p:ext uri="{BB962C8B-B14F-4D97-AF65-F5344CB8AC3E}">
        <p14:creationId xmlns:p14="http://schemas.microsoft.com/office/powerpoint/2010/main" val="431745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759DA-288C-42EA-9761-46DB3B51F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2253B2E-4503-4A66-AD43-0841D4AC9899}"/>
              </a:ext>
            </a:extLst>
          </p:cNvPr>
          <p:cNvSpPr/>
          <p:nvPr/>
        </p:nvSpPr>
        <p:spPr>
          <a:xfrm>
            <a:off x="541538" y="1466970"/>
            <a:ext cx="10715347" cy="4457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Задачей одномерной оптимизации является нахождение точек локального минимума и соответствующих им значений функции, а в некоторых случаях требуется вычислить глобальный минимум. Однако, во всех случаях эта задача сводится к задаче нахождения локального минимума.</a:t>
            </a:r>
          </a:p>
          <a:p>
            <a:pPr indent="457200" algn="just">
              <a:lnSpc>
                <a:spcPct val="150000"/>
              </a:lnSpc>
              <a:spcAft>
                <a:spcPts val="0"/>
              </a:spcAft>
            </a:pP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Интервал, на котором локализован единственный минимум, называется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отрезком неопределенности</a:t>
            </a:r>
            <a:r>
              <a:rPr lang="ru-RU" sz="24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dirty="0">
                <a:latin typeface="Times New Roman" panose="02020603050405020304" pitchFamily="18" charset="0"/>
              </a:rPr>
              <a:t>а функцию называют </a:t>
            </a:r>
            <a:r>
              <a:rPr lang="ru-RU" sz="2400" b="1" dirty="0">
                <a:latin typeface="Times New Roman" panose="02020603050405020304" pitchFamily="18" charset="0"/>
              </a:rPr>
              <a:t>унимодальной (одноэкстремальной)</a:t>
            </a:r>
            <a:r>
              <a:rPr lang="ru-RU" sz="2400" dirty="0">
                <a:latin typeface="Times New Roman" panose="02020603050405020304" pitchFamily="18" charset="0"/>
              </a:rPr>
              <a:t> на этом отрезке.</a:t>
            </a:r>
          </a:p>
        </p:txBody>
      </p:sp>
    </p:spTree>
    <p:extLst>
      <p:ext uri="{BB962C8B-B14F-4D97-AF65-F5344CB8AC3E}">
        <p14:creationId xmlns:p14="http://schemas.microsoft.com/office/powerpoint/2010/main" val="25535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759DA-288C-42EA-9761-46DB3B51F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2253B2E-4503-4A66-AD43-0841D4AC9899}"/>
              </a:ext>
            </a:extLst>
          </p:cNvPr>
          <p:cNvSpPr/>
          <p:nvPr/>
        </p:nvSpPr>
        <p:spPr>
          <a:xfrm>
            <a:off x="541538" y="1466970"/>
            <a:ext cx="10715347" cy="390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457200" algn="just">
              <a:lnSpc>
                <a:spcPct val="150000"/>
              </a:lnSpc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Суть методов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одномерного поиска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заключается в том, что на каждой итерации интервал неопределенности уменьшается и стягивается к точке минимума. Уменьшение отрезка происходит до тех пор, пока на некоторой </a:t>
            </a:r>
            <a:r>
              <a:rPr lang="ru-RU" sz="2400" b="1" dirty="0"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й итерации отрезок неопределенности </a:t>
            </a:r>
            <a:r>
              <a:rPr lang="ru-RU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</a:t>
            </a:r>
            <a:r>
              <a:rPr lang="ru-RU" sz="2400" b="1" dirty="0">
                <a:latin typeface="Arial" panose="020B0604020202020204" pitchFamily="34" charset="0"/>
                <a:ea typeface="Times New Roman" panose="02020603050405020304" pitchFamily="18" charset="0"/>
              </a:rPr>
              <a:t>b</a:t>
            </a:r>
            <a:r>
              <a:rPr lang="ru-RU" sz="2400" b="1" baseline="-25000" dirty="0"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r>
              <a:rPr lang="ru-RU" sz="2400" b="1" dirty="0">
                <a:latin typeface="Arial" panose="020B0604020202020204" pitchFamily="34" charset="0"/>
                <a:ea typeface="Times New Roman" panose="02020603050405020304" pitchFamily="18" charset="0"/>
              </a:rPr>
              <a:t>;a</a:t>
            </a:r>
            <a:r>
              <a:rPr lang="ru-RU" sz="2400" b="1" baseline="-25000" dirty="0"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r>
              <a:rPr lang="ru-RU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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не станет соизмеримым с заданной погрешностью</a:t>
            </a:r>
            <a:r>
              <a:rPr lang="ru-RU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то есть будет выполняться условие </a:t>
            </a:r>
            <a:r>
              <a:rPr lang="ru-RU" sz="2400" b="1" dirty="0">
                <a:latin typeface="Arial" panose="020B0604020202020204" pitchFamily="34" charset="0"/>
                <a:ea typeface="Times New Roman" panose="02020603050405020304" pitchFamily="18" charset="0"/>
              </a:rPr>
              <a:t>|b</a:t>
            </a:r>
            <a:r>
              <a:rPr lang="ru-RU" sz="2400" b="1" baseline="-25000" dirty="0"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r>
              <a:rPr lang="ru-RU" sz="2400" b="1" dirty="0">
                <a:latin typeface="Arial" panose="020B0604020202020204" pitchFamily="34" charset="0"/>
                <a:ea typeface="Times New Roman" panose="02020603050405020304" pitchFamily="18" charset="0"/>
              </a:rPr>
              <a:t>-a</a:t>
            </a:r>
            <a:r>
              <a:rPr lang="ru-RU" sz="2400" b="1" baseline="-25000" dirty="0"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r>
              <a:rPr lang="ru-RU" sz="2400" b="1" dirty="0">
                <a:latin typeface="Arial" panose="020B0604020202020204" pitchFamily="34" charset="0"/>
                <a:ea typeface="Times New Roman" panose="02020603050405020304" pitchFamily="18" charset="0"/>
              </a:rPr>
              <a:t>| &lt;</a:t>
            </a:r>
            <a:r>
              <a:rPr lang="ru-RU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ru-RU" sz="2400" b="1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Тогда за точку минимума можно принять любую точку, принадлежащую этому отрезку, в частности,  его середину.</a:t>
            </a:r>
          </a:p>
        </p:txBody>
      </p:sp>
    </p:spTree>
    <p:extLst>
      <p:ext uri="{BB962C8B-B14F-4D97-AF65-F5344CB8AC3E}">
        <p14:creationId xmlns:p14="http://schemas.microsoft.com/office/powerpoint/2010/main" val="1146670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759DA-288C-42EA-9761-46DB3B51F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сканирования с постоянным шагом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2253B2E-4503-4A66-AD43-0841D4AC9899}"/>
              </a:ext>
            </a:extLst>
          </p:cNvPr>
          <p:cNvSpPr/>
          <p:nvPr/>
        </p:nvSpPr>
        <p:spPr>
          <a:xfrm>
            <a:off x="541538" y="1466970"/>
            <a:ext cx="10715347" cy="390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457200" algn="just">
              <a:lnSpc>
                <a:spcPct val="150000"/>
              </a:lnSpc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Разделим интервал неопределенности на некоторое число равных частей и вычислим значение целевой функции в точках разбиения. Очевидно, что за минимум принимают наименьшее из этих значений – это так называемый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метод сканирования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457200" indent="457200" algn="just">
              <a:lnSpc>
                <a:spcPct val="150000"/>
              </a:lnSpc>
              <a:spcAft>
                <a:spcPts val="0"/>
              </a:spcAft>
            </a:pP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457200" algn="just">
              <a:lnSpc>
                <a:spcPct val="150000"/>
              </a:lnSpc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Каким должен быть шаг, чтобы требуемая точность 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Е</a:t>
            </a:r>
            <a:r>
              <a:rPr lang="ru-RU" sz="24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была достигнута?</a:t>
            </a:r>
          </a:p>
          <a:p>
            <a:pPr marL="457200" indent="457200" algn="just">
              <a:lnSpc>
                <a:spcPct val="150000"/>
              </a:lnSpc>
              <a:spcAft>
                <a:spcPts val="0"/>
              </a:spcAft>
            </a:pP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621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759DA-288C-42EA-9761-46DB3B51F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сканирования с переменным шагом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2253B2E-4503-4A66-AD43-0841D4AC9899}"/>
              </a:ext>
            </a:extLst>
          </p:cNvPr>
          <p:cNvSpPr/>
          <p:nvPr/>
        </p:nvSpPr>
        <p:spPr>
          <a:xfrm>
            <a:off x="248575" y="1293207"/>
            <a:ext cx="10715347" cy="5564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457200" algn="just">
              <a:lnSpc>
                <a:spcPct val="150000"/>
              </a:lnSpc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От начальной точки интервала неопределенности [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] двигаются с начальным шагом (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до тех пор, пока функция в точках разбиения уменьшается (т.е. функция убывает). Если функция в очередной точке стала возрастать, то происходит сужение интервала неопределенности путем возврата от рассматриваемой (которая станет правой границей нового интервала) точки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 два шага назад. При этом левой границей нового отрезка неопределенности станет точка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-2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а правой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Новый отрезок вновь исследуют таким же образом, но уже с уменьшенным в два раза шагом: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/2. Процесс повторяется до момента достижения заданной точности минимума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</a:rPr>
              <a:t>|b</a:t>
            </a:r>
            <a:r>
              <a:rPr lang="ru-RU" sz="2400" baseline="-25000" dirty="0"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</a:rPr>
              <a:t>-a</a:t>
            </a:r>
            <a:r>
              <a:rPr lang="ru-RU" sz="2400" baseline="-25000" dirty="0"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</a:rPr>
              <a:t>| &lt;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79370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759DA-288C-42EA-9761-46DB3B51F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365125"/>
            <a:ext cx="4724400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 дихотомии (половинного деления)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AF14D6E-C7EF-411E-806E-DD2EDD24A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346" y="1402671"/>
            <a:ext cx="1610757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9BB649EE-A013-4996-A273-DBD465281C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33129"/>
              </p:ext>
            </p:extLst>
          </p:nvPr>
        </p:nvGraphicFramePr>
        <p:xfrm>
          <a:off x="438913" y="237284"/>
          <a:ext cx="6018028" cy="6484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332112" imgH="5747155" progId="Visio.Drawing.11">
                  <p:embed/>
                </p:oleObj>
              </mc:Choice>
              <mc:Fallback>
                <p:oleObj name="Visio" r:id="rId2" imgW="5332112" imgH="574715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913" y="237284"/>
                        <a:ext cx="6018028" cy="64847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01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759DA-288C-42EA-9761-46DB3B51F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7568" y="365125"/>
            <a:ext cx="5666232" cy="1325563"/>
          </a:xfrm>
        </p:spPr>
        <p:txBody>
          <a:bodyPr>
            <a:normAutofit/>
          </a:bodyPr>
          <a:lstStyle/>
          <a:p>
            <a:r>
              <a:rPr lang="ru-RU" dirty="0"/>
              <a:t>Метод золотого сечения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AF14D6E-C7EF-411E-806E-DD2EDD24A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346" y="1402671"/>
            <a:ext cx="1610757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050" name="Рисунок 26">
            <a:extLst>
              <a:ext uri="{FF2B5EF4-FFF2-40B4-BE49-F238E27FC236}">
                <a16:creationId xmlns:a16="http://schemas.microsoft.com/office/drawing/2014/main" id="{9DDB80E7-C6C4-4060-AB55-1E446FC5E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1" y="96144"/>
            <a:ext cx="5208016" cy="6451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69256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341</Words>
  <PresentationFormat>Widescreen</PresentationFormat>
  <Paragraphs>16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Тема Office</vt:lpstr>
      <vt:lpstr>Одномерная оптимизация</vt:lpstr>
      <vt:lpstr>Постановка задачи</vt:lpstr>
      <vt:lpstr>Постановка задачи</vt:lpstr>
      <vt:lpstr>Метод сканирования с постоянным шагом</vt:lpstr>
      <vt:lpstr>Метод сканирования с переменным шагом</vt:lpstr>
      <vt:lpstr>Метод дихотомии (половинного деления)</vt:lpstr>
      <vt:lpstr>Метод золотого сечения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2025-12-02T10:33:55Z</dcterms:created>
  <dcterms:modified xsi:type="dcterms:W3CDTF">2025-12-16T11:01:02Z</dcterms:modified>
</cp:coreProperties>
</file>