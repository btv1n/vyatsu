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3" roundtripDataSignature="AMtx7mgtFKC1LS+vFIRaZcg/Vd+LSnqZ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F753F68-A679-4D3F-9968-F82FD68B6FC6}">
  <a:tblStyle styleId="{7F753F68-A679-4D3F-9968-F82FD68B6FC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customschemas.google.com/relationships/presentationmetadata" Target="meta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56b5818e2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g356b5818e2e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974d75d74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g3d974d75d74_1_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Это вариация принципа открытости/закрытости.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Решение состоит в разделении существующего интерфейса на два более мелких. Один — отчет в формате PDF, второй — отчет в формате Excel. Это даст пользователю возможность использовать только необходимый для него функционал.</a:t>
            </a:r>
            <a:endParaRPr/>
          </a:p>
        </p:txBody>
      </p:sp>
      <p:sp>
        <p:nvSpPr>
          <p:cNvPr id="181" name="Google Shape;181;p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04e8c2c6b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g304e8c2c6b4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04e8c2c6b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g304e8c2c6b4_0_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http://sergeyteplyakov.blogspot.com/2014/10/solid.html</a:t>
            </a:r>
            <a:endParaRPr/>
          </a:p>
        </p:txBody>
      </p:sp>
      <p:sp>
        <p:nvSpPr>
          <p:cNvPr id="216" name="Google Shape;216;p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3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3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3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3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9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0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0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3.jpg"/><Relationship Id="rId9" Type="http://schemas.openxmlformats.org/officeDocument/2006/relationships/image" Target="../media/image8.jpg"/><Relationship Id="rId5" Type="http://schemas.openxmlformats.org/officeDocument/2006/relationships/image" Target="../media/image6.jpg"/><Relationship Id="rId6" Type="http://schemas.openxmlformats.org/officeDocument/2006/relationships/image" Target="../media/image2.jpg"/><Relationship Id="rId7" Type="http://schemas.openxmlformats.org/officeDocument/2006/relationships/image" Target="../media/image5.jpg"/><Relationship Id="rId8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SOLID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SOLID</a:t>
            </a:r>
            <a:endParaRPr/>
          </a:p>
        </p:txBody>
      </p:sp>
      <p:sp>
        <p:nvSpPr>
          <p:cNvPr id="95" name="Google Shape;95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SOLID – это акроним для первых пяти принципов объектно-ориентированного программирования и проектирования 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Название дано Робертом Мартином в начале 2000-х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Роберт Сесил Мартин</a:t>
            </a:r>
            <a:endParaRPr/>
          </a:p>
        </p:txBody>
      </p:sp>
      <p:sp>
        <p:nvSpPr>
          <p:cNvPr id="101" name="Google Shape;101;p3"/>
          <p:cNvSpPr txBox="1"/>
          <p:nvPr>
            <p:ph idx="1" type="body"/>
          </p:nvPr>
        </p:nvSpPr>
        <p:spPr>
          <a:xfrm>
            <a:off x="457200" y="1600200"/>
            <a:ext cx="4834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80"/>
              <a:buChar char="•"/>
            </a:pPr>
            <a:r>
              <a:rPr i="1" lang="en-US" sz="2380"/>
              <a:t>Robert Cecil Martin</a:t>
            </a:r>
            <a:r>
              <a:rPr lang="en-US" sz="2380"/>
              <a:t>, известный как </a:t>
            </a:r>
            <a:r>
              <a:rPr i="1" lang="en-US" sz="2380"/>
              <a:t>Дядя Боб </a:t>
            </a:r>
            <a:r>
              <a:rPr lang="en-US" sz="2380"/>
              <a:t>(</a:t>
            </a:r>
            <a:r>
              <a:rPr i="1" lang="en-US" sz="2380"/>
              <a:t>Uncle Bob</a:t>
            </a:r>
            <a:r>
              <a:rPr lang="en-US" sz="2380"/>
              <a:t>) — консультант и автор в области разработки ПО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ts val="2380"/>
              <a:buChar char="•"/>
            </a:pPr>
            <a:r>
              <a:rPr lang="en-US" sz="2380"/>
              <a:t>Является профессионалом в области разработки ПО с 1970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ts val="2380"/>
              <a:buChar char="•"/>
            </a:pPr>
            <a:r>
              <a:rPr lang="en-US" sz="2380"/>
              <a:t>С 1990 – международный консультант в области разработки ПО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ts val="2380"/>
              <a:buChar char="•"/>
            </a:pPr>
            <a:r>
              <a:rPr lang="en-US" sz="2380"/>
              <a:t>Один из наиболее активных участников Всемирного Движения Мастерства Разработки - "Чистый код" </a:t>
            </a:r>
            <a:endParaRPr/>
          </a:p>
        </p:txBody>
      </p:sp>
      <p:pic>
        <p:nvPicPr>
          <p:cNvPr descr="Портрет" id="102" name="Google Shape;10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3541" y="1977430"/>
            <a:ext cx="2900477" cy="3683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Роберт Сесил Мартин</a:t>
            </a:r>
            <a:endParaRPr/>
          </a:p>
        </p:txBody>
      </p:sp>
      <p:pic>
        <p:nvPicPr>
          <p:cNvPr descr="https://j.livelib.ru/boocover/1000437984/o/9e7e/Robert_Martin__Chistyj_kod._Sozdanie_analiz_i_refaktoring.jpeg" id="108" name="Google Shape;10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962" y="1481707"/>
            <a:ext cx="1428750" cy="2019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i.livelib.ru/boocover/1000474188/200/fa71/__Printsipy_patterny_i_metodiki_gibkoj_razrabotki_na_yazyke_C.jpg" id="109" name="Google Shape;10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0152" y="1412775"/>
            <a:ext cx="1440160" cy="20450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i.livelib.ru/boocover/1000527719/200/abea/__97_etyudov_dlya_programmistov._Opyt_veduschih_ekspertov.jpg" id="110" name="Google Shape;11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04248" y="4005064"/>
            <a:ext cx="1513951" cy="20059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i.livelib.ru/boocover/1000711419/200/1802/Robert_Martin__Idealnyj_programmist._Kak_stat_professionalom_razrabotki_PO.jpg" id="111" name="Google Shape;111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71800" y="1484784"/>
            <a:ext cx="1512168" cy="22153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Роберт Мартин - Чистый код. Создание, анализ и рефакторинг" id="112" name="Google Shape;112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9858" y="4077072"/>
            <a:ext cx="1333500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Роберт Мартин - Чистая архитектура. Искусство разработки программного обеспечения" id="113" name="Google Shape;113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230388" y="4077072"/>
            <a:ext cx="1333500" cy="18669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Роберт C. Мартин - Гибкая разработка программ на Java и C++. Принципы, паттерны и методики" id="114" name="Google Shape;114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44008" y="4077072"/>
            <a:ext cx="1333500" cy="187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9" name="Google Shape;119;p5"/>
          <p:cNvGraphicFramePr/>
          <p:nvPr/>
        </p:nvGraphicFramePr>
        <p:xfrm>
          <a:off x="304800" y="12896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{7F753F68-A679-4D3F-9968-F82FD68B6FC6}</a:tableStyleId>
              </a:tblPr>
              <a:tblGrid>
                <a:gridCol w="3606425"/>
                <a:gridCol w="4954825"/>
              </a:tblGrid>
              <a:tr h="891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600" u="none" cap="none" strike="noStrike"/>
                        <a:t>S</a:t>
                      </a:r>
                      <a:r>
                        <a:rPr lang="en-US" sz="2600" u="none" cap="none" strike="noStrike"/>
                        <a:t>ingle </a:t>
                      </a:r>
                      <a:r>
                        <a:rPr b="1" lang="en-US" sz="2600" u="none" cap="none" strike="noStrike"/>
                        <a:t>R</a:t>
                      </a:r>
                      <a:r>
                        <a:rPr lang="en-US" sz="2600" u="none" cap="none" strike="noStrike"/>
                        <a:t>esponsibility </a:t>
                      </a:r>
                      <a:r>
                        <a:rPr b="1" lang="en-US" sz="2600" u="none" cap="none" strike="noStrike"/>
                        <a:t>P</a:t>
                      </a:r>
                      <a:r>
                        <a:rPr lang="en-US" sz="2600" u="none" cap="none" strike="noStrike"/>
                        <a:t>rinciple</a:t>
                      </a:r>
                      <a:endParaRPr b="0" i="0" sz="2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600" u="none" cap="none" strike="noStrike"/>
                        <a:t>Принцип единственной ответственности</a:t>
                      </a:r>
                      <a:endParaRPr sz="2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495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600" u="none" cap="none" strike="noStrike"/>
                        <a:t>O</a:t>
                      </a:r>
                      <a:r>
                        <a:rPr lang="en-US" sz="2600" u="none" cap="none" strike="noStrike"/>
                        <a:t>pen </a:t>
                      </a:r>
                      <a:r>
                        <a:rPr b="1" lang="en-US" sz="2600" u="none" cap="none" strike="noStrike"/>
                        <a:t>C</a:t>
                      </a:r>
                      <a:r>
                        <a:rPr lang="en-US" sz="2600" u="none" cap="none" strike="noStrike"/>
                        <a:t>losed </a:t>
                      </a:r>
                      <a:r>
                        <a:rPr b="1" lang="en-US" sz="2600" u="none" cap="none" strike="noStrike"/>
                        <a:t>P</a:t>
                      </a:r>
                      <a:r>
                        <a:rPr lang="en-US" sz="2600" u="none" cap="none" strike="noStrike"/>
                        <a:t>rinciple</a:t>
                      </a:r>
                      <a:endParaRPr b="0" i="0" sz="2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600" u="none" cap="none" strike="noStrike"/>
                        <a:t>Принцип открытости/закрытости</a:t>
                      </a:r>
                      <a:endParaRPr sz="2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891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600" u="none" cap="none" strike="noStrike"/>
                        <a:t>L</a:t>
                      </a:r>
                      <a:r>
                        <a:rPr lang="en-US" sz="2600" u="none" cap="none" strike="noStrike"/>
                        <a:t>iskov’s </a:t>
                      </a:r>
                      <a:r>
                        <a:rPr b="1" lang="en-US" sz="2600" u="none" cap="none" strike="noStrike"/>
                        <a:t>S</a:t>
                      </a:r>
                      <a:r>
                        <a:rPr lang="en-US" sz="2600" u="none" cap="none" strike="noStrike"/>
                        <a:t>ubstitution </a:t>
                      </a:r>
                      <a:r>
                        <a:rPr b="1" lang="en-US" sz="2600" u="none" cap="none" strike="noStrike"/>
                        <a:t>P</a:t>
                      </a:r>
                      <a:r>
                        <a:rPr lang="en-US" sz="2600" u="none" cap="none" strike="noStrike"/>
                        <a:t>rinciple</a:t>
                      </a:r>
                      <a:endParaRPr b="0" i="0" sz="2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600" u="none" cap="none" strike="noStrike"/>
                        <a:t>Принцип подстановки Барбары Лисков</a:t>
                      </a:r>
                      <a:endParaRPr sz="2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891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600" u="none" cap="none" strike="noStrike"/>
                        <a:t>I</a:t>
                      </a:r>
                      <a:r>
                        <a:rPr lang="en-US" sz="2600" u="none" cap="none" strike="noStrike"/>
                        <a:t>nterface </a:t>
                      </a:r>
                      <a:r>
                        <a:rPr b="1" lang="en-US" sz="2600" u="none" cap="none" strike="noStrike"/>
                        <a:t>S</a:t>
                      </a:r>
                      <a:r>
                        <a:rPr lang="en-US" sz="2600" u="none" cap="none" strike="noStrike"/>
                        <a:t>egregation </a:t>
                      </a:r>
                      <a:r>
                        <a:rPr b="1" lang="en-US" sz="2600" u="none" cap="none" strike="noStrike"/>
                        <a:t>P</a:t>
                      </a:r>
                      <a:r>
                        <a:rPr lang="en-US" sz="2600" u="none" cap="none" strike="noStrike"/>
                        <a:t>rinciple</a:t>
                      </a:r>
                      <a:endParaRPr b="0" i="0" sz="2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600" u="none" cap="none" strike="noStrike"/>
                        <a:t>Принцип разделения интерфейса</a:t>
                      </a:r>
                      <a:endParaRPr sz="2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891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1" lang="en-US" sz="2600" u="none" cap="none" strike="noStrike"/>
                        <a:t>D</a:t>
                      </a:r>
                      <a:r>
                        <a:rPr lang="en-US" sz="2600" u="none" cap="none" strike="noStrike"/>
                        <a:t>ependency </a:t>
                      </a:r>
                      <a:r>
                        <a:rPr b="1" lang="en-US" sz="2600" u="none" cap="none" strike="noStrike"/>
                        <a:t>I</a:t>
                      </a:r>
                      <a:r>
                        <a:rPr lang="en-US" sz="2600" u="none" cap="none" strike="noStrike"/>
                        <a:t>nversion </a:t>
                      </a:r>
                      <a:r>
                        <a:rPr b="1" lang="en-US" sz="2600" u="none" cap="none" strike="noStrike"/>
                        <a:t>P</a:t>
                      </a:r>
                      <a:r>
                        <a:rPr lang="en-US" sz="2600" u="none" cap="none" strike="noStrike"/>
                        <a:t>rinciple</a:t>
                      </a:r>
                      <a:endParaRPr b="0" i="0" sz="2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600" u="none" cap="none" strike="noStrike"/>
                        <a:t>Принцип инверсии зависимостей</a:t>
                      </a:r>
                      <a:endParaRPr sz="2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en-US" sz="3600"/>
              <a:t>S</a:t>
            </a:r>
            <a:r>
              <a:rPr lang="en-US" sz="3600"/>
              <a:t>ingle </a:t>
            </a:r>
            <a:r>
              <a:rPr b="1" lang="en-US" sz="3600"/>
              <a:t>R</a:t>
            </a:r>
            <a:r>
              <a:rPr lang="en-US" sz="3600"/>
              <a:t>esponsibility </a:t>
            </a:r>
            <a:r>
              <a:rPr b="1" lang="en-US" sz="3600"/>
              <a:t>P</a:t>
            </a:r>
            <a:r>
              <a:rPr lang="en-US" sz="3600"/>
              <a:t>rinciple</a:t>
            </a:r>
            <a:br>
              <a:rPr lang="en-US" sz="3600"/>
            </a:br>
            <a:r>
              <a:rPr lang="en-US" sz="3600"/>
              <a:t>Принцип единственной ответственности</a:t>
            </a:r>
            <a:endParaRPr sz="3600"/>
          </a:p>
        </p:txBody>
      </p:sp>
      <p:sp>
        <p:nvSpPr>
          <p:cNvPr id="125" name="Google Shape;125;p6"/>
          <p:cNvSpPr txBox="1"/>
          <p:nvPr>
            <p:ph idx="1" type="body"/>
          </p:nvPr>
        </p:nvSpPr>
        <p:spPr>
          <a:xfrm>
            <a:off x="457200" y="1600200"/>
            <a:ext cx="8229600" cy="46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0"/>
              <a:buChar char="•"/>
            </a:pPr>
            <a:r>
              <a:rPr lang="en-US" sz="2480"/>
              <a:t>Принцип: </a:t>
            </a:r>
            <a:r>
              <a:rPr b="1" lang="en-US" sz="2480"/>
              <a:t>никогда не должно быть больше одной причины изменить класс.</a:t>
            </a:r>
            <a:r>
              <a:rPr lang="en-US" sz="2480"/>
              <a:t> </a:t>
            </a:r>
            <a:endParaRPr sz="2480"/>
          </a:p>
          <a:p>
            <a:pPr indent="-342900" lvl="0" marL="34290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480"/>
              <a:buChar char="•"/>
            </a:pPr>
            <a:r>
              <a:rPr lang="en-US" sz="2480"/>
              <a:t>На каждый объект возлагается одна обязанность, полностью инкапсулированная в класс. Все сервисы класса направлены на обеспечение этой обязанности. </a:t>
            </a:r>
            <a:endParaRPr sz="2480"/>
          </a:p>
          <a:p>
            <a:pPr indent="-342900" lvl="0" marL="34290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480"/>
              <a:buChar char="•"/>
            </a:pPr>
            <a:r>
              <a:rPr lang="en-US" sz="2480"/>
              <a:t>Такие классы всегда просто изменять, если это понадобится, потому что понятно, за что класс отвечает, а за что — нет. Можно вносить изменения и не бояться последствий — влияния на другие объекты. </a:t>
            </a:r>
            <a:endParaRPr sz="2480"/>
          </a:p>
          <a:p>
            <a:pPr indent="-342900" lvl="0" marL="34290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480"/>
              <a:buChar char="•"/>
            </a:pPr>
            <a:r>
              <a:rPr lang="en-US" sz="2480"/>
              <a:t>Код такого класса проще тестировать, т.к. тестами покрыта одна функциональность в изоляции от всех остальных.</a:t>
            </a:r>
            <a:endParaRPr sz="248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56b5818e2e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Задача</a:t>
            </a:r>
            <a:endParaRPr/>
          </a:p>
        </p:txBody>
      </p:sp>
      <p:sp>
        <p:nvSpPr>
          <p:cNvPr id="131" name="Google Shape;131;g356b5818e2e_0_0"/>
          <p:cNvSpPr txBox="1"/>
          <p:nvPr>
            <p:ph idx="1" type="body"/>
          </p:nvPr>
        </p:nvSpPr>
        <p:spPr>
          <a:xfrm>
            <a:off x="457200" y="1600200"/>
            <a:ext cx="8229600" cy="49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01625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</a:pPr>
            <a:r>
              <a:rPr lang="en-US" sz="2550"/>
              <a:t>Программный модуль считывает, изменяет и сохраняет данные. </a:t>
            </a:r>
            <a:endParaRPr sz="255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000">
              <a:solidFill>
                <a:srgbClr val="000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18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 Operation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18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public: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	Document read() { return Document(); 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18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 write(Document const &amp; doc) {}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18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 change(Document &amp; doc){}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 Service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public: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18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 execute()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	Operation operation;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	Document doc = operation.read();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operation.change(doc);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	operation.write(doc);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};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Причины изменения модулей</a:t>
            </a:r>
            <a:endParaRPr/>
          </a:p>
        </p:txBody>
      </p:sp>
      <p:sp>
        <p:nvSpPr>
          <p:cNvPr id="137" name="Google Shape;13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70840" lvl="0" marL="457200" rtl="0" algn="l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SzPts val="2240"/>
              <a:buAutoNum type="arabicPeriod"/>
            </a:pPr>
            <a:r>
              <a:rPr lang="en-US" sz="2240"/>
              <a:t>Может измениться способ "записи/чения" документа (запись в консоль, запись в файл).</a:t>
            </a:r>
            <a:endParaRPr sz="2240"/>
          </a:p>
          <a:p>
            <a:pPr indent="-370840" lvl="0" marL="457200" rtl="0" algn="l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SzPts val="2240"/>
              <a:buAutoNum type="arabicPeriod"/>
            </a:pPr>
            <a:r>
              <a:rPr lang="en-US" sz="2240"/>
              <a:t>Может измениться способ "изменения" документа (обновление данных, добавление данных). </a:t>
            </a:r>
            <a:endParaRPr sz="2240"/>
          </a:p>
          <a:p>
            <a:pPr indent="0" lvl="0" marL="0" rtl="0" algn="l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</a:pPr>
            <a:r>
              <a:t/>
            </a:r>
            <a:endParaRPr sz="2240"/>
          </a:p>
          <a:p>
            <a:pPr indent="0" lvl="0" marL="0" rtl="0" algn="l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</a:pPr>
            <a:r>
              <a:rPr lang="en-US" sz="2240"/>
              <a:t>Разные ответственности в одном классе. </a:t>
            </a:r>
            <a:endParaRPr sz="2240"/>
          </a:p>
          <a:p>
            <a:pPr indent="0" lvl="0" marL="0" rtl="0" algn="l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</a:pPr>
            <a:r>
              <a:t/>
            </a:r>
            <a:endParaRPr sz="2240"/>
          </a:p>
          <a:p>
            <a:pPr indent="0" lvl="0" marL="0" rtl="0" algn="l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</a:pPr>
            <a:r>
              <a:rPr lang="en-US" sz="2240"/>
              <a:t>Объединение нескольких сущностей, которые могут меняться в разное время и по разным причинам, считается плохим проектным решением. </a:t>
            </a:r>
            <a:endParaRPr sz="2240"/>
          </a:p>
          <a:p>
            <a:pPr indent="0" lvl="0" marL="0" rtl="0" algn="l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</a:pPr>
            <a:r>
              <a:t/>
            </a:r>
            <a:endParaRPr sz="2240"/>
          </a:p>
          <a:p>
            <a:pPr indent="0" lvl="0" marL="0" rtl="0" algn="l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</a:pPr>
            <a:r>
              <a:rPr lang="en-US" sz="2240"/>
              <a:t>Решение проблемы: разделение модуля на 2-3 отдельных, каждый из которых будет выполнять одну единственную функцию: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"/>
          <p:cNvSpPr txBox="1"/>
          <p:nvPr>
            <p:ph idx="1" type="body"/>
          </p:nvPr>
        </p:nvSpPr>
        <p:spPr>
          <a:xfrm>
            <a:off x="457200" y="576725"/>
            <a:ext cx="8229600" cy="57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2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 IOOperation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2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public: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	Document read() { return Document(); }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2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 write(Document const &amp; doc) {}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2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 ChangeOperation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2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public: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2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 change(Document &amp; doc){}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O</a:t>
            </a:r>
            <a:r>
              <a:rPr lang="en-US"/>
              <a:t>pen </a:t>
            </a:r>
            <a:r>
              <a:rPr b="1" lang="en-US"/>
              <a:t>C</a:t>
            </a:r>
            <a:r>
              <a:rPr lang="en-US"/>
              <a:t>losed </a:t>
            </a:r>
            <a:r>
              <a:rPr b="1" lang="en-US"/>
              <a:t>P</a:t>
            </a:r>
            <a:r>
              <a:rPr lang="en-US"/>
              <a:t>rinciple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Принцип открытости/закрытости</a:t>
            </a:r>
            <a:endParaRPr/>
          </a:p>
        </p:txBody>
      </p:sp>
      <p:sp>
        <p:nvSpPr>
          <p:cNvPr id="148" name="Google Shape;148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0"/>
              <a:buChar char="•"/>
            </a:pPr>
            <a:r>
              <a:rPr lang="en-US" sz="2480"/>
              <a:t>Принцип Бертрана Мейера: </a:t>
            </a:r>
            <a:r>
              <a:rPr b="1" lang="en-US" sz="2480"/>
              <a:t>программные сущности (классы, модули, функции и т.п.) должны быть открыты для расширения, но закрыты для изменения</a:t>
            </a:r>
            <a:r>
              <a:rPr lang="en-US" sz="2480"/>
              <a:t>. </a:t>
            </a:r>
            <a:br>
              <a:rPr lang="en-US" sz="2480"/>
            </a:br>
            <a:endParaRPr sz="2480"/>
          </a:p>
          <a:p>
            <a:pPr indent="-342900" lvl="0" marL="34290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480"/>
              <a:buChar char="•"/>
            </a:pPr>
            <a:r>
              <a:rPr lang="en-US" sz="2480"/>
              <a:t>Должна быть возможность изменять внешнее поведение класса, не внося физические изменения в сам класс. </a:t>
            </a:r>
            <a:endParaRPr sz="2480"/>
          </a:p>
          <a:p>
            <a:pPr indent="-342900" lvl="0" marL="34290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480"/>
              <a:buChar char="•"/>
            </a:pPr>
            <a:r>
              <a:rPr lang="en-US" sz="2480"/>
              <a:t>Классы разрабатываются так, чтобы для подстройки класса к конкретным условиям применения было достаточно расширить его и переопределить некоторые функции. </a:t>
            </a:r>
            <a:endParaRPr sz="2480"/>
          </a:p>
          <a:p>
            <a:pPr indent="-342900" lvl="0" marL="34290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480"/>
              <a:buChar char="•"/>
            </a:pPr>
            <a:r>
              <a:rPr lang="en-US" sz="2480"/>
              <a:t>Система должна быть гибкой, с возможностью работы в переменных условиях без изменения исходного кода.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974d75d74_1_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Задача</a:t>
            </a:r>
            <a:endParaRPr/>
          </a:p>
        </p:txBody>
      </p:sp>
      <p:sp>
        <p:nvSpPr>
          <p:cNvPr id="154" name="Google Shape;154;g3d974d75d74_1_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Продолжение примера с документом.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Пусть нужно выполнять какие-то действия перед записью и после чтения документа. 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Решение: вместо того, чтобы менять класс </a:t>
            </a:r>
            <a:r>
              <a:rPr lang="en-US"/>
              <a:t>IOOperation</a:t>
            </a:r>
            <a:r>
              <a:rPr lang="en-US"/>
              <a:t>, нужно расширить его, не нарушая принцип OCP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"/>
          <p:cNvSpPr txBox="1"/>
          <p:nvPr>
            <p:ph idx="1" type="body"/>
          </p:nvPr>
        </p:nvSpPr>
        <p:spPr>
          <a:xfrm>
            <a:off x="457200" y="476672"/>
            <a:ext cx="8229600" cy="6120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2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 IOOperation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2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public: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	Document read() { return Document(); }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2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 write(Document const &amp; doc) {}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8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rgbClr val="000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8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IOOperation</a:t>
            </a: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With: public </a:t>
            </a: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IOOperation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8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8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public: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8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Document readWith() {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8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	Document doc = read(); </a:t>
            </a:r>
            <a:endParaRPr sz="20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8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	</a:t>
            </a:r>
            <a:r>
              <a:rPr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// TODO: дополнительные преобразования</a:t>
            </a:r>
            <a:endParaRPr sz="20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8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	</a:t>
            </a:r>
            <a:r>
              <a:rPr b="1" lang="en-US" sz="2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doc;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8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}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8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2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writeWith(Document const&amp; doc) {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8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	Document newDoc(doc);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8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	</a:t>
            </a:r>
            <a:r>
              <a:rPr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// TODO: дополнительные преобразования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8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	write(newDoc); </a:t>
            </a:r>
            <a:endParaRPr sz="20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8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}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80000"/>
              </a:lnSpc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80000"/>
              </a:lnSpc>
              <a:spcBef>
                <a:spcPts val="256"/>
              </a:spcBef>
              <a:spcAft>
                <a:spcPts val="0"/>
              </a:spcAft>
              <a:buClr>
                <a:srgbClr val="999999"/>
              </a:buClr>
              <a:buSzPts val="1280"/>
              <a:buNone/>
            </a:pPr>
            <a:r>
              <a:t/>
            </a:r>
            <a:endParaRPr b="1" sz="1600">
              <a:solidFill>
                <a:srgbClr val="00008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b="1" lang="en-US" sz="3600"/>
              <a:t>L</a:t>
            </a:r>
            <a:r>
              <a:rPr lang="en-US" sz="3600"/>
              <a:t>iskov’s </a:t>
            </a:r>
            <a:r>
              <a:rPr b="1" lang="en-US" sz="3600"/>
              <a:t>S</a:t>
            </a:r>
            <a:r>
              <a:rPr lang="en-US" sz="3600"/>
              <a:t>ubstitution </a:t>
            </a:r>
            <a:r>
              <a:rPr b="1" lang="en-US" sz="3600"/>
              <a:t>P</a:t>
            </a:r>
            <a:r>
              <a:rPr lang="en-US" sz="3600"/>
              <a:t>rinciple</a:t>
            </a:r>
            <a:endParaRPr sz="36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lang="en-US" sz="3600"/>
              <a:t>Принцип подстановки Барбары Лисков</a:t>
            </a:r>
            <a:endParaRPr sz="3600"/>
          </a:p>
        </p:txBody>
      </p:sp>
      <p:sp>
        <p:nvSpPr>
          <p:cNvPr id="166" name="Google Shape;166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20"/>
              <a:buChar char="•"/>
            </a:pPr>
            <a:r>
              <a:rPr lang="en-US" sz="2720"/>
              <a:t>Принцип: </a:t>
            </a:r>
            <a:r>
              <a:rPr b="1" lang="en-US" sz="2720"/>
              <a:t>объекты в программе можно заменить их наследниками без изменения свойств программы</a:t>
            </a:r>
            <a:r>
              <a:rPr lang="en-US" sz="2720"/>
              <a:t>. </a:t>
            </a:r>
            <a:endParaRPr sz="2720"/>
          </a:p>
          <a:p>
            <a:pPr indent="-342900" lvl="0" marL="342900" rtl="0" algn="l">
              <a:lnSpc>
                <a:spcPct val="8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2720"/>
              <a:buChar char="•"/>
            </a:pPr>
            <a:r>
              <a:rPr lang="en-US" sz="2720"/>
              <a:t>Это означает, что </a:t>
            </a:r>
            <a:r>
              <a:rPr lang="en-US" sz="2720" u="sng"/>
              <a:t>класс</a:t>
            </a:r>
            <a:r>
              <a:rPr lang="en-US" sz="2720"/>
              <a:t>, разработанный путем расширения </a:t>
            </a:r>
            <a:r>
              <a:rPr lang="en-US" sz="2720" u="sng"/>
              <a:t>на основании базового</a:t>
            </a:r>
            <a:r>
              <a:rPr lang="en-US" sz="2720"/>
              <a:t> класса, должен </a:t>
            </a:r>
            <a:r>
              <a:rPr lang="en-US" sz="2720" u="sng"/>
              <a:t>переопределять его методы</a:t>
            </a:r>
            <a:r>
              <a:rPr lang="en-US" sz="2720"/>
              <a:t> так, чтобы </a:t>
            </a:r>
            <a:r>
              <a:rPr lang="en-US" sz="2720" u="sng"/>
              <a:t>не нарушалась функциональность</a:t>
            </a:r>
            <a:r>
              <a:rPr lang="en-US" sz="2720"/>
              <a:t> с точки зрения клиента. </a:t>
            </a:r>
            <a:endParaRPr sz="2720"/>
          </a:p>
          <a:p>
            <a:pPr indent="-342900" lvl="0" marL="342900" rtl="0" algn="l">
              <a:lnSpc>
                <a:spcPct val="8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2720"/>
              <a:buChar char="•"/>
            </a:pPr>
            <a:r>
              <a:rPr lang="en-US" sz="2720"/>
              <a:t>То есть, если разработчик расширяет класс и использует его в приложении, он не должен изменять ожидаемое поведение переопределенных методов. </a:t>
            </a:r>
            <a:endParaRPr sz="272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"/>
          <p:cNvSpPr txBox="1"/>
          <p:nvPr>
            <p:ph idx="1" type="body"/>
          </p:nvPr>
        </p:nvSpPr>
        <p:spPr>
          <a:xfrm>
            <a:off x="223500" y="329375"/>
            <a:ext cx="8681400" cy="6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Пусть некоторые документы нужно считывать из файла. </a:t>
            </a:r>
            <a:endParaRPr sz="2200"/>
          </a:p>
          <a:p>
            <a:pPr indent="-342900" lvl="0" marL="342900" rtl="0" algn="l">
              <a:lnSpc>
                <a:spcPct val="8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Для этого расширим класс </a:t>
            </a:r>
            <a:r>
              <a:rPr lang="en-US" sz="2200"/>
              <a:t>IOOperation </a:t>
            </a:r>
            <a:r>
              <a:rPr lang="en-US" sz="2200"/>
              <a:t>классом </a:t>
            </a:r>
            <a:r>
              <a:rPr lang="en-US" sz="2200"/>
              <a:t>IOFileOperation</a:t>
            </a:r>
            <a:r>
              <a:rPr lang="en-US" sz="2200"/>
              <a:t>: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2000">
              <a:solidFill>
                <a:srgbClr val="000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2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 IOFileOperation: </a:t>
            </a:r>
            <a:r>
              <a:rPr b="1" lang="en-US" sz="2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 IOOperation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2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public: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	Document read() { 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		если файл существует, то {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считать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return Document(); 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иначе выкинуть исключение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20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 write(Document const &amp; doc) {}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760"/>
          </a:p>
          <a:p>
            <a:pPr indent="0" lvl="0" marL="0" rtl="0" algn="l">
              <a:lnSpc>
                <a:spcPct val="80000"/>
              </a:lnSpc>
              <a:spcBef>
                <a:spcPts val="352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42900" lvl="0" marL="342900" rtl="0" algn="l">
              <a:lnSpc>
                <a:spcPct val="8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В данном классе нарушен принцип LSP: вместо того, чтобы вернуть </a:t>
            </a:r>
            <a:r>
              <a:rPr i="1" lang="en-US" sz="2200"/>
              <a:t>Document</a:t>
            </a:r>
            <a:r>
              <a:rPr lang="en-US" sz="2200"/>
              <a:t>, метод бросает исключение. </a:t>
            </a:r>
            <a:endParaRPr sz="2200"/>
          </a:p>
          <a:p>
            <a:pPr indent="-342900" lvl="0" marL="342900" rtl="0" algn="l">
              <a:lnSpc>
                <a:spcPct val="80000"/>
              </a:lnSpc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Клиенты данного кода не рассчитывают на такоеповедение: они ожидают возвращения </a:t>
            </a:r>
            <a:r>
              <a:rPr i="1" lang="en-US" sz="2200"/>
              <a:t>Document</a:t>
            </a:r>
            <a:r>
              <a:rPr lang="en-US" sz="2200"/>
              <a:t>. </a:t>
            </a:r>
            <a:endParaRPr sz="2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I</a:t>
            </a:r>
            <a:r>
              <a:rPr lang="en-US"/>
              <a:t>nterface </a:t>
            </a:r>
            <a:r>
              <a:rPr b="1" lang="en-US"/>
              <a:t>S</a:t>
            </a:r>
            <a:r>
              <a:rPr lang="en-US"/>
              <a:t>egregation </a:t>
            </a:r>
            <a:r>
              <a:rPr b="1" lang="en-US"/>
              <a:t>P</a:t>
            </a:r>
            <a:r>
              <a:rPr lang="en-US"/>
              <a:t>rinciple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Принцип разделения интерфейса</a:t>
            </a:r>
            <a:endParaRPr/>
          </a:p>
        </p:txBody>
      </p:sp>
      <p:sp>
        <p:nvSpPr>
          <p:cNvPr id="177" name="Google Shape;17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60"/>
              <a:buChar char="•"/>
            </a:pPr>
            <a:r>
              <a:rPr lang="en-US" sz="2400"/>
              <a:t>Принцип: </a:t>
            </a:r>
            <a:r>
              <a:rPr b="1" lang="en-US" sz="2400"/>
              <a:t>клиенты не должны быть вынуждены реализовывать методы, которые они не будут использовать</a:t>
            </a:r>
            <a:r>
              <a:rPr lang="en-US" sz="2400"/>
              <a:t>.</a:t>
            </a:r>
            <a:endParaRPr sz="2400"/>
          </a:p>
          <a:p>
            <a:pPr indent="-342900" lvl="0" marL="34290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Char char="•"/>
            </a:pPr>
            <a:r>
              <a:rPr lang="en-US" sz="2400"/>
              <a:t>Слишком «толстые» интерфейсы необходимо разделять на более мелкие и специфические, чтобы клиенты мелких интерфейсов знали только о методах, необходимых в работе. </a:t>
            </a:r>
            <a:endParaRPr sz="2400"/>
          </a:p>
          <a:p>
            <a:pPr indent="-342900" lvl="0" marL="34290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Char char="•"/>
            </a:pPr>
            <a:r>
              <a:rPr lang="en-US" sz="2400"/>
              <a:t>В итоге, при изменении метода интерфейса не должны меняться клиенты, которые этот метод не используют. </a:t>
            </a:r>
            <a:endParaRPr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Задача</a:t>
            </a:r>
            <a:endParaRPr/>
          </a:p>
        </p:txBody>
      </p:sp>
      <p:sp>
        <p:nvSpPr>
          <p:cNvPr id="184" name="Google Shape;184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0"/>
              <a:buChar char="•"/>
            </a:pPr>
            <a:r>
              <a:rPr lang="en-US" sz="2400"/>
              <a:t>Клиент пожелал считывать документ из xml формата, но записывать в xml формат не нужно. Нужно записывать </a:t>
            </a:r>
            <a:r>
              <a:rPr lang="en-US" sz="2400"/>
              <a:t>документ</a:t>
            </a:r>
            <a:r>
              <a:rPr lang="en-US" sz="2400"/>
              <a:t> в csv формат.</a:t>
            </a:r>
            <a:endParaRPr sz="2400"/>
          </a:p>
          <a:p>
            <a:pPr indent="-185420" lvl="0" marL="34290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480"/>
              <a:buNone/>
            </a:pPr>
            <a:r>
              <a:t/>
            </a:r>
            <a:endParaRPr sz="2400"/>
          </a:p>
          <a:p>
            <a:pPr indent="-342900" lvl="0" marL="342900" marR="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SzPts val="2480"/>
              <a:buChar char="•"/>
            </a:pPr>
            <a:r>
              <a:rPr lang="en-US" sz="2400"/>
              <a:t>Если описать класс IOXmlFileOperation, то нужно будет реализовать методы записи и чтения для xml.</a:t>
            </a:r>
            <a:endParaRPr sz="2400"/>
          </a:p>
          <a:p>
            <a:pPr indent="-342900" lvl="0" marL="342900" marR="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SzPts val="2480"/>
              <a:buChar char="•"/>
            </a:pPr>
            <a:r>
              <a:rPr lang="en-US" sz="2400"/>
              <a:t>Если описать класс IOCsvFileOperation, то нужно будет реализовать методы записи и чтения для csv.</a:t>
            </a:r>
            <a:endParaRPr sz="2400"/>
          </a:p>
          <a:p>
            <a:pPr indent="-342900" lvl="0" marL="34290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480"/>
              <a:buChar char="•"/>
            </a:pPr>
            <a:r>
              <a:rPr lang="en-US" sz="2400"/>
              <a:t>Реализуем ненужные методы или </a:t>
            </a:r>
            <a:r>
              <a:rPr lang="en-US" sz="2400"/>
              <a:t>оставит их пустыми. </a:t>
            </a:r>
            <a:endParaRPr sz="2400"/>
          </a:p>
          <a:p>
            <a:pPr indent="-185420" lvl="0" marL="34290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480"/>
              <a:buNone/>
            </a:pPr>
            <a:r>
              <a:t/>
            </a:r>
            <a:endParaRPr sz="2400"/>
          </a:p>
          <a:p>
            <a:pPr indent="-342900" lvl="0" marL="342900" rtl="0" algn="l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480"/>
              <a:buChar char="•"/>
            </a:pPr>
            <a:r>
              <a:rPr lang="en-US" sz="2400"/>
              <a:t>В чем решение? </a:t>
            </a:r>
            <a:endParaRPr sz="2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04e8c2c6b4_0_0"/>
          <p:cNvSpPr txBox="1"/>
          <p:nvPr>
            <p:ph idx="1" type="body"/>
          </p:nvPr>
        </p:nvSpPr>
        <p:spPr>
          <a:xfrm>
            <a:off x="457200" y="260648"/>
            <a:ext cx="8229600" cy="6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7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 ReadOperation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7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public: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	virtual Document read() { return Document(); }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7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 ReadXmlOperation: </a:t>
            </a:r>
            <a:r>
              <a:rPr b="1" lang="en-US" sz="17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 ReadOperation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7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public: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	Document read() { return Document(); }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7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 WriteOperation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7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public: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virtual </a:t>
            </a:r>
            <a:r>
              <a:rPr b="1" lang="en-US" sz="17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 write(Document const &amp; doc) {}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7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 WriteCsvOperation: </a:t>
            </a:r>
            <a:r>
              <a:rPr b="1" lang="en-US" sz="17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 WriteOperation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7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public: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17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 write(Document const &amp; doc) {}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04e8c2c6b4_0_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Задача</a:t>
            </a:r>
            <a:endParaRPr/>
          </a:p>
        </p:txBody>
      </p:sp>
      <p:sp>
        <p:nvSpPr>
          <p:cNvPr id="195" name="Google Shape;195;g304e8c2c6b4_0_4"/>
          <p:cNvSpPr txBox="1"/>
          <p:nvPr>
            <p:ph idx="1" type="body"/>
          </p:nvPr>
        </p:nvSpPr>
        <p:spPr>
          <a:xfrm>
            <a:off x="457200" y="1600200"/>
            <a:ext cx="8229600" cy="49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 Service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public: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18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 execute()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Read</a:t>
            </a: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Xml</a:t>
            </a: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Operation readO</a:t>
            </a: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peration;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ChangeOperation changeOperation;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	WriteCsvOperation writeOperation;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	Document doc = </a:t>
            </a: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readOperation.</a:t>
            </a: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read();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changeOperation</a:t>
            </a: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.change(doc);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writeOperation.</a:t>
            </a: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write(doc);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};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D</a:t>
            </a:r>
            <a:r>
              <a:rPr lang="en-US"/>
              <a:t>ependency </a:t>
            </a:r>
            <a:r>
              <a:rPr b="1" lang="en-US"/>
              <a:t>I</a:t>
            </a:r>
            <a:r>
              <a:rPr lang="en-US"/>
              <a:t>nversion </a:t>
            </a:r>
            <a:r>
              <a:rPr b="1" lang="en-US"/>
              <a:t>P</a:t>
            </a:r>
            <a:r>
              <a:rPr lang="en-US"/>
              <a:t>rinciple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Принцип инверсии зависимостей</a:t>
            </a:r>
            <a:endParaRPr/>
          </a:p>
        </p:txBody>
      </p:sp>
      <p:sp>
        <p:nvSpPr>
          <p:cNvPr id="201" name="Google Shape;201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60"/>
              <a:buChar char="•"/>
            </a:pPr>
            <a:r>
              <a:rPr lang="en-US" sz="2800"/>
              <a:t>Принцип: </a:t>
            </a:r>
            <a:r>
              <a:rPr b="1" lang="en-US" sz="2800"/>
              <a:t>зависимости внутри системы строятся на основе абстракций</a:t>
            </a:r>
            <a:r>
              <a:rPr lang="en-US" sz="2800"/>
              <a:t>. </a:t>
            </a:r>
            <a:endParaRPr sz="2800"/>
          </a:p>
          <a:p>
            <a:pPr indent="-342900" lvl="0" marL="342900" rtl="0" algn="l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Char char="•"/>
            </a:pPr>
            <a:r>
              <a:rPr lang="en-US" sz="2800"/>
              <a:t>Модули верхнего уровня не зависят от модулей нижнего уровня. </a:t>
            </a:r>
            <a:endParaRPr sz="2800"/>
          </a:p>
          <a:p>
            <a:pPr indent="-342900" lvl="0" marL="342900" rtl="0" algn="l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Char char="•"/>
            </a:pPr>
            <a:r>
              <a:rPr lang="en-US" sz="2800"/>
              <a:t>Абстракции не должны зависеть от деталей. </a:t>
            </a:r>
            <a:endParaRPr sz="2800"/>
          </a:p>
          <a:p>
            <a:pPr indent="-342900" lvl="0" marL="342900" rtl="0" algn="l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Char char="•"/>
            </a:pPr>
            <a:r>
              <a:rPr lang="en-US" sz="2800"/>
              <a:t>Детали должны зависеть от абстракций. </a:t>
            </a:r>
            <a:endParaRPr sz="2800"/>
          </a:p>
          <a:p>
            <a:pPr indent="-342900" lvl="0" marL="342900" rtl="0" algn="l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Char char="•"/>
            </a:pPr>
            <a:r>
              <a:rPr lang="en-US" sz="2800"/>
              <a:t>Программное обеспечение нужно разрабатывать так, чтобы различные модули были автономными и соединялись друг с другом с помощью абстракции.</a:t>
            </a:r>
            <a:endParaRPr sz="2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Задача</a:t>
            </a:r>
            <a:endParaRPr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457200" y="1600200"/>
            <a:ext cx="8229600" cy="49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400"/>
              <a:t>Класс </a:t>
            </a:r>
            <a:r>
              <a:rPr lang="en-US" sz="2400"/>
              <a:t>Service </a:t>
            </a:r>
            <a:r>
              <a:rPr lang="en-US" sz="2400"/>
              <a:t>зависит от конкретных классов </a:t>
            </a:r>
            <a:r>
              <a:rPr lang="en-US" sz="2400"/>
              <a:t>ReadXmlOperation </a:t>
            </a:r>
            <a:r>
              <a:rPr lang="en-US" sz="2400"/>
              <a:t>и </a:t>
            </a:r>
            <a:r>
              <a:rPr lang="en-US" sz="2400"/>
              <a:t>WriteCsvOperation</a:t>
            </a:r>
            <a:r>
              <a:rPr lang="en-US" sz="2400"/>
              <a:t>. </a:t>
            </a:r>
            <a:endParaRPr sz="2400"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i="0" sz="2000">
              <a:solidFill>
                <a:srgbClr val="000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7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 Service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7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public: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17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 execute() {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	ReadXmlOperation readOperation;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	ChangeOperation changeOperation;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	WriteCsvOperation writeOperation;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	Document doc = readOperation.read();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changeOperation.change(doc);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	writeOperation.write(doc);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999999"/>
              </a:buClr>
              <a:buSzPts val="2000"/>
              <a:buNone/>
            </a:pPr>
            <a:r>
              <a:rPr lang="en-US" sz="1700"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999999"/>
              </a:buClr>
              <a:buSzPts val="2000"/>
              <a:buNone/>
            </a:pPr>
            <a:br>
              <a:rPr lang="en-US" sz="2000"/>
            </a:br>
            <a:r>
              <a:rPr lang="en-US" sz="2000"/>
              <a:t>С точки зрения принципа DIP нужно создать и использовать абстракции, которые позволят в дальнейшем оперировать ими, а не конкретными реализациями. </a:t>
            </a:r>
            <a:endParaRPr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"/>
          <p:cNvSpPr txBox="1"/>
          <p:nvPr>
            <p:ph idx="1" type="body"/>
          </p:nvPr>
        </p:nvSpPr>
        <p:spPr>
          <a:xfrm>
            <a:off x="364650" y="548675"/>
            <a:ext cx="8422500" cy="58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6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600">
                <a:latin typeface="Consolas"/>
                <a:ea typeface="Consolas"/>
                <a:cs typeface="Consolas"/>
                <a:sym typeface="Consolas"/>
              </a:rPr>
              <a:t> Service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6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</a:pPr>
            <a:r>
              <a:rPr b="1" lang="en-US" sz="16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private: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</a:pPr>
            <a:r>
              <a:rPr lang="en-US" sz="1600">
                <a:latin typeface="Consolas"/>
                <a:ea typeface="Consolas"/>
                <a:cs typeface="Consolas"/>
                <a:sym typeface="Consolas"/>
              </a:rPr>
              <a:t>ReadOperation * readOperation;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</a:pPr>
            <a:r>
              <a:rPr lang="en-US" sz="1600">
                <a:latin typeface="Consolas"/>
                <a:ea typeface="Consolas"/>
                <a:cs typeface="Consolas"/>
                <a:sym typeface="Consolas"/>
              </a:rPr>
              <a:t>WriteOperation * writeOperation;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</a:pPr>
            <a:r>
              <a:rPr lang="en-US" sz="1600">
                <a:latin typeface="Consolas"/>
                <a:ea typeface="Consolas"/>
                <a:cs typeface="Consolas"/>
                <a:sym typeface="Consolas"/>
              </a:rPr>
              <a:t>ChangeOperation * changeOperation;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6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public:</a:t>
            </a:r>
            <a:endParaRPr b="1" sz="1600">
              <a:solidFill>
                <a:srgbClr val="000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6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1600">
                <a:latin typeface="Consolas"/>
                <a:ea typeface="Consolas"/>
                <a:cs typeface="Consolas"/>
                <a:sym typeface="Consolas"/>
              </a:rPr>
              <a:t>Service(ReadOperation * readOperation,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600">
                <a:latin typeface="Consolas"/>
                <a:ea typeface="Consolas"/>
                <a:cs typeface="Consolas"/>
                <a:sym typeface="Consolas"/>
              </a:rPr>
              <a:t>WriteOperation * writeOperation,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600">
                <a:latin typeface="Consolas"/>
                <a:ea typeface="Consolas"/>
                <a:cs typeface="Consolas"/>
                <a:sym typeface="Consolas"/>
              </a:rPr>
              <a:t>ChangeOperation * changeOperation){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600">
                <a:latin typeface="Consolas"/>
                <a:ea typeface="Consolas"/>
                <a:cs typeface="Consolas"/>
                <a:sym typeface="Consolas"/>
              </a:rPr>
              <a:t>		</a:t>
            </a:r>
            <a:r>
              <a:rPr b="1" lang="en-US" sz="16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en-US" sz="1600">
                <a:latin typeface="Consolas"/>
                <a:ea typeface="Consolas"/>
                <a:cs typeface="Consolas"/>
                <a:sym typeface="Consolas"/>
              </a:rPr>
              <a:t>-&gt;readOperation = readOperation</a:t>
            </a:r>
            <a:r>
              <a:rPr lang="en-US" sz="160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600"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</a:pPr>
            <a:r>
              <a:rPr b="1" lang="en-US" sz="16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en-US" sz="1600">
                <a:latin typeface="Consolas"/>
                <a:ea typeface="Consolas"/>
                <a:cs typeface="Consolas"/>
                <a:sym typeface="Consolas"/>
              </a:rPr>
              <a:t>-&gt;writeOperation = writeOperation</a:t>
            </a:r>
            <a:r>
              <a:rPr lang="en-US" sz="160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1600"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</a:pPr>
            <a:r>
              <a:rPr b="1" lang="en-US" sz="16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en-US" sz="1600">
                <a:latin typeface="Consolas"/>
                <a:ea typeface="Consolas"/>
                <a:cs typeface="Consolas"/>
                <a:sym typeface="Consolas"/>
              </a:rPr>
              <a:t>-&gt;changeOperation = changeOperation</a:t>
            </a:r>
            <a:r>
              <a:rPr lang="en-US" sz="160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6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600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16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1600">
                <a:latin typeface="Consolas"/>
                <a:ea typeface="Consolas"/>
                <a:cs typeface="Consolas"/>
                <a:sym typeface="Consolas"/>
              </a:rPr>
              <a:t> execute()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600">
                <a:latin typeface="Consolas"/>
                <a:ea typeface="Consolas"/>
                <a:cs typeface="Consolas"/>
                <a:sym typeface="Consolas"/>
              </a:rPr>
              <a:t>	Document doc = readOperation-&gt;read();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600">
                <a:latin typeface="Consolas"/>
                <a:ea typeface="Consolas"/>
                <a:cs typeface="Consolas"/>
                <a:sym typeface="Consolas"/>
              </a:rPr>
              <a:t>changeOperation-&gt;change(doc);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600">
                <a:latin typeface="Consolas"/>
                <a:ea typeface="Consolas"/>
                <a:cs typeface="Consolas"/>
                <a:sym typeface="Consolas"/>
              </a:rPr>
              <a:t>	writeOperation-&gt;write(doc);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6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999999"/>
              </a:buClr>
              <a:buSzPts val="2000"/>
              <a:buFont typeface="Arial"/>
              <a:buNone/>
            </a:pPr>
            <a:r>
              <a:rPr lang="en-US" sz="1600"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60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Главное не перестараться</a:t>
            </a:r>
            <a:endParaRPr/>
          </a:p>
        </p:txBody>
      </p:sp>
      <p:sp>
        <p:nvSpPr>
          <p:cNvPr id="219" name="Google Shape;219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S – The Single Responsibility Principle</a:t>
            </a:r>
            <a:endParaRPr b="1"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Anti-SRP – Принцип размытой ответственности</a:t>
            </a:r>
            <a:r>
              <a:rPr lang="en-US"/>
              <a:t>. Чрезмерная любовь к SRP ведет к обилию мелких классов/методов и размазыванию логики между ними.</a:t>
            </a:r>
            <a:endParaRPr b="1"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Главное не перестараться</a:t>
            </a:r>
            <a:endParaRPr/>
          </a:p>
        </p:txBody>
      </p:sp>
      <p:sp>
        <p:nvSpPr>
          <p:cNvPr id="225" name="Google Shape;225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O – The Open-Closed Principle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Anti-OCP –</a:t>
            </a:r>
            <a:r>
              <a:rPr lang="en-US"/>
              <a:t> </a:t>
            </a:r>
            <a:r>
              <a:rPr b="1" lang="en-US"/>
              <a:t>Принцип фабрики-фабрик</a:t>
            </a:r>
            <a:r>
              <a:rPr lang="en-US"/>
              <a:t>: Чрезмерная любовь к OCP ведет к переусложненным решениям с чрезмерным числом уровней абстракции.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Главное не перестараться</a:t>
            </a:r>
            <a:endParaRPr/>
          </a:p>
        </p:txBody>
      </p:sp>
      <p:sp>
        <p:nvSpPr>
          <p:cNvPr id="231" name="Google Shape;231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L – The Liskov Substitution Principle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Anti-LSP</a:t>
            </a:r>
            <a:r>
              <a:rPr lang="en-US"/>
              <a:t> </a:t>
            </a:r>
            <a:r>
              <a:rPr b="1" lang="en-US"/>
              <a:t>– Принцип непонятного наследования</a:t>
            </a:r>
            <a:r>
              <a:rPr lang="en-US"/>
              <a:t>. Данный анти-принцип проявляется либо в чрезмерном количестве наследования, либо в его полном отсутствии, в зависимости от опыта и взглядов местного главного архитектора.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Главное не перестараться</a:t>
            </a:r>
            <a:endParaRPr/>
          </a:p>
        </p:txBody>
      </p:sp>
      <p:sp>
        <p:nvSpPr>
          <p:cNvPr id="237" name="Google Shape;237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I – Interface Segregation Principle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Anti-ISP – Принцип тысячи интерфейсов</a:t>
            </a:r>
            <a:r>
              <a:rPr lang="en-US"/>
              <a:t>. Интерфейсы классов разбиваются на слишком большое число составляющих, что делает их неудобными для использования всеми клиентами.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Главное не перестараться</a:t>
            </a:r>
            <a:endParaRPr/>
          </a:p>
        </p:txBody>
      </p:sp>
      <p:sp>
        <p:nvSpPr>
          <p:cNvPr id="243" name="Google Shape;243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D – The Dependency Inversion Principle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Anti-DIP – Принцип инверсии сознания </a:t>
            </a:r>
            <a:r>
              <a:rPr lang="en-US"/>
              <a:t>или </a:t>
            </a:r>
            <a:r>
              <a:rPr b="1" lang="en-US"/>
              <a:t>DI-головного мозга. </a:t>
            </a:r>
            <a:r>
              <a:rPr lang="en-US"/>
              <a:t>Интерфейсы выделяются для каждого класса и пачками передаются через конструкторы. Понять, где находится логика становится практически невозможно.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2019-12-17T15:37:30Z</dcterms:created>
  <dc:creator>korshun</dc:creator>
</cp:coreProperties>
</file>