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visual-paradigm.com/ru/what-are-the-six-types-of-relationships-in-uml-class-diagrams/" TargetMode="External"/><Relationship Id="rId3" Type="http://schemas.openxmlformats.org/officeDocument/2006/relationships/hyperlink" Target="https://babok-school.ru/blog/uml-class-aggregation-vs-composition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001bc30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001bc30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001bc30c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2001bc30c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001bc30c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001bc30c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001bc30c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001bc30c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2001bc30c5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2001bc30c5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2001bc30c5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2001bc30c5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01bc30c5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001bc30c5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001bc30c5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001bc30c5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https://blog.visual-paradigm.com/ru/what-are-the-six-types-of-relationships-in-uml-class-diagrams/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https://babok-school.ru/blog/uml-class-aggregation-vs-composition/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001bc30c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22001bc30c5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2001bc30c5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2001bc30c5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001bc30c5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001bc30c5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001bc30c5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2001bc30c5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001bc30c5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2001bc30c5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001bc30c5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001bc30c5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001bc30c5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2001bc30c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2001bc30c5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2001bc30c5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001bc30c5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2001bc30c5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001bc30c5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2001bc30c5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2001bc30c5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2001bc30c5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8814eea6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8814eea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8814eea6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8814eea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8814eea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c8814eea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8814eea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8814eea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классов</a:t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UML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— это </a:t>
            </a:r>
            <a:r>
              <a:rPr i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графический язык моделирования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общего назначения, предназначенный для </a:t>
            </a:r>
            <a:r>
              <a:rPr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спецификации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визуализации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проектирования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документирования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всех артефактов, создаваемых при разработке программных систем.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499650"/>
            <a:ext cx="8520600" cy="4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Основа UML – это </a:t>
            </a: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диаграммы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Все диаграммы условно делят на: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Поведенческие диаграммы</a:t>
            </a: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отображают процессы, протекающие в моделируемой среде.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Структурные диаграммы</a:t>
            </a: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отображают элементы, из которых состоит система.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классов (</a:t>
            </a:r>
            <a:r>
              <a:rPr lang="ru" sz="3200">
                <a:latin typeface="Calibri"/>
                <a:ea typeface="Calibri"/>
                <a:cs typeface="Calibri"/>
                <a:sym typeface="Calibri"/>
              </a:rPr>
              <a:t>class diagram</a:t>
            </a:r>
            <a:r>
              <a:rPr lang="ru"/>
              <a:t>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Способ описания структуры системы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Сущность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диаграммы классов – </a:t>
            </a: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в том числе частные случаи классов, например, интерфейсы.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описание множества объектов с общими: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03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атрибутами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определяющими состояние, 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03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операциями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определяющими поведение.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рамках системы каждому классу присваивается уникальное имя, отличающее его от других классов.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Атрибут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это свойство класса, которое может принимать множество значений. </a:t>
            </a:r>
            <a:b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Множество допустимых значений атрибута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образует </a:t>
            </a: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домен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Операция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реализация функции, которую можно запросить у любого объекта класса. Исполнение операции часто связано с обработкой и изменением значений атрибутов объекта, а также изменением состояния объекта.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 rotWithShape="1">
          <a:blip r:embed="rId3">
            <a:alphaModFix/>
          </a:blip>
          <a:srcRect b="61765" l="0" r="62802" t="0"/>
          <a:stretch/>
        </p:blipFill>
        <p:spPr>
          <a:xfrm>
            <a:off x="848000" y="1360625"/>
            <a:ext cx="2610600" cy="20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6250" y="550925"/>
            <a:ext cx="4189675" cy="40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Модификаторы доступа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Модификаторы доступа на диаграмме классов обозначены: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Связи между классами</a:t>
            </a:r>
            <a:endParaRPr/>
          </a:p>
        </p:txBody>
      </p:sp>
      <p:pic>
        <p:nvPicPr>
          <p:cNvPr descr="https://habrastorage.org/storage2/0d5/496/c84/0d5496c843e0a40016243d39c97870f6.png" id="110" name="Google Shape;110;p22"/>
          <p:cNvPicPr preferRelativeResize="0"/>
          <p:nvPr/>
        </p:nvPicPr>
        <p:blipFill rotWithShape="1">
          <a:blip r:embed="rId3">
            <a:alphaModFix/>
          </a:blip>
          <a:srcRect b="47914" l="19788" r="0" t="0"/>
          <a:stretch/>
        </p:blipFill>
        <p:spPr>
          <a:xfrm>
            <a:off x="2762675" y="1988825"/>
            <a:ext cx="6142924" cy="28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типы отношений между классами: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ассоциация между классами;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обобщение между классами;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реализация интерфейса;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зависимости</a:t>
            </a: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между классами;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между классами </a:t>
            </a:r>
            <a:b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интерфейсами.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habrastorage.org/storage2/0d5/496/c84/0d5496c843e0a40016243d39c97870f6.png" id="116" name="Google Shape;1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3850" y="149075"/>
            <a:ext cx="6792150" cy="48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Обозначение отношений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Нотация UML для отображения взаимосвязи между классами на диаграммах" id="122" name="Google Shape;1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3625" y="1129700"/>
            <a:ext cx="5254850" cy="35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275" y="200025"/>
            <a:ext cx="60960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708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Зависимость показывает, что изменения в одной сущности могут повлиять на другую сущность, использующую ее.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Зависимость – </a:t>
            </a: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 структурная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связь. Возникает через параметр метода.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Чаще всего зависимости применяют в диаграммах классов, чтобы </a:t>
            </a: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отразить в сигнатуре операции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одного класса тот факт, что </a:t>
            </a: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параметром этой операции могут быть объекты другого класса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Изменение интерфейса второго класса влияет на поведение объектов первого класса.</a:t>
            </a:r>
            <a:endParaRPr/>
          </a:p>
        </p:txBody>
      </p:sp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Зависимость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275" y="200025"/>
            <a:ext cx="4831125" cy="37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/>
        </p:nvSpPr>
        <p:spPr>
          <a:xfrm>
            <a:off x="450750" y="4014475"/>
            <a:ext cx="8386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Зависимость изображают прерывистой линией со стрелкой, направленной к классу, от которого имеется зависимость. 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Обобщение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4013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Обобщение – это отношение между родителем и его потомком.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13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Объекты класса-потомка могут использоваться всюду, где встречаются объекты класса-родителя, но не наоборот. Они наследуют свойства родителя (его атрибуты и операции).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13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Класс, у которого нет родителей, но есть потомки, называется корневым. Класс, у которого нет потомков, называется листовым.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Реализация </a:t>
            </a:r>
            <a:r>
              <a:rPr lang="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это отношение между интерфейсом и классом, </a:t>
            </a:r>
            <a:r>
              <a:rPr lang="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реализующим его</a:t>
            </a:r>
            <a:r>
              <a:rPr lang="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Объекты класса, реализующего интерфейс, могут использоваться всюду, где встречаются интерфейс, но не наоборот. 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Ассоциация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48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Calibri"/>
              <a:buChar char="●"/>
            </a:pP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Асс</a:t>
            </a: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оциация показывает наличие </a:t>
            </a:r>
            <a:r>
              <a:rPr b="1"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структурной </a:t>
            </a: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связи между экземплярами (объектами). 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8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Calibri"/>
              <a:buChar char="●"/>
            </a:pP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Связь вида «часть-целое» (где часть и целое одного уровня, то есть в обоих классах есть поля типа "друг друга").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8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Calibri"/>
              <a:buChar char="●"/>
            </a:pPr>
            <a:r>
              <a:rPr b="1"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Структурная связь</a:t>
            </a: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реализуется через </a:t>
            </a:r>
            <a:r>
              <a:rPr b="1"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поле класса</a:t>
            </a: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810" lvl="0" marL="4572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60"/>
              <a:buFont typeface="Calibri"/>
              <a:buChar char="●"/>
            </a:pP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Выделяют: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81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Calibri"/>
              <a:buChar char="○"/>
            </a:pP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Агрегацию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81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Calibri"/>
              <a:buChar char="○"/>
            </a:pPr>
            <a:r>
              <a:rPr lang="ru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Композицию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6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74333" lvl="0" marL="4572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ru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 «целое» имеет более высокий концептуальный уровень, чем класс «часть». 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333" lvl="0" marL="4572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b="1" lang="ru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Агрегация</a:t>
            </a:r>
            <a:r>
              <a:rPr lang="ru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предполагает, что </a:t>
            </a:r>
            <a:r>
              <a:rPr lang="ru" sz="2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или более объектов одного типа включены в один или более объектов другого типа. </a:t>
            </a:r>
            <a:endParaRPr sz="2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333" lvl="0" marL="4572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ru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«Часть» может одновременно принадлежать нескольким «целым».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333" lvl="0" marL="4572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ru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Графически агрегация изображается в виде линии с не закрашенным ромбом на стороне класса-«целого».</a:t>
            </a:r>
            <a:endParaRPr sz="1300"/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Агрегация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275" y="200025"/>
            <a:ext cx="60960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Композиция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случае, когда связь «части» и «целого» настолько сильна, что уничтожение «целого» приводит к уничтожению всех его «частей», используется  связь композиция. 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Композиция – вариант агрегации, в котором каждый объект одного типа может быть включен ровно в 1 объект другого типа.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композиции </a:t>
            </a:r>
            <a:r>
              <a:rPr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объект-часть может быть частью только одного объекта-целого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Графически композиция изображается в виде линии, дополненной закрашенным ромбом со стороны «целого».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диаграммы классов в VS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00" y="323227"/>
            <a:ext cx="8689625" cy="42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7"/>
          <p:cNvPicPr preferRelativeResize="0"/>
          <p:nvPr/>
        </p:nvPicPr>
        <p:blipFill rotWithShape="1">
          <a:blip r:embed="rId3">
            <a:alphaModFix/>
          </a:blip>
          <a:srcRect b="24497" l="6721" r="45407" t="19575"/>
          <a:stretch/>
        </p:blipFill>
        <p:spPr>
          <a:xfrm>
            <a:off x="2954100" y="275575"/>
            <a:ext cx="3132325" cy="45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