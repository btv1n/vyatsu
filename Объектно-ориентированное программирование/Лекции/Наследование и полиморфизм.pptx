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y="5143500" cx="9144000"/>
  <p:notesSz cx="6858000" cy="9144000"/>
  <p:embeddedFontLst>
    <p:embeddedFont>
      <p:font typeface="Roboto"/>
      <p:regular r:id="rId55"/>
      <p:bold r:id="rId56"/>
      <p:italic r:id="rId57"/>
      <p:boldItalic r:id="rId5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4E1299-80B1-438B-A199-48FDC17B87C5}">
  <a:tblStyle styleId="{5E4E1299-80B1-438B-A199-48FDC17B87C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font" Target="fonts/Roboto-regular.fntdata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font" Target="fonts/Roboto-italic.fntdata"/><Relationship Id="rId12" Type="http://schemas.openxmlformats.org/officeDocument/2006/relationships/slide" Target="slides/slide6.xml"/><Relationship Id="rId56" Type="http://schemas.openxmlformats.org/officeDocument/2006/relationships/font" Target="fonts/Roboto-bold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58" Type="http://schemas.openxmlformats.org/officeDocument/2006/relationships/font" Target="fonts/Roboto-bold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111bf38460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111bf38460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111bf38460_0_3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2111bf38460_0_3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111bf3846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111bf3846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111bf3846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111bf3846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111bf38460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111bf38460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2111bf38460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2111bf3846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2111bf3846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2111bf3846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111bf38460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111bf38460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111bf38460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111bf3846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111bf38460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111bf3846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2111bf38460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2111bf38460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2111bf38460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2111bf38460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2111bf38460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2111bf38460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2111bf38460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2111bf38460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111bf38460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111bf384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2111bf38460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2111bf38460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111bf38460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2111bf38460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2111bf38460_0_1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2111bf38460_0_1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2111bf38460_0_1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2111bf38460_0_1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2111bf38460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2111bf38460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2111bf38460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2111bf38460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111bf38460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111bf38460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2111bf38460_0_1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2111bf38460_0_1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2111bf38460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2111bf38460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2111bf38460_0_2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2111bf38460_0_2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2111bf38460_0_2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2111bf38460_0_2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2111bf38460_0_2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3" name="Google Shape;223;g2111bf38460_0_2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2111bf38460_0_2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2111bf38460_0_2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2111bf38460_0_2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5" name="Google Shape;235;g2111bf38460_0_2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2111bf38460_0_2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2111bf38460_0_2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2111bf38460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2111bf38460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2111bf38460_0_2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2111bf38460_0_2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2111bf38460_0_2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2" name="Google Shape;262;g2111bf38460_0_2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2111bf3846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2111bf3846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Е</a:t>
            </a:r>
            <a:r>
              <a:rPr lang="ru"/>
              <a:t>сли деструктор базового класса объявлен как virtual, деструктор в классе-наследнике автоматически становится виртуальным, даже если ключевое слово virtual там не указано. Это гарантирует корректное уничтожение производного объекта через указатель на базовый класс и предотвращает утечки памяти.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Рекомендуется явно указывать ключевое слово override (с C++11) или virtual в наследнике для документирования кода.</a:t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111bf38460_0_2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111bf38460_0_2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111bf38460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111bf38460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2111bf38460_0_3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2111bf38460_0_3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private- и protected-наследования – это некорректные наследования с точки зрения ООП. </a:t>
            </a:r>
            <a:endParaRPr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Использование их целесообразно, если необходимо не только агрегировать другой класс, но и переопределить его виртуальные методы.</a:t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111bf38460_0_3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111bf38460_0_3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Определите метод в наследнике с модификатором public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private ограничивает область видимости (кто может вызвать), но не запрещает переопределение.</a:t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111bf38460_0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111bf38460_0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21194babe07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21194babe07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1194babe07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1194babe07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g21194babe07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0" name="Google Shape;330;g21194babe07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21194babe0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21194babe0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21194babe07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21194babe07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2111bf38460_0_3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g2111bf38460_0_3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IConvertibleToString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~IConvertibleToString(){} // деструктор должен иметь реализацию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string toString()const = 0;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21194babe07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21194babe07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2111bf38460_0_3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2111bf38460_0_3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 полиморфизм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Лекция 4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Наследование 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Наследование – это механизм, позволяющий создавать производные классы, расширяя уже существующие</a:t>
            </a:r>
            <a:endParaRPr sz="1100">
              <a:solidFill>
                <a:srgbClr val="00008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000088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rgbClr val="000088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Inheritor: &lt;modifier&gt; Base { 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&lt;modifier&gt;</a:t>
            </a:r>
            <a:r>
              <a:rPr lang="ru">
                <a:solidFill>
                  <a:schemeClr val="dk1"/>
                </a:solidFill>
              </a:rPr>
              <a:t> — это одно из ключевых слов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>
                <a:solidFill>
                  <a:schemeClr val="dk1"/>
                </a:solidFill>
              </a:rPr>
              <a:t>,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ru">
                <a:solidFill>
                  <a:schemeClr val="dk1"/>
                </a:solidFill>
              </a:rPr>
              <a:t> или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 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A {};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 B1 : public A {}; // по умолчанию для структур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 B2 : private A {}; // по умолчанию для классов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Модификатор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ru">
                <a:solidFill>
                  <a:schemeClr val="dk1"/>
                </a:solidFill>
              </a:rPr>
              <a:t>позволяет использовать в производном классе все открытые члены базового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модификаторе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 </a:t>
            </a:r>
            <a:r>
              <a:rPr lang="ru">
                <a:solidFill>
                  <a:schemeClr val="dk1"/>
                </a:solidFill>
              </a:rPr>
              <a:t>наследник </a:t>
            </a:r>
            <a:r>
              <a:rPr lang="ru">
                <a:solidFill>
                  <a:schemeClr val="dk1"/>
                </a:solidFill>
              </a:rPr>
              <a:t>ничего </a:t>
            </a:r>
            <a:r>
              <a:rPr lang="ru">
                <a:solidFill>
                  <a:schemeClr val="dk1"/>
                </a:solidFill>
              </a:rPr>
              <a:t>не </a:t>
            </a:r>
            <a:r>
              <a:rPr lang="ru">
                <a:solidFill>
                  <a:schemeClr val="dk1"/>
                </a:solidFill>
              </a:rPr>
              <a:t>будет знать о </a:t>
            </a:r>
            <a:r>
              <a:rPr lang="ru">
                <a:solidFill>
                  <a:schemeClr val="dk1"/>
                </a:solidFill>
              </a:rPr>
              <a:t>публичны</a:t>
            </a:r>
            <a:r>
              <a:rPr lang="ru">
                <a:solidFill>
                  <a:schemeClr val="dk1"/>
                </a:solidFill>
              </a:rPr>
              <a:t>х</a:t>
            </a:r>
            <a:r>
              <a:rPr lang="ru">
                <a:solidFill>
                  <a:schemeClr val="dk1"/>
                </a:solidFill>
              </a:rPr>
              <a:t> член</a:t>
            </a:r>
            <a:r>
              <a:rPr lang="ru">
                <a:solidFill>
                  <a:schemeClr val="dk1"/>
                </a:solidFill>
              </a:rPr>
              <a:t>ах</a:t>
            </a:r>
            <a:r>
              <a:rPr lang="ru">
                <a:solidFill>
                  <a:schemeClr val="dk1"/>
                </a:solidFill>
              </a:rPr>
              <a:t> базового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модификаторе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ru">
                <a:solidFill>
                  <a:srgbClr val="303030"/>
                </a:solidFill>
                <a:highlight>
                  <a:srgbClr val="FFFFFF"/>
                </a:highlight>
              </a:rPr>
              <a:t> свойства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>
                <a:solidFill>
                  <a:srgbClr val="303030"/>
                </a:solidFill>
                <a:highlight>
                  <a:srgbClr val="FFFFFF"/>
                </a:highlight>
              </a:rPr>
              <a:t> переходит в доступ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</a:t>
            </a:r>
            <a:r>
              <a:rPr lang="ru">
                <a:solidFill>
                  <a:srgbClr val="303030"/>
                </a:solidFill>
                <a:highlight>
                  <a:srgbClr val="FFFFFF"/>
                </a:highlight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Наследование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231675" y="1152475"/>
            <a:ext cx="415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Person(string fullname, </a:t>
            </a:r>
            <a:b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  unsigned int age);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getFullname() const;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getAge() const;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74" name="Google Shape;74;p16"/>
          <p:cNvSpPr txBox="1"/>
          <p:nvPr>
            <p:ph idx="2" type="body"/>
          </p:nvPr>
        </p:nvSpPr>
        <p:spPr>
          <a:xfrm>
            <a:off x="45720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#include "Person.h"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 public Person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Employee(string fullname,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age,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workPass);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getWorkPass() const;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6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Класс-наследник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 объектов класса-наследника можно вызывать публичные методы родительского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e("Ivanov I.I.", 23, 2812);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e.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getFullname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&lt;&lt; " 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&lt;&lt; e.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getAge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() &lt;&lt; " ";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&lt;&lt; e.getWorkPass();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Внутри объекта класса Employee вначале хранится </a:t>
            </a:r>
            <a:br>
              <a:rPr lang="ru">
                <a:solidFill>
                  <a:schemeClr val="dk1"/>
                </a:solidFill>
              </a:rPr>
            </a:br>
            <a:r>
              <a:rPr lang="ru">
                <a:solidFill>
                  <a:schemeClr val="dk1"/>
                </a:solidFill>
              </a:rPr>
              <a:t>набор полей родительского класса и свое поле.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81" name="Google Shape;81;p17"/>
          <p:cNvGraphicFramePr/>
          <p:nvPr/>
        </p:nvGraphicFramePr>
        <p:xfrm>
          <a:off x="7123050" y="2571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1241050"/>
              </a:tblGrid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fullname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 b="1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96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workPass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Класс-наследник</a:t>
            </a:r>
            <a:endParaRPr/>
          </a:p>
        </p:txBody>
      </p:sp>
      <p:sp>
        <p:nvSpPr>
          <p:cNvPr id="87" name="Google Shape;87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Внутри класса-наследника хранится экземпляр родительского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e("Ivanov I.I.", 23, 2812);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88" name="Google Shape;8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08500" y="2193425"/>
            <a:ext cx="6649450" cy="229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 объекта производного класса</a:t>
            </a:r>
            <a:endParaRPr/>
          </a:p>
        </p:txBody>
      </p:sp>
      <p:sp>
        <p:nvSpPr>
          <p:cNvPr id="94" name="Google Shape;94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 public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Employee(string fullname, unsigned int age,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int workPass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Person(fullname, age),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workPass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(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workPass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{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Поля родителя инициализируются внутри родителя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Конструктор по умолчанию базового класса можно не вызывать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Конструктор с параметрами базового класса (</a:t>
            </a:r>
            <a:r>
              <a:rPr lang="ru" sz="1400">
                <a:solidFill>
                  <a:schemeClr val="dk1"/>
                </a:solidFill>
              </a:rPr>
              <a:t>при необходимости) нужно вызывать (внутри списка инициализации)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Создание/удаление объекта производного класса</a:t>
            </a:r>
            <a:endParaRPr/>
          </a:p>
        </p:txBody>
      </p:sp>
      <p:sp>
        <p:nvSpPr>
          <p:cNvPr id="100" name="Google Shape;100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создании объекта производного класса сначала вызывается конструктор родительского класса.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Сначала кон</a:t>
            </a:r>
            <a:r>
              <a:rPr lang="ru">
                <a:solidFill>
                  <a:schemeClr val="dk1"/>
                </a:solidFill>
              </a:rPr>
              <a:t>структор класса Person, затем конструктор класса Employee.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Вызов деструктора происходит в обратном порядке: сначала </a:t>
            </a:r>
            <a:r>
              <a:rPr lang="ru">
                <a:solidFill>
                  <a:schemeClr val="dk1"/>
                </a:solidFill>
              </a:rPr>
              <a:t>деструктор производного </a:t>
            </a:r>
            <a:r>
              <a:rPr lang="ru">
                <a:solidFill>
                  <a:schemeClr val="dk1"/>
                </a:solidFill>
              </a:rPr>
              <a:t>класса, затем </a:t>
            </a:r>
            <a:r>
              <a:rPr lang="ru">
                <a:solidFill>
                  <a:schemeClr val="dk1"/>
                </a:solidFill>
              </a:rPr>
              <a:t>деструктор </a:t>
            </a:r>
            <a:r>
              <a:rPr lang="ru">
                <a:solidFill>
                  <a:schemeClr val="dk1"/>
                </a:solidFill>
              </a:rPr>
              <a:t>базового класса.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После деструктора Student вызывается деструктор Person.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Формулы п</a:t>
            </a:r>
            <a:r>
              <a:rPr lang="ru"/>
              <a:t>риведения</a:t>
            </a:r>
            <a:endParaRPr/>
          </a:p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производных классов определены следующие приведения: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Ссылка  инициализируется ссылкой: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e("Ivanov I.I.", 23, 2812);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&amp; p1 = e; // Employee &amp;  -&gt; Person &amp;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Указатель инициализируется адресом переменной производного класса: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p2 = &amp;e; // Employee *  -&gt; Person *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Приведение</a:t>
            </a:r>
            <a:endParaRPr/>
          </a:p>
        </p:txBody>
      </p:sp>
      <p:sp>
        <p:nvSpPr>
          <p:cNvPr id="112" name="Google Shape;11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О</a:t>
            </a:r>
            <a:r>
              <a:rPr lang="ru">
                <a:solidFill>
                  <a:schemeClr val="dk1"/>
                </a:solidFill>
              </a:rPr>
              <a:t>бъекты класса-наследника могут присваиваться объектам родительского класса: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e("Ivanov I.I.", 23, 2812);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p = e;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Копируются только поля класса-родителя. </a:t>
            </a:r>
            <a:r>
              <a:rPr lang="ru">
                <a:latin typeface="Courier New"/>
                <a:ea typeface="Courier New"/>
                <a:cs typeface="Courier New"/>
                <a:sym typeface="Courier New"/>
              </a:rPr>
              <a:t>"Ivanov I.I.", 23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Срезка - поведение, при котором из значений производного класса вырезается только та часть, которая относится к базовому классу.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Какой конструктор вызывается при создании объекта p? 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Приведение</a:t>
            </a:r>
            <a:endParaRPr/>
          </a:p>
        </p:txBody>
      </p:sp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e("Ivanov I.I.", 23, 2812);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p = e; // 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Вызывается конструктор копирования класса Person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Person(Person const &amp; person);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 параметр которого 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&amp;  -&gt; Person &amp;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protected</a:t>
            </a:r>
            <a:endParaRPr/>
          </a:p>
        </p:txBody>
      </p:sp>
      <p:sp>
        <p:nvSpPr>
          <p:cNvPr id="124" name="Google Shape;124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Класс-наследник не имеет доступа к private-членам родительского класса.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Для определения закрытых членов класса доступных наследникам используется модификатор protected.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protected нарушает инкапсуляцию! Почему?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Рекомендация - поля в базовом классе оставлять private, выделить некоторые методы доступные только наследникам.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protected</a:t>
            </a:r>
            <a:endParaRPr/>
          </a:p>
        </p:txBody>
      </p:sp>
      <p:sp>
        <p:nvSpPr>
          <p:cNvPr id="130" name="Google Shape;130;p2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std::string fullname;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31" name="Google Shape;131;p25"/>
          <p:cNvSpPr txBox="1"/>
          <p:nvPr>
            <p:ph idx="2" type="body"/>
          </p:nvPr>
        </p:nvSpPr>
        <p:spPr>
          <a:xfrm>
            <a:off x="4046775" y="1152475"/>
            <a:ext cx="4785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setFullname(string fullname);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setAge(unsigned int age);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</a:t>
            </a:r>
            <a:endParaRPr/>
          </a:p>
        </p:txBody>
      </p:sp>
      <p:sp>
        <p:nvSpPr>
          <p:cNvPr id="137" name="Google Shape;13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Дан класс Foo: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Foo 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const char *msg;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protected: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Foo(const char *msg) : msg(msg) {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void say() const { std::cout &lt;&lt; "Foo says: " &lt;&lt; msg &lt;&lt; "\n";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100">
              <a:solidFill>
                <a:schemeClr val="dk1"/>
              </a:solidFill>
              <a:highlight>
                <a:srgbClr val="F3F4F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Создатель "спрятал" конструктор класса. 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Вам очень нужен объект этого класса, чтобы передать его в функцию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foo_says</a:t>
            </a:r>
            <a:r>
              <a:rPr lang="ru" sz="14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:</a:t>
            </a:r>
            <a:endParaRPr sz="14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foo_says(Foo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&amp; foo) {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foo.say();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2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</a:t>
            </a:r>
            <a:endParaRPr/>
          </a:p>
        </p:txBody>
      </p:sp>
      <p:sp>
        <p:nvSpPr>
          <p:cNvPr id="143" name="Google Shape;143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Н</a:t>
            </a: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ужно р</a:t>
            </a: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еализовать функцию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get_foo </a:t>
            </a: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так, чтобы следующий код компилировался и работал: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foo_says(get_foo(msg));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msg</a:t>
            </a: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— произвольная C-style строка</a:t>
            </a: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 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Определите сигнатуру функции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get_foo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rgbClr val="222222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М.б. еще что-то нужно описать?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Foo1: public Foo{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Foo1(const char *msg):Foo(msg){}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Foo1(Foo1 const &amp; f):Foo(f){}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 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Foo get_foo(const char *msg) {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Foo1(msg);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rgbClr val="222222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49" name="Google Shape;149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Задача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при наследовании</a:t>
            </a:r>
            <a:endParaRPr/>
          </a:p>
        </p:txBody>
      </p:sp>
      <p:sp>
        <p:nvSpPr>
          <p:cNvPr id="155" name="Google Shape;155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 unsigned int age; string passport;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setDocument(string const&amp; passport);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 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setDocument(unsigned int const&amp; workPass); // метод в потомке перегружен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 // вызвать не получится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при наследовании</a:t>
            </a:r>
            <a:endParaRPr/>
          </a:p>
        </p:txBody>
      </p:sp>
      <p:sp>
        <p:nvSpPr>
          <p:cNvPr id="161" name="Google Shape;161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 unsigned int age; string passport;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setDocument(string const&amp; passport);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 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void setDocument(unsigned int const&amp; workPass);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using Person::setDocument; // метод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setDocument из базового класса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Правила перегрузки</a:t>
            </a:r>
            <a:endParaRPr/>
          </a:p>
        </p:txBody>
      </p:sp>
      <p:sp>
        <p:nvSpPr>
          <p:cNvPr id="167" name="Google Shape;167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Если есть точное совпадение, то используется оно.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Если нет функции, которая могла бы подойти с учётом преобразований, выдаётся ошибка.</a:t>
            </a: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Если есть </a:t>
            </a:r>
            <a:r>
              <a:rPr lang="ru" sz="1300">
                <a:solidFill>
                  <a:schemeClr val="dk1"/>
                </a:solidFill>
              </a:rPr>
              <a:t>функции, подходящие с учётом преобразований: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Расширение типов.</a:t>
            </a:r>
            <a:br>
              <a:rPr lang="ru" sz="1300">
                <a:solidFill>
                  <a:schemeClr val="dk1"/>
                </a:solidFill>
              </a:rPr>
            </a:b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char, signed char, short → int</a:t>
            </a:r>
            <a:b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unsigned char, unsigned short → int/unsigned int</a:t>
            </a:r>
            <a:b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float → double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Стандартные преобразования (числа (</a:t>
            </a: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double → int</a:t>
            </a:r>
            <a:r>
              <a:rPr lang="ru" sz="1300">
                <a:solidFill>
                  <a:schemeClr val="dk1"/>
                </a:solidFill>
              </a:rPr>
              <a:t>) , указатели (</a:t>
            </a: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*Inheritor → *Base, *int → *void</a:t>
            </a:r>
            <a:r>
              <a:rPr lang="ru" sz="1300">
                <a:solidFill>
                  <a:schemeClr val="dk1"/>
                </a:solidFill>
              </a:rPr>
              <a:t>) ).</a:t>
            </a:r>
            <a:endParaRPr sz="1300">
              <a:solidFill>
                <a:schemeClr val="dk1"/>
              </a:solidFill>
            </a:endParaRPr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AutoNum type="arabicPeriod"/>
            </a:pPr>
            <a:r>
              <a:rPr lang="ru" sz="1300">
                <a:solidFill>
                  <a:schemeClr val="dk1"/>
                </a:solidFill>
              </a:rPr>
              <a:t>Пользовательские преобразования (преобразования класса, например, конструктор).</a:t>
            </a:r>
            <a:endParaRPr sz="1300">
              <a:solidFill>
                <a:schemeClr val="dk1"/>
              </a:solidFill>
            </a:endParaRPr>
          </a:p>
          <a:p>
            <a:pPr indent="0" lvl="0" marL="4500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В случае нескольких параметров нужно, чтобы выбранная функция была строго лучше других.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300">
                <a:solidFill>
                  <a:schemeClr val="dk1"/>
                </a:solidFill>
              </a:rPr>
              <a:t>! перегрузка выполняется на этапе компиляции.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Перегрузка vs Переопределение</a:t>
            </a:r>
            <a:endParaRPr/>
          </a:p>
        </p:txBody>
      </p:sp>
      <p:sp>
        <p:nvSpPr>
          <p:cNvPr id="173" name="Google Shape;173;p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Одинаковое имя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Другая сигнатура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174" name="Google Shape;174;p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Одинаковое имя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Такая же сигнатура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 :public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getInfo() const;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Employee::getInfo() const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"Employee " +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Person::getInfo() + " " +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to_string(workPass);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180" name="Google Shape;180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</a:t>
            </a:r>
            <a:r>
              <a:rPr lang="ru"/>
              <a:t>определение/перегрузка</a:t>
            </a:r>
            <a:r>
              <a:rPr lang="ru"/>
              <a:t> метода в потомке</a:t>
            </a:r>
            <a:endParaRPr/>
          </a:p>
        </p:txBody>
      </p:sp>
      <p:sp>
        <p:nvSpPr>
          <p:cNvPr id="181" name="Google Shape;181;p3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getInfo()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Person::getInfo() const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"Person " + fullname + 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" " + to_string(age) + 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" " +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e.getInfo() &lt;&lt; endl;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Employee Person Petrov P.P. 21 012345 123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базовый класс проинициализирован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*ptr = &amp;e; // существующего объекта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ptr-&gt;getInfo() &lt;&lt; endl;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Person Petrov P.P. 21 012345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вызове метода через указатель на базовый класс произошла </a:t>
            </a:r>
            <a:r>
              <a:rPr b="1" lang="ru">
                <a:solidFill>
                  <a:schemeClr val="dk1"/>
                </a:solidFill>
              </a:rPr>
              <a:t>перегрузка </a:t>
            </a:r>
            <a:r>
              <a:rPr lang="ru">
                <a:solidFill>
                  <a:schemeClr val="dk1"/>
                </a:solidFill>
              </a:rPr>
              <a:t>метода – вызов метода из класса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87" name="Google Shape;1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Переопределение/перегрузка метода в потомке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Виртуальный метод</a:t>
            </a:r>
            <a:endParaRPr/>
          </a:p>
        </p:txBody>
      </p:sp>
      <p:sp>
        <p:nvSpPr>
          <p:cNvPr id="193" name="Google Shape;193;p3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getInfo() const;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Person::getInfo() const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"Person " + fullname + 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" " + to_string(age) + </a:t>
            </a:r>
            <a:b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" " +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194" name="Google Shape;194;p3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 :public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getInfo() const override;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Employee::getInfo() const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return "Employee " +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Person::getInfo() + " " +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to_string(workPass);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e.getInfo() &lt;&lt; endl;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Person Petrov P.P. 21 012345 123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указатель на базовый класс проинициализирован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*ptr = &amp;e; // существующего объекта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ptr-&gt;getInfo() &lt;&lt; endl;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Employee Person Petrov P.P. 21 012345 123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При вызове метода через указатель на базовый класс произошло </a:t>
            </a:r>
            <a:r>
              <a:rPr b="1" lang="ru">
                <a:solidFill>
                  <a:schemeClr val="dk1"/>
                </a:solidFill>
              </a:rPr>
              <a:t>переопределение</a:t>
            </a:r>
            <a:r>
              <a:rPr lang="ru">
                <a:solidFill>
                  <a:schemeClr val="dk1"/>
                </a:solidFill>
              </a:rPr>
              <a:t> метода – вызов метода из класса </a:t>
            </a:r>
            <a:r>
              <a:rPr lang="ru">
                <a:solidFill>
                  <a:schemeClr val="dk1"/>
                </a:solidFill>
              </a:rPr>
              <a:t>Employee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00" name="Google Shape;200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Виртуальный метод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Виртуальный метод</a:t>
            </a:r>
            <a:endParaRPr/>
          </a:p>
        </p:txBody>
      </p:sp>
      <p:sp>
        <p:nvSpPr>
          <p:cNvPr id="206" name="Google Shape;206;p3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1"/>
                </a:solidFill>
              </a:rPr>
              <a:t>При </a:t>
            </a:r>
            <a:r>
              <a:rPr b="1" lang="ru" sz="1800">
                <a:solidFill>
                  <a:schemeClr val="dk1"/>
                </a:solidFill>
              </a:rPr>
              <a:t>перегрузке </a:t>
            </a:r>
            <a:r>
              <a:rPr lang="ru" sz="1800">
                <a:solidFill>
                  <a:schemeClr val="dk1"/>
                </a:solidFill>
              </a:rPr>
              <a:t>а</a:t>
            </a:r>
            <a:r>
              <a:rPr lang="ru" sz="1800">
                <a:solidFill>
                  <a:schemeClr val="dk1"/>
                </a:solidFill>
              </a:rPr>
              <a:t>дрес метода известен и подставлен на этапе компиляции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207" name="Google Shape;207;p3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При </a:t>
            </a:r>
            <a:r>
              <a:rPr b="1" lang="ru" sz="1800">
                <a:solidFill>
                  <a:schemeClr val="dk1"/>
                </a:solidFill>
              </a:rPr>
              <a:t>переопределении </a:t>
            </a:r>
            <a:r>
              <a:rPr lang="ru" sz="1800">
                <a:solidFill>
                  <a:schemeClr val="dk1"/>
                </a:solidFill>
              </a:rPr>
              <a:t>метод в базовом классе помечается как виртуальный,  адрес метода будет подставлен на этапе выполнения программы</a:t>
            </a:r>
            <a:endParaRPr sz="180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Чистые виртуальные (абстрактные) методы</a:t>
            </a:r>
            <a:endParaRPr/>
          </a:p>
        </p:txBody>
      </p:sp>
      <p:sp>
        <p:nvSpPr>
          <p:cNvPr id="213" name="Google Shape;213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private: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virtual string getInfo() const 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"Person " + fullname + " " + to_string(age) + " " + passport; 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string career() const = 0;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40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Чистые виртуальные (абстрактные) методы</a:t>
            </a:r>
            <a:endParaRPr/>
          </a:p>
        </p:txBody>
      </p:sp>
      <p:sp>
        <p:nvSpPr>
          <p:cNvPr id="219" name="Google Shape;219;p39"/>
          <p:cNvSpPr txBox="1"/>
          <p:nvPr>
            <p:ph idx="1" type="body"/>
          </p:nvPr>
        </p:nvSpPr>
        <p:spPr>
          <a:xfrm>
            <a:off x="170025" y="1152475"/>
            <a:ext cx="4250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Employee: public Person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workPass;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string getInfo() const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	return "Employee " +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Person::getInfo() + " " +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to_string(workPass);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string career() const override {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"Employee";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20" name="Google Shape;220;p39"/>
          <p:cNvSpPr txBox="1"/>
          <p:nvPr>
            <p:ph idx="2" type="body"/>
          </p:nvPr>
        </p:nvSpPr>
        <p:spPr>
          <a:xfrm>
            <a:off x="4675725" y="1152475"/>
            <a:ext cx="4156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TemporaryWorker: public Person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contractDuration;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inline string getInfo() const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"TemporaryWorker " +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Person::getInfo() + " " +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to_string(contractDuration);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inline string career()const override{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return "TemporaryWorker";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e.getInfo() &lt;&lt; endl;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ptr_e = new Employee(e); // указатель на базовый класс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ptr_e-&gt;getInfo() &lt;&lt; endl;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ptr_e; // будет вызван деструктор класса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Д</a:t>
            </a:r>
            <a:r>
              <a:rPr lang="ru" sz="1600">
                <a:solidFill>
                  <a:schemeClr val="dk1"/>
                </a:solidFill>
              </a:rPr>
              <a:t>еструктор</a:t>
            </a:r>
            <a:r>
              <a:rPr lang="ru" sz="1600">
                <a:solidFill>
                  <a:schemeClr val="dk1"/>
                </a:solidFill>
              </a:rPr>
              <a:t> класса </a:t>
            </a:r>
            <a:r>
              <a:rPr lang="ru" sz="1600">
                <a:solidFill>
                  <a:schemeClr val="dk1"/>
                </a:solidFill>
              </a:rPr>
              <a:t>Person освобождает память из-под своих полей, он ничего не знает о полях класса Employee, поэтому поля класса Employee останется в памяти</a:t>
            </a:r>
            <a:r>
              <a:rPr lang="ru"/>
              <a:t>.</a:t>
            </a:r>
            <a:endParaRPr/>
          </a:p>
        </p:txBody>
      </p:sp>
      <p:sp>
        <p:nvSpPr>
          <p:cNvPr id="226" name="Google Shape;22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Виртуальный деструктор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fullname;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int age;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passport;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~Person() 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В базовом классе д</a:t>
            </a:r>
            <a:r>
              <a:rPr lang="ru" sz="1600">
                <a:solidFill>
                  <a:schemeClr val="dk1"/>
                </a:solidFill>
              </a:rPr>
              <a:t>еструктор нужно сделать виртуальным</a:t>
            </a:r>
            <a:r>
              <a:rPr lang="ru"/>
              <a:t>.</a:t>
            </a:r>
            <a:endParaRPr/>
          </a:p>
        </p:txBody>
      </p:sp>
      <p:sp>
        <p:nvSpPr>
          <p:cNvPr id="232" name="Google Shape;23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Виртуальный деструктор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e.setDocument(123);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e.setDocument("012345");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e.getInfo() &lt;&lt; endl;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ptr_e =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new Employee(e);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// указатель на базовый класс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ptr_e-&gt;getInfo() &lt;&lt; endl;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delete ptr_e; // будет вызван деструктор класса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</a:rPr>
              <a:t>Тогда для освобождения памяти будет вызван правильный д</a:t>
            </a:r>
            <a:r>
              <a:rPr lang="ru" sz="1600">
                <a:solidFill>
                  <a:schemeClr val="dk1"/>
                </a:solidFill>
              </a:rPr>
              <a:t>еструктор</a:t>
            </a:r>
            <a:r>
              <a:rPr lang="ru"/>
              <a:t>.</a:t>
            </a:r>
            <a:endParaRPr/>
          </a:p>
        </p:txBody>
      </p:sp>
      <p:sp>
        <p:nvSpPr>
          <p:cNvPr id="238" name="Google Shape;23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Виртуальный деструктор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Полиморфизм</a:t>
            </a:r>
            <a:endParaRPr/>
          </a:p>
        </p:txBody>
      </p:sp>
      <p:sp>
        <p:nvSpPr>
          <p:cNvPr id="244" name="Google Shape;244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Полиморфизм - возможность единообразно обрабатывать разные типы данных.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Перегрузка функций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Выбор функции происходит в момент компиляции на основе типов аргументов функции. Статический полиморфизм.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ru">
                <a:solidFill>
                  <a:schemeClr val="dk1"/>
                </a:solidFill>
              </a:rPr>
              <a:t>Виртуальные методы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Выбор метода происходит в момент выполнения на основе типа объекта, у которого вызывается виртуальный метод. Динамический полиморфизм.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Динамический полиморфизм реализуется при помощи таблиц виртуальных методов.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Таблица создается для каждого полиморфного класса, т.е. для класса, у которого есть виртуальные методы. Для всех объектов класса будет одна общая таблица виртуальных методов.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Объекты полиморфных классов содержат указатель на таблицу виртуальных методов соответствующего класса. Указатель инициализируется в конструкторе класса. 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0" name="Google Shape;25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виртуальных методов</a:t>
            </a:r>
            <a:endParaRPr/>
          </a:p>
        </p:txBody>
      </p:sp>
      <p:graphicFrame>
        <p:nvGraphicFramePr>
          <p:cNvPr id="251" name="Google Shape;251;p44"/>
          <p:cNvGraphicFramePr/>
          <p:nvPr/>
        </p:nvGraphicFramePr>
        <p:xfrm>
          <a:off x="4800600" y="3901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682000"/>
                <a:gridCol w="1124275"/>
                <a:gridCol w="563000"/>
                <a:gridCol w="1073825"/>
              </a:tblGrid>
              <a:tr h="42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vptr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fullname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passport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>
                <a:solidFill>
                  <a:schemeClr val="dk1"/>
                </a:solidFill>
              </a:rPr>
              <a:t>У всех </a:t>
            </a:r>
            <a:r>
              <a:rPr lang="ru">
                <a:solidFill>
                  <a:schemeClr val="dk1"/>
                </a:solidFill>
              </a:rPr>
              <a:t>классов, </a:t>
            </a:r>
            <a:r>
              <a:rPr lang="ru">
                <a:solidFill>
                  <a:schemeClr val="dk1"/>
                </a:solidFill>
              </a:rPr>
              <a:t>производных от данного, </a:t>
            </a:r>
            <a:r>
              <a:rPr lang="ru">
                <a:solidFill>
                  <a:schemeClr val="dk1"/>
                </a:solidFill>
              </a:rPr>
              <a:t>так же будет</a:t>
            </a:r>
            <a:r>
              <a:rPr lang="ru">
                <a:solidFill>
                  <a:schemeClr val="dk1"/>
                </a:solidFill>
              </a:rPr>
              <a:t> этот указатель на таблицу виртуальных методов.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257" name="Google Shape;25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виртуальных методов</a:t>
            </a:r>
            <a:endParaRPr/>
          </a:p>
        </p:txBody>
      </p:sp>
      <p:graphicFrame>
        <p:nvGraphicFramePr>
          <p:cNvPr id="258" name="Google Shape;258;p45"/>
          <p:cNvGraphicFramePr/>
          <p:nvPr/>
        </p:nvGraphicFramePr>
        <p:xfrm>
          <a:off x="412800" y="2101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682000"/>
                <a:gridCol w="1124275"/>
                <a:gridCol w="563000"/>
                <a:gridCol w="1073825"/>
              </a:tblGrid>
              <a:tr h="42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vptr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fullname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passport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426775">
                <a:tc gridSpan="4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Person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</a:tr>
            </a:tbl>
          </a:graphicData>
        </a:graphic>
      </p:graphicFrame>
      <p:graphicFrame>
        <p:nvGraphicFramePr>
          <p:cNvPr id="259" name="Google Shape;259;p45"/>
          <p:cNvGraphicFramePr/>
          <p:nvPr/>
        </p:nvGraphicFramePr>
        <p:xfrm>
          <a:off x="3430250" y="32906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684825"/>
                <a:gridCol w="1128925"/>
                <a:gridCol w="565325"/>
                <a:gridCol w="1078275"/>
                <a:gridCol w="1078275"/>
              </a:tblGrid>
              <a:tr h="4267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vptr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fullname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age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passport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workPass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26775">
                <a:tc gridSpan="5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endParaRPr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</a:rPr>
              <a:t>Вызов виртуального метода — это вызов метода по адресу из таблицы (в коде сохраняется номер метода в таблице).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 e("Petrov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ptr_e = &amp;e;  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ptr_e-&gt;getInfo()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&lt;&lt; endl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//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ptr_e -&gt; vptr[1]();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TemporaryWorker t("Petrov P.P.", 21);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ptr_t = &amp;t;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cout &lt;&lt; ptr_t-&gt;getInfo() &lt;&lt; endl;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65" name="Google Shape;265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Таблица виртуальных методов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Таблица виртуальных методов</a:t>
            </a:r>
            <a:endParaRPr/>
          </a:p>
        </p:txBody>
      </p:sp>
      <p:sp>
        <p:nvSpPr>
          <p:cNvPr id="271" name="Google Shape;271;p47"/>
          <p:cNvSpPr txBox="1"/>
          <p:nvPr>
            <p:ph idx="1" type="body"/>
          </p:nvPr>
        </p:nvSpPr>
        <p:spPr>
          <a:xfrm>
            <a:off x="84675" y="1152475"/>
            <a:ext cx="43434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~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Person();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string getInfo() const;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string career() const = 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sp>
        <p:nvSpPr>
          <p:cNvPr id="272" name="Google Shape;272;p47"/>
          <p:cNvSpPr txBox="1"/>
          <p:nvPr>
            <p:ph idx="2" type="body"/>
          </p:nvPr>
        </p:nvSpPr>
        <p:spPr>
          <a:xfrm>
            <a:off x="4572000" y="1152475"/>
            <a:ext cx="4485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 :public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 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getInfo() const override;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career() const override;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unsigned getSalary() const;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~Employee() override = default;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</a:endParaRPr>
          </a:p>
        </p:txBody>
      </p:sp>
      <p:graphicFrame>
        <p:nvGraphicFramePr>
          <p:cNvPr id="273" name="Google Shape;273;p47"/>
          <p:cNvGraphicFramePr/>
          <p:nvPr/>
        </p:nvGraphicFramePr>
        <p:xfrm>
          <a:off x="572100" y="304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435425"/>
                <a:gridCol w="1331075"/>
                <a:gridCol w="873175"/>
              </a:tblGrid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~Person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0x54a8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getInfo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x54c2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career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0x0000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74" name="Google Shape;274;p47"/>
          <p:cNvGraphicFramePr/>
          <p:nvPr/>
        </p:nvGraphicFramePr>
        <p:xfrm>
          <a:off x="5388175" y="3028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435425"/>
                <a:gridCol w="1331075"/>
                <a:gridCol w="873175"/>
              </a:tblGrid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</a:t>
                      </a: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Employee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0x7244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getInfo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0x7282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career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0x729c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405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getSalary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ru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0x72b6</a:t>
                      </a:r>
                      <a:endParaRPr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48"/>
          <p:cNvSpPr txBox="1"/>
          <p:nvPr>
            <p:ph idx="1" type="body"/>
          </p:nvPr>
        </p:nvSpPr>
        <p:spPr>
          <a:xfrm>
            <a:off x="311700" y="255050"/>
            <a:ext cx="4306800" cy="464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	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~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Person();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string getInfo() const;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string career() const = 0;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 :public Person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	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getInfo() const override;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career() const override;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virtual unsigned getSalary() 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Manager :public Employee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string career() const override;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unsigned getSalary() 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const override</a:t>
            </a: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;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 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  <p:graphicFrame>
        <p:nvGraphicFramePr>
          <p:cNvPr id="280" name="Google Shape;280;p48"/>
          <p:cNvGraphicFramePr/>
          <p:nvPr/>
        </p:nvGraphicFramePr>
        <p:xfrm>
          <a:off x="5417100" y="238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435425"/>
                <a:gridCol w="1331075"/>
                <a:gridCol w="873175"/>
              </a:tblGrid>
              <a:tr h="27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~Person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0x54a8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7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getInfo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0x54c2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73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career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0x0000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1" name="Google Shape;281;p48"/>
          <p:cNvGraphicFramePr/>
          <p:nvPr/>
        </p:nvGraphicFramePr>
        <p:xfrm>
          <a:off x="5417100" y="1578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435425"/>
                <a:gridCol w="1331075"/>
                <a:gridCol w="873175"/>
              </a:tblGrid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~Employee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0x7244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getInfo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0x7282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career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0x729c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getSalary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0x72b6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graphicFrame>
        <p:nvGraphicFramePr>
          <p:cNvPr id="282" name="Google Shape;282;p48"/>
          <p:cNvGraphicFramePr/>
          <p:nvPr/>
        </p:nvGraphicFramePr>
        <p:xfrm>
          <a:off x="5417100" y="3319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{5E4E1299-80B1-438B-A199-48FDC17B87C5}</a:tableStyleId>
              </a:tblPr>
              <a:tblGrid>
                <a:gridCol w="435425"/>
                <a:gridCol w="1331075"/>
                <a:gridCol w="873175"/>
              </a:tblGrid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~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Manager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0x9342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1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getInfo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0x7282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2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career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9356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  <a:tr h="2983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3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getSalary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0x</a:t>
                      </a:r>
                      <a:r>
                        <a:rPr lang="ru" sz="1200">
                          <a:solidFill>
                            <a:schemeClr val="dk1"/>
                          </a:solidFill>
                          <a:latin typeface="Courier New"/>
                          <a:ea typeface="Courier New"/>
                          <a:cs typeface="Courier New"/>
                          <a:sym typeface="Courier New"/>
                        </a:rPr>
                        <a:t>936a</a:t>
                      </a:r>
                      <a:endParaRPr sz="1200">
                        <a:solidFill>
                          <a:schemeClr val="dk1"/>
                        </a:solidFill>
                        <a:latin typeface="Courier New"/>
                        <a:ea typeface="Courier New"/>
                        <a:cs typeface="Courier New"/>
                        <a:sym typeface="Courier New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Виртуальные методы в конструкторе и деструкторе</a:t>
            </a:r>
            <a:endParaRPr/>
          </a:p>
        </p:txBody>
      </p:sp>
      <p:sp>
        <p:nvSpPr>
          <p:cNvPr id="288" name="Google Shape;288;p49"/>
          <p:cNvSpPr txBox="1"/>
          <p:nvPr>
            <p:ph idx="1" type="body"/>
          </p:nvPr>
        </p:nvSpPr>
        <p:spPr>
          <a:xfrm>
            <a:off x="311700" y="1152475"/>
            <a:ext cx="85206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</a:rPr>
              <a:t>Виртуальный метод, вызванный в конструкторе или в деструкторе, ведет себя как не виртуальный.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Employee::Employee(string fullname, unsigned int age) :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Person(fullname, age), workPass(0), salary(0)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cout &lt;&lt; this-&gt;career();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Employee::career() const override {return "Employee";}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string Manager::career() const override {return "Manager";}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Manager m("Maslov S.S.", 33); // Employee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m.setDocument(34345);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m.setSalary(20000);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Person* p = &amp;m; 		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50"/>
          <p:cNvSpPr txBox="1"/>
          <p:nvPr>
            <p:ph idx="1" type="body"/>
          </p:nvPr>
        </p:nvSpPr>
        <p:spPr>
          <a:xfrm>
            <a:off x="311700" y="1152475"/>
            <a:ext cx="8520600" cy="384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A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void foo();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 B1 : public A {};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 B2 : private A {}; - </a:t>
            </a:r>
            <a:r>
              <a:rPr lang="ru" sz="1300">
                <a:solidFill>
                  <a:srgbClr val="111111"/>
                </a:solidFill>
                <a:highlight>
                  <a:srgbClr val="FFFFFF"/>
                </a:highlight>
              </a:rPr>
              <a:t>унаследованные данные становятся приватными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 B3 : protected A {}; - </a:t>
            </a:r>
            <a:r>
              <a:rPr lang="ru" sz="1300">
                <a:solidFill>
                  <a:srgbClr val="111111"/>
                </a:solidFill>
                <a:highlight>
                  <a:srgbClr val="FFFFFF"/>
                </a:highlight>
              </a:rPr>
              <a:t>унаследованные данные становятся защищенными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B1 b1; B2 b2; B3 b3;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b1.foo(); // </a:t>
            </a:r>
            <a:r>
              <a:rPr lang="ru" sz="1300">
                <a:solidFill>
                  <a:srgbClr val="111111"/>
                </a:solidFill>
                <a:highlight>
                  <a:srgbClr val="FFFFFF"/>
                </a:highlight>
              </a:rPr>
              <a:t>возможно?</a:t>
            </a:r>
            <a:endParaRPr sz="1300"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b2.foo(); // </a:t>
            </a:r>
            <a:r>
              <a:rPr lang="ru" sz="1300">
                <a:solidFill>
                  <a:srgbClr val="111111"/>
                </a:solidFill>
                <a:highlight>
                  <a:schemeClr val="lt1"/>
                </a:highlight>
              </a:rPr>
              <a:t>возможно?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b3.foo(); // </a:t>
            </a:r>
            <a:r>
              <a:rPr lang="ru" sz="1300">
                <a:solidFill>
                  <a:srgbClr val="111111"/>
                </a:solidFill>
                <a:highlight>
                  <a:schemeClr val="lt1"/>
                </a:highlight>
              </a:rPr>
              <a:t>возможно?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Отношение наследования (в терминах ООП) задаётся только public-наследованием.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private- и protected-наследования – это некорректные наследования с точки зрения ООП.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>
                <a:solidFill>
                  <a:schemeClr val="dk1"/>
                </a:solidFill>
              </a:rPr>
              <a:t>Использование их целесообразно, если необходимо не только агрегировать другой класс, но и переопределить его виртуальные методы.</a:t>
            </a:r>
            <a:r>
              <a:rPr lang="ru" sz="1400">
                <a:solidFill>
                  <a:schemeClr val="dk1"/>
                </a:solidFill>
              </a:rPr>
              <a:t> 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294" name="Google Shape;294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Модификаторы при наследовании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Переопределение private виртуальных методов</a:t>
            </a:r>
            <a:endParaRPr/>
          </a:p>
        </p:txBody>
      </p:sp>
      <p:sp>
        <p:nvSpPr>
          <p:cNvPr id="300" name="Google Shape;300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NetworkDevice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void send_impl(void * data, size_t size) {...}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send(void * data, size_t size)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log("start sending 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send_impl(data,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log("stop sending");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Router: public NetworkDevice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send_impl(void * data, size_t size) override {...}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Реализация чистых виртуальных методов</a:t>
            </a:r>
            <a:endParaRPr/>
          </a:p>
        </p:txBody>
      </p:sp>
      <p:sp>
        <p:nvSpPr>
          <p:cNvPr id="306" name="Google Shape;306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2250">
                <a:solidFill>
                  <a:schemeClr val="dk1"/>
                </a:solidFill>
              </a:rPr>
              <a:t>Чистые виртуальные методы могут иметь определения:</a:t>
            </a:r>
            <a:endParaRPr sz="2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NetworkDevice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void send(void * data, size_t size) = 0;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NetworkDevice::send(void * data, size_t size) {...} //определение вне класса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Router: public NetworkDevice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send(void * data, size_t siz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) override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// через имя класса происходит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не виртуальный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вызов 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NetworkDevice::send(data, size);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53"/>
          <p:cNvSpPr txBox="1"/>
          <p:nvPr>
            <p:ph idx="1" type="body"/>
          </p:nvPr>
        </p:nvSpPr>
        <p:spPr>
          <a:xfrm>
            <a:off x="311700" y="1152475"/>
            <a:ext cx="8520600" cy="367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В C++ разрешено множественное наследование.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Device() { cout &lt;&lt; "Device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Computer: public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Computer() { cout &lt;&lt; "Computer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Monitor: public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Monitor() { cout &lt;&lt; "Monitor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Laptop: public Computer, public Monitor {};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12" name="Google Shape;312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Множественное наследование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 м</a:t>
            </a:r>
            <a:r>
              <a:rPr lang="ru"/>
              <a:t>ножественного наследования</a:t>
            </a:r>
            <a:endParaRPr/>
          </a:p>
        </p:txBody>
      </p:sp>
      <p:grpSp>
        <p:nvGrpSpPr>
          <p:cNvPr id="318" name="Google Shape;318;p54"/>
          <p:cNvGrpSpPr/>
          <p:nvPr/>
        </p:nvGrpSpPr>
        <p:grpSpPr>
          <a:xfrm>
            <a:off x="5883150" y="1394325"/>
            <a:ext cx="2898950" cy="2834850"/>
            <a:chOff x="6095350" y="1192425"/>
            <a:chExt cx="2898950" cy="2834850"/>
          </a:xfrm>
        </p:grpSpPr>
        <p:sp>
          <p:nvSpPr>
            <p:cNvPr id="319" name="Google Shape;319;p54"/>
            <p:cNvSpPr/>
            <p:nvPr/>
          </p:nvSpPr>
          <p:spPr>
            <a:xfrm>
              <a:off x="6997000" y="1192425"/>
              <a:ext cx="10119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</a:t>
              </a:r>
              <a:endParaRPr/>
            </a:p>
          </p:txBody>
        </p:sp>
        <p:sp>
          <p:nvSpPr>
            <p:cNvPr id="320" name="Google Shape;320;p54"/>
            <p:cNvSpPr/>
            <p:nvPr/>
          </p:nvSpPr>
          <p:spPr>
            <a:xfrm>
              <a:off x="6095350" y="2363400"/>
              <a:ext cx="13170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Computer</a:t>
              </a:r>
              <a:endParaRPr/>
            </a:p>
          </p:txBody>
        </p:sp>
        <p:sp>
          <p:nvSpPr>
            <p:cNvPr id="321" name="Google Shape;321;p54"/>
            <p:cNvSpPr/>
            <p:nvPr/>
          </p:nvSpPr>
          <p:spPr>
            <a:xfrm>
              <a:off x="7828500" y="2363400"/>
              <a:ext cx="11658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Monitor</a:t>
              </a:r>
              <a:endParaRPr/>
            </a:p>
          </p:txBody>
        </p:sp>
        <p:sp>
          <p:nvSpPr>
            <p:cNvPr id="322" name="Google Shape;322;p54"/>
            <p:cNvSpPr/>
            <p:nvPr/>
          </p:nvSpPr>
          <p:spPr>
            <a:xfrm>
              <a:off x="7039025" y="3610575"/>
              <a:ext cx="10797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Laptop</a:t>
              </a:r>
              <a:endParaRPr/>
            </a:p>
          </p:txBody>
        </p:sp>
        <p:sp>
          <p:nvSpPr>
            <p:cNvPr id="323" name="Google Shape;323;p54"/>
            <p:cNvSpPr/>
            <p:nvPr/>
          </p:nvSpPr>
          <p:spPr>
            <a:xfrm rot="966805">
              <a:off x="7023118" y="1592768"/>
              <a:ext cx="182677" cy="76231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54"/>
            <p:cNvSpPr/>
            <p:nvPr/>
          </p:nvSpPr>
          <p:spPr>
            <a:xfrm rot="-1329014">
              <a:off x="7848717" y="1592810"/>
              <a:ext cx="183006" cy="762051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54"/>
            <p:cNvSpPr/>
            <p:nvPr/>
          </p:nvSpPr>
          <p:spPr>
            <a:xfrm rot="1198986">
              <a:off x="7925824" y="2771757"/>
              <a:ext cx="182593" cy="82928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54"/>
            <p:cNvSpPr/>
            <p:nvPr/>
          </p:nvSpPr>
          <p:spPr>
            <a:xfrm rot="-1513267">
              <a:off x="7045025" y="2743724"/>
              <a:ext cx="183050" cy="86800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7" name="Google Shape;327;p54"/>
          <p:cNvSpPr txBox="1"/>
          <p:nvPr>
            <p:ph idx="1" type="body"/>
          </p:nvPr>
        </p:nvSpPr>
        <p:spPr>
          <a:xfrm>
            <a:off x="311700" y="1152475"/>
            <a:ext cx="529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 </a:t>
            </a:r>
            <a:r>
              <a:rPr lang="ru" sz="1600">
                <a:solidFill>
                  <a:srgbClr val="111111"/>
                </a:solidFill>
                <a:highlight>
                  <a:srgbClr val="FFFFFF"/>
                </a:highlight>
              </a:rPr>
              <a:t>дважды получает наследство от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 laptop;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Device constructor called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Computer constructor called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Device constructor called</a:t>
            </a:r>
            <a:endParaRPr>
              <a:solidFill>
                <a:srgbClr val="11111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rgbClr val="111111"/>
                </a:solidFill>
                <a:highlight>
                  <a:srgbClr val="FFFFFF"/>
                </a:highlight>
              </a:rPr>
              <a:t>Monitor constructor called</a:t>
            </a:r>
            <a:endParaRPr sz="12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55"/>
          <p:cNvSpPr txBox="1"/>
          <p:nvPr>
            <p:ph idx="1" type="body"/>
          </p:nvPr>
        </p:nvSpPr>
        <p:spPr>
          <a:xfrm>
            <a:off x="311700" y="1152475"/>
            <a:ext cx="8520600" cy="37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300">
                <a:solidFill>
                  <a:schemeClr val="dk1"/>
                </a:solidFill>
              </a:rPr>
              <a:t>В C++ разрешено множественное наследование.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Device() { cout &lt;&lt; "Device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void turn_on() {cout &lt;&lt; "Device is on." &lt;&lt; endl;}</a:t>
            </a:r>
            <a:endParaRPr b="1"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Computer: public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Computer() { cout &lt;&lt; "Computer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Monitor: public Device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 Monitor() { cout &lt;&lt; "Monitor constructor called" &lt;&lt; endl; } 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Laptop: public Computer, public Monitor {};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33" name="Google Shape;333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Множественное наследование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 множественного наследования</a:t>
            </a:r>
            <a:endParaRPr/>
          </a:p>
        </p:txBody>
      </p:sp>
      <p:grpSp>
        <p:nvGrpSpPr>
          <p:cNvPr id="339" name="Google Shape;339;p56"/>
          <p:cNvGrpSpPr/>
          <p:nvPr/>
        </p:nvGrpSpPr>
        <p:grpSpPr>
          <a:xfrm>
            <a:off x="5883150" y="1394325"/>
            <a:ext cx="2898950" cy="2834850"/>
            <a:chOff x="6095350" y="1192425"/>
            <a:chExt cx="2898950" cy="2834850"/>
          </a:xfrm>
        </p:grpSpPr>
        <p:sp>
          <p:nvSpPr>
            <p:cNvPr id="340" name="Google Shape;340;p56"/>
            <p:cNvSpPr/>
            <p:nvPr/>
          </p:nvSpPr>
          <p:spPr>
            <a:xfrm>
              <a:off x="6997000" y="1192425"/>
              <a:ext cx="10119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</a:t>
              </a:r>
              <a:endParaRPr/>
            </a:p>
          </p:txBody>
        </p:sp>
        <p:sp>
          <p:nvSpPr>
            <p:cNvPr id="341" name="Google Shape;341;p56"/>
            <p:cNvSpPr/>
            <p:nvPr/>
          </p:nvSpPr>
          <p:spPr>
            <a:xfrm>
              <a:off x="6095350" y="2363400"/>
              <a:ext cx="13170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Computer</a:t>
              </a:r>
              <a:endParaRPr/>
            </a:p>
          </p:txBody>
        </p:sp>
        <p:sp>
          <p:nvSpPr>
            <p:cNvPr id="342" name="Google Shape;342;p56"/>
            <p:cNvSpPr/>
            <p:nvPr/>
          </p:nvSpPr>
          <p:spPr>
            <a:xfrm>
              <a:off x="7828500" y="2363400"/>
              <a:ext cx="11658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Monitor</a:t>
              </a:r>
              <a:endParaRPr/>
            </a:p>
          </p:txBody>
        </p:sp>
        <p:sp>
          <p:nvSpPr>
            <p:cNvPr id="343" name="Google Shape;343;p56"/>
            <p:cNvSpPr/>
            <p:nvPr/>
          </p:nvSpPr>
          <p:spPr>
            <a:xfrm>
              <a:off x="7039025" y="3610575"/>
              <a:ext cx="10797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8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Laptop</a:t>
              </a:r>
              <a:endParaRPr/>
            </a:p>
          </p:txBody>
        </p:sp>
        <p:sp>
          <p:nvSpPr>
            <p:cNvPr id="344" name="Google Shape;344;p56"/>
            <p:cNvSpPr/>
            <p:nvPr/>
          </p:nvSpPr>
          <p:spPr>
            <a:xfrm rot="966805">
              <a:off x="7023118" y="1592768"/>
              <a:ext cx="182677" cy="76231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56"/>
            <p:cNvSpPr/>
            <p:nvPr/>
          </p:nvSpPr>
          <p:spPr>
            <a:xfrm rot="-1329014">
              <a:off x="7848717" y="1592810"/>
              <a:ext cx="183006" cy="762051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56"/>
            <p:cNvSpPr/>
            <p:nvPr/>
          </p:nvSpPr>
          <p:spPr>
            <a:xfrm rot="1198986">
              <a:off x="7925824" y="2771757"/>
              <a:ext cx="182593" cy="82928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56"/>
            <p:cNvSpPr/>
            <p:nvPr/>
          </p:nvSpPr>
          <p:spPr>
            <a:xfrm rot="-1513267">
              <a:off x="7045025" y="2743724"/>
              <a:ext cx="183050" cy="86800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8" name="Google Shape;348;p56"/>
          <p:cNvSpPr txBox="1"/>
          <p:nvPr>
            <p:ph idx="1" type="body"/>
          </p:nvPr>
        </p:nvSpPr>
        <p:spPr>
          <a:xfrm>
            <a:off x="311700" y="1152475"/>
            <a:ext cx="5299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 </a:t>
            </a:r>
            <a:r>
              <a:rPr lang="ru" sz="1600">
                <a:solidFill>
                  <a:srgbClr val="111111"/>
                </a:solidFill>
                <a:highlight>
                  <a:srgbClr val="FFFFFF"/>
                </a:highlight>
              </a:rPr>
              <a:t>дважды получает наследство от 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Device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 laptop;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</a:t>
            </a: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aptop.turn_on(); // неоднозначный метод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 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6"/>
              <a:buFont typeface="Arial"/>
              <a:buNone/>
            </a:pPr>
            <a:r>
              <a:rPr lang="ru"/>
              <a:t>Проблема множественного наследования</a:t>
            </a:r>
            <a:endParaRPr/>
          </a:p>
        </p:txBody>
      </p:sp>
      <p:sp>
        <p:nvSpPr>
          <p:cNvPr id="354" name="Google Shape;354;p57"/>
          <p:cNvSpPr txBox="1"/>
          <p:nvPr>
            <p:ph idx="1" type="body"/>
          </p:nvPr>
        </p:nvSpPr>
        <p:spPr>
          <a:xfrm>
            <a:off x="311700" y="1152475"/>
            <a:ext cx="8520600" cy="298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Device {};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Computer: </a:t>
            </a:r>
            <a:r>
              <a:rPr b="1"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Device {};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Monitor: </a:t>
            </a:r>
            <a:r>
              <a:rPr b="1"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</a:t>
            </a: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Device {};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4706"/>
              <a:buFont typeface="Arial"/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Laptop: public Computer, public Monitor {};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7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Laptop laptop;</a:t>
            </a:r>
            <a:endParaRPr sz="17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/>
              <a:t>Device constructor called // 1 раз вызовется конструктор и деструктор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ru" sz="1400"/>
              <a:t>Computer constructor called</a:t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ru" sz="1400"/>
              <a:t>Monitor constructor called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endParaRPr/>
          </a:p>
        </p:txBody>
      </p:sp>
      <p:grpSp>
        <p:nvGrpSpPr>
          <p:cNvPr id="355" name="Google Shape;355;p57"/>
          <p:cNvGrpSpPr/>
          <p:nvPr/>
        </p:nvGrpSpPr>
        <p:grpSpPr>
          <a:xfrm>
            <a:off x="6492991" y="2611589"/>
            <a:ext cx="2151021" cy="2001404"/>
            <a:chOff x="6095350" y="1192425"/>
            <a:chExt cx="2898950" cy="2834850"/>
          </a:xfrm>
        </p:grpSpPr>
        <p:sp>
          <p:nvSpPr>
            <p:cNvPr id="356" name="Google Shape;356;p57"/>
            <p:cNvSpPr/>
            <p:nvPr/>
          </p:nvSpPr>
          <p:spPr>
            <a:xfrm>
              <a:off x="6997000" y="1192425"/>
              <a:ext cx="10119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Device</a:t>
              </a:r>
              <a:endParaRPr sz="1200"/>
            </a:p>
          </p:txBody>
        </p:sp>
        <p:sp>
          <p:nvSpPr>
            <p:cNvPr id="357" name="Google Shape;357;p57"/>
            <p:cNvSpPr/>
            <p:nvPr/>
          </p:nvSpPr>
          <p:spPr>
            <a:xfrm>
              <a:off x="6095350" y="2363400"/>
              <a:ext cx="1317000" cy="4167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Computer</a:t>
              </a:r>
              <a:endParaRPr sz="1200"/>
            </a:p>
          </p:txBody>
        </p:sp>
        <p:sp>
          <p:nvSpPr>
            <p:cNvPr id="358" name="Google Shape;358;p57"/>
            <p:cNvSpPr/>
            <p:nvPr/>
          </p:nvSpPr>
          <p:spPr>
            <a:xfrm>
              <a:off x="7828500" y="2363400"/>
              <a:ext cx="1165800" cy="416700"/>
            </a:xfrm>
            <a:prstGeom prst="rect">
              <a:avLst/>
            </a:prstGeom>
            <a:solidFill>
              <a:srgbClr val="C9DAF8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Monitor</a:t>
              </a:r>
              <a:endParaRPr sz="1200"/>
            </a:p>
          </p:txBody>
        </p:sp>
        <p:sp>
          <p:nvSpPr>
            <p:cNvPr id="359" name="Google Shape;359;p57"/>
            <p:cNvSpPr/>
            <p:nvPr/>
          </p:nvSpPr>
          <p:spPr>
            <a:xfrm>
              <a:off x="7039025" y="3610575"/>
              <a:ext cx="1079700" cy="416700"/>
            </a:xfrm>
            <a:prstGeom prst="rect">
              <a:avLst/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ru" sz="1200">
                  <a:solidFill>
                    <a:schemeClr val="dk1"/>
                  </a:solidFill>
                  <a:latin typeface="Courier New"/>
                  <a:ea typeface="Courier New"/>
                  <a:cs typeface="Courier New"/>
                  <a:sym typeface="Courier New"/>
                </a:rPr>
                <a:t>Laptop</a:t>
              </a:r>
              <a:endParaRPr sz="1200"/>
            </a:p>
          </p:txBody>
        </p:sp>
        <p:sp>
          <p:nvSpPr>
            <p:cNvPr id="360" name="Google Shape;360;p57"/>
            <p:cNvSpPr/>
            <p:nvPr/>
          </p:nvSpPr>
          <p:spPr>
            <a:xfrm rot="966805">
              <a:off x="7023118" y="1592768"/>
              <a:ext cx="182677" cy="762314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61" name="Google Shape;361;p57"/>
            <p:cNvSpPr/>
            <p:nvPr/>
          </p:nvSpPr>
          <p:spPr>
            <a:xfrm rot="-1329014">
              <a:off x="7848717" y="1592810"/>
              <a:ext cx="183006" cy="762051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62" name="Google Shape;362;p57"/>
            <p:cNvSpPr/>
            <p:nvPr/>
          </p:nvSpPr>
          <p:spPr>
            <a:xfrm rot="1198986">
              <a:off x="7925824" y="2771757"/>
              <a:ext cx="182593" cy="82928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  <p:sp>
          <p:nvSpPr>
            <p:cNvPr id="363" name="Google Shape;363;p57"/>
            <p:cNvSpPr/>
            <p:nvPr/>
          </p:nvSpPr>
          <p:spPr>
            <a:xfrm rot="-1513267">
              <a:off x="7045025" y="2743724"/>
              <a:ext cx="183050" cy="868003"/>
            </a:xfrm>
            <a:prstGeom prst="upArrow">
              <a:avLst>
                <a:gd fmla="val 50000" name="adj1"/>
                <a:gd fmla="val 50000" name="adj2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200"/>
            </a:p>
          </p:txBody>
        </p:sp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p58"/>
          <p:cNvSpPr txBox="1"/>
          <p:nvPr>
            <p:ph idx="1" type="body"/>
          </p:nvPr>
        </p:nvSpPr>
        <p:spPr>
          <a:xfrm>
            <a:off x="311700" y="1152475"/>
            <a:ext cx="8520600" cy="385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</a:rPr>
              <a:t>Интерфейс — это абстрактный класс, у которого отсутствуют поля, а все методы являются чистыми виртуальными.</a:t>
            </a:r>
            <a:endParaRPr sz="15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ICloneable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~ICloneable(){} // деструктор должен иметь реализацию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ICloneable* clone() const = 0;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Person: public ICloneable  {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public: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6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...</a:t>
            </a:r>
            <a:endParaRPr sz="16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* clone() const override {return new Person(*this);}</a:t>
            </a:r>
            <a:endParaRPr sz="15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5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};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69" name="Google Shape;369;p5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Интерфейсы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5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Множественное наследование</a:t>
            </a:r>
            <a:endParaRPr/>
          </a:p>
        </p:txBody>
      </p:sp>
      <p:sp>
        <p:nvSpPr>
          <p:cNvPr id="375" name="Google Shape;375;p59"/>
          <p:cNvSpPr txBox="1"/>
          <p:nvPr>
            <p:ph idx="1" type="body"/>
          </p:nvPr>
        </p:nvSpPr>
        <p:spPr>
          <a:xfrm>
            <a:off x="311700" y="1152475"/>
            <a:ext cx="8520600" cy="367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В C++ разрешено множественное наследование.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virtual public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Person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Worker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virtual public Person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WorkingStudent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Worker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400">
                <a:solidFill>
                  <a:schemeClr val="dk1"/>
                </a:solidFill>
              </a:rPr>
              <a:t>Стоит избегать наследования реализаций более чем от одного класса, вместо этого использовать интерфейсы.</a:t>
            </a:r>
            <a:endParaRPr sz="14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IWorker 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Worker: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Person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IWorker 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Student: public Person {};</a:t>
            </a:r>
            <a:endParaRPr sz="14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WorkingStudent: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Student,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public </a:t>
            </a:r>
            <a:r>
              <a:rPr lang="ru" sz="14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IWorker {};</a:t>
            </a:r>
            <a:endParaRPr sz="14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6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Запрет наследования</a:t>
            </a:r>
            <a:endParaRPr/>
          </a:p>
        </p:txBody>
      </p:sp>
      <p:sp>
        <p:nvSpPr>
          <p:cNvPr id="381" name="Google Shape;381;p6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Employee </a:t>
            </a:r>
            <a:r>
              <a:rPr b="1"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final 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:public Person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45720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class Manager:public </a:t>
            </a:r>
            <a:r>
              <a:rPr lang="ru" u="sng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Employee</a:t>
            </a:r>
            <a:endParaRPr u="sng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	</a:t>
            </a: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...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