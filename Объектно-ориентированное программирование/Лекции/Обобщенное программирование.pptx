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articles/495396/" TargetMode="External"/><Relationship Id="rId3" Type="http://schemas.openxmlformats.org/officeDocument/2006/relationships/hyperlink" Target="https://habr.com/ru/companies/yandex_praktikum/articles/556816/" TargetMode="External"/><Relationship Id="rId4" Type="http://schemas.openxmlformats.org/officeDocument/2006/relationships/hyperlink" Target="https://metanit.com/cpp/tutorial/17.3.php" TargetMode="Externa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Добавить информацию про </a:t>
            </a:r>
            <a:r>
              <a:rPr lang="ru" sz="1050">
                <a:solidFill>
                  <a:srgbClr val="615CED"/>
                </a:solidFill>
                <a:highlight>
                  <a:srgbClr val="EFEEFF"/>
                </a:highlight>
                <a:latin typeface="Consolas"/>
                <a:ea typeface="Consolas"/>
                <a:cs typeface="Consolas"/>
                <a:sym typeface="Consolas"/>
              </a:rPr>
              <a:t>std::unique_ptr</a:t>
            </a:r>
            <a:r>
              <a:rPr lang="ru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2001bc30c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2001bc30c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2001bc30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2001bc30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2001bc30c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2001bc30c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2001bc30c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2001bc30c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2001bc30c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2001bc30c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2001bc30c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2001bc30c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2001bc30c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2001bc30c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2001bc30c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2001bc30c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 наличии нескольких аргументов шаблона все аргументы после первого аргумента по умолчанию должны иметь аргументы по умолчанию.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2001bc30c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2001bc30c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2001bc30c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2001bc30c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2001bc30c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2001bc30c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2001bc30c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2001bc30c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2001bc30c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2001bc30c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2001bc30c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2001bc30c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2001bc30c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2001bc30c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2001bc30c5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2001bc30c5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2001bc30c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2001bc30c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2001bc30c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2001bc30c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4b6cd5a28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4b6cd5a2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4b6cd5a28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4b6cd5a28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b6cd5a28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4b6cd5a28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b6cd5a28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4b6cd5a28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4b6cd5a28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4b6cd5a28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b6cd5a2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4b6cd5a2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b6cd5a28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4b6cd5a28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2"/>
              </a:rPr>
              <a:t>https://habr.com/ru/articles/495396/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https://habr.com/ru/companies/yandex_praktikum/articles/556816/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https://metanit.com/cpp/tutorial/17.3.php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21acbedc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521acbedc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c440c117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c440c117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ru.stackoverflow.com/questions/632000/%D0%9A%D0%B0%D0%BA-%D0%B7%D0%B0%D0%B4%D0%B0%D1%82%D1%8C-%D0%BE%D0%B3%D1%80%D0%B0%D0%BD%D0%B8%D1%87%D0%B5%D0%BD%D0%B8%D1%8F-%D0%BD%D0%B0-%D0%BF%D0%B0%D1%80%D0%B0%D0%BC%D0%B5%D1%82%D1%80%D1%8B-%D1%88%D0%B0%D0%B1%D0%BB%D0%BE%D0%BD%D0%BD%D1%8B%D1%85-%D0%BA%D0%BB%D0%B0%D1%81%D1%81%D0%BE%D0%B2" TargetMode="External"/><Relationship Id="rId4" Type="http://schemas.openxmlformats.org/officeDocument/2006/relationships/hyperlink" Target="https://metanit.com/cpp/tutorial/17.1.php" TargetMode="External"/><Relationship Id="rId5" Type="http://schemas.openxmlformats.org/officeDocument/2006/relationships/hyperlink" Target="https://en.cppreference.com/w/cpp/types/is_base_of" TargetMode="External"/><Relationship Id="rId6" Type="http://schemas.openxmlformats.org/officeDocument/2006/relationships/hyperlink" Target="https://en.cppreference.com/w/cpp/types/enable_if" TargetMode="External"/><Relationship Id="rId7" Type="http://schemas.openxmlformats.org/officeDocument/2006/relationships/hyperlink" Target="https://en.cppreference.com/w/cpp/types/is_convertible" TargetMode="External"/><Relationship Id="rId8" Type="http://schemas.openxmlformats.org/officeDocument/2006/relationships/hyperlink" Target="https://ru.stackoverflow.com/questions/494672/%D0%A8%D0%B0%D0%B1%D0%BB%D0%BE%D0%BD%D1%8B-%D0%B2-c-%D0%9E%D0%B3%D1%80%D0%B0%D0%BD%D0%B8%D1%87%D0%B5%D0%BD%D0%B8%D0%B5-%D1%82%D0%B8%D0%BF%D0%B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</a:t>
            </a:r>
            <a:r>
              <a:rPr lang="ru"/>
              <a:t>бобщенное программирование</a:t>
            </a:r>
            <a:endParaRPr/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Лекция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Ш</a:t>
            </a:r>
            <a:r>
              <a:rPr lang="ru"/>
              <a:t>аблоны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Парадигма программирования, в которой единожды описанный алгоритм может применяться для разных типов, называется </a:t>
            </a:r>
            <a:r>
              <a:rPr b="1" lang="ru">
                <a:solidFill>
                  <a:schemeClr val="dk1"/>
                </a:solidFill>
              </a:rPr>
              <a:t>обобщенным программированием</a:t>
            </a:r>
            <a:r>
              <a:rPr lang="ru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В языке C++ эта парадигма реализована с помощью шаблонов: функций и классов.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Задача: описать класс массив целых чисел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IntArray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int* array;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size_t size;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IntArray(int* array, size_t size);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IntArray(size_t size, int value);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IntArray(IntArray const &amp;array);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IntArray&amp; operator =(IntArray const&amp; a);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size_t getSize() const;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int&amp; operator [](const size_t);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const int&amp; operator[](const size_t)const;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Задача: описать класс массив вещественных чисел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DoubleArray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double* array;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size_t size;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DoubleArray(int* array, size_t size);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DoubleArray(size_t size, double value);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DoubleArray(DoubleArray const &amp;array);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DoubleArray&amp; operator =(DoubleArray const&amp; a);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size_t getSize() const;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double&amp; operator [](const size_t);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const double&amp; operator[](const size_t)const;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Задача: описать класс массив из строк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StrArray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std::string* array;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size_t size;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StrArray(std::string* array, size_t size);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StrArray(size_t size, std::string value);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StrArray(StrArray const &amp;array);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StrArray&amp; operator =(StrArray const&amp; a);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size_t getSize() const;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std::string&amp; operator [](const size_t);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const std::string&amp; operator[](const size_t)const;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Недостатки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Дублирование кода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Отслеживание ошибок в 3-х местах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Решение – создание шаблона класса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Шаблон класса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6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&lt;class T&gt;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Array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T* array;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size_t size;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Array(T* array, size_t size);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Array(size_t size, T value);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Array(Array const &amp;array);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Array&amp; operator =(Array const&amp; a);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size_t getSize() const;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T&amp; operator [](const size_t);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const T&amp; operator[](const size_t)const;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313500"/>
            <a:ext cx="85206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Array&lt;int&gt; arrint(10, 100);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(size_t i = 0; i &lt; arrint.getSize(); i++)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arrint[i] = i + 1;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(size_t i = 0; i &lt; arrint.getSize(); i++)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arrint[i] &lt;&lt; " ";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Array&lt;double&gt; arrdouble(10, 1.1);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(size_t i = 0; i &lt; arrdouble.getSize(); i++) 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arrdouble[i] += i;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(size_t i = 0; i &lt; arrdouble.getSize(); i++)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arrdouble[i] &lt;&lt; " ";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Array&lt;string&gt; arrstr(10, "+");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(size_t i = 0; i &lt; arrstr.getSize(); i++)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arrstr[i] += "!!!";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(size_t i = 0; i &lt; arrstr.getSize(); i++)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arrstr[i] &lt;&lt; " ";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Шаблон класса с несколькими параметрами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&lt;class T, class Size = size_t&gt;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TArray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T* array;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Size size;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TArray(T* array, Size size);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TArray(Size size, T value);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TArray(TArray const &amp;array);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TArray&amp; operator =(TArray const&amp; a);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Size getSize() const;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T&amp; operator [](const Size);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const T&amp; operator[](const Size)const;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313500"/>
            <a:ext cx="8520600" cy="43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TArray&lt;int&gt; arrint(10, 100);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(size_t i = 0; i &lt; arrint.getSize(); i++)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arrint[i] = i + 1;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(size_t i = 0; i &lt; arrint.getSize(); i++)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arrint[i] &lt;&lt; " ";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TArray&lt;double, unsigned short&gt; arrdouble(10, 1.1);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(size_t i = 0; i &lt; arrdouble.getSize(); i++)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arrdouble[i] += i;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(size_t i = 0; i &lt; arrdouble.getSize(); i++)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arrdouble[i] &lt;&lt; " ";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TArray&lt;string, char&gt; arrstr(10, "+");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(size_t i = 0; i &lt; arrstr.getSize(); i++)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arrstr[i] += "!!!";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(size_t i = 0; i &lt; arrstr.getSize(); i++)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arrstr[i] &lt;&lt; " ";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Array&lt;Fraction, char&gt; arrfraction(10, Fraction(0, 1));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(size_t i = 0; i &lt; arrstr.getSize(); i++)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arrfraction[i] = Fraction(i, 1);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(size_t i = 0; i &lt; arrstr.getSize(); i++)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arrfraction[i] &lt;&lt; " ";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У типа, передаваемого в шаблон, должен быть конструктор по умолчанию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Сложность!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 типа, передаваемого в шаблон, должен быть конструктор по умолчанию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</a:t>
            </a: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T, </a:t>
            </a: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Size&gt;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inline Array&lt;T, Size&gt;::Array(T* array, Size size)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this-&gt;size = size;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this-&gt;array = new T[size];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for (size_t i = 0; i &lt; size; i++)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this-&gt;array[i] = array[i];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Сложность!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Шаблоны функций</a:t>
            </a:r>
            <a:endParaRPr/>
          </a:p>
        </p:txBody>
      </p:sp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&lt;class Type&gt;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my_sort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(Type * begin, Type * end);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size_t size = 5;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int* a = new int[size]{2,6,1,16,9};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my_sort(a, a + size);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for_each(a, a + size,[](int x) {cout &lt;&lt; x &lt;&lt; " "; });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Шаблоны функций. Перегрузка</a:t>
            </a:r>
            <a:endParaRPr/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&lt;typename Type,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typename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Size&gt;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my_sort(Type* begin, Size size);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size_t size = 5;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double* b = new double[size] {2.1, 6.4, 1.1, 1.6, 4.9};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my_sort(b, size);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for_each(b, b + size, [](double x) {cout &lt;&lt; x &lt;&lt; " ";});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Шаблоны методов (функций)</a:t>
            </a:r>
            <a:endParaRPr/>
          </a:p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&lt;class T&gt;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Array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size_t size;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T* array;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Array(size_t size, const T&amp; value = T());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Array(Array const&amp; obj);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template &lt;class Other&gt; Array(Array &lt;Other&gt; const &amp; obj);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Array&amp; operator=(const Array&amp; obj);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template &lt;class Other&gt; Array&amp; operator=(Array &lt;Other&gt; const&amp; other);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311700" y="519250"/>
            <a:ext cx="8520600" cy="40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Array&lt;int&gt; a(10, 10);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Array&lt;double&gt; </a:t>
            </a:r>
            <a:r>
              <a:rPr b="1"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b(a)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(size_t i = 0; i &lt; b.getSize(); i++)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b[i] &lt;&lt; " ";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Array&lt;double&gt; c(10, 1.2);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c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(size_t i = 0; i &lt; b.getSize(); i++)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a[i] &lt;&lt; " ";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Компиляция шаблонов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Шаблон компилируется </a:t>
            </a:r>
            <a:r>
              <a:rPr lang="ru">
                <a:solidFill>
                  <a:schemeClr val="dk1"/>
                </a:solidFill>
              </a:rPr>
              <a:t>независимо </a:t>
            </a:r>
            <a:r>
              <a:rPr lang="ru">
                <a:solidFill>
                  <a:schemeClr val="dk1"/>
                </a:solidFill>
              </a:rPr>
              <a:t>для каждого значения шаблонных параметров.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Компиляция (инстанциирование) шаблона происходит в точке первого использования – точке инстанциирования шаблона.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Компиляция шаблонов классов – ленивая, компилируются только те методы, которые используются.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В точке инстанциирования шаблон должен быть полностью определён.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Шаблоны следует определять в заголовочных файлах.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Все шаблонные функции (свободные функции и методы) являются inline.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Ограничения шаблонного метода</a:t>
            </a:r>
            <a:endParaRPr/>
          </a:p>
        </p:txBody>
      </p:sp>
      <p:pic>
        <p:nvPicPr>
          <p:cNvPr id="167" name="Google Shape;167;p32"/>
          <p:cNvPicPr preferRelativeResize="0"/>
          <p:nvPr/>
        </p:nvPicPr>
        <p:blipFill rotWithShape="1">
          <a:blip r:embed="rId3">
            <a:alphaModFix/>
          </a:blip>
          <a:srcRect b="63317" l="5545" r="55756" t="13478"/>
          <a:stretch/>
        </p:blipFill>
        <p:spPr>
          <a:xfrm>
            <a:off x="268875" y="1263825"/>
            <a:ext cx="8568724" cy="289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 наследовании (шаблонный класс)</a:t>
            </a:r>
            <a:endParaRPr/>
          </a:p>
        </p:txBody>
      </p:sp>
      <p:sp>
        <p:nvSpPr>
          <p:cNvPr id="173" name="Google Shape;17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&lt;typename Type&gt; // шаблонный класс, в котором будет метод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ISortable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	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virtual void my_sort(Type* begin, Type* end) = 0;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&lt;class Type&gt;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BubbleSort :public ISortable&lt;Type&gt;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void my_sort(Type* begin, Type* end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	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Начиная со стандарта</a:t>
            </a:r>
            <a:endParaRPr/>
          </a:p>
        </p:txBody>
      </p:sp>
      <p:sp>
        <p:nvSpPr>
          <p:cNvPr id="179" name="Google Shape;179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ru" sz="5200">
                <a:solidFill>
                  <a:schemeClr val="dk1"/>
                </a:solidFill>
              </a:rPr>
              <a:t>C++20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Оператор </a:t>
            </a:r>
            <a:r>
              <a:rPr lang="ru"/>
              <a:t>requires </a:t>
            </a:r>
            <a:endParaRPr/>
          </a:p>
        </p:txBody>
      </p:sp>
      <p:sp>
        <p:nvSpPr>
          <p:cNvPr id="185" name="Google Shape;18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</a:t>
            </a:r>
            <a:r>
              <a:rPr lang="ru">
                <a:solidFill>
                  <a:schemeClr val="dk1"/>
                </a:solidFill>
              </a:rPr>
              <a:t>озволяет установить для параметров шаблонов ограничения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&lt;параметры&gt; requires ограничения 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содержимое шаблона;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Ограничения - это условные выражения, которые возвращают значение типа bool: если параметр типа удовлетворяет условию, то возвращается true.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Каждое ограничение предписывает одно или несколько требований для одного или нескольких параметров шаблона.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Примеры ограничений</a:t>
            </a:r>
            <a:endParaRPr/>
          </a:p>
        </p:txBody>
      </p:sp>
      <p:sp>
        <p:nvSpPr>
          <p:cNvPr id="191" name="Google Shape;191;p36"/>
          <p:cNvSpPr txBox="1"/>
          <p:nvPr>
            <p:ph idx="1" type="body"/>
          </p:nvPr>
        </p:nvSpPr>
        <p:spPr>
          <a:xfrm>
            <a:off x="311700" y="1152475"/>
            <a:ext cx="8520600" cy="3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&lt;class Type&gt; 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requires std::is_same&lt;Type, int&gt;::value || 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				   std::is_same&lt;Type, double&gt;::value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&lt;class Type&gt; 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requires std::is_integral&lt;Type&gt;::value ||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std::is_floating_point&lt;Type&gt;::value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&lt;class Type&gt; 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requires std::is_arithmetic&lt;Type&gt;::value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https://en.cppreference.com/w/cpp/header/type_traits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concepts</a:t>
            </a:r>
            <a:endParaRPr/>
          </a:p>
        </p:txBody>
      </p:sp>
      <p:sp>
        <p:nvSpPr>
          <p:cNvPr id="197" name="Google Shape;19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Концепт - это шаблон для именованного набора ограничений, где каждое ограничение предписывает одно или несколько требований для одного или нескольких параметров шаблона.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&lt;параметры&gt;</a:t>
            </a:r>
            <a:endParaRPr sz="2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concept имя_концепта = ограничения;</a:t>
            </a:r>
            <a:endParaRPr sz="2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Список параметров концепта содержит один или несколько параметров шаблона. Во время компиляции компилятор оценивает концепты, чтобы определить, удовлетворяет ли набор аргументов заданным ограничениям.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Ограничения представляют условные выражения, которые возвращают значение типа bool - если параметр типа удовлетворяет условию, то возвращается true.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Примеры концептов</a:t>
            </a:r>
            <a:endParaRPr/>
          </a:p>
        </p:txBody>
      </p:sp>
      <p:sp>
        <p:nvSpPr>
          <p:cNvPr id="203" name="Google Shape;203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&lt;typename T&gt;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concept int_or_doube = std::is_same&lt;Type, int&gt;::value || 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				   std::is_same&lt;Type, double&gt;::value;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&lt;typename T&gt; requires int_or_doube&lt;T&gt;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или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&lt;int_or_doube T&gt;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&lt;typename T&gt;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concept size = sizeof(T) &lt;= sizeof(int);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&lt;typename T&gt; requires size&lt;T&gt;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или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&lt;size T&gt;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Выражение </a:t>
            </a:r>
            <a:r>
              <a:rPr lang="ru"/>
              <a:t>requires </a:t>
            </a:r>
            <a:endParaRPr/>
          </a:p>
        </p:txBody>
      </p:sp>
      <p:sp>
        <p:nvSpPr>
          <p:cNvPr id="209" name="Google Shape;209;p39"/>
          <p:cNvSpPr txBox="1"/>
          <p:nvPr>
            <p:ph idx="1" type="body"/>
          </p:nvPr>
        </p:nvSpPr>
        <p:spPr>
          <a:xfrm>
            <a:off x="311700" y="1152475"/>
            <a:ext cx="8520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Используются, чтобы конкретизировать и детализировать ограничения.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requires { требования }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ru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requires (параметры) { требования }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После слова requires может идти необязательный список параметров в круглых скобках, который похож на список параметров функции. За списком параметров в фигурных скобках указываются требования, которые могут использовать параметры. Каждое требование заканчивается точкой с запятой.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Требования могут быть простыми и составными. При этом параметры выражения require никогда не привязываются к фактическим аргументам, а выражения в фигурных скобках никогда не выполняются. Компилятор проверяет, образуют ли выражения допустимый код C++.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Примеры ограничений</a:t>
            </a:r>
            <a:endParaRPr/>
          </a:p>
        </p:txBody>
      </p:sp>
      <p:sp>
        <p:nvSpPr>
          <p:cNvPr id="215" name="Google Shape;21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&lt;typename T&gt;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concept ordered_types = requires (T x) { x &lt;= x; };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ordered_types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Type&gt;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&lt;typename T&gt;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concept operation_types = requires (T x) { x + x; x * x;};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&lt;operation_types Type&gt;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https://en.cppreference.com/w/cpp/language/requires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Примеры ограничений</a:t>
            </a:r>
            <a:endParaRPr/>
          </a:p>
        </p:txBody>
      </p:sp>
      <p:sp>
        <p:nvSpPr>
          <p:cNvPr id="221" name="Google Shape;22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&lt;typename T&gt;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concept is_collection = requires (T collection, int n)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collection[n];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&lt;is_collection Type&gt;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Составные требования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&lt;typename T&gt;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concept sum_types = requires (T x) { {x + x} -&gt; std::convertible_to&lt;T&gt;; };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 &lt;sum_types T&gt;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https://en.cppreference.com/w/cpp/language/requires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Ограничения типов шаблонов</a:t>
            </a:r>
            <a:endParaRPr/>
          </a:p>
        </p:txBody>
      </p:sp>
      <p:sp>
        <p:nvSpPr>
          <p:cNvPr id="227" name="Google Shape;22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ru.stackoverflow.com/questions/632000/%D0%9A%D0%B0%D0%BA-%D0%B7%D0%B0%D0%B4%D0%B0%D1%82%D1%8C-%D0%BE%D0%B3%D1%80%D0%B0%D0%BD%D0%B8%D1%87%D0%B5%D0%BD%D0%B8%D1%8F-%D0%BD%D0%B0-%D0%BF%D0%B0%D1%80%D0%B0%D0%BC%D0%B5%D1%82%D1%80%D1%8B-%D1%88%D0%B0%D0%B1%D0%BB%D0%BE%D0%BD%D0%BD%D1%8B%D1%85-%D0%BA%D0%BB%D0%B0%D1%81%D1%81%D0%BE%D0%B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https://metanit.com/cpp/tutorial/17.1.php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5"/>
              </a:rPr>
              <a:t>https://en.cppreference.com/w/cpp/types/is_base_of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6"/>
              </a:rPr>
              <a:t>https://en.cppreference.com/w/cpp/types/enable_if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7"/>
              </a:rPr>
              <a:t>https://en.cppreference.com/w/cpp/types/is_convertible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8"/>
              </a:rPr>
              <a:t>https://ru.stackoverflow.com/questions/494672/%D0%A8%D0%B0%D0%B1%D0%BB%D0%BE%D0%BD%D1%8B-%D0%B2-c-%D0%9E%D0%B3%D1%80%D0%B0%D0%BD%D0%B8%D1%87%D0%B5%D0%BD%D0%B8%D0%B5-%D1%82%D0%B8%D0%BF%D0%B0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