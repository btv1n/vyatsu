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E925E6-3EDE-4C74-A388-57301DAB9412}">
  <a:tblStyle styleId="{74E925E6-3EDE-4C74-A388-57301DAB94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c33c752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c33c752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dc33c752b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dc33c752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dc33c752b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dc33c752b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dc33c752b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dc33c752b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dc33c752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dc33c752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dc33c752b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dc33c752b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dc33c752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dc33c752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поля класса должны быть открытыми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dc33c752b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dc33c752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dc33c752b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dc33c752b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dc33c752b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dc33c752b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dc33c752b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dc33c752b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37e73d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37e73d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dc33c752b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dc33c752b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c33c752b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c33c752b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dc33c752b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dc33c752b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c33c752b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c33c752b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dc33c752b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dc33c752b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dc33c752b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dc33c752b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dc33c752b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dc33c752b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dc33c752b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dc33c752b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dd37e73d7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dd37e73d7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dc33c752b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dc33c752b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048e48fb8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048e48fb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48e48fb8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48e48fb8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48e48fb8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048e48fb8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937031d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937031d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oogle.github.io/googletest/primer.html" TargetMode="External"/><Relationship Id="rId4" Type="http://schemas.openxmlformats.org/officeDocument/2006/relationships/hyperlink" Target="https://github.com/google/googletest/tree/main" TargetMode="External"/><Relationship Id="rId5" Type="http://schemas.openxmlformats.org/officeDocument/2006/relationships/hyperlink" Target="https://github.com/google/googletest/blob/main/docs/advanced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операторы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Арифметические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Унарные: префиксные + - ++ --, постфиксные ++ --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Бинарные: + - * / % += -= *= /= %=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Битовые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Унарные: ~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• Бинарные: &amp; | ^ &amp;= |= ^= &gt;&gt; &lt;&lt;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Логические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Унарные: 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Бинарные: &amp;&amp; ||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• Сравнения: == != &gt; &lt; &gt;= &lt;=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операторы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1. Оператор присваивания: =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2. Специальные: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префиксные * 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• постфиксные -&gt; -&gt;*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• особые , . ::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3. Скобки: [] ()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4. Оператор приведения (type)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5. Тернарный оператор: x?y:z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6. Работа с памятью: new new[] delete delete[]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операторы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00"/>
                </a:solidFill>
              </a:rPr>
              <a:t>Нельзя перегружать операторы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00"/>
                </a:solidFill>
              </a:rPr>
              <a:t>. 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00"/>
                </a:solidFill>
              </a:rPr>
              <a:t>::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00"/>
                </a:solidFill>
              </a:rPr>
              <a:t> тернарный оператор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Vector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Vector(double x, double y);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Vector(Vector const &amp; v);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~Vector();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Vector::Vector():x(0), y(0)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Vector::Vector(double x, double y):</a:t>
            </a:r>
            <a:b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x(x), y(y)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Vector::Vector(Vector const &amp; v):</a:t>
            </a:r>
            <a:b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x(v.x), y(v.y)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Vector::~Vector()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Перегрузка операторов во внешних функциях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Vector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Vector(double x, double y);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Vector(Vector const &amp; v);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~Vector();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operator-(Vector const&amp; v);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operator+(Vector const&amp; v1, Vector const&amp; v2);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operator*(Vector const&amp; v, double r);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operator*(double r, Vector const&amp; v);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6523225" y="2083675"/>
            <a:ext cx="20334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0000"/>
                </a:solidFill>
              </a:rPr>
              <a:t>НО!</a:t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rgbClr val="FF0000"/>
                </a:solidFill>
              </a:rPr>
              <a:t>Все ли получится?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 во внешних функциях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609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operator-(Vector const&amp; v)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Vector(-v.x, -v.y);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operator+(Vector const&amp; v1, Vector const&amp; v2)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Vector(v1.x + v2.x, v1.y + v2.y);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operator*(Vector const&amp; v, double r)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Vector(v.x * r, v.y * r);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operator*(double r, Vector const&amp; v)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v*r;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 во внешних функциях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operator-(Vector const&amp; v)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Vector(-v.x, -v.y);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operator+(Vector const&amp; v1, Vector const&amp; v2)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Vector(v1.x + v2.x, v1.y + v2.y);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operator*(Vector const&amp; v, double r)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Vector(v.x * r, v.y * r);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operator*(double r, Vector const&amp; v)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v*r;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5785375" y="2308925"/>
            <a:ext cx="30000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400">
                <a:solidFill>
                  <a:srgbClr val="FF0000"/>
                </a:solidFill>
              </a:rPr>
              <a:t>доступ к данным</a:t>
            </a:r>
            <a:br>
              <a:rPr b="1" lang="ru" sz="2400">
                <a:solidFill>
                  <a:srgbClr val="FF0000"/>
                </a:solidFill>
              </a:rPr>
            </a:br>
            <a:r>
              <a:rPr b="1" lang="ru" sz="2400">
                <a:solidFill>
                  <a:srgbClr val="FF0000"/>
                </a:solidFill>
              </a:rPr>
              <a:t>класса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 внутри класса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235500" y="1152475"/>
            <a:ext cx="409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Vector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 operator -() const;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 operator -(Vector const&amp; p) const;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 operator *=(double d);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 operator *(double d) const;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742100" y="1152475"/>
            <a:ext cx="421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Vector::operator-() const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Vector(-x, -y);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Vector::operator-(Vector const&amp; p) const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Vector(x - p.x, y - p.y);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Vector::operator*=(double d)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*= d;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y *= d;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*this;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Vector::operator*(double d) const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Vector(x*d, y*d);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 внутри классов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Обязательно</a:t>
            </a:r>
            <a:r>
              <a:rPr lang="ru">
                <a:solidFill>
                  <a:schemeClr val="dk1"/>
                </a:solidFill>
              </a:rPr>
              <a:t> для: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(type)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[]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()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-&gt;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-&gt;*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=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Перегрузка операторов внутри классов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Vector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size;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double* coordinates;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Vector(size_t n);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Vector(std::string s);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Vector(size_t size, double* coordinates);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Vector(Vector const&amp; v);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Vector&amp; operator =(Vector const&amp; p);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const double operator [](size_t i) const;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operator std::string() 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operator ()(size_t n, double* b);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 внутри классов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133275" y="1152475"/>
            <a:ext cx="409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Vector&amp; Vector::operator =(Vector const&amp; p)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(this != &amp;p)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delete[] coordinates;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 = p.size;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coordinates = new double[size];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(size_t i = 0; i != size; ++i)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coordinates[i] = </a:t>
            </a:r>
            <a:b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p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.coordinates[i];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*this;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Vector::operator[](size_t i)const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coordinates[i];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4265975" y="1152475"/>
            <a:ext cx="466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Vector::operator std::string() const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std::string s = "";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(size_t i = 0; i &lt; size - 1; i++)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 += std::to_string(coordinates[i]) + " ";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 += std::to_string(coordinates[size - 1]);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s;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Vector::operator()(size_t n, double* b)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 temp(n, b);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*this = temp;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 []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получение значения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double operator[](const size_t)const;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изменение значения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double&amp; operator [](const size_t);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Перегрузка инкремента и декремента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BigNum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std::vector&lt;int&gt; value;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BigNum(std::string 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//prefix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BigNum&amp; operator ++();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//postfix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BigNum operator ++(int);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//prefix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BigNum&amp; BigNum::operator ++()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//increment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*this;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//postfix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BigNum BigNum::operator ++(int)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BigNum tmp(*this);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++(*this);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tmp;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операторов ввода и вывода вне класса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std::istream&amp; operator &gt;&gt;(std::istream&amp; is, BigNum&amp; b);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std::ostream&amp; operator &lt;&lt;(std::ostream&amp; os, BigNum const&amp; b);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std::istream&amp; operator&gt;&gt;(std::istream&amp; is, BigNum&amp; b){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std::string s = "";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is &gt;&gt; s;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b(s);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is;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std::ostream&amp; operator&lt;&lt;(std::ostream&amp; os, BigNum const&amp; b){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BigNum temp(b);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os &lt;&lt; (std::string)temp;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os;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Операторы с особым порядком вычисления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&amp;&amp;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||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,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4" name="Google Shape;154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foo() &amp;&amp; bar();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foo() || bar();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foo(), bar();</a:t>
            </a:r>
            <a:endParaRPr sz="2000"/>
          </a:p>
        </p:txBody>
      </p:sp>
      <p:sp>
        <p:nvSpPr>
          <p:cNvPr id="155" name="Google Shape;155;p28"/>
          <p:cNvSpPr txBox="1"/>
          <p:nvPr/>
        </p:nvSpPr>
        <p:spPr>
          <a:xfrm>
            <a:off x="1371450" y="3083025"/>
            <a:ext cx="642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rgbClr val="FF0000"/>
                </a:solidFill>
              </a:rPr>
              <a:t>перегруженные </a:t>
            </a:r>
            <a:r>
              <a:rPr lang="ru" sz="2000">
                <a:solidFill>
                  <a:srgbClr val="FF0000"/>
                </a:solidFill>
              </a:rPr>
              <a:t>операторы ведут себя как обычные операторы, не обладают порядком вычислений, присущим исходным операторам (&amp;&amp; и || и ,) 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</a:t>
            </a:r>
            <a:r>
              <a:rPr lang="ru" sz="2750"/>
              <a:t>а арифметических и битовых операторов</a:t>
            </a:r>
            <a:endParaRPr sz="2750"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Операторы перегружать вне класса, используя сокращенную запись операторов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А сокращенную запись операторов перегружать внутри класса, так как в короткой записи изменяется левый операнд (this)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Перегрузка арифметических и битовых операторов</a:t>
            </a:r>
            <a:endParaRPr sz="2500"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150175" y="1152475"/>
            <a:ext cx="416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Vector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x;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Vector(Vector const&amp; v);	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Vector&amp; operator *=(double d);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Vector&amp; operator +=(Vector const&amp; v);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 *(Vector v1, double d);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 +(Vector v1, Vector const&amp; v2);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30"/>
          <p:cNvSpPr txBox="1"/>
          <p:nvPr>
            <p:ph idx="2" type="body"/>
          </p:nvPr>
        </p:nvSpPr>
        <p:spPr>
          <a:xfrm>
            <a:off x="4655425" y="1152475"/>
            <a:ext cx="428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Vector&amp; Vector::operator*=(double d){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*= d;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y *= d;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*this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Vector&amp; Vector::operator+=(Vector const&amp; v){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+= v.x;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y += v.y;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*this</a:t>
            </a: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 *(Vector v1, double d){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v1 *= d;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operator +(Vector v1, Vector const&amp; v2){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v1 += v2;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</a:t>
            </a:r>
            <a:r>
              <a:rPr lang="ru"/>
              <a:t>ереопределение операторов сравнения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Перегружаются парами: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ru" sz="2200">
                <a:solidFill>
                  <a:schemeClr val="dk1"/>
                </a:solidFill>
              </a:rPr>
              <a:t>== и !=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ru" sz="2200">
                <a:solidFill>
                  <a:schemeClr val="dk1"/>
                </a:solidFill>
              </a:rPr>
              <a:t>&lt; и &gt;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ru" sz="2200">
                <a:solidFill>
                  <a:schemeClr val="dk1"/>
                </a:solidFill>
              </a:rPr>
              <a:t>&lt;= и &gt;=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Переопределение операторов сравнения</a:t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operator ==(Vector const &amp; a, Vector const &amp; b 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...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operator !=(Vector const &amp; a ,Vector const &amp; b 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!( a == b 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operator &lt;(Vector const &amp; a ,Vector const &amp; b 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...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operator &gt;(Vector const &amp; a ,Vector const &amp; b 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b &lt; a 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operator &lt;=(Vector const &amp; a ,Vector const &amp; b 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!( b &lt; a 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operator &gt;=(Vector const &amp; a ,Vector const &amp; b 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!( a &lt; b 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Запомнить</a:t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Стандартная семантика операторов - поведение должно отражать суть (нельзя + вместо *).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При перегрузке важно помнить о приоритете </a:t>
            </a:r>
            <a:r>
              <a:rPr lang="ru">
                <a:solidFill>
                  <a:schemeClr val="dk1"/>
                </a:solidFill>
              </a:rPr>
              <a:t>операторов</a:t>
            </a:r>
            <a:r>
              <a:rPr lang="ru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Хотя бы один из параметров должен быть пользовательским, то есть параметр должен быть типом данного 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Где?</a:t>
            </a:r>
            <a:endParaRPr/>
          </a:p>
        </p:txBody>
      </p:sp>
      <p:graphicFrame>
        <p:nvGraphicFramePr>
          <p:cNvPr id="192" name="Google Shape;192;p34"/>
          <p:cNvGraphicFramePr/>
          <p:nvPr/>
        </p:nvGraphicFramePr>
        <p:xfrm>
          <a:off x="391725" y="11754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{74E925E6-3EDE-4C74-A388-57301DAB9412}</a:tableStyleId>
              </a:tblPr>
              <a:tblGrid>
                <a:gridCol w="4650425"/>
                <a:gridCol w="3572650"/>
              </a:tblGrid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Оператор</a:t>
                      </a:r>
                      <a:endParaRPr b="1"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Рекомендуемая форма</a:t>
                      </a:r>
                      <a:endParaRPr b="1"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Все унарные операторы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Член класса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= () [] -&gt; -&gt;*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Обязательно член класса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+= -= /= *= ^= &amp;= |= %= &gt;&gt;= &lt;&lt;=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Член класса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Остальные бинарные операторы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8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Не член класса</a:t>
                      </a:r>
                      <a:endParaRPr sz="180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5250" marB="142875" marR="142875" marL="1428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Ключевое слово friend. Дружественные классы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String 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friend 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StringBuffer;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 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* data 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size_t len 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StringBuffer 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inline void append(String const &amp; s) 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append(s.data);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append(char const * s);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Ключевое слово friend. Дружественные функции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8520600" cy="37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BigNum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std::vector&lt;int&gt; value;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BigNum(BigNum const&amp; b);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operator std::string() const;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operator()(std::string s);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friend 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std::istream&amp; operator &gt;&gt;(std::istream&amp; in, BigNum&amp; b)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std::string s = "";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in &gt;&gt; 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b(s); // можно получить доступ к b.value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in;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friend std::ostream&amp; operator &lt;&lt;(std::ostream&amp; out, BigNum const&amp; b)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BigNum temp(b);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&lt;&lt; (std::string)temp;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Ключевое слово friend. </a:t>
            </a:r>
            <a:r>
              <a:rPr lang="ru"/>
              <a:t>Дружественные методы</a:t>
            </a:r>
            <a:endParaRPr/>
          </a:p>
        </p:txBody>
      </p:sp>
      <p:sp>
        <p:nvSpPr>
          <p:cNvPr id="210" name="Google Shape;21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String 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StringBuffer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append(String const &amp; s); // описать inline нельзя,так как класс определен ниже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append(char const * s) {...}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String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friend 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StringBuffer::append(String const&amp; s);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 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* data 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size_t len 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StringBuffer::append(String const &amp; s)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append(s.data);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Отношение дружбы</a:t>
            </a:r>
            <a:endParaRPr/>
          </a:p>
        </p:txBody>
      </p:sp>
      <p:sp>
        <p:nvSpPr>
          <p:cNvPr id="216" name="Google Shape;21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Отношение дружбы можно охарактеризовать следующими утверждениями: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Отношение дружбы не симметрично.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Отношение дружбы не транзитивно.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Отношение наследования не задаёт отношение дружбы.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Отношение дружбы сильнее, чем отношение наследования.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Стоит </a:t>
            </a:r>
            <a:r>
              <a:rPr b="1" lang="ru">
                <a:solidFill>
                  <a:schemeClr val="dk1"/>
                </a:solidFill>
              </a:rPr>
              <a:t>избегать</a:t>
            </a:r>
            <a:r>
              <a:rPr lang="ru">
                <a:solidFill>
                  <a:schemeClr val="dk1"/>
                </a:solidFill>
              </a:rPr>
              <a:t> ключевого слова friend, так как оно </a:t>
            </a:r>
            <a:r>
              <a:rPr b="1" lang="ru">
                <a:solidFill>
                  <a:schemeClr val="dk1"/>
                </a:solidFill>
              </a:rPr>
              <a:t>нарушает</a:t>
            </a:r>
            <a:r>
              <a:rPr lang="ru">
                <a:solidFill>
                  <a:schemeClr val="dk1"/>
                </a:solidFill>
              </a:rPr>
              <a:t> инкапсуляцию.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Ссылки googletest</a:t>
            </a:r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https://google.github.io/googletest/primer.html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https://github.com/google/googletest/tree/main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5"/>
              </a:rPr>
              <a:t>https://github.com/google/googletest/blob/main/docs/advanced.md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