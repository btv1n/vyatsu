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slide" Target="slides/slide43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156526de3_2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156526de3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156526de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156526de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0156526de3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0156526de3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0156526de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0156526de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156526de3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0156526de3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156526de3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0156526de3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0156526de3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0156526de3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0156526de3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0156526de3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0156526de3_2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0156526de3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0156526de3_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0156526de3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0156526de3_2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0156526de3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156526de3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0156526de3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0156526de3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0156526de3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156526de3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156526de3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156526de3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156526de3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0156526de3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0156526de3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0156526de3_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0156526de3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0156526de3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0156526de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0156526de3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0156526de3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0156526de3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0156526de3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0156526de3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0156526de3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0156526de3_2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0156526de3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0156526de3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0156526de3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156526de3_2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0156526de3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0156526de3_2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0156526de3_2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0238b45d2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0238b45d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0238b45d2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0238b45d2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0238b45d2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0238b45d2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0238b45d2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0238b45d2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0238b45d2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0238b45d2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0238b45d2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0238b45d2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0238b45d2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0238b45d2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0238b45d2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0238b45d2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0238b45d2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0238b45d2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0238b45d2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0238b45d2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039949147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03994914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039949147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039949147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039949147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039949147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0453e0de6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0453e0de6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0453e0de60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0453e0de6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dc4c42c1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dc4c42c1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dc4c42c15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dc4c42c15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Структуры и классы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Лекция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 с классами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1143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язык может называться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объектно-ориентированным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если в нем реализованы </a:t>
            </a:r>
            <a:r>
              <a:rPr b="1" lang="ru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три концепции</a:t>
            </a: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объекты,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классы,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наследование. 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Бьерн Страуструп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5075" y="2605800"/>
            <a:ext cx="1454475" cy="145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Структуры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М</a:t>
            </a:r>
            <a:r>
              <a:rPr lang="ru">
                <a:solidFill>
                  <a:schemeClr val="dk1"/>
                </a:solidFill>
              </a:rPr>
              <a:t>етоды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Конструктор, деструктор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Объекты и классы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Модификаторы доступа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Конструктор копирования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Структуры — это способ синтаксически (и физически) сгруппировать логически связанные данные.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имя_структуры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компоненты_структуры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Структуры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Структуры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225275" y="1152475"/>
            <a:ext cx="229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Point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Segment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first;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last;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2881475" y="1152475"/>
            <a:ext cx="612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distance(Point p1, Point p2)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sqrt(pow((p1.x - p2.x), 2) +</a:t>
            </a:r>
            <a:b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 pow((p1.y - p2.y), 2));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distance(Segment s)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sqrt(pow((s.first.x - s.last.x), 2) + </a:t>
            </a:r>
            <a:b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pow((s.first.y - s.last.y), 2));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Структуры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p1;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p1.x = 2;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p1.y = 6;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p1.x &lt;&lt; " " &lt;&lt; p1.y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p2;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p2.x = 4;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p2.y = 7;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p2.x &lt;&lt; " " &lt;&lt; p2.y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d1 = distance(p1, p2);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s.first = p1;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s.last = p2;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d2 = distance(s);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d1 &lt;&lt; " " &lt;&lt; d2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Как инициализировать структуру?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Конструктор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Конструктор </a:t>
            </a:r>
            <a:r>
              <a:rPr lang="ru">
                <a:solidFill>
                  <a:schemeClr val="dk1"/>
                </a:solidFill>
              </a:rPr>
              <a:t>– это метод для создания и инициализации структуры.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Список инициализации </a:t>
            </a:r>
            <a:r>
              <a:rPr lang="ru">
                <a:solidFill>
                  <a:schemeClr val="dk1"/>
                </a:solidFill>
              </a:rPr>
              <a:t>позволяет инициализировать поля </a:t>
            </a:r>
            <a:r>
              <a:rPr b="1" lang="ru">
                <a:solidFill>
                  <a:schemeClr val="dk1"/>
                </a:solidFill>
              </a:rPr>
              <a:t>до входа в конструктор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Инициализации полей</a:t>
            </a:r>
            <a:r>
              <a:rPr lang="ru">
                <a:solidFill>
                  <a:schemeClr val="dk1"/>
                </a:solidFill>
              </a:rPr>
              <a:t> в списке инициализации происходит </a:t>
            </a:r>
            <a:r>
              <a:rPr b="1" lang="ru">
                <a:solidFill>
                  <a:schemeClr val="dk1"/>
                </a:solidFill>
              </a:rPr>
              <a:t>в порядке объявления полей в структуре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Деструктор — это метод, который вызывается при удалении структуры, генерируется компилятором.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Конструктор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364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Point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Point(double x, double y);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Point::Point(double x, double y)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this-&gt;x =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this-&gt;y =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" name="Google Shape;100;p20"/>
          <p:cNvSpPr txBox="1"/>
          <p:nvPr>
            <p:ph idx="2" type="body"/>
          </p:nvPr>
        </p:nvSpPr>
        <p:spPr>
          <a:xfrm>
            <a:off x="4317525" y="1152475"/>
            <a:ext cx="468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Segment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first;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last;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Segment(Point p1, Point p2);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Segment::Segment(Point p1, Point p2): first(p1), last(p2)//список инициализации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Конструктор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p; // ошибка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p1(2, 6);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p1.x &lt;&lt; " " &lt;&lt; p1.y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p2(4, 7);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p2.x &lt;&lt; " " &lt;&lt; p2.y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sg; // ошибка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s(p1, p2);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Конструктор по умолчанию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Если у структуры нет конструкторов, то 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конструктор без параметров - конструктор по умолчанию 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генерируется компилятором.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Конструктор по умолчанию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364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Point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Point(double x, double y);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Point::Point():x(0),y(0)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Point::Point(double x, double y)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this-&gt;x =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this-&gt;y =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23"/>
          <p:cNvSpPr txBox="1"/>
          <p:nvPr>
            <p:ph idx="2" type="body"/>
          </p:nvPr>
        </p:nvSpPr>
        <p:spPr>
          <a:xfrm>
            <a:off x="4317525" y="1152475"/>
            <a:ext cx="468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Segment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first;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last;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Segment();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Segment(Point p1, Point p2);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Segment::Segment():first(Point()), last(Point())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Segment::Segment(Point p1, Point p2):first(p1), last(p2)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Конструктор по умолчанию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p.x &lt;&lt; " " &lt;&lt; p.y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p1(2, 6);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p1.x &lt;&lt; " " &lt;&lt; p1.y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p2(4, 7);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p2.x &lt;&lt; " " &lt;&lt; p2.y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sg;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sg.first.x &lt;&lt; " " &lt;&lt; sg.first.y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sg.last.x &lt;&lt; " " &lt;&lt; sg.last.y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s(p1, p2);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Конструкторы от одного параметра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Конструкторы от одного параметра задают </a:t>
            </a:r>
            <a:r>
              <a:rPr b="1" lang="ru">
                <a:solidFill>
                  <a:schemeClr val="dk1"/>
                </a:solidFill>
              </a:rPr>
              <a:t>неявное пользовательское преобразование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2625" y="3815225"/>
            <a:ext cx="1408574" cy="129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Конструкторы от одного параметра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262800" y="1152475"/>
            <a:ext cx="414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struct Segment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Point first;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Point last;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Segment(Point p1, Point p2);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Segment(Point p);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Segment::Segment(Point p1, Point p2): first(p1), last(p2)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Segment::Segment(Point p): first(Point(0,0)), last(p.x, p.y)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26"/>
          <p:cNvSpPr txBox="1"/>
          <p:nvPr>
            <p:ph idx="2" type="body"/>
          </p:nvPr>
        </p:nvSpPr>
        <p:spPr>
          <a:xfrm>
            <a:off x="4411800" y="1152475"/>
            <a:ext cx="449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Point p1(2, 6);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Point p2(4, 7);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Segment s1(p1, p2);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Segment s2(p1);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s2.first.x &lt;&lt; " " &lt;&lt; s2.first.y;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s2.last.x &lt;&lt; " " &lt;&lt; s2.last.y;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Segment s3 = p2</a:t>
            </a: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s3.first.x &lt;&lt; " " &lt;&lt; s3.first.y;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s3.last.x &lt;&lt; " " &lt;&lt; s3.last.y;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Конструкторы от одного параметра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000000"/>
                </a:solidFill>
              </a:rPr>
              <a:t>Для того, чтобы </a:t>
            </a:r>
            <a:r>
              <a:rPr b="1" lang="ru">
                <a:solidFill>
                  <a:srgbClr val="000000"/>
                </a:solidFill>
              </a:rPr>
              <a:t>запретить</a:t>
            </a:r>
            <a:r>
              <a:rPr lang="ru">
                <a:solidFill>
                  <a:srgbClr val="000000"/>
                </a:solidFill>
              </a:rPr>
              <a:t> неявное пользовательское преобразование, используется ключевое слово </a:t>
            </a:r>
            <a:r>
              <a:rPr b="1" lang="ru">
                <a:solidFill>
                  <a:srgbClr val="000000"/>
                </a:solidFill>
              </a:rPr>
              <a:t>explicit</a:t>
            </a:r>
            <a:r>
              <a:rPr lang="ru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Конструкторы от одного параметра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262800" y="1152475"/>
            <a:ext cx="420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Segment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first;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last;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Segment(Point p1, Point p2);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explicit Segment(Point p);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Segment::Segment(Point p1, Point p2): first(p1), last(p2)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Segment::Segment(Point p): first(Point(0,0)), last(p)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28"/>
          <p:cNvSpPr txBox="1"/>
          <p:nvPr>
            <p:ph idx="2" type="body"/>
          </p:nvPr>
        </p:nvSpPr>
        <p:spPr>
          <a:xfrm>
            <a:off x="4422150" y="1152475"/>
            <a:ext cx="44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p1(2, 6);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p2(4, 7);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s1(p1, p2);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s2(p1);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s2.first.x &lt;&lt; " " &lt;&lt; s2.first.y;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s2.last.x &lt;&lt; " " &lt;&lt; s2.last.y;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s3 = p2; // ошибка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Д</a:t>
            </a:r>
            <a:r>
              <a:rPr lang="ru"/>
              <a:t>еструктор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Деструктор – это метод, который вызывается при удалении структуры.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деструктор не описан в явном виде, то он генерируется компилятором.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Время жизни объекта (переменной типа структур) – это временной интервал между вызовами конструктора и деструктора.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Деструкторы переменных вызываются в обратном порядке (по отношению к порядку вызова конструкторов).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Деструктор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262800" y="1152475"/>
            <a:ext cx="390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Point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Point(double x, double y);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~Point() {};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30"/>
          <p:cNvSpPr txBox="1"/>
          <p:nvPr>
            <p:ph idx="2" type="body"/>
          </p:nvPr>
        </p:nvSpPr>
        <p:spPr>
          <a:xfrm>
            <a:off x="4355075" y="1152475"/>
            <a:ext cx="455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Segment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first;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last;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Segment();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Segment(Point p1, Point p2);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explicit Segment(Point p);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~Segment() {};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Метод – это функция, определённая внутри структуры.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методах есть неявный параметр </a:t>
            </a:r>
            <a:r>
              <a:rPr b="1" lang="ru">
                <a:solidFill>
                  <a:schemeClr val="dk1"/>
                </a:solidFill>
              </a:rPr>
              <a:t>this</a:t>
            </a:r>
            <a:r>
              <a:rPr lang="ru">
                <a:solidFill>
                  <a:schemeClr val="dk1"/>
                </a:solidFill>
              </a:rPr>
              <a:t>, который указывает на текущий экземпляр структуры.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Описание метода можно </a:t>
            </a:r>
            <a:r>
              <a:rPr lang="ru">
                <a:solidFill>
                  <a:schemeClr val="dk1"/>
                </a:solidFill>
              </a:rPr>
              <a:t>разделить</a:t>
            </a:r>
            <a:r>
              <a:rPr lang="ru">
                <a:solidFill>
                  <a:schemeClr val="dk1"/>
                </a:solidFill>
              </a:rPr>
              <a:t> на объявление и определение.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Использование методов позволяет объединить данные и функции для работы с ними.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что-то похоже на объявление функции, то это и есть объявление функции.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Методы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197100" y="1152475"/>
            <a:ext cx="397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Point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distance(Point p);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Point::distance(Point p)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sqrt(pow(x - p.x, 2) + </a:t>
            </a:r>
            <a:b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pow(y - p.y, 2));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p32"/>
          <p:cNvSpPr txBox="1"/>
          <p:nvPr>
            <p:ph idx="2" type="body"/>
          </p:nvPr>
        </p:nvSpPr>
        <p:spPr>
          <a:xfrm>
            <a:off x="4167300" y="1152475"/>
            <a:ext cx="483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Segment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first;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last;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distance();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Segment::distance()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sqrt(pow(first.x - last.x, 2) +</a:t>
            </a:r>
            <a:b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 pow(first.y - last.y, 2));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p1(2, 6);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p1.x &lt;&lt; " " &lt;&lt; p1.y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p2(4, 7);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p2.x &lt;&lt; " " &lt;&lt; p2.y &lt;&lt; "\n";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d1 = p1.distance(p2);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Segment s(p1, p2);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d2 = s.distance();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d1 &lt;&lt; " " &lt;&lt; d2 &lt;&lt; endl;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</a:t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</a:t>
            </a:r>
            <a:r>
              <a:rPr lang="ru">
                <a:solidFill>
                  <a:schemeClr val="dk1"/>
                </a:solidFill>
              </a:rPr>
              <a:t>труктуры в С++ похожи на классы.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 структуры и класса одинаковое </a:t>
            </a:r>
            <a:r>
              <a:rPr lang="ru">
                <a:solidFill>
                  <a:schemeClr val="dk1"/>
                </a:solidFill>
              </a:rPr>
              <a:t>"</a:t>
            </a:r>
            <a:r>
              <a:rPr lang="ru">
                <a:solidFill>
                  <a:schemeClr val="dk1"/>
                </a:solidFill>
              </a:rPr>
              <a:t>строение</a:t>
            </a:r>
            <a:r>
              <a:rPr lang="ru">
                <a:solidFill>
                  <a:schemeClr val="dk1"/>
                </a:solidFill>
              </a:rPr>
              <a:t>": поля, методы, конструкторы, </a:t>
            </a:r>
            <a:r>
              <a:rPr lang="ru">
                <a:solidFill>
                  <a:schemeClr val="dk1"/>
                </a:solidFill>
              </a:rPr>
              <a:t> деструктор.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Различия между структурой и классом – доступ к компонентам.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34"/>
          <p:cNvSpPr/>
          <p:nvPr/>
        </p:nvSpPr>
        <p:spPr>
          <a:xfrm>
            <a:off x="5218575" y="2806400"/>
            <a:ext cx="2581200" cy="124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class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2"/>
                </a:solidFill>
              </a:rPr>
              <a:t>private</a:t>
            </a:r>
            <a:endParaRPr/>
          </a:p>
        </p:txBody>
      </p:sp>
      <p:sp>
        <p:nvSpPr>
          <p:cNvPr id="192" name="Google Shape;192;p34"/>
          <p:cNvSpPr/>
          <p:nvPr/>
        </p:nvSpPr>
        <p:spPr>
          <a:xfrm>
            <a:off x="1112000" y="2806400"/>
            <a:ext cx="2581200" cy="124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struct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public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Класс – это определяемый пользователем тип.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Классы обеспечивают сокрытие данных, их инициализацию, неявное преобразование пользовательских типов, динамическое задание типов, контролируемое пользователем управление памятью и средства для перегрузки операций.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Экземпляр (значение) класса называется объектом.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Point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p1;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p1.x &lt;&lt; " " &lt;&lt; p1.y; // поля x, y - недоступны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Модификаторы доступа</a:t>
            </a:r>
            <a:endParaRPr/>
          </a:p>
        </p:txBody>
      </p:sp>
      <p:sp>
        <p:nvSpPr>
          <p:cNvPr id="210" name="Google Shape;21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Модификаторы доступа позволяют ограничивать доступ к методам и полям класса.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" sz="2400">
                <a:solidFill>
                  <a:schemeClr val="dk1"/>
                </a:solidFill>
              </a:rPr>
              <a:t>private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" sz="2400">
                <a:solidFill>
                  <a:schemeClr val="dk1"/>
                </a:solidFill>
              </a:rPr>
              <a:t>public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ru" sz="2400">
                <a:solidFill>
                  <a:schemeClr val="dk1"/>
                </a:solidFill>
              </a:rPr>
              <a:t>protected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Модификаторы по умолчанию в struct, class?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Модификаторы доступа</a:t>
            </a:r>
            <a:endParaRPr/>
          </a:p>
        </p:txBody>
      </p:sp>
      <p:sp>
        <p:nvSpPr>
          <p:cNvPr id="216" name="Google Shape;216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Struct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17" name="Google Shape;217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387900" y="3282600"/>
            <a:ext cx="824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Закрытие полей класса позволяет абстрагироваться от способа хранения данных объекта.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Открытую часть класса называют интерфейсом класса, она доступна пользователю.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Передача параметра</a:t>
            </a:r>
            <a:endParaRPr/>
          </a:p>
        </p:txBody>
      </p:sp>
      <p:sp>
        <p:nvSpPr>
          <p:cNvPr id="224" name="Google Shape;22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Point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distance(Point p); // 1-ый метод distance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distance(Point const &amp; p); // 2-ой метод distance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Использование константных ссылок позволяет избежать копирования объектов при передаче в функцию.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Ссылки и const в параметрах м</a:t>
            </a:r>
            <a:r>
              <a:rPr lang="ru"/>
              <a:t>етодов</a:t>
            </a:r>
            <a:endParaRPr/>
          </a:p>
        </p:txBody>
      </p:sp>
      <p:sp>
        <p:nvSpPr>
          <p:cNvPr id="230" name="Google Shape;230;p40"/>
          <p:cNvSpPr txBox="1"/>
          <p:nvPr>
            <p:ph idx="1" type="body"/>
          </p:nvPr>
        </p:nvSpPr>
        <p:spPr>
          <a:xfrm>
            <a:off x="197100" y="1152475"/>
            <a:ext cx="42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Point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distance(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distance(Point </a:t>
            </a: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&amp;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40"/>
          <p:cNvSpPr txBox="1"/>
          <p:nvPr>
            <p:ph idx="2" type="body"/>
          </p:nvPr>
        </p:nvSpPr>
        <p:spPr>
          <a:xfrm>
            <a:off x="4572000" y="1152475"/>
            <a:ext cx="442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Point::distance(Point p)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p.x = 0; // можно изменить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p.y = 0; // можно изменить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sqrt(pow(x - p.x, 2) + </a:t>
            </a:r>
            <a:b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pow(y - p.y, 2));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Point::distance(Point const &amp; p)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p.x = 0; // ошибка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p.y = 0; // ошибка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sqrt(pow(x - p.x, 2) + </a:t>
            </a:r>
            <a:b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pow(y - p.y, 2));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399575" y="3774750"/>
            <a:ext cx="3842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Слово </a:t>
            </a:r>
            <a:r>
              <a:rPr lang="ru" sz="1600"/>
              <a:t>const является частью сигнатуры метода.</a:t>
            </a:r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idx="2" type="body"/>
          </p:nvPr>
        </p:nvSpPr>
        <p:spPr>
          <a:xfrm>
            <a:off x="4572000" y="1152475"/>
            <a:ext cx="442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Point::distance(Point const &amp; 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 = 0; // можно изменить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y = 0; // можно изменить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sqrt(pow(x - p.x, 2) + </a:t>
            </a:r>
            <a:b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pow(y - p.y, 2));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Point::distance(Point const &amp; p) const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 = 0; // ошибка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y = 0; // ошибка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sqrt(pow(x - p.x, 2) + </a:t>
            </a:r>
            <a:b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pow(y - p.y, 2));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Константные методы</a:t>
            </a:r>
            <a:endParaRPr/>
          </a:p>
        </p:txBody>
      </p:sp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197100" y="1152475"/>
            <a:ext cx="42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Point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distance(Point const &amp; p);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distance(Point const &amp; p) </a:t>
            </a:r>
            <a:r>
              <a:rPr b="1"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41"/>
          <p:cNvSpPr txBox="1"/>
          <p:nvPr/>
        </p:nvSpPr>
        <p:spPr>
          <a:xfrm>
            <a:off x="298200" y="3400675"/>
            <a:ext cx="4097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Эти </a:t>
            </a:r>
            <a:r>
              <a:rPr lang="ru" sz="1600"/>
              <a:t>методы не могут менять поля объекта (тип this – указатель на const).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Слово const является частью сигнатуры метода.</a:t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очень хочется, то можно</a:t>
            </a:r>
            <a:endParaRPr/>
          </a:p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Point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mutable int count;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distance(Point const &amp; p) const;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 middle(Point const&amp; p) const;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42"/>
          <p:cNvSpPr txBox="1"/>
          <p:nvPr>
            <p:ph idx="2" type="body"/>
          </p:nvPr>
        </p:nvSpPr>
        <p:spPr>
          <a:xfrm>
            <a:off x="4572000" y="1152475"/>
            <a:ext cx="436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Point::distance(Point const &amp; p) const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count++;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sqrt(pow((x - p.x), 2) + </a:t>
            </a:r>
            <a:b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pow((y - p.y), 2));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Point::middle(Point const&amp; p) const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count++;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Point((x + p.x) / 2, </a:t>
            </a:r>
            <a:b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(y + p.y) / 2);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2"/>
          <p:cNvSpPr txBox="1"/>
          <p:nvPr/>
        </p:nvSpPr>
        <p:spPr>
          <a:xfrm>
            <a:off x="311700" y="394440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Ключевое слово mutable позволяет определять поля, которые можно изменять внутри константных методов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Копирование объектов</a:t>
            </a:r>
            <a:endParaRPr/>
          </a:p>
        </p:txBody>
      </p:sp>
      <p:sp>
        <p:nvSpPr>
          <p:cNvPr id="254" name="Google Shape;25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случай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p1(1, 3);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p2(p1); // копирование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случай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p3 = p1; // копирование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случай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distance(Point p); // копирование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Конструктор копирования</a:t>
            </a:r>
            <a:endParaRPr/>
          </a:p>
        </p:txBody>
      </p:sp>
      <p:sp>
        <p:nvSpPr>
          <p:cNvPr id="260" name="Google Shape;260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const &amp;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1" name="Google Shape;261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Point::Point(Point const &amp; p)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 = p.x;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y = p.y;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обязательно переопределять?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Конструктор копирования</a:t>
            </a:r>
            <a:endParaRPr/>
          </a:p>
        </p:txBody>
      </p:sp>
      <p:sp>
        <p:nvSpPr>
          <p:cNvPr id="267" name="Google Shape;267;p45"/>
          <p:cNvSpPr txBox="1"/>
          <p:nvPr>
            <p:ph idx="1" type="body"/>
          </p:nvPr>
        </p:nvSpPr>
        <p:spPr>
          <a:xfrm>
            <a:off x="255050" y="1152475"/>
            <a:ext cx="388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Point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size;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* coordinates;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Point(size_t n);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Point(Point const &amp; p);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~Point();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/>
          </a:p>
        </p:txBody>
      </p:sp>
      <p:sp>
        <p:nvSpPr>
          <p:cNvPr id="268" name="Google Shape;268;p45"/>
          <p:cNvSpPr txBox="1"/>
          <p:nvPr>
            <p:ph idx="2" type="body"/>
          </p:nvPr>
        </p:nvSpPr>
        <p:spPr>
          <a:xfrm>
            <a:off x="4140350" y="1152475"/>
            <a:ext cx="469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Point::Point(size_t n)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 = n;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coordinates = new double[n] {0};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Point::Point(Point const &amp; p):Point(p.size)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(size_t i = 0; i &lt; size; i++)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coordinates[i] = p.coordinates[i];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Point::~Point()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delete [] coordinates;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присваивания</a:t>
            </a:r>
            <a:endParaRPr/>
          </a:p>
        </p:txBody>
      </p:sp>
      <p:sp>
        <p:nvSpPr>
          <p:cNvPr id="274" name="Google Shape;274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p1(1, 3);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p2(2, 4);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 = p1; // присваивание</a:t>
            </a:r>
            <a:endParaRPr/>
          </a:p>
        </p:txBody>
      </p:sp>
      <p:sp>
        <p:nvSpPr>
          <p:cNvPr id="275" name="Google Shape;275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Если не определить оператор присваивания, то он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сгенерируется компилятором.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Оператор присваивания</a:t>
            </a:r>
            <a:endParaRPr/>
          </a:p>
        </p:txBody>
      </p:sp>
      <p:sp>
        <p:nvSpPr>
          <p:cNvPr id="281" name="Google Shape;281;p47"/>
          <p:cNvSpPr txBox="1"/>
          <p:nvPr>
            <p:ph idx="1" type="body"/>
          </p:nvPr>
        </p:nvSpPr>
        <p:spPr>
          <a:xfrm>
            <a:off x="187025" y="1152475"/>
            <a:ext cx="381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Point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size;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* coordinates;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Point(size_t n);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Point(Point const &amp; p);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Point(std::string const &amp; s);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~Point();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Point&amp; operator=(Point const&amp; p);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/>
          </a:p>
        </p:txBody>
      </p:sp>
      <p:sp>
        <p:nvSpPr>
          <p:cNvPr id="282" name="Google Shape;282;p47"/>
          <p:cNvSpPr txBox="1"/>
          <p:nvPr>
            <p:ph idx="2" type="body"/>
          </p:nvPr>
        </p:nvSpPr>
        <p:spPr>
          <a:xfrm>
            <a:off x="4066700" y="1152475"/>
            <a:ext cx="480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Point&amp; Point::operator=(Point const&amp; 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(this != &amp;p)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delete [] coordinates;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size = p.size;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coordinates = new double[size];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for (size_t i = 0; i != size; ++i)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coordinates[i] = p.coordinates[i];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*this;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Оператор присваивания</a:t>
            </a:r>
            <a:endParaRPr/>
          </a:p>
        </p:txBody>
      </p:sp>
      <p:sp>
        <p:nvSpPr>
          <p:cNvPr id="288" name="Google Shape;288;p48"/>
          <p:cNvSpPr txBox="1"/>
          <p:nvPr>
            <p:ph idx="1" type="body"/>
          </p:nvPr>
        </p:nvSpPr>
        <p:spPr>
          <a:xfrm>
            <a:off x="311700" y="1152475"/>
            <a:ext cx="389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Point&amp; Point::operator=(Point const&amp; p)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(this != &amp;p)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Point(p).swap(*this);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*this;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Point::swap(Point&amp; 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const t1 = size;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 = p.size;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p.size = t1;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double* const t2 = coordinates;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coordinates = p.coordinates;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p.coordinates = t2;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8"/>
          <p:cNvSpPr txBox="1"/>
          <p:nvPr>
            <p:ph idx="2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&lt;algorithm&gt;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Point::swap(Point&amp; 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std::swap(size, p.size);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std::swap(coordinates, p.coordinates);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Запрет копирования объектов</a:t>
            </a:r>
            <a:endParaRPr/>
          </a:p>
        </p:txBody>
      </p:sp>
      <p:sp>
        <p:nvSpPr>
          <p:cNvPr id="295" name="Google Shape;29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Для того, чтобы запретить копирование, нужно объявить конструктор копирования и оператор присваивания как private и не определять их.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 // до C++11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&amp; p);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Point&amp; Point::operator =(Point const&amp; p);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pablic: // C++11 и новее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Point(Point const &amp; p) = delete;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Point&amp; Point::operator =(Point const&amp; p) = delete;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Методы, генерируемые компилятором</a:t>
            </a:r>
            <a:endParaRPr/>
          </a:p>
        </p:txBody>
      </p:sp>
      <p:sp>
        <p:nvSpPr>
          <p:cNvPr id="301" name="Google Shape;301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Компилятор генерирует четыре метода: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1. конструктор по умолчанию,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2. конструктор копирования,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3. оператор присваивания,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4. деструктор.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Если потребовалось переопределить конструктор копирования, или оператор присваивания, или деструктор, то нужно переопределить и остальные методы из этого списка.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const: две версии одного метода</a:t>
            </a:r>
            <a:endParaRPr/>
          </a:p>
        </p:txBody>
      </p:sp>
      <p:sp>
        <p:nvSpPr>
          <p:cNvPr id="307" name="Google Shape;307;p51"/>
          <p:cNvSpPr txBox="1"/>
          <p:nvPr>
            <p:ph idx="1" type="body"/>
          </p:nvPr>
        </p:nvSpPr>
        <p:spPr>
          <a:xfrm>
            <a:off x="311700" y="1152475"/>
            <a:ext cx="378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Point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size;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* coordinates;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get(size_t i) const;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double&amp; get(size_t i);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08" name="Google Shape;308;p51"/>
          <p:cNvSpPr txBox="1"/>
          <p:nvPr>
            <p:ph idx="2" type="body"/>
          </p:nvPr>
        </p:nvSpPr>
        <p:spPr>
          <a:xfrm>
            <a:off x="4572000" y="1152475"/>
            <a:ext cx="42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Point::get(size_t i) const 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coordinates[i];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double&amp; Point::get(size_t i) 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coordinates[i];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 p("6 2 5");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p.get(1);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p.get(1) = 100;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Принцип ООП - инкапсуляция</a:t>
            </a:r>
            <a:endParaRPr/>
          </a:p>
        </p:txBody>
      </p:sp>
      <p:sp>
        <p:nvSpPr>
          <p:cNvPr id="314" name="Google Shape;31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Это 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механизм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, который 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объединяет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 данные и код, манипулирующий этими данными, а также 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защищает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 и то, и другое от внешнего вмешательства или неправильного использования.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В ООП 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код и данные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 объединяют вместе (в 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класс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). Говорят, что создаётся "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чёрный ящик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".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Каждый объект класса (переменная) обладает набором данных (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полей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) и кодом (методами). Объект - поддерживает инкапсуляцию.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Принцип ООП - инкапсуляция</a:t>
            </a:r>
            <a:endParaRPr/>
          </a:p>
        </p:txBody>
      </p:sp>
      <p:sp>
        <p:nvSpPr>
          <p:cNvPr id="320" name="Google Shape;320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Внутри объекта коды и данные могут быть закрытыми (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private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). Они 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доступны только для других частей этого объекта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, но недоступны для тех частей программы, которые существуют вне объекта.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Если коды и данные являются открытыми (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public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), то, несмотря на то, что они заданы внутри объекта, они </a:t>
            </a:r>
            <a:r>
              <a:rPr b="1" lang="ru">
                <a:solidFill>
                  <a:schemeClr val="dk1"/>
                </a:solidFill>
                <a:highlight>
                  <a:srgbClr val="FFFFFF"/>
                </a:highlight>
              </a:rPr>
              <a:t>доступны и для других частей программы</a:t>
            </a: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. Открытая часть объекта используется для того, чтобы обеспечить контролируемый интерфейс закрытых элементов объекта.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Ключевое слово inline</a:t>
            </a:r>
            <a:endParaRPr/>
          </a:p>
        </p:txBody>
      </p:sp>
      <p:sp>
        <p:nvSpPr>
          <p:cNvPr id="326" name="Google Shape;326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chemeClr val="lt1"/>
                </a:highlight>
              </a:rPr>
              <a:t>Советует компилятору встроить функцию.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chemeClr val="lt1"/>
                </a:highlight>
              </a:rPr>
              <a:t>Применяется, когда реализация функции проста (состоит из одной строки).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Point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inline double distance(Point p) {return sqrt(pow(x - p.x, 2) + </a:t>
            </a:r>
            <a:b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						pow(y - p.y, 2));}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chemeClr val="lt1"/>
                </a:highlight>
              </a:rPr>
              <a:t>Без фанатизма! Иначе процесс компиляции будет долгим!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Ключевое слово inline</a:t>
            </a:r>
            <a:endParaRPr/>
          </a:p>
        </p:txBody>
      </p:sp>
      <p:sp>
        <p:nvSpPr>
          <p:cNvPr id="332" name="Google Shape;332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chemeClr val="lt1"/>
                </a:highlight>
              </a:rPr>
              <a:t>Советует компилятору встроить функцию.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chemeClr val="lt1"/>
                </a:highlight>
              </a:rPr>
              <a:t>inline-функция может иметь несколько определений (но одинаковых) в h-файле, НО определять в cpp-файле ее НЕЛЬЗЯ.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Point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inline double distance(Point p) {return sqrt(pow(x - p.x, 2) + pow(y - p.y, 2));}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Point::distance(Point p) // только одному компилятору известно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sqrt(pow(x - p.x, 2) + // какое из определений он будет использовать</a:t>
            </a:r>
            <a:b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pow(y - p.y, 2)); // поэтому все определения одинаковые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333" name="Google Shape;33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2625" y="3815225"/>
            <a:ext cx="1408574" cy="129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