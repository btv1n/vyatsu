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6858000" cx="12192000"/>
  <p:notesSz cx="9144000" cy="6858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  <p:ext uri="GoogleSlidesCustomDataVersion2">
      <go:slidesCustomData xmlns:go="http://customooxmlschemas.google.com/" r:id="rId25" roundtripDataSignature="AMtx7miNAviTiibZsRGttHJ6f8e2XdBsG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2ba6046447_0_0:notes"/>
          <p:cNvSpPr/>
          <p:nvPr>
            <p:ph idx="2" type="sldImg"/>
          </p:nvPr>
        </p:nvSpPr>
        <p:spPr>
          <a:xfrm>
            <a:off x="1524300" y="514350"/>
            <a:ext cx="60963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2ba6046447_0_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3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4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5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6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7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2ba6046447_0_7:notes"/>
          <p:cNvSpPr/>
          <p:nvPr>
            <p:ph idx="2" type="sldImg"/>
          </p:nvPr>
        </p:nvSpPr>
        <p:spPr>
          <a:xfrm>
            <a:off x="1524300" y="514350"/>
            <a:ext cx="60963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2ba6046447_0_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8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9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10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1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2ba6046447_0_1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g32ba6046447_0_18:notes"/>
          <p:cNvSpPr/>
          <p:nvPr>
            <p:ph idx="2" type="sldImg"/>
          </p:nvPr>
        </p:nvSpPr>
        <p:spPr>
          <a:xfrm>
            <a:off x="1524300" y="514350"/>
            <a:ext cx="60963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2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3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2c6471c48a_0_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g32c6471c48a_0_0:notes"/>
          <p:cNvSpPr/>
          <p:nvPr>
            <p:ph idx="2" type="sldImg"/>
          </p:nvPr>
        </p:nvSpPr>
        <p:spPr>
          <a:xfrm>
            <a:off x="1524300" y="514350"/>
            <a:ext cx="60963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2ba6046447_0_23:notes"/>
          <p:cNvSpPr/>
          <p:nvPr>
            <p:ph idx="2" type="sldImg"/>
          </p:nvPr>
        </p:nvSpPr>
        <p:spPr>
          <a:xfrm>
            <a:off x="1524300" y="514350"/>
            <a:ext cx="60963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2ba6046447_0_2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2ba6046447_0_28:notes"/>
          <p:cNvSpPr/>
          <p:nvPr>
            <p:ph idx="2" type="sldImg"/>
          </p:nvPr>
        </p:nvSpPr>
        <p:spPr>
          <a:xfrm>
            <a:off x="1524300" y="514350"/>
            <a:ext cx="60963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2ba6046447_0_2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bc9677d3c7_0_0:notes"/>
          <p:cNvSpPr/>
          <p:nvPr>
            <p:ph idx="2" type="sldImg"/>
          </p:nvPr>
        </p:nvSpPr>
        <p:spPr>
          <a:xfrm>
            <a:off x="1524300" y="514350"/>
            <a:ext cx="60963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bc9677d3c7_0_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лайд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5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5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объект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6"/>
          <p:cNvSpPr txBox="1"/>
          <p:nvPr>
            <p:ph type="title"/>
          </p:nvPr>
        </p:nvSpPr>
        <p:spPr>
          <a:xfrm>
            <a:off x="838200" y="365125"/>
            <a:ext cx="105156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6"/>
          <p:cNvSpPr txBox="1"/>
          <p:nvPr>
            <p:ph idx="1" type="body"/>
          </p:nvPr>
        </p:nvSpPr>
        <p:spPr>
          <a:xfrm>
            <a:off x="838200" y="1825625"/>
            <a:ext cx="10515600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Два объекта" type="twoObj">
  <p:cSld name="TWO_OBJECT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7"/>
          <p:cNvSpPr txBox="1"/>
          <p:nvPr>
            <p:ph type="title"/>
          </p:nvPr>
        </p:nvSpPr>
        <p:spPr>
          <a:xfrm>
            <a:off x="838200" y="365125"/>
            <a:ext cx="105156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7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17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" name="Google Shape;27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Вертикальный заголовок и текст" type="vertTitleAndTx">
  <p:cSld name="VERTICAL_TITLE_AND_VERTICAL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8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8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вертикальный текст" type="vertTx">
  <p:cSld name="VERTICAL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9"/>
          <p:cNvSpPr txBox="1"/>
          <p:nvPr>
            <p:ph type="title"/>
          </p:nvPr>
        </p:nvSpPr>
        <p:spPr>
          <a:xfrm>
            <a:off x="838200" y="365125"/>
            <a:ext cx="105156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9"/>
          <p:cNvSpPr txBox="1"/>
          <p:nvPr>
            <p:ph idx="1" type="body"/>
          </p:nvPr>
        </p:nvSpPr>
        <p:spPr>
          <a:xfrm rot="5400000">
            <a:off x="3920332" y="-1256507"/>
            <a:ext cx="4351337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9" name="Google Shape;39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Рисунок с подписью" type="picTx">
  <p:cSld name="PICTURE_WITH_CAPTION_TEX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45" name="Google Shape;45;p2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46" name="Google Shape;46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Объект с подписью" type="objTx">
  <p:cSld name="OBJECT_WITH_CAPTION_TEXT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1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2" name="Google Shape;52;p21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3" name="Google Shape;53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устой слайд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олько заголовок" type="titleOnly">
  <p:cSld name="TITLE_ONLY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3"/>
          <p:cNvSpPr txBox="1"/>
          <p:nvPr>
            <p:ph type="title"/>
          </p:nvPr>
        </p:nvSpPr>
        <p:spPr>
          <a:xfrm>
            <a:off x="838200" y="365125"/>
            <a:ext cx="105156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равнение" type="twoTxTwoObj">
  <p:cSld name="TWO_OBJECTS_WITH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4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4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8" name="Google Shape;68;p24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9" name="Google Shape;69;p24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70" name="Google Shape;70;p24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раздела" type="secHead">
  <p:cSld name="SECTION_HEADER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5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5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7" name="Google Shape;77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4"/>
          <p:cNvSpPr txBox="1"/>
          <p:nvPr>
            <p:ph type="title"/>
          </p:nvPr>
        </p:nvSpPr>
        <p:spPr>
          <a:xfrm>
            <a:off x="838200" y="365125"/>
            <a:ext cx="105156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p14"/>
          <p:cNvSpPr txBox="1"/>
          <p:nvPr>
            <p:ph idx="1" type="body"/>
          </p:nvPr>
        </p:nvSpPr>
        <p:spPr>
          <a:xfrm>
            <a:off x="838200" y="1825625"/>
            <a:ext cx="10515600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s://ru.stackoverflow.com/questions/650106/%D0%97%D0%B0%D0%BF%D0%B8%D1%81%D1%8C-string-%D0%B2-%D0%B1%D0%B8%D0%BD%D0%B0%D1%80%D1%8B%D0%B9-%D1%84%D0%B0%D0%B9%D0%BB-%D0%A1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2ba6046447_0_0"/>
          <p:cNvSpPr txBox="1"/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600"/>
              <a:t>Структуры в C++</a:t>
            </a:r>
            <a:endParaRPr/>
          </a:p>
        </p:txBody>
      </p:sp>
      <p:sp>
        <p:nvSpPr>
          <p:cNvPr id="85" name="Google Shape;85;g32ba6046447_0_0"/>
          <p:cNvSpPr txBox="1"/>
          <p:nvPr>
            <p:ph idx="1" type="subTitle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Лекция 1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/>
          <p:nvPr>
            <p:ph idx="1" type="body"/>
          </p:nvPr>
        </p:nvSpPr>
        <p:spPr>
          <a:xfrm>
            <a:off x="838200" y="746800"/>
            <a:ext cx="10515600" cy="54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1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Структура 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это совокупность переменных, объединенных одним именем, предоставляющая общепринятый способ совместного хранения информации. 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Объявление структуры приводит к образованию шаблона, используемого для создания объектов структуры. 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Переменные, образующие структуру, называются </a:t>
            </a:r>
            <a:r>
              <a:rPr b="1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членами структуры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(Члены структуры также часто называются </a:t>
            </a:r>
            <a:r>
              <a:rPr b="1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элементами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или </a:t>
            </a:r>
            <a:r>
              <a:rPr b="1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полями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.)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Структура</a:t>
            </a:r>
            <a:r>
              <a:rPr b="1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— 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это агрегатный тип данных, так как может содержать в себе </a:t>
            </a:r>
            <a:r>
              <a:rPr b="0" i="0" lang="en-US" sz="28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разнотипные элементы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i="0" lang="en-US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Описание структуры</a:t>
            </a:r>
            <a:endParaRPr/>
          </a:p>
        </p:txBody>
      </p:sp>
      <p:sp>
        <p:nvSpPr>
          <p:cNvPr id="96" name="Google Shape;96;p3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&lt;имя структуры&gt;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&lt;тип данных элемента 1&gt; имя1;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&lt;тип данных элемента 2&gt; имя2;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…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"/>
          <p:cNvSpPr txBox="1"/>
          <p:nvPr>
            <p:ph type="title"/>
          </p:nvPr>
        </p:nvSpPr>
        <p:spPr>
          <a:xfrm>
            <a:off x="838200" y="365125"/>
            <a:ext cx="105156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Пример</a:t>
            </a:r>
            <a:endParaRPr/>
          </a:p>
        </p:txBody>
      </p:sp>
      <p:sp>
        <p:nvSpPr>
          <p:cNvPr id="102" name="Google Shape;102;p4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b="0" i="0" lang="en-US" sz="3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3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</a:t>
            </a:r>
            <a:r>
              <a:rPr b="0" i="0" lang="en-US" sz="3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layerInfo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i="0" lang="en-US" sz="3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string</a:t>
            </a:r>
            <a:r>
              <a:rPr b="0" i="0" lang="en-US" sz="3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name;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	</a:t>
            </a:r>
            <a:r>
              <a:rPr b="1" i="0" lang="en-US" sz="3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b="0" i="0" lang="en-US" sz="3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age;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	</a:t>
            </a:r>
            <a:r>
              <a:rPr b="1" i="0" lang="en-US" sz="3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b="0" i="0" lang="en-US" sz="3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skill</a:t>
            </a:r>
            <a:r>
              <a:rPr lang="en-US" sz="3200">
                <a:latin typeface="Courier New"/>
                <a:ea typeface="Courier New"/>
                <a:cs typeface="Courier New"/>
                <a:sym typeface="Courier New"/>
              </a:rPr>
              <a:t>L</a:t>
            </a:r>
            <a:r>
              <a:rPr b="0" i="0" lang="en-US" sz="3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evel;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b="1" i="0" lang="en-US" sz="3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bool</a:t>
            </a:r>
            <a:r>
              <a:rPr b="0" i="0" lang="en-US" sz="3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is</a:t>
            </a:r>
            <a:r>
              <a:rPr lang="en-US" sz="3200">
                <a:latin typeface="Courier New"/>
                <a:ea typeface="Courier New"/>
                <a:cs typeface="Courier New"/>
                <a:sym typeface="Courier New"/>
              </a:rPr>
              <a:t>P</a:t>
            </a:r>
            <a:r>
              <a:rPr b="0" i="0" lang="en-US" sz="3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laying;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/>
          </a:p>
        </p:txBody>
      </p:sp>
      <p:sp>
        <p:nvSpPr>
          <p:cNvPr id="103" name="Google Shape;103;p4"/>
          <p:cNvSpPr txBox="1"/>
          <p:nvPr>
            <p:ph idx="4294967295" type="body"/>
          </p:nvPr>
        </p:nvSpPr>
        <p:spPr>
          <a:xfrm>
            <a:off x="5305425" y="1825625"/>
            <a:ext cx="5181600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// сведения об игроке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// имя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// возраст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// уровень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// статус: в игре/не в игре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"/>
          <p:cNvSpPr txBox="1"/>
          <p:nvPr>
            <p:ph idx="1" type="body"/>
          </p:nvPr>
        </p:nvSpPr>
        <p:spPr>
          <a:xfrm>
            <a:off x="838200" y="784125"/>
            <a:ext cx="10515600" cy="53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Так как структура </a:t>
            </a:r>
            <a:r>
              <a:rPr b="0" i="0" lang="en-US" sz="28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это тип данных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то, для того, чтобы использовать этот тип, необходимо объявить структурную переменную, а вместо типа данных указать имя структуры.</a:t>
            </a:r>
            <a:endParaRPr/>
          </a:p>
          <a:p>
            <a:pPr indent="-508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</a:t>
            </a:r>
            <a:r>
              <a:rPr b="0" i="0" lang="en-US" sz="2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имя структуры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&gt;  &lt;</a:t>
            </a:r>
            <a:r>
              <a:rPr b="0" i="0" lang="en-US" sz="2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имя переменной&gt;;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Пример:</a:t>
            </a:r>
            <a:endParaRPr/>
          </a:p>
          <a:p>
            <a:pPr indent="-228600" lvl="0" marL="22860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PlayerInfo CrazyMax;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Когда объявлена структурная переменная, компилятор автоматически выделяет необходимый участок памяти для размещения всех ее членов.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6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i="0" lang="en-US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Доступ к членам структуры</a:t>
            </a:r>
            <a:endParaRPr/>
          </a:p>
        </p:txBody>
      </p:sp>
      <p:sp>
        <p:nvSpPr>
          <p:cNvPr id="114" name="Google Shape;114;p6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Доступ к отдельным членам структуры осуществляется с помощью оператора </a:t>
            </a:r>
            <a:r>
              <a:rPr b="1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(точка)</a:t>
            </a:r>
            <a:endParaRPr/>
          </a:p>
          <a:p>
            <a:pPr indent="-228600" lvl="0" marL="22860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r>
              <a:rPr b="0" i="0" lang="en-US" sz="2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имя_структуры.имя_члена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Пример: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CrazyMax.name = ”Максим Иванов”;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CrazyMax.age = 15;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CrazyMax.skill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L</a:t>
            </a:r>
            <a:r>
              <a:rPr b="0" i="0" lang="en-US" sz="2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evel = 100;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CrazyMax.is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P</a:t>
            </a:r>
            <a:r>
              <a:rPr b="0" i="0" lang="en-US" sz="2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laying = true;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7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i="0" lang="en-US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Присваивание структур</a:t>
            </a:r>
            <a:endParaRPr/>
          </a:p>
        </p:txBody>
      </p:sp>
      <p:sp>
        <p:nvSpPr>
          <p:cNvPr id="120" name="Google Shape;120;p7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Информация, содержащаяся в одной структуре, может быть присвоена другой структуре того же типа с помощью одиночного оператора присваивания, то есть не нужно присваивать значение каждого члена по отдельности.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Каждая вновь создаваемая структурная переменная содержит свои собственные копии переменных, образующих структуру. 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Пример: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PlayerInfo CurrentPlayer;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CurrentPlayer = CrazyMax; 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2ba6046447_0_7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Особенности копирования</a:t>
            </a:r>
            <a:endParaRPr/>
          </a:p>
        </p:txBody>
      </p:sp>
      <p:sp>
        <p:nvSpPr>
          <p:cNvPr id="126" name="Google Shape;126;g32ba6046447_0_7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1" lang="en-US" sz="2500"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lang="en-US" sz="2500">
                <a:latin typeface="Courier New"/>
                <a:ea typeface="Courier New"/>
                <a:cs typeface="Courier New"/>
                <a:sym typeface="Courier New"/>
              </a:rPr>
              <a:t> PlayerInfo </a:t>
            </a:r>
            <a:endParaRPr sz="21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2500"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21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2500"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lang="en-US" sz="2500">
                <a:latin typeface="Courier New"/>
                <a:ea typeface="Courier New"/>
                <a:cs typeface="Courier New"/>
                <a:sym typeface="Courier New"/>
              </a:rPr>
              <a:t>string</a:t>
            </a:r>
            <a:r>
              <a:rPr lang="en-US" sz="2500">
                <a:latin typeface="Courier New"/>
                <a:ea typeface="Courier New"/>
                <a:cs typeface="Courier New"/>
                <a:sym typeface="Courier New"/>
              </a:rPr>
              <a:t> name;</a:t>
            </a:r>
            <a:endParaRPr sz="21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2500">
                <a:latin typeface="Courier New"/>
                <a:ea typeface="Courier New"/>
                <a:cs typeface="Courier New"/>
                <a:sym typeface="Courier New"/>
              </a:rPr>
              <a:t> 	</a:t>
            </a:r>
            <a:r>
              <a:rPr b="1" lang="en-US" sz="2500"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2500">
                <a:latin typeface="Courier New"/>
                <a:ea typeface="Courier New"/>
                <a:cs typeface="Courier New"/>
                <a:sym typeface="Courier New"/>
              </a:rPr>
              <a:t> age;</a:t>
            </a:r>
            <a:endParaRPr sz="21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2500">
                <a:latin typeface="Courier New"/>
                <a:ea typeface="Courier New"/>
                <a:cs typeface="Courier New"/>
                <a:sym typeface="Courier New"/>
              </a:rPr>
              <a:t> 	</a:t>
            </a:r>
            <a:r>
              <a:rPr b="1" lang="en-US" sz="2500"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2500">
                <a:latin typeface="Courier New"/>
                <a:ea typeface="Courier New"/>
                <a:cs typeface="Courier New"/>
                <a:sym typeface="Courier New"/>
              </a:rPr>
              <a:t> skillLevel;</a:t>
            </a:r>
            <a:endParaRPr sz="21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b="1" lang="en-US" sz="2500">
                <a:latin typeface="Courier New"/>
                <a:ea typeface="Courier New"/>
                <a:cs typeface="Courier New"/>
                <a:sym typeface="Courier New"/>
              </a:rPr>
              <a:t>bool</a:t>
            </a:r>
            <a:r>
              <a:rPr lang="en-US" sz="2500">
                <a:latin typeface="Courier New"/>
                <a:ea typeface="Courier New"/>
                <a:cs typeface="Courier New"/>
                <a:sym typeface="Courier New"/>
              </a:rPr>
              <a:t> isPlaying;</a:t>
            </a:r>
            <a:endParaRPr sz="2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2500"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lang="en-US" sz="2500">
                <a:latin typeface="Courier New"/>
                <a:ea typeface="Courier New"/>
                <a:cs typeface="Courier New"/>
                <a:sym typeface="Courier New"/>
              </a:rPr>
              <a:t>int*</a:t>
            </a:r>
            <a:r>
              <a:rPr lang="en-US" sz="2500">
                <a:latin typeface="Courier New"/>
                <a:ea typeface="Courier New"/>
                <a:cs typeface="Courier New"/>
                <a:sym typeface="Courier New"/>
              </a:rPr>
              <a:t> skills;</a:t>
            </a:r>
            <a:endParaRPr sz="2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 sz="2500">
              <a:latin typeface="Courier New"/>
              <a:ea typeface="Courier New"/>
              <a:cs typeface="Courier New"/>
              <a:sym typeface="Courier New"/>
            </a:endParaRPr>
          </a:p>
          <a:p>
            <a:pPr indent="-228600" lvl="0" marL="2286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/>
              <a:t>Как присвоить такую структуру? </a:t>
            </a:r>
            <a:endParaRPr sz="26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8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i="0" lang="en-US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Массивы структур</a:t>
            </a:r>
            <a:endParaRPr/>
          </a:p>
        </p:txBody>
      </p:sp>
      <p:sp>
        <p:nvSpPr>
          <p:cNvPr id="132" name="Google Shape;132;p8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Так же как и с простыми типами, можно создавать массивы структур. Тогда с каждым элементом этого массива можно работать так же, как и с отдельной переменной.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Для объявления массива структур </a:t>
            </a:r>
            <a:r>
              <a:rPr b="1" i="0" lang="en-US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следует сначала определить структуру</a:t>
            </a:r>
            <a:r>
              <a:rPr b="0" i="0" lang="en-US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а затем объявить массив переменных данного типа.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Как обычно, массивы структур индексируются с нуля.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9"/>
          <p:cNvSpPr txBox="1"/>
          <p:nvPr>
            <p:ph type="title"/>
          </p:nvPr>
        </p:nvSpPr>
        <p:spPr>
          <a:xfrm>
            <a:off x="838200" y="365125"/>
            <a:ext cx="105156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Описание массива структур</a:t>
            </a:r>
            <a:endParaRPr/>
          </a:p>
        </p:txBody>
      </p:sp>
      <p:sp>
        <p:nvSpPr>
          <p:cNvPr id="138" name="Google Shape;138;p9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struct </a:t>
            </a:r>
            <a:r>
              <a:rPr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PlayerInfo</a:t>
            </a:r>
            <a:endParaRPr sz="24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24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string </a:t>
            </a:r>
            <a:r>
              <a:rPr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name;</a:t>
            </a:r>
            <a:endParaRPr sz="24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int </a:t>
            </a:r>
            <a:r>
              <a:rPr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age;</a:t>
            </a:r>
            <a:endParaRPr sz="24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int </a:t>
            </a:r>
            <a:r>
              <a:rPr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skill</a:t>
            </a: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L</a:t>
            </a:r>
            <a:r>
              <a:rPr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evel;</a:t>
            </a:r>
            <a:endParaRPr sz="24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bool </a:t>
            </a:r>
            <a:r>
              <a:rPr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is</a:t>
            </a: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P</a:t>
            </a:r>
            <a:r>
              <a:rPr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laying;</a:t>
            </a:r>
            <a:endParaRPr sz="24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 b="1" i="0" sz="24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1"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PlayerInfo </a:t>
            </a:r>
            <a:r>
              <a:rPr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players[</a:t>
            </a:r>
            <a:r>
              <a:rPr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5</a:t>
            </a:r>
            <a:r>
              <a:rPr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]</a:t>
            </a:r>
            <a:r>
              <a:rPr b="1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 i="0" sz="24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lang="en-US" sz="2400">
                <a:latin typeface="Courier New"/>
                <a:ea typeface="Courier New"/>
                <a:cs typeface="Courier New"/>
                <a:sym typeface="Courier New"/>
              </a:rPr>
              <a:t>PlayerInfo * </a:t>
            </a: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players = new </a:t>
            </a:r>
            <a:r>
              <a:rPr b="1" lang="en-US" sz="2400">
                <a:latin typeface="Courier New"/>
                <a:ea typeface="Courier New"/>
                <a:cs typeface="Courier New"/>
                <a:sym typeface="Courier New"/>
              </a:rPr>
              <a:t>PlayerInfo</a:t>
            </a: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[5]</a:t>
            </a:r>
            <a:r>
              <a:rPr b="1" lang="en-US" sz="2400"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lang="en-US" sz="2400">
                <a:latin typeface="Courier New"/>
                <a:ea typeface="Courier New"/>
                <a:cs typeface="Courier New"/>
                <a:sym typeface="Courier New"/>
              </a:rPr>
              <a:t>vector&lt;PlayerInfo&gt; </a:t>
            </a: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players;</a:t>
            </a:r>
            <a:endParaRPr b="1" sz="24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i="0" lang="en-US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Доступ к элементам указателя на структуру</a:t>
            </a:r>
            <a:endParaRPr/>
          </a:p>
        </p:txBody>
      </p:sp>
      <p:sp>
        <p:nvSpPr>
          <p:cNvPr id="144" name="Google Shape;144;p10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Для получения адреса переменной </a:t>
            </a:r>
            <a:r>
              <a:rPr lang="en-US" sz="3200"/>
              <a:t>типа структура </a:t>
            </a: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следует поместить оператор &amp; перед именем структуры. 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Для доступа к членам структуры с помощью указателя на структуру следует использовать оператор "стрелка", -&gt;.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1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Пример обращения к членам структуры через указатель</a:t>
            </a:r>
            <a:endParaRPr/>
          </a:p>
        </p:txBody>
      </p:sp>
      <p:sp>
        <p:nvSpPr>
          <p:cNvPr id="150" name="Google Shape;150;p11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i="0" lang="en-US" sz="2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struct </a:t>
            </a:r>
            <a:r>
              <a:rPr i="0" lang="en-US" sz="2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PlayerInfo</a:t>
            </a:r>
            <a:endParaRPr sz="26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24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lang="en-US" sz="2400"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1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string </a:t>
            </a:r>
            <a:r>
              <a:rPr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name;</a:t>
            </a:r>
            <a:endParaRPr sz="24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lang="en-US" sz="2400"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1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int </a:t>
            </a:r>
            <a:r>
              <a:rPr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age;</a:t>
            </a:r>
            <a:endParaRPr sz="24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lang="en-US" sz="2400"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1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int </a:t>
            </a:r>
            <a:r>
              <a:rPr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skill</a:t>
            </a: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L</a:t>
            </a:r>
            <a:r>
              <a:rPr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evel;</a:t>
            </a:r>
            <a:endParaRPr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lang="en-US" sz="2400"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1" lang="en-US" sz="2400">
                <a:latin typeface="Courier New"/>
                <a:ea typeface="Courier New"/>
                <a:cs typeface="Courier New"/>
                <a:sym typeface="Courier New"/>
              </a:rPr>
              <a:t>bool </a:t>
            </a: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isPlaying;</a:t>
            </a:r>
            <a:endParaRPr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 </a:t>
            </a:r>
            <a:r>
              <a:rPr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CrazyMax;</a:t>
            </a:r>
            <a:endParaRPr i="0" sz="24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PlayerInfo </a:t>
            </a:r>
            <a:r>
              <a:rPr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*ptr = &amp;CrazyMax;</a:t>
            </a:r>
            <a:endParaRPr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(*ptr).name = </a:t>
            </a: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"!!!"</a:t>
            </a:r>
            <a:endParaRPr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ptr-&gt;age = 16;</a:t>
            </a:r>
            <a:r>
              <a:rPr b="1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i="0" lang="en-US" sz="2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sz="26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2ba6046447_0_18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i="0" lang="en-US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Структуры и функции</a:t>
            </a:r>
            <a:endParaRPr b="1"/>
          </a:p>
        </p:txBody>
      </p:sp>
      <p:sp>
        <p:nvSpPr>
          <p:cNvPr id="156" name="Google Shape;156;g32ba6046447_0_18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/>
              <a:t>Ф</a:t>
            </a: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ункци</a:t>
            </a:r>
            <a:r>
              <a:rPr lang="en-US" sz="3200"/>
              <a:t>я</a:t>
            </a: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которая принимает структуры в качестве аргумента.</a:t>
            </a:r>
            <a:endParaRPr b="0" i="0" sz="32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sz="2300">
              <a:latin typeface="Courier New"/>
              <a:ea typeface="Courier New"/>
              <a:cs typeface="Courier New"/>
              <a:sym typeface="Courier New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1" lang="en-US" sz="2400">
                <a:latin typeface="Courier New"/>
                <a:ea typeface="Courier New"/>
                <a:cs typeface="Courier New"/>
                <a:sym typeface="Courier New"/>
              </a:rPr>
              <a:t>bool </a:t>
            </a: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less_than_18(</a:t>
            </a:r>
            <a:r>
              <a:rPr b="1" lang="en-US" sz="2400">
                <a:latin typeface="Courier New"/>
                <a:ea typeface="Courier New"/>
                <a:cs typeface="Courier New"/>
                <a:sym typeface="Courier New"/>
              </a:rPr>
              <a:t>PlayerInfo</a:t>
            </a: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 e) </a:t>
            </a:r>
            <a:endParaRPr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    return e.age &lt; 18;</a:t>
            </a:r>
            <a:endParaRPr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1" lang="en-US" sz="2400">
                <a:latin typeface="Courier New"/>
                <a:ea typeface="Courier New"/>
                <a:cs typeface="Courier New"/>
                <a:sym typeface="Courier New"/>
              </a:rPr>
              <a:t>bool </a:t>
            </a: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less_than_18(</a:t>
            </a:r>
            <a:r>
              <a:rPr b="1" lang="en-US" sz="2400">
                <a:latin typeface="Courier New"/>
                <a:ea typeface="Courier New"/>
                <a:cs typeface="Courier New"/>
                <a:sym typeface="Courier New"/>
              </a:rPr>
              <a:t>PlayerInfo</a:t>
            </a: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 const &amp; e)</a:t>
            </a:r>
            <a:endParaRPr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    return e.age &lt; 18;</a:t>
            </a:r>
            <a:endParaRPr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sz="19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2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i="0" lang="en-US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Структуры и функции</a:t>
            </a:r>
            <a:endParaRPr/>
          </a:p>
        </p:txBody>
      </p:sp>
      <p:sp>
        <p:nvSpPr>
          <p:cNvPr id="162" name="Google Shape;162;p12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/>
              <a:t>Ф</a:t>
            </a: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ункци</a:t>
            </a:r>
            <a:r>
              <a:rPr lang="en-US" sz="3200"/>
              <a:t>я</a:t>
            </a: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которая возвращает структуру.</a:t>
            </a:r>
            <a:endParaRPr b="0" i="0" sz="32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sz="2300">
              <a:latin typeface="Courier New"/>
              <a:ea typeface="Courier New"/>
              <a:cs typeface="Courier New"/>
              <a:sym typeface="Courier New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1" lang="en-US" sz="2400">
                <a:latin typeface="Courier New"/>
                <a:ea typeface="Courier New"/>
                <a:cs typeface="Courier New"/>
                <a:sym typeface="Courier New"/>
              </a:rPr>
              <a:t>PlayerInfo </a:t>
            </a: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init</a:t>
            </a: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() </a:t>
            </a:r>
            <a:endParaRPr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1" lang="en-US" sz="2400">
                <a:latin typeface="Courier New"/>
                <a:ea typeface="Courier New"/>
                <a:cs typeface="Courier New"/>
                <a:sym typeface="Courier New"/>
              </a:rPr>
              <a:t>PlayerInfo </a:t>
            </a: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player;</a:t>
            </a:r>
            <a:endParaRPr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    cin &gt;&gt; player.name;</a:t>
            </a:r>
            <a:endParaRPr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    cin &gt;&gt; player.age;</a:t>
            </a:r>
            <a:endParaRPr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    cin &gt;&gt; player.skillLevel;</a:t>
            </a:r>
            <a:endParaRPr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    cin &gt;&gt; player.isPlaying;</a:t>
            </a:r>
            <a:endParaRPr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    return </a:t>
            </a: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player</a:t>
            </a: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sz="2300">
              <a:latin typeface="Courier New"/>
              <a:ea typeface="Courier New"/>
              <a:cs typeface="Courier New"/>
              <a:sym typeface="Courier New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sz="2300">
              <a:latin typeface="Courier New"/>
              <a:ea typeface="Courier New"/>
              <a:cs typeface="Courier New"/>
              <a:sym typeface="Courier New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sz="19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3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i="0" lang="en-US" sz="4400" u="none">
                <a:solidFill>
                  <a:schemeClr val="dk1"/>
                </a:solidFill>
              </a:rPr>
              <a:t>Функция возвращает структуру</a:t>
            </a:r>
            <a:endParaRPr b="1"/>
          </a:p>
        </p:txBody>
      </p:sp>
      <p:sp>
        <p:nvSpPr>
          <p:cNvPr id="168" name="Google Shape;168;p13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struct </a:t>
            </a:r>
            <a:r>
              <a:rPr i="0" lang="en-US" sz="2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EnemySpaceShip {//</a:t>
            </a:r>
            <a:r>
              <a:rPr lang="en-US" sz="2200">
                <a:latin typeface="Courier New"/>
                <a:ea typeface="Courier New"/>
                <a:cs typeface="Courier New"/>
                <a:sym typeface="Courier New"/>
              </a:rPr>
              <a:t>в</a:t>
            </a:r>
            <a:r>
              <a:rPr i="0" lang="en-US" sz="2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ражеский космический корабль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i="0" lang="en-US" sz="2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1" i="0" lang="en-US" sz="2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int </a:t>
            </a:r>
            <a:r>
              <a:rPr i="0" lang="en-US" sz="2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x_coordinate;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i="0" lang="en-US" sz="2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1" i="0" lang="en-US" sz="2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int </a:t>
            </a:r>
            <a:r>
              <a:rPr i="0" lang="en-US" sz="2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y_coordinate;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i="0" lang="en-US" sz="2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1" i="0" lang="en-US" sz="2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int </a:t>
            </a:r>
            <a:r>
              <a:rPr i="0" lang="en-US" sz="2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weapon_power;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i="0" lang="en-US" sz="2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EnemySpaceShip </a:t>
            </a:r>
            <a:r>
              <a:rPr i="0" lang="en-US" sz="2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upgradeWeapons(</a:t>
            </a:r>
            <a:r>
              <a:rPr b="1" i="0" lang="en-US" sz="2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EnemySpaceShip</a:t>
            </a:r>
            <a:r>
              <a:rPr i="0" lang="en-US" sz="2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ship)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i="0" lang="en-US" sz="2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   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i="0" lang="en-US" sz="2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ship.weapon_power += 10;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i="0" lang="en-US" sz="2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return ship;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i="0" lang="en-US" sz="2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i="0" sz="22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b="1" lang="en-US" sz="2200">
                <a:latin typeface="Courier New"/>
                <a:ea typeface="Courier New"/>
                <a:cs typeface="Courier New"/>
                <a:sym typeface="Courier New"/>
              </a:rPr>
              <a:t>EnemySpaceShip s1;</a:t>
            </a:r>
            <a:endParaRPr b="1" sz="2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b="1" lang="en-US" sz="2200">
                <a:latin typeface="Courier New"/>
                <a:ea typeface="Courier New"/>
                <a:cs typeface="Courier New"/>
                <a:sym typeface="Courier New"/>
              </a:rPr>
              <a:t>EnemySpaceShip s2 = </a:t>
            </a:r>
            <a:r>
              <a:rPr lang="en-US" sz="2200">
                <a:latin typeface="Courier New"/>
                <a:ea typeface="Courier New"/>
                <a:cs typeface="Courier New"/>
                <a:sym typeface="Courier New"/>
              </a:rPr>
              <a:t>upgradeWeapons(</a:t>
            </a:r>
            <a:r>
              <a:rPr b="1" lang="en-US" sz="2200">
                <a:latin typeface="Courier New"/>
                <a:ea typeface="Courier New"/>
                <a:cs typeface="Courier New"/>
                <a:sym typeface="Courier New"/>
              </a:rPr>
              <a:t>s1</a:t>
            </a:r>
            <a:r>
              <a:rPr lang="en-US" sz="2200"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b="1" sz="22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2c6471c48a_0_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Передача с</a:t>
            </a:r>
            <a:r>
              <a:rPr b="1" i="0" lang="en-US" sz="4400" u="none">
                <a:solidFill>
                  <a:schemeClr val="dk1"/>
                </a:solidFill>
              </a:rPr>
              <a:t>труктур</a:t>
            </a:r>
            <a:r>
              <a:rPr b="1" lang="en-US"/>
              <a:t>ы по ссылке</a:t>
            </a:r>
            <a:endParaRPr b="1"/>
          </a:p>
        </p:txBody>
      </p:sp>
      <p:sp>
        <p:nvSpPr>
          <p:cNvPr id="174" name="Google Shape;174;g32c6471c48a_0_0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struct </a:t>
            </a:r>
            <a:r>
              <a:rPr i="0" lang="en-US" sz="2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EnemySpaceShip {//</a:t>
            </a:r>
            <a:r>
              <a:rPr lang="en-US" sz="2200">
                <a:latin typeface="Courier New"/>
                <a:ea typeface="Courier New"/>
                <a:cs typeface="Courier New"/>
                <a:sym typeface="Courier New"/>
              </a:rPr>
              <a:t>в</a:t>
            </a:r>
            <a:r>
              <a:rPr i="0" lang="en-US" sz="2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ражеский космический корабль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i="0" lang="en-US" sz="2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1" i="0" lang="en-US" sz="2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int </a:t>
            </a:r>
            <a:r>
              <a:rPr i="0" lang="en-US" sz="2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x_coordinate;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i="0" lang="en-US" sz="2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1" i="0" lang="en-US" sz="2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int </a:t>
            </a:r>
            <a:r>
              <a:rPr i="0" lang="en-US" sz="2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y_coordinate;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i="0" lang="en-US" sz="2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1" i="0" lang="en-US" sz="2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int </a:t>
            </a:r>
            <a:r>
              <a:rPr i="0" lang="en-US" sz="2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weapon_power;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i="0" lang="en-US" sz="2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b="1" lang="en-US" sz="2200">
                <a:latin typeface="Courier New"/>
                <a:ea typeface="Courier New"/>
                <a:cs typeface="Courier New"/>
                <a:sym typeface="Courier New"/>
              </a:rPr>
              <a:t>void </a:t>
            </a:r>
            <a:r>
              <a:rPr i="0" lang="en-US" sz="2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upgradeWeapons(</a:t>
            </a:r>
            <a:r>
              <a:rPr b="1" i="0" lang="en-US" sz="2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EnemySpaceShip</a:t>
            </a:r>
            <a:r>
              <a:rPr i="0" lang="en-US" sz="2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&amp;ship)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i="0" lang="en-US" sz="2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   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i="0" lang="en-US" sz="2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ship.weapon_power += 10;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i="0" lang="en-US" sz="2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i="0" sz="22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b="1" lang="en-US" sz="2200">
                <a:latin typeface="Courier New"/>
                <a:ea typeface="Courier New"/>
                <a:cs typeface="Courier New"/>
                <a:sym typeface="Courier New"/>
              </a:rPr>
              <a:t>EnemySpaceShip s1;</a:t>
            </a:r>
            <a:endParaRPr b="1" sz="2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2200">
                <a:latin typeface="Courier New"/>
                <a:ea typeface="Courier New"/>
                <a:cs typeface="Courier New"/>
                <a:sym typeface="Courier New"/>
              </a:rPr>
              <a:t>upgradeWeapons(s1);</a:t>
            </a:r>
            <a:endParaRPr b="1" sz="22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2ba6046447_0_23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Перегрузка операторов</a:t>
            </a:r>
            <a:endParaRPr/>
          </a:p>
        </p:txBody>
      </p:sp>
      <p:sp>
        <p:nvSpPr>
          <p:cNvPr id="180" name="Google Shape;180;g32ba6046447_0_23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b="1" lang="en-US" sz="2400">
                <a:latin typeface="Courier New"/>
                <a:ea typeface="Courier New"/>
                <a:cs typeface="Courier New"/>
                <a:sym typeface="Courier New"/>
              </a:rPr>
              <a:t>ostream</a:t>
            </a: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&amp; operator&lt;&lt;(</a:t>
            </a:r>
            <a:r>
              <a:rPr b="1" lang="en-US" sz="2400">
                <a:latin typeface="Courier New"/>
                <a:ea typeface="Courier New"/>
                <a:cs typeface="Courier New"/>
                <a:sym typeface="Courier New"/>
              </a:rPr>
              <a:t>ostream</a:t>
            </a: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&amp; out, </a:t>
            </a:r>
            <a:r>
              <a:rPr b="1" lang="en-US" sz="2400">
                <a:latin typeface="Courier New"/>
                <a:ea typeface="Courier New"/>
                <a:cs typeface="Courier New"/>
                <a:sym typeface="Courier New"/>
              </a:rPr>
              <a:t>PlayerInfo</a:t>
            </a: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&amp; student)</a:t>
            </a:r>
            <a:endParaRPr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    out &lt;&lt; student.name </a:t>
            </a: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&lt;&lt; "\n";</a:t>
            </a:r>
            <a:endParaRPr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    out &lt;&lt; student.age </a:t>
            </a: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&lt;&lt; "\n";</a:t>
            </a:r>
            <a:endParaRPr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    out &lt;&lt; student.</a:t>
            </a: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skillLevel &lt;&lt; "\n";</a:t>
            </a:r>
            <a:endParaRPr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    out &lt;&lt; student.</a:t>
            </a: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isPlaying</a:t>
            </a: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 &lt;&lt; "\n";</a:t>
            </a:r>
            <a:endParaRPr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    return out;</a:t>
            </a:r>
            <a:endParaRPr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cout&lt;&lt;CrazyMax;</a:t>
            </a:r>
            <a:endParaRPr sz="24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2ba6046447_0_28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Перегрузка операторов</a:t>
            </a:r>
            <a:endParaRPr/>
          </a:p>
        </p:txBody>
      </p:sp>
      <p:sp>
        <p:nvSpPr>
          <p:cNvPr id="186" name="Google Shape;186;g32ba6046447_0_28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latin typeface="Courier New"/>
                <a:ea typeface="Courier New"/>
                <a:cs typeface="Courier New"/>
                <a:sym typeface="Courier New"/>
              </a:rPr>
              <a:t>istream</a:t>
            </a: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&amp; operator &gt;&gt; (</a:t>
            </a:r>
            <a:r>
              <a:rPr b="1" lang="en-US" sz="2400">
                <a:latin typeface="Courier New"/>
                <a:ea typeface="Courier New"/>
                <a:cs typeface="Courier New"/>
                <a:sym typeface="Courier New"/>
              </a:rPr>
              <a:t>istream</a:t>
            </a: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&amp; in, </a:t>
            </a:r>
            <a:r>
              <a:rPr b="1" lang="en-US" sz="2400">
                <a:latin typeface="Courier New"/>
                <a:ea typeface="Courier New"/>
                <a:cs typeface="Courier New"/>
                <a:sym typeface="Courier New"/>
              </a:rPr>
              <a:t>PlayerInfo</a:t>
            </a: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&amp; student)</a:t>
            </a:r>
            <a:endParaRPr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    in &gt;&gt; student.name;</a:t>
            </a:r>
            <a:endParaRPr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    in &gt;&gt; student.age;</a:t>
            </a:r>
            <a:endParaRPr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    in &gt;&gt; student.</a:t>
            </a: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skillLevel</a:t>
            </a: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    in &gt;&gt; student.</a:t>
            </a: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isPlaying</a:t>
            </a: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    return in;</a:t>
            </a:r>
            <a:endParaRPr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cin&gt;&gt;CrazyMax;</a:t>
            </a:r>
            <a:endParaRPr sz="24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bc9677d3c7_0_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g3bc9677d3c7_0_0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5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c++ - Запись string в бинарый файл . С++ - Stack Overflow на русском</a:t>
            </a:r>
            <a:endParaRPr sz="4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2017-11-02T11:31:30Z</dcterms:created>
  <dc:creator>Студент</dc:creator>
</cp:coreProperties>
</file>