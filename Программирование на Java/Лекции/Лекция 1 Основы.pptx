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af0215b6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af0215b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faf0215b6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faf0215b6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Бытовые устройства: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мало потребляют энергии (отсюда и кодовое название проекта - "Green" 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 также бытовые электронные устройства имеют небольшие микросхемы памяти, а, соответственно, и программы, написанные под них, должны были быть небольшими.  Помимо этого стояла задача, чтобы единожды написанный код читался на любой машине, а не писался под каждое устройство отдельно. Язык программирования C++ для данных целей их не очень устроил и они разработали новый язык программирования - Java.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af0215b6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faf0215b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то время существовало</a:t>
            </a:r>
            <a:r>
              <a:rPr b="1" lang="ru" u="sng"/>
              <a:t> множество различных платформ и операционных систем, что создавало сложности для разработчиков</a:t>
            </a:r>
            <a:r>
              <a:rPr lang="ru"/>
              <a:t>. В 1991 году Джеймс Гослинг и его команда начали работать над проектом, который изначально назывался "Green Project". Основная цель заключалась в создании языка программирования, который был бы независим от платформы и мог бы работать на любом устройстве.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Несколько лет подряд разработчики пытались внедрить новую технологию в различные сферы, начиная от интерактивного </a:t>
            </a:r>
            <a:r>
              <a:rPr lang="ru"/>
              <a:t>телевидения</a:t>
            </a:r>
            <a:r>
              <a:rPr lang="ru"/>
              <a:t> и заканчивая игровыми приставками, но везде потерпели неудачу. Первым продвижением с мертвой точки стало </a:t>
            </a:r>
            <a:r>
              <a:rPr b="1" lang="ru" u="sng"/>
              <a:t>создание в 1994 году браузера «WebRunner», который был способен отображать интерактивные программы-апплеты, встроенные непосредственно в страницы</a:t>
            </a:r>
            <a:r>
              <a:rPr lang="ru"/>
              <a:t>. Новый браузер обладал всем необходимым набором для того, чтобы стать популярным: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Универсальность, отсутствие привязки к конкретной платформе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Не требовал предварительной установки приложений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Быстро загружался за счет компактного кода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/>
              <a:t>Имел встроенную систему безопасности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Новый браузер начинал становиться популярным, и в итоге в 1995 году «Oak» получил новое имя. Так родился язык программирования JAVA, таким, каким мы его знаем. Браузер переименовался в «HotJava», однако его существование уже подходило к концу. А вот JAVA начал победное шествие по миру: сначала, 23 мая 1995 года, он был официально представлен и интегрирован в поуплярнейшем браузере того времени, Netscape Navigator 2.0, в 1996 году его начал поддерживать известный сейчас каждому Microsoft Internet Explorer, тогда еще в версии 3.0.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af0215b6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af0215b6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Java Platform, Micro Edition (Java ME, ранее — Java 2 Micro Edition, J2ME) — подмножество платформы Java для устройств, ограниченных в ресурсах, например: сотовых телефонов, карманных персональных компьютеров, ресиверов цифрового телевидения, проигрывателей дисков Blu-ray.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Отличительными особенностями устройств с ограниченными ресурсами являются ограниченная вычислительная мощность, ограниченный объём памяти, малый размер дисплея, питание от портативной батареи, а также низкоскоростные и недостаточно надёжные коммуникационные возможности. Типичный мобильный телефон середины двухтысячных содержит внутри 32-разрядный RISC-процессор с тактовой частотой 150—250 МГц, имеет объём оперативной памяти около 1—2 Мб, цветной дисплей с разрешением 176×208/220 или 240×320 пикселей и имеет возможность соединения с Интернетом посредством GPRS или EDGE со скоростью до 474 кбит/с, или 3G.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faf0215b6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faf0215b6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faf0215b6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faf0215b6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отвечает за обеспечение Java-приложений ресурсами, необходимыми для их запуска и эффективной работы на устройстве или в облачной среде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faf0215b6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faf0215b6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af0215b6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faf0215b6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faf0215b6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faf0215b6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faf0215b6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faf0215b6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faf0215b66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faf0215b66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af0215b6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af0215b6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af0215b6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faf0215b6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af0215b6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faf0215b6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faf0215b6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faf0215b6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faf0215b6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faf0215b6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fb12b251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fb12b251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fb12b251a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fb12b251a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b12b251a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b12b251a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b12b251a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fb12b251a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fb12b251ae_0_2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2fb12b251ae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0" name="Google Shape;200;g2fb12b251a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b12b251ae_0_4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2fb12b251ae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7" name="Google Shape;207;g2fb12b251a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fb12b251ae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3" name="Google Shape;213;g2fb12b251a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fb12b251ae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0" name="Google Shape;220;g2fb12b251a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fb12b251ae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6" name="Google Shape;226;g2fb12b251a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2fb12b251ae_0_109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fb12b251ae_0_1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3" name="Google Shape;233;g2fb12b251ae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fb12b251ae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39" name="Google Shape;239;g2fb12b251ae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fb12b251ae_0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45" name="Google Shape;245;g2fb12b251ae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fb12b251ae_0_1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1" name="Google Shape;251;g2fb12b251ae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fb12b251ae_0_1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57" name="Google Shape;257;g2fb12b251ae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2fb12b251ae_0_175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fb12b251ae_0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64" name="Google Shape;264;g2fb12b251ae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fb12b251ae_0_2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0" name="Google Shape;270;g2fb12b251ae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fb12b251ae_0_1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76" name="Google Shape;276;g2fb12b251ae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fb12b251ae_0_1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2" name="Google Shape;282;g2fb12b251ae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fb12b251ae_0_2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88" name="Google Shape;288;g2fb12b251ae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fb12b251ae_0_20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94" name="Google Shape;294;g2fb12b251ae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fb12b251ae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0" name="Google Shape;300;g2fb12b251ae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fb12b251ae_0_2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6" name="Google Shape;306;g2fb12b251ae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fb12b251ae_0_2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2" name="Google Shape;312;g2fb12b251a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fb12b251ae_0_2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18" name="Google Shape;318;g2fb12b251a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g2fb12b251ae_0_230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fb1d8237d2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25" name="Google Shape;325;g2fb1d8237d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g2fb1d8237d2_0_14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fb1d8237d2_0_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32" name="Google Shape;332;g2fb1d8237d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3" name="Google Shape;333;g2fb1d8237d2_0_2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a73c28f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7a73c28f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21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81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81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2100" cy="2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oracle.com/java/technologies/downloads/?er=221886#jdk22-windows" TargetMode="External"/><Relationship Id="rId4" Type="http://schemas.openxmlformats.org/officeDocument/2006/relationships/hyperlink" Target="https://jdk.java.net/22/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www.jetbrains.com/ru-ru/idea/download/?section=windows" TargetMode="External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Лекция</a:t>
            </a:r>
            <a:r>
              <a:rPr lang="ru"/>
              <a:t> 1</a:t>
            </a:r>
            <a:endParaRPr/>
          </a:p>
        </p:txBody>
      </p:sp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Для начала …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8121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ru" sz="2600">
                <a:solidFill>
                  <a:schemeClr val="dk1"/>
                </a:solidFill>
              </a:rPr>
              <a:t>История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ru" sz="2600">
                <a:solidFill>
                  <a:schemeClr val="dk1"/>
                </a:solidFill>
              </a:rPr>
              <a:t>JVM, JRE, JDK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ru" sz="2600">
                <a:solidFill>
                  <a:schemeClr val="dk1"/>
                </a:solidFill>
              </a:rPr>
              <a:t>IDE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ru" sz="2600">
                <a:solidFill>
                  <a:schemeClr val="dk1"/>
                </a:solidFill>
              </a:rPr>
              <a:t>Особенности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История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263604" lvl="0" marL="3413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" sz="2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1991г. – начало разработки в компании Sun Мiсrоsуstеms 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Проект "Green"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5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Цель: разработать язык для программирования бытовых электронных устройств.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8683" lvl="0" marL="341312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ru" sz="245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Джеймс Гослинг</a:t>
            </a:r>
            <a:r>
              <a:rPr lang="ru" sz="245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(Jаmеs Gosling), </a:t>
            </a:r>
            <a:endParaRPr sz="2450" u="sng">
              <a:solidFill>
                <a:schemeClr val="dk1"/>
              </a:solidFill>
            </a:endParaRPr>
          </a:p>
          <a:p>
            <a:pPr indent="-258683" lvl="0" marL="341312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" sz="245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Патрик Нотон (Patrick Naughton), </a:t>
            </a:r>
            <a:endParaRPr sz="2450" u="sng">
              <a:solidFill>
                <a:schemeClr val="dk1"/>
              </a:solidFill>
            </a:endParaRPr>
          </a:p>
          <a:p>
            <a:pPr indent="-258683" lvl="0" marL="341312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" sz="2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Крис Варт (Chris Warth), </a:t>
            </a:r>
            <a:endParaRPr sz="2450">
              <a:solidFill>
                <a:schemeClr val="dk1"/>
              </a:solidFill>
            </a:endParaRPr>
          </a:p>
          <a:p>
            <a:pPr indent="-258683" lvl="0" marL="341312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" sz="2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Эд Франк (Ed Frank), </a:t>
            </a:r>
            <a:endParaRPr sz="2450">
              <a:solidFill>
                <a:schemeClr val="dk1"/>
              </a:solidFill>
            </a:endParaRPr>
          </a:p>
          <a:p>
            <a:pPr indent="-258683" lvl="0" marL="341312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" sz="24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Майк Шеридан (Mike Sheridan)</a:t>
            </a:r>
            <a:endParaRPr sz="2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История</a:t>
            </a:r>
            <a:endParaRPr/>
          </a:p>
        </p:txBody>
      </p:sp>
      <p:sp>
        <p:nvSpPr>
          <p:cNvPr id="84" name="Google Shape;84;p18"/>
          <p:cNvSpPr txBox="1"/>
          <p:nvPr/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Причины создания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8"/>
          <p:cNvSpPr txBox="1"/>
          <p:nvPr/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Причины создания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609600" y="2343150"/>
            <a:ext cx="3352800" cy="1885800"/>
          </a:xfrm>
          <a:prstGeom prst="rect">
            <a:avLst/>
          </a:prstGeom>
          <a:noFill/>
          <a:ln cap="flat" cmpd="sng" w="2555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</a:pPr>
            <a:r>
              <a:rPr b="0" i="0" lang="ru" sz="3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потребность в независящем от платформы языке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4724400" y="2343150"/>
            <a:ext cx="3276600" cy="1885800"/>
          </a:xfrm>
          <a:prstGeom prst="rect">
            <a:avLst/>
          </a:prstGeom>
          <a:noFill/>
          <a:ln cap="flat" cmpd="sng" w="25550">
            <a:solidFill>
              <a:srgbClr val="385D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Calibri"/>
              <a:buNone/>
            </a:pPr>
            <a:r>
              <a:rPr b="0" i="0" lang="ru" sz="3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развитие WWW переносимость и безопасность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8"/>
          <p:cNvCxnSpPr/>
          <p:nvPr/>
        </p:nvCxnSpPr>
        <p:spPr>
          <a:xfrm>
            <a:off x="3962400" y="3286125"/>
            <a:ext cx="762000" cy="12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89" name="Google Shape;89;p18"/>
          <p:cNvCxnSpPr/>
          <p:nvPr/>
        </p:nvCxnSpPr>
        <p:spPr>
          <a:xfrm flipH="1">
            <a:off x="2894012" y="1884759"/>
            <a:ext cx="1143000" cy="4572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90" name="Google Shape;90;p18"/>
          <p:cNvCxnSpPr/>
          <p:nvPr/>
        </p:nvCxnSpPr>
        <p:spPr>
          <a:xfrm>
            <a:off x="5334000" y="1828800"/>
            <a:ext cx="1143000" cy="514500"/>
          </a:xfrm>
          <a:prstGeom prst="straightConnector1">
            <a:avLst/>
          </a:prstGeom>
          <a:noFill/>
          <a:ln cap="flat" cmpd="sng" w="9525">
            <a:solidFill>
              <a:srgbClr val="4A7EBB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История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14642" lvl="0" marL="3413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Вначале язык получил название "Oak" ("Дуб")</a:t>
            </a:r>
            <a:endParaRPr sz="1400">
              <a:solidFill>
                <a:schemeClr val="dk1"/>
              </a:solidFill>
            </a:endParaRPr>
          </a:p>
          <a:p>
            <a:pPr indent="-314642" lvl="0" marL="34131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1995 он был переименован в "java"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642" lvl="0" marL="34131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 июня 1999 года компания Sun объявила о разделении развития платформы </a:t>
            </a:r>
            <a:r>
              <a:rPr i="1"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2</a:t>
            </a:r>
            <a:r>
              <a:rPr lang="ru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на три направления: </a:t>
            </a:r>
            <a:endParaRPr sz="1400">
              <a:solidFill>
                <a:schemeClr val="dk1"/>
              </a:solidFill>
            </a:endParaRPr>
          </a:p>
          <a:p>
            <a:pPr indent="-291302" lvl="0" marL="34131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i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2</a:t>
            </a:r>
            <a:r>
              <a:rPr b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Platform, Standard Edition ( </a:t>
            </a:r>
            <a:r>
              <a:rPr b="1" i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J2SE</a:t>
            </a:r>
            <a:r>
              <a:rPr b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);</a:t>
            </a:r>
            <a:endParaRPr sz="967">
              <a:solidFill>
                <a:schemeClr val="dk1"/>
              </a:solidFill>
            </a:endParaRPr>
          </a:p>
          <a:p>
            <a:pPr indent="-291302" lvl="0" marL="34131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i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2</a:t>
            </a:r>
            <a:r>
              <a:rPr b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Platform, Enterprise Edition ( </a:t>
            </a:r>
            <a:r>
              <a:rPr b="1" i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J2EE</a:t>
            </a:r>
            <a:r>
              <a:rPr b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);</a:t>
            </a:r>
            <a:endParaRPr sz="967">
              <a:solidFill>
                <a:schemeClr val="dk1"/>
              </a:solidFill>
            </a:endParaRPr>
          </a:p>
          <a:p>
            <a:pPr indent="-291302" lvl="0" marL="341312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b="1" i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2</a:t>
            </a:r>
            <a:r>
              <a:rPr b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Platform, Micro Edition ( </a:t>
            </a:r>
            <a:r>
              <a:rPr b="1" i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J2ME</a:t>
            </a:r>
            <a:r>
              <a:rPr b="1" lang="ru" sz="23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).</a:t>
            </a:r>
            <a:endParaRPr sz="967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JRE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С 11 марта 1997 года компания Sun начала предлагать </a:t>
            </a:r>
            <a:br>
              <a:rPr lang="ru" sz="2100">
                <a:solidFill>
                  <a:schemeClr val="dk1"/>
                </a:solidFill>
              </a:rPr>
            </a:br>
            <a:r>
              <a:rPr lang="ru" sz="2100">
                <a:solidFill>
                  <a:schemeClr val="dk1"/>
                </a:solidFill>
              </a:rPr>
              <a:t>Java Runtime Environment (JRE - среда выполнения Java).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2100">
                <a:solidFill>
                  <a:schemeClr val="dk1"/>
                </a:solidFill>
              </a:rPr>
              <a:t>JRE </a:t>
            </a:r>
            <a:r>
              <a:rPr lang="ru" sz="2100">
                <a:solidFill>
                  <a:schemeClr val="dk1"/>
                </a:solidFill>
              </a:rPr>
              <a:t>необходима для исполнения Java-приложений, не содержит компилятор и другие средства разработки.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JRE содержит библиотеки классов, загрузчик классов и виртуальную машину Java (JVM). JRE в основном является контейнером для этих компонентов и отвечает за организацию их деятельности.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JVM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Виртуальная машина Java (Java Virtual Machine, JVM) — это основная часть платформы JRE, которая интерпретирует байт-код Java для запуска программ.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Функции JVM: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позволяет запускать Java-программы на любом устройстве или в любой ОС;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ru" sz="2000">
                <a:solidFill>
                  <a:schemeClr val="dk1"/>
                </a:solidFill>
              </a:rPr>
              <a:t>даёт доступ к управлению памятью программ и её оптимизации.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JDK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Java Development Kit (</a:t>
            </a:r>
            <a:r>
              <a:rPr b="1" lang="ru" sz="2100">
                <a:solidFill>
                  <a:schemeClr val="dk1"/>
                </a:solidFill>
              </a:rPr>
              <a:t>JDK</a:t>
            </a:r>
            <a:r>
              <a:rPr lang="ru" sz="2100">
                <a:solidFill>
                  <a:schemeClr val="dk1"/>
                </a:solidFill>
              </a:rPr>
              <a:t>) — комплект разработчика приложений </a:t>
            </a:r>
            <a:r>
              <a:rPr lang="ru" sz="2100">
                <a:solidFill>
                  <a:schemeClr val="dk1"/>
                </a:solidFill>
              </a:rPr>
              <a:t>на языке Java</a:t>
            </a:r>
            <a:r>
              <a:rPr lang="ru" sz="2100">
                <a:solidFill>
                  <a:schemeClr val="dk1"/>
                </a:solidFill>
              </a:rPr>
              <a:t>.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Включает: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компилятор Java (javac),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стандартные библиотеки классов Java, 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примеры, документацию, различные утилиты,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ru" sz="2100">
                <a:solidFill>
                  <a:schemeClr val="dk1"/>
                </a:solidFill>
              </a:rPr>
              <a:t>исполнительную систему Java (JRE). 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Разработка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В состав JDK не входит IDE. Разработчик, использующий только JDK, вынужден использовать </a:t>
            </a:r>
            <a:r>
              <a:rPr lang="ru" sz="2000" u="sng">
                <a:solidFill>
                  <a:schemeClr val="dk1"/>
                </a:solidFill>
              </a:rPr>
              <a:t>внешний текстовый редактор</a:t>
            </a:r>
            <a:r>
              <a:rPr lang="ru" sz="2000">
                <a:solidFill>
                  <a:schemeClr val="dk1"/>
                </a:solidFill>
              </a:rPr>
              <a:t> и </a:t>
            </a:r>
            <a:r>
              <a:rPr lang="ru" sz="2000" u="sng">
                <a:solidFill>
                  <a:schemeClr val="dk1"/>
                </a:solidFill>
              </a:rPr>
              <a:t>компилировать</a:t>
            </a:r>
            <a:r>
              <a:rPr lang="ru" sz="2000">
                <a:solidFill>
                  <a:schemeClr val="dk1"/>
                </a:solidFill>
              </a:rPr>
              <a:t> свои программы, используя </a:t>
            </a:r>
            <a:r>
              <a:rPr lang="ru" sz="2000" u="sng">
                <a:solidFill>
                  <a:schemeClr val="dk1"/>
                </a:solidFill>
              </a:rPr>
              <a:t>утилиты командной строки</a:t>
            </a:r>
            <a:r>
              <a:rPr lang="ru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Среды разработки либо включают в комплект поставки одну из версий JDK, либо требуют для своей работы предварительной инсталляции JDK на машине разработчика.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блокноте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1312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urier New"/>
              <a:buNone/>
            </a:pPr>
            <a:r>
              <a:rPr lang="ru" sz="2300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/* Это простая программа Java. Назовите этот файл "</a:t>
            </a:r>
            <a:r>
              <a:rPr b="1" lang="ru" sz="2300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Example.java</a:t>
            </a:r>
            <a:r>
              <a:rPr lang="ru" sz="2300">
                <a:solidFill>
                  <a:srgbClr val="7F7F7F"/>
                </a:solidFill>
                <a:latin typeface="Courier New"/>
                <a:ea typeface="Courier New"/>
                <a:cs typeface="Courier New"/>
                <a:sym typeface="Courier New"/>
              </a:rPr>
              <a:t>" . */ </a:t>
            </a:r>
            <a:endParaRPr sz="2300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Courier New"/>
              <a:buNone/>
            </a:pPr>
            <a:r>
              <a:t/>
            </a:r>
            <a:endParaRPr sz="2300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b="1" lang="ru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Example { </a:t>
            </a:r>
            <a:endParaRPr sz="1300">
              <a:solidFill>
                <a:schemeClr val="dk1"/>
              </a:solidFill>
            </a:endParaRPr>
          </a:p>
          <a:p>
            <a:pPr indent="-341312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ru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ru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ru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ru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ru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main(String[] args) { </a:t>
            </a:r>
            <a:endParaRPr sz="1300">
              <a:solidFill>
                <a:schemeClr val="dk1"/>
              </a:solidFill>
            </a:endParaRPr>
          </a:p>
          <a:p>
            <a:pPr indent="-341312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ru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System.out.println("Java-program!");</a:t>
            </a:r>
            <a:endParaRPr sz="1300">
              <a:solidFill>
                <a:schemeClr val="dk1"/>
              </a:solidFill>
            </a:endParaRPr>
          </a:p>
          <a:p>
            <a:pPr indent="-341312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None/>
            </a:pPr>
            <a:r>
              <a:rPr lang="ru" sz="2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}}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cmd</a:t>
            </a:r>
            <a:endParaRPr/>
          </a:p>
        </p:txBody>
      </p:sp>
      <p:sp>
        <p:nvSpPr>
          <p:cNvPr id="132" name="Google Shape;132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4962" lvl="0" marL="34131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ru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Компиляция с помощью JDK - Java Development Kit. Компилятор представлен утилитой javac (java compiler)</a:t>
            </a:r>
            <a:endParaRPr sz="1300">
              <a:solidFill>
                <a:schemeClr val="dk1"/>
              </a:solidFill>
            </a:endParaRPr>
          </a:p>
          <a:p>
            <a:pPr indent="-341312" lvl="0" marL="34131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4962" lvl="0" marL="341312" rtl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700"/>
              <a:buChar char="•"/>
            </a:pPr>
            <a:r>
              <a:rPr lang="ru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Выполнение программы. Виртуальная машина реализована программой java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133" name="Google Shape;133;p25"/>
          <p:cNvPicPr preferRelativeResize="0"/>
          <p:nvPr/>
        </p:nvPicPr>
        <p:blipFill rotWithShape="1">
          <a:blip r:embed="rId3">
            <a:alphaModFix/>
          </a:blip>
          <a:srcRect b="8528" l="1127" r="0" t="14707"/>
          <a:stretch/>
        </p:blipFill>
        <p:spPr>
          <a:xfrm>
            <a:off x="768425" y="2419350"/>
            <a:ext cx="7694525" cy="81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 rotWithShape="1">
          <a:blip r:embed="rId4">
            <a:alphaModFix/>
          </a:blip>
          <a:srcRect b="0" l="999" r="0" t="13562"/>
          <a:stretch/>
        </p:blipFill>
        <p:spPr>
          <a:xfrm>
            <a:off x="763675" y="4150150"/>
            <a:ext cx="7694525" cy="75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</a:t>
            </a: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Main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</a:t>
            </a:r>
            <a:r>
              <a:rPr b="1"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</a:t>
            </a: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</a:t>
            </a: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main(</a:t>
            </a:r>
            <a:r>
              <a:rPr b="1"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[] args)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</a:t>
            </a:r>
            <a:r>
              <a:rPr b="1"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 = 0; i &lt; args.length; i++) {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    System.out.println(args[i]);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   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Команды: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javac Main.java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ru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Main arg0 arg1 arg2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Стадии разработки программы</a:t>
            </a:r>
            <a:endParaRPr/>
          </a:p>
        </p:txBody>
      </p:sp>
      <p:pic>
        <p:nvPicPr>
          <p:cNvPr id="146" name="Google Shape;14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875" y="1680225"/>
            <a:ext cx="8604250" cy="215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JDK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https://www.oracle.com/java/technologies/downloads/?er=221886#jdk22-windows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4"/>
              </a:rPr>
              <a:t>https://jdk.java.net/22/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2475" y="3488025"/>
            <a:ext cx="285750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5325" y="1731350"/>
            <a:ext cx="1852350" cy="51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IntelliJ IDEA Community Edition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u="sng">
                <a:solidFill>
                  <a:schemeClr val="hlink"/>
                </a:solidFill>
                <a:hlinkClick r:id="rId3"/>
              </a:rPr>
              <a:t>https://www.jetbrains.com/ru-ru/idea/download/?section=windows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675" y="1586150"/>
            <a:ext cx="6181349" cy="325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Особенности языка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Интерпретируемость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Объектная-ориентированность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Динамичность, легкость развития и добавления новых возможностей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Архитектурная нейтральность (кроссплатформенность)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Статическая типизация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Сильная (можно встретить в литературе - строгая) типизация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Механизм автоматической сборки мусора (garbage collector 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Механизм обработки исключений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Многопоточность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Статическая типизация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Переменная, параметр подпрограммы, возвращаемое значение функции связывается с типом в момент объявления и тип не может быть изменён позже.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200">
                <a:solidFill>
                  <a:schemeClr val="dk1"/>
                </a:solidFill>
              </a:rPr>
              <a:t>Примеры статически типизированных языков — С++, C#, Java, Паскаль, Go.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Сильная типизация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Языки с сильной типизацией (strongly typed) не разрешают выполнение выражений с несовместимыми типами и не выполняют неявное преобразование типов в ситуациях, когда нужно выполнять преобразование явно.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000">
                <a:solidFill>
                  <a:schemeClr val="dk1"/>
                </a:solidFill>
              </a:rPr>
              <a:t>Языки со слабой типизацией (weakly typed) разрешают выполнение выражений с любыми типами и самостоятельно выполняют неявное преобразование.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idx="1" type="subTitle"/>
          </p:nvPr>
        </p:nvSpPr>
        <p:spPr>
          <a:xfrm>
            <a:off x="311700" y="18435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700">
                <a:solidFill>
                  <a:schemeClr val="dk1"/>
                </a:solidFill>
              </a:rPr>
              <a:t>Приведение типов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Приведение типов в Java</a:t>
            </a:r>
            <a:endParaRPr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21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"/>
              <a:buChar char="●"/>
            </a:pPr>
            <a:r>
              <a:rPr lang="ru" sz="1490">
                <a:solidFill>
                  <a:schemeClr val="dk1"/>
                </a:solidFill>
              </a:rPr>
              <a:t>Автоматически.</a:t>
            </a:r>
            <a:endParaRPr sz="1490">
              <a:solidFill>
                <a:schemeClr val="dk1"/>
              </a:solidFill>
            </a:endParaRPr>
          </a:p>
          <a:p>
            <a:pPr indent="-32321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"/>
              <a:buChar char="●"/>
            </a:pPr>
            <a:r>
              <a:rPr lang="ru" sz="1490">
                <a:solidFill>
                  <a:schemeClr val="dk1"/>
                </a:solidFill>
              </a:rPr>
              <a:t>С помощью операции явного приведения типов. </a:t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1490">
                <a:solidFill>
                  <a:schemeClr val="dk1"/>
                </a:solidFill>
              </a:rPr>
              <a:t>Неявное приведение простых типов</a:t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1490">
                <a:solidFill>
                  <a:schemeClr val="dk1"/>
                </a:solidFill>
              </a:rPr>
              <a:t>Можно преобразовать л</a:t>
            </a:r>
            <a:r>
              <a:rPr lang="ru" sz="1490">
                <a:solidFill>
                  <a:schemeClr val="dk1"/>
                </a:solidFill>
              </a:rPr>
              <a:t>юбой тип из последовательности к любому другому</a:t>
            </a:r>
            <a:r>
              <a:rPr lang="ru" sz="1490">
                <a:solidFill>
                  <a:schemeClr val="dk1"/>
                </a:solidFill>
              </a:rPr>
              <a:t>, расположенному </a:t>
            </a:r>
            <a:r>
              <a:rPr lang="ru" sz="1490">
                <a:solidFill>
                  <a:schemeClr val="dk1"/>
                </a:solidFill>
              </a:rPr>
              <a:t>справа: </a:t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1490">
                <a:solidFill>
                  <a:schemeClr val="dk1"/>
                </a:solidFill>
              </a:rPr>
              <a:t>byte, short, </a:t>
            </a:r>
            <a:r>
              <a:rPr b="1" lang="ru" sz="1490">
                <a:solidFill>
                  <a:schemeClr val="dk1"/>
                </a:solidFill>
              </a:rPr>
              <a:t>int</a:t>
            </a:r>
            <a:r>
              <a:rPr lang="ru" sz="1490">
                <a:solidFill>
                  <a:schemeClr val="dk1"/>
                </a:solidFill>
              </a:rPr>
              <a:t>, long, float, </a:t>
            </a:r>
            <a:r>
              <a:rPr b="1" lang="ru" sz="1490">
                <a:solidFill>
                  <a:schemeClr val="dk1"/>
                </a:solidFill>
              </a:rPr>
              <a:t>double</a:t>
            </a:r>
            <a:r>
              <a:rPr lang="ru" sz="1490">
                <a:solidFill>
                  <a:schemeClr val="dk1"/>
                </a:solidFill>
              </a:rPr>
              <a:t>; </a:t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1490">
                <a:solidFill>
                  <a:schemeClr val="dk1"/>
                </a:solidFill>
              </a:rPr>
              <a:t>char, </a:t>
            </a:r>
            <a:r>
              <a:rPr b="1" lang="ru" sz="1490">
                <a:solidFill>
                  <a:schemeClr val="dk1"/>
                </a:solidFill>
              </a:rPr>
              <a:t>int</a:t>
            </a:r>
            <a:r>
              <a:rPr lang="ru" sz="1490">
                <a:solidFill>
                  <a:schemeClr val="dk1"/>
                </a:solidFill>
              </a:rPr>
              <a:t>, long, float, </a:t>
            </a:r>
            <a:r>
              <a:rPr b="1" lang="ru" sz="1490">
                <a:solidFill>
                  <a:schemeClr val="dk1"/>
                </a:solidFill>
              </a:rPr>
              <a:t>double</a:t>
            </a:r>
            <a:r>
              <a:rPr lang="ru" sz="1490">
                <a:solidFill>
                  <a:schemeClr val="dk1"/>
                </a:solidFill>
              </a:rPr>
              <a:t>; </a:t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1490">
                <a:solidFill>
                  <a:schemeClr val="dk1"/>
                </a:solidFill>
              </a:rPr>
              <a:t>Явное приведение простых типов: оператор </a:t>
            </a:r>
            <a:r>
              <a:rPr b="1" lang="ru" sz="1490">
                <a:solidFill>
                  <a:schemeClr val="dk1"/>
                </a:solidFill>
              </a:rPr>
              <a:t>(тип)</a:t>
            </a:r>
            <a:r>
              <a:rPr lang="ru" sz="1490">
                <a:solidFill>
                  <a:schemeClr val="dk1"/>
                </a:solidFill>
              </a:rPr>
              <a:t> </a:t>
            </a:r>
            <a:r>
              <a:rPr b="1" lang="ru" sz="1490">
                <a:solidFill>
                  <a:schemeClr val="dk1"/>
                </a:solidFill>
              </a:rPr>
              <a:t>имя_переменной</a:t>
            </a:r>
            <a:r>
              <a:rPr lang="ru" sz="1490">
                <a:solidFill>
                  <a:schemeClr val="dk1"/>
                </a:solidFill>
              </a:rPr>
              <a:t> </a:t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1490" u="sng">
                <a:solidFill>
                  <a:schemeClr val="dk1"/>
                </a:solidFill>
              </a:rPr>
              <a:t>Нельзя </a:t>
            </a:r>
            <a:r>
              <a:rPr lang="ru" sz="1490">
                <a:solidFill>
                  <a:schemeClr val="dk1"/>
                </a:solidFill>
              </a:rPr>
              <a:t>выполнять приведение </a:t>
            </a:r>
            <a:r>
              <a:rPr b="1" lang="ru" sz="1490">
                <a:solidFill>
                  <a:schemeClr val="dk1"/>
                </a:solidFill>
              </a:rPr>
              <a:t>целого типа к типу boolean</a:t>
            </a:r>
            <a:r>
              <a:rPr lang="ru" sz="1490">
                <a:solidFill>
                  <a:schemeClr val="dk1"/>
                </a:solidFill>
              </a:rPr>
              <a:t> и </a:t>
            </a:r>
            <a:r>
              <a:rPr lang="ru" sz="1490" u="sng">
                <a:solidFill>
                  <a:schemeClr val="dk1"/>
                </a:solidFill>
              </a:rPr>
              <a:t>наоборот</a:t>
            </a:r>
            <a:r>
              <a:rPr lang="ru" sz="1490">
                <a:solidFill>
                  <a:schemeClr val="dk1"/>
                </a:solidFill>
              </a:rPr>
              <a:t>. </a:t>
            </a:r>
            <a:endParaRPr sz="14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ru" sz="1490">
                <a:solidFill>
                  <a:schemeClr val="dk1"/>
                </a:solidFill>
              </a:rPr>
              <a:t>В Java значение </a:t>
            </a:r>
            <a:r>
              <a:rPr lang="ru" sz="1490" u="sng">
                <a:solidFill>
                  <a:schemeClr val="dk1"/>
                </a:solidFill>
              </a:rPr>
              <a:t>0</a:t>
            </a:r>
            <a:r>
              <a:rPr lang="ru" sz="1490">
                <a:solidFill>
                  <a:schemeClr val="dk1"/>
                </a:solidFill>
              </a:rPr>
              <a:t> </a:t>
            </a:r>
            <a:r>
              <a:rPr lang="ru" sz="1490" u="sng">
                <a:solidFill>
                  <a:schemeClr val="dk1"/>
                </a:solidFill>
              </a:rPr>
              <a:t>не </a:t>
            </a:r>
            <a:r>
              <a:rPr lang="ru" sz="1490">
                <a:solidFill>
                  <a:schemeClr val="dk1"/>
                </a:solidFill>
              </a:rPr>
              <a:t>является эквивалентом значения </a:t>
            </a:r>
            <a:r>
              <a:rPr lang="ru" sz="1490" u="sng">
                <a:solidFill>
                  <a:schemeClr val="dk1"/>
                </a:solidFill>
              </a:rPr>
              <a:t>false</a:t>
            </a:r>
            <a:r>
              <a:rPr lang="ru" sz="1490">
                <a:solidFill>
                  <a:schemeClr val="dk1"/>
                </a:solidFill>
              </a:rPr>
              <a:t>, а ненулевая величина - значения true. </a:t>
            </a:r>
            <a:endParaRPr sz="149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940">
                <a:latin typeface="Calibri"/>
                <a:ea typeface="Calibri"/>
                <a:cs typeface="Calibri"/>
                <a:sym typeface="Calibri"/>
              </a:rPr>
              <a:t>Правила автоматического преобразования типов</a:t>
            </a:r>
            <a:endParaRPr sz="2220"/>
          </a:p>
        </p:txBody>
      </p:sp>
      <p:sp>
        <p:nvSpPr>
          <p:cNvPr id="196" name="Google Shape;196;p35"/>
          <p:cNvSpPr txBox="1"/>
          <p:nvPr>
            <p:ph idx="1" type="body"/>
          </p:nvPr>
        </p:nvSpPr>
        <p:spPr>
          <a:xfrm>
            <a:off x="311700" y="1152475"/>
            <a:ext cx="8520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" sz="1700" u="sng">
                <a:solidFill>
                  <a:schemeClr val="dk1"/>
                </a:solidFill>
              </a:rPr>
              <a:t>Типы </a:t>
            </a:r>
            <a:r>
              <a:rPr lang="ru" sz="1700">
                <a:solidFill>
                  <a:schemeClr val="dk1"/>
                </a:solidFill>
              </a:rPr>
              <a:t>переменных, входящих в выражение, должны быть </a:t>
            </a:r>
            <a:r>
              <a:rPr lang="ru" sz="1700" u="sng">
                <a:solidFill>
                  <a:schemeClr val="dk1"/>
                </a:solidFill>
              </a:rPr>
              <a:t>совместимыми</a:t>
            </a:r>
            <a:r>
              <a:rPr lang="ru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" sz="1700" u="sng">
                <a:solidFill>
                  <a:schemeClr val="dk1"/>
                </a:solidFill>
              </a:rPr>
              <a:t>Целевой</a:t>
            </a:r>
            <a:r>
              <a:rPr lang="ru" sz="1700">
                <a:solidFill>
                  <a:schemeClr val="dk1"/>
                </a:solidFill>
              </a:rPr>
              <a:t> тип (к которому выполняется приведение) должен быть </a:t>
            </a:r>
            <a:r>
              <a:rPr lang="ru" sz="1700" u="sng">
                <a:solidFill>
                  <a:schemeClr val="dk1"/>
                </a:solidFill>
              </a:rPr>
              <a:t>«шире» исходного</a:t>
            </a:r>
            <a:r>
              <a:rPr lang="ru" sz="1700">
                <a:solidFill>
                  <a:schemeClr val="dk1"/>
                </a:solidFill>
              </a:rPr>
              <a:t> типа. Преобразование должно выполняться без потери данных.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" sz="1700">
                <a:solidFill>
                  <a:schemeClr val="dk1"/>
                </a:solidFill>
              </a:rPr>
              <a:t>Перед выполнением арифметической операции </a:t>
            </a:r>
            <a:br>
              <a:rPr lang="ru" sz="1700">
                <a:solidFill>
                  <a:schemeClr val="dk1"/>
                </a:solidFill>
              </a:rPr>
            </a:br>
            <a:r>
              <a:rPr lang="ru" sz="1700">
                <a:solidFill>
                  <a:schemeClr val="dk1"/>
                </a:solidFill>
              </a:rPr>
              <a:t>типы </a:t>
            </a:r>
            <a:r>
              <a:rPr b="1" lang="ru" sz="1700">
                <a:solidFill>
                  <a:schemeClr val="dk1"/>
                </a:solidFill>
              </a:rPr>
              <a:t>byte</a:t>
            </a:r>
            <a:r>
              <a:rPr lang="ru" sz="1700">
                <a:solidFill>
                  <a:schemeClr val="dk1"/>
                </a:solidFill>
              </a:rPr>
              <a:t>, </a:t>
            </a:r>
            <a:r>
              <a:rPr b="1" lang="ru" sz="1700">
                <a:solidFill>
                  <a:schemeClr val="dk1"/>
                </a:solidFill>
              </a:rPr>
              <a:t>short </a:t>
            </a:r>
            <a:r>
              <a:rPr lang="ru" sz="1700">
                <a:solidFill>
                  <a:schemeClr val="dk1"/>
                </a:solidFill>
              </a:rPr>
              <a:t>и </a:t>
            </a:r>
            <a:r>
              <a:rPr b="1" lang="ru" sz="1700">
                <a:solidFill>
                  <a:schemeClr val="dk1"/>
                </a:solidFill>
              </a:rPr>
              <a:t>char </a:t>
            </a:r>
            <a:r>
              <a:rPr lang="ru" sz="1700">
                <a:solidFill>
                  <a:schemeClr val="dk1"/>
                </a:solidFill>
              </a:rPr>
              <a:t>расширяются до типа </a:t>
            </a:r>
            <a:r>
              <a:rPr b="1" lang="ru" sz="1700">
                <a:solidFill>
                  <a:schemeClr val="dk1"/>
                </a:solidFill>
              </a:rPr>
              <a:t>int</a:t>
            </a:r>
            <a:r>
              <a:rPr lang="ru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ru" sz="1700">
                <a:solidFill>
                  <a:schemeClr val="dk1"/>
                </a:solidFill>
              </a:rPr>
              <a:t>Если в выражении есть операнды типа long, </a:t>
            </a:r>
            <a:r>
              <a:rPr lang="ru" sz="1700">
                <a:solidFill>
                  <a:schemeClr val="dk1"/>
                </a:solidFill>
              </a:rPr>
              <a:t>float, double, </a:t>
            </a:r>
            <a:r>
              <a:rPr lang="ru" sz="1700">
                <a:solidFill>
                  <a:schemeClr val="dk1"/>
                </a:solidFill>
              </a:rPr>
              <a:t>то расширение осуществляется до типа </a:t>
            </a:r>
            <a:r>
              <a:rPr lang="ru" sz="1700">
                <a:solidFill>
                  <a:schemeClr val="dk1"/>
                </a:solidFill>
              </a:rPr>
              <a:t>long, float, double соответственно</a:t>
            </a:r>
            <a:r>
              <a:rPr lang="ru" sz="1700">
                <a:solidFill>
                  <a:schemeClr val="dk1"/>
                </a:solidFill>
              </a:rPr>
              <a:t>. </a:t>
            </a:r>
            <a:br>
              <a:rPr lang="ru" sz="1700">
                <a:solidFill>
                  <a:schemeClr val="dk1"/>
                </a:solidFill>
              </a:rPr>
            </a:br>
            <a:r>
              <a:rPr lang="ru" sz="1490">
                <a:solidFill>
                  <a:schemeClr val="dk1"/>
                </a:solidFill>
              </a:rPr>
              <a:t>byte, short, </a:t>
            </a:r>
            <a:r>
              <a:rPr b="1" lang="ru" sz="1490">
                <a:solidFill>
                  <a:schemeClr val="dk1"/>
                </a:solidFill>
              </a:rPr>
              <a:t>int</a:t>
            </a:r>
            <a:r>
              <a:rPr lang="ru" sz="1490">
                <a:solidFill>
                  <a:schemeClr val="dk1"/>
                </a:solidFill>
              </a:rPr>
              <a:t>, long, float, </a:t>
            </a:r>
            <a:r>
              <a:rPr b="1" lang="ru" sz="1490">
                <a:solidFill>
                  <a:schemeClr val="dk1"/>
                </a:solidFill>
              </a:rPr>
              <a:t>double</a:t>
            </a:r>
            <a:r>
              <a:rPr lang="ru" sz="1490">
                <a:solidFill>
                  <a:schemeClr val="dk1"/>
                </a:solidFill>
              </a:rPr>
              <a:t>; </a:t>
            </a:r>
            <a:endParaRPr sz="149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90">
                <a:solidFill>
                  <a:schemeClr val="dk1"/>
                </a:solidFill>
              </a:rPr>
              <a:t>char, </a:t>
            </a:r>
            <a:r>
              <a:rPr b="1" lang="ru" sz="1490">
                <a:solidFill>
                  <a:schemeClr val="dk1"/>
                </a:solidFill>
              </a:rPr>
              <a:t>int</a:t>
            </a:r>
            <a:r>
              <a:rPr lang="ru" sz="1490">
                <a:solidFill>
                  <a:schemeClr val="dk1"/>
                </a:solidFill>
              </a:rPr>
              <a:t>, long, float, </a:t>
            </a:r>
            <a:r>
              <a:rPr b="1" lang="ru" sz="1490">
                <a:solidFill>
                  <a:schemeClr val="dk1"/>
                </a:solidFill>
              </a:rPr>
              <a:t>double</a:t>
            </a:r>
            <a:r>
              <a:rPr lang="ru" sz="1490">
                <a:solidFill>
                  <a:schemeClr val="dk1"/>
                </a:solidFill>
              </a:rPr>
              <a:t>;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6"/>
          <p:cNvSpPr txBox="1"/>
          <p:nvPr/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i="0" lang="ru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Правила автоматического преобразования типов</a:t>
            </a:r>
            <a:endParaRPr i="0" sz="700" u="none" cap="none" strike="noStrike">
              <a:solidFill>
                <a:srgbClr val="000000"/>
              </a:solidFill>
            </a:endParaRPr>
          </a:p>
        </p:txBody>
      </p:sp>
      <p:sp>
        <p:nvSpPr>
          <p:cNvPr id="203" name="Google Shape;203;p36"/>
          <p:cNvSpPr txBox="1"/>
          <p:nvPr/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ru" sz="2400">
                <a:latin typeface="Calibri"/>
                <a:ea typeface="Calibri"/>
                <a:cs typeface="Calibri"/>
                <a:sym typeface="Calibri"/>
              </a:rPr>
              <a:t>Л</a:t>
            </a: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итералы, обозначающие целые числа, интерпретируются как значения типа int.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Char char="●"/>
            </a:pPr>
            <a:r>
              <a:rPr lang="ru" sz="2400">
                <a:latin typeface="Calibri"/>
                <a:ea typeface="Calibri"/>
                <a:cs typeface="Calibri"/>
                <a:sym typeface="Calibri"/>
              </a:rPr>
              <a:t>Л</a:t>
            </a: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итералы, обозначающие действительные числа, интерпретируются как значения типа double.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7"/>
          <p:cNvSpPr txBox="1"/>
          <p:nvPr/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i="0" lang="ru" sz="3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Виды преобразований:</a:t>
            </a:r>
            <a:endParaRPr i="0" sz="700" u="none" cap="none" strike="noStrike">
              <a:solidFill>
                <a:srgbClr val="000000"/>
              </a:solidFill>
            </a:endParaRPr>
          </a:p>
        </p:txBody>
      </p:sp>
      <p:sp>
        <p:nvSpPr>
          <p:cNvPr id="210" name="Google Shape;210;p37"/>
          <p:cNvSpPr txBox="1"/>
          <p:nvPr/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59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тождественное (identity);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расширение </a:t>
            </a:r>
            <a:r>
              <a:rPr b="0" i="0" lang="ru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примитивного </a:t>
            </a: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типа (widening primitive);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сужение </a:t>
            </a:r>
            <a:r>
              <a:rPr b="0" i="0" lang="ru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примитивного </a:t>
            </a: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типа (narrowing primitive);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расширение </a:t>
            </a:r>
            <a:r>
              <a:rPr b="0" i="0" lang="ru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объектного </a:t>
            </a: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типа (widening reference);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сужение </a:t>
            </a:r>
            <a:r>
              <a:rPr b="0" i="0" lang="ru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объектного </a:t>
            </a: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типа (narrowing reference);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преобразование к </a:t>
            </a:r>
            <a:r>
              <a:rPr b="0" i="0" lang="ru" sz="2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строке </a:t>
            </a: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(String);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запрещенные преобразования (forbidden).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8"/>
          <p:cNvSpPr txBox="1"/>
          <p:nvPr/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ru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Примитивные типы Java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8"/>
          <p:cNvSpPr txBox="1"/>
          <p:nvPr/>
        </p:nvSpPr>
        <p:spPr>
          <a:xfrm>
            <a:off x="457200" y="1113234"/>
            <a:ext cx="8229600" cy="3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226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Имеют фиксированную разрядность на уровне языка, не зависящую от платформы.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13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322262" lvl="0" marL="3413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Java нет беззнаковых целых типов.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262" lvl="0" marL="3413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Тип char хранит символы в кодировке Unicode.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2262" lvl="0" marL="34131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Все простые типы данных по умолчанию инициализируются.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1400" y="1843249"/>
            <a:ext cx="7228808" cy="1896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 txBox="1"/>
          <p:nvPr/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ru" sz="3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Классы-оболочки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9"/>
          <p:cNvSpPr txBox="1"/>
          <p:nvPr/>
        </p:nvSpPr>
        <p:spPr>
          <a:xfrm>
            <a:off x="457200" y="1200150"/>
            <a:ext cx="8229600" cy="3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5912" lvl="0" marL="3413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Java существуют специальные классы для простых типов.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2" lvl="0" marL="3413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С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одержатся в пакете java.lang и имеют очевидные имена: </a:t>
            </a:r>
            <a:b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Integer, Float, Double, Short, Byte, Character, Boolean.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5912" lvl="0" marL="3413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t/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15912" lvl="0" marL="3413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 этих классах определены 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методы преобразования типов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1312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static int parseInt(String s) 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798512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 поля-константы MAX_VALUE, MIN_VALUE.</a:t>
            </a:r>
            <a:b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0"/>
          <p:cNvSpPr txBox="1"/>
          <p:nvPr/>
        </p:nvSpPr>
        <p:spPr>
          <a:xfrm>
            <a:off x="457200" y="3429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i="0" lang="ru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Преобразование ссылочных типов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230" name="Google Shape;230;p40"/>
          <p:cNvSpPr txBox="1"/>
          <p:nvPr/>
        </p:nvSpPr>
        <p:spPr>
          <a:xfrm>
            <a:off x="457200" y="114300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32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Расширение</a:t>
            </a:r>
            <a:r>
              <a:rPr b="0" i="0" lang="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преобразование от класса A к классу B, если A наследуется от B (важным частным случаем является преобразование от любого ссылочного типа к Object)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303212" lvl="0" marL="341312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Сужение </a:t>
            </a:r>
            <a:r>
              <a:rPr b="0" i="0" lang="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означает переход от менее конкретного типа к более конкретному (переход от предков к потомкам)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/>
          <p:nvPr/>
        </p:nvSpPr>
        <p:spPr>
          <a:xfrm>
            <a:off x="457200" y="342900"/>
            <a:ext cx="82296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ru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1"/>
          <p:cNvSpPr txBox="1"/>
          <p:nvPr/>
        </p:nvSpPr>
        <p:spPr>
          <a:xfrm>
            <a:off x="457200" y="800100"/>
            <a:ext cx="83820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000"/>
              <a:buFont typeface="Calibri"/>
              <a:buNone/>
            </a:pPr>
            <a:r>
              <a:rPr b="0" i="0" lang="ru" sz="15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// Объявляем класс Parent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 Parent { int x; }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ru" sz="23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ru" sz="1500" u="none" cap="none" strike="noStrik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ru" sz="15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// Объявляем класс Child и наследуем его от класса Parent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 Child extends Parent {  int y; }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D050"/>
              </a:buClr>
              <a:buSzPts val="2000"/>
              <a:buFont typeface="Calibri"/>
              <a:buNone/>
            </a:pPr>
            <a:r>
              <a:rPr b="0" i="0" lang="ru" sz="1500" u="none" cap="none" strike="noStrike">
                <a:solidFill>
                  <a:srgbClr val="92D05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b="0" i="0" lang="ru" sz="1500" u="none" cap="none" strike="noStrik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// Объявляем второго наследника класса Parent - класс Child2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ru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 Child2 extends Parent {  int z;}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ru" sz="2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--------------------------------------------------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Parent p1 = </a:t>
            </a:r>
            <a:r>
              <a:rPr b="1" i="0" lang="ru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ru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Child(); Parent p2= </a:t>
            </a:r>
            <a:r>
              <a:rPr b="1" i="0" lang="ru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ru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Child2();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t/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Parent p = </a:t>
            </a:r>
            <a:r>
              <a:rPr b="1" i="0" lang="ru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ru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Child(); Child c=(Child)p;   </a:t>
            </a:r>
            <a:endParaRPr b="0" i="0" sz="1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t/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None/>
            </a:pPr>
            <a:r>
              <a:rPr b="0" i="0" lang="ru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Parent p2 = </a:t>
            </a:r>
            <a:r>
              <a:rPr b="1" i="0" lang="ru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b="0" i="0" lang="ru" sz="1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Child2(); Child c2=(Child)p2;   </a:t>
            </a:r>
            <a:endParaRPr b="0" i="0" sz="25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2"/>
          <p:cNvSpPr txBox="1"/>
          <p:nvPr/>
        </p:nvSpPr>
        <p:spPr>
          <a:xfrm>
            <a:off x="457200" y="171450"/>
            <a:ext cx="82296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i="0" lang="ru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Преобразование к строке</a:t>
            </a:r>
            <a:endParaRPr i="0" sz="1000" u="none" cap="none" strike="noStrike">
              <a:solidFill>
                <a:srgbClr val="000000"/>
              </a:solidFill>
            </a:endParaRPr>
          </a:p>
        </p:txBody>
      </p:sp>
      <p:sp>
        <p:nvSpPr>
          <p:cNvPr id="242" name="Google Shape;242;p42"/>
          <p:cNvSpPr txBox="1"/>
          <p:nvPr/>
        </p:nvSpPr>
        <p:spPr>
          <a:xfrm>
            <a:off x="228600" y="742950"/>
            <a:ext cx="8229600" cy="41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Любой тип может быть приведен к </a:t>
            </a:r>
            <a:r>
              <a:rPr b="0" i="0" lang="ru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ru" sz="2200"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Char char="●"/>
            </a:pPr>
            <a:r>
              <a:rPr lang="ru" sz="2200">
                <a:latin typeface="Calibri"/>
                <a:ea typeface="Calibri"/>
                <a:cs typeface="Calibri"/>
                <a:sym typeface="Calibri"/>
              </a:rPr>
              <a:t>Ч</a:t>
            </a: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исловые типы записываются в текстовом виде без потери точности представления. 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Булевская величина приводится к строке "</a:t>
            </a:r>
            <a:r>
              <a:rPr b="0" i="0" lang="ru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 или "</a:t>
            </a:r>
            <a:r>
              <a:rPr b="0" i="0" lang="ru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 в зависимости от значения.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</a:pP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Для объектных величин вызывается метод </a:t>
            </a:r>
            <a:r>
              <a:rPr b="0" i="0" lang="ru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toString</a:t>
            </a: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(). Если метод возвращает </a:t>
            </a:r>
            <a:r>
              <a:rPr b="0" i="0" lang="ru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то результатом будет строка "</a:t>
            </a:r>
            <a:r>
              <a:rPr b="0" i="0" lang="ru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".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/>
          <p:nvPr/>
        </p:nvSpPr>
        <p:spPr>
          <a:xfrm>
            <a:off x="457200" y="2286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i="0" lang="ru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Запрещенные преобразования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248" name="Google Shape;248;p43"/>
          <p:cNvSpPr txBox="1"/>
          <p:nvPr/>
        </p:nvSpPr>
        <p:spPr>
          <a:xfrm>
            <a:off x="457200" y="857250"/>
            <a:ext cx="8458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956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ереходы от любого ссылочного типа к примитивному, от примитивного – к ссылочному (кроме преобразований к строке)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Т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ип </a:t>
            </a:r>
            <a:r>
              <a:rPr b="0" i="0" lang="ru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- нельзя привести ни к какому другому типу, кроме </a:t>
            </a:r>
            <a:r>
              <a:rPr b="0" i="0" lang="ru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(за исключением приведения к строке)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Н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евозможно привести друг к другу типы, находящиеся на соседних ветвях дерева наследования. 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опытка осуществить запрещенное преобразование вызовет ошибку компиляции.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/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ru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Пакеты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4"/>
          <p:cNvSpPr/>
          <p:nvPr/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5"/>
          <p:cNvSpPr txBox="1"/>
          <p:nvPr/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i="0" lang="ru" sz="4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Пакеты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61" name="Google Shape;261;p45"/>
          <p:cNvSpPr txBox="1"/>
          <p:nvPr/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ru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Все классы проекта разбиваются по группам - </a:t>
            </a:r>
            <a:r>
              <a:rPr b="1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пакетами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Имя класса должно быть уникальным в пределах его пакета. При этом не важно, есть ли в другом пакете класс с таким же именем.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ru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Объявление пакета: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ourier New"/>
              <a:buNone/>
            </a:pPr>
            <a:r>
              <a:rPr b="0" i="0" lang="ru" sz="2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package  &lt;имя_пакета&gt;;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6"/>
          <p:cNvSpPr txBox="1"/>
          <p:nvPr/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i="0" lang="ru" sz="4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Пакеты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67" name="Google Shape;267;p46"/>
          <p:cNvSpPr txBox="1"/>
          <p:nvPr/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3212" lvl="0" marL="34131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Кроме классов пакет может содержать </a:t>
            </a:r>
            <a:r>
              <a:rPr b="1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подпакеты</a:t>
            </a: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212" lvl="0" marL="34131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 указании имени подпакета используется точечный синтаксис. При этом в Java действует жесткое правило: </a:t>
            </a:r>
            <a:b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131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1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иерархия пакетов должна строго соответствовать структуре файловой системы</a:t>
            </a:r>
            <a:br>
              <a:rPr b="1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3212" lvl="0" marL="34131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•"/>
            </a:pP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Пример. Если файл содержит начальную инструкцию </a:t>
            </a:r>
            <a:b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ru" sz="22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package java.awt.image</a:t>
            </a: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131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это означает, что файлы подпакета image размещены в каталоге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131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ru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java/awt/image.</a:t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7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i="0" lang="ru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Схема доступа к членам классов с учетом их размещения по пакетам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73" name="Google Shape;273;p47"/>
          <p:cNvSpPr txBox="1"/>
          <p:nvPr/>
        </p:nvSpPr>
        <p:spPr>
          <a:xfrm>
            <a:off x="457200" y="1314450"/>
            <a:ext cx="82296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urier New"/>
              <a:buChar char="●"/>
            </a:pPr>
            <a:r>
              <a:rPr b="1" i="0" lang="ru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00"/>
              <a:buChar char="●"/>
            </a:pPr>
            <a:r>
              <a:rPr b="1" i="0" lang="ru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600"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ourier New"/>
              <a:buChar char="●"/>
            </a:pPr>
            <a:r>
              <a:rPr b="1" i="0" lang="ru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endParaRPr b="1" i="0" sz="26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93700" lvl="0" marL="457200" rtl="0" algn="l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ru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нет идентификатора доступа 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8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i="0" lang="ru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Схема доступа к членам классов с учетом их размещения по пакетам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79" name="Google Shape;279;p48"/>
          <p:cNvSpPr txBox="1"/>
          <p:nvPr/>
        </p:nvSpPr>
        <p:spPr>
          <a:xfrm>
            <a:off x="457200" y="1314450"/>
            <a:ext cx="82296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861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ru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b="0" i="0" lang="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доступен везде: как в классе, так и за его пределами и даже в классах других пакетов.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86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ru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b="0" i="0" lang="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доступен только в пределах класса, где он объявлен.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86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0" i="0" lang="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нет идентификатора доступа - доступен в пределах пакета.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861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Char char="•"/>
            </a:pPr>
            <a:r>
              <a:rPr b="1" i="0" lang="ru" sz="2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b="0" i="0" lang="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доступен в пакете и в </a:t>
            </a:r>
            <a:r>
              <a:rPr b="0" i="0" lang="ru" sz="26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подклассах</a:t>
            </a:r>
            <a:r>
              <a:rPr b="0" i="0" lang="ru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вне пакета.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 txBox="1"/>
          <p:nvPr/>
        </p:nvSpPr>
        <p:spPr>
          <a:xfrm>
            <a:off x="457200" y="228600"/>
            <a:ext cx="82296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i="0" lang="ru" sz="3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Импорт пакетов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85" name="Google Shape;285;p49"/>
          <p:cNvSpPr txBox="1"/>
          <p:nvPr/>
        </p:nvSpPr>
        <p:spPr>
          <a:xfrm>
            <a:off x="457200" y="10287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latin typeface="Calibri"/>
                <a:ea typeface="Calibri"/>
                <a:cs typeface="Calibri"/>
                <a:sym typeface="Calibri"/>
              </a:rPr>
              <a:t>Для</a:t>
            </a:r>
            <a: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" sz="2100">
                <a:latin typeface="Calibri"/>
                <a:ea typeface="Calibri"/>
                <a:cs typeface="Calibri"/>
                <a:sym typeface="Calibri"/>
              </a:rPr>
              <a:t>ссылки </a:t>
            </a:r>
            <a: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 классы внешних пакетов в упрощенной форме используется ключевое слово </a:t>
            </a:r>
            <a:r>
              <a:rPr b="1" i="0" lang="ru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latin typeface="Calibri"/>
                <a:ea typeface="Calibri"/>
                <a:cs typeface="Calibri"/>
                <a:sym typeface="Calibri"/>
              </a:rPr>
              <a:t>Д</a:t>
            </a:r>
            <a: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ля импорта класса после ключевого слова </a:t>
            </a:r>
            <a:r>
              <a:rPr b="1" i="0" lang="ru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указывают полное имя класса</a:t>
            </a:r>
            <a:r>
              <a:rPr lang="ru" sz="2100">
                <a:latin typeface="Calibri"/>
                <a:ea typeface="Calibri"/>
                <a:cs typeface="Calibri"/>
                <a:sym typeface="Calibri"/>
              </a:rPr>
              <a:t>. </a:t>
            </a:r>
            <a:br>
              <a:rPr lang="ru" sz="2100">
                <a:latin typeface="Calibri"/>
                <a:ea typeface="Calibri"/>
                <a:cs typeface="Calibri"/>
                <a:sym typeface="Calibri"/>
              </a:rPr>
            </a:br>
            <a:r>
              <a:rPr lang="ru" sz="2100">
                <a:latin typeface="Calibri"/>
                <a:ea typeface="Calibri"/>
                <a:cs typeface="Calibri"/>
                <a:sym typeface="Calibri"/>
              </a:rPr>
              <a:t>Пример.</a:t>
            </a:r>
            <a:b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" sz="2100">
                <a:latin typeface="Courier New"/>
                <a:ea typeface="Courier New"/>
                <a:cs typeface="Courier New"/>
                <a:sym typeface="Courier New"/>
              </a:rPr>
              <a:t>import java.util.Scanner; // импорт класса Scanner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>
                <a:latin typeface="Calibri"/>
                <a:ea typeface="Calibri"/>
                <a:cs typeface="Calibri"/>
                <a:sym typeface="Calibri"/>
              </a:rPr>
              <a:t>Д</a:t>
            </a:r>
            <a: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ля импорта всего пакета после имени пакета ставят звездочку (*). </a:t>
            </a:r>
            <a:r>
              <a:rPr lang="ru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Пример.</a:t>
            </a:r>
            <a: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b="0" i="0" lang="ru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ru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java.util.*</a:t>
            </a:r>
            <a:r>
              <a:rPr b="1" i="0" lang="ru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0"/>
          <p:cNvSpPr txBox="1"/>
          <p:nvPr/>
        </p:nvSpPr>
        <p:spPr>
          <a:xfrm>
            <a:off x="457200" y="2286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Calibri"/>
              <a:buNone/>
            </a:pPr>
            <a:r>
              <a:rPr i="0" lang="ru" sz="4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Ограничения:</a:t>
            </a:r>
            <a:endParaRPr i="0" sz="900" u="none" cap="none" strike="noStrike">
              <a:solidFill>
                <a:srgbClr val="000000"/>
              </a:solidFill>
            </a:endParaRPr>
          </a:p>
        </p:txBody>
      </p:sp>
      <p:sp>
        <p:nvSpPr>
          <p:cNvPr id="291" name="Google Shape;291;p50"/>
          <p:cNvSpPr txBox="1"/>
          <p:nvPr/>
        </p:nvSpPr>
        <p:spPr>
          <a:xfrm>
            <a:off x="228600" y="914400"/>
            <a:ext cx="86868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И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мпортировать можно только открытые классы</a:t>
            </a: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акет  </a:t>
            </a:r>
            <a:r>
              <a:rPr b="0" i="0" lang="ru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java.lang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(базовая библиотека) можно не импортировать</a:t>
            </a: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он неявным образом импортируется в каждый модуль компиляции. 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300"/>
              <a:buChar char="●"/>
            </a:pPr>
            <a:r>
              <a:rPr lang="ru" sz="2300" u="sng">
                <a:latin typeface="Calibri"/>
                <a:ea typeface="Calibri"/>
                <a:cs typeface="Calibri"/>
                <a:sym typeface="Calibri"/>
              </a:rPr>
              <a:t>И</a:t>
            </a:r>
            <a:r>
              <a:rPr b="0" i="0" lang="ru" sz="23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мя файла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должно </a:t>
            </a:r>
            <a:r>
              <a:rPr b="0" i="0" lang="ru" sz="23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совпадать 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 </a:t>
            </a:r>
            <a:r>
              <a:rPr b="0" i="0" lang="ru" sz="23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именем открытого класса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если такой класс существует в файле.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300"/>
              <a:buFont typeface="Calibri"/>
              <a:buChar char="●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Е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сли в пакете несколько </a:t>
            </a:r>
            <a:r>
              <a:rPr b="0" i="0" lang="ru" sz="23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открытых классов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они должны размещаться в </a:t>
            </a:r>
            <a:r>
              <a:rPr b="0" i="0" lang="ru" sz="23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разных файлах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1"/>
          <p:cNvSpPr txBox="1"/>
          <p:nvPr/>
        </p:nvSpPr>
        <p:spPr>
          <a:xfrm>
            <a:off x="457200" y="3429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i="0" lang="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Соглашения по именованию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97" name="Google Shape;297;p51"/>
          <p:cNvSpPr txBox="1"/>
          <p:nvPr/>
        </p:nvSpPr>
        <p:spPr>
          <a:xfrm>
            <a:off x="457200" y="1296325"/>
            <a:ext cx="8229600" cy="36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956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Имя пакета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начинается с маленькой буквы и представляет собой, как правило, одно не длинное слово. </a:t>
            </a:r>
            <a:endParaRPr sz="23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l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Имена типов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начинаются с большой буквы и могут состоять из нескольких слов, каждое следующее слово также начинается с большой буквы.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2"/>
          <p:cNvSpPr txBox="1"/>
          <p:nvPr/>
        </p:nvSpPr>
        <p:spPr>
          <a:xfrm>
            <a:off x="457200" y="3429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i="0" lang="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Соглашения по именованию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03" name="Google Shape;303;p52"/>
          <p:cNvSpPr txBox="1"/>
          <p:nvPr/>
        </p:nvSpPr>
        <p:spPr>
          <a:xfrm>
            <a:off x="457200" y="1264975"/>
            <a:ext cx="8229600" cy="3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956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Имена классов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как правило, являются существительными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Имена интерфейсов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должны быть существительными. Часто используется английский суффикс "able".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Имена методов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должны быть глаголами и обозначать действия, которые совершает данный метод. Имя должно начинаться с маленькой буквы, но может состоять из нескольких слов, причем каждое </a:t>
            </a: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с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ледующее</a:t>
            </a: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слово</a:t>
            </a: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начинается с заглавной буквы.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3"/>
          <p:cNvSpPr txBox="1"/>
          <p:nvPr/>
        </p:nvSpPr>
        <p:spPr>
          <a:xfrm>
            <a:off x="457200" y="3429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i="0" lang="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Соглашения по именованию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09" name="Google Shape;309;p53"/>
          <p:cNvSpPr txBox="1"/>
          <p:nvPr/>
        </p:nvSpPr>
        <p:spPr>
          <a:xfrm>
            <a:off x="457200" y="1170875"/>
            <a:ext cx="8229600" cy="3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956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Е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сли методы предназначены для чтения и изменения значения переменной, то их имена начинаются, соответственно, с </a:t>
            </a:r>
            <a:r>
              <a:rPr b="0" i="0" lang="ru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и </a:t>
            </a:r>
            <a:r>
              <a:rPr b="0" i="0" lang="ru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set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М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етод, возвращающий длину, называется </a:t>
            </a:r>
            <a:r>
              <a:rPr b="0" i="0" lang="ru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И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мя метода, который проверяет булевское условие, начинается с </a:t>
            </a:r>
            <a:r>
              <a:rPr b="0" i="0" lang="ru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is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М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етод, который преобразует величину в формат F, называется </a:t>
            </a:r>
            <a:r>
              <a:rPr b="0" i="0" lang="ru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toF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()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4"/>
          <p:cNvSpPr txBox="1"/>
          <p:nvPr/>
        </p:nvSpPr>
        <p:spPr>
          <a:xfrm>
            <a:off x="457200" y="3429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i="0" lang="ru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Соглашения по именованию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15" name="Google Shape;315;p54"/>
          <p:cNvSpPr txBox="1"/>
          <p:nvPr/>
        </p:nvSpPr>
        <p:spPr>
          <a:xfrm>
            <a:off x="457200" y="1223150"/>
            <a:ext cx="8229600" cy="36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9562" lvl="0" marL="341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Имена </a:t>
            </a:r>
            <a:r>
              <a:rPr b="1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полей класса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- существительные, начинаются с маленькой буквы, могут состоять из нескольких слов, каждое следующее слово начинается с заглавной буквы.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9562" lvl="0" marL="341312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•"/>
            </a:pPr>
            <a:r>
              <a:rPr b="1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Поля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могут быть константами, если в их объявлении стоит ключевое слово </a:t>
            </a:r>
            <a:r>
              <a:rPr b="0" i="0" lang="ru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final</a:t>
            </a: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Их имена состоят из последовательности слов, сокращений, аббревиатур. Записываются в верхнем регистре, слова разделяются символом подчеркивания: </a:t>
            </a:r>
            <a:r>
              <a:rPr b="0" i="0" lang="ru" sz="23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PI, MIN_VALUE,MAX_VALUE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5"/>
          <p:cNvSpPr txBox="1"/>
          <p:nvPr/>
        </p:nvSpPr>
        <p:spPr>
          <a:xfrm>
            <a:off x="228600" y="1400875"/>
            <a:ext cx="8534400" cy="3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Однострочные комментарии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//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Многострочные комментарии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/* … */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Многострочные комментарии документационной информации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0" i="0" lang="ru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/** … */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5"/>
          <p:cNvSpPr txBox="1"/>
          <p:nvPr/>
        </p:nvSpPr>
        <p:spPr>
          <a:xfrm>
            <a:off x="457200" y="3429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ru" sz="3200">
                <a:latin typeface="Calibri"/>
                <a:ea typeface="Calibri"/>
                <a:cs typeface="Calibri"/>
                <a:sym typeface="Calibri"/>
              </a:rPr>
              <a:t>Комментарии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6"/>
          <p:cNvSpPr txBox="1"/>
          <p:nvPr/>
        </p:nvSpPr>
        <p:spPr>
          <a:xfrm>
            <a:off x="228600" y="1400875"/>
            <a:ext cx="8534400" cy="3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ru" sz="2400">
                <a:latin typeface="Calibri"/>
                <a:ea typeface="Calibri"/>
                <a:cs typeface="Calibri"/>
                <a:sym typeface="Calibri"/>
              </a:rPr>
              <a:t>Параметр в метод всегда передается по значению!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public static void main(String[] args) {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  int num1 = 1, num2 = 2;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  swap(num1, num2);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public static void swap(int n1, int n2) {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  int temp = n1;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  n1 = n2;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  n2 = temp;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29" name="Google Shape;329;p56"/>
          <p:cNvSpPr txBox="1"/>
          <p:nvPr/>
        </p:nvSpPr>
        <p:spPr>
          <a:xfrm>
            <a:off x="457200" y="3429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ru" sz="3200">
                <a:latin typeface="Calibri"/>
                <a:ea typeface="Calibri"/>
                <a:cs typeface="Calibri"/>
                <a:sym typeface="Calibri"/>
              </a:rPr>
              <a:t>Передача параметра в метод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7"/>
          <p:cNvSpPr txBox="1"/>
          <p:nvPr/>
        </p:nvSpPr>
        <p:spPr>
          <a:xfrm>
            <a:off x="228600" y="1400875"/>
            <a:ext cx="8534400" cy="33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ru" sz="2400">
                <a:latin typeface="Calibri"/>
                <a:ea typeface="Calibri"/>
                <a:cs typeface="Calibri"/>
                <a:sym typeface="Calibri"/>
              </a:rPr>
              <a:t>Передача масива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public static void main(String[] args) </a:t>
            </a: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int[] a = {1, 2};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  swap(a);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public static void swap(int[] array) {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  int temp = array[0];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  array[0] = array[1];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  array[1] = temp;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indent="-341312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t/>
            </a:r>
            <a:endParaRPr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6" name="Google Shape;336;p57"/>
          <p:cNvSpPr txBox="1"/>
          <p:nvPr/>
        </p:nvSpPr>
        <p:spPr>
          <a:xfrm>
            <a:off x="457200" y="34290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lang="ru" sz="3200">
                <a:latin typeface="Calibri"/>
                <a:ea typeface="Calibri"/>
                <a:cs typeface="Calibri"/>
                <a:sym typeface="Calibri"/>
              </a:rPr>
              <a:t>Передача параметра в метод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2800" y="152400"/>
            <a:ext cx="5222832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I_THEME_TEMPLATE_DESIGN">
  <a:themeElements>
    <a:clrScheme name="POI_THEME_TEMPLATE_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