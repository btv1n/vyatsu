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5143500" cx="9144000"/>
  <p:notesSz cx="6858000" cy="9144000"/>
  <p:embeddedFontLst>
    <p:embeddedFont>
      <p:font typeface="Roboto Mono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9" roundtripDataSignature="AMtx7mg90ZEA8zX6xH4Ocy5BhHXN+So0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RobotoMono-bold.fntdata"/><Relationship Id="rId21" Type="http://schemas.openxmlformats.org/officeDocument/2006/relationships/slide" Target="slides/slide16.xml"/><Relationship Id="rId65" Type="http://schemas.openxmlformats.org/officeDocument/2006/relationships/font" Target="fonts/RobotoMono-regular.fntdata"/><Relationship Id="rId24" Type="http://schemas.openxmlformats.org/officeDocument/2006/relationships/slide" Target="slides/slide19.xml"/><Relationship Id="rId68" Type="http://schemas.openxmlformats.org/officeDocument/2006/relationships/font" Target="fonts/RobotoMono-boldItalic.fntdata"/><Relationship Id="rId23" Type="http://schemas.openxmlformats.org/officeDocument/2006/relationships/slide" Target="slides/slide18.xml"/><Relationship Id="rId67" Type="http://schemas.openxmlformats.org/officeDocument/2006/relationships/font" Target="fonts/RobotoMono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examclouds.com/ru/java/java-core-russian/lesson15" TargetMode="External"/><Relationship Id="rId3" Type="http://schemas.openxmlformats.org/officeDocument/2006/relationships/hyperlink" Target="https://habr.com/ru/articles/488144/" TargetMode="External"/><Relationship Id="rId4" Type="http://schemas.openxmlformats.org/officeDocument/2006/relationships/hyperlink" Target="https://habr.com/ru/articles/677610/" TargetMode="External"/><Relationship Id="rId5" Type="http://schemas.openxmlformats.org/officeDocument/2006/relationships/hyperlink" Target="https://javarush.com/groups/posts/2866-funkcionaljhnihe-interfeysih-v-java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e415dd00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" name="Google Shape;52;g39e415dd00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https://www.examclouds.com/ru/java/java-core-russian/lesson15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https://habr.com/ru/articles/488144/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https://habr.com/ru/articles/677610/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https://javarush.com/groups/posts/2866-funkcionaljhnihe-interfeysih-v-java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c0cdd096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c0cdd096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c0cdd09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c0cdd09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c0cdd096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c0cdd096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c0cdd096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c0cdd096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c8bf01a8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c8bf01a8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c8bf01a8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c8bf01a8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c8bf01a8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c8bf01a8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c8bf01a8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c8bf01a8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c8bf01a8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c8bf01a8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c8bf01a8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c8bf01a8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c8bf01a8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c8bf01a8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c93dffe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c93dffe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c93dffee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c93dffe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https://www.oracle.com/corporate/features/understanding-java-9-modules.html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c8bf01a8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1c8bf01a8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c8bf01a8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1c8bf01a8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c93dffee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1c93dffee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c93dffee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1c93dffee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cd7812e3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1cd7812e3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cd80c04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1cd80c04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2. https://javarush.com/groups/posts/2171-java-12-uzhe-zdesjh-chto-novogo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cd80c048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1cd80c048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 sz="1800">
                <a:solidFill>
                  <a:schemeClr val="dk1"/>
                </a:solidFill>
              </a:rPr>
              <a:t>2. https://javarush.com/groups/posts/2171-java-12-uzhe-zdesjh-chto-novogo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cd80c048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1cd80c048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cd80c048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1cd80c048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 sz="1800">
                <a:solidFill>
                  <a:schemeClr val="dk1"/>
                </a:solidFill>
              </a:rPr>
              <a:t>2. https://javarush.com/groups/posts/2171-java-12-uzhe-zdesjh-chto-novogo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cd80c048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1cd80c048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cd80c048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1cd80c048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cd80c048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1cd80c048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1f7476176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1f7476176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f7476176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1f7476176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f7476176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1f7476176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1f7476176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1f7476176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1f7476176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1f7476176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1f7476176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1f7476176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fb56da3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1fb56da3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fb56da35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1fb56da35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fb56da35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1fb56da35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1fb56da35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1fb56da35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fb56da35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1fb56da35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1fb56da35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1fb56da35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203cd617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203cd617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/>
              <a:t>https://otus.ru/journal/http-server-na-java-izuchenie-servernyh-osnov-na-primere-sozdaniya-sobstvennogo-chata/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203cd617d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203cd617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203cd617d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203cd617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/>
              <a:t>https://otus.ru/journal/http-server-na-java-izuchenie-servernyh-osnov-na-primere-sozdaniya-sobstvennogo-chata/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203cd617d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203cd617d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203cd617d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203cd617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203cd617d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203cd617d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203cd617d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203cd617d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/>
              <a:t>https://habr.com/ru/articles/689344/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203cd617d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203cd617d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203cd617d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203cd617d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203cd617d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203cd617d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/>
              <a:t>https://otus.ru/journal/http-server-na-java-izuchenie-servernyh-osnov-na-primere-sozdaniya-sobstvennogo-chata/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203cd617d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203cd617d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/>
              <a:t>https://otus.ru/journal/http-server-na-java-izuchenie-servernyh-osnov-na-primere-sozdaniya-sobstvennogo-chata/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03cd617d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203cd617d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203cd617d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203cd617d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/>
              <a:t>https://habr.com/ru/articles/762084/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examclouds.com/ru/java/java-core-russian/supplier-interface-russia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examclouds.com/ru/java/java-core-russian/static-method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oracle.com/javase/8/docs/api/java/util/Optional.html#flatMap-java.util.function.Function-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habr.com/ru/articles/577924/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ocs.oracle.com/en/java/javase/17/docs/api/java.base/java/util/random/RandomGenerator.html" TargetMode="External"/><Relationship Id="rId4" Type="http://schemas.openxmlformats.org/officeDocument/2006/relationships/hyperlink" Target="https://docs.oracle.com/en/java/javase/17/docs/api/java.base/java/util/random/RandomGenerator.SplittableGenerator.html" TargetMode="External"/><Relationship Id="rId10" Type="http://schemas.openxmlformats.org/officeDocument/2006/relationships/hyperlink" Target="https://docs.oracle.com/en/java/javase/17/docs/api/java.base/java/util/SplittableRandom.html" TargetMode="External"/><Relationship Id="rId9" Type="http://schemas.openxmlformats.org/officeDocument/2006/relationships/hyperlink" Target="https://docs.oracle.com/en/java/javase/17/docs/api/java.base/java/util/concurrent/ThreadLocalRandom.html" TargetMode="External"/><Relationship Id="rId5" Type="http://schemas.openxmlformats.org/officeDocument/2006/relationships/hyperlink" Target="https://docs.oracle.com/en/java/javase/17/docs/api/java.base/java/util/random/RandomGenerator.JumpableGenerator.html" TargetMode="External"/><Relationship Id="rId6" Type="http://schemas.openxmlformats.org/officeDocument/2006/relationships/hyperlink" Target="https://docs.oracle.com/en/java/javase/17/docs/api/java.base/java/util/random/RandomGenerator.LeapableGenerator.html" TargetMode="External"/><Relationship Id="rId7" Type="http://schemas.openxmlformats.org/officeDocument/2006/relationships/hyperlink" Target="https://docs.oracle.com/en/java/javase/17/docs/api/java.base/java/util/random/RandomGenerator.ArbitrarilyJumpableGenerator.html" TargetMode="External"/><Relationship Id="rId8" Type="http://schemas.openxmlformats.org/officeDocument/2006/relationships/hyperlink" Target="https://docs.oracle.com/en/java/javase/17/docs/api/java.base/java/util/Random.html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e415dd004_0_2"/>
          <p:cNvSpPr txBox="1"/>
          <p:nvPr>
            <p:ph type="ctrTitle"/>
          </p:nvPr>
        </p:nvSpPr>
        <p:spPr>
          <a:xfrm>
            <a:off x="311708" y="558431"/>
            <a:ext cx="85206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/>
              <a:t>Лекция 10</a:t>
            </a:r>
            <a:endParaRPr/>
          </a:p>
        </p:txBody>
      </p:sp>
      <p:sp>
        <p:nvSpPr>
          <p:cNvPr id="55" name="Google Shape;55;g39e415dd004_0_2"/>
          <p:cNvSpPr txBox="1"/>
          <p:nvPr>
            <p:ph idx="1" type="subTitle"/>
          </p:nvPr>
        </p:nvSpPr>
        <p:spPr>
          <a:xfrm>
            <a:off x="311700" y="2125594"/>
            <a:ext cx="85206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 sz="5200">
                <a:solidFill>
                  <a:schemeClr val="dk1"/>
                </a:solidFill>
              </a:rPr>
              <a:t>Особенности версий Java</a:t>
            </a:r>
            <a:endParaRPr/>
          </a:p>
        </p:txBody>
      </p:sp>
      <p:pic>
        <p:nvPicPr>
          <p:cNvPr id="56" name="Google Shape;56;g39e415dd004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109075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Лямбды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Функциональные интерфейсы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Интерфейсы по умолчанию (default-методы) и статические методы (в интерфейсах)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Stream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Optional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Java 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c0cdd0963_0_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/>
              <a:t>Лямбда-выражения</a:t>
            </a:r>
            <a:endParaRPr/>
          </a:p>
        </p:txBody>
      </p:sp>
      <p:sp>
        <p:nvSpPr>
          <p:cNvPr id="73" name="Google Shape;73;g31c0cdd0963_0_14"/>
          <p:cNvSpPr txBox="1"/>
          <p:nvPr>
            <p:ph idx="1" type="body"/>
          </p:nvPr>
        </p:nvSpPr>
        <p:spPr>
          <a:xfrm>
            <a:off x="311700" y="1152475"/>
            <a:ext cx="85206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Являются альтернативой анонимным классам. Но они не одинаковы.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Общее: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Локальные переменные могут быть использованы только если они final.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Разрешается доступ к переменным класса и статическим переменным класса.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Они не должны выбрасывать больше исключений чем определено в throws метода функционального интерфейса.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Различия: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Для анонимных классов ключевое слово this ссылается на сам класс. Для лямбда-выражений на внешний класс.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Анонимные классы компилируются во внутренние классы. Но лямбда выражения преобразуются в статические private методы класса, в котором они используют invokedynamic инструкцию. Лямбда более эффективны, так как не надо загружать еще один класс.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c0cdd0963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Функциональные интерфейсы</a:t>
            </a:r>
            <a:endParaRPr/>
          </a:p>
        </p:txBody>
      </p:sp>
      <p:sp>
        <p:nvSpPr>
          <p:cNvPr id="79" name="Google Shape;79;g31c0cdd0963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Функциональный интерфейс (functional interface) – это интерфейс у которого только один абстрактный метод. Функциональный интерфейс может содержать любое количество методов по умолчанию (default) или статических методов.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Функциональный интерфейс может содержать методы класса Object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 Java 8 была введена аннотация @FunctionalInterface, которая генерирует ошибку компиляции, если интерфейс не является функциональным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c0cdd0963_0_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Функциональные интерфейсы</a:t>
            </a:r>
            <a:endParaRPr/>
          </a:p>
        </p:txBody>
      </p:sp>
      <p:sp>
        <p:nvSpPr>
          <p:cNvPr id="85" name="Google Shape;85;g31c0cdd0963_0_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Java 8 добавлены встроенные функциональные интерфейсы в пакет java.util.function: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Predicate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Consumer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Function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Supplier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UnaryOperator</a:t>
            </a:r>
            <a:endParaRPr b="1" sz="1450">
              <a:solidFill>
                <a:srgbClr val="4C82BE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c0cdd0963_0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Predicate</a:t>
            </a:r>
            <a:endParaRPr/>
          </a:p>
        </p:txBody>
      </p:sp>
      <p:sp>
        <p:nvSpPr>
          <p:cNvPr id="91" name="Google Shape;91;g31c0cdd0963_0_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Принимает на вход значение, проверяет состояние и возвращает</a:t>
            </a:r>
            <a:r>
              <a:rPr lang="ru" sz="1350">
                <a:solidFill>
                  <a:srgbClr val="2F3748"/>
                </a:solidFill>
                <a:highlight>
                  <a:srgbClr val="FFFFFF"/>
                </a:highlight>
              </a:rPr>
              <a:t> </a:t>
            </a:r>
            <a:r>
              <a:rPr b="1" lang="ru" sz="1450">
                <a:solidFill>
                  <a:srgbClr val="4C82BE"/>
                </a:solidFill>
                <a:highlight>
                  <a:srgbClr val="F4F9FD"/>
                </a:highlight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ru" sz="1350">
                <a:solidFill>
                  <a:srgbClr val="2F3748"/>
                </a:solidFill>
                <a:highlight>
                  <a:srgbClr val="FFFFFF"/>
                </a:highlight>
              </a:rPr>
              <a:t> з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начение в качестве результата. 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@FunctionalInterface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Predicate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Функциональный дескриптор интерфейса</a:t>
            </a:r>
            <a:r>
              <a:rPr lang="ru" sz="1350">
                <a:solidFill>
                  <a:srgbClr val="2F3748"/>
                </a:solidFill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-&gt; boolean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Пример 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Predicate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negative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negative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negative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50">
                <a:solidFill>
                  <a:srgbClr val="4C82BE"/>
                </a:solidFill>
                <a:latin typeface="Roboto Mono"/>
                <a:ea typeface="Roboto Mono"/>
                <a:cs typeface="Roboto Mono"/>
                <a:sym typeface="Roboto Mono"/>
              </a:rPr>
              <a:t>Predicate</a:t>
            </a:r>
            <a:r>
              <a:rPr lang="ru" sz="1350">
                <a:solidFill>
                  <a:srgbClr val="2F3748"/>
                </a:solidFill>
              </a:rPr>
              <a:t> </a:t>
            </a:r>
            <a:r>
              <a:rPr lang="ru" sz="1350">
                <a:solidFill>
                  <a:schemeClr val="dk1"/>
                </a:solidFill>
              </a:rPr>
              <a:t>интерфейс содержит методы по умолчанию:</a:t>
            </a:r>
            <a:endParaRPr sz="1350">
              <a:solidFill>
                <a:schemeClr val="dk1"/>
              </a:solidFill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Predicate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Predicate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other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Predicate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Predicate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other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Predicate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negate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c8bf01a89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Consumer</a:t>
            </a:r>
            <a:endParaRPr/>
          </a:p>
        </p:txBody>
      </p:sp>
      <p:sp>
        <p:nvSpPr>
          <p:cNvPr id="97" name="Google Shape;97;g31c8bf01a89_0_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>
                <a:solidFill>
                  <a:schemeClr val="dk1"/>
                </a:solidFill>
              </a:rPr>
              <a:t>Принимает значение в качестве аргумента и ничего не возвращает.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@FunctionalInterface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Consumer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Функциональный дескриптор интерфейса</a:t>
            </a:r>
            <a:r>
              <a:rPr lang="ru" sz="1350">
                <a:solidFill>
                  <a:srgbClr val="2F3748"/>
                </a:solidFill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-&gt; void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Пример 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printUpperCase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printUpperCase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c8bf01a89_0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Consumer</a:t>
            </a:r>
            <a:endParaRPr/>
          </a:p>
        </p:txBody>
      </p:sp>
      <p:sp>
        <p:nvSpPr>
          <p:cNvPr id="103" name="Google Shape;103;g31c8bf01a89_0_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50">
                <a:solidFill>
                  <a:srgbClr val="2F3748"/>
                </a:solidFill>
              </a:rPr>
              <a:t>Consumer</a:t>
            </a:r>
            <a:r>
              <a:rPr lang="ru" sz="1350">
                <a:solidFill>
                  <a:srgbClr val="2F3748"/>
                </a:solidFill>
              </a:rPr>
              <a:t> </a:t>
            </a:r>
            <a:r>
              <a:rPr lang="ru" sz="1350">
                <a:solidFill>
                  <a:schemeClr val="dk1"/>
                </a:solidFill>
              </a:rPr>
              <a:t>интерфейс содержит метод по умолчанию, который возвращает составной </a:t>
            </a:r>
            <a:r>
              <a:rPr b="1" lang="ru" sz="1450">
                <a:solidFill>
                  <a:srgbClr val="4C82BE"/>
                </a:solidFill>
                <a:latin typeface="Roboto Mono"/>
                <a:ea typeface="Roboto Mono"/>
                <a:cs typeface="Roboto Mono"/>
                <a:sym typeface="Roboto Mono"/>
              </a:rPr>
              <a:t>Consumer</a:t>
            </a:r>
            <a:r>
              <a:rPr lang="ru" sz="1350">
                <a:solidFill>
                  <a:srgbClr val="2F3748"/>
                </a:solidFill>
              </a:rPr>
              <a:t>, </a:t>
            </a:r>
            <a:r>
              <a:rPr lang="ru" sz="1350">
                <a:solidFill>
                  <a:schemeClr val="dk1"/>
                </a:solidFill>
              </a:rPr>
              <a:t>выполняющий последовательно действия указанные в каждом интерфейсе:</a:t>
            </a:r>
            <a:endParaRPr sz="1350">
              <a:solidFill>
                <a:schemeClr val="dk1"/>
              </a:solidFill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Consumer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andThen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after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Пример </a:t>
            </a:r>
            <a:endParaRPr b="1" sz="1450">
              <a:solidFill>
                <a:srgbClr val="4C82B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printUpperCase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printUpperCase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printLowerCase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toLowerCase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printUpperCase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andThen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printLowerCase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"Hello world"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c8bf01a89_0_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Function</a:t>
            </a:r>
            <a:endParaRPr/>
          </a:p>
        </p:txBody>
      </p:sp>
      <p:sp>
        <p:nvSpPr>
          <p:cNvPr id="109" name="Google Shape;109;g31c8bf01a89_0_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>
                <a:solidFill>
                  <a:schemeClr val="dk1"/>
                </a:solidFill>
              </a:rPr>
              <a:t>Принимает значение в качестве аргумента одного типа и возвращает другое значение. Часто используется для преобразования одного значения в другое.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@FunctionalInterface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apply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Функциональный дескриптор интерфейса</a:t>
            </a:r>
            <a:r>
              <a:rPr lang="ru" sz="1350">
                <a:solidFill>
                  <a:srgbClr val="2F3748"/>
                </a:solidFill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-&gt; R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Пример 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function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Math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round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apply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5.7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50">
                <a:solidFill>
                  <a:srgbClr val="4C82BE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Статический метод</a:t>
            </a:r>
            <a:r>
              <a:rPr lang="ru" sz="1350">
                <a:solidFill>
                  <a:srgbClr val="2F3748"/>
                </a:solidFill>
              </a:rPr>
              <a:t> </a:t>
            </a:r>
            <a:r>
              <a:rPr lang="ru" sz="1350">
                <a:solidFill>
                  <a:schemeClr val="dk1"/>
                </a:solidFill>
              </a:rPr>
              <a:t>интерфейса Function </a:t>
            </a:r>
            <a:r>
              <a:rPr b="1" lang="ru" sz="1350">
                <a:solidFill>
                  <a:srgbClr val="2F3748"/>
                </a:solidFill>
              </a:rPr>
              <a:t>identity</a:t>
            </a:r>
            <a:r>
              <a:rPr lang="ru" sz="1350">
                <a:solidFill>
                  <a:srgbClr val="2F3748"/>
                </a:solidFill>
              </a:rPr>
              <a:t>() </a:t>
            </a:r>
            <a:r>
              <a:rPr lang="ru" sz="1350">
                <a:solidFill>
                  <a:schemeClr val="dk1"/>
                </a:solidFill>
                <a:highlight>
                  <a:schemeClr val="lt1"/>
                </a:highlight>
              </a:rPr>
              <a:t>возвращает </a:t>
            </a:r>
            <a:r>
              <a:rPr b="1" lang="ru" sz="1350">
                <a:solidFill>
                  <a:srgbClr val="2F3748"/>
                </a:solidFill>
                <a:highlight>
                  <a:schemeClr val="lt1"/>
                </a:highlight>
              </a:rPr>
              <a:t>интерфейс Function</a:t>
            </a:r>
            <a:r>
              <a:rPr lang="ru" sz="1350">
                <a:solidFill>
                  <a:schemeClr val="dk1"/>
                </a:solidFill>
                <a:highlight>
                  <a:schemeClr val="lt1"/>
                </a:highlight>
              </a:rPr>
              <a:t>, который всегда возвращает входной параметр.</a:t>
            </a:r>
            <a:endParaRPr sz="1350">
              <a:solidFill>
                <a:schemeClr val="dk1"/>
              </a:solidFill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identity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c8bf01a89_0_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Function</a:t>
            </a:r>
            <a:endParaRPr/>
          </a:p>
        </p:txBody>
      </p:sp>
      <p:sp>
        <p:nvSpPr>
          <p:cNvPr id="115" name="Google Shape;115;g31c8bf01a89_0_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Методы по умолчанию интерфейса Function&lt;T, R&gt;</a:t>
            </a:r>
            <a:r>
              <a:rPr lang="ru" sz="1350">
                <a:solidFill>
                  <a:srgbClr val="2F3748"/>
                </a:solidFill>
              </a:rPr>
              <a:t>:</a:t>
            </a:r>
            <a:endParaRPr sz="1350">
              <a:solidFill>
                <a:srgbClr val="2F3748"/>
              </a:solidFill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andThen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after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compose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before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Пример </a:t>
            </a:r>
            <a:endParaRPr b="1" sz="1450">
              <a:solidFill>
                <a:srgbClr val="4C82B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f1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"1"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f2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f3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"3"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f4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"4"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f1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andThen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f2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compose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f3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compose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f4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apply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"Compose"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f1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andThen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f2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andThen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f3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apply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"AndThen"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c8bf01a89_0_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UnaryOperator</a:t>
            </a:r>
            <a:endParaRPr/>
          </a:p>
        </p:txBody>
      </p:sp>
      <p:sp>
        <p:nvSpPr>
          <p:cNvPr id="121" name="Google Shape;121;g31c8bf01a89_0_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50">
                <a:solidFill>
                  <a:schemeClr val="dk1"/>
                </a:solidFill>
              </a:rPr>
              <a:t>UnaryOperator</a:t>
            </a:r>
            <a:r>
              <a:rPr lang="ru" sz="1350">
                <a:solidFill>
                  <a:schemeClr val="dk1"/>
                </a:solidFill>
              </a:rPr>
              <a:t> расширяет интерфейс</a:t>
            </a:r>
            <a:r>
              <a:rPr lang="ru" sz="1350">
                <a:solidFill>
                  <a:srgbClr val="2F3748"/>
                </a:solidFill>
              </a:rPr>
              <a:t> </a:t>
            </a:r>
            <a:r>
              <a:rPr b="1" lang="ru" sz="1450">
                <a:solidFill>
                  <a:srgbClr val="4C82B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1350">
                <a:solidFill>
                  <a:schemeClr val="dk1"/>
                </a:solidFill>
              </a:rPr>
              <a:t>. Используется в случае, если аргумент и возвращаемое значение одного типа.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@FunctionalInterface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UnaryOperator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Function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…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2F374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Функциональный дескриптор интерфейса:</a:t>
            </a:r>
            <a:r>
              <a:rPr lang="ru" sz="1350">
                <a:solidFill>
                  <a:srgbClr val="2F3748"/>
                </a:solidFill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-&gt; T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Пример 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UnaryOperator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uo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uo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apply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"Java 8"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c8bf01a89_0_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Supplier</a:t>
            </a:r>
            <a:endParaRPr/>
          </a:p>
        </p:txBody>
      </p:sp>
      <p:sp>
        <p:nvSpPr>
          <p:cNvPr id="127" name="Google Shape;127;g31c8bf01a89_0_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50">
                <a:solidFill>
                  <a:schemeClr val="dk1"/>
                </a:solidFill>
              </a:rPr>
              <a:t>Интерфейс </a:t>
            </a:r>
            <a:r>
              <a:rPr i="1" lang="ru" sz="1350">
                <a:solidFill>
                  <a:schemeClr val="dk1"/>
                </a:solidFill>
              </a:rPr>
              <a:t>Supplier</a:t>
            </a:r>
            <a:r>
              <a:rPr lang="ru" sz="1350">
                <a:solidFill>
                  <a:schemeClr val="dk1"/>
                </a:solidFill>
              </a:rPr>
              <a:t> используется тогда, когда на вход не передаются значения, но необходимо вернуть результат.</a:t>
            </a:r>
            <a:r>
              <a:rPr b="1" lang="ru" sz="1350">
                <a:solidFill>
                  <a:schemeClr val="dk1"/>
                </a:solidFill>
              </a:rPr>
              <a:t> 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@FunctionalInterface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Supplier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Функциональный дескриптор интерфейса:</a:t>
            </a:r>
            <a:r>
              <a:rPr lang="ru" sz="1350">
                <a:solidFill>
                  <a:srgbClr val="2F3748"/>
                </a:solidFill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-&gt; T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2F3748"/>
                </a:solidFill>
              </a:rPr>
              <a:t>Пример 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t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Supplier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supplierStr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supplierStr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c8bf01a89_0_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Optional</a:t>
            </a:r>
            <a:endParaRPr/>
          </a:p>
        </p:txBody>
      </p:sp>
      <p:sp>
        <p:nvSpPr>
          <p:cNvPr id="133" name="Google Shape;133;g31c8bf01a89_0_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172B53"/>
                </a:solidFill>
                <a:highlight>
                  <a:srgbClr val="FFFFFF"/>
                </a:highlight>
              </a:rPr>
              <a:t>О</a:t>
            </a:r>
            <a:r>
              <a:rPr lang="ru" sz="1350">
                <a:solidFill>
                  <a:schemeClr val="dk1"/>
                </a:solidFill>
              </a:rPr>
              <a:t>бъект </a:t>
            </a:r>
            <a:r>
              <a:rPr i="1" lang="ru" sz="1350">
                <a:solidFill>
                  <a:schemeClr val="dk1"/>
                </a:solidFill>
              </a:rPr>
              <a:t>Optional</a:t>
            </a:r>
            <a:r>
              <a:rPr lang="ru" sz="1350">
                <a:solidFill>
                  <a:schemeClr val="dk1"/>
                </a:solidFill>
              </a:rPr>
              <a:t> – это “объект-контейнер, который может содержать или не содержать значение non-null”. Изначально использовался SpringBoot во многих проектах.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</a:rPr>
              <a:t>Пустой </a:t>
            </a:r>
            <a:r>
              <a:rPr i="1" lang="ru" sz="1350">
                <a:solidFill>
                  <a:schemeClr val="dk1"/>
                </a:solidFill>
              </a:rPr>
              <a:t>Optional</a:t>
            </a:r>
            <a:r>
              <a:rPr lang="ru" sz="1350">
                <a:solidFill>
                  <a:schemeClr val="dk1"/>
                </a:solidFill>
              </a:rPr>
              <a:t> объект</a:t>
            </a:r>
            <a:endParaRPr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Optional&lt;Person&gt; optionalPerson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Optional.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empty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50">
                <a:solidFill>
                  <a:schemeClr val="dk1"/>
                </a:solidFill>
              </a:rPr>
              <a:t>Optional</a:t>
            </a:r>
            <a:r>
              <a:rPr lang="ru" sz="1350">
                <a:solidFill>
                  <a:schemeClr val="dk1"/>
                </a:solidFill>
              </a:rPr>
              <a:t> объект с ненулевым значением</a:t>
            </a:r>
            <a:endParaRPr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Optional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optionalNonNull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Optional.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somePerson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350">
                <a:solidFill>
                  <a:schemeClr val="dk1"/>
                </a:solidFill>
              </a:rPr>
              <a:t>Optional </a:t>
            </a:r>
            <a:r>
              <a:rPr lang="ru" sz="1350">
                <a:solidFill>
                  <a:schemeClr val="dk1"/>
                </a:solidFill>
              </a:rPr>
              <a:t>объект с возможностью нулевого значения</a:t>
            </a:r>
            <a:endParaRPr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Optional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optionalNullable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Optional.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ofNullable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somePerson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c93dffee4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Optional</a:t>
            </a:r>
            <a:endParaRPr/>
          </a:p>
        </p:txBody>
      </p:sp>
      <p:sp>
        <p:nvSpPr>
          <p:cNvPr id="139" name="Google Shape;139;g31c93dffee4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map(..) преобразует текущее значение с помощью переданной функции, после чего оборачивает получившийся результат в Optional.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" sz="1350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flatMap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(...) </a:t>
            </a:r>
            <a:r>
              <a:rPr lang="ru" sz="1350">
                <a:solidFill>
                  <a:schemeClr val="dk1"/>
                </a:solidFill>
                <a:highlight>
                  <a:schemeClr val="lt1"/>
                </a:highlight>
              </a:rPr>
              <a:t>преобразует значение, но функция, которую он ожидает в качестве аргумента, должна возвращать Optional.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Optional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Optional.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"test"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Optional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length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String::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50">
              <a:solidFill>
                <a:srgbClr val="172B5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Optional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length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flatMap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 -&gt; Optional.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()));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" sz="1350">
                <a:solidFill>
                  <a:schemeClr val="dk1"/>
                </a:solidFill>
                <a:highlight>
                  <a:schemeClr val="lt1"/>
                </a:highlight>
              </a:rPr>
              <a:t>isPresent() возвращает true, если объект внутри Optional не null. 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" sz="1350">
                <a:solidFill>
                  <a:schemeClr val="dk1"/>
                </a:solidFill>
                <a:highlight>
                  <a:schemeClr val="lt1"/>
                </a:highlight>
              </a:rPr>
              <a:t>get() возвращает значение, если оно не null, в противном случае выбрасывается NoSuchElementException.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c93dffee4_0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orElse(...) используется для получения значения, которое находится внутри Optional. Он принимает один параметр - значение по умолчанию и возвращает или само значение из Optional или переданный аргумент</a:t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</a:rPr>
              <a:t>orElseThrow() </a:t>
            </a:r>
            <a:r>
              <a:rPr lang="ru" sz="1350">
                <a:solidFill>
                  <a:schemeClr val="dk1"/>
                </a:solidFill>
                <a:highlight>
                  <a:schemeClr val="lt1"/>
                </a:highlight>
              </a:rPr>
              <a:t>используется для получения значения, которое находится внутри Optional. Он принимает один параметр - исключение и либо возвращает значение из Optional или выкидывает исключение, переданное в качестве аргумента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ru" sz="1350">
                <a:solidFill>
                  <a:schemeClr val="dk1"/>
                </a:solidFill>
                <a:highlight>
                  <a:schemeClr val="lt1"/>
                </a:highlight>
              </a:rPr>
              <a:t>orElseGet() похож на метод orElse(), но вместо значения по умолчанию, которое передается в качестве аргумента, метод принимает функциональный интерфейс Supplier, который вызывает определенное действие.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nullName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name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Optional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ofNullable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nullName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orElseGet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Supplier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public String 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 {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"Boris"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;}});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77800" rtl="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endParaRPr/>
          </a:p>
        </p:txBody>
      </p:sp>
      <p:sp>
        <p:nvSpPr>
          <p:cNvPr id="145" name="Google Shape;145;g31c93dffee4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Методы Optional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9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9</a:t>
            </a:r>
            <a:endParaRPr/>
          </a:p>
        </p:txBody>
      </p:sp>
      <p:sp>
        <p:nvSpPr>
          <p:cNvPr id="156" name="Google Shape;15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Коллекции получили несколько новых вспомогательных методов для простого создания списков, наборов и карт.</a:t>
            </a:r>
            <a:endParaRPr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"two"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"three"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"two"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"three"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"foo"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"bar"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"two"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Stream </a:t>
            </a:r>
            <a:r>
              <a:rPr lang="ru">
                <a:solidFill>
                  <a:schemeClr val="dk1"/>
                </a:solidFill>
              </a:rPr>
              <a:t>получили несколько дополнений, в виде методов takeWhile, dropWhile и iterate.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iterate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takeWhile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c8bf01a89_0_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Java 9</a:t>
            </a:r>
            <a:endParaRPr/>
          </a:p>
        </p:txBody>
      </p:sp>
      <p:sp>
        <p:nvSpPr>
          <p:cNvPr id="162" name="Google Shape;162;g31c8bf01a89_0_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3. Optionals получили метод ifPresentOrElse.</a:t>
            </a:r>
            <a:endParaRPr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ifPresentOrElse​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super 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action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Runnable emptyAction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4. Интерфейсы получили private методы</a:t>
            </a:r>
            <a:endParaRPr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MyInterface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0500" marR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static void myPrivateMethod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0500" marR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"Yay, I am private!"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90500" marR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c8bf01a89_0_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Java 9</a:t>
            </a:r>
            <a:endParaRPr/>
          </a:p>
        </p:txBody>
      </p:sp>
      <p:sp>
        <p:nvSpPr>
          <p:cNvPr id="168" name="Google Shape;168;g31c8bf01a89_0_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5</a:t>
            </a:r>
            <a:r>
              <a:rPr lang="ru">
                <a:solidFill>
                  <a:schemeClr val="dk1"/>
                </a:solidFill>
              </a:rPr>
              <a:t>. </a:t>
            </a:r>
            <a:r>
              <a:rPr lang="ru">
                <a:solidFill>
                  <a:schemeClr val="dk1"/>
                </a:solidFill>
              </a:rPr>
              <a:t>JShell - оболочка, в которой можно попробовать простые команды и получить немедленные результаты.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>
                <a:solidFill>
                  <a:schemeClr val="dk1"/>
                </a:solidFill>
              </a:rPr>
              <a:t>4. П</a:t>
            </a:r>
            <a:r>
              <a:rPr lang="ru">
                <a:solidFill>
                  <a:schemeClr val="dk1"/>
                </a:solidFill>
              </a:rPr>
              <a:t>редварительная версия нового HttpClient. До этого встроенная поддержка Http в Java была низкоуровневой, и приходилось использовать сторонние библиотеки, такие как Apache HttpClient или OkHttp.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10</a:t>
            </a:r>
            <a:endParaRPr/>
          </a:p>
        </p:txBody>
      </p:sp>
      <p:sp>
        <p:nvSpPr>
          <p:cNvPr id="179" name="Google Shape;179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1. </a:t>
            </a:r>
            <a:r>
              <a:rPr lang="ru">
                <a:solidFill>
                  <a:schemeClr val="dk1"/>
                </a:solidFill>
              </a:rPr>
              <a:t>Local-Variable Type Inference – предложение по введению в Java ключевого слова var, которое избавляет от необходимости указывать тип локальной переменной явно.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ar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>
                <a:solidFill>
                  <a:schemeClr val="dk1"/>
                </a:solidFill>
              </a:rPr>
              <a:t>2. </a:t>
            </a:r>
            <a:r>
              <a:rPr lang="ru" sz="1700">
                <a:solidFill>
                  <a:schemeClr val="dk1"/>
                </a:solidFill>
              </a:rPr>
              <a:t>h</a:t>
            </a:r>
            <a:r>
              <a:rPr lang="ru" sz="1700">
                <a:solidFill>
                  <a:schemeClr val="dk1"/>
                </a:solidFill>
              </a:rPr>
              <a:t>ttps://javarush.com/groups/posts/542-novaja-java-opjatjh-vstrechaem-java-10</a:t>
            </a:r>
            <a:endParaRPr sz="12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11</a:t>
            </a:r>
            <a:endParaRPr/>
          </a:p>
        </p:txBody>
      </p:sp>
      <p:sp>
        <p:nvSpPr>
          <p:cNvPr id="190" name="Google Shape;190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1. </a:t>
            </a:r>
            <a:r>
              <a:rPr lang="ru">
                <a:solidFill>
                  <a:schemeClr val="dk1"/>
                </a:solidFill>
              </a:rPr>
              <a:t>var-синтаксис для лямбда-параметров Используется, когда нужно добавить аннотацию к лямбда-параметру. Это невозможно сделать без участия типа, чтобы не писать явный тип, можно использовать var </a:t>
            </a:r>
            <a:endParaRPr sz="1350">
              <a:solidFill>
                <a:srgbClr val="172B5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stream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((@ Notnull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var 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s.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toLowerCase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4930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collect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Collectors.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toList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2. Устранена необходимость компиляции однофайлового приложения. Достаточно ввести</a:t>
            </a:r>
            <a:endParaRPr sz="1350">
              <a:solidFill>
                <a:srgbClr val="172B53"/>
              </a:solidFill>
              <a:highlight>
                <a:srgbClr val="FFFFFF"/>
              </a:highlight>
            </a:endParaRPr>
          </a:p>
          <a:p>
            <a:pPr indent="0" lvl="0" marL="0" marR="152400" rtl="0" algn="l">
              <a:lnSpc>
                <a:spcPct val="16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java HelloWorld.java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c93dffee4_0_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Java 11</a:t>
            </a:r>
            <a:endParaRPr/>
          </a:p>
        </p:txBody>
      </p:sp>
      <p:sp>
        <p:nvSpPr>
          <p:cNvPr id="196" name="Google Shape;196;g31c93dffee4_0_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3. HTTP Client официально входит в Java SE 11. Это вводит новый модуль и пакет для JDK, java.net.http. Основные новые типы: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HttpClient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HttpRequest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HttpResponse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WebSocket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ru">
                <a:solidFill>
                  <a:schemeClr val="dk1"/>
                </a:solidFill>
              </a:rPr>
              <a:t>Этот API можно использовать синхронно или асинхронно. В асинхронном режиме используются CompletionFutures и CompletionStages.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c93dffee4_0_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Java 11</a:t>
            </a:r>
            <a:endParaRPr/>
          </a:p>
        </p:txBody>
      </p:sp>
      <p:sp>
        <p:nvSpPr>
          <p:cNvPr id="202" name="Google Shape;202;g31c93dffee4_0_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4</a:t>
            </a:r>
            <a:r>
              <a:rPr lang="ru">
                <a:solidFill>
                  <a:schemeClr val="dk1"/>
                </a:solidFill>
              </a:rPr>
              <a:t>. Новые методы в </a:t>
            </a:r>
            <a:r>
              <a:rPr lang="ru">
                <a:solidFill>
                  <a:schemeClr val="dk1"/>
                </a:solidFill>
              </a:rPr>
              <a:t>S</a:t>
            </a:r>
            <a:r>
              <a:rPr lang="ru">
                <a:solidFill>
                  <a:schemeClr val="dk1"/>
                </a:solidFill>
              </a:rPr>
              <a:t>tring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boolean isBlank (): возвращает true, если строка пуста или содержит только пробелы, иначе false.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Stream lines(): возвращает поток строк, извлеченных из этой строки, разделенных терминаторами строк.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String repeat (int): возвращает строку, значение которой представляет собой конкатенацию этой строки, повторяющуюся int раз.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String strip (): Возвращает строку, из которой удалены все пробелы, которые находятся до первого символа, не являющегося пробелом, или после последнего.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…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ru">
                <a:solidFill>
                  <a:schemeClr val="dk1"/>
                </a:solidFill>
              </a:rPr>
              <a:t>5. </a:t>
            </a:r>
            <a:r>
              <a:rPr lang="ru" sz="1700">
                <a:solidFill>
                  <a:schemeClr val="dk1"/>
                </a:solidFill>
              </a:rPr>
              <a:t>https://javarush.com/groups/posts/1961-vihshla-java-11-novihe-fichi-i-vozmozhnosti-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cd7812e37_0_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12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cd80c048e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12</a:t>
            </a:r>
            <a:endParaRPr/>
          </a:p>
        </p:txBody>
      </p:sp>
      <p:sp>
        <p:nvSpPr>
          <p:cNvPr id="213" name="Google Shape;213;g31cd80c048e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1. </a:t>
            </a:r>
            <a:r>
              <a:rPr lang="ru">
                <a:solidFill>
                  <a:schemeClr val="dk1"/>
                </a:solidFill>
              </a:rPr>
              <a:t>Новая форма написания выражения с оператором switch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 switch “case L -&gt;” без оператора break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MONDAY, FRIDAY, SUNDAY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System.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TUESDAY               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System.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THURSDAY, SATURDAY    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System.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WEDNESDAY             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System.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rgbClr val="DD4A68"/>
                </a:solidFill>
                <a:latin typeface="Consolas"/>
                <a:ea typeface="Consolas"/>
                <a:cs typeface="Consolas"/>
                <a:sym typeface="Consolas"/>
              </a:rPr>
              <a:t>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Появилась возможность использовать switch как выражение, возвращающее результат, который можно присвоить переменной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cd80c048e_0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12</a:t>
            </a:r>
            <a:endParaRPr/>
          </a:p>
        </p:txBody>
      </p:sp>
      <p:sp>
        <p:nvSpPr>
          <p:cNvPr id="219" name="Google Shape;219;g31cd80c048e_0_17"/>
          <p:cNvSpPr txBox="1"/>
          <p:nvPr>
            <p:ph idx="1" type="body"/>
          </p:nvPr>
        </p:nvSpPr>
        <p:spPr>
          <a:xfrm>
            <a:off x="311700" y="1152475"/>
            <a:ext cx="3804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numberOfLetters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switch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MONDAY, FRIDAY, SUNDAY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6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TUESDAY               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7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THURSDAY, SATURDAY    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8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WEDNESDAY             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9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default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throw new IllegalStateException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"Huh?: 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0" name="Google Shape;220;g31cd80c048e_0_17"/>
          <p:cNvSpPr txBox="1"/>
          <p:nvPr>
            <p:ph idx="1" type="body"/>
          </p:nvPr>
        </p:nvSpPr>
        <p:spPr>
          <a:xfrm>
            <a:off x="4735050" y="1152475"/>
            <a:ext cx="3804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numberOfLetters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switch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MONDAY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FRIDAY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SUNDAY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break 6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TUESDAY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break 7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THURSDAY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SATURDAY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break 8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WEDNESDAY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break  9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default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throw new IllegalStateException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"Huh?: 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cd80c048e_0_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13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cd80c048e_0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13</a:t>
            </a:r>
            <a:endParaRPr/>
          </a:p>
        </p:txBody>
      </p:sp>
      <p:sp>
        <p:nvSpPr>
          <p:cNvPr id="231" name="Google Shape;231;g31cd80c048e_0_24"/>
          <p:cNvSpPr txBox="1"/>
          <p:nvPr>
            <p:ph idx="1" type="body"/>
          </p:nvPr>
        </p:nvSpPr>
        <p:spPr>
          <a:xfrm>
            <a:off x="311700" y="1609675"/>
            <a:ext cx="3804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numberOfLetters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switch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MONDAY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FRIDAY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SUNDAY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break 6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TUESDAY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break 7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THURSDAY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SATURDAY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break 8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WEDNESDAY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break  9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default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throw new IllegalStateException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"Huh?: 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"/>
              <a:t>УСТАРЕЛО</a:t>
            </a:r>
            <a:endParaRPr/>
          </a:p>
        </p:txBody>
      </p:sp>
      <p:sp>
        <p:nvSpPr>
          <p:cNvPr id="232" name="Google Shape;232;g31cd80c048e_0_24"/>
          <p:cNvSpPr txBox="1"/>
          <p:nvPr>
            <p:ph idx="1" type="body"/>
          </p:nvPr>
        </p:nvSpPr>
        <p:spPr>
          <a:xfrm>
            <a:off x="4735050" y="1609675"/>
            <a:ext cx="3804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numberOfLetters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switch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MONDAY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FRIDAY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SUNDAY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yield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TUESDAY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yield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THURSDAY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SATURDAY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yield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WEDNESDAY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yield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efault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throw new IllegalStateException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"Huh?: 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day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3" name="Google Shape;233;g31cd80c048e_0_24"/>
          <p:cNvSpPr txBox="1"/>
          <p:nvPr/>
        </p:nvSpPr>
        <p:spPr>
          <a:xfrm>
            <a:off x="311700" y="1147975"/>
            <a:ext cx="804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1. Новая форма написания выражения с оператором switch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cd80c048e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13</a:t>
            </a:r>
            <a:endParaRPr/>
          </a:p>
        </p:txBody>
      </p:sp>
      <p:sp>
        <p:nvSpPr>
          <p:cNvPr id="239" name="Google Shape;239;g31cd80c048e_0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. Т</a:t>
            </a:r>
            <a:r>
              <a:rPr lang="ru">
                <a:solidFill>
                  <a:schemeClr val="dk1"/>
                </a:solidFill>
              </a:rPr>
              <a:t>екстовые блоки. Позволяют избежать экранирования символов и умеют форматировать строки. Это превью-фича.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smallBlock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"""Only one line"""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block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3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b="1" sz="1350">
              <a:solidFill>
                <a:srgbClr val="6699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               	&lt;html&gt;</a:t>
            </a:r>
            <a:endParaRPr b="1" sz="1350">
              <a:solidFill>
                <a:srgbClr val="6699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                 	&lt;body&gt;</a:t>
            </a:r>
            <a:endParaRPr b="1" sz="1350">
              <a:solidFill>
                <a:srgbClr val="6699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                   	&lt;p&gt;CodeGym Web page&lt;/p&gt;</a:t>
            </a:r>
            <a:endParaRPr b="1" sz="1350">
              <a:solidFill>
                <a:srgbClr val="6699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                 	&lt;/body&gt;</a:t>
            </a:r>
            <a:endParaRPr b="1" sz="1350">
              <a:solidFill>
                <a:srgbClr val="6699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               	&lt;html&gt;</a:t>
            </a:r>
            <a:endParaRPr b="1" sz="1350">
              <a:solidFill>
                <a:srgbClr val="6699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         	    		"""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cd80c048e_0_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14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cd80c048e_0_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14</a:t>
            </a:r>
            <a:endParaRPr/>
          </a:p>
        </p:txBody>
      </p:sp>
      <p:sp>
        <p:nvSpPr>
          <p:cNvPr id="250" name="Google Shape;250;g31cd80c048e_0_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1</a:t>
            </a:r>
            <a:r>
              <a:rPr lang="ru">
                <a:solidFill>
                  <a:schemeClr val="dk1"/>
                </a:solidFill>
              </a:rPr>
              <a:t>. Стандартизирован Switch Expressions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. Records доступны в превью-режиме.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Записи заменяют классы, у которых есть состояние, но нет поведения. Проще говоря, есть поля, нет методов.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Пример.</a:t>
            </a:r>
            <a:endParaRPr b="1" sz="11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record Point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double 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double 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 };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Это класс, который содержит два значения типа double с именами x и y, к которым можно получить доступ, используя стандартные имена методов доступа getX и getY.</a:t>
            </a:r>
            <a:endParaRPr b="1"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f74761766_0_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14</a:t>
            </a:r>
            <a:endParaRPr/>
          </a:p>
        </p:txBody>
      </p:sp>
      <p:sp>
        <p:nvSpPr>
          <p:cNvPr id="256" name="Google Shape;256;g31f74761766_0_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Записи не могут расширять какой-либо </a:t>
            </a:r>
            <a:r>
              <a:rPr lang="ru" sz="1600">
                <a:solidFill>
                  <a:schemeClr val="dk1"/>
                </a:solidFill>
              </a:rPr>
              <a:t>другой </a:t>
            </a:r>
            <a:r>
              <a:rPr lang="ru" sz="1600">
                <a:solidFill>
                  <a:schemeClr val="dk1"/>
                </a:solidFill>
              </a:rPr>
              <a:t>класс или определять дополнительные переменные экземпляра.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Всё состояние в записи является final, поэтому нет сеттеров.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Если в конструкторе должно быть дополнительное поведение, то можно </a:t>
            </a:r>
            <a:r>
              <a:rPr lang="ru" sz="1600">
                <a:solidFill>
                  <a:schemeClr val="dk1"/>
                </a:solidFill>
              </a:rPr>
              <a:t>предоставить </a:t>
            </a:r>
            <a:r>
              <a:rPr lang="ru" sz="1600">
                <a:solidFill>
                  <a:schemeClr val="dk1"/>
                </a:solidFill>
              </a:rPr>
              <a:t>альтернативную реализацию конструктора: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record Range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min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 max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Range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throw new IllegalArgumentException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“Max must be &gt;= min”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Можно переопределить </a:t>
            </a:r>
            <a:r>
              <a:rPr lang="ru" sz="1600">
                <a:solidFill>
                  <a:schemeClr val="dk1"/>
                </a:solidFill>
              </a:rPr>
              <a:t>to</a:t>
            </a:r>
            <a:r>
              <a:rPr lang="ru" sz="1600">
                <a:solidFill>
                  <a:schemeClr val="dk1"/>
                </a:solidFill>
              </a:rPr>
              <a:t>String() или hashCode()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f74761766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14</a:t>
            </a:r>
            <a:endParaRPr/>
          </a:p>
        </p:txBody>
      </p:sp>
      <p:sp>
        <p:nvSpPr>
          <p:cNvPr id="262" name="Google Shape;262;g31f74761766_0_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3</a:t>
            </a:r>
            <a:r>
              <a:rPr lang="ru">
                <a:solidFill>
                  <a:schemeClr val="dk1"/>
                </a:solidFill>
              </a:rPr>
              <a:t>. Расширен оператор </a:t>
            </a:r>
            <a:r>
              <a:rPr lang="ru">
                <a:solidFill>
                  <a:schemeClr val="dk1"/>
                </a:solidFill>
              </a:rPr>
              <a:t>instanceof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Раньше. Недостаток - нужно использовать явное приведение типов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(o instanceof 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System.out.println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В JDK 14 стало возможным указывать имя переменной рядом с проверяемым типом,а далее эту переменную можно использовать без явного приведения типа: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 instanceof String 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System.out.println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1f74761766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14</a:t>
            </a:r>
            <a:endParaRPr/>
          </a:p>
        </p:txBody>
      </p:sp>
      <p:sp>
        <p:nvSpPr>
          <p:cNvPr id="268" name="Google Shape;268;g31f74761766_0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4</a:t>
            </a:r>
            <a:r>
              <a:rPr lang="ru">
                <a:solidFill>
                  <a:schemeClr val="dk1"/>
                </a:solidFill>
              </a:rPr>
              <a:t>. Дружественный NullPointerExceptions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getMessage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getUserInfo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getName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ru" sz="1400">
                <a:solidFill>
                  <a:schemeClr val="dk1"/>
                </a:solidFill>
              </a:rPr>
              <a:t>Л</a:t>
            </a:r>
            <a:r>
              <a:rPr lang="ru" sz="1400">
                <a:solidFill>
                  <a:schemeClr val="dk1"/>
                </a:solidFill>
              </a:rPr>
              <a:t>ог ошибки д</a:t>
            </a:r>
            <a:r>
              <a:rPr lang="ru" sz="1400">
                <a:solidFill>
                  <a:schemeClr val="dk1"/>
                </a:solidFill>
              </a:rPr>
              <a:t>о Java 14 не отвечает на вопрос, “кто именно null?”: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Exception in thread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"main"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java.lang.NullPointerException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at Main.main(Main.java:12)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ru" sz="1400">
                <a:solidFill>
                  <a:schemeClr val="dk1"/>
                </a:solidFill>
              </a:rPr>
              <a:t>Java 14: </a:t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Exception in thread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"main"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java.lang.NullPointerException: Cannot invoke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"UserInfo().getName()"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because the return value of 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"Message().getUserInfo()"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is null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at Main.main(Main.java:12)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f74761766_0_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15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1f74761766_0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15</a:t>
            </a:r>
            <a:endParaRPr/>
          </a:p>
        </p:txBody>
      </p:sp>
      <p:sp>
        <p:nvSpPr>
          <p:cNvPr id="279" name="Google Shape;279;g31f74761766_0_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</a:t>
            </a:r>
            <a:r>
              <a:rPr lang="ru">
                <a:solidFill>
                  <a:schemeClr val="dk1"/>
                </a:solidFill>
              </a:rPr>
              <a:t>. Стандартизированы т</a:t>
            </a:r>
            <a:r>
              <a:rPr lang="ru">
                <a:solidFill>
                  <a:schemeClr val="dk1"/>
                </a:solidFill>
              </a:rPr>
              <a:t>екстовые блоки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2. Запечатанные классы </a:t>
            </a:r>
            <a:r>
              <a:rPr lang="ru">
                <a:solidFill>
                  <a:schemeClr val="dk1"/>
                </a:solidFill>
              </a:rPr>
              <a:t>позволят</a:t>
            </a:r>
            <a:r>
              <a:rPr lang="ru">
                <a:solidFill>
                  <a:schemeClr val="dk1"/>
                </a:solidFill>
              </a:rPr>
              <a:t> клиентскому коду понимать, какие подклассы разрешены.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sealed interface Shape permits Rectangle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Circle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record Rectangle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width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 height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implements Shape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{}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record Circle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radius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implements Shape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f74761766_0_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16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1fb56da353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16</a:t>
            </a:r>
            <a:endParaRPr/>
          </a:p>
        </p:txBody>
      </p:sp>
      <p:sp>
        <p:nvSpPr>
          <p:cNvPr id="290" name="Google Shape;290;g31fb56da353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З</a:t>
            </a:r>
            <a:r>
              <a:rPr lang="ru">
                <a:solidFill>
                  <a:schemeClr val="dk1"/>
                </a:solidFill>
              </a:rPr>
              <a:t>авершает сопоставление шаблонов для instanceof и Record, языковых улучшений, впервые появившихся в Java 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fb56da353_0_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17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fb56da353_0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17</a:t>
            </a:r>
            <a:endParaRPr/>
          </a:p>
        </p:txBody>
      </p:sp>
      <p:sp>
        <p:nvSpPr>
          <p:cNvPr id="301" name="Google Shape;301;g31fb56da353_0_15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1. </a:t>
            </a:r>
            <a:r>
              <a:rPr lang="ru">
                <a:solidFill>
                  <a:schemeClr val="dk1"/>
                </a:solidFill>
              </a:rPr>
              <a:t>Запечатанный класс (интерфейс)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sealed class Person permits Student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Teacher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Curator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500">
                <a:solidFill>
                  <a:schemeClr val="dk1"/>
                </a:solidFill>
              </a:rPr>
              <a:t>Классы Student, Teacher и Curator должны быть в том же пакете или модуле, что и Person. Кроме этого, у них обязательно должен быть один из модификаторов: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final, если класс запрещён к дальнейшему наследованию</a:t>
            </a:r>
            <a:endParaRPr sz="15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final class Student extends Person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sealed, если наследование допустимо, но с заранее указанным списком наследников</a:t>
            </a:r>
            <a:endParaRPr sz="15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sealed class Teacher extends Person permits MathTeacher, LanguageTeacher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non-sealed, когда для класса нужно снять любые ограничения по наследованию</a:t>
            </a:r>
            <a:endParaRPr sz="15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non-sealed class Curator extends Person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sz="1300">
              <a:solidFill>
                <a:srgbClr val="F8F8F8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record по умолчанию final, поэтому ограничения класса sealed соблюдены</a:t>
            </a:r>
            <a:br>
              <a:rPr lang="ru" sz="1500">
                <a:solidFill>
                  <a:schemeClr val="dk1"/>
                </a:solidFill>
              </a:rPr>
            </a:b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record Student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name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implements Person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sz="1300">
              <a:solidFill>
                <a:srgbClr val="7C7C7C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fb56da353_0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17</a:t>
            </a:r>
            <a:endParaRPr/>
          </a:p>
        </p:txBody>
      </p:sp>
      <p:sp>
        <p:nvSpPr>
          <p:cNvPr id="307" name="Google Shape;307;g31fb56da353_0_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2. Паттерн-матчинг для switch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 sz="1600">
                <a:solidFill>
                  <a:schemeClr val="dk1"/>
                </a:solidFill>
              </a:rPr>
              <a:t>О</a:t>
            </a:r>
            <a:r>
              <a:rPr lang="ru" sz="1600">
                <a:solidFill>
                  <a:schemeClr val="dk1"/>
                </a:solidFill>
              </a:rPr>
              <a:t>ператор switch поддерживает не только простые тесты на равенство с константами примитивов, перечислений и строк, но и тесты по паттернам.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Object o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switch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Integer i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"int %d"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Long l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"long %d"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Double d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"double %f"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String s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"String %s"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default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Подробнее </a:t>
            </a:r>
            <a:r>
              <a:rPr lang="ru" sz="1600" u="sng">
                <a:solidFill>
                  <a:schemeClr val="hlink"/>
                </a:solidFill>
                <a:hlinkClick r:id="rId3"/>
              </a:rPr>
              <a:t>https://habr.com/ru/articles/577924/</a:t>
            </a:r>
            <a:r>
              <a:rPr lang="ru" sz="1600">
                <a:solidFill>
                  <a:schemeClr val="dk1"/>
                </a:solidFill>
              </a:rPr>
              <a:t> 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1fb56da353_0_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17</a:t>
            </a:r>
            <a:endParaRPr/>
          </a:p>
        </p:txBody>
      </p:sp>
      <p:sp>
        <p:nvSpPr>
          <p:cNvPr id="313" name="Google Shape;313;g31fb56da353_0_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3. Новый пакет java.util.random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lang="ru" sz="1400">
                <a:solidFill>
                  <a:schemeClr val="dk1"/>
                </a:solidFill>
              </a:rPr>
              <a:t>Новые интерфейсы и реализации генераторов псевдослучайных чисел.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1400">
                <a:solidFill>
                  <a:schemeClr val="dk1"/>
                </a:solidFill>
              </a:rPr>
              <a:t>Наверху иерархии - новый интерфейс </a:t>
            </a:r>
            <a:r>
              <a:rPr lang="ru" sz="1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RandomGenerator</a:t>
            </a:r>
            <a:r>
              <a:rPr lang="ru" sz="1400">
                <a:solidFill>
                  <a:schemeClr val="dk1"/>
                </a:solidFill>
              </a:rPr>
              <a:t>, который является родителем как новых генераторов и специализаций (</a:t>
            </a:r>
            <a:r>
              <a:rPr lang="ru" sz="14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SplittableRandomGenerator</a:t>
            </a:r>
            <a:r>
              <a:rPr lang="ru" sz="1400">
                <a:solidFill>
                  <a:schemeClr val="dk1"/>
                </a:solidFill>
              </a:rPr>
              <a:t>, </a:t>
            </a:r>
            <a:r>
              <a:rPr lang="ru" sz="14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JumpableRandomGenerator</a:t>
            </a:r>
            <a:r>
              <a:rPr lang="ru" sz="1400">
                <a:solidFill>
                  <a:schemeClr val="dk1"/>
                </a:solidFill>
              </a:rPr>
              <a:t>, </a:t>
            </a:r>
            <a:r>
              <a:rPr lang="ru" sz="14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LeapableRandomGenerator</a:t>
            </a:r>
            <a:r>
              <a:rPr lang="ru" sz="1400">
                <a:solidFill>
                  <a:schemeClr val="dk1"/>
                </a:solidFill>
              </a:rPr>
              <a:t>, </a:t>
            </a:r>
            <a:r>
              <a:rPr lang="ru" sz="14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ArbitrarilyJumpableRandomGenerator</a:t>
            </a:r>
            <a:r>
              <a:rPr lang="ru" sz="1400">
                <a:solidFill>
                  <a:schemeClr val="dk1"/>
                </a:solidFill>
              </a:rPr>
              <a:t>), так и старых классов (</a:t>
            </a:r>
            <a:r>
              <a:rPr lang="ru" sz="14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Random</a:t>
            </a:r>
            <a:r>
              <a:rPr lang="ru" sz="1400">
                <a:solidFill>
                  <a:schemeClr val="dk1"/>
                </a:solidFill>
              </a:rPr>
              <a:t>, </a:t>
            </a:r>
            <a:r>
              <a:rPr lang="ru" sz="14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ThreadLocalRandom</a:t>
            </a:r>
            <a:r>
              <a:rPr lang="ru" sz="1400">
                <a:solidFill>
                  <a:schemeClr val="dk1"/>
                </a:solidFill>
              </a:rPr>
              <a:t>, </a:t>
            </a:r>
            <a:r>
              <a:rPr lang="ru" sz="14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SplittableRandom</a:t>
            </a:r>
            <a:r>
              <a:rPr lang="ru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RandomGenerator random1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new Random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90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RandomGenerator random2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ThreadLocalRandom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current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905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RandomGenerator random3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RandomGenerator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getDefault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4. API аплетов, которое стало deprecated в Java 9, теперь стало помечено как подлежащее окончательному удалению.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fb56da353_0_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18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203cd617d9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18</a:t>
            </a:r>
            <a:endParaRPr/>
          </a:p>
        </p:txBody>
      </p:sp>
      <p:sp>
        <p:nvSpPr>
          <p:cNvPr id="324" name="Google Shape;324;g3203cd617d9_0_0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1. Кодировка UTF-8 по умолчанию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2. Добавлен новый тег @snippet, который используется в комментариях к коду. Если пометить им часть комментария, то компилятор будет валидировать его и оформлять как если бы это был реальный код.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3. </a:t>
            </a:r>
            <a:r>
              <a:rPr lang="ru">
                <a:solidFill>
                  <a:schemeClr val="dk1"/>
                </a:solidFill>
              </a:rPr>
              <a:t>Паттерн-матчинг для switch обновили. Константные паттерны должны находиться выше, чем паттерны с условиями того же типа</a:t>
            </a:r>
            <a:endParaRPr sz="15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3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// д.б. выше остальных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Integer i &amp;&amp; bar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Integer i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{}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203cd617d9_0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19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03cd617d9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19</a:t>
            </a:r>
            <a:endParaRPr/>
          </a:p>
        </p:txBody>
      </p:sp>
      <p:sp>
        <p:nvSpPr>
          <p:cNvPr id="335" name="Google Shape;335;g3203cd617d9_0_16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</a:t>
            </a:r>
            <a:r>
              <a:rPr lang="ru">
                <a:solidFill>
                  <a:schemeClr val="dk1"/>
                </a:solidFill>
              </a:rPr>
              <a:t>. Паттерн-матчинг для switch обновили.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О</a:t>
            </a:r>
            <a:r>
              <a:rPr lang="ru">
                <a:solidFill>
                  <a:schemeClr val="dk1"/>
                </a:solidFill>
              </a:rPr>
              <a:t>хранные паттерны &amp;&amp; были заменены на условия when</a:t>
            </a:r>
            <a:endParaRPr sz="15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--enable-preview --release 18: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Integer x &amp;&amp; x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...;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default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...;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--enable-preview --release 19: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Integer x when x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...;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default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...;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03cd617d9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19</a:t>
            </a:r>
            <a:endParaRPr/>
          </a:p>
        </p:txBody>
      </p:sp>
      <p:sp>
        <p:nvSpPr>
          <p:cNvPr id="341" name="Google Shape;341;g3203cd617d9_0_21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1. Паттерн-матчинг для switch обновили.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null матчится только в ветке case null</a:t>
            </a:r>
            <a:endParaRPr sz="15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--enable-preview --release 18: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Object obj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Object x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...; // matches because total pattern, в 19 будет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NPE 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--enable-preview --release 19: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Object obj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null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...; // OK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case Object x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...; 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203cd617d9_0_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19</a:t>
            </a:r>
            <a:endParaRPr/>
          </a:p>
        </p:txBody>
      </p:sp>
      <p:sp>
        <p:nvSpPr>
          <p:cNvPr id="347" name="Google Shape;347;g3203cd617d9_0_26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. Паттерн записей - instanceof для записей</a:t>
            </a:r>
            <a:endParaRPr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record Point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int 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в прошлых версиях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void printSum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Object o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 instanceof Point p) {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int 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p.x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p.y()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+ 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С паттернами записей код становится компактнее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void printSum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Object o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 instanceof Point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+ 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203cd617d9_0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19</a:t>
            </a:r>
            <a:endParaRPr/>
          </a:p>
        </p:txBody>
      </p:sp>
      <p:sp>
        <p:nvSpPr>
          <p:cNvPr id="353" name="Google Shape;353;g3203cd617d9_0_31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3</a:t>
            </a:r>
            <a:r>
              <a:rPr lang="ru">
                <a:solidFill>
                  <a:schemeClr val="dk1"/>
                </a:solidFill>
              </a:rPr>
              <a:t>. В</a:t>
            </a:r>
            <a:r>
              <a:rPr lang="ru">
                <a:solidFill>
                  <a:schemeClr val="dk1"/>
                </a:solidFill>
              </a:rPr>
              <a:t>иртуальные потоки в режиме preview</a:t>
            </a:r>
            <a:endParaRPr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</a:pPr>
            <a:r>
              <a:rPr lang="ru" sz="1600">
                <a:solidFill>
                  <a:schemeClr val="dk1"/>
                </a:solidFill>
              </a:rPr>
              <a:t>Для создания виртуальных потоков и работы с ними появилось следующее API:</a:t>
            </a:r>
            <a:endParaRPr sz="16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Thread.Builder – билдер потоков. Например, виртуальный поток можно создать путём вызова Thread.ofVirtual().name("name").unstarted(runnable).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Thread.startVirtualThread(Runnable) – создаёт и сразу же запускает виртуальный поток.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Thread.isVirtual() – проверяет, является ли поток виртуальным.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Executors.newVirtualThreadPerTaskExecutor() – возвращает исполнитель, который создаёт новый виртуальный поток на каждую задачу.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03cd617d9_0_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19</a:t>
            </a:r>
            <a:endParaRPr/>
          </a:p>
        </p:txBody>
      </p:sp>
      <p:sp>
        <p:nvSpPr>
          <p:cNvPr id="359" name="Google Shape;359;g3203cd617d9_0_36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4</a:t>
            </a:r>
            <a:r>
              <a:rPr lang="ru">
                <a:solidFill>
                  <a:schemeClr val="dk1"/>
                </a:solidFill>
              </a:rPr>
              <a:t>. Н</a:t>
            </a:r>
            <a:r>
              <a:rPr lang="ru">
                <a:solidFill>
                  <a:schemeClr val="dk1"/>
                </a:solidFill>
              </a:rPr>
              <a:t>овое API для Structured Concurrency (пока в jdk.incubator.concurrent)</a:t>
            </a:r>
            <a:endParaRPr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Structured Concurrency – это подход многопоточного программирования, который заимствует принципы из однопоточного структурного программирования. </a:t>
            </a:r>
            <a:endParaRPr sz="1600"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Главная идея такого подхода: если задача расщепляется на несколько конкурентных подзадач, то эти подзадачи </a:t>
            </a:r>
            <a:r>
              <a:rPr lang="ru" sz="1600">
                <a:solidFill>
                  <a:schemeClr val="dk1"/>
                </a:solidFill>
              </a:rPr>
              <a:t>вос</a:t>
            </a:r>
            <a:r>
              <a:rPr lang="ru" sz="1600">
                <a:solidFill>
                  <a:schemeClr val="dk1"/>
                </a:solidFill>
              </a:rPr>
              <a:t>соединяются в блоке кода главной задачи. </a:t>
            </a:r>
            <a:endParaRPr sz="1600"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Все подзадачи логически сгруппированы и организованы в иерархию. Каждая подзадача ограничена по времени жизни областью видимости блока кода главной задачи.</a:t>
            </a:r>
            <a:endParaRPr sz="1600"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Основной класс - StructuredTaskScope.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203cd617d9_0_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19</a:t>
            </a:r>
            <a:endParaRPr/>
          </a:p>
        </p:txBody>
      </p:sp>
      <p:sp>
        <p:nvSpPr>
          <p:cNvPr id="365" name="Google Shape;365;g3203cd617d9_0_47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400">
                <a:solidFill>
                  <a:schemeClr val="dk1"/>
                </a:solidFill>
              </a:rPr>
              <a:t>Пример использования StructuredTaskScope. Задача, которая параллельно запускает две подзадачи и дожидается результата их выполнения</a:t>
            </a:r>
            <a:endParaRPr sz="1400"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try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 scope = new StructuredTaskScope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ShutdownOnFailure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Future&lt;String&gt; user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scope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fork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findUser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Future&lt;Integer&gt; order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scope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fork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fetchOrder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scope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           // Join both forks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scope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throwIfFailed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();  // ... and propagate errors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new Response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resultNow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order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resultNow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Время жизни всех потоков подзадач ограничено областью видимости блока try-with-resources. Метод close() гарантированно не завершится, пока не завершатся все подзадачи.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Если одна из операций findUser() и fetchOrder() завершается ошибкой, то другая операция отменяется автоматически, если ещё не завершена (в случае политики ShutdownOnFailure, возможны другие политики).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Если главный поток прерывается в процессе ожидания join(), то обе операции findUser() и fetchOrder() отменяются.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 дампе потоков будет видна иерархия: потоки, выполняющие findUser() и fetchOrder(), будут отображаться как дочерние для главного потока.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203cd617d9_0_5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20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03cd617d9_0_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20</a:t>
            </a:r>
            <a:endParaRPr/>
          </a:p>
        </p:txBody>
      </p:sp>
      <p:sp>
        <p:nvSpPr>
          <p:cNvPr id="376" name="Google Shape;376;g3203cd617d9_0_56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1. </a:t>
            </a:r>
            <a:r>
              <a:rPr lang="ru">
                <a:solidFill>
                  <a:schemeClr val="dk1"/>
                </a:solidFill>
              </a:rPr>
              <a:t>Паттерн записей - instanceof для записей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Добавилась поддержка вывода типов в записях-дженериках</a:t>
            </a:r>
            <a:endParaRPr sz="16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record Box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&gt;(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{}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void test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box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box instanceof Box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 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 { // Выводится Box&lt;String&gt;(var s)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"String 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Записи можно использовать в заголовке улучшенного цикла for, но в Java 21 это отменили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Исчезла поддержка именованных паттернов записей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 instanceof Point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 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var 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 // Syntax error из-за имени p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...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203cd617d9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20</a:t>
            </a:r>
            <a:endParaRPr/>
          </a:p>
        </p:txBody>
      </p:sp>
      <p:sp>
        <p:nvSpPr>
          <p:cNvPr id="382" name="Google Shape;382;g3203cd617d9_0_61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2</a:t>
            </a:r>
            <a:r>
              <a:rPr lang="ru">
                <a:solidFill>
                  <a:schemeClr val="dk1"/>
                </a:solidFill>
              </a:rPr>
              <a:t>. </a:t>
            </a:r>
            <a:r>
              <a:rPr lang="ru">
                <a:solidFill>
                  <a:schemeClr val="dk1"/>
                </a:solidFill>
              </a:rPr>
              <a:t>Паттерн-матчинг для switch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Добавилась поддержка вывода типов в записях-дженериках, если они являются паттернами в switch</a:t>
            </a:r>
            <a:endParaRPr sz="1600">
              <a:solidFill>
                <a:schemeClr val="dk1"/>
              </a:solidFill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record Pair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S,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&gt;(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 first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second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void recordInference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Pair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pair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pair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case Pair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snd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1" lang="ru" sz="1350">
                <a:solidFill>
                  <a:srgbClr val="A67F59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... // Выводится Pair&lt;String, Integer&gt;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    ...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Исчерпывающий switch по перечислениям теперь выбрасывает MatchException, а не IncompatibleClassChangeError, если ни одна из меток switch не сматчилась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203cd617d9_0_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Java 21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203cd617d9_0_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/>
              <a:t>Java 21</a:t>
            </a:r>
            <a:endParaRPr/>
          </a:p>
        </p:txBody>
      </p:sp>
      <p:sp>
        <p:nvSpPr>
          <p:cNvPr id="393" name="Google Shape;393;g3203cd617d9_0_70"/>
          <p:cNvSpPr txBox="1"/>
          <p:nvPr>
            <p:ph idx="1" type="body"/>
          </p:nvPr>
        </p:nvSpPr>
        <p:spPr>
          <a:xfrm>
            <a:off x="311700" y="1152475"/>
            <a:ext cx="85206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1. Паттерн записей - instanceof для записей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Добавилась поддержка вывода типов в записях-дженериках</a:t>
            </a:r>
            <a:endParaRPr sz="1600">
              <a:solidFill>
                <a:schemeClr val="dk1"/>
              </a:solidFill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record Box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&gt;(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 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{}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void test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box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box instanceof Box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 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)) { // Выводится Box&lt;String&gt;(var s)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"String "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s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3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Записи можно использовать в заголовке улучшенного цикла for, но в Java 21 это отменили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Исчезла поддержка именованных паттернов записей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obj instanceof Point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 x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var y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) { // Syntax error из-за имени p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...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5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35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