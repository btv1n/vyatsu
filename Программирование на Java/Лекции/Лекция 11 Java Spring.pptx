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9144000"/>
  <p:notesSz cx="6858000" cy="9144000"/>
  <p:embeddedFontLst>
    <p:embeddedFont>
      <p:font typeface="Vidaloka"/>
      <p:regular r:id="rId31"/>
    </p:embeddedFont>
    <p:embeddedFont>
      <p:font typeface="Arial Black"/>
      <p:regular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gHntHBnzLKqZw6aJMKRuNBrmhq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Vidaloka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ArialBlack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0dc21b89c1_0_57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2" name="Google Shape;62;g30dc21b89c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8fcdafc21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g368fcdafc2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g368fcdafc21_0_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1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0dc21b89c1_0_2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6" name="Google Shape;106;g30dc21b89c1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0dc21b89c1_0_213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0dc21b89c1_0_2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3" name="Google Shape;113;g30dc21b89c1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30dc21b89c1_0_239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0dc21b89c1_0_2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0" name="Google Shape;120;g30dc21b89c1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0dc21b89c1_0_269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0dc21b89c1_0_2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6" name="Google Shape;126;g30dc21b89c1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30dc21b89c1_0_27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0dc21b89c1_0_2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2" name="Google Shape;132;g30dc21b89c1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Thread - это абстракция над физическим потоком.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Runnable - это абстракция над выполняемой задачей.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Плюс использования Runnable состоит в том, что это позволяет логически отделить выполнение задачи от логики управления потоками.</a:t>
            </a:r>
            <a:endParaRPr/>
          </a:p>
        </p:txBody>
      </p:sp>
      <p:sp>
        <p:nvSpPr>
          <p:cNvPr id="133" name="Google Shape;133;g30dc21b89c1_0_263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dc21b89c1_0_2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8" name="Google Shape;138;g30dc21b89c1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30dc21b89c1_0_28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0dc21b89c1_0_3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6" name="Google Shape;146;g30dc21b89c1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0dc21b89c1_0_301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0dc21b89c1_0_3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2" name="Google Shape;152;g30dc21b89c1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0dc21b89c1_0_317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9b106d7d2_0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9b106d7d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Примеры запросов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244475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"/>
              <a:buChar char="●"/>
            </a:pPr>
            <a:r>
              <a:rPr lang="en-US" sz="700">
                <a:solidFill>
                  <a:schemeClr val="dk1"/>
                </a:solidFill>
              </a:rPr>
              <a:t>curl -X POST  "localhost:8080/api/students/add" -H "Content-Type: application/json" -d '{\"name\":\"Ivanov\", \"age\":19}'</a:t>
            </a:r>
            <a:endParaRPr sz="700">
              <a:solidFill>
                <a:schemeClr val="dk1"/>
              </a:solidFill>
            </a:endParaRPr>
          </a:p>
          <a:p>
            <a:pPr indent="-2444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"/>
              <a:buChar char="●"/>
            </a:pPr>
            <a:r>
              <a:rPr lang="en-US" sz="700">
                <a:solidFill>
                  <a:schemeClr val="dk1"/>
                </a:solidFill>
              </a:rPr>
              <a:t> curl -X GET  "localhost:8080/api/students"</a:t>
            </a:r>
            <a:endParaRPr sz="700">
              <a:solidFill>
                <a:schemeClr val="dk1"/>
              </a:solidFill>
            </a:endParaRPr>
          </a:p>
          <a:p>
            <a:pPr indent="-2444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"/>
              <a:buChar char="●"/>
            </a:pPr>
            <a:r>
              <a:rPr lang="en-US" sz="700">
                <a:solidFill>
                  <a:schemeClr val="dk1"/>
                </a:solidFill>
              </a:rPr>
              <a:t> curl -X GET  "localhost:8080/api/students/1"</a:t>
            </a:r>
            <a:endParaRPr sz="700">
              <a:solidFill>
                <a:schemeClr val="dk1"/>
              </a:solidFill>
            </a:endParaRPr>
          </a:p>
          <a:p>
            <a:pPr indent="-2444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"/>
              <a:buChar char="●"/>
            </a:pPr>
            <a:r>
              <a:rPr lang="en-US" sz="700">
                <a:solidFill>
                  <a:schemeClr val="dk1"/>
                </a:solidFill>
              </a:rPr>
              <a:t>curl -X PUT  "localhost:8080/api/students/1" -H "Content-Type: application/json" -d '{\"name\":\"Kotov\", \"age\":17}'</a:t>
            </a:r>
            <a:endParaRPr sz="700">
              <a:solidFill>
                <a:schemeClr val="dk1"/>
              </a:solidFill>
            </a:endParaRPr>
          </a:p>
          <a:p>
            <a:pPr indent="-2444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"/>
              <a:buChar char="●"/>
            </a:pPr>
            <a:r>
              <a:rPr lang="en-US" sz="700">
                <a:solidFill>
                  <a:schemeClr val="dk1"/>
                </a:solidFill>
              </a:rPr>
              <a:t>curl -X DELETE  "localhost:8080/api/students/2"</a:t>
            </a:r>
            <a:endParaRPr sz="700"/>
          </a:p>
        </p:txBody>
      </p:sp>
      <p:sp>
        <p:nvSpPr>
          <p:cNvPr id="159" name="Google Shape;159;g3a9b106d7d2_0_2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0dc21b89c1_0_3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5" name="Google Shape;165;g30dc21b89c1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30dc21b89c1_0_354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1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b6283b36d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6" name="Google Shape;186;g3ab6283b36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ab6283b36d_0_1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b6283b36d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3" name="Google Shape;193;g3ab6283b36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Фреймворк предоставляет набор инструментов, библиотек и стандартных правил, которые помогают разработчикам ускорить процесс разработки, не создавая всё с нуля. Фреймворк задает общую архитектуру проекта, а программист дополняет его своим собственным кодом, адаптируя под конкретные задачи.</a:t>
            </a:r>
            <a:endParaRPr/>
          </a:p>
        </p:txBody>
      </p:sp>
      <p:sp>
        <p:nvSpPr>
          <p:cNvPr id="194" name="Google Shape;194;g3ab6283b36d_0_7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b6283b36d_0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0" name="Google Shape;200;g3ab6283b36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ab6283b36d_0_13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b6283b36d_0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7" name="Google Shape;207;g3ab6283b36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Spring Boot — это расширение, которое делает работу со Spring Framework более простой, быстрой и эффективной. 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Spring Boot — это инструмент по умолчанию для большинства современных задач разработки на Java. Он значительно повышает продуктивность и является стандартом в индустрии.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solidFill>
                  <a:schemeClr val="dk1"/>
                </a:solidFill>
              </a:rPr>
              <a:t>Spring Boot — это </a:t>
            </a:r>
            <a:r>
              <a:rPr lang="en-US" sz="1100"/>
              <a:t>стандарт де-факто для современных Java-приложений.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</p:txBody>
      </p:sp>
      <p:sp>
        <p:nvSpPr>
          <p:cNvPr id="208" name="Google Shape;208;g3ab6283b36d_0_19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b6283b36d_0_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5" name="Google Shape;225;g3ab6283b36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g3ab6283b36d_0_3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b6283b36d_0_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2" name="Google Shape;232;g3ab6283b36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g3ab6283b36d_0_42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b6283b36d_0_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9" name="Google Shape;239;g3ab6283b36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g3ab6283b36d_0_4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0dc21b89c1_0_14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0dc21b89c1_0_14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0dc21b89c1_0_1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0dc21b89c1_0_14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g30dc21b89c1_0_14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g30dc21b89c1_0_14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0dc21b89c1_0_183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g30dc21b89c1_0_183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20040" lvl="1" marL="914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440"/>
              <a:buChar char="○"/>
              <a:defRPr/>
            </a:lvl2pPr>
            <a:lvl3pPr indent="-302894" lvl="2" marL="1371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4" name="Google Shape;24;g30dc21b89c1_0_18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g30dc21b89c1_0_18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g30dc21b89c1_0_183"/>
          <p:cNvSpPr txBox="1"/>
          <p:nvPr>
            <p:ph idx="10" type="dt"/>
          </p:nvPr>
        </p:nvSpPr>
        <p:spPr>
          <a:xfrm>
            <a:off x="457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0dc21b89c1_0_146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" name="Google Shape;29;g30dc21b89c1_0_14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0dc21b89c1_0_15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g30dc21b89c1_0_153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g30dc21b89c1_0_153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g30dc21b89c1_0_15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0dc21b89c1_0_15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g30dc21b89c1_0_15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0dc21b89c1_0_161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g30dc21b89c1_0_161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g30dc21b89c1_0_16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0dc21b89c1_0_165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g30dc21b89c1_0_16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0dc21b89c1_0_168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30dc21b89c1_0_168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g30dc21b89c1_0_168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g30dc21b89c1_0_168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g30dc21b89c1_0_16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0dc21b89c1_0_174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3" name="Google Shape;53;g30dc21b89c1_0_17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0dc21b89c1_0_177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g30dc21b89c1_0_177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g30dc21b89c1_0_17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0dc21b89c1_0_18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0dc21b89c1_0_13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0dc21b89c1_0_13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0dc21b89c1_0_1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Relationship Id="rId5" Type="http://schemas.openxmlformats.org/officeDocument/2006/relationships/image" Target="../media/image18.png"/><Relationship Id="rId6" Type="http://schemas.openxmlformats.org/officeDocument/2006/relationships/image" Target="../media/image29.png"/><Relationship Id="rId7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dc21b89c1_0_57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Лекция 11</a:t>
            </a:r>
            <a:endParaRPr/>
          </a:p>
        </p:txBody>
      </p:sp>
      <p:sp>
        <p:nvSpPr>
          <p:cNvPr id="65" name="Google Shape;65;g30dc21b89c1_0_57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Java Spring</a:t>
            </a:r>
            <a:endParaRPr/>
          </a:p>
        </p:txBody>
      </p:sp>
      <p:pic>
        <p:nvPicPr>
          <p:cNvPr id="66" name="Google Shape;66;g30dc21b89c1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121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8fcdafc21_0_8"/>
          <p:cNvSpPr txBox="1"/>
          <p:nvPr>
            <p:ph type="title"/>
          </p:nvPr>
        </p:nvSpPr>
        <p:spPr>
          <a:xfrm>
            <a:off x="457200" y="4572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000"/>
              <a:t>https://start.spring.io/</a:t>
            </a:r>
            <a:endParaRPr b="1" sz="3000"/>
          </a:p>
        </p:txBody>
      </p:sp>
      <p:pic>
        <p:nvPicPr>
          <p:cNvPr id="73" name="Google Shape;73;g368fcdafc21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0575" y="680902"/>
            <a:ext cx="3890275" cy="5769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g368fcdafc21_0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250" y="1525500"/>
            <a:ext cx="4886325" cy="463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/>
          <p:nvPr>
            <p:ph type="title"/>
          </p:nvPr>
        </p:nvSpPr>
        <p:spPr>
          <a:xfrm>
            <a:off x="457200" y="4572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000"/>
              <a:t>Пустой проект. Открыть и запустить</a:t>
            </a:r>
            <a:endParaRPr b="1" sz="3000"/>
          </a:p>
        </p:txBody>
      </p:sp>
      <p:pic>
        <p:nvPicPr>
          <p:cNvPr id="81" name="Google Shape;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447800"/>
            <a:ext cx="8837681" cy="269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текст, снимок экрана, Шрифт&#10;&#10;Автоматически созданное описание" id="82" name="Google Shape;8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9625" y="3870349"/>
            <a:ext cx="6817176" cy="269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 txBox="1"/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000"/>
              <a:t>Создание первого контроллера</a:t>
            </a:r>
            <a:endParaRPr/>
          </a:p>
        </p:txBody>
      </p:sp>
      <p:pic>
        <p:nvPicPr>
          <p:cNvPr id="89" name="Google Shape;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600200"/>
            <a:ext cx="8844476" cy="440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текст, снимок экрана, Шрифт, число&#10;&#10;Автоматически созданное описание" id="90" name="Google Shape;9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3230" y="4739465"/>
            <a:ext cx="4797720" cy="18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 txBox="1"/>
          <p:nvPr>
            <p:ph type="title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000"/>
              <a:t>Структура проекта</a:t>
            </a:r>
            <a:endParaRPr b="1" sz="3000"/>
          </a:p>
        </p:txBody>
      </p:sp>
      <p:pic>
        <p:nvPicPr>
          <p:cNvPr id="97" name="Google Shape;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650" y="1247800"/>
            <a:ext cx="4329050" cy="534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38625"/>
            <a:ext cx="7918300" cy="584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30dc21b89c1_0_2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25" y="477450"/>
            <a:ext cx="8716297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0dc21b89c1_0_213"/>
          <p:cNvSpPr txBox="1"/>
          <p:nvPr>
            <p:ph idx="1" type="body"/>
          </p:nvPr>
        </p:nvSpPr>
        <p:spPr>
          <a:xfrm>
            <a:off x="223025" y="3298775"/>
            <a:ext cx="8781600" cy="3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JpaRepository - интерфейс из Spring Data JPA.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Предоставляет методы для взаимодействия с базой данных.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Он расширяет базовый CrudRepository и дает доступ к операциям над сущностью Student и автоматически управляет первичным ключом типа Long.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Spring Data JPA генерирует реализацию этого интерфейса, позволяя выполнять стандартные CRUD-операции (создание, чтение, обновление, удаление) и другие запросы, используя только методы интерфейса без написания SQL.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30dc21b89c1_0_2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250" y="491923"/>
            <a:ext cx="8875500" cy="282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0dc21b89c1_0_239"/>
          <p:cNvSpPr txBox="1"/>
          <p:nvPr>
            <p:ph idx="1" type="body"/>
          </p:nvPr>
        </p:nvSpPr>
        <p:spPr>
          <a:xfrm>
            <a:off x="223025" y="3920925"/>
            <a:ext cx="8781600" cy="25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Сервисный слой (service layer) в Spring-приложении является фундаментальной частью архитектуры, следующей принципам разделения ответственности (separation of concerns).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Сервис нужен для того, чтобы отделить бизнес-логику приложения от других его аспектов, таких как веб-взаимодействие (контроллеры) или работа с базой данных (репозитории).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g30dc21b89c1_0_2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8" y="514125"/>
            <a:ext cx="8929525" cy="51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g30dc21b89c1_0_2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375" y="543050"/>
            <a:ext cx="8833250" cy="557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30dc21b89c1_0_2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847084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0dc21b89c1_0_288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Подключение БД</a:t>
            </a:r>
            <a:endParaRPr b="1" sz="3000"/>
          </a:p>
        </p:txBody>
      </p:sp>
      <p:pic>
        <p:nvPicPr>
          <p:cNvPr descr="Изображение выглядит как текст, снимок экрана, Шрифт, число&#10;&#10;Автоматически созданное описание" id="142" name="Google Shape;142;g30dc21b89c1_0_2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15926"/>
            <a:ext cx="6165327" cy="2413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текст, снимок экрана, дисплей, программное обеспечение&#10;&#10;Автоматически созданное описание" id="143" name="Google Shape;143;g30dc21b89c1_0_288"/>
          <p:cNvPicPr preferRelativeResize="0"/>
          <p:nvPr/>
        </p:nvPicPr>
        <p:blipFill rotWithShape="1">
          <a:blip r:embed="rId4">
            <a:alphaModFix/>
          </a:blip>
          <a:srcRect b="-320" l="0" r="12341" t="0"/>
          <a:stretch/>
        </p:blipFill>
        <p:spPr>
          <a:xfrm>
            <a:off x="4932860" y="3303360"/>
            <a:ext cx="3932640" cy="3335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Изображение выглядит как текст, электроника, снимок экрана, программное обеспечение&#10;&#10;Автоматически созданное описание" id="149" name="Google Shape;149;g30dc21b89c1_0_3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485" y="260438"/>
            <a:ext cx="7192000" cy="648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Изображение выглядит как текст, снимок экрана, дисплей, Шрифт&#10;&#10;Автоматически созданное описание" id="155" name="Google Shape;155;g30dc21b89c1_0_3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550" y="521825"/>
            <a:ext cx="8735900" cy="483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9b106d7d2_0_2"/>
          <p:cNvSpPr txBox="1"/>
          <p:nvPr>
            <p:ph type="title"/>
          </p:nvPr>
        </p:nvSpPr>
        <p:spPr>
          <a:xfrm>
            <a:off x="457200" y="457200"/>
            <a:ext cx="8229600" cy="741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Тестирование с помощью curl</a:t>
            </a:r>
            <a:endParaRPr/>
          </a:p>
        </p:txBody>
      </p:sp>
      <p:pic>
        <p:nvPicPr>
          <p:cNvPr id="162" name="Google Shape;162;g3a9b106d7d2_0_2"/>
          <p:cNvPicPr preferRelativeResize="0"/>
          <p:nvPr/>
        </p:nvPicPr>
        <p:blipFill rotWithShape="1">
          <a:blip r:embed="rId3">
            <a:alphaModFix/>
          </a:blip>
          <a:srcRect b="0" l="0" r="8037" t="0"/>
          <a:stretch/>
        </p:blipFill>
        <p:spPr>
          <a:xfrm>
            <a:off x="357125" y="1198800"/>
            <a:ext cx="8429750" cy="5492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dc21b89c1_0_35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Swagger</a:t>
            </a:r>
            <a:endParaRPr b="1" sz="3000"/>
          </a:p>
        </p:txBody>
      </p:sp>
      <p:pic>
        <p:nvPicPr>
          <p:cNvPr id="169" name="Google Shape;169;g30dc21b89c1_0_3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768025"/>
            <a:ext cx="6474100" cy="394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0dc21b89c1_0_3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275" y="1819849"/>
            <a:ext cx="4863425" cy="61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0dc21b89c1_0_3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64407" y="282373"/>
            <a:ext cx="6397525" cy="132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5725875" cy="661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6485500" cy="656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b6283b36d_0_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3000"/>
              <a:t>Spring Framework</a:t>
            </a:r>
            <a:endParaRPr b="1" sz="3000"/>
          </a:p>
        </p:txBody>
      </p:sp>
      <p:sp>
        <p:nvSpPr>
          <p:cNvPr id="190" name="Google Shape;190;g3ab6283b36d_0_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Spring Framework - это популярный фреймворк с открытым исходным кодом для языка программирования Java, который используется для создания масштабируемых и надежных корпоративных приложений.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b6283b36d_0_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3000"/>
              <a:t>Особенности Spring</a:t>
            </a:r>
            <a:endParaRPr b="1" sz="3000"/>
          </a:p>
        </p:txBody>
      </p:sp>
      <p:sp>
        <p:nvSpPr>
          <p:cNvPr id="197" name="Google Shape;197;g3ab6283b36d_0_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500">
                <a:solidFill>
                  <a:schemeClr val="dk1"/>
                </a:solidFill>
              </a:rPr>
              <a:t>Фреймворк, а не библиотека</a:t>
            </a:r>
            <a:r>
              <a:rPr lang="en-US" sz="2500">
                <a:solidFill>
                  <a:schemeClr val="dk1"/>
                </a:solidFill>
              </a:rPr>
              <a:t>: Spring предоставляет готовую структуру и набор инструментов, которые задают правила разработки и помогают писать меньше рутинного (шаблонного) кода, позволяя сосредоточиться на бизнес-логике.</a:t>
            </a:r>
            <a:endParaRPr sz="2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500">
                <a:solidFill>
                  <a:schemeClr val="dk1"/>
                </a:solidFill>
              </a:rPr>
              <a:t>Универсальность</a:t>
            </a:r>
            <a:r>
              <a:rPr lang="en-US" sz="2500">
                <a:solidFill>
                  <a:schemeClr val="dk1"/>
                </a:solidFill>
              </a:rPr>
              <a:t>: С помощью Spring можно разрабатывать самые разные виды приложений: от простых веб-приложений и микросервисов до сложных корпоративных систем.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b6283b36d_0_1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3000"/>
              <a:t>Особенности Spring</a:t>
            </a:r>
            <a:endParaRPr b="1" sz="3000"/>
          </a:p>
        </p:txBody>
      </p:sp>
      <p:sp>
        <p:nvSpPr>
          <p:cNvPr id="204" name="Google Shape;204;g3ab6283b36d_0_1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500">
                <a:solidFill>
                  <a:schemeClr val="dk1"/>
                </a:solidFill>
              </a:rPr>
              <a:t>Модульная структура</a:t>
            </a:r>
            <a:r>
              <a:rPr lang="en-US" sz="2500">
                <a:solidFill>
                  <a:schemeClr val="dk1"/>
                </a:solidFill>
              </a:rPr>
              <a:t>: Spring состоит из различных модулей, таких как Spring Web, Spring Data JPA, Spring Security и других. Разработчики могут подключать только те модули, которые им необходимы для конкретной задачи.</a:t>
            </a:r>
            <a:endParaRPr sz="2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500">
                <a:solidFill>
                  <a:schemeClr val="dk1"/>
                </a:solidFill>
              </a:rPr>
              <a:t>Принцип IoC (инверсия управления)</a:t>
            </a:r>
            <a:r>
              <a:rPr lang="en-US" sz="2500">
                <a:solidFill>
                  <a:schemeClr val="dk1"/>
                </a:solidFill>
              </a:rPr>
              <a:t>: Это ключевой принцип Spring. Фреймворк берет на себя управление созданием объектов и их зависимостями (внедрение зависимостей), вместо того чтобы разработчик вручную создавал и связывал объекты между собой.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b6283b36d_0_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3000"/>
              <a:t>Основные проекты в экосистеме</a:t>
            </a:r>
            <a:endParaRPr b="1" sz="3000"/>
          </a:p>
        </p:txBody>
      </p:sp>
      <p:sp>
        <p:nvSpPr>
          <p:cNvPr id="211" name="Google Shape;211;g3ab6283b36d_0_19"/>
          <p:cNvSpPr txBox="1"/>
          <p:nvPr/>
        </p:nvSpPr>
        <p:spPr>
          <a:xfrm>
            <a:off x="777240" y="1594080"/>
            <a:ext cx="2336400" cy="540000"/>
          </a:xfrm>
          <a:prstGeom prst="rect">
            <a:avLst/>
          </a:prstGeom>
          <a:noFill/>
          <a:ln>
            <a:noFill/>
          </a:ln>
        </p:spPr>
        <p:txBody>
          <a:bodyPr anchorCtr="1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Vidaloka"/>
                <a:ea typeface="Vidaloka"/>
                <a:cs typeface="Vidaloka"/>
                <a:sym typeface="Vidaloka"/>
              </a:rPr>
              <a:t>Spring Boot​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ab6283b36d_0_19"/>
          <p:cNvSpPr txBox="1"/>
          <p:nvPr/>
        </p:nvSpPr>
        <p:spPr>
          <a:xfrm>
            <a:off x="3461040" y="1594080"/>
            <a:ext cx="2336400" cy="540000"/>
          </a:xfrm>
          <a:prstGeom prst="rect">
            <a:avLst/>
          </a:prstGeom>
          <a:noFill/>
          <a:ln>
            <a:noFill/>
          </a:ln>
        </p:spPr>
        <p:txBody>
          <a:bodyPr anchorCtr="1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Vidaloka"/>
                <a:ea typeface="Vidaloka"/>
                <a:cs typeface="Vidaloka"/>
                <a:sym typeface="Vidaloka"/>
              </a:rPr>
              <a:t>Spring Data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ab6283b36d_0_19"/>
          <p:cNvSpPr txBox="1"/>
          <p:nvPr/>
        </p:nvSpPr>
        <p:spPr>
          <a:xfrm>
            <a:off x="6144840" y="1594080"/>
            <a:ext cx="2336400" cy="540000"/>
          </a:xfrm>
          <a:prstGeom prst="rect">
            <a:avLst/>
          </a:prstGeom>
          <a:noFill/>
          <a:ln>
            <a:noFill/>
          </a:ln>
        </p:spPr>
        <p:txBody>
          <a:bodyPr anchorCtr="1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Vidaloka"/>
                <a:ea typeface="Vidaloka"/>
                <a:cs typeface="Vidaloka"/>
                <a:sym typeface="Vidaloka"/>
              </a:rPr>
              <a:t>Spring Web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ab6283b36d_0_19"/>
          <p:cNvSpPr txBox="1"/>
          <p:nvPr/>
        </p:nvSpPr>
        <p:spPr>
          <a:xfrm>
            <a:off x="777240" y="3775680"/>
            <a:ext cx="2336400" cy="540000"/>
          </a:xfrm>
          <a:prstGeom prst="rect">
            <a:avLst/>
          </a:prstGeom>
          <a:noFill/>
          <a:ln>
            <a:noFill/>
          </a:ln>
        </p:spPr>
        <p:txBody>
          <a:bodyPr anchorCtr="1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Vidaloka"/>
                <a:ea typeface="Vidaloka"/>
                <a:cs typeface="Vidaloka"/>
                <a:sym typeface="Vidaloka"/>
              </a:rPr>
              <a:t>Spring Cloud​</a:t>
            </a:r>
            <a:br>
              <a:rPr b="0" i="0" lang="en-US" sz="1800" u="none" cap="none" strike="noStrike"/>
            </a:b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ab6283b36d_0_19"/>
          <p:cNvSpPr txBox="1"/>
          <p:nvPr/>
        </p:nvSpPr>
        <p:spPr>
          <a:xfrm>
            <a:off x="3461040" y="3775680"/>
            <a:ext cx="2336400" cy="540000"/>
          </a:xfrm>
          <a:prstGeom prst="rect">
            <a:avLst/>
          </a:prstGeom>
          <a:noFill/>
          <a:ln>
            <a:noFill/>
          </a:ln>
        </p:spPr>
        <p:txBody>
          <a:bodyPr anchorCtr="1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Vidaloka"/>
                <a:ea typeface="Vidaloka"/>
                <a:cs typeface="Vidaloka"/>
                <a:sym typeface="Vidaloka"/>
              </a:rPr>
              <a:t>Spring Security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ab6283b36d_0_19"/>
          <p:cNvSpPr txBox="1"/>
          <p:nvPr/>
        </p:nvSpPr>
        <p:spPr>
          <a:xfrm>
            <a:off x="6144840" y="3775680"/>
            <a:ext cx="2336400" cy="540000"/>
          </a:xfrm>
          <a:prstGeom prst="rect">
            <a:avLst/>
          </a:prstGeom>
          <a:noFill/>
          <a:ln>
            <a:noFill/>
          </a:ln>
        </p:spPr>
        <p:txBody>
          <a:bodyPr anchorCtr="1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Vidaloka"/>
                <a:ea typeface="Vidaloka"/>
                <a:cs typeface="Vidaloka"/>
                <a:sym typeface="Vidaloka"/>
              </a:rPr>
              <a:t>Spring WebFlux​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Изображение выглядит как Графика, символ&#10;&#10;Автоматически созданное описание" id="217" name="Google Shape;217;g3ab6283b36d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9520" y="2224320"/>
            <a:ext cx="1129321" cy="1022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круг, Красочность&#10;&#10;Автоматически созданное описание" id="218" name="Google Shape;218;g3ab6283b36d_0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0880" y="2221920"/>
            <a:ext cx="933840" cy="1168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круг, Графика, символ, графическая вставка&#10;&#10;Автоматически созданное описание" id="219" name="Google Shape;219;g3ab6283b36d_0_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25320" y="4420320"/>
            <a:ext cx="811800" cy="1146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графическая вставка, Графика&#10;&#10;Автоматически созданное описание" id="220" name="Google Shape;220;g3ab6283b36d_0_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75040" y="4521120"/>
            <a:ext cx="1534680" cy="132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Графика, графический дизайн, графическая вставка, творческий подход&#10;&#10;Автоматически созданное описание" id="221" name="Google Shape;221;g3ab6283b36d_0_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55040" y="2176800"/>
            <a:ext cx="1110240" cy="1100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Графика, графический дизайн, графическая вставка, творческий подход&#10;&#10;Автоматически созданное описание" id="222" name="Google Shape;222;g3ab6283b36d_0_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55040" y="4394400"/>
            <a:ext cx="1110240" cy="1100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b6283b36d_0_3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3000"/>
              <a:t>Spring Boot​</a:t>
            </a:r>
            <a:endParaRPr b="1" sz="3000"/>
          </a:p>
        </p:txBody>
      </p:sp>
      <p:sp>
        <p:nvSpPr>
          <p:cNvPr id="229" name="Google Shape;229;g3ab6283b36d_0_36"/>
          <p:cNvSpPr txBox="1"/>
          <p:nvPr>
            <p:ph idx="1" type="body"/>
          </p:nvPr>
        </p:nvSpPr>
        <p:spPr>
          <a:xfrm>
            <a:off x="153325" y="1356875"/>
            <a:ext cx="8809500" cy="5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Упрощает создание приложений на основе Spring.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Предоставляет множество предустановленных конфигураций и функций, которые позволяют разработчикам быстро создавать и запускать автономные, производственные приложения.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Автоконфигурация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Стартеры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Встроенные веб-серверы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Управление зависимостями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Встроенные инструменты мониторинга и управления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Поддержка различных форматов конфигурации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b6283b36d_0_4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3000"/>
              <a:t>Spring Data</a:t>
            </a:r>
            <a:endParaRPr b="1" sz="3000"/>
          </a:p>
        </p:txBody>
      </p:sp>
      <p:sp>
        <p:nvSpPr>
          <p:cNvPr id="236" name="Google Shape;236;g3ab6283b36d_0_42"/>
          <p:cNvSpPr txBox="1"/>
          <p:nvPr>
            <p:ph idx="1" type="body"/>
          </p:nvPr>
        </p:nvSpPr>
        <p:spPr>
          <a:xfrm>
            <a:off x="153325" y="1356875"/>
            <a:ext cx="8809500" cy="5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Предоставляет абстракции и инструменты для упрощения доступа к различным типам хранилищ данных.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Основная цель — сделать работу с данными более удобной и эффективной, уменьшив количество шаблонного кода, который разработчикам приходится писать для выполнения операций с данными.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Абстракция над хранилищами данных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Репозитории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Запросы на основе методов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Поддержка транзакций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Поддержка различных хранилищ данных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События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b6283b36d_0_4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3000"/>
              <a:t>Spring Web</a:t>
            </a:r>
            <a:endParaRPr b="1" sz="3000"/>
          </a:p>
        </p:txBody>
      </p:sp>
      <p:sp>
        <p:nvSpPr>
          <p:cNvPr id="243" name="Google Shape;243;g3ab6283b36d_0_48"/>
          <p:cNvSpPr txBox="1"/>
          <p:nvPr>
            <p:ph idx="1" type="body"/>
          </p:nvPr>
        </p:nvSpPr>
        <p:spPr>
          <a:xfrm>
            <a:off x="153325" y="1356875"/>
            <a:ext cx="8809500" cy="5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Предназначен для разработки веб-приложений и RESTful API.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Предоставляет все необходимые инструменты и классы для создания веб-сайтов, взаимодействия с пользователями через HTTP-запросы и обмена данными через REST API.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Обработка HTTP-запросов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Контроллеры: Аннотация @RestController автоматически добавляет аннотацию @ResponseBody, что позволяет возвращать данные напрямую в формате JSON или XML.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Маршрутизация и URL-маршрутизация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Обработка и валидация данных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Работа с сессиями и cookies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3" name="Version">
    <vt:i4>1</vt:i4>
  </property>
</Properties>
</file>