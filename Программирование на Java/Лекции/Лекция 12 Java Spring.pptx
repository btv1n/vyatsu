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nLgCZt/VC9gpRRROTgmtmc77E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dc21b89c1_0_5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g30dc21b89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8fcdafc21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68fcdafc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68fcdafc21_0_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b6654834d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g3ab6654834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ab6654834d_0_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mappedBy = "student"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Это ключевой элемент в двунаправленной связи.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Он указывает, что текущая сущность является не владеющей стороной (inverse side, or non-owning side) отношения.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"Владеющая сторона" отношения (owning side) — это другая сущность, которая содержит поле с именем "student" и в таблице которой физически будет храниться внешний ключ (Foreign Key), ссылающийся на текущую таблицу.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fetch = FetchType.LAZY: Определяет стратегию загрузки данных.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связанная сущность не будет загружаться из базы данных немедленно при загрузке основной сущности. Вместо этого JPA загрузит данные связанной сущности только тогда, когда вы впервые обратитесь к соответствующему полю (вызовете геттер).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По умолчанию для @OneToOne обычно используется FetchType.EAGER (немедленная загрузка), поэтому явное указание LAZY меняет это поведение.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Как работает MapsId: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Она указывает, что первичный ключ (Primary Key) текущей сущности также является внешним ключом (Foreign Key), который ссылается на первичный ключ связанной сущности.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По сути, обе сущности используют один и тот же ID.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105" name="Google Shape;105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dc21b89c1_0_2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2" name="Google Shape;112;g30dc21b89c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@ManyToMany(cascade = {CascadeType.PERSIST, CascadeType.MERGE}) - у одного Student может быть много Course, и один Course может быть назначен многим Student.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cascade = {CascadeType.PERSIST, CascadeType.MERGE} означает: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PERSIST: Если при сохранении студента к нему добавлены новые курсы (которые ещё не сохранены в БД), то JPA автоматически сохранит эти курсы тоже.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MERGE: При обновлении студента, связанные курсы также будут обновлены (если они были изменены).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@JoinTable указывает, какая таблица используется для связи в базе данных (так называемая join table или таблица-посредник).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Имя таблицы: student_courses.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joinColumns = @JoinColumn(name = "student_id") — это внешний ключ к текущей сущности (Student), то есть в таблице student_courses будет колонка student_id, ссылающаяся на id студента.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inverseJoinColumns = @JoinColumn(name = "courses_id") — это внешний ключ к связанной сущности (Course), то есть колонка courses_id, ссылающаяся на id курса.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Код в классе Course (</a:t>
            </a:r>
            <a:r>
              <a:rPr lang="en-US" sz="1100"/>
              <a:t>@ManyToMany(mappedBy = "courses") </a:t>
            </a:r>
            <a:r>
              <a:rPr lang="en-US" sz="1100"/>
              <a:t>) описывает обратную сторону двунаправленной связи многие-ко-многим между Course и Student.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mappedBy = "courses" означает, что эта связь не владеющая (non-owning side). Настоящая (владеющая) сторона находится в классе Student, в поле с именем courses.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Т.е., в классе Student есть поле courses с @JoinTable; в классе Course — это поле students, но оно не создаёт отдельную таблицу, а просто "зеркалит" связь.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Все изменения в связи (добавление/удаление студентов из курса) должны управляться со стороны Student, потому что именно она владеет связью.</a:t>
            </a:r>
            <a:endParaRPr sz="1100"/>
          </a:p>
        </p:txBody>
      </p:sp>
      <p:sp>
        <p:nvSpPr>
          <p:cNvPr id="113" name="Google Shape;113;g30dc21b89c1_0_28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b106d7d2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0" name="Google Shape;120;g3a9b106d7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В JPA при двунаправленных связях: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Владеющая сторона — та, которая содержит внешний ключ в базе данных.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Обратная сторона — та, что просто "смотрит" на связь через mappedBy.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@OneToMany(mappedBy = "course") - это обратная сторона двунаправленной связи.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mappedBy = "course" означает, что владеющая (owning) сторона этой связи находится в классе Subject, в поле с именем course.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@ManyToOne — потому что у одного Subject один Course.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@JoinColumn(name = "course_id") — создаёт колонку course_id в таблице subject, которая ссылается на course.id.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Subject - это владеющая сторона.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А в Course — просто @OneToMany(mappedBy = "course"), без @JoinColumn, потому что FK уже есть в таблице Subject.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1" name="Google Shape;121;g3a9b106d7d2_0_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dc21b89c1_0_3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g30dc21b89c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DTO (Data Transfer Object) — это специальный класс, предназначенный только для передачи данных между слоями приложения (например, между контроллером и сервисом) или между разными системами (например, клиентом и сервером по HTTP).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u="sng"/>
              <a:t>Отделение внутренней модели от внешнего API</a:t>
            </a:r>
            <a:endParaRPr sz="1100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Entity — это модель базы данных (например, </a:t>
            </a:r>
            <a:r>
              <a:rPr lang="en-US" sz="1100"/>
              <a:t>User </a:t>
            </a:r>
            <a:r>
              <a:rPr lang="en-US" sz="1100"/>
              <a:t>с полями id, password, createdAt, role).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Но клиенту не нужно всё — например, пароль или служебные поля.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DTO позволяет отправлять только нужные данные.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u="sng"/>
              <a:t>Разные представления одной сущности</a:t>
            </a:r>
            <a:endParaRPr sz="1100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Один и тот же User может отображаться по-разному: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При регистрации: только email и пароль.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В профиле: email, имя, фото.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В админке: email, роль, дата регистрации, статус.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Вместо одного "монструозного" объекта — создать несколько DTO.</a:t>
            </a:r>
            <a:endParaRPr sz="1100"/>
          </a:p>
        </p:txBody>
      </p:sp>
      <p:sp>
        <p:nvSpPr>
          <p:cNvPr id="140" name="Google Shape;140;g30dc21b89c1_0_35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6cd2aa3f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g3ab6cd2aa3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50" name="Google Shape;150;g3ab6cd2aa3f_0_3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6cd2aa3f_0_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g3ab6cd2aa3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57" name="Google Shape;157;g3ab6cd2aa3f_0_11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6cd2aa3f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g3ab6cd2aa3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64" name="Google Shape;164;g3ab6cd2aa3f_0_4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6cd2aa3f_0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g3ab6cd2aa3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71" name="Google Shape;171;g3ab6cd2aa3f_0_12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6cd2aa3f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g3ab6cd2aa3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Маппинг (mapping) — это процесс преобразования данных из одного формата, структуры или типа в другой.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Интерфейс — MapStruct-маппер для преобразования между DTO и сущностью Student в Spring-приложении. Он использует аннотации MapStruct и некоторые пользовательские методы, чтобы управлять маппингом.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Что умеет этот этотмаппер?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toEntity() - Создаёт новую сущность из DTO (для POST)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toDto() - Преобразует сущность в DTO с courseIds вместо полных объектов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partialUpdate() - Обновляет только ненулевые поля (для PATCH)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@AfterMapping - Устанавливает обратную связь ContactInfo → Student</a:t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/>
              <a:t>coursesToCourseIds() - Вспомогательная логика для выгрузки ID курсов</a:t>
            </a:r>
            <a:endParaRPr sz="800"/>
          </a:p>
        </p:txBody>
      </p:sp>
      <p:sp>
        <p:nvSpPr>
          <p:cNvPr id="178" name="Google Shape;178;g3ab6cd2aa3f_0_6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6cd2aa3f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" name="Google Shape;186;g3ab6cd2aa3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87" name="Google Shape;187;g3ab6cd2aa3f_0_4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b6cd2aa3f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4" name="Google Shape;194;g3ab6cd2aa3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95" name="Google Shape;195;g3ab6cd2aa3f_0_5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cb8678ef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cb8678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cb8678efd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dc21b89c1_0_14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0dc21b89c1_0_14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0dc21b89c1_0_1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dc21b89c1_0_18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0dc21b89c1_0_18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2004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440"/>
              <a:buChar char="○"/>
              <a:defRPr/>
            </a:lvl2pPr>
            <a:lvl3pPr indent="-302894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g30dc21b89c1_0_18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0dc21b89c1_0_18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0dc21b89c1_0_183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0dc21b89c1_0_1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0dc21b89c1_0_1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30dc21b89c1_0_1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0dc21b89c1_0_1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g30dc21b89c1_0_1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dc21b89c1_0_1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g30dc21b89c1_0_15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30dc21b89c1_0_15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30dc21b89c1_0_1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0dc21b89c1_0_1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g30dc21b89c1_0_1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0dc21b89c1_0_16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30dc21b89c1_0_16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30dc21b89c1_0_1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dc21b89c1_0_16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30dc21b89c1_0_1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c21b89c1_0_16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0dc21b89c1_0_16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g30dc21b89c1_0_16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g30dc21b89c1_0_16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30dc21b89c1_0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dc21b89c1_0_17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g30dc21b89c1_0_1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dc21b89c1_0_17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g30dc21b89c1_0_17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30dc21b89c1_0_1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dc21b89c1_0_1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dc21b89c1_0_1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0dc21b89c1_0_1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0dc21b89c1_0_1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mplicode.ru/" TargetMode="External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lexkosarev.name/2023/07/20/jakarta-bean-validation-3-0-intro/" TargetMode="External"/><Relationship Id="rId4" Type="http://schemas.openxmlformats.org/officeDocument/2006/relationships/image" Target="../media/image33.png"/><Relationship Id="rId9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4.png"/><Relationship Id="rId7" Type="http://schemas.openxmlformats.org/officeDocument/2006/relationships/image" Target="../media/image43.png"/><Relationship Id="rId8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c21b89c1_0_5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Лекция 12</a:t>
            </a:r>
            <a:endParaRPr/>
          </a:p>
        </p:txBody>
      </p:sp>
      <p:sp>
        <p:nvSpPr>
          <p:cNvPr id="65" name="Google Shape;65;g30dc21b89c1_0_5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Java Spring</a:t>
            </a:r>
            <a:endParaRPr/>
          </a:p>
        </p:txBody>
      </p:sp>
      <p:pic>
        <p:nvPicPr>
          <p:cNvPr id="66" name="Google Shape;66;g30dc21b89c1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8fcdafc21_0_8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Обработка ошибок</a:t>
            </a:r>
            <a:endParaRPr b="1" sz="3000"/>
          </a:p>
        </p:txBody>
      </p:sp>
      <p:pic>
        <p:nvPicPr>
          <p:cNvPr id="73" name="Google Shape;73;g368fcdafc21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5400"/>
            <a:ext cx="8729125" cy="159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68fcdafc21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91" y="2721501"/>
            <a:ext cx="8729124" cy="1158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68fcdafc21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4800" y="3713760"/>
            <a:ext cx="4585650" cy="30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68fcdafc21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94" y="4486550"/>
            <a:ext cx="9075100" cy="5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Обработка ошибок</a:t>
            </a:r>
            <a:endParaRPr b="1" sz="3000"/>
          </a:p>
        </p:txBody>
      </p:sp>
      <p:pic>
        <p:nvPicPr>
          <p:cNvPr id="83" name="Google Shape;8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5620"/>
            <a:ext cx="6080700" cy="358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3075" y="5005739"/>
            <a:ext cx="6579301" cy="16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94178"/>
            <a:ext cx="4322375" cy="2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6654834d_0_8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Обработка ошибок</a:t>
            </a:r>
            <a:endParaRPr b="1" sz="3000"/>
          </a:p>
        </p:txBody>
      </p:sp>
      <p:pic>
        <p:nvPicPr>
          <p:cNvPr id="92" name="Google Shape;92;g3ab6654834d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7075" y="3596025"/>
            <a:ext cx="5001400" cy="314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ab6654834d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57183"/>
            <a:ext cx="8839200" cy="1725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ab6654834d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95406"/>
            <a:ext cx="4277000" cy="2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000"/>
              <a:t>Связи в бд</a:t>
            </a:r>
            <a:endParaRPr/>
          </a:p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223025" y="1538250"/>
            <a:ext cx="8781600" cy="49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Char char="●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Один к одному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Char char="●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Один ко многим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Char char="●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Многие ко многим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Один к одному</a:t>
            </a:r>
            <a:endParaRPr b="1" sz="3000"/>
          </a:p>
        </p:txBody>
      </p:sp>
      <p:pic>
        <p:nvPicPr>
          <p:cNvPr id="108" name="Google Shape;10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25" y="1965727"/>
            <a:ext cx="5536125" cy="48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975" y="109350"/>
            <a:ext cx="3414250" cy="34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dc21b89c1_0_288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Многие ко многим</a:t>
            </a:r>
            <a:endParaRPr b="1" sz="3000"/>
          </a:p>
        </p:txBody>
      </p:sp>
      <p:pic>
        <p:nvPicPr>
          <p:cNvPr id="116" name="Google Shape;116;g30dc21b89c1_0_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3000"/>
            <a:ext cx="4892801" cy="537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0dc21b89c1_0_2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9350" y="212027"/>
            <a:ext cx="4145326" cy="32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b106d7d2_0_2"/>
          <p:cNvSpPr txBox="1"/>
          <p:nvPr>
            <p:ph type="title"/>
          </p:nvPr>
        </p:nvSpPr>
        <p:spPr>
          <a:xfrm>
            <a:off x="457200" y="457200"/>
            <a:ext cx="8229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000"/>
              <a:t>Один ко многим</a:t>
            </a:r>
            <a:endParaRPr/>
          </a:p>
        </p:txBody>
      </p:sp>
      <p:pic>
        <p:nvPicPr>
          <p:cNvPr id="124" name="Google Shape;124;g3a9b106d7d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2253825"/>
            <a:ext cx="4797750" cy="44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a9b106d7d2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600" y="96500"/>
            <a:ext cx="4205550" cy="37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50" y="255413"/>
            <a:ext cx="2737500" cy="183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825" y="1939165"/>
            <a:ext cx="4932983" cy="6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825" y="920991"/>
            <a:ext cx="4932975" cy="763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8825" y="2889341"/>
            <a:ext cx="3378145" cy="6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8825" y="3839515"/>
            <a:ext cx="4932975" cy="84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8825" y="5010553"/>
            <a:ext cx="3378150" cy="741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dc21b89c1_0_3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</a:t>
            </a:r>
            <a:endParaRPr b="1" sz="3000"/>
          </a:p>
        </p:txBody>
      </p:sp>
      <p:sp>
        <p:nvSpPr>
          <p:cNvPr id="143" name="Google Shape;143;g30dc21b89c1_0_354"/>
          <p:cNvSpPr txBox="1"/>
          <p:nvPr/>
        </p:nvSpPr>
        <p:spPr>
          <a:xfrm>
            <a:off x="311700" y="1477200"/>
            <a:ext cx="449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Data Transfer Object - это специальный класс, предназначенный только для передачи данных между слоями приложения</a:t>
            </a:r>
            <a:endParaRPr sz="1800"/>
          </a:p>
        </p:txBody>
      </p:sp>
      <p:pic>
        <p:nvPicPr>
          <p:cNvPr id="144" name="Google Shape;144;g30dc21b89c1_0_3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606550"/>
            <a:ext cx="3975175" cy="216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0dc21b89c1_0_3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875" y="753000"/>
            <a:ext cx="4139975" cy="237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0dc21b89c1_0_3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606550"/>
            <a:ext cx="3975175" cy="254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6cd2aa3f_0_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pattern: controller</a:t>
            </a:r>
            <a:endParaRPr b="1" sz="3000"/>
          </a:p>
        </p:txBody>
      </p:sp>
      <p:pic>
        <p:nvPicPr>
          <p:cNvPr id="153" name="Google Shape;153;g3ab6cd2aa3f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75"/>
            <a:ext cx="8322375" cy="491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b6cd2aa3f_0_1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pattern: controller</a:t>
            </a:r>
            <a:endParaRPr b="1" sz="3000"/>
          </a:p>
        </p:txBody>
      </p:sp>
      <p:pic>
        <p:nvPicPr>
          <p:cNvPr id="160" name="Google Shape;160;g3ab6cd2aa3f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6875"/>
            <a:ext cx="7625343" cy="53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6cd2aa3f_0_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pattern: service</a:t>
            </a:r>
            <a:endParaRPr b="1" sz="3000"/>
          </a:p>
        </p:txBody>
      </p:sp>
      <p:pic>
        <p:nvPicPr>
          <p:cNvPr id="167" name="Google Shape;167;g3ab6cd2aa3f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67"/>
            <a:ext cx="7771829" cy="5196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b6cd2aa3f_0_1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pattern: service</a:t>
            </a:r>
            <a:endParaRPr b="1" sz="3000"/>
          </a:p>
        </p:txBody>
      </p:sp>
      <p:pic>
        <p:nvPicPr>
          <p:cNvPr id="174" name="Google Shape;174;g3ab6cd2aa3f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67"/>
            <a:ext cx="7976189" cy="519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b6cd2aa3f_0_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pattern: mapper</a:t>
            </a:r>
            <a:endParaRPr b="1" sz="3000"/>
          </a:p>
        </p:txBody>
      </p:sp>
      <p:pic>
        <p:nvPicPr>
          <p:cNvPr id="181" name="Google Shape;181;g3ab6cd2aa3f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49" y="1839100"/>
            <a:ext cx="8185100" cy="46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ab6cd2aa3f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600" y="271752"/>
            <a:ext cx="3571700" cy="144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ab6cd2aa3f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450" y="1356875"/>
            <a:ext cx="4092550" cy="318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6cd2aa3f_0_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DTO pattern: mapper</a:t>
            </a:r>
            <a:endParaRPr b="1" sz="3000"/>
          </a:p>
        </p:txBody>
      </p:sp>
      <p:sp>
        <p:nvSpPr>
          <p:cNvPr id="190" name="Google Shape;190;g3ab6cd2aa3f_0_45"/>
          <p:cNvSpPr txBox="1"/>
          <p:nvPr/>
        </p:nvSpPr>
        <p:spPr>
          <a:xfrm>
            <a:off x="311700" y="6234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plugin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Изображение выглядит как текст, электроника, снимок экрана, дисплей&#10;&#10;Автоматически созданное описание" id="191" name="Google Shape;191;g3ab6cd2aa3f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6375" y="1757825"/>
            <a:ext cx="6937475" cy="41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b6cd2aa3f_0_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Validation</a:t>
            </a:r>
            <a:endParaRPr b="1" sz="3000"/>
          </a:p>
        </p:txBody>
      </p:sp>
      <p:sp>
        <p:nvSpPr>
          <p:cNvPr id="198" name="Google Shape;198;g3ab6cd2aa3f_0_50"/>
          <p:cNvSpPr txBox="1"/>
          <p:nvPr/>
        </p:nvSpPr>
        <p:spPr>
          <a:xfrm>
            <a:off x="53452" y="6333380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Подробнее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текст, снимок экрана, Шрифт, линия&#10;&#10;Автоматически созданное описание" id="199" name="Google Shape;199;g3ab6cd2aa3f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6658" y="107675"/>
            <a:ext cx="3934441" cy="80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&#10;&#10;Автоматически созданное описание" id="200" name="Google Shape;200;g3ab6cd2aa3f_0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501" y="1356874"/>
            <a:ext cx="3495600" cy="1677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&#10;&#10;Автоматически созданное описание" id="201" name="Google Shape;201;g3ab6cd2aa3f_0_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9899" y="1510999"/>
            <a:ext cx="2213675" cy="167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, линия&#10;&#10;Автоматически созданное описание" id="202" name="Google Shape;202;g3ab6cd2aa3f_0_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3417684"/>
            <a:ext cx="8810274" cy="877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Шрифт, линия&#10;&#10;Автоматически созданное описание" id="203" name="Google Shape;203;g3ab6cd2aa3f_0_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4742990"/>
            <a:ext cx="914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Шрифт, снимок экрана&#10;&#10;Автоматически созданное описание" id="204" name="Google Shape;204;g3ab6cd2aa3f_0_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68118" y="570308"/>
            <a:ext cx="3495600" cy="80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cb8678efd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Структура проекта</a:t>
            </a:r>
            <a:endParaRPr/>
          </a:p>
        </p:txBody>
      </p:sp>
      <p:pic>
        <p:nvPicPr>
          <p:cNvPr id="211" name="Google Shape;211;g3acb8678ef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9275"/>
            <a:ext cx="2238450" cy="23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acb8678ef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1413" y="1509275"/>
            <a:ext cx="3060875" cy="49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acb8678ef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550" y="1514150"/>
            <a:ext cx="2638750" cy="4196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Version">
    <vt:i4>1</vt:i4>
  </property>
</Properties>
</file>