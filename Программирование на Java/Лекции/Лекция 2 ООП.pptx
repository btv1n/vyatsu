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5143500" cx="9144000"/>
  <p:notesSz cx="6858000" cy="9144000"/>
  <p:embeddedFontLst>
    <p:embeddedFont>
      <p:font typeface="Rubik"/>
      <p:regular r:id="rId57"/>
      <p:bold r:id="rId58"/>
      <p:italic r:id="rId59"/>
      <p:boldItalic r:id="rId60"/>
    </p:embeddedFont>
    <p:embeddedFont>
      <p:font typeface="JetBrains Mono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JetBrainsMono-bold.fntdata"/><Relationship Id="rId61" Type="http://schemas.openxmlformats.org/officeDocument/2006/relationships/font" Target="fonts/JetBrainsMono-regular.fntdata"/><Relationship Id="rId20" Type="http://schemas.openxmlformats.org/officeDocument/2006/relationships/slide" Target="slides/slide15.xml"/><Relationship Id="rId64" Type="http://schemas.openxmlformats.org/officeDocument/2006/relationships/font" Target="fonts/JetBrainsMono-boldItalic.fntdata"/><Relationship Id="rId63" Type="http://schemas.openxmlformats.org/officeDocument/2006/relationships/font" Target="fonts/JetBrainsMon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ubik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ubik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Rubik-italic.fntdata"/><Relationship Id="rId14" Type="http://schemas.openxmlformats.org/officeDocument/2006/relationships/slide" Target="slides/slide9.xml"/><Relationship Id="rId58" Type="http://schemas.openxmlformats.org/officeDocument/2006/relationships/font" Target="fonts/Rubik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b11b5fb6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fb11b5fb6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b11b5fb6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fb11b5fb6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вызвать внутри метода экземпляра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b11b5fb6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b11b5fb6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вызвать внутри статического метода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b11b5fb6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fb11b5fb6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b11b5fb6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b11b5fb6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fb11b5fb6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fb11b5fb6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fb11b5fb6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fb11b5fb6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b11b5fb6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fb11b5fb6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b11b5fb6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fb11b5fb6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fb11b5fb6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fb11b5fb6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b11b5fb6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fb11b5fb6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2d9c7756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d2d9c7756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d2d9c775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d2d9c775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2d9c7756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d2d9c7756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совместимый тип - </a:t>
            </a:r>
            <a:r>
              <a:rPr lang="ru" sz="1200">
                <a:solidFill>
                  <a:schemeClr val="dk1"/>
                </a:solidFill>
              </a:rPr>
              <a:t>тип возвращаемого значения переопределяющего метода является подтипом типа возвращаемого значения переопределенного метода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</a:rPr>
              <a:t>Если статический метод, определенный в суперклассе, переопределен в подклассе, то метод, определенный в суперклассе, скрыт. Скрытые статические методы можно вызвать с помощью синтаксиса ИмяСуперКласса.имяСтатическогоМетода().</a:t>
            </a:r>
            <a:endParaRPr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2d9c7756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2d9c7756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d2d9c7756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d2d9c7756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2d9c7756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d2d9c7756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2d9c7756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d2d9c7756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2d9c7756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d2d9c7756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d2d9c7756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d2d9c7756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fea758cfe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fea758cfe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ea758cfe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fea758cfe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ea758cfe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fea758cfe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fea758cfe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fea758cfe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fea758cfe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fea758cfe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fea758cfe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fea758cfe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fea758cfe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fea758cfe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ea758cfe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fea758cfe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fea758cfe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fea758cfe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fea758cfe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fea758cfe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специальный аргумент, представленный знаком ?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fea758cfe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fea758cfe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fea758cfe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fea758cfe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будет работать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fea758cfe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fea758cfe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будет работать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fea758cfe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fea758cfe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 </a:t>
            </a:r>
            <a:r>
              <a:rPr lang="ru">
                <a:solidFill>
                  <a:schemeClr val="dk1"/>
                </a:solidFill>
              </a:rPr>
              <a:t>будет работать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fea758cfe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fea758cfe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fea758cfe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fea758cfe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fea758cfe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fea758cfe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001D35"/>
                </a:solidFill>
                <a:highlight>
                  <a:srgbClr val="FFFFFF"/>
                </a:highlight>
              </a:rPr>
              <a:t>Параметры обобщенного типа (типовые параметры) для статических методов или полей класса не допускаются, потому что статические члены принадлежат классу в целом, а не конкретному экземпляру объекта. Обобщение же применяется к экземплярам (объектам) класса, позволяя им работать с различными типами данных, что противоречит самой природе статических членов, которые не имеют связи с конкретным объектом. 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7c416297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7c4162979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c416297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7c4162979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7c4162979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7c416297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7c4162979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7c41629799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c4162979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7c4162979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7c4162979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7c41629799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c4162979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7c41629799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c4162979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7c4162979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c4162979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7c41629799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c4162979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7c41629799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7c4162979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7c4162979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7c41629799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7c41629799_0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7c41629799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7c41629799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projectlombok.org/setup/maven" TargetMode="External"/><Relationship Id="rId4" Type="http://schemas.openxmlformats.org/officeDocument/2006/relationships/hyperlink" Target="https://habr.com/ru/companies/piter/articles/676394/" TargetMode="External"/><Relationship Id="rId5" Type="http://schemas.openxmlformats.org/officeDocument/2006/relationships/image" Target="../media/image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docs.junit.org/current/user-guide/" TargetMode="External"/><Relationship Id="rId4" Type="http://schemas.openxmlformats.org/officeDocument/2006/relationships/hyperlink" Target="https://github.com/junit-team/junit-examples/tree/r5.13.4/junit-jupiter-starter-maven" TargetMode="External"/><Relationship Id="rId5" Type="http://schemas.openxmlformats.org/officeDocument/2006/relationships/hyperlink" Target="https://docs.junit.org/5.0.1/api/org/junit/jupiter/api/Assertions.html" TargetMode="External"/><Relationship Id="rId6" Type="http://schemas.openxmlformats.org/officeDocument/2006/relationships/hyperlink" Target="https://habr.com/ru/articles/590607/" TargetMode="External"/><Relationship Id="rId7" Type="http://schemas.openxmlformats.org/officeDocument/2006/relationships/hyperlink" Target="https://tproger.ru/articles/parametrizovannye-testy-v-java" TargetMode="External"/><Relationship Id="rId8" Type="http://schemas.openxmlformats.org/officeDocument/2006/relationships/hyperlink" Target="https://temofeev.ru/info/articles/tutorial-po-junit-5-annotatsiya-parameterizedtes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Лекция 2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Особенности ООП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812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Модификаторы доступа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" sz="2800">
                <a:solidFill>
                  <a:schemeClr val="dk1"/>
                </a:solidFill>
              </a:rPr>
              <a:t>private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" sz="2800">
                <a:solidFill>
                  <a:schemeClr val="dk1"/>
                </a:solidFill>
              </a:rPr>
              <a:t>public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" sz="2800">
                <a:solidFill>
                  <a:schemeClr val="dk1"/>
                </a:solidFill>
              </a:rPr>
              <a:t>protected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" sz="2800">
                <a:solidFill>
                  <a:schemeClr val="dk1"/>
                </a:solidFill>
              </a:rPr>
              <a:t>по-умолчанию (package-private)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 экземпляра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может вызвать метод экземпляра или статический метод и получить доступ к полю данных экземпляра или статическому полю данных соответственно.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52237" t="0"/>
          <a:stretch/>
        </p:blipFill>
        <p:spPr>
          <a:xfrm>
            <a:off x="1437750" y="2092250"/>
            <a:ext cx="5840449" cy="25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Статический метод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может вызвать статический метод и получить доступ к статическому полю данных, но он не может вызвать метод экземпляра или получить доступ к полю данных экземпляра.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0" l="51385" r="0" t="0"/>
          <a:stretch/>
        </p:blipFill>
        <p:spPr>
          <a:xfrm>
            <a:off x="1353375" y="2258125"/>
            <a:ext cx="5992600" cy="261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Обработка примитивных типов как объектных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 Java, по соображениям производительности, значения примитивных типов данных не являются объектами.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Многие Java-методы требуют в качестве своих аргументов использовать объекты.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Java предлагает «обёртывание» значения примитивного типа данных в объект. Используя класс-обертку (wrapper class), можно обрабатывать значения примитивных типов данных, как объекты.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Java предоставляет в пакете java.lang классы-обертки Boolean, Character, Double, Float, Byte, Short, Integer и Long для примитивных типов данных.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100" y="81450"/>
            <a:ext cx="7968949" cy="49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Автоматическое преобразование между примитивными типами и классами-обертками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704050"/>
            <a:ext cx="85206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Преобразование значения примитивного типа данных в объект-обертку называется упаковкой (boxing).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Обратное преобразование называется распаковкой (unboxing).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 Java могут автоматически преобразовываться друг в друга примитивные типы и классы-обертки. Java-компилятор автоматически упаковывает примитивное значение, и распаковывает объект. Это называется автоупаковкой (autoboxing) и автораспаковкой (autounboxing).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НЕТ перегрузки операций!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Для класса String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Для получения символа строки по указанному индексу можно вызвать метод charAt(index)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Для сравнения двух строк используются методы equals() и compareTo()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Неизменяемый класс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Объект, содержимое которого нельзя менять после создания этого объекта называется </a:t>
            </a:r>
            <a:r>
              <a:rPr lang="ru" u="sng">
                <a:solidFill>
                  <a:schemeClr val="dk1"/>
                </a:solidFill>
              </a:rPr>
              <a:t>неизменяемым объектом</a:t>
            </a:r>
            <a:r>
              <a:rPr lang="ru">
                <a:solidFill>
                  <a:schemeClr val="dk1"/>
                </a:solidFill>
              </a:rPr>
              <a:t>, а его класс — неизменяемым классом.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Пример. Класс String является неизменяемым.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Чтобы быть неизменяемым, класс также не должен содержать setter-методов и getter-методов, которые возвращали бы ссылку на изменяемый объект поля данных.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Если все поля данных в классе имеют примитивный тип и модификатор доступа private, а класс не содержит setter-методов, то является ли класс неизменяемым?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</a:t>
            </a:r>
            <a:r>
              <a:rPr lang="ru"/>
              <a:t>нтернированная строка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JVM использует уникальный экземпляр для строковых литералов с одинаковой последовательностью символов, чтобы повысить эффективность и сэкономить память.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Такой экземпляр называется интернированной строкой (interned string).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Пример.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s1 = "Welcome to Java"; 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s2 = new String("Welcome to Java");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s3 = "Welcome to Java";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System.out.println("s1 == s2 равно " + (s1 == s2));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System.out.println("s1 == s3 равно " + (s1 == s3));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8727" y="2916725"/>
            <a:ext cx="3128324" cy="198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Наследование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 Java не допускается множественное наследование. Java-класс может напрямую порождаться только от одного суперкласса. Это ограничение называется единичным наследованием.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Если для определения подкласса используется ключевое слово </a:t>
            </a:r>
            <a:r>
              <a:rPr b="1" lang="ru">
                <a:solidFill>
                  <a:schemeClr val="dk1"/>
                </a:solidFill>
              </a:rPr>
              <a:t>extends</a:t>
            </a:r>
            <a:r>
              <a:rPr lang="ru">
                <a:solidFill>
                  <a:schemeClr val="dk1"/>
                </a:solidFill>
              </a:rPr>
              <a:t>, то оно допускает только один родительский класс.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Множественное наследование можно реализовать с помощью интерфейсов, </a:t>
            </a:r>
            <a:r>
              <a:rPr lang="ru">
                <a:solidFill>
                  <a:schemeClr val="dk1"/>
                </a:solidFill>
              </a:rPr>
              <a:t>используется ключевое слово </a:t>
            </a:r>
            <a:r>
              <a:rPr b="1" lang="ru">
                <a:solidFill>
                  <a:schemeClr val="dk1"/>
                </a:solidFill>
              </a:rPr>
              <a:t>implements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Во главе иерархии класс Object.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Ключевое слово super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Ключевое слово super ссылается на суперкласс класса, в котором это слово появляется. Его можно использовать двумя способами: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Для вызова конструктора суперкласса.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Предложение super() или super(аргументы) должно быть первым предложением внутри конструктора подкласса, и это единственный способ явного вызова конструктора суперкласса.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Для вызова метода суперкласса.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Цепочка конструкторов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167275" y="1152475"/>
            <a:ext cx="3993600" cy="38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public class Faculty extends Employee {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  public static void main(String[] args) {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    new Faculty();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  }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  public Faculty() {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    System.out.println("Задачи Faculty");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  }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class Person {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   public Person() {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     System.out.println("Задачи Person");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   }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ru" sz="17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6"/>
          <p:cNvSpPr txBox="1"/>
          <p:nvPr>
            <p:ph idx="2" type="body"/>
          </p:nvPr>
        </p:nvSpPr>
        <p:spPr>
          <a:xfrm>
            <a:off x="4098075" y="1152475"/>
            <a:ext cx="486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class Employee extends Person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   public Employee()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     this("Перегруженный конструктор Employee");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     System.out.println("Задачи Employee");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   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   public Employee(String s)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     System.out.println(s);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   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}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</a:t>
            </a:r>
            <a:r>
              <a:rPr lang="ru"/>
              <a:t>епочка конструкторов</a:t>
            </a:r>
            <a:endParaRPr/>
          </a:p>
        </p:txBody>
      </p:sp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75" y="1839950"/>
            <a:ext cx="9001274" cy="14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Переопределение методов</a:t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311700" y="1152475"/>
            <a:ext cx="8520600" cy="3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Аннотация переопределения - @Override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Сигнатуры переопределяющего и </a:t>
            </a:r>
            <a:r>
              <a:rPr lang="ru">
                <a:solidFill>
                  <a:schemeClr val="dk1"/>
                </a:solidFill>
              </a:rPr>
              <a:t>переопределенного </a:t>
            </a:r>
            <a:r>
              <a:rPr lang="ru">
                <a:solidFill>
                  <a:schemeClr val="dk1"/>
                </a:solidFill>
              </a:rPr>
              <a:t>методов должны совпадать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Переопределяющий метод должен иметь такой же или </a:t>
            </a:r>
            <a:r>
              <a:rPr lang="ru" u="sng">
                <a:solidFill>
                  <a:schemeClr val="dk1"/>
                </a:solidFill>
              </a:rPr>
              <a:t>совместимый </a:t>
            </a:r>
            <a:r>
              <a:rPr lang="ru">
                <a:solidFill>
                  <a:schemeClr val="dk1"/>
                </a:solidFill>
              </a:rPr>
              <a:t>тип возвращаемого значения, что и переопределенный метод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private-метод нельзя переопределить: </a:t>
            </a:r>
            <a:r>
              <a:rPr lang="ru">
                <a:solidFill>
                  <a:schemeClr val="dk1"/>
                </a:solidFill>
              </a:rPr>
              <a:t>private </a:t>
            </a:r>
            <a:r>
              <a:rPr lang="ru">
                <a:solidFill>
                  <a:schemeClr val="dk1"/>
                </a:solidFill>
              </a:rPr>
              <a:t>метод в подклассе и </a:t>
            </a:r>
            <a:r>
              <a:rPr lang="ru">
                <a:solidFill>
                  <a:schemeClr val="dk1"/>
                </a:solidFill>
              </a:rPr>
              <a:t>private метод </a:t>
            </a:r>
            <a:r>
              <a:rPr lang="ru">
                <a:solidFill>
                  <a:schemeClr val="dk1"/>
                </a:solidFill>
              </a:rPr>
              <a:t>в суперклассе не связаны между собой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Статический метод может наследоваться, но его нельзя переопределить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final метод нельзя переопределить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Полиморфизм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Полиморфизм означает, что переменная супертипа может ссылаться на объект подтипа.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Всегда можно передать экземпляр подкласса параметру типа суперкласса.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Динамическое связывание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</a:rPr>
              <a:t>О</a:t>
            </a:r>
            <a:r>
              <a:rPr lang="ru" sz="2000">
                <a:solidFill>
                  <a:schemeClr val="dk1"/>
                </a:solidFill>
              </a:rPr>
              <a:t>бъявленный тип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Переменная должна быть объявлена с конкретным типом.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Person p = new Student();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p.toString();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2" name="Google Shape;162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</a:rPr>
              <a:t>Ф</a:t>
            </a:r>
            <a:r>
              <a:rPr lang="ru" sz="2000">
                <a:solidFill>
                  <a:schemeClr val="dk1"/>
                </a:solidFill>
              </a:rPr>
              <a:t>актический тип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Фактический тип переменной является фактическим классом объекта, на который ссылается эта переменная.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Какой метод toString() вызвать у объекта p, определяется фактическим типом p. </a:t>
            </a:r>
            <a:br>
              <a:rPr lang="ru" sz="1600">
                <a:solidFill>
                  <a:schemeClr val="dk1"/>
                </a:solidFill>
              </a:rPr>
            </a:br>
            <a:r>
              <a:rPr lang="ru" sz="1600">
                <a:solidFill>
                  <a:schemeClr val="dk1"/>
                </a:solidFill>
              </a:rPr>
              <a:t>Это называется динамическим связыванием.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Приведение объектов</a:t>
            </a:r>
            <a:endParaRPr/>
          </a:p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Одну объектную ссылку можно привести к другой объектной ссылке. Это называется приведением объекта.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Всегда можно привести экземпляр подкласса к переменной суперкласса (расширение типа — upcasting). Неявное приведение типа.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 приведении экземпляра суперкласса к переменной его подкласса (сужение типа — downcasting) требуется использовать явное приведение с нотацией (ИмяПодкласса).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Возможность приведения проверяется с помощью instanceof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Модификаторы доступа при наследовании</a:t>
            </a:r>
            <a:endParaRPr/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Подкласс может переопределить protected-метод, определенный в его суперклассе, и изменить его видимость на public.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Подкласс не может уменьшить степень доступности метода, который определен в суперклассе. Например, если метод определен в суперклассе как public, то он должен быть определен в подклассе как public.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Предотвращение порождения и переопределения</a:t>
            </a:r>
            <a:endParaRPr/>
          </a:p>
        </p:txBody>
      </p:sp>
      <p:sp>
        <p:nvSpPr>
          <p:cNvPr id="180" name="Google Shape;18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От класса с модификатором final нельзя породить новый класс.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Метод с модификатором final нельзя переопределить в подклассе.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Поле данных с модификатором final является константой.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Абстрактные классы и интерфейсы</a:t>
            </a:r>
            <a:endParaRPr/>
          </a:p>
        </p:txBody>
      </p:sp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abstract метод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abstract класс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Абстрактный класс нельзя создать с помощью оператора new, но можно определить его конструкторы, которые вызываются в конструкторах его подклассов.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Подкласс может быть абстрактным, даже если его суперкласс является конкретным (класс Object является конкретным).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Подкласс может переопределить метод своего суперкласса, чтобы сделать его абстрактным. Это полезно, когда реализация метода в суперклассе становится недопустимой в подклассе.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Интерфейсы</a:t>
            </a:r>
            <a:endParaRPr/>
          </a:p>
        </p:txBody>
      </p:sp>
      <p:sp>
        <p:nvSpPr>
          <p:cNvPr id="192" name="Google Shape;19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Н</a:t>
            </a:r>
            <a:r>
              <a:rPr lang="ru">
                <a:solidFill>
                  <a:schemeClr val="dk1"/>
                </a:solidFill>
              </a:rPr>
              <a:t>ельзя создать экземпляр интерфейса с помощью оператора new.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 интерфейсе могут быть опущены модификаторы public static final для полей данных и модификаторы public abstract для методов. Следующие определения интерфейсов эквивалентны: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public interface T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public static final int K = 1;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public abstract void p();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public interface T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int K = 1;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void p();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Модификатор public можно опустить для метода, определенного в интерфейсе, но этот метод при реализации в подклассе должен быть определен как public.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Интерфейсы</a:t>
            </a:r>
            <a:endParaRPr/>
          </a:p>
        </p:txBody>
      </p:sp>
      <p:sp>
        <p:nvSpPr>
          <p:cNvPr id="198" name="Google Shape;19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 Java 8 с помощью ключевого слова default представлены заданные по умолчанию методы интерфейса. </a:t>
            </a:r>
            <a:r>
              <a:rPr lang="ru">
                <a:solidFill>
                  <a:schemeClr val="dk1"/>
                </a:solidFill>
              </a:rPr>
              <a:t>default </a:t>
            </a:r>
            <a:r>
              <a:rPr lang="ru">
                <a:solidFill>
                  <a:schemeClr val="dk1"/>
                </a:solidFill>
              </a:rPr>
              <a:t>метод предоставляет заданную по умолчанию реализацию этого метода в интерфейсе. Класс, реализующий интерфейс, может просто использовать заданную по умолчанию реализацию этого метода или переопределить метод с новой реализацией.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Начиная с Java 8, в интерфейсе можно использовать методы с модификатором public static, при этом их можно использовать так же, как методы с модификатором public static в классе.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Начиная с Java 9, в интерфейсе можно использовать методы с модификатором private. Эти методы используются для реализации заданных по умолчанию методов</a:t>
            </a:r>
            <a:r>
              <a:rPr lang="ru">
                <a:solidFill>
                  <a:schemeClr val="dk1"/>
                </a:solidFill>
              </a:rPr>
              <a:t> и методов с модификатором public static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interface Comparable</a:t>
            </a:r>
            <a:endParaRPr/>
          </a:p>
        </p:txBody>
      </p:sp>
      <p:sp>
        <p:nvSpPr>
          <p:cNvPr id="204" name="Google Shape;20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// Интерфейс для сравнения объектов в java.lang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package java.lang;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public interface Comparable&lt;E&gt;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public int compareTo(E o);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 API Java для сравнения и сортировки объектов в массиве метод java.util.Arrays.sort(Object[]) использует метод compareTo() при условии, что объекты являются экземплярами интерфейса Comparable.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interface Cloneable</a:t>
            </a:r>
            <a:endParaRPr/>
          </a:p>
        </p:txBody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package java.lang;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public interface Cloneable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Интерфейс с пустым телом называется маркером-интерфейсом (marker interface).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Маркер-интерфейс используется для обозначения того, что класс обладает некоторыми желательными свойствами. Класс, реализующий интерфейс Cloneable, помечается как клонируемый, а его объекты можно клонировать с помощью метода clone(), определенного в классе Object.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Интерфейсы vs. абстрактные классы</a:t>
            </a:r>
            <a:endParaRPr/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8"/>
            <a:ext cx="8375125" cy="330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Дженерики</a:t>
            </a:r>
            <a:endParaRPr/>
          </a:p>
        </p:txBody>
      </p:sp>
      <p:sp>
        <p:nvSpPr>
          <p:cNvPr id="222" name="Google Shape;22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Ключевым преимуществом дженериков является возможность обнаружения ошибок уже во время компиляции программы, а не во время ее выполнения.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Обобщенный класс или метод позволяет указать допустимые типы объектов, с которыми может работать этот класс или метод. При попытке использовать несовместимый объект компилятор обнаружит эту ошибку.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 соответствии с соглашением, для обозначения формального обобщенного типа используется заглавная буква, такая как E или 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Дженерики</a:t>
            </a:r>
            <a:endParaRPr/>
          </a:p>
        </p:txBody>
      </p:sp>
      <p:sp>
        <p:nvSpPr>
          <p:cNvPr id="228" name="Google Shape;22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Для статического метода можно определить обобщенный тип.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public static &lt;E&gt; void название_метода(E[] list)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тело метода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Обобщенный тип может быть указан в качестве подтипа другого типа. Такой обобщенный тип называется ограниченным.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public static &lt;E extends ConcreteClass&gt; void название_метода(E[] list) {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тело метода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«Сырые» типы</a:t>
            </a:r>
            <a:endParaRPr/>
          </a:p>
        </p:txBody>
      </p:sp>
      <p:sp>
        <p:nvSpPr>
          <p:cNvPr id="234" name="Google Shape;234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Обобщенный класс или интерфейс, используемый без указания конкретного типа, называется «сырым» типом и обеспечивает обратную совместимость с более ранними версиями Java.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GenericStack stack = new GenericStack(); // «сырой» тип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Будьте внимательны: «сырые» типы небезопасны.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</a:t>
            </a:r>
            <a:r>
              <a:rPr lang="ru"/>
              <a:t>бобщенный тип</a:t>
            </a:r>
            <a:endParaRPr/>
          </a:p>
        </p:txBody>
      </p:sp>
      <p:sp>
        <p:nvSpPr>
          <p:cNvPr id="240" name="Google Shape;240;p43"/>
          <p:cNvSpPr txBox="1"/>
          <p:nvPr>
            <p:ph idx="1" type="body"/>
          </p:nvPr>
        </p:nvSpPr>
        <p:spPr>
          <a:xfrm>
            <a:off x="311700" y="1152475"/>
            <a:ext cx="8520600" cy="3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public static void main(String[] args 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GenericStack&lt;Integer&gt; intStack = new GenericStack&lt;&gt;();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intStack.push(1); // 1 автоупаковывается в new Integer(1)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intStack.push(2);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intStack.push(-2)</a:t>
            </a:r>
            <a:r>
              <a:rPr lang="ru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System.out.print("Наибольшее число равно " + max(intStack)); </a:t>
            </a:r>
            <a:r>
              <a:rPr lang="ru">
                <a:solidFill>
                  <a:srgbClr val="FF0000"/>
                </a:solidFill>
              </a:rPr>
              <a:t>// Error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/** Найти в стеке наибольшее число */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public static double max(GenericStack&lt;Number&gt; stack)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…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Integer является подтипом Number, а GenericStack&lt;Integer&gt; не является подтипом GenericStack&lt;Number&gt;. Как исправить?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</a:t>
            </a:r>
            <a:r>
              <a:rPr lang="ru"/>
              <a:t>бобщенные wildcard-типы</a:t>
            </a:r>
            <a:endParaRPr/>
          </a:p>
        </p:txBody>
      </p:sp>
      <p:sp>
        <p:nvSpPr>
          <p:cNvPr id="246" name="Google Shape;246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 обобщенного wildcard-типа есть три формы: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?,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? extends T,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? super T,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где T – обобщенный тип.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Обобщенные wildcard-типы</a:t>
            </a:r>
            <a:endParaRPr/>
          </a:p>
        </p:txBody>
      </p:sp>
      <p:sp>
        <p:nvSpPr>
          <p:cNvPr id="252" name="Google Shape;25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Форма ?, называемая unbounded wildcard (неограниченный подстановочный символ) аналогична ? extends Object.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Форма ? extends T, называемая bounded wildcard (ограниченный подстановочный символ), представляет T или подтип 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Форма ? super T, называемая lower bound wildcard (подстановочный символ с нижней границей), обозначает T или супертип 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public static double max(GenericStack&lt;? extends Number&gt; stack) {}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>
            <p:ph idx="1" type="body"/>
          </p:nvPr>
        </p:nvSpPr>
        <p:spPr>
          <a:xfrm>
            <a:off x="311700" y="397250"/>
            <a:ext cx="8520600" cy="45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public static void main(String[] args)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GenericStack&lt;String&gt; stack1 = new GenericStack&lt;&gt;();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GenericStack&lt;Object&gt; stack2 = new GenericStack&lt;&gt;();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stack2.push("Java");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stack2.push(2);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stack1.push("Oracle");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add(stack1, stack2); // Добавляет все из stack1 в stack2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print(stack2);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public static &lt;T&gt; void add(GenericStack&lt;T&gt; stack1,  GenericStack&lt;? super T&gt; stack2)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while (!stack1.isEmpty())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stack2.push(stack1.pop());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/** Отображает объекты и освобождает стек */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public static void print(GenericStack&lt;?&gt; stack)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while (!stack.isEmpty())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System.out.print(stack.pop() + " 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8" name="Google Shape;258;p46"/>
          <p:cNvSpPr txBox="1"/>
          <p:nvPr>
            <p:ph type="title"/>
          </p:nvPr>
        </p:nvSpPr>
        <p:spPr>
          <a:xfrm>
            <a:off x="6073925" y="445025"/>
            <a:ext cx="275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произойдет?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/>
          <p:nvPr>
            <p:ph idx="1" type="body"/>
          </p:nvPr>
        </p:nvSpPr>
        <p:spPr>
          <a:xfrm>
            <a:off x="311700" y="397250"/>
            <a:ext cx="8520600" cy="45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public static void main(String[] args)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GenericStack&lt;String&gt; stack1 = new GenericStack&lt;&gt;();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GenericStack&lt;Object&gt; stack2 = new GenericStack&lt;&gt;();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stack2.push("Java");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stack2.push(2);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stack1.push("Oracle");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add(stack1, stack2); // Добавляет все из stack1 в stack2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print(stack2);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</a:t>
            </a:r>
            <a:r>
              <a:rPr lang="ru">
                <a:solidFill>
                  <a:schemeClr val="dk1"/>
                </a:solidFill>
              </a:rPr>
              <a:t>public static &lt;T&gt; void add(GenericStack&lt;? extends T&gt; stack1, GenericStack&lt;T&gt; stack2)</a:t>
            </a:r>
            <a:r>
              <a:rPr lang="ru">
                <a:solidFill>
                  <a:schemeClr val="dk1"/>
                </a:solidFill>
              </a:rPr>
              <a:t>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while (!stack1.isEmpty())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stack2.push(stack1.pop());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/** Отображает объекты и освобождает стек */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public static void print(GenericStack&lt;?&gt; stack)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while (!stack.isEmpty())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System.out.print(stack.pop() + " 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4" name="Google Shape;264;p47"/>
          <p:cNvSpPr txBox="1"/>
          <p:nvPr>
            <p:ph type="title"/>
          </p:nvPr>
        </p:nvSpPr>
        <p:spPr>
          <a:xfrm>
            <a:off x="6073925" y="445025"/>
            <a:ext cx="275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произойдет?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 txBox="1"/>
          <p:nvPr>
            <p:ph idx="1" type="body"/>
          </p:nvPr>
        </p:nvSpPr>
        <p:spPr>
          <a:xfrm>
            <a:off x="311700" y="397250"/>
            <a:ext cx="8520600" cy="45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public static void main(String[] args)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GenericStack&lt;String&gt; stack1 = new GenericStack&lt;&gt;();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GenericStack&lt;Object&gt; stack2 = new GenericStack&lt;&gt;();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stack2.push("Java");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stack2.push(2);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stack1.push("Oracle");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add(stack1, stack2); // Добавляет все из stack1 в stack2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print(stack2);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</a:t>
            </a:r>
            <a:r>
              <a:rPr lang="ru">
                <a:solidFill>
                  <a:schemeClr val="dk1"/>
                </a:solidFill>
              </a:rPr>
              <a:t>public static &lt;T&gt; void add(GenericStack&lt;T&gt; stack1, GenericStack&lt;T&gt; stack2) </a:t>
            </a:r>
            <a:r>
              <a:rPr lang="ru">
                <a:solidFill>
                  <a:schemeClr val="dk1"/>
                </a:solidFill>
              </a:rPr>
              <a:t>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while (!stack1.isEmpty())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stack2.push(stack1.pop());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/** Отображает объекты и освобождает стек */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public static void print(GenericStack&lt;?&gt; stack)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while (!stack.isEmpty())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System.out.print(stack.pop() + " 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0" name="Google Shape;270;p48"/>
          <p:cNvSpPr txBox="1"/>
          <p:nvPr>
            <p:ph type="title"/>
          </p:nvPr>
        </p:nvSpPr>
        <p:spPr>
          <a:xfrm>
            <a:off x="6073925" y="445025"/>
            <a:ext cx="275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произойдет?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9"/>
          <p:cNvSpPr txBox="1"/>
          <p:nvPr>
            <p:ph idx="1" type="body"/>
          </p:nvPr>
        </p:nvSpPr>
        <p:spPr>
          <a:xfrm>
            <a:off x="311700" y="303175"/>
            <a:ext cx="8520600" cy="3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Отношение наследования, включающее обобщенные типы и wildcard-типы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A и B - это классы и интерфейсы, а E - это параметр обобщенного типа.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6" name="Google Shape;2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74800"/>
            <a:ext cx="9144000" cy="326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</a:t>
            </a:r>
            <a:r>
              <a:rPr lang="ru"/>
              <a:t>граничения</a:t>
            </a:r>
            <a:endParaRPr/>
          </a:p>
        </p:txBody>
      </p:sp>
      <p:sp>
        <p:nvSpPr>
          <p:cNvPr id="282" name="Google Shape;282;p50"/>
          <p:cNvSpPr txBox="1"/>
          <p:nvPr>
            <p:ph idx="1" type="body"/>
          </p:nvPr>
        </p:nvSpPr>
        <p:spPr>
          <a:xfrm>
            <a:off x="159300" y="1152475"/>
            <a:ext cx="877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Дженерики существуют только во время компиляции. Как только компилятор подтверждает, что обобщенный тип безопасно используется, он преобразует его в «сырой» тип.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Например, компилятор проверяет, правильный ли следующий код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ArrayList&lt;String&gt; list = new ArrayList&lt;&gt;();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list.add("Осло");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String state = list.get(0);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Затем переводит его в эквивалентный код, чтобы использовать его во время выполнения.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ArrayList list = new ArrayList();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list.add("Осло");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String state = (String)(list.get(0)); //Данный код использует «сырой» тип.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1"/>
          <p:cNvSpPr txBox="1"/>
          <p:nvPr>
            <p:ph idx="1" type="body"/>
          </p:nvPr>
        </p:nvSpPr>
        <p:spPr>
          <a:xfrm>
            <a:off x="311700" y="303175"/>
            <a:ext cx="8520600" cy="46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Ограничение № 1: нельзя использовать new E()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Ограничение № 2: нельзя использовать new E[]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Ограничение № 3: параметр обобщенного типа для класса в статическом контексте не допускается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class Test&lt;E&gt;{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public Test() {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  E[] a = new </a:t>
            </a:r>
            <a:r>
              <a:rPr lang="ru" u="sng">
                <a:solidFill>
                  <a:schemeClr val="dk1"/>
                </a:solidFill>
              </a:rPr>
              <a:t>E</a:t>
            </a:r>
            <a:r>
              <a:rPr lang="ru">
                <a:solidFill>
                  <a:schemeClr val="dk1"/>
                </a:solidFill>
              </a:rPr>
              <a:t>[10]; </a:t>
            </a:r>
            <a:r>
              <a:rPr lang="ru">
                <a:solidFill>
                  <a:schemeClr val="dk1"/>
                </a:solidFill>
              </a:rPr>
              <a:t>// не допустимо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  E x = new </a:t>
            </a:r>
            <a:r>
              <a:rPr lang="ru" u="sng">
                <a:solidFill>
                  <a:schemeClr val="dk1"/>
                </a:solidFill>
              </a:rPr>
              <a:t>E</a:t>
            </a:r>
            <a:r>
              <a:rPr lang="ru">
                <a:solidFill>
                  <a:schemeClr val="dk1"/>
                </a:solidFill>
              </a:rPr>
              <a:t>(); </a:t>
            </a:r>
            <a:r>
              <a:rPr lang="ru">
                <a:solidFill>
                  <a:schemeClr val="dk1"/>
                </a:solidFill>
              </a:rPr>
              <a:t>// не допустимо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public static </a:t>
            </a:r>
            <a:r>
              <a:rPr lang="ru" u="sng">
                <a:solidFill>
                  <a:schemeClr val="dk1"/>
                </a:solidFill>
              </a:rPr>
              <a:t>E</a:t>
            </a:r>
            <a:r>
              <a:rPr lang="ru">
                <a:solidFill>
                  <a:schemeClr val="dk1"/>
                </a:solidFill>
              </a:rPr>
              <a:t> R; </a:t>
            </a:r>
            <a:r>
              <a:rPr lang="ru">
                <a:solidFill>
                  <a:schemeClr val="dk1"/>
                </a:solidFill>
              </a:rPr>
              <a:t>// не допустимо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public static void method(</a:t>
            </a:r>
            <a:r>
              <a:rPr lang="ru" u="sng">
                <a:solidFill>
                  <a:schemeClr val="dk1"/>
                </a:solidFill>
              </a:rPr>
              <a:t>E</a:t>
            </a:r>
            <a:r>
              <a:rPr lang="ru">
                <a:solidFill>
                  <a:schemeClr val="dk1"/>
                </a:solidFill>
              </a:rPr>
              <a:t> x) { } </a:t>
            </a:r>
            <a:r>
              <a:rPr lang="ru">
                <a:solidFill>
                  <a:schemeClr val="dk1"/>
                </a:solidFill>
              </a:rPr>
              <a:t>// не допустимо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static {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  </a:t>
            </a:r>
            <a:r>
              <a:rPr lang="ru" u="sng">
                <a:solidFill>
                  <a:schemeClr val="dk1"/>
                </a:solidFill>
              </a:rPr>
              <a:t>E</a:t>
            </a:r>
            <a:r>
              <a:rPr lang="ru">
                <a:solidFill>
                  <a:schemeClr val="dk1"/>
                </a:solidFill>
              </a:rPr>
              <a:t> r; </a:t>
            </a:r>
            <a:r>
              <a:rPr lang="ru">
                <a:solidFill>
                  <a:schemeClr val="dk1"/>
                </a:solidFill>
              </a:rPr>
              <a:t>// не допустимо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Ограничение № 4: Классы исключений не могут быть обобщенными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2"/>
          <p:cNvSpPr txBox="1"/>
          <p:nvPr>
            <p:ph type="ctrTitle"/>
          </p:nvPr>
        </p:nvSpPr>
        <p:spPr>
          <a:xfrm>
            <a:off x="233781" y="558431"/>
            <a:ext cx="6390600" cy="15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ru" sz="6200"/>
              <a:t>Lombok</a:t>
            </a:r>
            <a:endParaRPr sz="6200"/>
          </a:p>
        </p:txBody>
      </p:sp>
      <p:sp>
        <p:nvSpPr>
          <p:cNvPr id="293" name="Google Shape;293;p52"/>
          <p:cNvSpPr txBox="1"/>
          <p:nvPr>
            <p:ph idx="1" type="subTitle"/>
          </p:nvPr>
        </p:nvSpPr>
        <p:spPr>
          <a:xfrm>
            <a:off x="233775" y="2125600"/>
            <a:ext cx="65088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285"/>
              <a:buNone/>
            </a:pPr>
            <a:r>
              <a:rPr lang="ru">
                <a:solidFill>
                  <a:schemeClr val="dk1"/>
                </a:solidFill>
              </a:rPr>
              <a:t>Библиотека для сокращения кода в классах и расширения функциональности языка Java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maven</a:t>
            </a:r>
            <a:endParaRPr/>
          </a:p>
        </p:txBody>
      </p:sp>
      <p:sp>
        <p:nvSpPr>
          <p:cNvPr id="299" name="Google Shape;299;p5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JetBrains Mono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b="1" i="0" lang="ru" sz="1800" u="none" cap="none" strike="noStrike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dependency</a:t>
            </a: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b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&lt;</a:t>
            </a:r>
            <a:r>
              <a:rPr b="1" i="0" lang="ru" sz="1800" u="none" cap="none" strike="noStrike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groupId</a:t>
            </a: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&gt;org.projectlombok&lt;/</a:t>
            </a:r>
            <a:r>
              <a:rPr b="1" i="0" lang="ru" sz="1800" u="none" cap="none" strike="noStrike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groupId</a:t>
            </a: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b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&lt;</a:t>
            </a:r>
            <a:r>
              <a:rPr b="1" i="0" lang="ru" sz="1800" u="none" cap="none" strike="noStrike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artifactId</a:t>
            </a: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&gt;lombok&lt;/</a:t>
            </a:r>
            <a:r>
              <a:rPr b="1" i="0" lang="ru" sz="1800" u="none" cap="none" strike="noStrike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artifactId</a:t>
            </a: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b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&lt;</a:t>
            </a:r>
            <a:r>
              <a:rPr b="1" i="0" lang="ru" sz="1800" u="none" cap="none" strike="noStrike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version</a:t>
            </a: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&gt;RELEASE&lt;/</a:t>
            </a:r>
            <a:r>
              <a:rPr b="1" i="0" lang="ru" sz="1800" u="none" cap="none" strike="noStrike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version</a:t>
            </a: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b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&lt;</a:t>
            </a:r>
            <a:r>
              <a:rPr b="1" i="0" lang="ru" sz="1800" u="none" cap="none" strike="noStrike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scope</a:t>
            </a: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&gt;compile&lt;/</a:t>
            </a:r>
            <a:r>
              <a:rPr b="1" i="0" lang="ru" sz="1800" u="none" cap="none" strike="noStrike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scope</a:t>
            </a: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b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&lt;/</a:t>
            </a:r>
            <a:r>
              <a:rPr b="1" i="0" lang="ru" sz="1800" u="none" cap="none" strike="noStrike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dependency</a:t>
            </a:r>
            <a: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JetBrains Mono"/>
              <a:buNone/>
            </a:pPr>
            <a:r>
              <a:t/>
            </a:r>
            <a:endParaRPr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JetBrains Mono"/>
              <a:buNone/>
            </a:pPr>
            <a:r>
              <a:rPr lang="ru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https://projectlombok.org/setup/maven</a:t>
            </a:r>
            <a:br>
              <a:rPr b="0" i="0" lang="ru" sz="18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Плагин</a:t>
            </a:r>
            <a:endParaRPr/>
          </a:p>
        </p:txBody>
      </p:sp>
      <p:sp>
        <p:nvSpPr>
          <p:cNvPr id="305" name="Google Shape;305;p54"/>
          <p:cNvSpPr txBox="1"/>
          <p:nvPr>
            <p:ph idx="1" type="body"/>
          </p:nvPr>
        </p:nvSpPr>
        <p:spPr>
          <a:xfrm>
            <a:off x="628650" y="1127825"/>
            <a:ext cx="7886700" cy="350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Зависимость Lombok в конфигурационный раздел maven-compiler-plugin (pom.xml) </a:t>
            </a:r>
            <a:br>
              <a:rPr lang="ru" sz="2000">
                <a:solidFill>
                  <a:schemeClr val="dk1"/>
                </a:solidFill>
              </a:rPr>
            </a:br>
            <a:r>
              <a:rPr lang="ru" sz="2000" u="sng">
                <a:solidFill>
                  <a:schemeClr val="hlink"/>
                </a:solidFill>
                <a:hlinkClick r:id="rId3"/>
              </a:rPr>
              <a:t>https://projectlombok.org/setup/maven</a:t>
            </a:r>
            <a:r>
              <a:rPr lang="ru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https://habr.com/ru/companies/piter/articles/676394/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Добавить плагин в меню </a:t>
            </a:r>
            <a:br>
              <a:rPr lang="ru" sz="2000">
                <a:solidFill>
                  <a:schemeClr val="dk1"/>
                </a:solidFill>
              </a:rPr>
            </a:br>
            <a:r>
              <a:rPr lang="ru" sz="2000">
                <a:solidFill>
                  <a:schemeClr val="dk1"/>
                </a:solidFill>
              </a:rPr>
              <a:t>File -&gt; Settings… -&gt; Plugins -&gt; установить Lombok</a:t>
            </a:r>
            <a:endParaRPr sz="1600"/>
          </a:p>
        </p:txBody>
      </p:sp>
      <p:pic>
        <p:nvPicPr>
          <p:cNvPr id="306" name="Google Shape;30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6822" y="2907255"/>
            <a:ext cx="5286375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Особенность Java</a:t>
            </a:r>
            <a:endParaRPr/>
          </a:p>
        </p:txBody>
      </p:sp>
      <p:sp>
        <p:nvSpPr>
          <p:cNvPr id="312" name="Google Shape;312;p5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ru">
                <a:solidFill>
                  <a:schemeClr val="dk1"/>
                </a:solidFill>
              </a:rPr>
              <a:t>Необходимость написания шаблонного кода для конструкторов, геттеров, сеттеров, метода toString() и так далее. </a:t>
            </a:r>
            <a:endParaRPr>
              <a:solidFill>
                <a:schemeClr val="dk1"/>
              </a:solidFill>
            </a:endParaRPr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ru">
                <a:solidFill>
                  <a:schemeClr val="dk1"/>
                </a:solidFill>
              </a:rPr>
              <a:t>Использование Lombok позволяет автоматически преобразовать объемный Java-код в оптимизированную и лаконичную структуру.</a:t>
            </a:r>
            <a:endParaRPr>
              <a:solidFill>
                <a:schemeClr val="dk1"/>
              </a:solidFill>
            </a:endParaRPr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ru">
                <a:solidFill>
                  <a:schemeClr val="dk1"/>
                </a:solidFill>
              </a:rPr>
              <a:t>Принцип работы библиотеки основан на использовании аннотаций, которые:</a:t>
            </a:r>
            <a:endParaRPr>
              <a:solidFill>
                <a:schemeClr val="dk1"/>
              </a:solidFill>
            </a:endParaRPr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</a:pPr>
            <a:r>
              <a:rPr lang="ru">
                <a:solidFill>
                  <a:schemeClr val="dk1"/>
                </a:solidFill>
              </a:rPr>
              <a:t>многократно сокращают шаблонный код;</a:t>
            </a:r>
            <a:endParaRPr>
              <a:solidFill>
                <a:schemeClr val="dk1"/>
              </a:solidFill>
            </a:endParaRPr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</a:pPr>
            <a:r>
              <a:rPr lang="ru">
                <a:solidFill>
                  <a:schemeClr val="dk1"/>
                </a:solidFill>
              </a:rPr>
              <a:t>экономят время разработчиков;</a:t>
            </a:r>
            <a:endParaRPr>
              <a:solidFill>
                <a:schemeClr val="dk1"/>
              </a:solidFill>
            </a:endParaRPr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1200"/>
              </a:spcAft>
              <a:buSzPts val="1800"/>
              <a:buChar char="○"/>
            </a:pPr>
            <a:r>
              <a:rPr lang="ru">
                <a:solidFill>
                  <a:schemeClr val="dk1"/>
                </a:solidFill>
              </a:rPr>
              <a:t>улучшают читаемость кода.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6"/>
          <p:cNvSpPr txBox="1"/>
          <p:nvPr/>
        </p:nvSpPr>
        <p:spPr>
          <a:xfrm>
            <a:off x="179225" y="243900"/>
            <a:ext cx="8769600" cy="46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public class Employee {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</a:t>
            </a: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private Integer employeeId;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private String name;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private String company;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private String emailId;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public Employee() {}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public Employee(Integer employeeId, String name, String company, String emailId) {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	this.employeeId = employeeId;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	this.name = name;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	this.company = company;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	this.emailId = emailId;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}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public Integer getEmployeeId() { return employeeId; </a:t>
            </a:r>
            <a:r>
              <a:rPr i="1" lang="ru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}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public void setEmployeeId(Integer employeeId) { this.employeeId = employeeId;</a:t>
            </a:r>
            <a:r>
              <a:rPr i="1" lang="ru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}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public String getName() { return name; }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public void setName(String name) { this.name = name; 	}</a:t>
            </a:r>
            <a:endParaRPr b="0" i="1" sz="1200" u="none" cap="none" strike="noStrik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public String getCompany() { return company; }</a:t>
            </a:r>
            <a:br>
              <a:rPr i="1" lang="ru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i="1" lang="ru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public void setCompany(String company) { this.company = company;  }</a:t>
            </a:r>
            <a:br>
              <a:rPr i="1" lang="ru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i="1" lang="ru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public String getEmailId() { return emailId; }</a:t>
            </a:r>
            <a:br>
              <a:rPr i="1" lang="ru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i="1" lang="ru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public void setEmailId(String emailId) { this.emailId = emailId; }</a:t>
            </a:r>
            <a:br>
              <a:rPr i="1" lang="ru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i="1" lang="ru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@Override </a:t>
            </a:r>
            <a:endParaRPr i="1"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public String toString() { return «Employee [» + «employeeId=» + employeeId + «, name=» + name + «, » + » company=» + company + «, emailId=» + emailId + «]»;  }</a:t>
            </a:r>
            <a:br>
              <a:rPr i="1" lang="ru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i="1" lang="ru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}</a:t>
            </a:r>
            <a:br>
              <a:rPr b="0" i="1" lang="ru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7"/>
          <p:cNvSpPr txBox="1"/>
          <p:nvPr/>
        </p:nvSpPr>
        <p:spPr>
          <a:xfrm>
            <a:off x="355825" y="461622"/>
            <a:ext cx="8029200" cy="4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import lombok.AllArgsConstructor;</a:t>
            </a:r>
            <a:b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import lombok.Getter;</a:t>
            </a:r>
            <a:b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import lombok.NoArgsConstructor;</a:t>
            </a:r>
            <a:b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import lombok.Setter;</a:t>
            </a:r>
            <a:b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import lombok.ToString;</a:t>
            </a:r>
            <a:endParaRPr b="0" i="1" sz="1600" u="none" strike="noStrik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@NoArgsConstructor</a:t>
            </a:r>
            <a:b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@AllArgsConstructor</a:t>
            </a:r>
            <a:b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@Getter</a:t>
            </a:r>
            <a:b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@Setter</a:t>
            </a:r>
            <a:endParaRPr b="0" i="1" sz="1600" u="none" strike="noStrik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@ToString</a:t>
            </a:r>
            <a:b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public class Employee {</a:t>
            </a:r>
            <a:b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private Integer employeeId;</a:t>
            </a:r>
            <a:b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private String name;</a:t>
            </a:r>
            <a:b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private String company;</a:t>
            </a:r>
            <a:b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	private String emailId;</a:t>
            </a:r>
            <a:b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0" i="1" lang="ru" sz="1600" u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}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ru"/>
              <a:t>Аннотации в Lombok</a:t>
            </a:r>
            <a:endParaRPr b="1"/>
          </a:p>
        </p:txBody>
      </p:sp>
      <p:sp>
        <p:nvSpPr>
          <p:cNvPr id="328" name="Google Shape;328;p5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10000"/>
          </a:bodyPr>
          <a:lstStyle/>
          <a:p>
            <a:pPr indent="-176847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6666"/>
              <a:buChar char="●"/>
            </a:pPr>
            <a:r>
              <a:rPr b="1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@Getter и @Setter —</a:t>
            </a:r>
            <a:r>
              <a:rPr b="0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предоставляют геттеры и сеттеры для поля. Могут использоваться как на уровне поля, так и на уровне класса.</a:t>
            </a:r>
            <a:endParaRPr>
              <a:solidFill>
                <a:schemeClr val="dk1"/>
              </a:solidFill>
            </a:endParaRPr>
          </a:p>
          <a:p>
            <a:pPr indent="-17684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16666"/>
              <a:buChar char="●"/>
            </a:pPr>
            <a:r>
              <a:rPr b="1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@NoArgsConstructor —</a:t>
            </a:r>
            <a:r>
              <a:rPr b="0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используется для создания конструктора без аргументов.</a:t>
            </a:r>
            <a:endParaRPr>
              <a:solidFill>
                <a:schemeClr val="dk1"/>
              </a:solidFill>
            </a:endParaRPr>
          </a:p>
          <a:p>
            <a:pPr indent="-17684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16666"/>
              <a:buChar char="●"/>
            </a:pPr>
            <a:r>
              <a:rPr b="1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@AllArgsConstructor —</a:t>
            </a:r>
            <a:r>
              <a:rPr b="0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генерирует конструктор</a:t>
            </a:r>
            <a:r>
              <a:rPr lang="ru">
                <a:solidFill>
                  <a:schemeClr val="dk1"/>
                </a:solidFill>
              </a:rPr>
              <a:t>, инициализирующий все поля объекта</a:t>
            </a:r>
            <a:r>
              <a:rPr b="0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06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7777"/>
              <a:buChar char="●"/>
            </a:pPr>
            <a:r>
              <a:rPr b="1" lang="ru">
                <a:solidFill>
                  <a:schemeClr val="dk1"/>
                </a:solidFill>
              </a:rPr>
              <a:t>@RequiredArgsConstructor</a:t>
            </a:r>
            <a:r>
              <a:rPr lang="ru">
                <a:solidFill>
                  <a:schemeClr val="dk1"/>
                </a:solidFill>
              </a:rPr>
              <a:t> </a:t>
            </a:r>
            <a:r>
              <a:rPr b="1" lang="ru">
                <a:solidFill>
                  <a:schemeClr val="dk1"/>
                </a:solidFill>
              </a:rPr>
              <a:t>— </a:t>
            </a:r>
            <a:r>
              <a:rPr lang="ru">
                <a:solidFill>
                  <a:schemeClr val="dk1"/>
                </a:solidFill>
              </a:rPr>
              <a:t>генерирует конструктор для всех final и non-null полей.</a:t>
            </a:r>
            <a:endParaRPr>
              <a:solidFill>
                <a:schemeClr val="dk1"/>
              </a:solidFill>
            </a:endParaRPr>
          </a:p>
          <a:p>
            <a:pPr indent="-17684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16666"/>
              <a:buChar char="●"/>
            </a:pPr>
            <a:r>
              <a:rPr b="1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@ToString —</a:t>
            </a:r>
            <a:r>
              <a:rPr b="0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переопределяет метод </a:t>
            </a:r>
            <a:r>
              <a:rPr b="1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toString()</a:t>
            </a:r>
            <a:r>
              <a:rPr b="0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и создает для него реализацию по умолчанию. Она выводит имя класса и поля по порядку, разделяя их запятыми. </a:t>
            </a:r>
            <a:br>
              <a:rPr b="0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Можно пропустить отдельные поля, если аннотировать их с помощью</a:t>
            </a:r>
            <a:r>
              <a:rPr lang="ru">
                <a:solidFill>
                  <a:schemeClr val="dk1"/>
                </a:solidFill>
              </a:rPr>
              <a:t> </a:t>
            </a:r>
            <a:r>
              <a:rPr b="1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@ToString.Exclude.</a:t>
            </a:r>
            <a:endParaRPr b="0" i="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684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16666"/>
              <a:buChar char="●"/>
            </a:pPr>
            <a:r>
              <a:rPr b="1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@EqualsAndHashCode —</a:t>
            </a:r>
            <a:r>
              <a:rPr b="0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применяется для переопределения</a:t>
            </a:r>
            <a:r>
              <a:rPr lang="ru">
                <a:solidFill>
                  <a:schemeClr val="dk1"/>
                </a:solidFill>
              </a:rPr>
              <a:t> м</a:t>
            </a:r>
            <a:r>
              <a:rPr b="0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етодов</a:t>
            </a:r>
            <a:r>
              <a:rPr lang="ru">
                <a:solidFill>
                  <a:schemeClr val="dk1"/>
                </a:solidFill>
              </a:rPr>
              <a:t> </a:t>
            </a:r>
            <a:r>
              <a:rPr b="1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equals()</a:t>
            </a:r>
            <a:r>
              <a:rPr b="1" lang="ru">
                <a:solidFill>
                  <a:schemeClr val="dk1"/>
                </a:solidFill>
              </a:rPr>
              <a:t> </a:t>
            </a:r>
            <a:r>
              <a:rPr b="0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</a:t>
            </a:r>
            <a:r>
              <a:rPr lang="ru">
                <a:solidFill>
                  <a:schemeClr val="dk1"/>
                </a:solidFill>
              </a:rPr>
              <a:t> </a:t>
            </a:r>
            <a:r>
              <a:rPr b="1" i="0" lang="ru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hashCode().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9"/>
          <p:cNvSpPr txBox="1"/>
          <p:nvPr>
            <p:ph idx="1" type="body"/>
          </p:nvPr>
        </p:nvSpPr>
        <p:spPr>
          <a:xfrm>
            <a:off x="5190450" y="234016"/>
            <a:ext cx="3584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@NoArgsConstructor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@AllArgsConstructor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@Getter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@Setter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@ToString(onlyExplicitlyIncluded = true)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class InternetMagazine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private String name;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private double averageRating;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@ToString.Include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private String urlMagazine;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4" name="Google Shape;334;p59"/>
          <p:cNvSpPr txBox="1"/>
          <p:nvPr>
            <p:ph idx="1" type="body"/>
          </p:nvPr>
        </p:nvSpPr>
        <p:spPr>
          <a:xfrm>
            <a:off x="405950" y="234016"/>
            <a:ext cx="36381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@NoArgsConstructor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@AllArgsConstructor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@Getter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@Setter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@ToString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class InternetMagazine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private String name;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private double averageRating;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@ToString.</a:t>
            </a:r>
            <a:r>
              <a:rPr lang="ru">
                <a:solidFill>
                  <a:schemeClr val="dk1"/>
                </a:solidFill>
              </a:rPr>
              <a:t>Exclude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private String urlMagazine;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5" name="Google Shape;335;p59"/>
          <p:cNvSpPr txBox="1"/>
          <p:nvPr/>
        </p:nvSpPr>
        <p:spPr>
          <a:xfrm>
            <a:off x="405950" y="3605325"/>
            <a:ext cx="800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InternetMagazine i</a:t>
            </a:r>
            <a:r>
              <a:rPr lang="ru">
                <a:solidFill>
                  <a:schemeClr val="dk1"/>
                </a:solidFill>
              </a:rPr>
              <a:t>Magazine</a:t>
            </a:r>
            <a:r>
              <a:rPr lang="ru"/>
              <a:t> = new InternetMagazine("Name", 5.9, "123");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System.out.printf(</a:t>
            </a:r>
            <a:r>
              <a:rPr lang="ru">
                <a:solidFill>
                  <a:schemeClr val="dk1"/>
                </a:solidFill>
              </a:rPr>
              <a:t>iMagazine</a:t>
            </a:r>
            <a:r>
              <a:rPr lang="ru"/>
              <a:t>.toString());</a:t>
            </a:r>
            <a:endParaRPr/>
          </a:p>
        </p:txBody>
      </p:sp>
      <p:sp>
        <p:nvSpPr>
          <p:cNvPr id="336" name="Google Shape;336;p59"/>
          <p:cNvSpPr txBox="1"/>
          <p:nvPr/>
        </p:nvSpPr>
        <p:spPr>
          <a:xfrm>
            <a:off x="5190450" y="4266525"/>
            <a:ext cx="344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InternetMagazine(urlMagazine=123)</a:t>
            </a:r>
            <a:endParaRPr/>
          </a:p>
        </p:txBody>
      </p:sp>
      <p:sp>
        <p:nvSpPr>
          <p:cNvPr id="337" name="Google Shape;337;p59"/>
          <p:cNvSpPr txBox="1"/>
          <p:nvPr/>
        </p:nvSpPr>
        <p:spPr>
          <a:xfrm>
            <a:off x="405950" y="4266525"/>
            <a:ext cx="442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InternetMagazine(name=Name, averageRating=5.9)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ru"/>
              <a:t>POJO - Plain Old Java Object </a:t>
            </a:r>
            <a:br>
              <a:rPr b="1" lang="ru"/>
            </a:br>
            <a:r>
              <a:rPr b="1" lang="ru"/>
              <a:t>(старый добрый объект Java)</a:t>
            </a:r>
            <a:endParaRPr b="1"/>
          </a:p>
        </p:txBody>
      </p:sp>
      <p:sp>
        <p:nvSpPr>
          <p:cNvPr id="343" name="Google Shape;343;p6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ru">
                <a:solidFill>
                  <a:schemeClr val="dk1"/>
                </a:solidFill>
              </a:rPr>
              <a:t>Чтобы сделать код проще для чтения и упростить сетевые передачи отделяют данные от обработки при помощи POJO. </a:t>
            </a:r>
            <a:endParaRPr>
              <a:solidFill>
                <a:schemeClr val="dk1"/>
              </a:solidFill>
            </a:endParaRPr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ru">
                <a:solidFill>
                  <a:schemeClr val="dk1"/>
                </a:solidFill>
              </a:rPr>
              <a:t>POJO содержит приватные поля, публичные методы-геттеры и сеттеры, а также может включать конструктор по умолчанию и другие методы.</a:t>
            </a:r>
            <a:endParaRPr>
              <a:solidFill>
                <a:schemeClr val="dk1"/>
              </a:solidFill>
            </a:endParaRPr>
          </a:p>
          <a:p>
            <a:pPr indent="-50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2100"/>
              <a:buChar char="●"/>
            </a:pPr>
            <a:r>
              <a:rPr lang="ru">
                <a:solidFill>
                  <a:schemeClr val="dk1"/>
                </a:solidFill>
              </a:rPr>
              <a:t>@Data — это аннотация, которая автоматически генерирует шаблонный код, </a:t>
            </a:r>
            <a:r>
              <a:rPr lang="ru">
                <a:solidFill>
                  <a:schemeClr val="dk1"/>
                </a:solidFill>
              </a:rPr>
              <a:t>такой как геттеры, сеттеры, методы equals(), hashCode() и toString(), а также RequiredArgsConstructor </a:t>
            </a:r>
            <a:r>
              <a:rPr lang="ru">
                <a:solidFill>
                  <a:schemeClr val="dk1"/>
                </a:solidFill>
              </a:rPr>
              <a:t>для простых классов POJO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ru"/>
              <a:t>Аннотации в Lombok</a:t>
            </a:r>
            <a:endParaRPr/>
          </a:p>
        </p:txBody>
      </p:sp>
      <p:sp>
        <p:nvSpPr>
          <p:cNvPr id="349" name="Google Shape;349;p61"/>
          <p:cNvSpPr txBox="1"/>
          <p:nvPr>
            <p:ph idx="1" type="body"/>
          </p:nvPr>
        </p:nvSpPr>
        <p:spPr>
          <a:xfrm>
            <a:off x="628650" y="1369225"/>
            <a:ext cx="7886700" cy="3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Аннотация для конструктора имеет альтернативную форму, где сгенерированный конструктор всегда приватный, и генерируется дополнительный статический фабричный метод, оборачивающий этот конструктор. </a:t>
            </a:r>
            <a:br>
              <a:rPr lang="r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Этот режим включается с помощью параметра staticName в аннотации, например: </a:t>
            </a:r>
            <a:r>
              <a:rPr b="1" lang="r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@RequiredArgsConstructor(staticName="of")</a:t>
            </a:r>
            <a:r>
              <a:rPr lang="r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>
                <a:solidFill>
                  <a:schemeClr val="dk1"/>
                </a:solidFill>
              </a:rPr>
              <a:t>@Getter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@Setter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@RequiredArgsConstructor(staticName = "of")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class InternetMagazine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@NonNull     private String name;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@NonNull     private double averageRating;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final private String urlMagazine;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InternetMagazine m = InternetMagazine.of("Name", 5.9, "123");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@Builder</a:t>
            </a:r>
            <a:endParaRPr/>
          </a:p>
        </p:txBody>
      </p:sp>
      <p:sp>
        <p:nvSpPr>
          <p:cNvPr id="355" name="Google Shape;355;p62"/>
          <p:cNvSpPr txBox="1"/>
          <p:nvPr>
            <p:ph idx="1" type="body"/>
          </p:nvPr>
        </p:nvSpPr>
        <p:spPr>
          <a:xfrm>
            <a:off x="252800" y="1369225"/>
            <a:ext cx="3434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@Builder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class InternetMagazine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@NonNull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private String name;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@NonNull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private double averageRating;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@ToString.Exclude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final private String urlMagazine;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6" name="Google Shape;356;p62"/>
          <p:cNvSpPr txBox="1"/>
          <p:nvPr>
            <p:ph idx="1" type="body"/>
          </p:nvPr>
        </p:nvSpPr>
        <p:spPr>
          <a:xfrm>
            <a:off x="3749750" y="1369215"/>
            <a:ext cx="5171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InternetMagazine m = InternetMagazine.builder()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          .name("Name")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          .averageRating(5.9)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          .urlMagazine("123")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          .build();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3"/>
          <p:cNvSpPr txBox="1"/>
          <p:nvPr>
            <p:ph type="ctrTitle"/>
          </p:nvPr>
        </p:nvSpPr>
        <p:spPr>
          <a:xfrm>
            <a:off x="233781" y="558431"/>
            <a:ext cx="6390600" cy="15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ru" sz="6200"/>
              <a:t>JUnit5</a:t>
            </a:r>
            <a:endParaRPr sz="6200"/>
          </a:p>
        </p:txBody>
      </p:sp>
      <p:sp>
        <p:nvSpPr>
          <p:cNvPr id="362" name="Google Shape;362;p63"/>
          <p:cNvSpPr txBox="1"/>
          <p:nvPr>
            <p:ph idx="1" type="subTitle"/>
          </p:nvPr>
        </p:nvSpPr>
        <p:spPr>
          <a:xfrm>
            <a:off x="233775" y="2125600"/>
            <a:ext cx="8583000" cy="13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Ссылки</a:t>
            </a:r>
            <a:endParaRPr/>
          </a:p>
        </p:txBody>
      </p:sp>
      <p:sp>
        <p:nvSpPr>
          <p:cNvPr id="368" name="Google Shape;368;p6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https://docs.junit.org/current/user-guide/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https://github.com/junit-team/junit-examples/tree/r5.13.4/junit-jupiter-starter-maven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5"/>
              </a:rPr>
              <a:t>https://docs.junit.org/5.0.1/api/org/junit/jupiter/api/Assertions.html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6"/>
              </a:rPr>
              <a:t>https://habr.com/ru/articles/590607/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Параметры: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7"/>
              </a:rPr>
              <a:t>https://tproger.ru/articles/parametrizovannye-testy-v-java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8"/>
              </a:rPr>
              <a:t>https://temofeev.ru/info/articles/tutorial-po-junit-5-annotatsiya-parameterizedtest/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