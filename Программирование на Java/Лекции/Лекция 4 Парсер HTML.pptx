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  <p:sldMasterId id="2147483674" r:id="rId3"/>
    <p:sldMasterId id="2147483687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2" roundtripDataSignature="AMtx7mjgmdgd0xSdF1DW1wppasDsWzu6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2B62E61-DC41-4DD7-9662-F801B3F45B05}">
  <a:tblStyle styleId="{C2B62E61-DC41-4DD7-9662-F801B3F45B0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EB97DF5-3EEC-4A1F-BA86-7688E07734D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72" Type="http://customschemas.google.com/relationships/presentationmetadata" Target="meta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6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7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058e9178ee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058e9178ee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" name="Google Shape;2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https://software.hixie.ch/utilities/js/live-dom-viewer/</a:t>
            </a:r>
            <a:endParaRPr/>
          </a:p>
        </p:txBody>
      </p:sp>
      <p:sp>
        <p:nvSpPr>
          <p:cNvPr id="232" name="Google Shape;23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0" strike="noStrike">
                <a:latin typeface="Arial"/>
                <a:ea typeface="Arial"/>
                <a:cs typeface="Arial"/>
                <a:sym typeface="Arial"/>
              </a:rPr>
              <a:t>https://proglib.io/p/what-is-dom/</a:t>
            </a: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:notes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6" name="Google Shape;2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2" name="Google Shape;2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8" name="Google Shape;2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IOException!!!</a:t>
            </a:r>
            <a:endParaRPr/>
          </a:p>
        </p:txBody>
      </p:sp>
      <p:sp>
        <p:nvSpPr>
          <p:cNvPr id="264" name="Google Shape;2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0568260f3c_1_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IOException!!!</a:t>
            </a:r>
            <a:endParaRPr/>
          </a:p>
        </p:txBody>
      </p:sp>
      <p:sp>
        <p:nvSpPr>
          <p:cNvPr id="269" name="Google Shape;269;g30568260f3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0568260f3c_1_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IOException!!!</a:t>
            </a:r>
            <a:endParaRPr/>
          </a:p>
        </p:txBody>
      </p:sp>
      <p:sp>
        <p:nvSpPr>
          <p:cNvPr id="274" name="Google Shape;274;g30568260f3c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0568260f3c_1_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IOException!!!</a:t>
            </a:r>
            <a:endParaRPr/>
          </a:p>
        </p:txBody>
      </p:sp>
      <p:sp>
        <p:nvSpPr>
          <p:cNvPr id="279" name="Google Shape;279;g30568260f3c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0568260f3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0568260f3c_0_1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30568260f3c_0_12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1" name="Google Shape;2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раньше было, сейчас нет</a:t>
            </a:r>
            <a:endParaRPr/>
          </a:p>
        </p:txBody>
      </p:sp>
      <p:sp>
        <p:nvSpPr>
          <p:cNvPr id="297" name="Google Shape;29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0568260f3c_0_3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2" name="Google Shape;302;g30568260f3c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7" name="Google Shape;3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0568260f3c_0_2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3" name="Google Shape;313;g30568260f3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9" name="Google Shape;31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0" strike="noStrike">
                <a:latin typeface="Arial"/>
                <a:ea typeface="Arial"/>
                <a:cs typeface="Arial"/>
                <a:sym typeface="Arial"/>
              </a:rPr>
              <a:t>https://puzzleweb.ru/css/selectors.php</a:t>
            </a:r>
            <a:endParaRPr sz="2000" b="0" strike="noStrike">
              <a:latin typeface="Arial"/>
              <a:ea typeface="Arial"/>
              <a:cs typeface="Arial"/>
              <a:sym typeface="Arial"/>
            </a:endParaRPr>
          </a:p>
          <a:p>
            <a:pPr marL="21600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0" strike="noStrike">
                <a:latin typeface="Arial"/>
                <a:ea typeface="Arial"/>
                <a:cs typeface="Arial"/>
                <a:sym typeface="Arial"/>
              </a:rPr>
              <a:t>https://jsoup.org/apidocs/org/jsoup/select/Selector.html</a:t>
            </a: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6:notes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600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0" strike="noStrike">
                <a:latin typeface="Arial"/>
                <a:ea typeface="Arial"/>
                <a:cs typeface="Arial"/>
                <a:sym typeface="Arial"/>
              </a:rPr>
              <a:t>https://puzzleweb.ru/css/selectors.php</a:t>
            </a: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7:notes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6"/>
          <p:cNvSpPr txBox="1">
            <a:spLocks noGrp="1"/>
          </p:cNvSpPr>
          <p:nvPr>
            <p:ph type="subTitle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2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3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3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4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5"/>
          <p:cNvSpPr txBox="1">
            <a:spLocks noGrp="1"/>
          </p:cNvSpPr>
          <p:nvPr>
            <p:ph type="subTitle" idx="1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6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6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6"/>
          <p:cNvSpPr txBox="1">
            <a:spLocks noGrp="1"/>
          </p:cNvSpPr>
          <p:nvPr>
            <p:ph type="body" idx="3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7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7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7"/>
          <p:cNvSpPr txBox="1">
            <a:spLocks noGrp="1"/>
          </p:cNvSpPr>
          <p:nvPr>
            <p:ph type="body" idx="3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8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8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8"/>
          <p:cNvSpPr txBox="1">
            <a:spLocks noGrp="1"/>
          </p:cNvSpPr>
          <p:nvPr>
            <p:ph type="body" idx="3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9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9"/>
          <p:cNvSpPr txBox="1">
            <a:spLocks noGrp="1"/>
          </p:cNvSpPr>
          <p:nvPr>
            <p:ph type="body" idx="2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0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0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0"/>
          <p:cNvSpPr txBox="1">
            <a:spLocks noGrp="1"/>
          </p:cNvSpPr>
          <p:nvPr>
            <p:ph type="body" idx="3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0"/>
          <p:cNvSpPr txBox="1">
            <a:spLocks noGrp="1"/>
          </p:cNvSpPr>
          <p:nvPr>
            <p:ph type="body" idx="4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1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1"/>
          <p:cNvSpPr txBox="1">
            <a:spLocks noGrp="1"/>
          </p:cNvSpPr>
          <p:nvPr>
            <p:ph type="body" idx="2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1"/>
          <p:cNvSpPr txBox="1">
            <a:spLocks noGrp="1"/>
          </p:cNvSpPr>
          <p:nvPr>
            <p:ph type="body" idx="3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1"/>
          <p:cNvSpPr txBox="1">
            <a:spLocks noGrp="1"/>
          </p:cNvSpPr>
          <p:nvPr>
            <p:ph type="body" idx="4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1"/>
          <p:cNvSpPr txBox="1">
            <a:spLocks noGrp="1"/>
          </p:cNvSpPr>
          <p:nvPr>
            <p:ph type="body" idx="5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1"/>
          <p:cNvSpPr txBox="1">
            <a:spLocks noGrp="1"/>
          </p:cNvSpPr>
          <p:nvPr>
            <p:ph type="body" idx="6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2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72"/>
          <p:cNvSpPr txBox="1">
            <a:spLocks noGrp="1"/>
          </p:cNvSpPr>
          <p:nvPr>
            <p:ph type="subTitle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4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7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74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5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6"/>
          <p:cNvSpPr txBox="1">
            <a:spLocks noGrp="1"/>
          </p:cNvSpPr>
          <p:nvPr>
            <p:ph type="subTitle" idx="1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7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7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77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77"/>
          <p:cNvSpPr txBox="1">
            <a:spLocks noGrp="1"/>
          </p:cNvSpPr>
          <p:nvPr>
            <p:ph type="body" idx="3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8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7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78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78"/>
          <p:cNvSpPr txBox="1">
            <a:spLocks noGrp="1"/>
          </p:cNvSpPr>
          <p:nvPr>
            <p:ph type="body" idx="3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9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7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79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79"/>
          <p:cNvSpPr txBox="1">
            <a:spLocks noGrp="1"/>
          </p:cNvSpPr>
          <p:nvPr>
            <p:ph type="body" idx="3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0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8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80"/>
          <p:cNvSpPr txBox="1">
            <a:spLocks noGrp="1"/>
          </p:cNvSpPr>
          <p:nvPr>
            <p:ph type="body" idx="2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1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8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81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81"/>
          <p:cNvSpPr txBox="1">
            <a:spLocks noGrp="1"/>
          </p:cNvSpPr>
          <p:nvPr>
            <p:ph type="body" idx="3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81"/>
          <p:cNvSpPr txBox="1">
            <a:spLocks noGrp="1"/>
          </p:cNvSpPr>
          <p:nvPr>
            <p:ph type="body" idx="4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2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8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82"/>
          <p:cNvSpPr txBox="1">
            <a:spLocks noGrp="1"/>
          </p:cNvSpPr>
          <p:nvPr>
            <p:ph type="body" idx="2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82"/>
          <p:cNvSpPr txBox="1">
            <a:spLocks noGrp="1"/>
          </p:cNvSpPr>
          <p:nvPr>
            <p:ph type="body" idx="3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82"/>
          <p:cNvSpPr txBox="1">
            <a:spLocks noGrp="1"/>
          </p:cNvSpPr>
          <p:nvPr>
            <p:ph type="body" idx="4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82"/>
          <p:cNvSpPr txBox="1">
            <a:spLocks noGrp="1"/>
          </p:cNvSpPr>
          <p:nvPr>
            <p:ph type="body" idx="5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82"/>
          <p:cNvSpPr txBox="1">
            <a:spLocks noGrp="1"/>
          </p:cNvSpPr>
          <p:nvPr>
            <p:ph type="body" idx="6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0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6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60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4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84"/>
          <p:cNvSpPr txBox="1">
            <a:spLocks noGrp="1"/>
          </p:cNvSpPr>
          <p:nvPr>
            <p:ph type="subTitle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5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8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6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7"/>
          <p:cNvSpPr txBox="1">
            <a:spLocks noGrp="1"/>
          </p:cNvSpPr>
          <p:nvPr>
            <p:ph type="subTitle" idx="1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8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8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88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88"/>
          <p:cNvSpPr txBox="1">
            <a:spLocks noGrp="1"/>
          </p:cNvSpPr>
          <p:nvPr>
            <p:ph type="body" idx="3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9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8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89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89"/>
          <p:cNvSpPr txBox="1">
            <a:spLocks noGrp="1"/>
          </p:cNvSpPr>
          <p:nvPr>
            <p:ph type="body" idx="3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0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9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90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90"/>
          <p:cNvSpPr txBox="1">
            <a:spLocks noGrp="1"/>
          </p:cNvSpPr>
          <p:nvPr>
            <p:ph type="body" idx="3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1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9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91"/>
          <p:cNvSpPr txBox="1">
            <a:spLocks noGrp="1"/>
          </p:cNvSpPr>
          <p:nvPr>
            <p:ph type="body" idx="2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2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9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92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92"/>
          <p:cNvSpPr txBox="1">
            <a:spLocks noGrp="1"/>
          </p:cNvSpPr>
          <p:nvPr>
            <p:ph type="body" idx="3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92"/>
          <p:cNvSpPr txBox="1">
            <a:spLocks noGrp="1"/>
          </p:cNvSpPr>
          <p:nvPr>
            <p:ph type="body" idx="4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3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9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93"/>
          <p:cNvSpPr txBox="1">
            <a:spLocks noGrp="1"/>
          </p:cNvSpPr>
          <p:nvPr>
            <p:ph type="body" idx="2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93"/>
          <p:cNvSpPr txBox="1">
            <a:spLocks noGrp="1"/>
          </p:cNvSpPr>
          <p:nvPr>
            <p:ph type="body" idx="3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93"/>
          <p:cNvSpPr txBox="1">
            <a:spLocks noGrp="1"/>
          </p:cNvSpPr>
          <p:nvPr>
            <p:ph type="body" idx="4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93"/>
          <p:cNvSpPr txBox="1">
            <a:spLocks noGrp="1"/>
          </p:cNvSpPr>
          <p:nvPr>
            <p:ph type="body" idx="5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93"/>
          <p:cNvSpPr txBox="1">
            <a:spLocks noGrp="1"/>
          </p:cNvSpPr>
          <p:nvPr>
            <p:ph type="body" idx="6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058e9178ee_0_65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8" name="Google Shape;178;g3058e9178ee_0_65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9" name="Google Shape;179;g3058e9178ee_0_6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058e9178ee_0_69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2" name="Google Shape;182;g3058e9178ee_0_6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058e9178ee_0_7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g3058e9178ee_0_72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6" name="Google Shape;186;g3058e9178ee_0_7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058e9178ee_0_7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g3058e9178ee_0_76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0" name="Google Shape;190;g3058e9178ee_0_76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1" name="Google Shape;191;g3058e9178ee_0_7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058e9178ee_0_8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g3058e9178ee_0_8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058e9178ee_0_84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97" name="Google Shape;197;g3058e9178ee_0_84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8" name="Google Shape;198;g3058e9178ee_0_8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58e9178ee_0_8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01" name="Google Shape;201;g3058e9178ee_0_8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058e9178ee_0_91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3058e9178ee_0_91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05" name="Google Shape;205;g3058e9178ee_0_91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06" name="Google Shape;206;g3058e9178ee_0_91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7" name="Google Shape;207;g3058e9178ee_0_9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058e9178ee_0_97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210" name="Google Shape;210;g3058e9178ee_0_9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058e9178ee_0_100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3" name="Google Shape;213;g3058e9178ee_0_100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4" name="Google Shape;214;g3058e9178ee_0_10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058e9178ee_0_10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5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7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5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57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57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57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9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5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" name="Google Shape;120;p59"/>
          <p:cNvSpPr txBox="1">
            <a:spLocks noGrp="1"/>
          </p:cNvSpPr>
          <p:nvPr>
            <p:ph type="body" idx="2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" name="Google Shape;121;p59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" name="Google Shape;122;p59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" name="Google Shape;123;p59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058e9178ee_0_6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g3058e9178ee_0_6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g3058e9178ee_0_6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jsoup.org/apidocs/org/jsoup/nodes/Document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jsoup.org/cookbook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058e9178ee_0_55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Лекция 4</a:t>
            </a:r>
            <a:endParaRPr/>
          </a:p>
        </p:txBody>
      </p:sp>
      <p:sp>
        <p:nvSpPr>
          <p:cNvPr id="222" name="Google Shape;222;g3058e9178ee_0_55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Парсинг HTML</a:t>
            </a:r>
            <a:endParaRPr/>
          </a:p>
        </p:txBody>
      </p:sp>
      <p:pic>
        <p:nvPicPr>
          <p:cNvPr id="223" name="Google Shape;223;g3058e9178ee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8121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DOM</a:t>
            </a:r>
            <a:endParaRPr sz="4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3080" marR="0" lvl="0" indent="-3427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DOM (Document Object Model) – объектная модель, используемая для XML/HTML-документов.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3080" marR="0" lvl="0" indent="-34272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 ближайшем приближении DOM – это «дерево узлов» (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node tree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272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Единый корень разветвляется на множество дочерних ветвей, каждая из которых может ветвиться сама и заканчивается «листьями».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5" name="Google Shape;235;p3"/>
          <p:cNvGraphicFramePr/>
          <p:nvPr/>
        </p:nvGraphicFramePr>
        <p:xfrm>
          <a:off x="457200" y="1700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{C2B62E61-DC41-4DD7-9662-F801B3F45B05}</a:tableStyleId>
              </a:tblPr>
              <a:tblGrid>
                <a:gridCol w="397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73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&lt;!</a:t>
                      </a:r>
                      <a:r>
                        <a:rPr lang="en-US" sz="2000" b="0" u="none" strike="noStrike" cap="none">
                          <a:solidFill>
                            <a:srgbClr val="004ED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doctype </a:t>
                      </a:r>
                      <a:r>
                        <a:rPr lang="en-US" sz="2000" b="0" u="none" strike="noStrike" cap="none">
                          <a:solidFill>
                            <a:srgbClr val="002D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html</a:t>
                      </a: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r>
                        <a:rPr lang="en-US" sz="2000" b="0" u="none" strike="noStrike" cap="none">
                          <a:solidFill>
                            <a:srgbClr val="004ED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html </a:t>
                      </a:r>
                      <a:r>
                        <a:rPr lang="en-US" sz="2000" b="0" u="none" strike="noStrike" cap="none">
                          <a:solidFill>
                            <a:srgbClr val="002D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lang</a:t>
                      </a: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r>
                        <a:rPr lang="en-US" sz="2000" b="0" u="none" strike="noStrike" cap="none">
                          <a:solidFill>
                            <a:srgbClr val="008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"en"</a:t>
                      </a: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 &lt;</a:t>
                      </a:r>
                      <a:r>
                        <a:rPr lang="en-US" sz="2000" b="0" u="none" strike="noStrike" cap="none">
                          <a:solidFill>
                            <a:srgbClr val="002D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head</a:t>
                      </a: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   &lt;</a:t>
                      </a:r>
                      <a:r>
                        <a:rPr lang="en-US" sz="2000" b="0" u="none" strike="noStrike" cap="none">
                          <a:solidFill>
                            <a:srgbClr val="002D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</a:t>
                      </a: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r>
                        <a:rPr lang="en-US" sz="2000" b="0" u="none" strike="noStrike" cap="none">
                          <a:solidFill>
                            <a:srgbClr val="004ED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 first web </a:t>
                      </a:r>
                      <a:r>
                        <a:rPr lang="en-US" sz="2000" b="0" u="none" strike="noStrike" cap="none">
                          <a:solidFill>
                            <a:srgbClr val="002D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page</a:t>
                      </a: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&lt;/</a:t>
                      </a:r>
                      <a:r>
                        <a:rPr lang="en-US" sz="2000" b="0" u="none" strike="noStrike" cap="none">
                          <a:solidFill>
                            <a:srgbClr val="002D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</a:t>
                      </a: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 &lt;/</a:t>
                      </a:r>
                      <a:r>
                        <a:rPr lang="en-US" sz="2000" b="0" u="none" strike="noStrike" cap="none">
                          <a:solidFill>
                            <a:srgbClr val="002D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head</a:t>
                      </a: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 &lt;</a:t>
                      </a:r>
                      <a:r>
                        <a:rPr lang="en-US" sz="2000" b="0" u="none" strike="noStrike" cap="none">
                          <a:solidFill>
                            <a:srgbClr val="002D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body</a:t>
                      </a: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   &lt;</a:t>
                      </a:r>
                      <a:r>
                        <a:rPr lang="en-US" sz="2000" b="0" u="none" strike="noStrike" cap="none">
                          <a:solidFill>
                            <a:srgbClr val="002D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h1</a:t>
                      </a: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r>
                        <a:rPr lang="en-US" sz="2000" b="0" u="none" strike="noStrike" cap="none">
                          <a:solidFill>
                            <a:srgbClr val="002D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Hello</a:t>
                      </a:r>
                      <a:r>
                        <a:rPr lang="en-US" sz="2000" b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b="0" u="none" strike="noStrike" cap="none">
                          <a:solidFill>
                            <a:srgbClr val="002D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world</a:t>
                      </a: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!&lt;/</a:t>
                      </a:r>
                      <a:r>
                        <a:rPr lang="en-US" sz="2000" b="0" u="none" strike="noStrike" cap="none">
                          <a:solidFill>
                            <a:srgbClr val="002D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h1</a:t>
                      </a: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   &lt;</a:t>
                      </a:r>
                      <a:r>
                        <a:rPr lang="en-US" sz="2000" b="0" u="none" strike="noStrike" cap="none">
                          <a:solidFill>
                            <a:srgbClr val="002D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r>
                        <a:rPr lang="en-US" sz="2000" b="0" u="none" strike="noStrike" cap="none">
                          <a:solidFill>
                            <a:srgbClr val="004ED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How are </a:t>
                      </a:r>
                      <a:r>
                        <a:rPr lang="en-US" sz="2000" b="0" u="none" strike="noStrike" cap="none">
                          <a:solidFill>
                            <a:srgbClr val="002D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you</a:t>
                      </a:r>
                      <a:r>
                        <a:rPr lang="en-US" sz="2000" b="0" u="none" strike="noStrike" cap="non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</a:t>
                      </a: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&lt;/</a:t>
                      </a:r>
                      <a:r>
                        <a:rPr lang="en-US" sz="2000" b="0" u="none" strike="noStrike" cap="none">
                          <a:solidFill>
                            <a:srgbClr val="002D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 &lt;/</a:t>
                      </a:r>
                      <a:r>
                        <a:rPr lang="en-US" sz="2000" b="0" u="none" strike="noStrike" cap="none">
                          <a:solidFill>
                            <a:srgbClr val="002D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body</a:t>
                      </a: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&lt;/</a:t>
                      </a:r>
                      <a:r>
                        <a:rPr lang="en-US" sz="2000" b="0" u="none" strike="noStrike" cap="none">
                          <a:solidFill>
                            <a:srgbClr val="002D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html</a:t>
                      </a:r>
                      <a:r>
                        <a:rPr lang="en-US" sz="2000" b="0" u="none" strike="noStrike" cap="none">
                          <a:solidFill>
                            <a:srgbClr val="006F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Корень – это элемент html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Ветви – вложенные элементы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5450" marR="55450" marT="45725" marB="45725">
                    <a:solidFill>
                      <a:srgbClr val="FD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36" name="Google Shape;236;p3" descr="ÐÐ±ÑÐµÐºÑÐ½Ð°Ñ Ð¼Ð¾Ð´ÐµÐ»Ñ Ð´Ð¾ÐºÑÐ¼ÐµÐ½ÑÐ°: ÑÑÐ¾ ÑÐ°ÐºÐ¾Ðµ DOM Ð¸ ÑÐµÐ¼ Ð½Ðµ ÑÐ²Ð»ÑÐµÑÑÑ?"/>
          <p:cNvPicPr preferRelativeResize="0"/>
          <p:nvPr/>
        </p:nvPicPr>
        <p:blipFill rotWithShape="1">
          <a:blip r:embed="rId3">
            <a:alphaModFix/>
          </a:blip>
          <a:srcRect r="22231"/>
          <a:stretch/>
        </p:blipFill>
        <p:spPr>
          <a:xfrm>
            <a:off x="5436000" y="1556640"/>
            <a:ext cx="2911680" cy="3817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Основные характеристики объектной модели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27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основана на валидном HTML-коде;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272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может быть модифицирована из JavaScript;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272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не включает псевдоэлементы, созданные из CSS;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272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включает скрытые элементы (display: none).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"/>
          <p:cNvSpPr txBox="1"/>
          <p:nvPr/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JSoup</a:t>
            </a:r>
            <a:endParaRPr sz="4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 txBox="1"/>
          <p:nvPr/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Библиотека 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Ссылки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427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sng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https://jsoup.org/apidocs/org/jsoup/nodes/Document.html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3080" marR="0" lvl="0" indent="-34272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sng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https://jsoup.org/cookbook/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Зависимость для Maven</a:t>
            </a:r>
            <a:endParaRPr sz="4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&lt;dependency&gt;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&lt;groupId&gt;org.jsoup&lt;/groupId&gt;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&lt;artifactId&gt;jsoup&lt;/artifactId&gt;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&lt;version&gt;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версия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&lt;/version&gt;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&lt;/dependency&gt;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https://mvnrepository.com/artifact/org.jsoup/jsoup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"/>
          <p:cNvSpPr txBox="1"/>
          <p:nvPr/>
        </p:nvSpPr>
        <p:spPr>
          <a:xfrm>
            <a:off x="404950" y="692650"/>
            <a:ext cx="8321100" cy="56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Document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можно загрузить из: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Из строки: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lang="en-US" sz="245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Document str = Jsoup.parse(HTMLS</a:t>
            </a:r>
            <a:r>
              <a:rPr lang="en-US" sz="2450"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245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ring);</a:t>
            </a:r>
            <a:endParaRPr sz="245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Из файла: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Document htmlFile = Jsoup.</a:t>
            </a:r>
            <a:endParaRPr sz="2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parse(new File("login.html"), "ISO-8859-1");</a:t>
            </a:r>
            <a:endParaRPr sz="2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3080" lvl="0" indent="-34308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 веб-сайта: 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Document web = Jsoup.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connect("http://google.com/").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get();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0568260f3c_1_0"/>
          <p:cNvSpPr txBox="1"/>
          <p:nvPr/>
        </p:nvSpPr>
        <p:spPr>
          <a:xfrm>
            <a:off x="404950" y="692650"/>
            <a:ext cx="8321100" cy="56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try {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Document doc = Jsoup.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connect("http://google.com").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userAgent("Chrome/129.0.6668.71").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get();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catch (IOException e) {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//TODO: обработка исключения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0568260f3c_1_5"/>
          <p:cNvSpPr txBox="1"/>
          <p:nvPr/>
        </p:nvSpPr>
        <p:spPr>
          <a:xfrm>
            <a:off x="83625" y="692650"/>
            <a:ext cx="9060300" cy="56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try {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query ="happy"; 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url = "http://mp3party.net/search?q=";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Document doc = Jsoup.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connect(url + query).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userAgent("Chrome/129.0.6668.71").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get();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catch (IOException e) {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//TODO: обработка исключения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0568260f3c_1_9"/>
          <p:cNvSpPr txBox="1"/>
          <p:nvPr/>
        </p:nvSpPr>
        <p:spPr>
          <a:xfrm>
            <a:off x="404950" y="692650"/>
            <a:ext cx="8321100" cy="56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try {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query ="happy"; 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Document doc = Jsoup.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connect("http://mp3party.net/search").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userAgent("Chrome/129.0.6668.71").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data("q",query).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get();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            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catch (IOException e) {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//TODO: обработка исключения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0568260f3c_0_12"/>
          <p:cNvSpPr txBox="1"/>
          <p:nvPr/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Методы Document</a:t>
            </a:r>
            <a:endParaRPr sz="4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8" name="Google Shape;288;g30568260f3c_0_12"/>
          <p:cNvGraphicFramePr/>
          <p:nvPr/>
        </p:nvGraphicFramePr>
        <p:xfrm>
          <a:off x="297325" y="161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{DEB97DF5-3EEC-4A1F-BA86-7688E07734DB}</a:tableStyleId>
              </a:tblPr>
              <a:tblGrid>
                <a:gridCol w="304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7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Element body()</a:t>
                      </a:r>
                      <a:endParaRPr sz="3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элемент </a:t>
                      </a:r>
                      <a:r>
                        <a:rPr lang="en-US" sz="30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body</a:t>
                      </a:r>
                      <a:r>
                        <a:rPr lang="en-US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документа</a:t>
                      </a:r>
                      <a:endParaRPr sz="3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641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Element head()</a:t>
                      </a:r>
                      <a:endParaRPr sz="3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641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элемент </a:t>
                      </a:r>
                      <a:r>
                        <a:rPr lang="en-US" sz="30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head </a:t>
                      </a:r>
                      <a:r>
                        <a:rPr lang="en-US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документа</a:t>
                      </a:r>
                      <a:endParaRPr sz="3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6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641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Charset charset()</a:t>
                      </a:r>
                      <a:endParaRPr sz="3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641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charset, </a:t>
                      </a:r>
                      <a:r>
                        <a:rPr lang="en-US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использованный в данном документе</a:t>
                      </a:r>
                      <a:endParaRPr sz="3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641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 location()</a:t>
                      </a:r>
                      <a:endParaRPr sz="3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641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30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URL </a:t>
                      </a:r>
                      <a:r>
                        <a:rPr lang="en-US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данного документа</a:t>
                      </a:r>
                      <a:endParaRPr sz="3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6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641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String title()</a:t>
                      </a:r>
                      <a:endParaRPr sz="3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641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содержание заголовка документа</a:t>
                      </a:r>
                      <a:endParaRPr sz="3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Методы поиска элементов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1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3080" marR="0" lvl="0" indent="-3427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Element getElementById(String id), 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3080" marR="0" lvl="0" indent="-34272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Elements getElementsByTag(String tag),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272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Elements getElementsByClass(String className),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272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Elements getElementsByAttribute(String key) - элемент, имеющие указанный атрибут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272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Elements getElementsByAttributeValue(String key, String value) - элемент, имеющие атрибут со значением </a:t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"/>
          <p:cNvSpPr txBox="1"/>
          <p:nvPr/>
        </p:nvSpPr>
        <p:spPr>
          <a:xfrm>
            <a:off x="457200" y="360000"/>
            <a:ext cx="8229240" cy="60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 странице google.com н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айти элемент  image с атрибутом  id = "hplogo" и вывести значение его атрибута alt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&lt;img alt="Google" height="92" 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id="hplogo" 	src="/images/branding/googlelogo/2x/googlelogo_color_272x92dp.png" 	srcset="/images/branding/googlelogo/1x/googlelogo_color_272x92dp.png 1x, /images/branding/googlelogo/2x/googlelogo_color_272x92dp.png 2x" 	style="padding-top:109px" width="272" onload="window.lol&amp;amp;&amp;amp;lol()" Data-atf="1"&gt;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Element input = doc.body().getElementById("hplogo"); </a:t>
            </a:r>
            <a:endParaRPr sz="20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System.out.print(input.attr("alt"));</a:t>
            </a: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0568260f3c_0_35"/>
          <p:cNvSpPr txBox="1"/>
          <p:nvPr/>
        </p:nvSpPr>
        <p:spPr>
          <a:xfrm>
            <a:off x="457200" y="540000"/>
            <a:ext cx="8290800" cy="58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На странице google.com найти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все элементы input, вывести названия тегов и названия их классов (атрибута class)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Elements inputs = doc.getElementsByTag("input");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System.out.println(inputs.size());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for (Element input:inputs) {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 System.out.println(input.tagName() + "  " + input.attr("class"));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        }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"/>
          <p:cNvSpPr txBox="1"/>
          <p:nvPr/>
        </p:nvSpPr>
        <p:spPr>
          <a:xfrm>
            <a:off x="457200" y="540000"/>
            <a:ext cx="8290800" cy="58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На странице google.com найти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элемент (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кнопк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у)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с атрибутом jsaction="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trigger.kWlxhc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&lt;input class="RNmpXc" value="Мне повезёт!" aria-label="Мне повезёт!" name="btnI" type="submit" jsaction="trigger.kWlxhc" data-ved="0ahUKEwi9g5i7vd6IAxWlVUEAHaxjCbsQ19QECB4"&gt;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Element button = doc.body().</a:t>
            </a:r>
            <a:b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getElementsByAttributeValue("jsaction", "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trigger.kWlxhc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").</a:t>
            </a:r>
            <a:b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first(); 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Google Shape;31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3547" y="1947025"/>
            <a:ext cx="2328300" cy="1972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0568260f3c_0_26"/>
          <p:cNvSpPr txBox="1"/>
          <p:nvPr/>
        </p:nvSpPr>
        <p:spPr>
          <a:xfrm>
            <a:off x="457200" y="540000"/>
            <a:ext cx="8290800" cy="58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На странице google.com найти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элемент (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кнопк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у)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с атрибутом jsaction="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trigger.kWlxhc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&lt;input class="RNmpXc" value="Мне повезёт!" aria-label="Мне повезёт!" name="btnI" type="submit" jsaction="trigger.kWlxhc" data-ved="0ahUKEwi9g5i7vd6IAxWlVUEAHaxjCbsQ19QECB4"&gt;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Селектор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641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Element button = doc.</a:t>
            </a:r>
            <a:b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select("input[jsaction=\"trigger.kWlxhc\"]").</a:t>
            </a:r>
            <a:b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first();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16" name="Google Shape;316;g30568260f3c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3547" y="1947025"/>
            <a:ext cx="2328300" cy="1972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4"/>
          <p:cNvSpPr txBox="1"/>
          <p:nvPr/>
        </p:nvSpPr>
        <p:spPr>
          <a:xfrm>
            <a:off x="457200" y="540000"/>
            <a:ext cx="8229300" cy="55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Ссылка с почтой. Получить текст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у тега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&lt;a class="gb_d" data-pid="23" href="https://mail.google.com/mail/?tab=wm"&gt;Почта&lt;/a&gt;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 text = doc.</a:t>
            </a:r>
            <a:b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select("a.gb_d[data-pid=\"23\"]").</a:t>
            </a:r>
            <a:b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first().</a:t>
            </a:r>
            <a:br>
              <a:rPr lang="en-US" sz="20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text();</a:t>
            </a:r>
            <a:endParaRPr sz="20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6"/>
          <p:cNvSpPr txBox="1"/>
          <p:nvPr/>
        </p:nvSpPr>
        <p:spPr>
          <a:xfrm>
            <a:off x="395536" y="188640"/>
            <a:ext cx="8229240" cy="41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550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Селекторы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8" name="Google Shape;328;p16"/>
          <p:cNvGraphicFramePr/>
          <p:nvPr/>
        </p:nvGraphicFramePr>
        <p:xfrm>
          <a:off x="395536" y="7647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{C2B62E61-DC41-4DD7-9662-F801B3F45B05}</a:tableStyleId>
              </a:tblPr>
              <a:tblGrid>
                <a:gridCol w="200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CSS селектор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Пример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Описание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338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.class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.myClass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элементы с классом myClass (class="myClass").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338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#id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#main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элемент с идентификатором main (id="main").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338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Выбор всех элементов.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338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элемент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span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Выбор всех элементов &lt;span&gt;.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338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элемент,элемент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div,span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Выбор всех элементов &lt;div&gt; и всех элементов &lt;span&gt;.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338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[атрибут]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[title]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элементы с атрибутом title.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9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338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[атрибут="значение"]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[title="cost"]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элементы с атрибутом title, значение которого в точности совпадает со значением указанным в селекторе (title="cost").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338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[атрибут~="значение"]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[title~="один"]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элементы с атрибутом title, в значении которого (в любом месте) встречается подстрока (в виде отдельного слова) "один" (title="один и два").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5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338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[атрибут^="значение"]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a[href^="https"]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Выбор всех элементов &lt;a&gt; с атрибутом href, значение которого начинается с "https".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4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338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[атрибут$="значение"]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[src$=".png"]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элементы с атрибутом src, значение которого оканчивается на ".png" (src="some_img.png").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93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338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[атрибут*="значение"]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[title*="один"]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элементы с атрибутом title, в значении которого (в любом месте) встречается подстрока (в виде отдельного слова или его части) "один" (title="один и два").</a:t>
                      </a:r>
                      <a:endParaRPr sz="15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0" marR="68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7"/>
          <p:cNvSpPr txBox="1"/>
          <p:nvPr/>
        </p:nvSpPr>
        <p:spPr>
          <a:xfrm>
            <a:off x="457200" y="274680"/>
            <a:ext cx="8229240" cy="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Комбинаторы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5" name="Google Shape;335;p17"/>
          <p:cNvGraphicFramePr/>
          <p:nvPr/>
        </p:nvGraphicFramePr>
        <p:xfrm>
          <a:off x="251640" y="1582560"/>
          <a:ext cx="8568725" cy="4363100"/>
        </p:xfrm>
        <a:graphic>
          <a:graphicData uri="http://schemas.openxmlformats.org/drawingml/2006/table">
            <a:tbl>
              <a:tblPr>
                <a:noFill/>
                <a:tableStyleId>{C2B62E61-DC41-4DD7-9662-F801B3F45B05}</a:tableStyleId>
              </a:tblPr>
              <a:tblGrid>
                <a:gridCol w="228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Комбинатор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9150" marR="291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Пример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9150" marR="291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B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Описание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9150" marR="291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B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338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элемент элемент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9150" marR="291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 span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9150" marR="291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Выбор всех элементов &lt;span&gt; внутри &lt;div&gt;.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9150" marR="291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338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элемент&gt;элемент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9150" marR="291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div&gt;span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9150" marR="291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дочерние элементы &lt;span&gt;, у которых родитель - элемент &lt;div&gt;.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9150" marR="291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338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элемент+элемент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9150" marR="291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div+p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9150" marR="291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Выбирает все элементы &lt;p&gt;, которые расположены сразу после элементов &lt;div&gt;.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9150" marR="291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6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3380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элемент1~элемент2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9150" marR="291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p~ol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9150" marR="291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Выбор всех элементов &lt;ol&gt;, которым предшествует элемент &lt;p&gt;.</a:t>
                      </a:r>
                      <a:endParaRPr sz="20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9150" marR="29150" marT="45725" marB="45725">
                    <a:lnL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2B2B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1417</Words>
  <Application>Microsoft Office PowerPoint</Application>
  <PresentationFormat>Экран (4:3)</PresentationFormat>
  <Paragraphs>205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20</vt:i4>
      </vt:variant>
    </vt:vector>
  </HeadingPairs>
  <TitlesOfParts>
    <vt:vector size="28" baseType="lpstr">
      <vt:lpstr>Calibri</vt:lpstr>
      <vt:lpstr>Arial</vt:lpstr>
      <vt:lpstr>Times New Roman</vt:lpstr>
      <vt:lpstr>Courier New</vt:lpstr>
      <vt:lpstr>Office Theme</vt:lpstr>
      <vt:lpstr>Office Theme</vt:lpstr>
      <vt:lpstr>Office Theme</vt:lpstr>
      <vt:lpstr>Simple Light</vt:lpstr>
      <vt:lpstr>Лекция 4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4</dc:title>
  <dc:creator>korshun</dc:creator>
  <cp:lastModifiedBy>Шалагинова Надежда Владимировна</cp:lastModifiedBy>
  <cp:revision>1</cp:revision>
  <dcterms:created xsi:type="dcterms:W3CDTF">2019-03-14T13:42:08Z</dcterms:created>
  <dcterms:modified xsi:type="dcterms:W3CDTF">2024-09-26T07:41:29Z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Экран (4:3)</vt:lpwstr>
  </property>
  <property fmtid="{D5CDD505-2E9C-101B-9397-08002B2CF9AE}" pid="4" name="Slides">
    <vt:i4>63</vt:i4>
  </property>
</Properties>
</file>