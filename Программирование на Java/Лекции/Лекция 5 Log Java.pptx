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OoONLEloqZ9m/dy5Vz2Q47srt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58ccfdc61_0_5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58ccfdc6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60f4933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660f4933f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Создать свой Handler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https://www.logicbig.com/tutorials/core-java-tutorial/logging/custom-handler.html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58ccfdc61_0_6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g3058ccfdc61_0_6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g3058ccfdc61_0_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58ccfdc61_0_6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g3058ccfdc61_0_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58ccfdc61_0_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g3058ccfdc61_0_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g3058ccfdc61_0_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58ccfdc61_0_7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g3058ccfdc61_0_7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g3058ccfdc61_0_7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g3058ccfdc61_0_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58ccfdc61_0_8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g3058ccfdc61_0_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58ccfdc61_0_8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g3058ccfdc61_0_8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g3058ccfdc61_0_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58ccfdc61_0_8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3" name="Google Shape;113;g3058ccfdc61_0_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58ccfdc61_0_9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058ccfdc61_0_9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7" name="Google Shape;117;g3058ccfdc61_0_9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g3058ccfdc61_0_9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g3058ccfdc61_0_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58ccfdc61_0_9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2" name="Google Shape;122;g3058ccfdc61_0_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58ccfdc61_0_10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" name="Google Shape;125;g3058ccfdc61_0_10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g3058ccfdc61_0_1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58ccfdc61_0_1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058ccfdc61_0_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g3058ccfdc61_0_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" name="Google Shape;87;g3058ccfdc61_0_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58ccfdc61_0_5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Лекция 5</a:t>
            </a:r>
            <a:endParaRPr/>
          </a:p>
        </p:txBody>
      </p:sp>
      <p:sp>
        <p:nvSpPr>
          <p:cNvPr id="134" name="Google Shape;134;g3058ccfdc61_0_5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</a:t>
            </a:r>
            <a:endParaRPr/>
          </a:p>
        </p:txBody>
      </p:sp>
      <p:pic>
        <p:nvPicPr>
          <p:cNvPr id="135" name="Google Shape;135;g3058ccfdc61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</a:t>
            </a:r>
            <a:endParaRPr/>
          </a:p>
        </p:txBody>
      </p:sp>
      <p:sp>
        <p:nvSpPr>
          <p:cNvPr id="141" name="Google Shape;14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800"/>
              <a:t>Лог (log)</a:t>
            </a:r>
            <a:r>
              <a:rPr lang="en-US" sz="2800"/>
              <a:t> - это специальный журнал, в котором хранится информация о состоянии работы приложения (программы).</a:t>
            </a:r>
            <a:endParaRPr sz="2800"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800"/>
              <a:t>Примеры записей в журнал:</a:t>
            </a:r>
            <a:endParaRPr sz="4000"/>
          </a:p>
          <a:p>
            <a:pPr indent="-393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сведения о том, что все работает в штатном режиме, то есть просто ежедневный мониторинг приложения; </a:t>
            </a:r>
            <a:endParaRPr sz="2800"/>
          </a:p>
          <a:p>
            <a:pPr indent="-3937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произошла какая-то ошибка, на которую нужно максимально срочно отреагировать и устранить.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System.err.println</a:t>
            </a:r>
            <a:endParaRPr/>
          </a:p>
        </p:txBody>
      </p:sp>
      <p:sp>
        <p:nvSpPr>
          <p:cNvPr id="147" name="Google Shape;14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System.err.println</a:t>
            </a:r>
            <a:endParaRPr b="1"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Первый и самый примитивный способ логирования - это метод </a:t>
            </a:r>
            <a:br>
              <a:rPr lang="en-US" sz="2000"/>
            </a:br>
            <a:r>
              <a:rPr lang="en-US" sz="2000"/>
              <a:t>System.err.println(). </a:t>
            </a:r>
            <a:br>
              <a:rPr lang="en-US" sz="2000"/>
            </a:b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// Определяем файл в который будем писать лог</a:t>
            </a:r>
            <a:r>
              <a:rPr lang="en-US" sz="2000"/>
              <a:t>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System.setErr(new PrintStream(new File("log.txt"))); 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// Выводим сообщения</a:t>
            </a:r>
            <a:r>
              <a:rPr lang="en-US" sz="2000"/>
              <a:t>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System.err.println("Сообщение 1"); 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System.err.println("Сообщение 2"); 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// Выводим сообщение об ошибке</a:t>
            </a:r>
            <a:r>
              <a:rPr lang="en-US" sz="2000"/>
              <a:t>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try { 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throw new Exception("Сообщение об ошибке"); 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} catch (Exception e) { 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e.printStackTrace(); 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}</a:t>
            </a:r>
            <a:endParaRPr b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744279"/>
            <a:ext cx="8229600" cy="538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b="1" lang="en-US"/>
              <a:t>try </a:t>
            </a:r>
            <a:r>
              <a:rPr lang="en-US"/>
              <a:t>{</a:t>
            </a:r>
            <a:br>
              <a:rPr lang="en-US"/>
            </a:br>
            <a:r>
              <a:rPr lang="en-US"/>
              <a:t>    System.</a:t>
            </a:r>
            <a:r>
              <a:rPr i="1" lang="en-US"/>
              <a:t>setErr</a:t>
            </a:r>
            <a:r>
              <a:rPr lang="en-US"/>
              <a:t>(</a:t>
            </a:r>
            <a:r>
              <a:rPr b="1" lang="en-US"/>
              <a:t>new </a:t>
            </a:r>
            <a:r>
              <a:rPr lang="en-US"/>
              <a:t>PrintStream(</a:t>
            </a:r>
            <a:r>
              <a:rPr b="1" lang="en-US"/>
              <a:t>new </a:t>
            </a:r>
            <a:r>
              <a:rPr lang="en-US"/>
              <a:t>File(</a:t>
            </a:r>
            <a:r>
              <a:rPr b="1" lang="en-US"/>
              <a:t>"src/output/log.txt"</a:t>
            </a:r>
            <a:r>
              <a:rPr lang="en-US"/>
              <a:t>)));</a:t>
            </a:r>
            <a:br>
              <a:rPr lang="en-US"/>
            </a:br>
            <a:r>
              <a:rPr lang="en-US"/>
              <a:t>} </a:t>
            </a:r>
            <a:r>
              <a:rPr b="1" lang="en-US"/>
              <a:t>catch </a:t>
            </a:r>
            <a:r>
              <a:rPr lang="en-US"/>
              <a:t>(FileNotFoundException e) {</a:t>
            </a:r>
            <a:br>
              <a:rPr lang="en-US"/>
            </a:br>
            <a:r>
              <a:rPr lang="en-US"/>
              <a:t>    e.printStackTrace();</a:t>
            </a:r>
            <a:br>
              <a:rPr lang="en-US"/>
            </a:br>
            <a:r>
              <a:rPr lang="en-US"/>
              <a:t>}</a:t>
            </a:r>
            <a:br>
              <a:rPr lang="en-US"/>
            </a:br>
            <a:r>
              <a:rPr i="1" lang="en-US"/>
              <a:t>// Выводим сообщения</a:t>
            </a:r>
            <a:br>
              <a:rPr i="1" lang="en-US"/>
            </a:br>
            <a:r>
              <a:rPr lang="en-US"/>
              <a:t>System.</a:t>
            </a:r>
            <a:r>
              <a:rPr b="1" i="1" lang="en-US"/>
              <a:t>err</a:t>
            </a:r>
            <a:r>
              <a:rPr lang="en-US"/>
              <a:t>.println(</a:t>
            </a:r>
            <a:r>
              <a:rPr b="1" lang="en-US"/>
              <a:t>"Сообщение 1"</a:t>
            </a:r>
            <a:r>
              <a:rPr lang="en-US"/>
              <a:t>);</a:t>
            </a:r>
            <a:br>
              <a:rPr lang="en-US"/>
            </a:br>
            <a:r>
              <a:rPr lang="en-US"/>
              <a:t>System.</a:t>
            </a:r>
            <a:r>
              <a:rPr b="1" i="1" lang="en-US"/>
              <a:t>err</a:t>
            </a:r>
            <a:r>
              <a:rPr lang="en-US"/>
              <a:t>.println(</a:t>
            </a:r>
            <a:r>
              <a:rPr b="1" lang="en-US"/>
              <a:t>"Сообщение 2"</a:t>
            </a:r>
            <a:r>
              <a:rPr lang="en-US"/>
              <a:t>);</a:t>
            </a:r>
            <a:br>
              <a:rPr lang="en-US"/>
            </a:br>
            <a:br>
              <a:rPr lang="en-US"/>
            </a:br>
            <a:r>
              <a:rPr b="1" lang="en-US"/>
              <a:t>try </a:t>
            </a:r>
            <a:r>
              <a:rPr lang="en-US"/>
              <a:t>{</a:t>
            </a:r>
            <a:br>
              <a:rPr lang="en-US"/>
            </a:br>
            <a:r>
              <a:rPr lang="en-US"/>
              <a:t>    </a:t>
            </a:r>
            <a:r>
              <a:rPr b="1" lang="en-US"/>
              <a:t>throw new </a:t>
            </a:r>
            <a:r>
              <a:rPr lang="en-US"/>
              <a:t>Exception(</a:t>
            </a:r>
            <a:r>
              <a:rPr b="1" lang="en-US"/>
              <a:t>"Сообщение об ошибке"</a:t>
            </a:r>
            <a:r>
              <a:rPr lang="en-US"/>
              <a:t>);</a:t>
            </a:r>
            <a:br>
              <a:rPr lang="en-US"/>
            </a:br>
            <a:r>
              <a:rPr lang="en-US"/>
              <a:t>} </a:t>
            </a:r>
            <a:r>
              <a:rPr b="1" lang="en-US"/>
              <a:t>catch </a:t>
            </a:r>
            <a:r>
              <a:rPr lang="en-US"/>
              <a:t>(Exception e) {</a:t>
            </a:r>
            <a:br>
              <a:rPr lang="en-US"/>
            </a:br>
            <a:r>
              <a:rPr lang="en-US"/>
              <a:t>    e.printStackTrace();</a:t>
            </a:r>
            <a:br>
              <a:rPr lang="en-US"/>
            </a:b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Ф</a:t>
            </a:r>
            <a:r>
              <a:rPr lang="en-US" sz="3959"/>
              <a:t>реймворки логирования</a:t>
            </a:r>
            <a:endParaRPr sz="3959"/>
          </a:p>
        </p:txBody>
      </p:sp>
      <p:sp>
        <p:nvSpPr>
          <p:cNvPr id="158" name="Google Shape;15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JUL — java.util.logging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log4j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JCL — jakarta commons logging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Logback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SLF4J — simple logging facade for java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JUL — java.util.logging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Java.util.logging</a:t>
            </a:r>
            <a:endParaRPr/>
          </a:p>
        </p:txBody>
      </p:sp>
      <p:sp>
        <p:nvSpPr>
          <p:cNvPr id="169" name="Google Shape;169;p6"/>
          <p:cNvSpPr txBox="1"/>
          <p:nvPr>
            <p:ph idx="1" type="body"/>
          </p:nvPr>
        </p:nvSpPr>
        <p:spPr>
          <a:xfrm>
            <a:off x="457200" y="1600200"/>
            <a:ext cx="8229600" cy="48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JUL включен в стандарт и поставляется вместе с JDK. 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/>
              <a:t>Создание логгера - вызов статического метода класса 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import java.util.logging.Logger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LogDemo{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	private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Logger LOGGER = 	Logger.getLogger(LogDemo.</a:t>
            </a: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.getName());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/>
              <a:t>Каждый класс получает свой индивидуальный логгер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/>
              <a:t>Логгер настраивается с точностью до класса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200"/>
              <a:t>Логгеры выстраиваются в иерархию в соответствии с именами классов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Уровни логирования</a:t>
            </a:r>
            <a:endParaRPr/>
          </a:p>
        </p:txBody>
      </p:sp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361510" y="1382233"/>
            <a:ext cx="8399721" cy="5071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40"/>
              <a:buChar char="•"/>
            </a:pPr>
            <a:r>
              <a:rPr lang="en-US" sz="2600"/>
              <a:t>Уровни логирования определяют степень серьезности сообщения. </a:t>
            </a:r>
            <a:endParaRPr sz="2600"/>
          </a:p>
          <a:p>
            <a:pPr indent="-35560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440"/>
              <a:buChar char="•"/>
            </a:pPr>
            <a:r>
              <a:rPr lang="en-US" sz="2600"/>
              <a:t>Класс Level используется для определения того, какие сообщения должны быть записаны в журнал.</a:t>
            </a:r>
            <a:endParaRPr sz="2600"/>
          </a:p>
          <a:p>
            <a:pPr indent="-35560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440"/>
              <a:buChar char="•"/>
            </a:pPr>
            <a:r>
              <a:rPr lang="en-US" sz="2600"/>
              <a:t>JUL имеет следующие уровни логирования по возрастанию: </a:t>
            </a:r>
            <a:endParaRPr sz="2600"/>
          </a:p>
          <a:p>
            <a:pPr indent="-298450" lvl="1" marL="742950" rtl="0" algn="l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</a:pPr>
            <a:r>
              <a:rPr lang="en-US" sz="2600"/>
              <a:t>FINEST, FINER, FINE </a:t>
            </a:r>
            <a:endParaRPr sz="2600"/>
          </a:p>
          <a:p>
            <a:pPr indent="-298450" lvl="1" marL="742950" rtl="0" algn="l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</a:pPr>
            <a:r>
              <a:rPr lang="en-US" sz="2600"/>
              <a:t>CONFIG </a:t>
            </a:r>
            <a:endParaRPr sz="2600"/>
          </a:p>
          <a:p>
            <a:pPr indent="-298450" lvl="1" marL="742950" rtl="0" algn="l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</a:pPr>
            <a:r>
              <a:rPr lang="en-US" sz="2600"/>
              <a:t>INFO </a:t>
            </a:r>
            <a:endParaRPr sz="2600"/>
          </a:p>
          <a:p>
            <a:pPr indent="-298450" lvl="1" marL="742950" rtl="0" algn="l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SzPts val="2160"/>
              <a:buChar char="–"/>
            </a:pPr>
            <a:r>
              <a:rPr lang="en-US" sz="2600"/>
              <a:t>WARNING </a:t>
            </a:r>
            <a:endParaRPr sz="2600"/>
          </a:p>
          <a:p>
            <a:pPr indent="-298450" lvl="1" marL="742950" rtl="0" algn="l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</a:pPr>
            <a:r>
              <a:rPr lang="en-US" sz="2600"/>
              <a:t>SEVERE </a:t>
            </a:r>
            <a:endParaRPr sz="2600"/>
          </a:p>
          <a:p>
            <a:pPr indent="-298450" lvl="1" marL="742950" rtl="0" algn="l">
              <a:lnSpc>
                <a:spcPct val="80000"/>
              </a:lnSpc>
              <a:spcBef>
                <a:spcPts val="392"/>
              </a:spcBef>
              <a:spcAft>
                <a:spcPts val="0"/>
              </a:spcAft>
              <a:buSzPts val="2160"/>
              <a:buChar char="–"/>
            </a:pPr>
            <a:r>
              <a:rPr lang="en-US" sz="2600"/>
              <a:t>ALL и OFF 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60f4933fa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Уровни логирования по возра</a:t>
            </a:r>
            <a:endParaRPr/>
          </a:p>
        </p:txBody>
      </p:sp>
      <p:sp>
        <p:nvSpPr>
          <p:cNvPr id="181" name="Google Shape;181;g3660f4933fa_0_0"/>
          <p:cNvSpPr txBox="1"/>
          <p:nvPr>
            <p:ph idx="1" type="body"/>
          </p:nvPr>
        </p:nvSpPr>
        <p:spPr>
          <a:xfrm>
            <a:off x="361510" y="1382233"/>
            <a:ext cx="8399700" cy="50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392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FINEST, FINER, FINE – детальное логирования работы программы, вплоть до входа и выхода в метод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CONFIG – логирование конфигурационных параметров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INFO – логированеи информационных сообщений о нормальном ходе исполнения программы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WARNING – логирование предупреждений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SEVERE – логирование серьезных ошибок программы, исключений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ALL и OFF – включение и выключение всех уровней соответственно.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Уровень логирования</a:t>
            </a:r>
            <a:endParaRPr/>
          </a:p>
        </p:txBody>
      </p:sp>
      <p:sp>
        <p:nvSpPr>
          <p:cNvPr id="187" name="Google Shape;187;p8"/>
          <p:cNvSpPr txBox="1"/>
          <p:nvPr>
            <p:ph idx="1" type="body"/>
          </p:nvPr>
        </p:nvSpPr>
        <p:spPr>
          <a:xfrm>
            <a:off x="457200" y="1600200"/>
            <a:ext cx="6358200" cy="49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Сбор сообщений по уровням: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Логгер, настроенный на уровень WARNING, принимает сообщения с уровней SEVERE и WARNING.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С каких уровней принимает сообщения данный логгер</a:t>
            </a:r>
            <a:br>
              <a:rPr lang="en-US"/>
            </a:br>
            <a:br>
              <a:rPr lang="en-US"/>
            </a:br>
            <a:r>
              <a:rPr lang="en-US"/>
              <a:t>LOGGER.setLevel(Level.INFO);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3595" y="1417638"/>
            <a:ext cx="1347788" cy="4428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3959"/>
              <a:t>Две группы методов для </a:t>
            </a:r>
            <a:r>
              <a:rPr lang="en-US" sz="3959"/>
              <a:t>логирования</a:t>
            </a:r>
            <a:endParaRPr sz="3959"/>
          </a:p>
        </p:txBody>
      </p:sp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40724" lvl="0" marL="457200" rtl="0" algn="l">
              <a:lnSpc>
                <a:spcPct val="110000"/>
              </a:lnSpc>
              <a:spcBef>
                <a:spcPts val="640"/>
              </a:spcBef>
              <a:spcAft>
                <a:spcPts val="0"/>
              </a:spcAft>
              <a:buSzPct val="125432"/>
              <a:buChar char="•"/>
            </a:pPr>
            <a:r>
              <a:rPr lang="en-US"/>
              <a:t>Методы, название которых соответствует уровню </a:t>
            </a:r>
            <a:r>
              <a:rPr lang="en-US"/>
              <a:t>логирования</a:t>
            </a:r>
            <a:r>
              <a:rPr lang="en-US"/>
              <a:t>, логируют сообщение данного уровня.</a:t>
            </a:r>
            <a:br>
              <a:rPr lang="en-US"/>
            </a:br>
            <a:br>
              <a:rPr lang="en-US"/>
            </a:br>
            <a:r>
              <a:rPr lang="en-US" sz="2758">
                <a:latin typeface="Consolas"/>
                <a:ea typeface="Consolas"/>
                <a:cs typeface="Consolas"/>
                <a:sym typeface="Consolas"/>
              </a:rPr>
              <a:t>LOGGER.info(stringMessage); LOGGER.warning(stringMessage);</a:t>
            </a:r>
            <a:br>
              <a:rPr lang="en-US" sz="2758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758">
                <a:latin typeface="Consolas"/>
                <a:ea typeface="Consolas"/>
                <a:cs typeface="Consolas"/>
                <a:sym typeface="Consolas"/>
              </a:rPr>
              <a:t>LOGGER.severe(stringMessage);</a:t>
            </a:r>
            <a:endParaRPr sz="2758">
              <a:latin typeface="Consolas"/>
              <a:ea typeface="Consolas"/>
              <a:cs typeface="Consolas"/>
              <a:sym typeface="Consolas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440724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Char char="•"/>
            </a:pPr>
            <a:r>
              <a:rPr lang="en-US"/>
              <a:t>Методы log, loggp, logrb, принимающие уровень логирования в качестве параметра с типом Level.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idx="1" type="body"/>
          </p:nvPr>
        </p:nvSpPr>
        <p:spPr>
          <a:xfrm>
            <a:off x="457200" y="620688"/>
            <a:ext cx="8229600" cy="5832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Метод log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459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459"/>
              <a:buNone/>
            </a:pPr>
            <a:r>
              <a:rPr lang="en-US"/>
              <a:t>Примеры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459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"Information");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"Information {0}", 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"Information {0} {1}", </a:t>
            </a:r>
            <a:br>
              <a:rPr lang="en-US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				new Object[] {x, y});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254000" lvl="0" marL="660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459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459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459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 catch( Exception ex 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459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   LOGGER.log(Level.SEVERE, ex.toString(), ex 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459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459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45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idx="1" type="body"/>
          </p:nvPr>
        </p:nvSpPr>
        <p:spPr>
          <a:xfrm>
            <a:off x="457200" y="476672"/>
            <a:ext cx="8229600" cy="6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0"/>
              <a:t>Методы логгера могут принимать в качестве аргументов:</a:t>
            </a:r>
            <a:endParaRPr b="1" sz="244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0"/>
          </a:p>
          <a:p>
            <a:pPr indent="-35560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000"/>
              <a:buFont typeface="Consolas"/>
              <a:buChar char="•"/>
            </a:pPr>
            <a:r>
              <a:rPr i="1" lang="en-US" sz="2000">
                <a:latin typeface="Consolas"/>
                <a:ea typeface="Consolas"/>
                <a:cs typeface="Consolas"/>
                <a:sym typeface="Consolas"/>
              </a:rPr>
              <a:t>Строковое сообщение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String stringMessage = "Сообщение";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000"/>
              <a:buFont typeface="Consolas"/>
              <a:buChar char="•"/>
            </a:pPr>
            <a:r>
              <a:rPr i="1" lang="en-US" sz="2000">
                <a:latin typeface="Consolas"/>
                <a:ea typeface="Consolas"/>
                <a:cs typeface="Consolas"/>
                <a:sym typeface="Consolas"/>
              </a:rPr>
              <a:t>Шаблон </a:t>
            </a:r>
            <a:r>
              <a:rPr i="1" lang="en-US" sz="2000">
                <a:latin typeface="Consolas"/>
                <a:ea typeface="Consolas"/>
                <a:cs typeface="Consolas"/>
                <a:sym typeface="Consolas"/>
              </a:rPr>
              <a:t>сообщения</a:t>
            </a:r>
            <a:r>
              <a:rPr i="1" lang="en-US" sz="2000">
                <a:latin typeface="Consolas"/>
                <a:ea typeface="Consolas"/>
                <a:cs typeface="Consolas"/>
                <a:sym typeface="Consolas"/>
              </a:rPr>
              <a:t> - строковое сообщение с параметрами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String stringMessageFormat ="Сообщение {0}";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000"/>
              <a:buFont typeface="Consolas"/>
              <a:buChar char="•"/>
            </a:pPr>
            <a:r>
              <a:rPr i="1" lang="en-US" sz="2000">
                <a:latin typeface="Consolas"/>
                <a:ea typeface="Consolas"/>
                <a:cs typeface="Consolas"/>
                <a:sym typeface="Consolas"/>
              </a:rPr>
              <a:t>Исключение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Throwable throwable = new Throwable();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000"/>
              <a:buFont typeface="Consolas"/>
              <a:buChar char="•"/>
            </a:pPr>
            <a:r>
              <a:rPr i="1" lang="en-US" sz="2000">
                <a:latin typeface="Consolas"/>
                <a:ea typeface="Consolas"/>
                <a:cs typeface="Consolas"/>
                <a:sym typeface="Consolas"/>
              </a:rPr>
              <a:t>Поставщик сообщений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с Java 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Supplier&lt;String&gt; stringMessageSupplier = ()-&gt;"Сообщение";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t/>
            </a:r>
            <a:endParaRPr i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Arial"/>
              <a:buNone/>
            </a:pPr>
            <a:r>
              <a:rPr b="1" lang="en-US" sz="2440"/>
              <a:t>Вывести сообщение с указанием уровня логирования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stringMessage);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stringMessageSupplier);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stringMessageFormat, args);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stringMessage, throwable );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LOGGER.log(Level.INFO, throwable, stringMessageSupplier);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java.util.logging.Handler</a:t>
            </a:r>
            <a:endParaRPr/>
          </a:p>
        </p:txBody>
      </p:sp>
      <p:sp>
        <p:nvSpPr>
          <p:cNvPr id="211" name="Google Shape;211;p14"/>
          <p:cNvSpPr txBox="1"/>
          <p:nvPr>
            <p:ph idx="1" type="body"/>
          </p:nvPr>
        </p:nvSpPr>
        <p:spPr>
          <a:xfrm>
            <a:off x="457200" y="1600200"/>
            <a:ext cx="8229600" cy="2724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По умолчанию JUL выводит сообщения на консоль.</a:t>
            </a:r>
            <a:endParaRPr sz="2720"/>
          </a:p>
          <a:p>
            <a:pPr indent="-17018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t/>
            </a:r>
            <a:endParaRPr sz="2720"/>
          </a:p>
          <a:p>
            <a:pPr indent="-34290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Чтобы задать способ вывода сообщений необходимо для логгера указать, какие хендлеры он будет использовать.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java.util.logging.Handler </a:t>
            </a:r>
            <a:r>
              <a:rPr lang="en-US" sz="2720"/>
              <a:t>– абстрактный базовый класс для:</a:t>
            </a:r>
            <a:endParaRPr sz="2720"/>
          </a:p>
          <a:p>
            <a:pPr indent="-17018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t/>
            </a:r>
            <a:endParaRPr sz="2720"/>
          </a:p>
          <a:p>
            <a:pPr indent="-17018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t/>
            </a:r>
            <a:endParaRPr sz="2720"/>
          </a:p>
        </p:txBody>
      </p:sp>
      <p:pic>
        <p:nvPicPr>
          <p:cNvPr id="212" name="Google Shape;2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8274" y="3941849"/>
            <a:ext cx="1747451" cy="2184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209075" y="654900"/>
            <a:ext cx="8809500" cy="5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private final static Logger LOGGER = Logger.getLogger(GameGUI.class.getName());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//LOGGER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FileHandler fileHandler = new FileHandler("src/output/log.txt");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fileHandler.setFormatter(new SimpleFormatter());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fileHandler.setLevel(Level.ALL);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//LOGGER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LOGGER.addHandler(fileHandler);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java.util.logging.Formatter</a:t>
            </a:r>
            <a:endParaRPr/>
          </a:p>
        </p:txBody>
      </p:sp>
      <p:sp>
        <p:nvSpPr>
          <p:cNvPr id="223" name="Google Shape;2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Определяет формат записи в лог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java.util.logging.SimpleFormatter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java.util.logging.XMLFormatter</a:t>
            </a:r>
            <a:endParaRPr/>
          </a:p>
        </p:txBody>
      </p:sp>
      <p:pic>
        <p:nvPicPr>
          <p:cNvPr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2258" y="3694413"/>
            <a:ext cx="3274541" cy="1718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2018-04-01T12:33:33Z</dcterms:created>
  <dc:creator>Student</dc:creator>
</cp:coreProperties>
</file>