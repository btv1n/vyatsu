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3" r:id="rId7"/>
    <p:sldMasterId id="214748368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</p:sldIdLst>
  <p:sldSz cy="6858000" cx="9144000"/>
  <p:notesSz cx="6858000" cy="9144000"/>
  <p:embeddedFontLst>
    <p:embeddedFont>
      <p:font typeface="JetBrains Mon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3" roundtripDataSignature="AMtx7mhgtg4hfqM7ktQ7x9idH+jH+7WN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8C11AA-0303-4E1A-9333-5BA0BEC43FB3}">
  <a:tblStyle styleId="{5A8C11AA-0303-4E1A-9333-5BA0BEC43F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font" Target="fonts/JetBrainsMon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font" Target="fonts/JetBrainsMono-italic.fntdata"/><Relationship Id="rId50" Type="http://schemas.openxmlformats.org/officeDocument/2006/relationships/font" Target="fonts/JetBrainsMono-bold.fntdata"/><Relationship Id="rId53" Type="http://customschemas.google.com/relationships/presentationmetadata" Target="metadata"/><Relationship Id="rId52" Type="http://schemas.openxmlformats.org/officeDocument/2006/relationships/font" Target="fonts/JetBrainsMono-boldItalic.fntdata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58e9178ee_0_5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058e9178e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2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https://chromedriver.chromium.org/downloads</a:t>
            </a:r>
            <a:endParaRPr/>
          </a:p>
        </p:txBody>
      </p:sp>
      <p:sp>
        <p:nvSpPr>
          <p:cNvPr id="249" name="Google Shape;249;p2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23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2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2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2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2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2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3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3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3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3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3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3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3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http://программисту.рф/theory/xpath-example/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Функции Xpath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000" strike="noStrike">
                <a:latin typeface="Arial"/>
                <a:ea typeface="Arial"/>
                <a:cs typeface="Arial"/>
                <a:sym typeface="Arial"/>
              </a:rPr>
              <a:t>http://citforum.ru/internet/xpath/xpath04.shtml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6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3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3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//</a:t>
            </a:r>
            <a:endParaRPr/>
          </a:p>
        </p:txBody>
      </p:sp>
      <p:sp>
        <p:nvSpPr>
          <p:cNvPr id="348" name="Google Shape;348;p3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4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note - название тега из примера</a:t>
            </a:r>
            <a:endParaRPr/>
          </a:p>
        </p:txBody>
      </p:sp>
      <p:sp>
        <p:nvSpPr>
          <p:cNvPr id="359" name="Google Shape;359;p4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42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43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d40f159ea4_0_9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d40f159ea4_0_9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2d40f159ea4_0_9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p4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4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4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4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4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4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5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5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5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6" name="Google Shape;436;p53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53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p5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94759f2719_0_0:notes"/>
          <p:cNvSpPr/>
          <p:nvPr>
            <p:ph idx="2" type="sldImg"/>
          </p:nvPr>
        </p:nvSpPr>
        <p:spPr>
          <a:xfrm>
            <a:off x="216000" y="812520"/>
            <a:ext cx="7127400" cy="4008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g294759f2719_0_0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g294759f2719_0_0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58e9178ee_0_6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058e9178ee_0_6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058e9178ee_0_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58e9178ee_0_69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058e9178ee_0_6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058e9178ee_0_7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058e9178ee_0_7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058e9178ee_0_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058e9178ee_0_7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058e9178ee_0_7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058e9178ee_0_7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058e9178ee_0_7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058e9178ee_0_8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058e9178ee_0_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058e9178ee_0_84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058e9178ee_0_84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058e9178ee_0_8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058e9178ee_0_8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058e9178ee_0_8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058e9178ee_0_9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058e9178ee_0_9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058e9178ee_0_9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058e9178ee_0_9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058e9178ee_0_9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58e9178ee_0_97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058e9178ee_0_9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058e9178ee_0_100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058e9178ee_0_100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058e9178ee_0_10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058e9178ee_0_10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3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2"/>
          <p:cNvSpPr txBox="1"/>
          <p:nvPr>
            <p:ph idx="1"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4"/>
          <p:cNvSpPr txBox="1"/>
          <p:nvPr>
            <p:ph idx="1"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4"/>
          <p:cNvSpPr txBox="1"/>
          <p:nvPr>
            <p:ph idx="2"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6"/>
          <p:cNvSpPr txBox="1"/>
          <p:nvPr>
            <p:ph idx="1"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7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7"/>
          <p:cNvSpPr txBox="1"/>
          <p:nvPr>
            <p:ph idx="2"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7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8"/>
          <p:cNvSpPr txBox="1"/>
          <p:nvPr>
            <p:ph idx="1"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8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8"/>
          <p:cNvSpPr txBox="1"/>
          <p:nvPr>
            <p:ph idx="3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9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9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9"/>
          <p:cNvSpPr txBox="1"/>
          <p:nvPr>
            <p:ph idx="3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0"/>
          <p:cNvSpPr txBox="1"/>
          <p:nvPr>
            <p:ph idx="1"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0"/>
          <p:cNvSpPr txBox="1"/>
          <p:nvPr>
            <p:ph idx="2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1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81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1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1"/>
          <p:cNvSpPr txBox="1"/>
          <p:nvPr>
            <p:ph idx="4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82"/>
          <p:cNvSpPr txBox="1"/>
          <p:nvPr>
            <p:ph idx="1"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82"/>
          <p:cNvSpPr txBox="1"/>
          <p:nvPr>
            <p:ph idx="2"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82"/>
          <p:cNvSpPr txBox="1"/>
          <p:nvPr>
            <p:ph idx="3"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82"/>
          <p:cNvSpPr txBox="1"/>
          <p:nvPr>
            <p:ph idx="4"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82"/>
          <p:cNvSpPr txBox="1"/>
          <p:nvPr>
            <p:ph idx="5"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2"/>
          <p:cNvSpPr txBox="1"/>
          <p:nvPr>
            <p:ph idx="6"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0"/>
          <p:cNvSpPr txBox="1"/>
          <p:nvPr>
            <p:ph idx="1"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0"/>
          <p:cNvSpPr txBox="1"/>
          <p:nvPr>
            <p:ph idx="2"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84"/>
          <p:cNvSpPr txBox="1"/>
          <p:nvPr>
            <p:ph idx="1"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5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7"/>
          <p:cNvSpPr txBox="1"/>
          <p:nvPr>
            <p:ph idx="1"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8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88"/>
          <p:cNvSpPr txBox="1"/>
          <p:nvPr>
            <p:ph idx="2"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88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89"/>
          <p:cNvSpPr txBox="1"/>
          <p:nvPr>
            <p:ph idx="1"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9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89"/>
          <p:cNvSpPr txBox="1"/>
          <p:nvPr>
            <p:ph idx="3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90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90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90"/>
          <p:cNvSpPr txBox="1"/>
          <p:nvPr>
            <p:ph idx="3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91"/>
          <p:cNvSpPr txBox="1"/>
          <p:nvPr>
            <p:ph idx="1"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91"/>
          <p:cNvSpPr txBox="1"/>
          <p:nvPr>
            <p:ph idx="2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92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92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92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92"/>
          <p:cNvSpPr txBox="1"/>
          <p:nvPr>
            <p:ph idx="4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93"/>
          <p:cNvSpPr txBox="1"/>
          <p:nvPr>
            <p:ph idx="1"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93"/>
          <p:cNvSpPr txBox="1"/>
          <p:nvPr>
            <p:ph idx="2"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93"/>
          <p:cNvSpPr txBox="1"/>
          <p:nvPr>
            <p:ph idx="3"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93"/>
          <p:cNvSpPr txBox="1"/>
          <p:nvPr>
            <p:ph idx="4"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93"/>
          <p:cNvSpPr txBox="1"/>
          <p:nvPr>
            <p:ph idx="5"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93"/>
          <p:cNvSpPr txBox="1"/>
          <p:nvPr>
            <p:ph idx="6"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6"/>
          <p:cNvSpPr txBox="1"/>
          <p:nvPr>
            <p:ph idx="1"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2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62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3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63"/>
          <p:cNvSpPr txBox="1"/>
          <p:nvPr>
            <p:ph idx="1"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63"/>
          <p:cNvSpPr txBox="1"/>
          <p:nvPr>
            <p:ph idx="2"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5"/>
          <p:cNvSpPr txBox="1"/>
          <p:nvPr>
            <p:ph idx="1"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66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66"/>
          <p:cNvSpPr txBox="1"/>
          <p:nvPr>
            <p:ph idx="2"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66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67"/>
          <p:cNvSpPr txBox="1"/>
          <p:nvPr>
            <p:ph idx="1"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67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67"/>
          <p:cNvSpPr txBox="1"/>
          <p:nvPr>
            <p:ph idx="3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68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68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68"/>
          <p:cNvSpPr txBox="1"/>
          <p:nvPr>
            <p:ph idx="3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69"/>
          <p:cNvSpPr txBox="1"/>
          <p:nvPr>
            <p:ph idx="1"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69"/>
          <p:cNvSpPr txBox="1"/>
          <p:nvPr>
            <p:ph idx="2"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70"/>
          <p:cNvSpPr txBox="1"/>
          <p:nvPr>
            <p:ph idx="1"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70"/>
          <p:cNvSpPr txBox="1"/>
          <p:nvPr>
            <p:ph idx="2"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70"/>
          <p:cNvSpPr txBox="1"/>
          <p:nvPr>
            <p:ph idx="3"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70"/>
          <p:cNvSpPr txBox="1"/>
          <p:nvPr>
            <p:ph idx="4"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71"/>
          <p:cNvSpPr txBox="1"/>
          <p:nvPr>
            <p:ph idx="1"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71"/>
          <p:cNvSpPr txBox="1"/>
          <p:nvPr>
            <p:ph idx="2"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71"/>
          <p:cNvSpPr txBox="1"/>
          <p:nvPr>
            <p:ph idx="3"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71"/>
          <p:cNvSpPr txBox="1"/>
          <p:nvPr>
            <p:ph idx="4"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71"/>
          <p:cNvSpPr txBox="1"/>
          <p:nvPr>
            <p:ph idx="5"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71"/>
          <p:cNvSpPr txBox="1"/>
          <p:nvPr>
            <p:ph idx="6"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58e9178ee_0_6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058e9178ee_0_6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058e9178ee_0_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57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5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5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5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59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59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5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5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5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5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p5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5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5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55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uru99.com/selenium-tutorial.html" TargetMode="External"/><Relationship Id="rId4" Type="http://schemas.openxmlformats.org/officeDocument/2006/relationships/hyperlink" Target="https://www.javatpoint.com/selenium-tutorial" TargetMode="External"/><Relationship Id="rId5" Type="http://schemas.openxmlformats.org/officeDocument/2006/relationships/hyperlink" Target="https://riptutorial.com/selenium/example/13952/simple-selenium-test-in-java" TargetMode="External"/><Relationship Id="rId6" Type="http://schemas.openxmlformats.org/officeDocument/2006/relationships/hyperlink" Target="https://www.selenium.dev/documentation/webdriver/" TargetMode="External"/><Relationship Id="rId7" Type="http://schemas.openxmlformats.org/officeDocument/2006/relationships/hyperlink" Target="https://kreisfahrer.gitbooks.io/selenium-webdriver/content/webdriver_intro/osnovnie_metodi_selenium_webdriver_api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sky.pro/wiki/java/kak-sovershit-mouseover-v-selenium-web-driver-na-java/" TargetMode="External"/><Relationship Id="rId4" Type="http://schemas.openxmlformats.org/officeDocument/2006/relationships/hyperlink" Target="https://howtodoinjava.com/xml/java-xpath-tutorial-example/" TargetMode="External"/><Relationship Id="rId5" Type="http://schemas.openxmlformats.org/officeDocument/2006/relationships/hyperlink" Target="https://habr.com/ru/articles/502292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058e9178ee_0_5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Лекция 6</a:t>
            </a:r>
            <a:endParaRPr/>
          </a:p>
        </p:txBody>
      </p:sp>
      <p:sp>
        <p:nvSpPr>
          <p:cNvPr id="222" name="Google Shape;222;g3058e9178ee_0_5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Selenium</a:t>
            </a:r>
            <a:endParaRPr/>
          </a:p>
        </p:txBody>
      </p:sp>
      <p:pic>
        <p:nvPicPr>
          <p:cNvPr id="223" name="Google Shape;223;g3058e9178ee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12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Selenium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0" i="0" lang="en-US" sz="3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акет автоматизированного тестирования для веб-приложений для различных браузеров и платформ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/>
        </p:nvSpPr>
        <p:spPr>
          <a:xfrm>
            <a:off x="457200" y="900000"/>
            <a:ext cx="8229240" cy="522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6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https://www.guru99.com/selenium-tutorial.html</a:t>
            </a:r>
            <a:endParaRPr sz="26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6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https://www.javatpoint.com/selenium-tutorial</a:t>
            </a:r>
            <a:endParaRPr sz="26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6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https://riptutorial.com/selenium/example/13952/simple-selenium-test-in-java</a:t>
            </a:r>
            <a:endParaRPr sz="26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6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https://www.selenium.dev/documentation/webdriver/</a:t>
            </a:r>
            <a:endParaRPr sz="26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6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https://kreisfahrer.gitbooks.io/selenium-webdriver/content/webdriver_intro/osnovnie_metodi_selenium_webdriver_api.html</a:t>
            </a:r>
            <a:endParaRPr sz="26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6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hlink"/>
              </a:buClr>
              <a:buSzPts val="2600"/>
              <a:buFont typeface="Calibri"/>
              <a:buChar char="•"/>
            </a:pPr>
            <a:r>
              <a:rPr lang="en-US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https://testengineer.ru/selenium-webdriver/</a:t>
            </a:r>
            <a:endParaRPr sz="26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Maven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100">
                <a:latin typeface="Calibri"/>
                <a:ea typeface="Calibri"/>
                <a:cs typeface="Calibri"/>
                <a:sym typeface="Calibri"/>
              </a:rPr>
              <a:t>&lt;!-- https://mvnrepository.com/artifact/org.seleniumhq.selenium/selenium-java --&gt;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100">
                <a:latin typeface="Calibri"/>
                <a:ea typeface="Calibri"/>
                <a:cs typeface="Calibri"/>
                <a:sym typeface="Calibri"/>
              </a:rPr>
              <a:t>&lt;dependency&gt;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100">
                <a:latin typeface="Calibri"/>
                <a:ea typeface="Calibri"/>
                <a:cs typeface="Calibri"/>
                <a:sym typeface="Calibri"/>
              </a:rPr>
              <a:t>    &lt;groupId&gt;org.seleniumhq.selenium&lt;/groupId&gt;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100">
                <a:latin typeface="Calibri"/>
                <a:ea typeface="Calibri"/>
                <a:cs typeface="Calibri"/>
                <a:sym typeface="Calibri"/>
              </a:rPr>
              <a:t>    &lt;artifactId&gt;selenium-java&lt;/artifactId&gt;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100">
                <a:latin typeface="Calibri"/>
                <a:ea typeface="Calibri"/>
                <a:cs typeface="Calibri"/>
                <a:sym typeface="Calibri"/>
              </a:rPr>
              <a:t>    &lt;version&gt;4.25.0&lt;/version&gt;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100">
                <a:latin typeface="Calibri"/>
                <a:ea typeface="Calibri"/>
                <a:cs typeface="Calibri"/>
                <a:sym typeface="Calibri"/>
              </a:rPr>
              <a:t>&lt;/dependency&gt;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Возьмите последнюю версию, она должна соответствовать последней версии браузера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Browsers supported by Selenium WebDriver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Explorer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Mozilla Firefox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Google Chrome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Safari и др.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5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https://www.javatpoint.com/selenium-webdriver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/>
        </p:nvSpPr>
        <p:spPr>
          <a:xfrm>
            <a:off x="457200" y="548640"/>
            <a:ext cx="8229240" cy="5577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Алгоритм работы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strike="sngStrike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3200" u="none" cap="none" strike="sng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Скачать webdriver для своего браузера</a:t>
            </a:r>
            <a:endParaRPr b="0" i="0" sz="2300" u="none" cap="none" strike="sngStrike">
              <a:solidFill>
                <a:srgbClr val="8B8B8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Создать драйвер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WebDriver </a:t>
            </a:r>
            <a:r>
              <a:rPr b="0" i="0" lang="en-US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chromeDriver = new ChromeDriver();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Закончить работу с драйвером корректно - закрыть драйвер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chromeDriver.quit();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Получение заголовка сайта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chromeDriver.</a:t>
            </a:r>
            <a:r>
              <a:rPr b="0" i="0" lang="en-US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get("https://m.cdsvyatka.com/");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 title = chromeDriver.getTitle();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https://businfo.cdsvyatka.com/</a:t>
            </a:r>
            <a:endParaRPr b="0" i="0" sz="3200" u="none" cap="none" strike="noStrike">
              <a:solidFill>
                <a:srgbClr val="6A875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4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Получение списка автобусов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List&lt;WebElement&gt; list = chromeDriver.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findElementsByTagName("option");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(WebElement e: list ){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System.out.println(e.getText() + " " + 					e.getAttribute("value"));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Методы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https://testengineer.ru/selenium-webdriver/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"/>
          <p:cNvSpPr txBox="1"/>
          <p:nvPr/>
        </p:nvSpPr>
        <p:spPr>
          <a:xfrm>
            <a:off x="457200" y="274680"/>
            <a:ext cx="8229240" cy="44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124325" y="1080000"/>
            <a:ext cx="8903400" cy="5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List&lt;WebElement&gt; list = chromeDriver.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findElementsByTagName("option");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//1 способ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dropdown = new Select(chromeDriver.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findElement(By.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cssSelector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("select.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combobox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")));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//2 способ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dropdown = new Select(chromeDriver.</a:t>
            </a:r>
            <a:endParaRPr b="0" i="0" sz="2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findElement(By.ByXPath("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//select[@class="combobox"]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"))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dropdown.selectByValue(list.get(0).getAttribute("value"));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XPath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Позволяет реализовать навигацию по DOM в XML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 txBox="1"/>
          <p:nvPr/>
        </p:nvSpPr>
        <p:spPr>
          <a:xfrm>
            <a:off x="457200" y="476640"/>
            <a:ext cx="8229240" cy="564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Выражения XPath можно использовать в: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JavaScript,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схемах XML,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PHP,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Python,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 и C++ и т.д.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/>
          <p:nvPr/>
        </p:nvSpPr>
        <p:spPr>
          <a:xfrm>
            <a:off x="457200" y="274680"/>
            <a:ext cx="822924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6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457200" y="980640"/>
            <a:ext cx="4038120" cy="554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7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&lt;?xml version="1.0" encoding="utf-8" ?&gt;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&lt;inventory&gt;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&lt;!--Test is test comment--&gt;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&lt;book year="2000"&gt;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    &lt;title&gt;Snow Crash&lt;/title&gt;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    &lt;author&gt;Neal Stephenson&lt;/author&gt;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    &lt;publisher&gt;Spectra&lt;/publisher&gt;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    &lt;isbn&gt;0553380958&lt;/isbn&gt;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    &lt;price&gt;14.95&lt;/price&gt;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&lt;/book&gt;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&lt;book year="1995"&gt;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    &lt;title&gt;Zodiac&lt;/title&gt;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    &lt;author&gt;Neal Stephenson&lt;/author&gt;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    &lt;publisher&gt;Spectra&lt;/publisher&gt;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    &lt;isbn&gt;0553573862&lt;/isbn&gt;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    &lt;price&gt;7.50&lt;/price&gt;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   &lt;/book&gt;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&lt;/inventory&gt;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9"/>
          <p:cNvSpPr txBox="1"/>
          <p:nvPr/>
        </p:nvSpPr>
        <p:spPr>
          <a:xfrm>
            <a:off x="4648320" y="980640"/>
            <a:ext cx="4038120" cy="561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Документ XML рассматривают как дерево узлов.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 узлам относят: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root node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Element nodes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Attribute nodes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nodes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Comment nodes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Processing instruction nodes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Namespace nodes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Терминология в Xpath.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Атомарные значения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0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Узлы, у которых нет родителей и потомков, называются </a:t>
            </a:r>
            <a:r>
              <a:rPr b="1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атомарными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значениями.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Snow Crash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"2000"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Атомарные значения (узлы) называются </a:t>
            </a:r>
            <a:r>
              <a:rPr b="1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элементами данных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Терминология в Xpath.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Отношения узлов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1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000" lnSpcReduction="20000"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Родитель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У каждого элемента есть один родитель.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Прямые потомки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У элемента может быть ноль, один или больше прямых потомков.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Элементы данных одного уровня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Узлы, у которых один и тот же родитель, являются элементами данных одного уровня.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Предки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Предками называются родители узлов, родители родителей и т.д.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Потомки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Потомками называются прямые потомки узлов, прямые потомки прямых потомков и т.д.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Синтаксис XPath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2"/>
          <p:cNvSpPr txBox="1"/>
          <p:nvPr/>
        </p:nvSpPr>
        <p:spPr>
          <a:xfrm>
            <a:off x="457200" y="1600200"/>
            <a:ext cx="822924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Для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выбора узлов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и наборов узлов в XML-документе XPath использует выражения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путей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6" name="Google Shape;306;p32"/>
          <p:cNvGraphicFramePr/>
          <p:nvPr/>
        </p:nvGraphicFramePr>
        <p:xfrm>
          <a:off x="517680" y="312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{5A8C11AA-0303-4E1A-9333-5BA0BEC43FB3}</a:tableStyleId>
              </a:tblPr>
              <a:tblGrid>
                <a:gridCol w="1645925"/>
                <a:gridCol w="6583675"/>
              </a:tblGrid>
              <a:tr h="38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Выражение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5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Результат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27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</a:tr>
              <a:tr h="38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1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имя_узла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узлы с именем "имя_узла"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8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от корневого узла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64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узлы от текущего узла, соответствующего выбору, независимо от их местонахождения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8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текущий узел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8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родителя текущего узла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8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атрибуты</a:t>
                      </a:r>
                      <a:endParaRPr b="0"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457200" y="1600200"/>
            <a:ext cx="822924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&lt;xml version="1.0" encoding="UTF-8"?&gt;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&lt;messages&gt;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&lt;note&gt;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&lt;heading  date="10/01/2008"&gt;Напоминание&lt;/heading&gt;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&lt;body&gt;Отправить письмо!&lt;/body&gt;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&lt;/note&gt;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&lt;note&gt;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&lt;heading  date="11/01/2008"&gt;Re: Напоминание&lt;/heading&gt;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&lt;body&gt;Письмо отправлено&lt;/body&gt;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&lt;/note&gt;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&lt;/messages&gt;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Выбор узлов в примере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8" name="Google Shape;318;p34"/>
          <p:cNvGraphicFramePr/>
          <p:nvPr/>
        </p:nvGraphicFramePr>
        <p:xfrm>
          <a:off x="457200" y="154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{5A8C11AA-0303-4E1A-9333-5BA0BEC43FB3}</a:tableStyleId>
              </a:tblPr>
              <a:tblGrid>
                <a:gridCol w="1645925"/>
                <a:gridCol w="6583675"/>
              </a:tblGrid>
              <a:tr h="59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Выражение Xpath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AF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Результат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0E7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</a:tr>
              <a:tr h="36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messages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узлы с именем "messages"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841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/messages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корневой элемент сообщений</a:t>
                      </a:r>
                      <a:br>
                        <a:rPr lang="en-US" sz="1400" u="none" cap="none" strike="noStrike"/>
                      </a:b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Примечание</a:t>
                      </a: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Если путь начинается с косой черты ( / ), то он всегда представляет абсолютный путь к элементу!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59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messages/note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note, являющиеся прямыми потомками элемента messages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6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//note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note независимо от того, где в документе они находятся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82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messages//note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note, являющиеся потомками элемента messages независимо от того, где они находятся от элемента messages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6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//@date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с именами атрибутов date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Предикаты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5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Уточнение запроса с помощью предиката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Предикаты позволяют найти конкретный узел или узел с конкретным значением.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Предикаты всегда заключаются в квадратные скобки.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Предикаты в примере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1" name="Google Shape;331;p36"/>
          <p:cNvGraphicFramePr/>
          <p:nvPr/>
        </p:nvGraphicFramePr>
        <p:xfrm>
          <a:off x="323640" y="148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{5A8C11AA-0303-4E1A-9333-5BA0BEC43FB3}</a:tableStyleId>
              </a:tblPr>
              <a:tblGrid>
                <a:gridCol w="3010675"/>
                <a:gridCol w="5486050"/>
              </a:tblGrid>
              <a:tr h="35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Выражение XPath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79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Результат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078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</a:tr>
              <a:tr h="149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/messages/note[1]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первый элемент note, который является прямым потомком элемента messages.</a:t>
                      </a:r>
                      <a:br>
                        <a:rPr lang="en-US" sz="1400" u="none" cap="none" strike="noStrike"/>
                      </a:b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Примечание</a:t>
                      </a: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В IE 5,6,7,8,9 первым узлом будет [0], однако согласно W3C это должен быть [1]. Чтобы решить эту проблему в IE, нужно установить опцию SelectionLanguage в значение XPath.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58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/messages/note[last()]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последний элемент note, который является прямым потомком элемента messages.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58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/messages/note[last()-1]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предпоследний элемент note, который является прямым потомком элемента messages.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58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/messages/note[position()&lt;=2]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первые два элемента note, которые являются прямыми потомками элемента messages.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5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//heading[@date]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heading, у которых есть атрибут date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58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//heading[@date="10/01/2008"]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heading, у которых есть атрибут date со значением "10/01/2008"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3000" marL="63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Выбор неизвестных заранее узлов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7" name="Google Shape;337;p37"/>
          <p:cNvGraphicFramePr/>
          <p:nvPr/>
        </p:nvGraphicFramePr>
        <p:xfrm>
          <a:off x="446760" y="1628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{5A8C11AA-0303-4E1A-9333-5BA0BEC43FB3}</a:tableStyleId>
              </a:tblPr>
              <a:tblGrid>
                <a:gridCol w="1645925"/>
                <a:gridCol w="6583675"/>
              </a:tblGrid>
              <a:tr h="36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Спецсимвол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055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Описание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5D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</a:tr>
              <a:tr h="36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Соответствует любому узлу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6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@*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Соответствует любому атрибуту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6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node()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Соответствует любому узлу любого типа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8" name="Google Shape;338;p37"/>
          <p:cNvGraphicFramePr/>
          <p:nvPr/>
        </p:nvGraphicFramePr>
        <p:xfrm>
          <a:off x="446760" y="3860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{5A8C11AA-0303-4E1A-9333-5BA0BEC43FB3}</a:tableStyleId>
              </a:tblPr>
              <a:tblGrid>
                <a:gridCol w="1645925"/>
                <a:gridCol w="6583675"/>
              </a:tblGrid>
              <a:tr h="59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Выражение XPath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0B8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Результат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BA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</a:tr>
              <a:tr h="6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/messages/*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элементы, которые являются прямыми потомками элемента messages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6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//*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в документе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6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//heading[@*]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heading, у которых есть по крайней мере один атрибут любого типа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Выбор нескольких путей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8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Использование оператора | в выражении XPath позволяет делать выбор по нескольким путям.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5" name="Google Shape;345;p38"/>
          <p:cNvGraphicFramePr/>
          <p:nvPr/>
        </p:nvGraphicFramePr>
        <p:xfrm>
          <a:off x="446760" y="357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{5A8C11AA-0303-4E1A-9333-5BA0BEC43FB3}</a:tableStyleId>
              </a:tblPr>
              <a:tblGrid>
                <a:gridCol w="1645925"/>
                <a:gridCol w="6583675"/>
              </a:tblGrid>
              <a:tr h="59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Выражение Xpath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52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Результат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7B4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</a:tr>
              <a:tr h="6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//note/heading | //note/body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heading и body из всех элементов note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6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//heading | //body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heading и body во всем документе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5525" marL="6552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Выражение пути выборки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9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Путь содержит один или более шагов, разделенных косой чертой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Абсолютный путь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выборки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начинается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 символа косой черты ( / 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/шаг/шаг/...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Относительный путь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выборки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не начинается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 символа косой черты ( / 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шаг/шаг/...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"/>
          <p:cNvSpPr txBox="1"/>
          <p:nvPr/>
        </p:nvSpPr>
        <p:spPr>
          <a:xfrm>
            <a:off x="457200" y="620640"/>
            <a:ext cx="8229240" cy="5505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Шаг пути вычисляется по отношению к узлам в текущем узловом наборе.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Синтаксис для шага выборки: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имяОси::проверкаУзла[предикат]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ось - определяет древовидное отношение между выбранными узлами и текущим узлом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проверка узла - определяет узел внутри оси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ноль или больше предикатов для более точного указания выбранного узлового набора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Примеры шагов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2" name="Google Shape;362;p41"/>
          <p:cNvGraphicFramePr/>
          <p:nvPr/>
        </p:nvGraphicFramePr>
        <p:xfrm>
          <a:off x="251640" y="1340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{5A8C11AA-0303-4E1A-9333-5BA0BEC43FB3}</a:tableStyleId>
              </a:tblPr>
              <a:tblGrid>
                <a:gridCol w="2232000"/>
                <a:gridCol w="6336725"/>
              </a:tblGrid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Пример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64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Результат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044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child::note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узлы note, которые являются прямыми потомками текущего узла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attribute::date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атрибут date текущего узла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child::*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всех прямых потомков текущего узла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attribute::*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атрибуты текущего узла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child::text()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текстовые узлы текущего узла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child::node()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всех прямых потомков текущего узла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descendant::note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всех потомков note текущего узла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ancestor::note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всех предков note текущего узла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ancestor-or-self::note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всех предков note текущего узла, а также сам текущий узел, если это узел note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child::*/child::heading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всех прямых потомков прямых потомков ("внуков") heading текущего узла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2275" marL="622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2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Оси Xpath. Пример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2"/>
          <p:cNvSpPr txBox="1"/>
          <p:nvPr/>
        </p:nvSpPr>
        <p:spPr>
          <a:xfrm>
            <a:off x="457200" y="1600200"/>
            <a:ext cx="8229300" cy="4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4000" lnSpcReduction="10000"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Ось определяет отношение узлового набора по отношению к текущему узлу.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&lt;?xml version="1.0" encoding="UTF-8"?&gt;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&lt;messages&gt;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&lt;note&gt;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&lt;heading  date="10/01/2008"&gt;Напоминание&lt;/heading&gt;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&lt;body&gt;Отправить письмо!&lt;/body&gt;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&lt;/note&gt;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&lt;note&gt;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&lt;heading  date="11/01/2008"&gt;Re: Напоминание&lt;/heading&gt;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&lt;body&gt;Письмо отправлено&lt;/body&gt;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&lt;/note&gt;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&lt;/messages&gt;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3" name="Google Shape;373;p43"/>
          <p:cNvGraphicFramePr/>
          <p:nvPr/>
        </p:nvGraphicFramePr>
        <p:xfrm>
          <a:off x="251640" y="283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{5A8C11AA-0303-4E1A-9333-5BA0BEC43FB3}</a:tableStyleId>
              </a:tblPr>
              <a:tblGrid>
                <a:gridCol w="1872000"/>
                <a:gridCol w="6768725"/>
              </a:tblGrid>
              <a:tr h="40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Название оси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032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Результат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359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ancestor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всех предков текущего узла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ancestor-or-self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всех предков текущего узла и сам текущий узел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attribute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атрибуты текущего узла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child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всех прямых потомков текущего узла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descendant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всех потомков текущего узла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descendant-or-self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всех потомков текущего узла и сам текущий узел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657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following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в документе после закрывающего тега текущего узла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following-sibling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одного уровня после текущего узла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namespace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узлы пространства имен текущего узла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parent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родителя текущего узла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657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preceding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узлы, которые появляются перед текущим узлом, за исключением предков, узлов атрибутов и пространства имен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preceding-sibling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одного уровня до текущего узла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40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self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текущий узел</a:t>
                      </a:r>
                      <a:endParaRPr b="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52550" marL="525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d40f159ea4_0_9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Понятно про о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 Xpath. Примеры</a:t>
            </a:r>
            <a:endParaRPr/>
          </a:p>
        </p:txBody>
      </p:sp>
      <p:sp>
        <p:nvSpPr>
          <p:cNvPr id="380" name="Google Shape;380;g2d40f159ea4_0_9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/>
              <a:t>https://testengineer.ru/xpath-quick-guide/</a:t>
            </a:r>
            <a:endParaRPr sz="3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4"/>
          <p:cNvSpPr txBox="1"/>
          <p:nvPr/>
        </p:nvSpPr>
        <p:spPr>
          <a:xfrm>
            <a:off x="395640" y="188640"/>
            <a:ext cx="822924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65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Операторы XPath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6" name="Google Shape;386;p44"/>
          <p:cNvGraphicFramePr/>
          <p:nvPr/>
        </p:nvGraphicFramePr>
        <p:xfrm>
          <a:off x="1187640" y="76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{5A8C11AA-0303-4E1A-9333-5BA0BEC43FB3}</a:tableStyleId>
              </a:tblPr>
              <a:tblGrid>
                <a:gridCol w="1348200"/>
                <a:gridCol w="3370675"/>
                <a:gridCol w="2022475"/>
              </a:tblGrid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Оператор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0800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Описание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E79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Пример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05D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|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Обрабатывает два узловых набора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//note | //cd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Сложение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+ 7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Вычитание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7 - 5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Умножение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* 5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Деление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div 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Равно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lang=6.90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!=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Не равно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lang!=4.50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Меньше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ret&lt;7.10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&lt;=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Меньше или равно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terra&lt;=9.80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Больше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root&gt;2.55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&gt;=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Больше или равно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last&gt;=4.30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Или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step=10 or loop=7.70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loop&gt;6.00 and loop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отрицание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not(@valign='top')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Остаток от деления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mod 2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53650" marL="5365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Примеры XPath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5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6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&lt;?xml version="1.0" encoding="UTF-8"?&gt;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&lt;messages&gt;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&lt;note&gt;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&lt;heading lang="ru"&gt;Напоминание&lt;/heading&gt;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&lt;body&gt;Отправить письмо!&lt;/body&gt;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&lt;desk&gt;4&lt;/desk&gt;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&lt;/note&gt;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&lt;note&gt;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&lt;heading lang="ru"&gt;Re: Напоминание&lt;/heading&gt;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&lt;body&gt;Письмо отправлено&lt;/body&gt;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&lt;desk&gt;7&lt;/desk&gt;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&lt;/note&gt;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&lt;/messages&gt;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6"/>
          <p:cNvSpPr txBox="1"/>
          <p:nvPr/>
        </p:nvSpPr>
        <p:spPr>
          <a:xfrm>
            <a:off x="457200" y="548640"/>
            <a:ext cx="8229240" cy="590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8500" lnSpcReduction="10000"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Выбираются все узлы heading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/messages/note/heading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Выбирается заголовок heading первого узла note элемента messages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/messages/note[1]/heading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Выбирается текст из всех узлов desk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/messages/note/desk[text()]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Выбираются все узлы desk, значение которых больше 4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/messages/note[desk&gt;4]/desk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Выбираются все узлы heading тех узлов note, у элемент desk которых значение больше 4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/messages/note[desk&gt;4]/heading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7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XPath примеры - шпаргалка для разбора страниц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7"/>
          <p:cNvSpPr txBox="1"/>
          <p:nvPr/>
        </p:nvSpPr>
        <p:spPr>
          <a:xfrm>
            <a:off x="457200" y="1600200"/>
            <a:ext cx="8229240" cy="49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6000" lnSpcReduction="20000"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Получить текст заголовка h1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//h1/text()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Получить текст заголовка с классом produnctName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//h1[@class="produnctName"]/text()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Получить значение определенного span по классу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//span[@class="price"]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Получить значение атрибута title у кнопки с классом  addtocart_button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//input[@class="addtocart_button"]/@title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Текст ссылки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//a/text()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8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XPath примеры - шпаргалка для разбора страниц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8"/>
          <p:cNvSpPr txBox="1"/>
          <p:nvPr/>
        </p:nvSpPr>
        <p:spPr>
          <a:xfrm>
            <a:off x="457200" y="1600200"/>
            <a:ext cx="8229240" cy="49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000" lnSpcReduction="10000"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Получить url значение атрибута href ссылки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//a/@href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Изображение src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//img/@src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Изображение сразу за определенным элементом в DOM, ось following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//h1[@class="produnctName"]//following::div/img/@src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Изображение в 4 div по счету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//div[4]/img/@src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9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.//*[@id='home']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9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1000" lnSpcReduction="20000"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.//  – рекурсивный спуск на ноль или более уровней иерархии от текущего контекста. В данном случае текущий контекст это корень документа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– любой элемент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[@id='home'] – предикат для поиска узла, имеющего атрибут id равного 'home'.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Идентификаторы элементов уникальны, поэтому запрос «любой элемент с конкретным ID» должен вернуть единственный искомый нами узел.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0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.//div[@id='home']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0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данном запросе спускаемся по дереву документа до узла div[@id='home'].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данном запросе нет никакой разницы из каких узлов состоит DOM-дерево и сколько уровней иерархии осталось выше.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.//*[@id='home']/ul/li/div/p/a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1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/ul/li/div/p/a – xpath-путь до конкретного элемента.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Путь состоит из шагов адресации и условия проверки узлов (ul, li и т.д.). Шаги разделяются символом " /".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2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//select/child::option - все прямые потомки select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//input//attribute::* - все атрибуты input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//*[@*="checkbox"]//parent::* - все предки любых тегов, у которых есть любой атрибут со значением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checkbox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//ul[@id='jsddm']/li[1]//li[last()-2] - первый элемент списка тоже список, в нем выбрать 3-ой с конца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Коллекции xpath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3"/>
          <p:cNvSpPr txBox="1"/>
          <p:nvPr/>
        </p:nvSpPr>
        <p:spPr>
          <a:xfrm>
            <a:off x="457200" y="1600200"/>
            <a:ext cx="822924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6500" lnSpcReduction="10000"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Часто на одном уровне иерархии находится несколько узлов одинакового типа и необходимо выбрать конкретный узел. Для таких случаев предусмотрены коллекции.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Коллекции xpath позволяют получить доступ к элементу по его индексу. Индексы соответствуют тому порядку, в котором элементы были представлены в исходном документе. Порядковый номер в коллекциях начинается с единицы.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 запроса: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.//*[@id='w3c_home_upcoming_events']/ul/li/div/p[2]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где p[2] – второй элемент в наборе для каждого узла списка /ul/li/div.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4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https://sky.pro/wiki/java/kak-sovershit-mouseover-v-selenium-web-driver-na-java/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https://howtodoinjava.com/xml/java-xpath-tutorial-example/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Удобная запись!!!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https://habr.com/ru/articles/502292/</a:t>
            </a:r>
            <a:endParaRPr sz="32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94759f2719_0_0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Скролинг</a:t>
            </a:r>
            <a:endParaRPr/>
          </a:p>
        </p:txBody>
      </p:sp>
      <p:sp>
        <p:nvSpPr>
          <p:cNvPr id="453" name="Google Shape;453;g294759f2719_0_0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https://testsigma.com/blog/scrolling-in-selenium/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https://www.edureka.co/community/51052/how-to-scroll-up-down-a-page-using-actions-class-in-selenium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https://www.tutorialspoint.com/how-to-scroll-up-down-a-page-using-actions-class-in-selenium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https://www.selenium.dev/documentation/webdriver/actions_api/wheel/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https://automated-testing.info/t/kak-sdelat-scroll-v-vypadayushhem-spiske-sadzhesta/9558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2019-03-14T13:42:08Z</dcterms:created>
  <dc:creator>korshun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Экран (4:3)</vt:lpwstr>
  </property>
  <property fmtid="{D5CDD505-2E9C-101B-9397-08002B2CF9AE}" pid="4" name="Slides">
    <vt:i4>63</vt:i4>
  </property>
</Properties>
</file>