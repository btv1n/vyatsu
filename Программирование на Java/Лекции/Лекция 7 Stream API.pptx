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5143500" cx="9144000"/>
  <p:notesSz cx="6858000" cy="9144000"/>
  <p:embeddedFontLst>
    <p:embeddedFont>
      <p:font typeface="Roboto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oboto-regular.fntdata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italic.fntdata"/><Relationship Id="rId21" Type="http://schemas.openxmlformats.org/officeDocument/2006/relationships/slide" Target="slides/slide15.xml"/><Relationship Id="rId65" Type="http://schemas.openxmlformats.org/officeDocument/2006/relationships/font" Target="fonts/Robot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Roboto-bold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truchkov.dev/blog/ru/java-stream-api/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f7e8f151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f7e8f15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f7e8f1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f7e8f1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ff7e8f15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ff7e8f15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f7e8f151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ff7e8f151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0976bac64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00976bac64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f7e8f151c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f7e8f151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2"/>
              </a:rPr>
              <a:t>Глубокое погружение в Stream API Java: Понимание и Применение (struchkov.dev)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ff7e8f151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ff7e8f151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f7e8f151c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ff7e8f151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ff7e8f151c_0_3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ff7e8f151c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f7e8f151c_0_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f7e8f151c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f7e8f151c_0_3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f7e8f151c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f7e8f151c_0_4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ff7e8f151c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ff7e8f151c_0_4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ff7e8f151c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ff7e8f151c_0_4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ff7e8f151c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f7e8f151c_0_5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ff7e8f151c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f7e8f151c_0_5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ff7e8f151c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ff7e8f151c_0_5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ff7e8f151c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0976bac64_0_4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0976bac64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0976bac64_0_4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00976bac64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00976bac64_0_4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00976bac64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02f62822f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02f62822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00976bac64_0_5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00976bac64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00976bac64_0_5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00976bac64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00976bac64_0_5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00976bac64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f7e8f151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ff7e8f151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ff7e8f151c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ff7e8f151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0cb9d22a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0cb9d22a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0cb9d22a4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0cb9d22a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0dda00c5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0dda00c5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0cb9d22a4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0cb9d22a4a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00976bac64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00976bac64_0_9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0976bac64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00976bac64_0_9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00976bac64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00976bac64_0_9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0cb9d22a4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0cb9d22a4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00976bac64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00976bac64_0_9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0cb9d22a4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0cb9d22a4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0cb9d22a4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0cb9d22a4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0cb9d22a4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0cb9d22a4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0cb9d22a4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0cb9d22a4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00976bac64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00976bac64_0_9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00976bac64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00976bac64_0_9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00976bac64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00976bac64_0_9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00976bac64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00976bac64_0_10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00976bac64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00976bac64_0_10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00976bac64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00976bac64_0_10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25fc184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125fc184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125fc184d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125fc184d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125fc184d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125fc184d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25fc184d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125fc184d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125fc184d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125fc184d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125fc184d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125fc184d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125fc184d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125fc184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125fc184d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125fc184d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12628ddbb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12628ddbb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Метод 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stream().parallel()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 вызывается для последовательного объекта потока, тогда как метод 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parallelStream()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 вызывается непосредственно для объекта коллекции.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12628ddbb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12628ddbb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Метод 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stream().parallel()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 вызывается для последовательного объекта потока, тогда как метод 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parallelStream()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 вызывается непосредственно для объекта коллекции.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125fc184d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125fc184d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Метод 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stream().parallel()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 вызывается для последовательного объекта потока, тогда как метод 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parallelStream()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 вызывается непосредственно для объекта коллекции.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125fc184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125fc184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</a:rPr>
              <a:t>ForkJoinPool специальный вид пула потоков. </a:t>
            </a:r>
            <a:endParaRPr sz="3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4" name="Google Shape;94;p2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2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truchkov.dev/blog/ru/java-stream-api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oracle.com/javase/8/docs/api/java/util/stream/Stream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Лекция 7</a:t>
            </a:r>
            <a:endParaRPr/>
          </a:p>
        </p:txBody>
      </p:sp>
      <p:sp>
        <p:nvSpPr>
          <p:cNvPr id="136" name="Google Shape;136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Stream API</a:t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Stream API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Java 8 появился инструмент для обработки коллекций в функциональном стиле - Stream API.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https://struchkov.dev/blog/ru/java-stream-api/</a:t>
            </a:r>
            <a:r>
              <a:rPr lang="ru">
                <a:solidFill>
                  <a:schemeClr val="dk1"/>
                </a:solidFill>
              </a:rPr>
              <a:t> - очень хорошая ссылка!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 работе с коллекциями в Java разработчики часто используют циклы и условный оператор для фильтрации, преобразования или агрегации данных. Он выглядит довольно громоздко, несмотря на то, что не выполняет ничего сложного.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88175"/>
            <a:ext cx="8520600" cy="47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printSpecies(List&lt;SeaCreature&gt; seaCreatures)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Set&lt;Species&gt; speciesSet = new HashSet&lt;&gt;();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(SeaCreature sc : seaCreatures)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(sc.getWeight() &gt;= 10)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speciesSet.add(sc.getSpecies());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List&lt;Species&gt; sortedSpecies = new ArrayList&lt;&gt;(speciesSet);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Collections.sort(sortedSpecies, new Comparator&lt;Species&gt;()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public int compare (Species a, Species b)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return Integer.compare(a.getPopulation(), b.getPopulation());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(Species s : sortedSpecies)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System.out.println(s.getName());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20"/>
              </a:spcBef>
              <a:spcAft>
                <a:spcPts val="2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Какую задачу выполняет данная программа?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564525"/>
            <a:ext cx="8520600" cy="40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printSpecies(List&lt;SeaCreature&gt; seaCreatures)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seaCreatures.stream()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.filter(sc -&gt; sc.getWeight() &gt;= 10)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.map(SeaCreature::getSpecies)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.distinct()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.sorted(Comparator.comparing(Species::getPopulation))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.map(Species::getName)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.forEach(System.out::println);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+"/>
            </a:pPr>
            <a:r>
              <a:rPr lang="ru" sz="1600">
                <a:solidFill>
                  <a:schemeClr val="dk1"/>
                </a:solidFill>
              </a:rPr>
              <a:t>функциональный стиль - запись короче,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+"/>
            </a:pPr>
            <a:r>
              <a:rPr lang="ru" sz="1600">
                <a:solidFill>
                  <a:schemeClr val="dk1"/>
                </a:solidFill>
              </a:rPr>
              <a:t>параллельное выполнение операций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Что такое </a:t>
            </a:r>
            <a:r>
              <a:rPr lang="ru"/>
              <a:t>Stream?</a:t>
            </a:r>
            <a:endParaRPr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"/>
              <a:t>Абстракция данных, способ работы с последовательностями данных, в котором </a:t>
            </a:r>
            <a:r>
              <a:rPr lang="ru" u="sng"/>
              <a:t>доступ </a:t>
            </a:r>
            <a:r>
              <a:rPr lang="ru"/>
              <a:t>к каждому элементу осуществляется </a:t>
            </a:r>
            <a:r>
              <a:rPr lang="ru" u="sng"/>
              <a:t>последовательно с течением времени</a:t>
            </a:r>
            <a:r>
              <a:rPr lang="ru"/>
              <a:t>. Через итератор можно получить первый элемент, потом через некоторое время – получить второй элемент, и т.д.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"/>
              <a:t>Интерфейс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ru"/>
              <a:t>Итератор, который предоставляет некоторый набор функций для обработки данных в функциональном стиле и реализует концепцию ленивых вычислений.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Д</a:t>
            </a:r>
            <a:r>
              <a:rPr lang="ru" sz="2100">
                <a:solidFill>
                  <a:schemeClr val="dk1"/>
                </a:solidFill>
              </a:rPr>
              <a:t>ля большинства задач обработки данных используется следующий шаблон:</a:t>
            </a:r>
            <a:endParaRPr sz="2100">
              <a:solidFill>
                <a:schemeClr val="dk1"/>
              </a:solidFill>
            </a:endParaRPr>
          </a:p>
          <a:p>
            <a:pPr indent="-273050" lvl="0" marL="342900" rtl="0" algn="l">
              <a:spcBef>
                <a:spcPts val="1200"/>
              </a:spcBef>
              <a:spcAft>
                <a:spcPts val="0"/>
              </a:spcAft>
              <a:buSzPts val="1700"/>
              <a:buAutoNum type="arabicPeriod"/>
            </a:pPr>
            <a:r>
              <a:rPr lang="ru" sz="2100">
                <a:solidFill>
                  <a:schemeClr val="dk1"/>
                </a:solidFill>
              </a:rPr>
              <a:t>Источник данных.</a:t>
            </a:r>
            <a:endParaRPr sz="2100">
              <a:solidFill>
                <a:schemeClr val="dk1"/>
              </a:solidFill>
            </a:endParaRPr>
          </a:p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" sz="2100">
                <a:solidFill>
                  <a:schemeClr val="dk1"/>
                </a:solidFill>
              </a:rPr>
              <a:t>Выполнение преобразований.</a:t>
            </a:r>
            <a:endParaRPr sz="2100">
              <a:solidFill>
                <a:schemeClr val="dk1"/>
              </a:solidFill>
            </a:endParaRPr>
          </a:p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" sz="2100">
                <a:solidFill>
                  <a:schemeClr val="dk1"/>
                </a:solidFill>
              </a:rPr>
              <a:t>Сохранение результата в новую структуру данных.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Можно использовать Stream API.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65" name="Google Shape;165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использовать </a:t>
            </a:r>
            <a:r>
              <a:rPr lang="ru"/>
              <a:t>Stream API?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Stream API - это конвейер на рыболовецком судне.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Источник - это река, полная разнообразными морскими обитателями.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Stream можно сравнить с конвейером: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используем filter() для отделения рыб от всех других существ.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 помощью map() преобразуем каждую рыбу в "упаковку с рыбой".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 помощью collect() складываем все упаковки с рыбой в "грузовик" для последующей транспортировки.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3"/>
          <p:cNvPicPr preferRelativeResize="0"/>
          <p:nvPr/>
        </p:nvPicPr>
        <p:blipFill rotWithShape="1">
          <a:blip r:embed="rId3">
            <a:alphaModFix/>
          </a:blip>
          <a:srcRect b="5282" l="0" r="0" t="5487"/>
          <a:stretch/>
        </p:blipFill>
        <p:spPr>
          <a:xfrm>
            <a:off x="1809600" y="73175"/>
            <a:ext cx="5623374" cy="500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Компоненты Stream API</a:t>
            </a:r>
            <a:endParaRPr/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471505" y="1026925"/>
            <a:ext cx="8153400" cy="24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Stream API состоит из набора </a:t>
            </a:r>
            <a:r>
              <a:rPr i="1" lang="ru">
                <a:solidFill>
                  <a:schemeClr val="dk1"/>
                </a:solidFill>
              </a:rPr>
              <a:t>компонентов </a:t>
            </a:r>
            <a:r>
              <a:rPr lang="ru">
                <a:solidFill>
                  <a:schemeClr val="dk1"/>
                </a:solidFill>
              </a:rPr>
              <a:t>и </a:t>
            </a:r>
            <a:r>
              <a:rPr i="1" lang="ru">
                <a:solidFill>
                  <a:schemeClr val="dk1"/>
                </a:solidFill>
              </a:rPr>
              <a:t>концепций</a:t>
            </a:r>
            <a:r>
              <a:rPr lang="ru">
                <a:solidFill>
                  <a:schemeClr val="dk1"/>
                </a:solidFill>
              </a:rPr>
              <a:t>, которые работают вместе, чтобы обеспечить потоковую обработку данных.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3" name="Google Shape;1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088" y="2054045"/>
            <a:ext cx="6840224" cy="2701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54563" y="428625"/>
            <a:ext cx="8406300" cy="420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Источник (Source) - откуда приходят данные. Это может быть коллекция, список, набор, массив, строка, файл или генератор чисел.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 результате своей работы Stream не изменяет исходные данные, он создает новую структуру данных.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9" name="Google Shape;18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800" y="1930726"/>
            <a:ext cx="6840224" cy="2701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386813" y="812513"/>
            <a:ext cx="8415600" cy="382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Операции - преобразовывают и/или обрабатывают данные.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5" name="Google Shape;19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800" y="1930726"/>
            <a:ext cx="6840224" cy="2701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440475" y="812569"/>
            <a:ext cx="8268000" cy="382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Поток (Stream) - последовательность элементов, подлежащих параллельной или последовательной обработке.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1" name="Google Shape;20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800" y="1930726"/>
            <a:ext cx="6840224" cy="2701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idx="1" type="body"/>
          </p:nvPr>
        </p:nvSpPr>
        <p:spPr>
          <a:xfrm>
            <a:off x="397256" y="805256"/>
            <a:ext cx="8436600" cy="382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Пайплайн (Pipeline) - последовательность операций в потоке, применяемых к данным.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7" name="Google Shape;20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800" y="1930726"/>
            <a:ext cx="6840224" cy="2701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>
            <p:ph idx="1" type="body"/>
          </p:nvPr>
        </p:nvSpPr>
        <p:spPr>
          <a:xfrm>
            <a:off x="449531" y="812513"/>
            <a:ext cx="8331900" cy="382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Терминал (Terminal) - место выхода данных из потока. Терминальная операция означает окончание обработки потока и возвращает результат.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3" name="Google Shape;21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800" y="1930726"/>
            <a:ext cx="6840224" cy="2701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Операции над потоком</a:t>
            </a:r>
            <a:endParaRPr/>
          </a:p>
        </p:txBody>
      </p:sp>
      <p:sp>
        <p:nvSpPr>
          <p:cNvPr id="219" name="Google Shape;219;p4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2400"/>
              <a:t>Все операции с потоками можно условно разделить на:</a:t>
            </a:r>
            <a:endParaRPr sz="2400"/>
          </a:p>
          <a:p>
            <a:pPr indent="-273050" lvl="0" marL="342900" rtl="0" algn="l">
              <a:spcBef>
                <a:spcPts val="800"/>
              </a:spcBef>
              <a:spcAft>
                <a:spcPts val="0"/>
              </a:spcAft>
              <a:buSzPts val="1700"/>
              <a:buAutoNum type="arabicPeriod"/>
            </a:pPr>
            <a:r>
              <a:rPr lang="ru" sz="2400"/>
              <a:t>промежуточные</a:t>
            </a:r>
            <a:endParaRPr sz="2400"/>
          </a:p>
          <a:p>
            <a:pPr indent="0" lvl="0" marL="3429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273050" lvl="0" marL="342900" rtl="0" algn="l">
              <a:spcBef>
                <a:spcPts val="800"/>
              </a:spcBef>
              <a:spcAft>
                <a:spcPts val="0"/>
              </a:spcAft>
              <a:buSzPts val="1700"/>
              <a:buAutoNum type="arabicPeriod"/>
            </a:pPr>
            <a:r>
              <a:rPr lang="ru" sz="2400"/>
              <a:t>терминальные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Промежуточные операции</a:t>
            </a:r>
            <a:endParaRPr/>
          </a:p>
        </p:txBody>
      </p:sp>
      <p:sp>
        <p:nvSpPr>
          <p:cNvPr id="225" name="Google Shape;225;p4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Промежуточные операции в потоках Java описываются декларативно с использованием лямбда-выражений.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Эти операции </a:t>
            </a:r>
            <a:r>
              <a:rPr b="1" lang="ru"/>
              <a:t>не </a:t>
            </a:r>
            <a:r>
              <a:rPr lang="ru"/>
              <a:t>выполняются немедленно после объявления. </a:t>
            </a:r>
            <a:r>
              <a:rPr b="1" lang="ru"/>
              <a:t>Все промежуточные операции выполняются только при вызове терминальной операции, которая запускает общую цепочку обработки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Важная характеристика промежуточных операций – каждая из них возвращает новый объект Stream. Они не должны хранить какое-либо состояние и не должны вызывать побочных эффектов. Это позволяет связывать несколько операций в одну "цепочку" (Pipeline).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Терминальные операции</a:t>
            </a:r>
            <a:endParaRPr/>
          </a:p>
        </p:txBody>
      </p:sp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Терминальные операции выводят конечный результат обработки потока. Они могут включать в себя перебор элементов, подсчет элементов, сбор элементов в коллекцию, поиск элементов и т.д.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Именно терминальная операция запускает поток</a:t>
            </a:r>
            <a:r>
              <a:rPr lang="ru"/>
              <a:t>. После ее вызова происходит анализ операций в пайплайне, и определяется эффективная стратегия его выполнения.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Потоки можно использовать только один раз. После вызова терминальной операции тот же поток использовать повторно нельзя. Попытка сделать это приведет к ошибке.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работает Stream?</a:t>
            </a:r>
            <a:endParaRPr/>
          </a:p>
        </p:txBody>
      </p:sp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209075" y="1026925"/>
            <a:ext cx="4317600" cy="384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final List&lt;String&gt; list = List.of("one", "two", "three");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list.stream()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.filter(s -&gt;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    System.out.println("filter: " + s);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    return s.length() &lt;= 3;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.map(s -&gt;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    System.out.println("map: " + s);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    return s1.toUpperCase();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.forEach(x -&gt;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    System.out.println("forEach: " + x);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43"/>
          <p:cNvSpPr txBox="1"/>
          <p:nvPr>
            <p:ph idx="2" type="body"/>
          </p:nvPr>
        </p:nvSpPr>
        <p:spPr>
          <a:xfrm>
            <a:off x="4808975" y="470450"/>
            <a:ext cx="4077000" cy="41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Задача. Вывести в верхнем регистре все строки, длина которых меньше 4-х.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Решение.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Ф</a:t>
            </a:r>
            <a:r>
              <a:rPr lang="ru"/>
              <a:t>ильтруем все строки, оставляя те, длина которых меньше 4-х, </a:t>
            </a:r>
            <a:br>
              <a:rPr lang="ru"/>
            </a:br>
            <a:r>
              <a:rPr lang="ru"/>
              <a:t>преобразуем оставшиеся значения в верхний регистр, </a:t>
            </a:r>
            <a:br>
              <a:rPr lang="ru"/>
            </a:br>
            <a:r>
              <a:rPr lang="ru"/>
              <a:t>выводим итоговый набор на консоль.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На практике каждый элемент потока обрабатывается индивидуально.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filter: 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map: 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forEach: 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filter: two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map: two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forEach: TWO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filter: three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Индивидуальная обработка</a:t>
            </a:r>
            <a:endParaRPr/>
          </a:p>
        </p:txBody>
      </p:sp>
      <p:sp>
        <p:nvSpPr>
          <p:cNvPr id="244" name="Google Shape;244;p44"/>
          <p:cNvSpPr txBox="1"/>
          <p:nvPr>
            <p:ph idx="1" type="body"/>
          </p:nvPr>
        </p:nvSpPr>
        <p:spPr>
          <a:xfrm>
            <a:off x="471505" y="1026929"/>
            <a:ext cx="8111400" cy="341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Сначала первый элемент проходит через пайплайн, затем второй, а третий не проходит проверку в filter(), поэтому его обработка прекращается на этом этапе.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Это важно для эффективности и правильного функционирования потоков в Java!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Если следовать данному алгоритму, параллельная обработка становится безопасной и простой. Благодаря этому можно преобразовать последовательный поток в параллельный!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Stateless и Stateful операции</a:t>
            </a:r>
            <a:endParaRPr/>
          </a:p>
        </p:txBody>
      </p:sp>
      <p:sp>
        <p:nvSpPr>
          <p:cNvPr id="250" name="Google Shape;250;p45"/>
          <p:cNvSpPr txBox="1"/>
          <p:nvPr>
            <p:ph idx="1" type="body"/>
          </p:nvPr>
        </p:nvSpPr>
        <p:spPr>
          <a:xfrm>
            <a:off x="471505" y="1026930"/>
            <a:ext cx="8174100" cy="353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Операции без состояния (stateless) обрабатывают каждый элемент потока независимо от других. Не требуют информации о других элементах для своей работы, </a:t>
            </a:r>
            <a:r>
              <a:rPr lang="ru"/>
              <a:t>подходят для параллельной обработки.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Пример: </a:t>
            </a:r>
            <a:r>
              <a:rPr lang="ru"/>
              <a:t>map() и filter()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Операции, сохраняющие состояние (stateful), требуют знания о других элементах для своей работы. Им приходится учитывать все (или часть) элементы в потоке перед выдачей какого-либо результата.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Пример: </a:t>
            </a:r>
            <a:r>
              <a:rPr lang="ru"/>
              <a:t>sorted(), distinct(), limit()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6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Stateless и Stateful операции</a:t>
            </a:r>
            <a:endParaRPr/>
          </a:p>
        </p:txBody>
      </p:sp>
      <p:sp>
        <p:nvSpPr>
          <p:cNvPr id="256" name="Google Shape;256;p46"/>
          <p:cNvSpPr txBox="1"/>
          <p:nvPr>
            <p:ph idx="1" type="body"/>
          </p:nvPr>
        </p:nvSpPr>
        <p:spPr>
          <a:xfrm>
            <a:off x="471505" y="1026930"/>
            <a:ext cx="8174100" cy="353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Если пайплайн содержит только операции без состояния, то он может быть обработан "в один проход". Если же он содержит операции с состоянием, то пайплайн разбивается на секции, где каждая секция заканчивается операцией с состоянием.</a:t>
            </a:r>
            <a:endParaRPr/>
          </a:p>
        </p:txBody>
      </p:sp>
      <p:pic>
        <p:nvPicPr>
          <p:cNvPr id="257" name="Google Shape;25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625" y="2296626"/>
            <a:ext cx="6840224" cy="2701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Stateless и Statefull</a:t>
            </a:r>
            <a:endParaRPr/>
          </a:p>
        </p:txBody>
      </p:sp>
      <p:sp>
        <p:nvSpPr>
          <p:cNvPr id="263" name="Google Shape;263;p47"/>
          <p:cNvSpPr txBox="1"/>
          <p:nvPr>
            <p:ph idx="1" type="body"/>
          </p:nvPr>
        </p:nvSpPr>
        <p:spPr>
          <a:xfrm>
            <a:off x="209075" y="1026925"/>
            <a:ext cx="4317600" cy="384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final List&lt;String&gt; list = List.of("one", "two", "three");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t/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list.stream()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.filter(s -&gt;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    System.out.println("filter: " + s);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    return s.length() &lt;= 3;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.map(s -&gt;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    System.out.println("map: " + s);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    return s1.toUpperCase();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latin typeface="Consolas"/>
                <a:ea typeface="Consolas"/>
                <a:cs typeface="Consolas"/>
                <a:sym typeface="Consolas"/>
              </a:rPr>
              <a:t>.sorted()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.forEach(x -&gt;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    System.out.println("forEach: " + x);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"/>
              <a:buNone/>
            </a:pPr>
            <a:r>
              <a:rPr lang="ru" sz="1300"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47"/>
          <p:cNvSpPr txBox="1"/>
          <p:nvPr>
            <p:ph idx="2" type="body"/>
          </p:nvPr>
        </p:nvSpPr>
        <p:spPr>
          <a:xfrm>
            <a:off x="4808975" y="470450"/>
            <a:ext cx="4077000" cy="41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5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Поток элементов должен быть проанализирован и отсортирован, прежде чем можно будет выполнить следующую операцию. </a:t>
            </a:r>
            <a:endParaRPr sz="175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Таким образом, операция </a:t>
            </a:r>
            <a:r>
              <a:rPr lang="ru" sz="1750">
                <a:highlight>
                  <a:srgbClr val="E5EFF5"/>
                </a:highlight>
                <a:latin typeface="Consolas"/>
                <a:ea typeface="Consolas"/>
                <a:cs typeface="Consolas"/>
                <a:sym typeface="Consolas"/>
              </a:rPr>
              <a:t>sorted()</a:t>
            </a:r>
            <a:r>
              <a:rPr lang="ru" sz="175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создает "точку синхронизации" в пайплайне обработки.</a:t>
            </a:r>
            <a:endParaRPr sz="175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5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5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50">
                <a:latin typeface="Consolas"/>
                <a:ea typeface="Consolas"/>
                <a:cs typeface="Consolas"/>
                <a:sym typeface="Consolas"/>
              </a:rPr>
              <a:t>filter: one</a:t>
            </a:r>
            <a:endParaRPr sz="17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50">
                <a:latin typeface="Consolas"/>
                <a:ea typeface="Consolas"/>
                <a:cs typeface="Consolas"/>
                <a:sym typeface="Consolas"/>
              </a:rPr>
              <a:t>map: one</a:t>
            </a:r>
            <a:endParaRPr sz="17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50">
                <a:latin typeface="Consolas"/>
                <a:ea typeface="Consolas"/>
                <a:cs typeface="Consolas"/>
                <a:sym typeface="Consolas"/>
              </a:rPr>
              <a:t>filter: two</a:t>
            </a:r>
            <a:endParaRPr sz="17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50">
                <a:latin typeface="Consolas"/>
                <a:ea typeface="Consolas"/>
                <a:cs typeface="Consolas"/>
                <a:sym typeface="Consolas"/>
              </a:rPr>
              <a:t>map: two</a:t>
            </a:r>
            <a:endParaRPr sz="17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50">
                <a:latin typeface="Consolas"/>
                <a:ea typeface="Consolas"/>
                <a:cs typeface="Consolas"/>
                <a:sym typeface="Consolas"/>
              </a:rPr>
              <a:t>filter: three</a:t>
            </a:r>
            <a:endParaRPr sz="17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50">
                <a:latin typeface="Consolas"/>
                <a:ea typeface="Consolas"/>
                <a:cs typeface="Consolas"/>
                <a:sym typeface="Consolas"/>
              </a:rPr>
              <a:t>forEach: ONE</a:t>
            </a:r>
            <a:endParaRPr sz="17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latin typeface="Consolas"/>
                <a:ea typeface="Consolas"/>
                <a:cs typeface="Consolas"/>
                <a:sym typeface="Consolas"/>
              </a:rPr>
              <a:t>forEach: TWO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Задание</a:t>
            </a:r>
            <a:endParaRPr/>
          </a:p>
        </p:txBody>
      </p:sp>
      <p:sp>
        <p:nvSpPr>
          <p:cNvPr id="270" name="Google Shape;270;p48"/>
          <p:cNvSpPr txBox="1"/>
          <p:nvPr>
            <p:ph idx="1" type="body"/>
          </p:nvPr>
        </p:nvSpPr>
        <p:spPr>
          <a:xfrm>
            <a:off x="471505" y="1026930"/>
            <a:ext cx="8059200" cy="351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Составьте список терминальных операций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Составьте список stateless операций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Составьте список stateful операций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Используйте официальную документацию: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https://docs.oracle.com/javase/8/docs/api/java/util/stream/Stream.html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9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Spliterator</a:t>
            </a:r>
            <a:endParaRPr/>
          </a:p>
        </p:txBody>
      </p:sp>
      <p:sp>
        <p:nvSpPr>
          <p:cNvPr id="276" name="Google Shape;276;p49"/>
          <p:cNvSpPr txBox="1"/>
          <p:nvPr>
            <p:ph idx="1" type="body"/>
          </p:nvPr>
        </p:nvSpPr>
        <p:spPr>
          <a:xfrm>
            <a:off x="471505" y="1026929"/>
            <a:ext cx="8121900" cy="3374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Интерфейс, который лежит в основе стримов в Java.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Похож на интерфейс Iterator.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Отвечает</a:t>
            </a:r>
            <a:r>
              <a:rPr lang="ru"/>
              <a:t> за разделение данных на части для независимой обработки каждым потоком.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</a:t>
            </a:r>
            <a:r>
              <a:rPr lang="ru"/>
              <a:t>грает важную роль при параллельной </a:t>
            </a:r>
            <a:r>
              <a:rPr lang="ru"/>
              <a:t>обработке данных.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Подробнее в официальной документации: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https://docs.oracle.com/javase/8/docs/api/java/util/Spliterator.html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>
                <a:latin typeface="Calibri"/>
                <a:ea typeface="Calibri"/>
                <a:cs typeface="Calibri"/>
                <a:sym typeface="Calibri"/>
              </a:rPr>
              <a:t>Основные свойства потоков: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Декларативность</a:t>
            </a:r>
            <a:r>
              <a:rPr lang="ru">
                <a:solidFill>
                  <a:schemeClr val="dk1"/>
                </a:solidFill>
              </a:rPr>
              <a:t>: потоки в Java описывают, что должно быть сделано, а не конкретный способ его выполнения.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Ленивость</a:t>
            </a:r>
            <a:r>
              <a:rPr lang="ru">
                <a:solidFill>
                  <a:schemeClr val="dk1"/>
                </a:solidFill>
              </a:rPr>
              <a:t>: означает, что потоки не выполняют никакой работы, пока не будет вызвана терминальная операция.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Одноразовость</a:t>
            </a:r>
            <a:r>
              <a:rPr lang="ru">
                <a:solidFill>
                  <a:schemeClr val="dk1"/>
                </a:solidFill>
              </a:rPr>
              <a:t>: после того как терминальная операция была вызвана на потоке, этот поток больше не может быть использован. Если необходимо применить другую операцию к данным, потребуется новый поток.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Параллельность</a:t>
            </a:r>
            <a:r>
              <a:rPr lang="ru">
                <a:solidFill>
                  <a:schemeClr val="dk1"/>
                </a:solidFill>
              </a:rPr>
              <a:t>: несмотря на то, что потоки в Java по умолчанию выполняются последовательно, их можно распараллелить.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Stream</a:t>
            </a:r>
            <a:endParaRPr/>
          </a:p>
        </p:txBody>
      </p:sp>
      <p:sp>
        <p:nvSpPr>
          <p:cNvPr id="288" name="Google Shape;288;p51"/>
          <p:cNvSpPr txBox="1"/>
          <p:nvPr>
            <p:ph idx="1" type="body"/>
          </p:nvPr>
        </p:nvSpPr>
        <p:spPr>
          <a:xfrm>
            <a:off x="311700" y="1152475"/>
            <a:ext cx="85206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П</a:t>
            </a:r>
            <a:r>
              <a:rPr lang="ru" sz="2000">
                <a:solidFill>
                  <a:schemeClr val="dk1"/>
                </a:solidFill>
              </a:rPr>
              <a:t>олучить поток </a:t>
            </a:r>
            <a:r>
              <a:rPr b="1" lang="ru" sz="2000">
                <a:solidFill>
                  <a:schemeClr val="dk1"/>
                </a:solidFill>
              </a:rPr>
              <a:t>из коллекции</a:t>
            </a:r>
            <a:r>
              <a:rPr lang="ru" sz="2000">
                <a:solidFill>
                  <a:schemeClr val="dk1"/>
                </a:solidFill>
              </a:rPr>
              <a:t> с помощью метода stream()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Collection&lt;Integer&gt; list = new ArrayList&lt;&gt;();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Stream&lt;Integer&gt; stream = list.stream();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Создать </a:t>
            </a:r>
            <a:r>
              <a:rPr lang="ru" sz="2000">
                <a:solidFill>
                  <a:schemeClr val="dk1"/>
                </a:solidFill>
              </a:rPr>
              <a:t>поток </a:t>
            </a:r>
            <a:r>
              <a:rPr b="1" lang="ru" sz="2000">
                <a:solidFill>
                  <a:schemeClr val="dk1"/>
                </a:solidFill>
              </a:rPr>
              <a:t>из массива</a:t>
            </a:r>
            <a:r>
              <a:rPr lang="ru" sz="2000">
                <a:solidFill>
                  <a:schemeClr val="dk1"/>
                </a:solidFill>
              </a:rPr>
              <a:t> с помощью метода Arrays.stream()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int[] numbers = {1, 2, 3};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Stream&lt;Integer&gt; stream = Arrays.stream(numbers).boxed();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В случае примитивных типов данных, поток можно дополнительно преобразовать в объектный тип с помощью метода boxed().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Stream</a:t>
            </a:r>
            <a:endParaRPr/>
          </a:p>
        </p:txBody>
      </p:sp>
      <p:sp>
        <p:nvSpPr>
          <p:cNvPr id="294" name="Google Shape;294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ru" sz="2000">
                <a:solidFill>
                  <a:schemeClr val="dk1"/>
                </a:solidFill>
              </a:rPr>
              <a:t>Из строки. </a:t>
            </a:r>
            <a:r>
              <a:rPr lang="ru" sz="2000">
                <a:solidFill>
                  <a:schemeClr val="dk1"/>
                </a:solidFill>
              </a:rPr>
              <a:t>Для создания потока символов строки используется метод chars(), который возвращает поток типа IntStream.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str = "Hello";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IntStream stream = str.chars();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ru" sz="2000">
                <a:solidFill>
                  <a:schemeClr val="dk1"/>
                </a:solidFill>
              </a:rPr>
              <a:t>Из файла. </a:t>
            </a:r>
            <a:r>
              <a:rPr lang="ru" sz="2000">
                <a:solidFill>
                  <a:schemeClr val="dk1"/>
                </a:solidFill>
              </a:rPr>
              <a:t>Поток можно создать из строк файла с помощью метода Files.lines(). Этот метод считывает файл построчно и возвращает поток строк.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Path path = Paths.get("file.txt");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 stream = Files.lines(path);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Stream</a:t>
            </a:r>
            <a:endParaRPr/>
          </a:p>
        </p:txBody>
      </p:sp>
      <p:sp>
        <p:nvSpPr>
          <p:cNvPr id="300" name="Google Shape;300;p53"/>
          <p:cNvSpPr txBox="1"/>
          <p:nvPr>
            <p:ph idx="1" type="body"/>
          </p:nvPr>
        </p:nvSpPr>
        <p:spPr>
          <a:xfrm>
            <a:off x="311700" y="1152475"/>
            <a:ext cx="8520600" cy="3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2000">
                <a:solidFill>
                  <a:schemeClr val="dk1"/>
                </a:solidFill>
              </a:rPr>
              <a:t>Метод </a:t>
            </a:r>
            <a:r>
              <a:rPr b="1" lang="ru" sz="2000">
                <a:solidFill>
                  <a:schemeClr val="dk1"/>
                </a:solidFill>
              </a:rPr>
              <a:t>Stream.generate()</a:t>
            </a:r>
            <a:r>
              <a:rPr lang="ru" sz="2000">
                <a:solidFill>
                  <a:schemeClr val="dk1"/>
                </a:solidFill>
              </a:rPr>
              <a:t> использует интерфейс Supplier. При каждом вызове Supplier возвращает новое значение. Используется для генерации бесконечных потоков данных.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 stream = Stream.generate(() -&gt; new Random().nextInt());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2000">
                <a:solidFill>
                  <a:schemeClr val="dk1"/>
                </a:solidFill>
              </a:rPr>
              <a:t>Stream.</a:t>
            </a:r>
            <a:r>
              <a:rPr b="1" lang="ru" sz="2000">
                <a:solidFill>
                  <a:schemeClr val="dk1"/>
                </a:solidFill>
              </a:rPr>
              <a:t>Builder</a:t>
            </a:r>
            <a:r>
              <a:rPr lang="ru" sz="2000">
                <a:solidFill>
                  <a:schemeClr val="dk1"/>
                </a:solidFill>
              </a:rPr>
              <a:t> позволяет поэтапно добавлять элементы в поток, а затем создать поток с помощью метода build().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Stream.Builder builder = Stream.builder();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builder.add(1);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builder.add(2);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builder.add(3);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 stream = builder.build();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Перейдем к практике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forEach - терминальный метод</a:t>
            </a:r>
            <a:endParaRPr b="1"/>
          </a:p>
        </p:txBody>
      </p:sp>
      <p:sp>
        <p:nvSpPr>
          <p:cNvPr id="311" name="Google Shape;311;p55"/>
          <p:cNvSpPr txBox="1"/>
          <p:nvPr>
            <p:ph idx="1" type="body"/>
          </p:nvPr>
        </p:nvSpPr>
        <p:spPr>
          <a:xfrm>
            <a:off x="154106" y="1369219"/>
            <a:ext cx="8721600" cy="3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stringList = Arrays.</a:t>
            </a:r>
            <a:r>
              <a:rPr b="0" i="1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asList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"sdfedf"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"dfgyygrv"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"fgrg"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b="1" i="1" lang="ru" sz="16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i="0" lang="ru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Вывод на экран в одну сроку. ЦИКЛ forEach!!!"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ru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ru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elem:stringList) {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</a:t>
            </a:r>
            <a:r>
              <a:rPr b="1" i="1" lang="ru" sz="16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.print(elem +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' '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urier New"/>
              <a:buNone/>
            </a:pP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b="1" i="1" lang="ru" sz="16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i="0" lang="ru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 на экран в одну сроку. </a:t>
            </a:r>
            <a:r>
              <a:rPr b="1" lang="ru" sz="16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Метод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forEach!!!"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stringList.forEach(elem -&gt; System.</a:t>
            </a:r>
            <a:r>
              <a:rPr b="1" i="1" lang="ru" sz="16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.print(elem +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' '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b="1" i="1" lang="ru" sz="16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i="0" lang="ru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Вывод в столбец. Метод forEach!!!"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stringList.forEach(System.</a:t>
            </a:r>
            <a:r>
              <a:rPr b="1" i="1" lang="ru" sz="16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::println);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filter</a:t>
            </a:r>
            <a:endParaRPr b="1"/>
          </a:p>
        </p:txBody>
      </p:sp>
      <p:sp>
        <p:nvSpPr>
          <p:cNvPr id="317" name="Google Shape;317;p56"/>
          <p:cNvSpPr txBox="1"/>
          <p:nvPr>
            <p:ph idx="1" type="body"/>
          </p:nvPr>
        </p:nvSpPr>
        <p:spPr>
          <a:xfrm>
            <a:off x="142350" y="1357444"/>
            <a:ext cx="88239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stringList = Arrays.</a:t>
            </a:r>
            <a:r>
              <a:rPr b="0" i="1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asList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"sdfedf"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"dfgyygrv"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"fgrg"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80"/>
              </a:buClr>
              <a:buSzPts val="1400"/>
              <a:buNone/>
            </a:pP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elem: stringList) {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(elem.length() &gt; </a:t>
            </a:r>
            <a:r>
              <a:rPr b="0" i="0" lang="ru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</a:t>
            </a:r>
            <a:r>
              <a:rPr b="1" i="1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.println(elem);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stringList.stream()</a:t>
            </a:r>
            <a:br>
              <a:rPr lang="ru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filter(elem -&gt; elem.length()&gt;</a:t>
            </a:r>
            <a:r>
              <a:rPr b="0" i="0" lang="ru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.forEach(System.</a:t>
            </a:r>
            <a:r>
              <a:rPr b="1" i="1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::println);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Stream&lt;String&gt; stringStream = stringList.stream()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.filter(elem -&gt; Character.</a:t>
            </a:r>
            <a:r>
              <a:rPr b="0" i="1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isUpperCase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(elem.charAt(</a:t>
            </a:r>
            <a:r>
              <a:rPr b="0" i="0" lang="ru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)));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stringStream.forEach(System.</a:t>
            </a:r>
            <a:r>
              <a:rPr b="1" i="1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::println);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sorted</a:t>
            </a:r>
            <a:endParaRPr b="1"/>
          </a:p>
        </p:txBody>
      </p:sp>
      <p:sp>
        <p:nvSpPr>
          <p:cNvPr id="323" name="Google Shape;323;p57"/>
          <p:cNvSpPr txBox="1"/>
          <p:nvPr>
            <p:ph idx="1" type="body"/>
          </p:nvPr>
        </p:nvSpPr>
        <p:spPr>
          <a:xfrm>
            <a:off x="142350" y="1369219"/>
            <a:ext cx="87921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stringList = Arrays.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asList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ru" sz="15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"sdfedf"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5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"dfgyygrv"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5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"fgrg"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stringList.stream()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.sorted()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.forEach(elem -&gt; System.</a:t>
            </a:r>
            <a:r>
              <a:rPr b="1" i="1" lang="ru" sz="15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.print(elem + </a:t>
            </a:r>
            <a:r>
              <a:rPr b="1" i="0" lang="ru" sz="15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' '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stringList.stream()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.sorted(Comparator.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reverseOrder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.forEach(elem -&gt; System.</a:t>
            </a:r>
            <a:r>
              <a:rPr b="1" i="1" lang="ru" sz="15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.print(elem + </a:t>
            </a:r>
            <a:r>
              <a:rPr b="1" i="0" lang="ru" sz="15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' '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stringList.stream()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.sorted((x, y)-&gt;(-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)* Integer.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compare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(x.length(), y.length()))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.forEach(System.</a:t>
            </a:r>
            <a:r>
              <a:rPr b="1" i="1" lang="ru" sz="15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::println);</a:t>
            </a:r>
            <a:endParaRPr b="0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map</a:t>
            </a:r>
            <a:endParaRPr b="1"/>
          </a:p>
        </p:txBody>
      </p:sp>
      <p:sp>
        <p:nvSpPr>
          <p:cNvPr id="329" name="Google Shape;329;p58"/>
          <p:cNvSpPr txBox="1"/>
          <p:nvPr>
            <p:ph idx="1" type="body"/>
          </p:nvPr>
        </p:nvSpPr>
        <p:spPr>
          <a:xfrm>
            <a:off x="118800" y="1369219"/>
            <a:ext cx="88863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stringList = Arrays.</a:t>
            </a:r>
            <a:r>
              <a:rPr b="0" i="1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asList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"sdfedf"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"dfgyygrv"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"fgrg"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i="0" lang="ru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Stream&lt;Integer&gt; integerStream = stringList.stream()</a:t>
            </a:r>
            <a:br>
              <a:rPr b="0" i="0" lang="ru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ru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.map(elem -&gt; elem.length());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Stream&lt;String&gt; strStream = stringList.stream()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.map(elem -&gt; elem.toUpperCase());</a:t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stringList = Arrays.</a:t>
            </a:r>
            <a:r>
              <a:rPr b="0" i="1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asList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"24-10-2022"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"34-123-1234"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"24.10.2022"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Stream&lt;Boolean&gt; boolStream = stringList.stream()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.map(elem -&gt; elem.matches(</a:t>
            </a:r>
            <a:r>
              <a:rPr b="1" lang="ru" sz="16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(([</a:t>
            </a:r>
            <a:r>
              <a:rPr b="1" i="0" lang="ru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\\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d]{2})-){2}-([</a:t>
            </a:r>
            <a:r>
              <a:rPr b="1" i="0" lang="ru" sz="16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\\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d]{4})"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lang="ru"/>
              <a:t>flatMap</a:t>
            </a:r>
            <a:endParaRPr/>
          </a:p>
        </p:txBody>
      </p:sp>
      <p:sp>
        <p:nvSpPr>
          <p:cNvPr id="335" name="Google Shape;335;p59"/>
          <p:cNvSpPr txBox="1"/>
          <p:nvPr>
            <p:ph idx="1" type="body"/>
          </p:nvPr>
        </p:nvSpPr>
        <p:spPr>
          <a:xfrm>
            <a:off x="135900" y="1369225"/>
            <a:ext cx="88653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List&lt;List&lt;Integer&gt;&gt; listOfLists = Arrays.asList(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Arrays.asList(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Arrays.asList(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Arrays.asList(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Stream&lt;Integer&gt; flattenedStream = listOfLists.stream()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.flatMap(Collection::stream)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flattenedStream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.forEach(System.out::println); </a:t>
            </a:r>
            <a:r>
              <a:rPr lang="ru" sz="1500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//1, 2, 3, 4, 5, 6, 7, 8, 9</a:t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generate</a:t>
            </a:r>
            <a:endParaRPr b="1"/>
          </a:p>
        </p:txBody>
      </p:sp>
      <p:sp>
        <p:nvSpPr>
          <p:cNvPr id="341" name="Google Shape;341;p60"/>
          <p:cNvSpPr txBox="1"/>
          <p:nvPr>
            <p:ph idx="1" type="body"/>
          </p:nvPr>
        </p:nvSpPr>
        <p:spPr>
          <a:xfrm>
            <a:off x="154106" y="1369219"/>
            <a:ext cx="8839500" cy="3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ru" sz="1500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Б</a:t>
            </a:r>
            <a:r>
              <a:rPr b="0" i="0" lang="ru" sz="1500" u="none" cap="none" strike="noStrike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есконечная последовательность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Stream&lt;Integer&gt; stream = Stream.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generate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(() -&gt; </a:t>
            </a:r>
            <a:r>
              <a:rPr b="1" i="0" lang="ru" sz="15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Random().nextInt(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ru" sz="1500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ограничение </a:t>
            </a:r>
            <a:r>
              <a:rPr b="0" i="0" lang="ru" sz="1500" u="none" cap="none" strike="noStrike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последовательности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Stream&lt;Integer&gt; stream = Stream.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generate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(() -&gt; </a:t>
            </a:r>
            <a:r>
              <a:rPr b="1" i="0" lang="ru" sz="15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Random().nextInt(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.limit(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ru" sz="1500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Б</a:t>
            </a:r>
            <a:r>
              <a:rPr b="0" i="0" lang="ru" sz="1500" u="none" cap="none" strike="noStrike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есконечная последовательность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 snr = </a:t>
            </a:r>
            <a:r>
              <a:rPr b="1" i="0" lang="ru" sz="15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Scanner(System.</a:t>
            </a:r>
            <a:r>
              <a:rPr b="1" i="1" lang="ru" sz="15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Stream&lt;String&gt; strstream = Stream.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generate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(() -&gt; </a:t>
            </a:r>
            <a:r>
              <a:rPr b="0" i="0" lang="ru" sz="15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snr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.nextLine());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strstream.forEach(x-&gt;System.</a:t>
            </a:r>
            <a:r>
              <a:rPr b="1" i="1" lang="ru" sz="15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.print(x+</a:t>
            </a:r>
            <a:r>
              <a:rPr b="1" i="0" lang="ru" sz="15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b="0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lang="ru"/>
              <a:t>distinct</a:t>
            </a:r>
            <a:endParaRPr/>
          </a:p>
        </p:txBody>
      </p:sp>
      <p:sp>
        <p:nvSpPr>
          <p:cNvPr id="347" name="Google Shape;347;p61"/>
          <p:cNvSpPr txBox="1"/>
          <p:nvPr>
            <p:ph idx="1" type="body"/>
          </p:nvPr>
        </p:nvSpPr>
        <p:spPr>
          <a:xfrm>
            <a:off x="188175" y="1369225"/>
            <a:ext cx="87501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numbers = Arrays.asList(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uniqueNumbers = numbers.stream()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.distinct()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.collect(Collectors.toList());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System.out.println(uniqueNumbers); </a:t>
            </a:r>
            <a:r>
              <a:rPr lang="ru" sz="1500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// prints [1, 2, 3, 4, 5]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lang="ru"/>
              <a:t>skip</a:t>
            </a:r>
            <a:endParaRPr/>
          </a:p>
        </p:txBody>
      </p:sp>
      <p:sp>
        <p:nvSpPr>
          <p:cNvPr id="353" name="Google Shape;353;p62"/>
          <p:cNvSpPr txBox="1"/>
          <p:nvPr>
            <p:ph idx="1" type="body"/>
          </p:nvPr>
        </p:nvSpPr>
        <p:spPr>
          <a:xfrm>
            <a:off x="240450" y="1369225"/>
            <a:ext cx="8645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numbers = Arrays.asList(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skippedNumbers = numbers.stream()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.skip(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.collect(Collectors.toList());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System.out.println(skippedNumbers); </a:t>
            </a:r>
            <a:r>
              <a:rPr lang="ru" sz="1500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// prints [6, 7, 8, 9, 10]</a:t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2000">
                <a:latin typeface="Arial"/>
                <a:ea typeface="Arial"/>
                <a:cs typeface="Arial"/>
                <a:sym typeface="Arial"/>
              </a:rPr>
              <a:t>Возвращает новый поток, исключающий первые n элементов исходного потока</a:t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lang="ru"/>
              <a:t>takeWhile</a:t>
            </a:r>
            <a:endParaRPr b="1"/>
          </a:p>
        </p:txBody>
      </p:sp>
      <p:sp>
        <p:nvSpPr>
          <p:cNvPr id="359" name="Google Shape;359;p63"/>
          <p:cNvSpPr txBox="1"/>
          <p:nvPr>
            <p:ph idx="1" type="body"/>
          </p:nvPr>
        </p:nvSpPr>
        <p:spPr>
          <a:xfrm>
            <a:off x="240450" y="1369225"/>
            <a:ext cx="8687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numbers = Arrays.asList(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takenNumbers = numbers.stream()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.takeWhile(n -&gt; n &lt;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.collect(Collectors.toList());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System.out.println(takenNumbers); </a:t>
            </a:r>
            <a:r>
              <a:rPr lang="ru" sz="1500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// prints [1, 2, 3, 4]</a:t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latin typeface="Arial"/>
                <a:ea typeface="Arial"/>
                <a:cs typeface="Arial"/>
                <a:sym typeface="Arial"/>
              </a:rPr>
              <a:t>С</a:t>
            </a:r>
            <a:r>
              <a:rPr lang="ru" sz="2000">
                <a:latin typeface="Arial"/>
                <a:ea typeface="Arial"/>
                <a:cs typeface="Arial"/>
                <a:sym typeface="Arial"/>
              </a:rPr>
              <a:t>оздает новый поток, который включает элементы исходного потока до тех пор, пока они удовлетворяют указанному условию (Predicate). Как только условие становится ложным, поток завершается.</a:t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lang="ru"/>
              <a:t>dropWhile</a:t>
            </a:r>
            <a:endParaRPr b="1"/>
          </a:p>
        </p:txBody>
      </p:sp>
      <p:sp>
        <p:nvSpPr>
          <p:cNvPr id="365" name="Google Shape;365;p64"/>
          <p:cNvSpPr txBox="1"/>
          <p:nvPr>
            <p:ph idx="1" type="body"/>
          </p:nvPr>
        </p:nvSpPr>
        <p:spPr>
          <a:xfrm>
            <a:off x="240450" y="1369225"/>
            <a:ext cx="86874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numbers = Arrays.asList(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droppedNumbers = numbers.stream()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.dropWhile(n -&gt; n &lt;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.collect(Collectors.toList());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System.out.println(droppedNumbers); </a:t>
            </a:r>
            <a:r>
              <a:rPr lang="ru" sz="1500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// prints [5, 6, 7, 8, 9, 10]</a:t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2000">
                <a:latin typeface="Arial"/>
                <a:ea typeface="Arial"/>
                <a:cs typeface="Arial"/>
                <a:sym typeface="Arial"/>
              </a:rPr>
              <a:t>В</a:t>
            </a:r>
            <a:r>
              <a:rPr lang="ru" sz="2000">
                <a:latin typeface="Arial"/>
                <a:ea typeface="Arial"/>
                <a:cs typeface="Arial"/>
                <a:sym typeface="Arial"/>
              </a:rPr>
              <a:t>озвращает новый поток, исключающий все элементы исходного потока, которые удовлетворяют указанному условию (Predicate), до тех пор, пока не встретится элемент, не соответствующий условию.</a:t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collect - терминальный метод</a:t>
            </a:r>
            <a:endParaRPr/>
          </a:p>
        </p:txBody>
      </p:sp>
      <p:sp>
        <p:nvSpPr>
          <p:cNvPr id="371" name="Google Shape;371;p65"/>
          <p:cNvSpPr txBox="1"/>
          <p:nvPr>
            <p:ph idx="1" type="body"/>
          </p:nvPr>
        </p:nvSpPr>
        <p:spPr>
          <a:xfrm>
            <a:off x="142350" y="1369219"/>
            <a:ext cx="8839500" cy="3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integerList = Stream.</a:t>
            </a:r>
            <a:r>
              <a:rPr b="0" i="1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generate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(() -&gt; (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Random().nextInt(</a:t>
            </a:r>
            <a:r>
              <a:rPr b="0" i="0" lang="ru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)))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.limit(</a:t>
            </a:r>
            <a:r>
              <a:rPr b="0" i="0" lang="ru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.collect(Collectors.</a:t>
            </a:r>
            <a:r>
              <a:rPr b="0" i="1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toList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integerList.forEach(x-&gt;System.</a:t>
            </a:r>
            <a:r>
              <a:rPr b="1" i="1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.print(x+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 snr =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Scanner(System.</a:t>
            </a:r>
            <a:r>
              <a:rPr b="1" i="1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strstream = Stream.</a:t>
            </a:r>
            <a:r>
              <a:rPr b="0" i="1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generate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(() -&gt; </a:t>
            </a:r>
            <a:r>
              <a:rPr b="0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snr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.nextLine())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.limit(</a:t>
            </a:r>
            <a:r>
              <a:rPr b="0" i="0" lang="ru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.collect(Collectors.</a:t>
            </a:r>
            <a:r>
              <a:rPr b="0" i="1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i="1" lang="ru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strstream.forEach(System.</a:t>
            </a:r>
            <a:r>
              <a:rPr b="1" i="1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::println);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 str = Stream.</a:t>
            </a:r>
            <a:r>
              <a:rPr b="0" i="1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generate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(() -&gt; </a:t>
            </a:r>
            <a:r>
              <a:rPr b="0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snr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.nextLine())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.limit(</a:t>
            </a:r>
            <a:r>
              <a:rPr b="0" i="0" lang="ru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.collect(Collectors.</a:t>
            </a:r>
            <a:r>
              <a:rPr b="0" i="1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joining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b="1" i="1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.println(str);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collect, groupingBy</a:t>
            </a:r>
            <a:endParaRPr/>
          </a:p>
        </p:txBody>
      </p:sp>
      <p:sp>
        <p:nvSpPr>
          <p:cNvPr id="377" name="Google Shape;377;p66"/>
          <p:cNvSpPr txBox="1"/>
          <p:nvPr>
            <p:ph idx="1" type="body"/>
          </p:nvPr>
        </p:nvSpPr>
        <p:spPr>
          <a:xfrm>
            <a:off x="142350" y="1369219"/>
            <a:ext cx="8839500" cy="3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stringList = Arrays.</a:t>
            </a:r>
            <a:r>
              <a:rPr b="0" i="1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asList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"sfsd"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"sddf"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"Gksdjfksd"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"YGJHHJ"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ru" sz="16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"hJK"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Map&lt;Integer, List&lt;String&gt;&gt; group = stringList.stream()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.collect(Collectors.</a:t>
            </a:r>
            <a:r>
              <a:rPr b="0" i="1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groupingBy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 -&gt; s.length()));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b="1" i="1" lang="ru" sz="16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.println(group);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Map&lt;Boolean, List&lt;String&gt;&gt; boolgroup = stringList.stream()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.collect(Collectors.</a:t>
            </a:r>
            <a:r>
              <a:rPr b="0" i="1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groupingBy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 -&gt; Character.</a:t>
            </a:r>
            <a:r>
              <a:rPr b="0" i="1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isUpperCase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(s.charAt(</a:t>
            </a:r>
            <a:r>
              <a:rPr b="0" i="0" lang="ru" sz="1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))));</a:t>
            </a:r>
            <a:b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b="1" i="1" lang="ru" sz="16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.println(boolgroup);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/>
              <a:t>collect</a:t>
            </a:r>
            <a:endParaRPr/>
          </a:p>
        </p:txBody>
      </p:sp>
      <p:sp>
        <p:nvSpPr>
          <p:cNvPr id="383" name="Google Shape;383;p67"/>
          <p:cNvSpPr txBox="1"/>
          <p:nvPr>
            <p:ph idx="1" type="body"/>
          </p:nvPr>
        </p:nvSpPr>
        <p:spPr>
          <a:xfrm>
            <a:off x="177656" y="1369219"/>
            <a:ext cx="88395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" sz="1600">
                <a:latin typeface="Courier New"/>
                <a:ea typeface="Courier New"/>
                <a:cs typeface="Courier New"/>
                <a:sym typeface="Courier New"/>
              </a:rPr>
              <a:t>List&lt;String&gt; stringList = Arrays.</a:t>
            </a:r>
            <a:r>
              <a:rPr i="1" lang="ru" sz="1600">
                <a:latin typeface="Courier New"/>
                <a:ea typeface="Courier New"/>
                <a:cs typeface="Courier New"/>
                <a:sym typeface="Courier New"/>
              </a:rPr>
              <a:t>asList</a:t>
            </a:r>
            <a:r>
              <a:rPr lang="ru" sz="16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6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"sfsd"</a:t>
            </a:r>
            <a:r>
              <a:rPr lang="ru" sz="16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ru" sz="16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"sddf"</a:t>
            </a:r>
            <a:r>
              <a:rPr lang="ru" sz="16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ru" sz="16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"Gksdjfksd"</a:t>
            </a:r>
            <a:r>
              <a:rPr lang="ru" sz="16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ru" sz="16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"YGJHHJ"</a:t>
            </a:r>
            <a:r>
              <a:rPr lang="ru" sz="16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ru" sz="160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"hJK"</a:t>
            </a:r>
            <a:r>
              <a:rPr lang="ru" sz="16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IntSummaryStatistics collect = stringList.stream()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.collect(Collectors.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summarizingInt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(String::length));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b="1" i="1" lang="ru" sz="15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.println(collect);</a:t>
            </a:r>
            <a:endParaRPr b="0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" sz="1500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//IntSummaryStatistics{count=5, sum=26, min=3, average=5,200000, max=9}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IntSummaryStatistics collect = Arrays.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asList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677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34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546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56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).stream()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.collect(Collectors.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summarizingInt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(Integer::intValue));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b="1" i="1" lang="ru" sz="15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.println(collect);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lang="ru" sz="1500">
                <a:solidFill>
                  <a:srgbClr val="A5A5A5"/>
                </a:solidFill>
                <a:latin typeface="Courier New"/>
                <a:ea typeface="Courier New"/>
                <a:cs typeface="Courier New"/>
                <a:sym typeface="Courier New"/>
              </a:rPr>
              <a:t>//IntSummaryStatistics{count=5, sum=1316, min=3, average=263,200000, max=677}</a:t>
            </a:r>
            <a:endParaRPr sz="1500">
              <a:solidFill>
                <a:srgbClr val="A5A5A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https://docs.oracle.com/en/java/javase/11/docs/api/java.base/java/util/IntSummaryStatistics.html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8"/>
          <p:cNvSpPr txBox="1"/>
          <p:nvPr>
            <p:ph idx="1" type="body"/>
          </p:nvPr>
        </p:nvSpPr>
        <p:spPr>
          <a:xfrm>
            <a:off x="628650" y="457200"/>
            <a:ext cx="7886700" cy="41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None/>
            </a:pP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Subject {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score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Subject(String title,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score) {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score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 score;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title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 title;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public boolean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isValid() {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return  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score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b="0" i="0" lang="ru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ru" sz="1400" u="none" cap="none" strike="noStrike">
                <a:solidFill>
                  <a:srgbClr val="808000"/>
                </a:solidFill>
                <a:latin typeface="Courier New"/>
                <a:ea typeface="Courier New"/>
                <a:cs typeface="Courier New"/>
                <a:sym typeface="Courier New"/>
              </a:rPr>
              <a:t>@Override</a:t>
            </a:r>
            <a:br>
              <a:rPr b="0" i="0" lang="ru" sz="1400" u="none" cap="none" strike="noStrike">
                <a:solidFill>
                  <a:srgbClr val="808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808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 toString() {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"Subject{"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"title='"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title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\'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'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", score="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score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1" i="0" lang="ru" sz="14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'}'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9"/>
          <p:cNvSpPr txBox="1"/>
          <p:nvPr>
            <p:ph idx="1" type="body"/>
          </p:nvPr>
        </p:nvSpPr>
        <p:spPr>
          <a:xfrm>
            <a:off x="628650" y="482600"/>
            <a:ext cx="7886700" cy="4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400"/>
              <a:buNone/>
            </a:pP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static class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Applicant {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fullname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List&lt;Subject&gt; 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subjects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ArrayList&lt;&gt;();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Applicant(String fullname) {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fullname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 fullname;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addSubjects(Subject ... subjects) {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subjects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.addAll(Arrays.</a:t>
            </a:r>
            <a:r>
              <a:rPr b="0" i="1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(subjects).toList());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addSubjects(List&lt;Subject&gt; subjects) {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subjects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.addAll(subjects);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public boolean 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isValid() {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4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1" i="0" lang="ru" sz="14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subjects</a:t>
            </a: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.stream().allMatch(elem -&gt; elem.isValid());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b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0"/>
          <p:cNvSpPr txBox="1"/>
          <p:nvPr>
            <p:ph idx="1" type="body"/>
          </p:nvPr>
        </p:nvSpPr>
        <p:spPr>
          <a:xfrm>
            <a:off x="628650" y="609600"/>
            <a:ext cx="7886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List&lt;Subject&gt;subjects = Arrays.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asList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5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Subject(</a:t>
            </a:r>
            <a:r>
              <a:rPr b="1" i="0" lang="ru" sz="15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"math"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56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5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Subject(</a:t>
            </a:r>
            <a:r>
              <a:rPr b="1" i="0" lang="ru" sz="15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"cs"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ru" sz="15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Subject(</a:t>
            </a:r>
            <a:r>
              <a:rPr b="1" i="0" lang="ru" sz="15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"russian"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ru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67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List&lt;Subject&gt;newsubjects = subjects.stream()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.filter(Subject::isValid)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.collect(Collectors.</a:t>
            </a:r>
            <a:r>
              <a:rPr b="0" i="1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toList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newsubjects.forEach(System.</a:t>
            </a:r>
            <a:r>
              <a:rPr b="1" i="1" lang="ru" sz="15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::println);</a:t>
            </a:r>
            <a:endParaRPr b="0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Applicant ivanov =</a:t>
            </a:r>
            <a:r>
              <a:rPr b="1" i="0" lang="ru" sz="1500" u="none" cap="none" strike="noStrik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Applicant(</a:t>
            </a:r>
            <a:r>
              <a:rPr b="1" i="0" lang="ru" sz="15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"Ivanov"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ivanov.addSubjects(subjects);</a:t>
            </a:r>
            <a:b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b="1" i="1" lang="ru" sz="1500" u="none" cap="none" strike="noStrike">
                <a:solidFill>
                  <a:srgbClr val="660E7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.println(ivanov.isValid());</a:t>
            </a:r>
            <a:endParaRPr b="0" i="0" sz="15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Parallel Stream</a:t>
            </a:r>
            <a:endParaRPr/>
          </a:p>
        </p:txBody>
      </p:sp>
      <p:sp>
        <p:nvSpPr>
          <p:cNvPr id="404" name="Google Shape;404;p7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</a:t>
            </a:r>
            <a:r>
              <a:rPr lang="ru"/>
              <a:t>анные в потоке делятся на части, каждая часть обрабатывается на отдельном ядре процессора, в конце эти части соединяются, и над ними выполняются финальные операции.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чего нужно параллелить потоки: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72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1. </a:t>
            </a:r>
            <a:r>
              <a:rPr b="1" lang="ru" sz="2000">
                <a:solidFill>
                  <a:schemeClr val="dk1"/>
                </a:solidFill>
              </a:rPr>
              <a:t>Обработка больших наборов данных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Один из наиболее распространенных вариантов использования параллельных потоков — это работа с большими наборами данных.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Пусть есть список из миллиона записей</a:t>
            </a:r>
            <a:r>
              <a:rPr lang="ru" sz="2000">
                <a:solidFill>
                  <a:schemeClr val="dk1"/>
                </a:solidFill>
              </a:rPr>
              <a:t>, и </a:t>
            </a:r>
            <a:r>
              <a:rPr lang="ru" sz="2000">
                <a:solidFill>
                  <a:schemeClr val="dk1"/>
                </a:solidFill>
              </a:rPr>
              <a:t>нужно выполнить интенсивную вычислительную операцию над каждым элементом.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Параллельные потоки могут разделить рабочую нагрузку между несколькими потоками, что значительно сократит время обработки.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Например, можно использовать параллельные потоки для эффективного выполнения сложных вычислений, фильтрации, сопоставления или группировки операций с большими наборами данных.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чего нужно параллелить потоки: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73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2. </a:t>
            </a:r>
            <a:r>
              <a:rPr b="1" lang="ru" sz="2000">
                <a:solidFill>
                  <a:schemeClr val="dk1"/>
                </a:solidFill>
              </a:rPr>
              <a:t>Операции с интенсивным использованием ЦП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Параллельные потоки особенно полезны для задач, требующих высокой загрузки ЦП.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Пример 1. Рассмотрим имитационную модель, которая требует значительных вычислений для каждой итерации. Распараллеливание симуляции с использованием параллельных потоков позволяет распределить рабочую нагрузку между несколькими ядрами, оптимизируя время обработки.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Пример 2. Задачи обработки изображений, такие как изменение размера или применение фильтров, могут значительно выиграть от выполнения параллельного потока, поскольку каждое изображение может обрабатываться независимо.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чего нужно параллелить потоки: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74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3. </a:t>
            </a:r>
            <a:r>
              <a:rPr b="1" lang="ru" sz="2000">
                <a:solidFill>
                  <a:schemeClr val="dk1"/>
                </a:solidFill>
              </a:rPr>
              <a:t>Улучшенная производительность ввода/вывода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Параллельные потоки также могут улучшить операции ввода-вывода, такие как чтение или запись больших файлов, выполнение сетевых запросов или запросов к базе данных.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Можно разделить операции ввода-вывода на более мелкие фрагменты и выполнять их параллельно. Таким образом,в полной мере будут использоваться доступные системные ресурсы. Это может привести к сокращению времени выполнения, особенно при одновременном выполнении нескольких операций ввода-вывода.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чего нужно параллелить потоки: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75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4. </a:t>
            </a:r>
            <a:r>
              <a:rPr b="1" lang="ru" sz="2000">
                <a:solidFill>
                  <a:schemeClr val="dk1"/>
                </a:solidFill>
              </a:rPr>
              <a:t>Сложные преобразования данных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При работе со сложными преобразованиями данных параллельные потоки могут упростить код и улучшить его читаемость.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Обычный сценарий, содержащий применение нескольких операций, таких как фильтрация, сопоставление и сокращение, для преобразования набора объектов.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Параллельные потоки могут эффективно обрабатывать промежуточные шаги, что приводит к более чистому и лаконичному коду. Это особенно полезно в таких сценариях, как обработка файлов журналов, анализ больших документов XML/JSON или преобразование данных в заданиях пакетной обработки.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чего нужно параллелить потоки: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76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5. </a:t>
            </a:r>
            <a:r>
              <a:rPr b="1" lang="ru" sz="2000">
                <a:solidFill>
                  <a:schemeClr val="dk1"/>
                </a:solidFill>
              </a:rPr>
              <a:t>Сокращение потока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Параллельные потоки являются ценным инструментом при сокращении потоков, например при суммировании, поиске максимума/минимума или накоплении значений.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Используя возможности параллельных вычислений, эти операции могут выполняться одновременно, что приводит к значительному повышению производительности. Например, вычисление суммы большого набора чисел с использованием параллельных потоков может дать более быстрые результаты по сравнению с последовательным аналогом.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440" name="Google Shape;440;p77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numbers = Arrays.asList(1, 2, 3, 4, 5, 6, 7, 8, 9, 10);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numbers.parallelStream()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.map(n -&gt; n*2)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.forEach(System.out::println);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446" name="Google Shape;446;p78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List&lt;Integer&gt; numbers = Arrays.asList(1, 2, 3, 4, 5, 6, 7, 8, 9, 10);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summ = numbers.parallelStream()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.reduce(0, Integer::sum);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320"/>
              <a:t>Сходства и различие stream().parallel() и parallelStream()</a:t>
            </a:r>
            <a:endParaRPr sz="2320"/>
          </a:p>
        </p:txBody>
      </p:sp>
      <p:sp>
        <p:nvSpPr>
          <p:cNvPr id="452" name="Google Shape;452;p79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chemeClr val="dk1"/>
                </a:solidFill>
              </a:rPr>
              <a:t>stream().parallel()</a:t>
            </a:r>
            <a:r>
              <a:rPr lang="ru" sz="2000">
                <a:solidFill>
                  <a:schemeClr val="dk1"/>
                </a:solidFill>
              </a:rPr>
              <a:t> - метод используется для преобразования последовательного потока в параллельный поток. Его можно вызвать для любого объекта последовательного потока, чтобы включить параллельную обработку этого потока. Пример.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list = Arrays.asList("a", "b", "c");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Stream&lt;String&gt; parallelStream = list.stream().parallel();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Метод stream() создает последовательный поток из списка, а затем метод parallel() вызывается для последовательного потока, чтобы преобразовать его в параллельный поток.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320"/>
              <a:t>Сходства и различие stream().parallel() и parallelStream()</a:t>
            </a:r>
            <a:endParaRPr sz="2320"/>
          </a:p>
        </p:txBody>
      </p:sp>
      <p:sp>
        <p:nvSpPr>
          <p:cNvPr id="458" name="Google Shape;458;p80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chemeClr val="dk1"/>
                </a:solidFill>
              </a:rPr>
              <a:t>parallelStream() </a:t>
            </a:r>
            <a:r>
              <a:rPr lang="ru" sz="2000">
                <a:solidFill>
                  <a:schemeClr val="dk1"/>
                </a:solidFill>
              </a:rPr>
              <a:t>- метод вызывается непосредственно для объекта коллекции для создания параллельного потока. Он возвращает параллельный поток, позволяющий выполнять параллельную обработку элементов коллекции. Пример.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list = Arrays.asList("a", "b", "c");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Stream&lt;String&gt; parallelStream = list.parallelStream();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Метод parallelStream() вызывается непосредственно в списке для создания параллельного потока.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/>
              <a:t>Что влияет на производительность в параллельных потоках:</a:t>
            </a:r>
            <a:endParaRPr sz="2320"/>
          </a:p>
        </p:txBody>
      </p:sp>
      <p:sp>
        <p:nvSpPr>
          <p:cNvPr id="464" name="Google Shape;464;p81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2000">
                <a:solidFill>
                  <a:schemeClr val="dk1"/>
                </a:solidFill>
              </a:rPr>
              <a:t>Размер данных. Чем больше данных, тем сложнее сначала разделять данные, а потом их соединять.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2000">
                <a:solidFill>
                  <a:schemeClr val="dk1"/>
                </a:solidFill>
              </a:rPr>
              <a:t>Количество ядер процессора. Теоретически, чем больше ядер в компьютере, тем быстрее программа будет работать. Если на машине одно ядро, нет смысла применять параллельные потоки.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2000">
                <a:solidFill>
                  <a:schemeClr val="dk1"/>
                </a:solidFill>
              </a:rPr>
              <a:t>Чем проще структура данных, с которой работает поток, тем быстрее будут происходить операции. Например, данные из ArrayList легко использовать, так как структура данной коллекции предполагает последовательность несвязанных данных. А вот коллекция типа LinkedList - не лучший вариант, так как в последовательном списке все элементы связаны с предыдущими/последующими. И такие данные трудно распараллелить.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2000">
                <a:solidFill>
                  <a:schemeClr val="dk1"/>
                </a:solidFill>
              </a:rPr>
              <a:t>Над данными примитивных типов операции будут производиться быстрее, чем над объектами классов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320"/>
              <a:t>Под капотом …</a:t>
            </a:r>
            <a:endParaRPr sz="2320"/>
          </a:p>
        </p:txBody>
      </p:sp>
      <p:sp>
        <p:nvSpPr>
          <p:cNvPr id="470" name="Google Shape;470;p82"/>
          <p:cNvSpPr txBox="1"/>
          <p:nvPr>
            <p:ph idx="1" type="body"/>
          </p:nvPr>
        </p:nvSpPr>
        <p:spPr>
          <a:xfrm>
            <a:off x="167275" y="1152475"/>
            <a:ext cx="8781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Когда создается параллельный поток, он использует ForkJoinPool по умолчанию, предоставленный Java, для параллельного выполнения операций потока. Это означает, что работа по разделению данных и их распределению по нескольким потокам выполняется ForkJoinPool.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ForkJoinPool управляет пулом рабочих потоков и планирует выполнение подзадач параллельного потока этими потоками. Он динамически регулирует количество потоков в зависимости от доступных ядер ЦП и рабочей нагрузки.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Таким образом, обеспечивается эффективное использование системных ресурсов и повышается общая производительность обработки параллельных потоков.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