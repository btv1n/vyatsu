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</p:sldIdLst>
  <p:sldSz cy="6858000" cx="9144000"/>
  <p:notesSz cx="6858000" cy="9144000"/>
  <p:embeddedFontLst>
    <p:embeddedFont>
      <p:font typeface="Roboto"/>
      <p:regular r:id="rId57"/>
      <p:bold r:id="rId58"/>
      <p:italic r:id="rId59"/>
      <p:boldItalic r:id="rId60"/>
    </p:embeddedFont>
    <p:embeddedFont>
      <p:font typeface="Arial Black"/>
      <p:regular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62" roundtripDataSignature="AMtx7mjl0Cy+tbj29EEwTbjrkQShKnlJ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customschemas.google.com/relationships/presentationmetadata" Target="metadata"/><Relationship Id="rId61" Type="http://schemas.openxmlformats.org/officeDocument/2006/relationships/font" Target="fonts/ArialBlack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Roboto-bold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Roboto-regular.fntdata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Roboto-italic.fntdata"/><Relationship Id="rId14" Type="http://schemas.openxmlformats.org/officeDocument/2006/relationships/slide" Target="slides/slide9.xml"/><Relationship Id="rId58" Type="http://schemas.openxmlformats.org/officeDocument/2006/relationships/font" Target="fonts/Roboto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ky.pro/wiki/java/ostanovka-ozhidaniya-future-v-java-pri-isklyuchenii-reshenie/" TargetMode="External"/><Relationship Id="rId3" Type="http://schemas.openxmlformats.org/officeDocument/2006/relationships/hyperlink" Target="https://habr.com/ru/articles/554608/" TargetMode="Externa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0dc21b89c1_0_57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0dc21b89c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0dc21b89c1_0_1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0dc21b89c1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0dc21b89c1_0_120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0dc21b89c1_0_1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0dc21b89c1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0dc21b89c1_0_126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0dc21b89c1_0_1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0dc21b89c1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0dc21b89c1_0_132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0dc21b89c1_0_1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0dc21b89c1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0dc21b89c1_0_189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0dc21b89c1_0_19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0dc21b89c1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0dc21b89c1_0_195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68fcdafc21_0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g368fcdafc2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68fcdafc21_0_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0dc21b89c1_0_2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0dc21b89c1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0dc21b89c1_0_213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0dc21b89c1_0_2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0dc21b89c1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0dc21b89c1_0_239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0dc21b89c1_0_2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0dc21b89c1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0dc21b89c1_0_269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0dc21b89c1_0_2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0dc21b89c1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0dc21b89c1_0_276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0dc21b89c1_0_2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0dc21b89c1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Thread - это абстракция над физическим потоком.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Runnable - это абстракция над выполняемой задачей.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Плюс использования Runnable состоит в том, что это позволяет логически отделить выполнение задачи от логики управления потоками.</a:t>
            </a:r>
            <a:endParaRPr/>
          </a:p>
        </p:txBody>
      </p:sp>
      <p:sp>
        <p:nvSpPr>
          <p:cNvPr id="168" name="Google Shape;168;g30dc21b89c1_0_263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0dc21b89c1_0_2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0dc21b89c1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0dc21b89c1_0_288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0dc21b89c1_0_3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0dc21b89c1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0dc21b89c1_0_301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0dc21b89c1_0_3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0dc21b89c1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0dc21b89c1_0_317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0dc21b89c1_0_3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0dc21b89c1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0dc21b89c1_0_326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0dc21b89c1_0_3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0dc21b89c1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0dc21b89c1_0_354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139089fc52_0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139089fc5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139089fc52_0_12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139089fc52_0_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139089fc5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139089fc52_0_18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139089fc52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139089fc5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139089fc52_0_6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139089fc52_0_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139089fc5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139089fc52_0_24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139089fc52_0_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139089fc5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139089fc52_0_31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68fcdafc21_0_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68fcdafc2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68fcdafc21_0_14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139089fc52_0_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139089fc5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139089fc52_0_38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68fcdafc21_0_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68fcdafc2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68fcdafc21_0_20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139089fc52_0_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139089fc5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139089fc52_0_45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139089fc52_0_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139089fc5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139089fc52_0_52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139089fc52_0_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139089fc5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139089fc52_0_58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139089fc52_0_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139089fc52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139089fc52_0_64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139089fc52_0_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139089fc52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139089fc52_0_71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139089fc52_0_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139089fc52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Для создания ExecutorService</a:t>
            </a:r>
            <a:endParaRPr/>
          </a:p>
        </p:txBody>
      </p:sp>
      <p:sp>
        <p:nvSpPr>
          <p:cNvPr id="333" name="Google Shape;333;g3139089fc52_0_77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139089fc52_0_9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139089fc52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Work Stealing - кража работы. Недостаточно нагруженный процессор активно ищет потоки других процессоров и "крадет" некоторые из них.</a:t>
            </a:r>
            <a:endParaRPr/>
          </a:p>
        </p:txBody>
      </p:sp>
      <p:sp>
        <p:nvSpPr>
          <p:cNvPr id="340" name="Google Shape;340;g3139089fc52_0_95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139089fc52_0_1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139089fc52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139089fc52_0_101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68fcdafc21_0_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68fcdafc21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Способ создания и запуска виртуальных потоков</a:t>
            </a:r>
            <a:endParaRPr/>
          </a:p>
        </p:txBody>
      </p:sp>
      <p:sp>
        <p:nvSpPr>
          <p:cNvPr id="354" name="Google Shape;354;g368fcdafc21_0_59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139089fc52_0_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139089fc52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139089fc52_0_89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139089fc52_0_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139089fc52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139089fc52_0_83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139089fc52_0_1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139089fc52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139089fc52_0_110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139089fc52_0_1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139089fc52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2"/>
              </a:rPr>
              <a:t>https://sky.pro/wiki/java/ostanovka-ozhidaniya-future-v-java-pri-isklyuchenii-reshenie/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https://habr.com/ru/articles/554608/</a:t>
            </a:r>
            <a:endParaRPr/>
          </a:p>
        </p:txBody>
      </p:sp>
      <p:sp>
        <p:nvSpPr>
          <p:cNvPr id="382" name="Google Shape;382;g3139089fc52_0_116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68fcdafc21_0_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68fcdafc2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Способ создания и запуска виртуальных потоков</a:t>
            </a:r>
            <a:endParaRPr/>
          </a:p>
        </p:txBody>
      </p:sp>
      <p:sp>
        <p:nvSpPr>
          <p:cNvPr id="389" name="Google Shape;389;g368fcdafc21_0_67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68fcdafc21_0_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68fcdafc2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68fcdafc21_0_34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68fcdafc21_0_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68fcdafc2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Способ </a:t>
            </a:r>
            <a:r>
              <a:rPr lang="en-US"/>
              <a:t>создания и запуска виртуальных потоков</a:t>
            </a:r>
            <a:endParaRPr/>
          </a:p>
        </p:txBody>
      </p:sp>
      <p:sp>
        <p:nvSpPr>
          <p:cNvPr id="403" name="Google Shape;403;g368fcdafc21_0_40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68fcdafc21_0_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68fcdafc2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Способ создания пула виртуальных потоков</a:t>
            </a:r>
            <a:endParaRPr/>
          </a:p>
        </p:txBody>
      </p:sp>
      <p:sp>
        <p:nvSpPr>
          <p:cNvPr id="410" name="Google Shape;410;g368fcdafc21_0_52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68fcdafc21_0_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68fcdafc2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https://habr.com/ru/articles/676084/</a:t>
            </a:r>
            <a:endParaRPr/>
          </a:p>
        </p:txBody>
      </p:sp>
      <p:sp>
        <p:nvSpPr>
          <p:cNvPr id="417" name="Google Shape;417;g368fcdafc21_0_73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0dc21b89c1_0_14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g30dc21b89c1_0_14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30dc21b89c1_0_14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0dc21b89c1_0_146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g30dc21b89c1_0_14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0dc21b89c1_0_14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0dc21b89c1_0_14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g30dc21b89c1_0_14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0dc21b89c1_0_15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g30dc21b89c1_0_153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g30dc21b89c1_0_153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g30dc21b89c1_0_15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0dc21b89c1_0_15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g30dc21b89c1_0_15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0dc21b89c1_0_161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g30dc21b89c1_0_161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g30dc21b89c1_0_16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0dc21b89c1_0_165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g30dc21b89c1_0_16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0dc21b89c1_0_168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0dc21b89c1_0_168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g30dc21b89c1_0_168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g30dc21b89c1_0_168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g30dc21b89c1_0_16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0dc21b89c1_0_174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g30dc21b89c1_0_17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0dc21b89c1_0_177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g30dc21b89c1_0_177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g30dc21b89c1_0_17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0dc21b89c1_0_18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0dc21b89c1_0_183"/>
          <p:cNvSpPr txBox="1"/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g30dc21b89c1_0_183"/>
          <p:cNvSpPr txBox="1"/>
          <p:nvPr>
            <p:ph idx="1" type="body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○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7" name="Google Shape;57;g30dc21b89c1_0_18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g30dc21b89c1_0_183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g30dc21b89c1_0_183"/>
          <p:cNvSpPr txBox="1"/>
          <p:nvPr>
            <p:ph idx="10" type="dt"/>
          </p:nvPr>
        </p:nvSpPr>
        <p:spPr>
          <a:xfrm>
            <a:off x="457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0dc21b89c1_0_13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g30dc21b89c1_0_13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g30dc21b89c1_0_13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ru.stackoverflow.com/questions/399989/%D0%92-%D1%87%D0%B5%D0%BC-%D1%80%D0%B0%D0%B7%D0%BD%D0%B8%D1%86%D0%B0-%D0%BC%D0%B5%D0%B6%D0%B4%D1%83-thread-%D0%B8-runnable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dc21b89c1_0_57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Лекция 8</a:t>
            </a:r>
            <a:endParaRPr/>
          </a:p>
        </p:txBody>
      </p:sp>
      <p:sp>
        <p:nvSpPr>
          <p:cNvPr id="65" name="Google Shape;65;g30dc21b89c1_0_57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Многопоточность</a:t>
            </a:r>
            <a:endParaRPr/>
          </a:p>
        </p:txBody>
      </p:sp>
      <p:pic>
        <p:nvPicPr>
          <p:cNvPr id="66" name="Google Shape;66;g30dc21b89c1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8121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0dc21b89c1_0_1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Потоки</a:t>
            </a:r>
            <a:endParaRPr b="1" sz="3000"/>
          </a:p>
        </p:txBody>
      </p:sp>
      <p:sp>
        <p:nvSpPr>
          <p:cNvPr id="73" name="Google Shape;73;g30dc21b89c1_0_12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Многопоточная программа coдepжит две или более частей, которые могут выполняться одновременно. 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Каждая часть такой программы называется потоком (thread)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Каждый поток задает отдельный </a:t>
            </a:r>
            <a:r>
              <a:rPr lang="en-US" sz="2500">
                <a:solidFill>
                  <a:schemeClr val="dk1"/>
                </a:solidFill>
              </a:rPr>
              <a:t>"</a:t>
            </a:r>
            <a:r>
              <a:rPr lang="en-US" sz="2500">
                <a:solidFill>
                  <a:schemeClr val="dk1"/>
                </a:solidFill>
              </a:rPr>
              <a:t>путь</a:t>
            </a:r>
            <a:r>
              <a:rPr lang="en-US" sz="2500">
                <a:solidFill>
                  <a:schemeClr val="dk1"/>
                </a:solidFill>
              </a:rPr>
              <a:t>"</a:t>
            </a:r>
            <a:r>
              <a:rPr lang="en-US" sz="2500">
                <a:solidFill>
                  <a:schemeClr val="dk1"/>
                </a:solidFill>
              </a:rPr>
              <a:t> выполнения. 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0dc21b89c1_0_12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Однопоточные системы</a:t>
            </a:r>
            <a:endParaRPr b="1" sz="3000"/>
          </a:p>
        </p:txBody>
      </p:sp>
      <p:sp>
        <p:nvSpPr>
          <p:cNvPr id="80" name="Google Shape;80;g30dc21b89c1_0_12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Используют подход, называемый циклом событий с </a:t>
            </a:r>
            <a:r>
              <a:rPr lang="en-US" sz="2500">
                <a:solidFill>
                  <a:schemeClr val="dk1"/>
                </a:solidFill>
              </a:rPr>
              <a:t>опросом</a:t>
            </a:r>
            <a:r>
              <a:rPr lang="en-US" sz="2500">
                <a:solidFill>
                  <a:schemeClr val="dk1"/>
                </a:solidFill>
              </a:rPr>
              <a:t>. 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Единственный поток управления выполняется в бесконечном цикле, опрашивая единственную очередь событий, чтобы принять решение о том, что делать дальше. 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Когда поток блокируется по причине ожидания некоторого ресурса, выполнение всей программы приостанавливается.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0dc21b89c1_0_13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Многопоточные системы</a:t>
            </a:r>
            <a:endParaRPr b="1" sz="3000"/>
          </a:p>
        </p:txBody>
      </p:sp>
      <p:sp>
        <p:nvSpPr>
          <p:cNvPr id="87" name="Google Shape;87;g30dc21b89c1_0_13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Основной механизм циклического опроса исключается. 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Один поток может быть приостановлен без остановки других частей программы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Когда поток блокируется в программе java, то останавливается только один единственный заблокированный поток. Все остальные потоки продолжают выполняться.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0dc21b89c1_0_18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Состояния потоков:</a:t>
            </a:r>
            <a:endParaRPr b="1" sz="3000"/>
          </a:p>
        </p:txBody>
      </p:sp>
      <p:sp>
        <p:nvSpPr>
          <p:cNvPr id="94" name="Google Shape;94;g30dc21b89c1_0_189"/>
          <p:cNvSpPr txBox="1"/>
          <p:nvPr>
            <p:ph idx="1" type="body"/>
          </p:nvPr>
        </p:nvSpPr>
        <p:spPr>
          <a:xfrm>
            <a:off x="153325" y="1356875"/>
            <a:ext cx="8809500" cy="52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Поток г</a:t>
            </a:r>
            <a:r>
              <a:rPr lang="en-US" sz="2400">
                <a:solidFill>
                  <a:schemeClr val="dk1"/>
                </a:solidFill>
              </a:rPr>
              <a:t>отов к выполнению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Поток м</a:t>
            </a:r>
            <a:r>
              <a:rPr lang="en-US" sz="2400">
                <a:solidFill>
                  <a:schemeClr val="dk1"/>
                </a:solidFill>
              </a:rPr>
              <a:t>ожет выполняться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Работающий поток может быть приостановлен, что временно прекращает eгo активность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В</a:t>
            </a:r>
            <a:r>
              <a:rPr lang="en-US" sz="2400">
                <a:solidFill>
                  <a:schemeClr val="dk1"/>
                </a:solidFill>
              </a:rPr>
              <a:t>ыполнение</a:t>
            </a:r>
            <a:r>
              <a:rPr lang="en-US" sz="2400">
                <a:solidFill>
                  <a:schemeClr val="dk1"/>
                </a:solidFill>
              </a:rPr>
              <a:t> приостановленного потока может быть возобновлено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Поток может быть заблокирован, когда ожидает какой-то ресурс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Поток может быть прерван, что немедленно останавлива­ет его выполнение. Прерванный поток уже не может быть возобновлен.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0dc21b89c1_0_19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Приоритеты потоков</a:t>
            </a:r>
            <a:endParaRPr b="1" sz="3000"/>
          </a:p>
        </p:txBody>
      </p:sp>
      <p:sp>
        <p:nvSpPr>
          <p:cNvPr id="101" name="Google Shape;101;g30dc21b89c1_0_195"/>
          <p:cNvSpPr txBox="1"/>
          <p:nvPr>
            <p:ph idx="1" type="body"/>
          </p:nvPr>
        </p:nvSpPr>
        <p:spPr>
          <a:xfrm>
            <a:off x="390300" y="1550550"/>
            <a:ext cx="86790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Java присваивает каждому потоку приоритет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Приоритет определяет поведение данного потока по отношению к другим</a:t>
            </a:r>
            <a:endParaRPr sz="2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Приоритеты потоков задаются целыми числами, определяющими относительный приоритет одного потока по сравнению c другими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8fcdafc21_0_8"/>
          <p:cNvSpPr txBox="1"/>
          <p:nvPr>
            <p:ph type="title"/>
          </p:nvPr>
        </p:nvSpPr>
        <p:spPr>
          <a:xfrm>
            <a:off x="457200" y="4572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000"/>
              <a:t>Правила переключения контекста</a:t>
            </a:r>
            <a:r>
              <a:rPr b="1" i="0" lang="en-US" sz="3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3000"/>
          </a:p>
        </p:txBody>
      </p:sp>
      <p:sp>
        <p:nvSpPr>
          <p:cNvPr id="108" name="Google Shape;108;g368fcdafc21_0_8"/>
          <p:cNvSpPr txBox="1"/>
          <p:nvPr>
            <p:ph idx="1" type="body"/>
          </p:nvPr>
        </p:nvSpPr>
        <p:spPr>
          <a:xfrm>
            <a:off x="125450" y="1371600"/>
            <a:ext cx="89211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Правила переключения контекста — это процесс в Java, когда процессор приостанавливает выполнение одного потока и переключается на другой. 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Это позволяет ОС управлять многозадачностью, создавая видимость одновременного выполнения нескольких потоков. 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Во время переключения сохраняется состояние текущего потока (регистры, указатель стека), чтобы затем можно было его восстановить. 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Переключение может быть добровольным или принудительным.</a:t>
            </a:r>
            <a:endParaRPr b="0" i="0" sz="19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>
            <p:ph type="title"/>
          </p:nvPr>
        </p:nvSpPr>
        <p:spPr>
          <a:xfrm>
            <a:off x="457200" y="4572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000"/>
              <a:t>Правила переключения контекста</a:t>
            </a:r>
            <a:r>
              <a:rPr b="1" i="0" lang="en-US" sz="3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3000"/>
          </a:p>
        </p:txBody>
      </p:sp>
      <p:sp>
        <p:nvSpPr>
          <p:cNvPr id="115" name="Google Shape;115;p7"/>
          <p:cNvSpPr txBox="1"/>
          <p:nvPr>
            <p:ph idx="1" type="body"/>
          </p:nvPr>
        </p:nvSpPr>
        <p:spPr>
          <a:xfrm>
            <a:off x="125450" y="1371600"/>
            <a:ext cx="89211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7544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500">
                <a:solidFill>
                  <a:schemeClr val="dk1"/>
                </a:solidFill>
              </a:rPr>
              <a:t>Поток может добровольно уступить управление. </a:t>
            </a:r>
            <a:br>
              <a:rPr lang="en-US" sz="2500">
                <a:solidFill>
                  <a:schemeClr val="dk1"/>
                </a:solidFill>
              </a:rPr>
            </a:br>
            <a:r>
              <a:rPr lang="en-US" sz="2500">
                <a:solidFill>
                  <a:schemeClr val="dk1"/>
                </a:solidFill>
              </a:rPr>
              <a:t>Все прочие потоки проверяются, и ресурсы процессора передаются потоку с максимальным приоритетом, который готов к выполнению.</a:t>
            </a:r>
            <a:endParaRPr sz="25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-375443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500">
                <a:solidFill>
                  <a:schemeClr val="dk1"/>
                </a:solidFill>
              </a:rPr>
              <a:t>Поток может быть прерван более приоритетным потоком. </a:t>
            </a:r>
            <a:br>
              <a:rPr lang="en-US" sz="2500">
                <a:solidFill>
                  <a:schemeClr val="dk1"/>
                </a:solidFill>
              </a:rPr>
            </a:br>
            <a:r>
              <a:rPr lang="en-US" sz="2500">
                <a:solidFill>
                  <a:schemeClr val="dk1"/>
                </a:solidFill>
              </a:rPr>
              <a:t>В этом случае низкоприоритетный поток, который не занимает процессор, просто приостанавливается высокоприоритетным потоком, независимо от того, что он делает. Это называется вытесняющей многозадачностью (или многозадачностью с приоритетами). </a:t>
            </a:r>
            <a:endParaRPr sz="2500">
              <a:solidFill>
                <a:schemeClr val="dk1"/>
              </a:solidFill>
            </a:endParaRPr>
          </a:p>
          <a:p>
            <a:pPr indent="-252412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ct val="75000"/>
              <a:buFont typeface="Noto Sans Symbols"/>
              <a:buNone/>
            </a:pPr>
            <a:r>
              <a:t/>
            </a:r>
            <a:endParaRPr b="0" i="0" sz="19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 txBox="1"/>
          <p:nvPr>
            <p:ph type="title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000"/>
              <a:t>Класс THREAD и интерфейс RUNNABLE</a:t>
            </a:r>
            <a:endParaRPr/>
          </a:p>
        </p:txBody>
      </p:sp>
      <p:sp>
        <p:nvSpPr>
          <p:cNvPr id="122" name="Google Shape;122;p8"/>
          <p:cNvSpPr txBox="1"/>
          <p:nvPr>
            <p:ph idx="1" type="body"/>
          </p:nvPr>
        </p:nvSpPr>
        <p:spPr>
          <a:xfrm>
            <a:off x="457200" y="13716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Многопоточная модель в Java реализуется посредством иерархии классов, описывающих потоки. 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Основу этой иерархии составляют класс Thread и интерфейс Runnable. </a:t>
            </a:r>
            <a:endParaRPr sz="25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Для создания потока необходимо:</a:t>
            </a:r>
            <a:endParaRPr sz="2500">
              <a:solidFill>
                <a:schemeClr val="dk1"/>
              </a:solidFill>
            </a:endParaRPr>
          </a:p>
          <a:p>
            <a:pPr indent="-3873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n-US" sz="2500">
                <a:solidFill>
                  <a:schemeClr val="dk1"/>
                </a:solidFill>
              </a:rPr>
              <a:t> либо расширить класс Thread</a:t>
            </a:r>
            <a:endParaRPr sz="2500">
              <a:solidFill>
                <a:schemeClr val="dk1"/>
              </a:solidFill>
            </a:endParaRPr>
          </a:p>
          <a:p>
            <a:pPr indent="-3873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○"/>
            </a:pPr>
            <a:r>
              <a:rPr lang="en-US" sz="2500">
                <a:solidFill>
                  <a:schemeClr val="dk1"/>
                </a:solidFill>
              </a:rPr>
              <a:t> либо реализовать интерфейс Runnable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>
            <p:ph type="title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000"/>
              <a:t>Главный поток</a:t>
            </a:r>
            <a:endParaRPr b="1" sz="3000"/>
          </a:p>
        </p:txBody>
      </p:sp>
      <p:sp>
        <p:nvSpPr>
          <p:cNvPr id="129" name="Google Shape;129;p9"/>
          <p:cNvSpPr txBox="1"/>
          <p:nvPr>
            <p:ph idx="1" type="body"/>
          </p:nvPr>
        </p:nvSpPr>
        <p:spPr>
          <a:xfrm>
            <a:off x="457200" y="11430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00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>
                <a:solidFill>
                  <a:schemeClr val="dk1"/>
                </a:solidFill>
              </a:rPr>
              <a:t>При запуске Java-программы начинает выполняться главный поток</a:t>
            </a:r>
            <a:endParaRPr sz="2700">
              <a:solidFill>
                <a:schemeClr val="dk1"/>
              </a:solidFill>
            </a:endParaRPr>
          </a:p>
          <a:p>
            <a:pPr indent="-4000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>
                <a:solidFill>
                  <a:schemeClr val="dk1"/>
                </a:solidFill>
              </a:rPr>
              <a:t>Главный поток отождествляется с программой </a:t>
            </a:r>
            <a:endParaRPr sz="27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-4000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>
                <a:solidFill>
                  <a:schemeClr val="dk1"/>
                </a:solidFill>
              </a:rPr>
              <a:t>Программа начинается с выполнения главного потока и должна завершаться с завершением главного потока</a:t>
            </a:r>
            <a:endParaRPr sz="2700">
              <a:solidFill>
                <a:schemeClr val="dk1"/>
              </a:solidFill>
            </a:endParaRPr>
          </a:p>
          <a:p>
            <a:pPr indent="-4000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>
                <a:solidFill>
                  <a:schemeClr val="dk1"/>
                </a:solidFill>
              </a:rPr>
              <a:t>Главный поток создается автоматически</a:t>
            </a:r>
            <a:endParaRPr sz="2700">
              <a:solidFill>
                <a:schemeClr val="dk1"/>
              </a:solidFill>
            </a:endParaRPr>
          </a:p>
          <a:p>
            <a:pPr indent="-4000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>
                <a:solidFill>
                  <a:schemeClr val="dk1"/>
                </a:solidFill>
              </a:rPr>
              <a:t>В главном потоке порождаются все дочерние потоки</a:t>
            </a:r>
            <a:endParaRPr sz="2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000"/>
              <a:t>Методы класса Thread</a:t>
            </a:r>
            <a:endParaRPr b="1" sz="3000"/>
          </a:p>
        </p:txBody>
      </p:sp>
      <p:sp>
        <p:nvSpPr>
          <p:cNvPr id="136" name="Google Shape;136;p10"/>
          <p:cNvSpPr txBox="1"/>
          <p:nvPr>
            <p:ph idx="1" type="body"/>
          </p:nvPr>
        </p:nvSpPr>
        <p:spPr>
          <a:xfrm>
            <a:off x="457200" y="990600"/>
            <a:ext cx="82296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https://docs.oracle.com/javase/8/docs/api/?java/lang/Runnable.html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h</a:t>
            </a:r>
            <a:r>
              <a:rPr lang="en-US" sz="2000">
                <a:solidFill>
                  <a:schemeClr val="dk1"/>
                </a:solidFill>
              </a:rPr>
              <a:t>ttps://docs.oracle.com/javase/8/docs/api/java/lang/Thread.html</a:t>
            </a:r>
            <a:endParaRPr sz="2000">
              <a:solidFill>
                <a:schemeClr val="dk1"/>
              </a:solidFill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currentThread()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getName()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getPriority()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isAlive()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join()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run()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sleep()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start()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…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0dc21b89c1_0_213"/>
          <p:cNvSpPr txBox="1"/>
          <p:nvPr>
            <p:ph idx="1" type="body"/>
          </p:nvPr>
        </p:nvSpPr>
        <p:spPr>
          <a:xfrm>
            <a:off x="457200" y="1324200"/>
            <a:ext cx="8229600" cy="454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8775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50"/>
              <a:buChar char="●"/>
            </a:pPr>
            <a:r>
              <a:rPr lang="en-US" sz="2500">
                <a:solidFill>
                  <a:schemeClr val="dk1"/>
                </a:solidFill>
              </a:rPr>
              <a:t>Реализация интерфейса Runnable</a:t>
            </a:r>
            <a:endParaRPr sz="2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-358775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50"/>
              <a:buChar char="●"/>
            </a:pPr>
            <a:r>
              <a:rPr lang="en-US" sz="2500">
                <a:solidFill>
                  <a:schemeClr val="dk1"/>
                </a:solidFill>
              </a:rPr>
              <a:t>Расширение класса Thread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143" name="Google Shape;143;g30dc21b89c1_0_213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Создание дочернего потока</a:t>
            </a:r>
            <a:endParaRPr b="1" sz="3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0dc21b89c1_0_239"/>
          <p:cNvSpPr txBox="1"/>
          <p:nvPr>
            <p:ph idx="1" type="body"/>
          </p:nvPr>
        </p:nvSpPr>
        <p:spPr>
          <a:xfrm>
            <a:off x="223025" y="1184825"/>
            <a:ext cx="8781600" cy="528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 thread = new Thread(new Runnable() {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@Override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public void run() {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System.out.printf("Hello Thread!\n");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});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thread.start();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_____________________________________________________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 thread = new Thread(() -&gt; 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System.out.printf("Hello Threa</a:t>
            </a: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!\n"));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thread.start();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0" name="Google Shape;150;g30dc21b89c1_0_239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Создание дочернего потока</a:t>
            </a:r>
            <a:endParaRPr b="1" sz="3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0dc21b89c1_0_269"/>
          <p:cNvSpPr txBox="1"/>
          <p:nvPr>
            <p:ph idx="1" type="body"/>
          </p:nvPr>
        </p:nvSpPr>
        <p:spPr>
          <a:xfrm>
            <a:off x="223025" y="1184825"/>
            <a:ext cx="8781600" cy="528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 MyClass implements Runnable {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@Override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public void run() {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System.out.print("Hello Thread!\n");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 thread = new Thread(new </a:t>
            </a: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MyClass</a:t>
            </a: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());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thread.start();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7" name="Google Shape;157;g30dc21b89c1_0_269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Создание дочернего потока</a:t>
            </a:r>
            <a:endParaRPr b="1" sz="3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0dc21b89c1_0_276"/>
          <p:cNvSpPr txBox="1"/>
          <p:nvPr>
            <p:ph idx="1" type="body"/>
          </p:nvPr>
        </p:nvSpPr>
        <p:spPr>
          <a:xfrm>
            <a:off x="223025" y="1184825"/>
            <a:ext cx="8781600" cy="528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 MyThread extends Thread {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@Override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public void run() {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System.out.print("Hello Thread!\n");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 thread = new </a:t>
            </a: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MyThread</a:t>
            </a: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thread.start();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4" name="Google Shape;164;g30dc21b89c1_0_276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Создание дочернего потока</a:t>
            </a:r>
            <a:endParaRPr b="1" sz="3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0dc21b89c1_0_263"/>
          <p:cNvSpPr txBox="1"/>
          <p:nvPr>
            <p:ph idx="1" type="body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500" u="sng">
                <a:solidFill>
                  <a:schemeClr val="hlink"/>
                </a:solidFill>
                <a:hlinkClick r:id="rId3"/>
              </a:rPr>
              <a:t>https://ru.stackoverflow.com/questions/399989/%D0%92-%D1%87%D0%B5%D0%BC-%D1%80%D0%B0%D0%B7%D0%BD%D0%B8%D1%86%D0%B0-%D0%BC%D0%B5%D0%B6%D0%B4%D1%83-thread-%D0%B8-runnable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</a:rPr>
              <a:t>В-чем-разница-между-thread-и-runnable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171" name="Google Shape;171;g30dc21b89c1_0_263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Создание дочернего потока</a:t>
            </a:r>
            <a:endParaRPr b="1" sz="3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0dc21b89c1_0_288"/>
          <p:cNvSpPr txBox="1"/>
          <p:nvPr>
            <p:ph idx="1" type="body"/>
          </p:nvPr>
        </p:nvSpPr>
        <p:spPr>
          <a:xfrm>
            <a:off x="223025" y="1184825"/>
            <a:ext cx="8781600" cy="528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 MyThread extends Thread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@Override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public void run()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for(int i = 0; i &lt; 5; i++)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System.out.println("Hello Thread" + i);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 thread = new MyThread();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thread.start();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for(int i = 0; i &lt; 5; i++)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System.out.println("Hello main" + i);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8" name="Google Shape;178;g30dc21b89c1_0_288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Создание дочернего потока</a:t>
            </a:r>
            <a:endParaRPr b="1" sz="3000"/>
          </a:p>
        </p:txBody>
      </p:sp>
      <p:pic>
        <p:nvPicPr>
          <p:cNvPr id="179" name="Google Shape;179;g30dc21b89c1_0_2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3275" y="2845550"/>
            <a:ext cx="1877000" cy="331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0dc21b89c1_0_301"/>
          <p:cNvSpPr txBox="1"/>
          <p:nvPr>
            <p:ph idx="1" type="body"/>
          </p:nvPr>
        </p:nvSpPr>
        <p:spPr>
          <a:xfrm>
            <a:off x="223025" y="1184825"/>
            <a:ext cx="8781600" cy="528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 MyThread extends Thread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@Override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public void run()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for(int i = 0; i &lt; 5; i++)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System.out.println("Hello Thread" + i);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 thread = new MyThread();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thread.setPriority(Thread.NORM_PRIORITY);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thread.start();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for(int i = 0; i &lt; 5; i++)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System.out.println("Hello main" + i);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6" name="Google Shape;186;g30dc21b89c1_0_301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Создание дочернего потока</a:t>
            </a:r>
            <a:endParaRPr b="1" sz="3000"/>
          </a:p>
        </p:txBody>
      </p:sp>
      <p:pic>
        <p:nvPicPr>
          <p:cNvPr id="187" name="Google Shape;187;g30dc21b89c1_0_3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8975" y="2909250"/>
            <a:ext cx="1909050" cy="332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0dc21b89c1_0_317"/>
          <p:cNvSpPr txBox="1"/>
          <p:nvPr>
            <p:ph idx="1" type="body"/>
          </p:nvPr>
        </p:nvSpPr>
        <p:spPr>
          <a:xfrm>
            <a:off x="223025" y="1184825"/>
            <a:ext cx="8781600" cy="528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 MyThread extends Thread {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@Override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public void run() {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for(int i = 0; i &lt; 5; i++) {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try {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System.out.println("Hello Thread" + i);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b="1" lang="en-U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sleep(1);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} catch (InterruptedException e) { throw new RuntimeException(e); }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r>
              <a:rPr lang="en-U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 thread = new MyThread();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thread.setPriority(Thread.NORM_PRIORITY);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thread.start();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for(int i = 0; i &lt; 5; i++) {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System.out.println("Hello main" + i); }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4" name="Google Shape;194;g30dc21b89c1_0_317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Засыпание потока</a:t>
            </a:r>
            <a:endParaRPr b="1" sz="3000"/>
          </a:p>
        </p:txBody>
      </p:sp>
      <p:pic>
        <p:nvPicPr>
          <p:cNvPr id="195" name="Google Shape;195;g30dc21b89c1_0_3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6550" y="3353330"/>
            <a:ext cx="1576600" cy="292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0dc21b89c1_0_326"/>
          <p:cNvSpPr txBox="1"/>
          <p:nvPr>
            <p:ph idx="1" type="body"/>
          </p:nvPr>
        </p:nvSpPr>
        <p:spPr>
          <a:xfrm>
            <a:off x="223025" y="1184825"/>
            <a:ext cx="8781600" cy="528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 MyThread extends Thread {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@Override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public void run() {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for(int i = 0; i &lt; 5; i++) {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try {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System.out.println("Hello Thread" + i);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sleep(1);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} catch (InterruptedException e) { throw new RuntimeException(e); }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}}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 thread = new MyThread();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thread.setPriority(Thread.NORM_PRIORITY);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thread.setDaemon(true);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thread.start();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for(int i = 0; i &lt; 5; i++) {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System.out.println("Hello main" + i); }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2" name="Google Shape;202;g30dc21b89c1_0_326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Deamon поток</a:t>
            </a:r>
            <a:endParaRPr b="1" sz="3000"/>
          </a:p>
        </p:txBody>
      </p:sp>
      <p:pic>
        <p:nvPicPr>
          <p:cNvPr id="203" name="Google Shape;203;g30dc21b89c1_0_3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4299" y="3838125"/>
            <a:ext cx="1962275" cy="224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0dc21b89c1_0_35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Deamon поток</a:t>
            </a:r>
            <a:endParaRPr b="1" sz="3000"/>
          </a:p>
        </p:txBody>
      </p:sp>
      <p:sp>
        <p:nvSpPr>
          <p:cNvPr id="210" name="Google Shape;210;g30dc21b89c1_0_354"/>
          <p:cNvSpPr txBox="1"/>
          <p:nvPr>
            <p:ph idx="1" type="body"/>
          </p:nvPr>
        </p:nvSpPr>
        <p:spPr>
          <a:xfrm>
            <a:off x="153325" y="1356875"/>
            <a:ext cx="8809500" cy="52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400">
                <a:solidFill>
                  <a:schemeClr val="dk1"/>
                </a:solidFill>
              </a:rPr>
              <a:t>Демон-потоки, или сокращенно "демоны".</a:t>
            </a:r>
            <a:endParaRPr sz="2400">
              <a:solidFill>
                <a:schemeClr val="dk1"/>
              </a:solidFill>
            </a:endParaRPr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400">
                <a:solidFill>
                  <a:schemeClr val="dk1"/>
                </a:solidFill>
              </a:rPr>
              <a:t>Один из типов потока, который работает в фоновом режиме. </a:t>
            </a:r>
            <a:endParaRPr sz="2400">
              <a:solidFill>
                <a:schemeClr val="dk1"/>
              </a:solidFill>
            </a:endParaRPr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400">
                <a:solidFill>
                  <a:schemeClr val="dk1"/>
                </a:solidFill>
              </a:rPr>
              <a:t>Позволяет выполнение вычислительных или служебных задач асинхронно и независимо от основного потока приложения.</a:t>
            </a:r>
            <a:endParaRPr sz="2400">
              <a:solidFill>
                <a:schemeClr val="dk1"/>
              </a:solidFill>
            </a:endParaRPr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400">
                <a:solidFill>
                  <a:schemeClr val="dk1"/>
                </a:solidFill>
              </a:rPr>
              <a:t>Если в программе присутствуют только daemon-потоки, JVM (Java Virtual Machine) прекращает свое выполнение.</a:t>
            </a:r>
            <a:endParaRPr sz="2400">
              <a:solidFill>
                <a:schemeClr val="dk1"/>
              </a:solidFill>
            </a:endParaRPr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400">
                <a:solidFill>
                  <a:schemeClr val="dk1"/>
                </a:solidFill>
              </a:rPr>
              <a:t>Ключевое</a:t>
            </a:r>
            <a:r>
              <a:rPr lang="en-US" sz="2400">
                <a:solidFill>
                  <a:schemeClr val="dk1"/>
                </a:solidFill>
              </a:rPr>
              <a:t> отличие между daemon и не </a:t>
            </a:r>
            <a:r>
              <a:rPr lang="en-US" sz="2400">
                <a:solidFill>
                  <a:schemeClr val="dk1"/>
                </a:solidFill>
              </a:rPr>
              <a:t>daemon</a:t>
            </a:r>
            <a:r>
              <a:rPr lang="en-US" sz="2400">
                <a:solidFill>
                  <a:schemeClr val="dk1"/>
                </a:solidFill>
              </a:rPr>
              <a:t> потоками: </a:t>
            </a:r>
            <a:endParaRPr sz="2400">
              <a:solidFill>
                <a:schemeClr val="dk1"/>
              </a:solidFill>
            </a:endParaRPr>
          </a:p>
          <a:p>
            <a:pPr indent="-369569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2400">
                <a:solidFill>
                  <a:schemeClr val="dk1"/>
                </a:solidFill>
              </a:rPr>
              <a:t>JVM не </a:t>
            </a:r>
            <a:r>
              <a:rPr lang="en-US" sz="2400">
                <a:solidFill>
                  <a:schemeClr val="dk1"/>
                </a:solidFill>
              </a:rPr>
              <a:t>дожидается</a:t>
            </a:r>
            <a:r>
              <a:rPr lang="en-US" sz="2400">
                <a:solidFill>
                  <a:schemeClr val="dk1"/>
                </a:solidFill>
              </a:rPr>
              <a:t> завершения демона-потока. </a:t>
            </a:r>
            <a:endParaRPr sz="2400">
              <a:solidFill>
                <a:schemeClr val="dk1"/>
              </a:solidFill>
            </a:endParaRPr>
          </a:p>
          <a:p>
            <a:pPr indent="-369569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2400">
                <a:solidFill>
                  <a:schemeClr val="dk1"/>
                </a:solidFill>
              </a:rPr>
              <a:t>JVM дожидается завершения обычного (НЕ демона) потока.</a:t>
            </a:r>
            <a:endParaRPr sz="2400">
              <a:solidFill>
                <a:schemeClr val="dk1"/>
              </a:solidFill>
            </a:endParaRPr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400">
                <a:solidFill>
                  <a:schemeClr val="dk1"/>
                </a:solidFill>
              </a:rPr>
              <a:t>Демон-потоки не должны использоваться для важных операций, таких как операции с записью в файл или операции БД.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"/>
          <p:cNvSpPr txBox="1"/>
          <p:nvPr>
            <p:ph type="title"/>
          </p:nvPr>
        </p:nvSpPr>
        <p:spPr>
          <a:xfrm>
            <a:off x="304800" y="6858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000"/>
              <a:t>ISALIVE() И JOIN()</a:t>
            </a:r>
            <a:endParaRPr b="1" sz="3000"/>
          </a:p>
        </p:txBody>
      </p:sp>
      <p:sp>
        <p:nvSpPr>
          <p:cNvPr id="217" name="Google Shape;217;p14"/>
          <p:cNvSpPr txBox="1"/>
          <p:nvPr>
            <p:ph idx="1" type="body"/>
          </p:nvPr>
        </p:nvSpPr>
        <p:spPr>
          <a:xfrm>
            <a:off x="457200" y="1295400"/>
            <a:ext cx="8229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Метод isAlive() возвращает true, если поток, для которого он вызван, еще выполняется. В противном случае он возвращает false.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final Boolean isAlive()</a:t>
            </a:r>
            <a:r>
              <a:rPr lang="en-US" sz="2400">
                <a:solidFill>
                  <a:schemeClr val="dk1"/>
                </a:solidFill>
              </a:rPr>
              <a:t> 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Метод join() позволяет приостановить выполнение текущего потока до тех пор, пока поток, к которому применён данный метод, не закончит свою работу. Текущий поток продолжит своё выполнение только после того, как указанный поток будет завершён.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final void join() throws InterruptedException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0955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"/>
          <p:cNvSpPr txBox="1"/>
          <p:nvPr>
            <p:ph type="title"/>
          </p:nvPr>
        </p:nvSpPr>
        <p:spPr>
          <a:xfrm>
            <a:off x="304800" y="5334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3000"/>
              <a:t>ПРИ</a:t>
            </a:r>
            <a:r>
              <a:rPr b="1" lang="en-US" sz="3000"/>
              <a:t>ОРИТЕТЫ ПОТОКОВ</a:t>
            </a:r>
            <a:endParaRPr b="1" sz="3000"/>
          </a:p>
        </p:txBody>
      </p:sp>
      <p:sp>
        <p:nvSpPr>
          <p:cNvPr id="224" name="Google Shape;224;p15"/>
          <p:cNvSpPr txBox="1"/>
          <p:nvPr>
            <p:ph idx="1" type="body"/>
          </p:nvPr>
        </p:nvSpPr>
        <p:spPr>
          <a:xfrm>
            <a:off x="457200" y="1295400"/>
            <a:ext cx="8229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>
                <a:solidFill>
                  <a:schemeClr val="dk1"/>
                </a:solidFill>
              </a:rPr>
              <a:t>final void setPriority(int уровень) 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>
                <a:solidFill>
                  <a:schemeClr val="dk1"/>
                </a:solidFill>
              </a:rPr>
              <a:t>final int getPriority()</a:t>
            </a:r>
            <a:endParaRPr sz="2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>
                <a:solidFill>
                  <a:schemeClr val="dk1"/>
                </a:solidFill>
              </a:rPr>
              <a:t>Значение уровень должно быть в пределах диапазона от MIN_PRIORITY до МАХ_PRIORIТY. 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>
                <a:solidFill>
                  <a:schemeClr val="dk1"/>
                </a:solidFill>
              </a:rPr>
              <a:t>Эти значения равны соответственно 1 и 10. Чтобы вернуть потоку приоритет по умолчанию, укажите NORМ_PRIORITY, который равен 5.</a:t>
            </a:r>
            <a:endParaRPr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"/>
          <p:cNvSpPr txBox="1"/>
          <p:nvPr>
            <p:ph type="title"/>
          </p:nvPr>
        </p:nvSpPr>
        <p:spPr>
          <a:xfrm>
            <a:off x="304800" y="533400"/>
            <a:ext cx="8534400" cy="9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3000"/>
              <a:t>СИНХРОНИЗАЦИЯ ПОТОКОВ</a:t>
            </a:r>
            <a:endParaRPr/>
          </a:p>
        </p:txBody>
      </p:sp>
      <p:sp>
        <p:nvSpPr>
          <p:cNvPr id="231" name="Google Shape;231;p16"/>
          <p:cNvSpPr txBox="1"/>
          <p:nvPr>
            <p:ph idx="1" type="body"/>
          </p:nvPr>
        </p:nvSpPr>
        <p:spPr>
          <a:xfrm>
            <a:off x="457200" y="1393900"/>
            <a:ext cx="8229600" cy="50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</a:rPr>
              <a:t>Существует два способа создания синхронизированного кода: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rabicPeriod"/>
            </a:pPr>
            <a:r>
              <a:rPr lang="en-US" sz="2600">
                <a:solidFill>
                  <a:schemeClr val="dk1"/>
                </a:solidFill>
              </a:rPr>
              <a:t>Создание синхронизированных методов </a:t>
            </a:r>
            <a:endParaRPr sz="26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</a:rPr>
              <a:t>В сигнатуре метода указывается  ключевое слово synchronized. </a:t>
            </a:r>
            <a:endParaRPr sz="26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</a:rPr>
              <a:t>При вызове синхронизированного метода потоком другие потоки на этом методе блокируются — они не смогут его вызвать, пока работу с методом не завершит первый вызвавший его поток.</a:t>
            </a:r>
            <a:endParaRPr/>
          </a:p>
          <a:p>
            <a:pPr indent="-20955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"/>
          <p:cNvSpPr txBox="1"/>
          <p:nvPr>
            <p:ph type="title"/>
          </p:nvPr>
        </p:nvSpPr>
        <p:spPr>
          <a:xfrm>
            <a:off x="304800" y="533400"/>
            <a:ext cx="8534400" cy="83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3000"/>
              <a:t>СИНХРОНИЗАЦИЯ  ПОТОКОВ</a:t>
            </a:r>
            <a:endParaRPr/>
          </a:p>
        </p:txBody>
      </p:sp>
      <p:sp>
        <p:nvSpPr>
          <p:cNvPr id="238" name="Google Shape;238;p17"/>
          <p:cNvSpPr txBox="1"/>
          <p:nvPr>
            <p:ph idx="1" type="body"/>
          </p:nvPr>
        </p:nvSpPr>
        <p:spPr>
          <a:xfrm>
            <a:off x="457200" y="1533300"/>
            <a:ext cx="8229600" cy="48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</a:rPr>
              <a:t>Существует два способа создания синхронизированного кода:</a:t>
            </a:r>
            <a:endParaRPr sz="2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</a:rPr>
              <a:t>2. создание синхронизированных блоков</a:t>
            </a:r>
            <a:endParaRPr sz="26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</a:rPr>
              <a:t>Блок выделяется фигурными скобками, перед которыми указывается ключевое слово synchronized, а в скобках после этого слова - синхронизируемый объект.</a:t>
            </a:r>
            <a:endParaRPr sz="2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sуnсhrоnizеd(&lt;объект&gt;) </a:t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 &lt;операторы, подлежащие синхронизации&gt;}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0955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139089fc52_0_1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java.util.concurrent.Future</a:t>
            </a:r>
            <a:endParaRPr/>
          </a:p>
        </p:txBody>
      </p:sp>
      <p:sp>
        <p:nvSpPr>
          <p:cNvPr id="245" name="Google Shape;245;g3139089fc52_0_1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139089fc52_0_18"/>
          <p:cNvSpPr txBox="1"/>
          <p:nvPr>
            <p:ph idx="1" type="body"/>
          </p:nvPr>
        </p:nvSpPr>
        <p:spPr>
          <a:xfrm>
            <a:off x="457200" y="1324200"/>
            <a:ext cx="8229600" cy="529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8775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50"/>
              <a:buChar char="●"/>
            </a:pPr>
            <a:r>
              <a:rPr lang="en-US" sz="2500">
                <a:solidFill>
                  <a:schemeClr val="dk1"/>
                </a:solidFill>
              </a:rPr>
              <a:t>Интерфейс со времен Java 1.5</a:t>
            </a:r>
            <a:endParaRPr sz="2500">
              <a:solidFill>
                <a:schemeClr val="dk1"/>
              </a:solidFill>
            </a:endParaRPr>
          </a:p>
          <a:p>
            <a:pPr indent="-3587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Char char="●"/>
            </a:pPr>
            <a:r>
              <a:rPr lang="en-US" sz="2500">
                <a:solidFill>
                  <a:schemeClr val="dk1"/>
                </a:solidFill>
              </a:rPr>
              <a:t>Пользуется в работе с асинхронными вызовами и параллельной обработкой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Класс Future представляет будущий результат асинхронного вычисления. Этот результат в конечном итоге появится в </a:t>
            </a:r>
            <a:r>
              <a:rPr b="1" lang="en-US" sz="2500">
                <a:solidFill>
                  <a:schemeClr val="dk1"/>
                </a:solidFill>
              </a:rPr>
              <a:t>будущем </a:t>
            </a:r>
            <a:r>
              <a:rPr lang="en-US" sz="2500">
                <a:solidFill>
                  <a:schemeClr val="dk1"/>
                </a:solidFill>
              </a:rPr>
              <a:t>после завершения обработки.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Длительные методы удобно выполнять асинхронно с помощью интерфейса Future, так как можно выполнять другие процессы, во время ожидания завершения задачи, </a:t>
            </a:r>
            <a:r>
              <a:rPr lang="en-US" sz="2500">
                <a:solidFill>
                  <a:schemeClr val="dk1"/>
                </a:solidFill>
              </a:rPr>
              <a:t>инкапсулированной</a:t>
            </a:r>
            <a:r>
              <a:rPr lang="en-US" sz="2500">
                <a:solidFill>
                  <a:schemeClr val="dk1"/>
                </a:solidFill>
              </a:rPr>
              <a:t> в Future .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252" name="Google Shape;252;g3139089fc52_0_18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Создание дочернего потока</a:t>
            </a:r>
            <a:endParaRPr b="1" sz="3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139089fc52_0_6"/>
          <p:cNvSpPr txBox="1"/>
          <p:nvPr>
            <p:ph idx="1" type="body"/>
          </p:nvPr>
        </p:nvSpPr>
        <p:spPr>
          <a:xfrm>
            <a:off x="457200" y="1324200"/>
            <a:ext cx="8229600" cy="454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</a:rPr>
              <a:t>Примеры: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вычислительно-интенсивные процессы (математические и научные расчеты)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манипулирование большими структурами данных (big data)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удаленные вызовы методов (загрузка файлов, удаление HTML, веб-сервисы)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259" name="Google Shape;259;g3139089fc52_0_6"/>
          <p:cNvSpPr txBox="1"/>
          <p:nvPr>
            <p:ph type="title"/>
          </p:nvPr>
        </p:nvSpPr>
        <p:spPr>
          <a:xfrm>
            <a:off x="457200" y="304800"/>
            <a:ext cx="8229600" cy="10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/>
              <a:t>О</a:t>
            </a:r>
            <a:r>
              <a:rPr b="1" lang="en-US" sz="2600"/>
              <a:t>перации, использующие асинхронный Future</a:t>
            </a:r>
            <a:endParaRPr b="1" sz="26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139089fc52_0_24"/>
          <p:cNvSpPr txBox="1"/>
          <p:nvPr>
            <p:ph idx="1" type="body"/>
          </p:nvPr>
        </p:nvSpPr>
        <p:spPr>
          <a:xfrm>
            <a:off x="259225" y="1324200"/>
            <a:ext cx="8628900" cy="529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Функциональный интерфейс, введенный в Java 8. 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generic-интерфейс, 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который 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определяет единственный метод call(), не принимающий аргументов и возвращающий результат.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 call() throws Exception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Используется вместе с классом ExecutorService для выполнения задач в фоновом режиме и получения результатов выполнения этих задач. 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Позволяет создавать задачи, которые возвращают результаты и могут быть выполнены асинхронно.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66" name="Google Shape;266;g3139089fc52_0_24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Интерфейс Callable&lt;V&gt;</a:t>
            </a:r>
            <a:endParaRPr b="1" sz="3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139089fc52_0_31"/>
          <p:cNvSpPr txBox="1"/>
          <p:nvPr>
            <p:ph idx="1" type="body"/>
          </p:nvPr>
        </p:nvSpPr>
        <p:spPr>
          <a:xfrm>
            <a:off x="259225" y="1324200"/>
            <a:ext cx="8628900" cy="529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Нужно создать экземпляр Callable и реализовать в нем метод call.</a:t>
            </a:r>
            <a:endParaRPr sz="2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Передать экземпляр исполнителю, который позаботится о запуске задачи в новом потоке и вернет объект Future . </a:t>
            </a:r>
            <a:endParaRPr sz="2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Исполнителем</a:t>
            </a:r>
            <a:r>
              <a:rPr lang="en-US" sz="2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является экземпляр интерфейса ExecutorService.</a:t>
            </a:r>
            <a:endParaRPr sz="2600">
              <a:solidFill>
                <a:schemeClr val="dk1"/>
              </a:solidFill>
            </a:endParaRPr>
          </a:p>
        </p:txBody>
      </p:sp>
      <p:sp>
        <p:nvSpPr>
          <p:cNvPr id="273" name="Google Shape;273;g3139089fc52_0_31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Интерфейс Callable&lt;V&gt;</a:t>
            </a:r>
            <a:endParaRPr b="1" sz="3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68fcdafc21_0_14"/>
          <p:cNvSpPr txBox="1"/>
          <p:nvPr>
            <p:ph idx="1" type="body"/>
          </p:nvPr>
        </p:nvSpPr>
        <p:spPr>
          <a:xfrm>
            <a:off x="259225" y="1324200"/>
            <a:ext cx="8628900" cy="529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"/>
              <a:buChar char="●"/>
            </a:pPr>
            <a:r>
              <a:rPr lang="en-US" sz="25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ExecutorService создает и управляет пулом потоков, которые могут быть многократно использованы для выполнения задач. Это избавляет от необходимости вручную создавать, запускать и останавливать каждый поток. </a:t>
            </a:r>
            <a:endParaRPr sz="25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"/>
              <a:buChar char="●"/>
            </a:pPr>
            <a:r>
              <a:rPr lang="en-US" sz="25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Нужно написать код задачи (Runnable или Callable) и передать его ExecutorService для выполнения. Сервис сам решает, какой поток из пула его запустит, что повышает гибкость и эффективность. </a:t>
            </a:r>
            <a:endParaRPr sz="25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g368fcdafc21_0_14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ExecutorService</a:t>
            </a:r>
            <a:endParaRPr b="1" sz="3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139089fc52_0_38"/>
          <p:cNvSpPr txBox="1"/>
          <p:nvPr>
            <p:ph idx="1" type="body"/>
          </p:nvPr>
        </p:nvSpPr>
        <p:spPr>
          <a:xfrm>
            <a:off x="259225" y="1324200"/>
            <a:ext cx="8628900" cy="529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Выполняет следующие методы</a:t>
            </a:r>
            <a:endParaRPr sz="2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"/>
              <a:buChar char="●"/>
            </a:pPr>
            <a:r>
              <a:rPr lang="en-US" sz="2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Отправляет на выполнение задачу, возвращающую значение, и возвращает Future, представляющий объект, ожидающий результаты задачи.</a:t>
            </a:r>
            <a:endParaRPr sz="2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&lt;T&gt; Future&lt;T&gt;	submit(Callable&lt;T&gt; task)</a:t>
            </a:r>
            <a:endParaRPr sz="26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g3139089fc52_0_38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ExecutorService</a:t>
            </a:r>
            <a:endParaRPr b="1" sz="3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68fcdafc21_0_20"/>
          <p:cNvSpPr txBox="1"/>
          <p:nvPr>
            <p:ph idx="1" type="body"/>
          </p:nvPr>
        </p:nvSpPr>
        <p:spPr>
          <a:xfrm>
            <a:off x="259225" y="1324200"/>
            <a:ext cx="8628900" cy="529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Выполняет следующие методы</a:t>
            </a:r>
            <a:endParaRPr sz="2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"/>
              <a:buChar char="●"/>
            </a:pPr>
            <a:r>
              <a:rPr lang="en-US" sz="2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Отправляет на выполнение задачу, возвращающую значение, и возвращает Future, представляющий объект, ожидающий результаты задачи.</a:t>
            </a:r>
            <a:endParaRPr sz="2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&lt;T&gt; Future&lt;T&gt;	submit(Callable&lt;T&gt; task)</a:t>
            </a:r>
            <a:endParaRPr sz="26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368fcdafc21_0_20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ExecutorService</a:t>
            </a:r>
            <a:endParaRPr b="1" sz="3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139089fc52_0_45"/>
          <p:cNvSpPr txBox="1"/>
          <p:nvPr>
            <p:ph idx="1" type="body"/>
          </p:nvPr>
        </p:nvSpPr>
        <p:spPr>
          <a:xfrm>
            <a:off x="259225" y="1324200"/>
            <a:ext cx="8628900" cy="529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Выполняет следующие методы</a:t>
            </a:r>
            <a:endParaRPr sz="2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oboto"/>
              <a:buChar char="●"/>
            </a:pPr>
            <a:r>
              <a:rPr lang="en-US" sz="2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Отправляет задачу Runnable на выполнение и возвращает Future, представляющий эту задачу.</a:t>
            </a:r>
            <a:endParaRPr sz="2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Future&lt;?&gt;	submit(Runnable task)</a:t>
            </a:r>
            <a:endParaRPr sz="26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&lt;T&gt; Future&lt;T&gt;	submit(Runnable task, T result)</a:t>
            </a:r>
            <a:endParaRPr sz="26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g3139089fc52_0_45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ExecutorService</a:t>
            </a:r>
            <a:endParaRPr b="1" sz="3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139089fc52_0_52"/>
          <p:cNvSpPr txBox="1"/>
          <p:nvPr>
            <p:ph idx="1" type="body"/>
          </p:nvPr>
        </p:nvSpPr>
        <p:spPr>
          <a:xfrm>
            <a:off x="259225" y="1324200"/>
            <a:ext cx="8628900" cy="529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Выполняет следующие методы</a:t>
            </a:r>
            <a:endParaRPr sz="21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●"/>
            </a:pPr>
            <a:r>
              <a:rPr lang="en-US" sz="21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Выполняет заданные задачи, возвращая список фьючерсов с их статусом и результатами после завершения.</a:t>
            </a:r>
            <a:endParaRPr sz="21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&lt;T&gt; List&lt;Future&lt;T&gt;&gt;	invokeAll(Collection&lt;? extends Callable&lt;T&gt;&gt; tasks)</a:t>
            </a:r>
            <a:endParaRPr sz="2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6195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●"/>
            </a:pPr>
            <a:r>
              <a:rPr lang="en-US" sz="21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Выполняет заданные задачи, возвращая список фьючерсов, сохраняющих их статус и результаты, когда все они завершены или истечет время ожидания, в зависимости от того, что произойдет раньше.</a:t>
            </a:r>
            <a:endParaRPr sz="2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2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&lt;T&gt; List&lt;Future&lt;T&gt;&gt;	invokeAll(Collection&lt;? extends Callable&lt;T&gt;&gt; tasks, long timeout, TimeUnit unit</a:t>
            </a:r>
            <a:r>
              <a:rPr lang="en-US" sz="2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1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g3139089fc52_0_52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ExecutorService</a:t>
            </a:r>
            <a:endParaRPr b="1" sz="3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139089fc52_0_58"/>
          <p:cNvSpPr txBox="1"/>
          <p:nvPr>
            <p:ph idx="1" type="body"/>
          </p:nvPr>
        </p:nvSpPr>
        <p:spPr>
          <a:xfrm>
            <a:off x="259225" y="1324200"/>
            <a:ext cx="8628900" cy="529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Выполняет следующие методы</a:t>
            </a:r>
            <a:endParaRPr sz="21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●"/>
            </a:pPr>
            <a:r>
              <a:rPr lang="en-US" sz="21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Выполняет заданные задачи, возвращая результат успешного завершения (т. е. без создания исключения), если таковое имеется.</a:t>
            </a:r>
            <a:endParaRPr sz="21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&lt;T&gt; T	invokeAny(Collection&lt;? extends Callable&lt;T&gt;&gt; tasks)</a:t>
            </a:r>
            <a:endParaRPr sz="2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6195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●"/>
            </a:pPr>
            <a:r>
              <a:rPr lang="en-US" sz="21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Выполняет заданные задачи, возвращая результат успешного завершения (т. е. без создания исключения), если какие-либо из них выполняются до истечения заданного времени ожидания.</a:t>
            </a:r>
            <a:endParaRPr sz="2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2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&lt;T&gt; T	invokeAny(Collection&lt;? extends Callable&lt;T&gt;&gt; tasks, long timeout, TimeUnit unit)</a:t>
            </a:r>
            <a:endParaRPr sz="21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g3139089fc52_0_58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ExecutorService</a:t>
            </a:r>
            <a:endParaRPr b="1" sz="3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139089fc52_0_64"/>
          <p:cNvSpPr txBox="1"/>
          <p:nvPr>
            <p:ph idx="1" type="body"/>
          </p:nvPr>
        </p:nvSpPr>
        <p:spPr>
          <a:xfrm>
            <a:off x="259225" y="1324200"/>
            <a:ext cx="8628900" cy="529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Выполняет следующие методы</a:t>
            </a:r>
            <a:endParaRPr sz="23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Char char="●"/>
            </a:pPr>
            <a:r>
              <a:rPr lang="en-US" sz="23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Инициирует упорядоченное завершение работы, при котором ранее отправленные задачи выполняются, но новые задачи приниматься не будут.</a:t>
            </a:r>
            <a:endParaRPr sz="23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	shutdown()</a:t>
            </a:r>
            <a:endParaRPr sz="2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7465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Char char="●"/>
            </a:pPr>
            <a:r>
              <a:rPr lang="en-US" sz="2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Пытается остановить все активно выполняющиеся задачи, останавливает обработку ожидающих задач и возвращает список задач, ожидающих выполнения.</a:t>
            </a:r>
            <a:endParaRPr sz="2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2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List&lt;Runnable&gt;	shutdownNow()</a:t>
            </a:r>
            <a:endParaRPr sz="23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g3139089fc52_0_64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ExecutorService</a:t>
            </a:r>
            <a:endParaRPr b="1" sz="3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139089fc52_0_71"/>
          <p:cNvSpPr txBox="1"/>
          <p:nvPr>
            <p:ph idx="1" type="body"/>
          </p:nvPr>
        </p:nvSpPr>
        <p:spPr>
          <a:xfrm>
            <a:off x="259225" y="1324200"/>
            <a:ext cx="8628900" cy="529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Выполняет следующие методы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Блокируется до тех пор, пока все задачи не завершат выполнение после запроса на завершение работы, или не истечет время ожидания, или текущий поток не будет прерван, в зависимости от того, что произойдет раньше.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boolean	awaitTermination(long timeout, TimeUnit unit)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Возвращает true, если этот исполнитель был закрыт.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boolean	isShutdown()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Возвращает true, если все задачи завершились после завершения работы.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boolean	isTerminated()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9" name="Google Shape;329;g3139089fc52_0_71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ExecutorService</a:t>
            </a:r>
            <a:endParaRPr b="1" sz="3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139089fc52_0_77"/>
          <p:cNvSpPr txBox="1"/>
          <p:nvPr>
            <p:ph idx="1" type="body"/>
          </p:nvPr>
        </p:nvSpPr>
        <p:spPr>
          <a:xfrm>
            <a:off x="259225" y="1324200"/>
            <a:ext cx="8628900" cy="529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Выполняет следующие методы</a:t>
            </a:r>
            <a:endParaRPr sz="23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Char char="●"/>
            </a:pPr>
            <a:r>
              <a:rPr lang="en-US" sz="23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Создает пул потоков, который создает новые потоки по мере необходимости, но будет повторно использовать ранее созданные потоки, когда они станут доступны.</a:t>
            </a:r>
            <a:endParaRPr sz="23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static ExecutorService	newCachedThreadPool()</a:t>
            </a:r>
            <a:endParaRPr sz="2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7465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"/>
              <a:buChar char="●"/>
            </a:pPr>
            <a:r>
              <a:rPr lang="en-US" sz="2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Создает пул потоков, который повторно использует фиксированное количество потоков, работающих в общей неограниченной очереди.</a:t>
            </a:r>
            <a:endParaRPr sz="23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static ExecutorService	newFixedThreadPool(int nThreads)</a:t>
            </a:r>
            <a:endParaRPr b="1" sz="2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6" name="Google Shape;336;g3139089fc52_0_77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Executors</a:t>
            </a:r>
            <a:endParaRPr b="1" sz="30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139089fc52_0_95"/>
          <p:cNvSpPr txBox="1"/>
          <p:nvPr>
            <p:ph idx="1" type="body"/>
          </p:nvPr>
        </p:nvSpPr>
        <p:spPr>
          <a:xfrm>
            <a:off x="259225" y="1324200"/>
            <a:ext cx="8628900" cy="529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Выполняет следующие методы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Создает Executor, который использует один рабочий поток, работающий в неограниченной очереди.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static ExecutorService	newSingleThreadExecutor()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Создает пул потоков для Work Stealing, используя все доступные процессоры в качестве целевого уровня параллелизма.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static ExecutorService	newWorkStealingPool()</a:t>
            </a:r>
            <a:endParaRPr b="1" sz="2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3" name="Google Shape;343;g3139089fc52_0_95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Executors</a:t>
            </a:r>
            <a:endParaRPr b="1" sz="30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139089fc52_0_101"/>
          <p:cNvSpPr txBox="1"/>
          <p:nvPr>
            <p:ph idx="1" type="body"/>
          </p:nvPr>
        </p:nvSpPr>
        <p:spPr>
          <a:xfrm>
            <a:off x="259225" y="1324200"/>
            <a:ext cx="8628900" cy="529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Выполняет следующие методы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Создает пул потоков, который поддерживает достаточно потоков для поддержки заданного уровня параллелизма и может использовать несколько очередей для уменьшения конфликтов.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static ExecutorService	newWorkStealingPool(int parallelism)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Все методы в таблице по ссылке</a:t>
            </a:r>
            <a:endParaRPr sz="23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https://javarush.com/quests/lectures/jru.module2.lecture20</a:t>
            </a:r>
            <a:endParaRPr sz="23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0" name="Google Shape;350;g3139089fc52_0_101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Executors</a:t>
            </a:r>
            <a:endParaRPr b="1" sz="30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68fcdafc21_0_59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Пример</a:t>
            </a:r>
            <a:endParaRPr b="1" sz="3000"/>
          </a:p>
        </p:txBody>
      </p:sp>
      <p:sp>
        <p:nvSpPr>
          <p:cNvPr id="357" name="Google Shape;357;g368fcdafc21_0_59"/>
          <p:cNvSpPr txBox="1"/>
          <p:nvPr>
            <p:ph idx="1" type="body"/>
          </p:nvPr>
        </p:nvSpPr>
        <p:spPr>
          <a:xfrm>
            <a:off x="259225" y="1324200"/>
            <a:ext cx="8628900" cy="529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try(var executor = Executors.newCachedThreadPool()){</a:t>
            </a:r>
            <a:endParaRPr sz="2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executor.execute(() -&gt; {</a:t>
            </a:r>
            <a:endParaRPr sz="2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try {</a:t>
            </a:r>
            <a:endParaRPr sz="2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Document doc = Jsoup.connect("").get();</a:t>
            </a:r>
            <a:endParaRPr sz="2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} catch (IOException e) {</a:t>
            </a:r>
            <a:endParaRPr sz="2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   throw new RuntimeException(e);</a:t>
            </a:r>
            <a:endParaRPr sz="2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}</a:t>
            </a:r>
            <a:endParaRPr sz="2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});</a:t>
            </a:r>
            <a:endParaRPr sz="2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3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139089fc52_0_89"/>
          <p:cNvSpPr txBox="1"/>
          <p:nvPr>
            <p:ph idx="1" type="body"/>
          </p:nvPr>
        </p:nvSpPr>
        <p:spPr>
          <a:xfrm>
            <a:off x="259225" y="1324200"/>
            <a:ext cx="8628900" cy="529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Также может </a:t>
            </a:r>
            <a:r>
              <a:rPr lang="en-US" sz="28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создавать:</a:t>
            </a:r>
            <a:endParaRPr sz="28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●"/>
            </a:pPr>
            <a:r>
              <a:rPr lang="en-US" sz="28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Callable&lt;Object&gt;</a:t>
            </a:r>
            <a:endParaRPr sz="28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●"/>
            </a:pPr>
            <a:r>
              <a:rPr lang="en-US" sz="28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Callable&lt;T&gt;</a:t>
            </a:r>
            <a:endParaRPr sz="28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●"/>
            </a:pPr>
            <a:r>
              <a:rPr lang="en-US" sz="28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ThreadFactory</a:t>
            </a:r>
            <a:endParaRPr sz="28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●"/>
            </a:pPr>
            <a:r>
              <a:rPr lang="en-US" sz="28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ScheduledExecutorService</a:t>
            </a:r>
            <a:endParaRPr sz="28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28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https://docs.oracle.com/javase/8/docs/api/index.html?java/util/concurrent/Callable.html</a:t>
            </a:r>
            <a:endParaRPr sz="2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4" name="Google Shape;364;g3139089fc52_0_89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Executors</a:t>
            </a:r>
            <a:endParaRPr b="1" sz="30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139089fc52_0_83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Интерфейс Future</a:t>
            </a:r>
            <a:endParaRPr b="1" sz="3000"/>
          </a:p>
        </p:txBody>
      </p:sp>
      <p:sp>
        <p:nvSpPr>
          <p:cNvPr id="371" name="Google Shape;371;g3139089fc52_0_83"/>
          <p:cNvSpPr txBox="1"/>
          <p:nvPr>
            <p:ph idx="1" type="body"/>
          </p:nvPr>
        </p:nvSpPr>
        <p:spPr>
          <a:xfrm>
            <a:off x="259225" y="1324200"/>
            <a:ext cx="8628900" cy="529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Future представляет собой результат асинхронных вычислений.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Имеет базовую реализацию - класс FutureTask&lt;V&gt; 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Выполняет следующие методы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При необходимости ожидает завершения вычисления, а затем получает его результат.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	get()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Ожидает, если необходимо, не более заданного времени завершения вычисления, а затем извлекает его результат, если он доступен.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	get(long timeout, TimeUnit unit)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139089fc52_0_110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Интерфейс Future</a:t>
            </a:r>
            <a:endParaRPr b="1" sz="3000"/>
          </a:p>
        </p:txBody>
      </p:sp>
      <p:sp>
        <p:nvSpPr>
          <p:cNvPr id="378" name="Google Shape;378;g3139089fc52_0_110"/>
          <p:cNvSpPr txBox="1"/>
          <p:nvPr>
            <p:ph idx="1" type="body"/>
          </p:nvPr>
        </p:nvSpPr>
        <p:spPr>
          <a:xfrm>
            <a:off x="259225" y="1324200"/>
            <a:ext cx="8628900" cy="529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Выполняет следующие методы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Возвращает true, если эта задача выполнена.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boolean	isDone()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Возвращает true, если эта задача была отменена до ее нормального завершения.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boolean	isCancelled()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Пытается отменить выполнение этой задачи.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boolean	cancel(boolean mayInterruptIfRunning)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139089fc52_0_116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Пример</a:t>
            </a:r>
            <a:endParaRPr b="1" sz="3000"/>
          </a:p>
        </p:txBody>
      </p:sp>
      <p:sp>
        <p:nvSpPr>
          <p:cNvPr id="385" name="Google Shape;385;g3139089fc52_0_116"/>
          <p:cNvSpPr txBox="1"/>
          <p:nvPr>
            <p:ph idx="1" type="body"/>
          </p:nvPr>
        </p:nvSpPr>
        <p:spPr>
          <a:xfrm>
            <a:off x="259225" y="1324200"/>
            <a:ext cx="8628900" cy="529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ExecutorService executor = …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Future&lt;T&gt; future = </a:t>
            </a: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executor.submit((new Callable&lt;T&gt;() {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public String call() {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 return ...;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}});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try {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T t = future.get();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 catch (InterruptedException | ExecutionException e) { 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... 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68fcdafc21_0_67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Пример</a:t>
            </a:r>
            <a:endParaRPr b="1" sz="3000"/>
          </a:p>
        </p:txBody>
      </p:sp>
      <p:sp>
        <p:nvSpPr>
          <p:cNvPr id="392" name="Google Shape;392;g368fcdafc21_0_67"/>
          <p:cNvSpPr txBox="1"/>
          <p:nvPr>
            <p:ph idx="1" type="body"/>
          </p:nvPr>
        </p:nvSpPr>
        <p:spPr>
          <a:xfrm>
            <a:off x="259225" y="1324200"/>
            <a:ext cx="8628900" cy="529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try(var executor = Executors.newCachedThreadPool()){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Future&lt;Document&gt; f = executor.submit(() -&gt; {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try {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return Jsoup.connect("").get();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} catch (IOException e) {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throw new RuntimeException(e);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});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Document doc =  f.get();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 catch (ExecutionException | InterruptedException e) {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throw new RuntimeException(e);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68fcdafc21_0_34"/>
          <p:cNvSpPr txBox="1"/>
          <p:nvPr>
            <p:ph idx="1" type="body"/>
          </p:nvPr>
        </p:nvSpPr>
        <p:spPr>
          <a:xfrm>
            <a:off x="259225" y="1324200"/>
            <a:ext cx="8628900" cy="529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n-US" sz="2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Легковесные потоки, управляемые JVM, а не ОС. </a:t>
            </a:r>
            <a:br>
              <a:rPr lang="en-US" sz="2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n-US" sz="2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Это позволяет создавать их в огромных количествах для эффективной обработки параллельных задач. </a:t>
            </a:r>
            <a:endParaRPr sz="2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n-US" sz="2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 отличие от обычных потоков, виртуальные потоки потребляют мало памяти и процессора, особенно при выполнении блокирующих операций (например, сетевые запросы или операции ввода-вывода). Когда такой поток "замораживается" во время блокирующего вызова, он освобождает поток ОС, который может быть использован для других задач, это повышает производительность приложений, которые выполняют много одновременных запросов. </a:t>
            </a:r>
            <a:endParaRPr sz="2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g368fcdafc21_0_34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VirtualThread</a:t>
            </a:r>
            <a:endParaRPr b="1" sz="30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68fcdafc21_0_40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VirtualThread</a:t>
            </a:r>
            <a:endParaRPr b="1" sz="3000"/>
          </a:p>
        </p:txBody>
      </p:sp>
      <p:sp>
        <p:nvSpPr>
          <p:cNvPr id="406" name="Google Shape;406;g368fcdafc21_0_40"/>
          <p:cNvSpPr txBox="1"/>
          <p:nvPr>
            <p:ph idx="1" type="body"/>
          </p:nvPr>
        </p:nvSpPr>
        <p:spPr>
          <a:xfrm>
            <a:off x="259225" y="1324200"/>
            <a:ext cx="8628900" cy="529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Thread.startVirtualThread(new Runnable() {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@Override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public void run() { </a:t>
            </a: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... </a:t>
            </a: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Thread.startVirtualThread(() -&gt;{ </a:t>
            </a: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});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Thread.ofVirtual().start(new Runnable() { // Java 21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@Override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public void run() { </a:t>
            </a: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... </a:t>
            </a: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Thread.ofVirtual().start(() -&gt;{  });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68fcdafc21_0_52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VirtualThread</a:t>
            </a:r>
            <a:endParaRPr b="1" sz="3000"/>
          </a:p>
        </p:txBody>
      </p:sp>
      <p:sp>
        <p:nvSpPr>
          <p:cNvPr id="413" name="Google Shape;413;g368fcdafc21_0_52"/>
          <p:cNvSpPr txBox="1"/>
          <p:nvPr>
            <p:ph idx="1" type="body"/>
          </p:nvPr>
        </p:nvSpPr>
        <p:spPr>
          <a:xfrm>
            <a:off x="259225" y="1324200"/>
            <a:ext cx="8628900" cy="529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try (var executor =  Executors.newVirtualThreadPerTaskExecutor()) {</a:t>
            </a:r>
            <a:endParaRPr sz="22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executor.execute(() -&gt;{</a:t>
            </a:r>
            <a:endParaRPr sz="22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try {</a:t>
            </a:r>
            <a:endParaRPr sz="22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Document doc = Jsoup.connect("").get();</a:t>
            </a:r>
            <a:endParaRPr sz="22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} catch (IOException e) {</a:t>
            </a:r>
            <a:endParaRPr sz="22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throw new RuntimeException(e);</a:t>
            </a:r>
            <a:endParaRPr sz="22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22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});</a:t>
            </a:r>
            <a:endParaRPr sz="22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2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68fcdafc21_0_73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/>
              <a:t>VirtualThread</a:t>
            </a:r>
            <a:endParaRPr b="1" sz="3000"/>
          </a:p>
        </p:txBody>
      </p:sp>
      <p:sp>
        <p:nvSpPr>
          <p:cNvPr id="420" name="Google Shape;420;g368fcdafc21_0_73"/>
          <p:cNvSpPr txBox="1"/>
          <p:nvPr>
            <p:ph idx="1" type="body"/>
          </p:nvPr>
        </p:nvSpPr>
        <p:spPr>
          <a:xfrm>
            <a:off x="259225" y="1324200"/>
            <a:ext cx="8628900" cy="529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try (var executor =  Executors.newVirtualThreadPerTaskExecutor()) {</a:t>
            </a:r>
            <a:endParaRPr sz="22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Future&lt;Document&gt; f = executor.submit(() -&gt; {</a:t>
            </a:r>
            <a:endParaRPr sz="22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try {</a:t>
            </a:r>
            <a:endParaRPr sz="22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return Jsoup.connect("").get();</a:t>
            </a:r>
            <a:endParaRPr sz="22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} catch (IOException e) {</a:t>
            </a:r>
            <a:endParaRPr sz="22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    throw new RuntimeException(e);</a:t>
            </a:r>
            <a:endParaRPr sz="22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22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});</a:t>
            </a:r>
            <a:endParaRPr sz="22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Document doc =  f.get();</a:t>
            </a:r>
            <a:endParaRPr sz="22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 catch (ExecutionException | InterruptedException e) {</a:t>
            </a:r>
            <a:endParaRPr sz="22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throw new RuntimeException(e);</a:t>
            </a:r>
            <a:endParaRPr sz="22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2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3" name="Version">
    <vt:i4>1</vt:i4>
  </property>
</Properties>
</file>