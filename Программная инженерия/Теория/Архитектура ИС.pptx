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8" r:id="rId4"/>
    <p:sldId id="297" r:id="rId5"/>
    <p:sldId id="259" r:id="rId6"/>
    <p:sldId id="314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8" r:id="rId17"/>
    <p:sldId id="307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75" r:id="rId27"/>
    <p:sldId id="268" r:id="rId28"/>
    <p:sldId id="269" r:id="rId29"/>
    <p:sldId id="276" r:id="rId30"/>
    <p:sldId id="270" r:id="rId31"/>
    <p:sldId id="279" r:id="rId32"/>
    <p:sldId id="280" r:id="rId33"/>
    <p:sldId id="271" r:id="rId34"/>
    <p:sldId id="272" r:id="rId35"/>
    <p:sldId id="277" r:id="rId36"/>
    <p:sldId id="281" r:id="rId37"/>
    <p:sldId id="278" r:id="rId38"/>
    <p:sldId id="282" r:id="rId39"/>
    <p:sldId id="283" r:id="rId40"/>
    <p:sldId id="284" r:id="rId41"/>
    <p:sldId id="285" r:id="rId42"/>
    <p:sldId id="315" r:id="rId43"/>
    <p:sldId id="316" r:id="rId44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293" r:id="rId52"/>
    <p:sldId id="294" r:id="rId53"/>
    <p:sldId id="296" r:id="rId54"/>
    <p:sldId id="295" r:id="rId55"/>
    <p:sldId id="317" r:id="rId56"/>
    <p:sldId id="309" r:id="rId57"/>
    <p:sldId id="310" r:id="rId58"/>
    <p:sldId id="311" r:id="rId59"/>
    <p:sldId id="312" r:id="rId60"/>
    <p:sldId id="313" r:id="rId6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68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922A5A-5BBA-4735-BD38-7227C10D60E6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E7A3F1E9-4094-44AE-9011-9F9BE2BFC0A7}">
      <dgm:prSet phldrT="[Текст]"/>
      <dgm:spPr/>
      <dgm:t>
        <a:bodyPr/>
        <a:lstStyle/>
        <a:p>
          <a:r>
            <a:rPr lang="ru-RU" dirty="0" smtClean="0"/>
            <a:t>Бизнес- архитектура</a:t>
          </a:r>
          <a:endParaRPr lang="ru-RU" dirty="0"/>
        </a:p>
      </dgm:t>
    </dgm:pt>
    <dgm:pt modelId="{F6324813-BA70-49BE-BBE1-1496BD45A011}" type="parTrans" cxnId="{B068051A-D797-4AD7-B32F-4B6A9A1F7977}">
      <dgm:prSet/>
      <dgm:spPr/>
      <dgm:t>
        <a:bodyPr/>
        <a:lstStyle/>
        <a:p>
          <a:endParaRPr lang="ru-RU"/>
        </a:p>
      </dgm:t>
    </dgm:pt>
    <dgm:pt modelId="{A815BCE0-78ED-4EEF-BDC5-3C0BE20112F4}" type="sibTrans" cxnId="{B068051A-D797-4AD7-B32F-4B6A9A1F7977}">
      <dgm:prSet/>
      <dgm:spPr/>
      <dgm:t>
        <a:bodyPr/>
        <a:lstStyle/>
        <a:p>
          <a:endParaRPr lang="ru-RU"/>
        </a:p>
      </dgm:t>
    </dgm:pt>
    <dgm:pt modelId="{7696FA36-7992-4EB3-863A-727BB3A4A28F}">
      <dgm:prSet phldrT="[Текст]"/>
      <dgm:spPr/>
      <dgm:t>
        <a:bodyPr/>
        <a:lstStyle/>
        <a:p>
          <a:r>
            <a:rPr lang="ru-RU" dirty="0" smtClean="0"/>
            <a:t>ИТ-архитектура</a:t>
          </a:r>
          <a:endParaRPr lang="ru-RU" dirty="0"/>
        </a:p>
      </dgm:t>
    </dgm:pt>
    <dgm:pt modelId="{B460C3D2-B170-42B0-99B5-21CB7F74B0AB}" type="parTrans" cxnId="{BE052588-816C-4DFB-B338-E16A86A5D159}">
      <dgm:prSet/>
      <dgm:spPr/>
      <dgm:t>
        <a:bodyPr/>
        <a:lstStyle/>
        <a:p>
          <a:endParaRPr lang="ru-RU"/>
        </a:p>
      </dgm:t>
    </dgm:pt>
    <dgm:pt modelId="{3660484E-DC2D-48A1-B055-9E9954CE87A0}" type="sibTrans" cxnId="{BE052588-816C-4DFB-B338-E16A86A5D159}">
      <dgm:prSet/>
      <dgm:spPr/>
      <dgm:t>
        <a:bodyPr/>
        <a:lstStyle/>
        <a:p>
          <a:endParaRPr lang="ru-RU"/>
        </a:p>
      </dgm:t>
    </dgm:pt>
    <dgm:pt modelId="{B4FFE54A-73C1-49DC-8E9E-46F39CEDAEFF}">
      <dgm:prSet phldrT="[Текст]"/>
      <dgm:spPr/>
      <dgm:t>
        <a:bodyPr/>
        <a:lstStyle/>
        <a:p>
          <a:r>
            <a:rPr lang="ru-RU" dirty="0" smtClean="0"/>
            <a:t>Архитектура данных</a:t>
          </a:r>
          <a:endParaRPr lang="ru-RU" dirty="0"/>
        </a:p>
      </dgm:t>
    </dgm:pt>
    <dgm:pt modelId="{68297C5A-C7F5-49CB-93B1-2E32578BBBA5}" type="parTrans" cxnId="{E418E02E-3982-4D33-B7E0-37C2ADADAE9E}">
      <dgm:prSet/>
      <dgm:spPr/>
      <dgm:t>
        <a:bodyPr/>
        <a:lstStyle/>
        <a:p>
          <a:endParaRPr lang="ru-RU"/>
        </a:p>
      </dgm:t>
    </dgm:pt>
    <dgm:pt modelId="{221ECC2B-6BC0-4D0C-A51F-E3BAE8857C0F}" type="sibTrans" cxnId="{E418E02E-3982-4D33-B7E0-37C2ADADAE9E}">
      <dgm:prSet/>
      <dgm:spPr/>
      <dgm:t>
        <a:bodyPr/>
        <a:lstStyle/>
        <a:p>
          <a:endParaRPr lang="ru-RU"/>
        </a:p>
      </dgm:t>
    </dgm:pt>
    <dgm:pt modelId="{835B3FD1-1E49-4F72-8D3A-221ED1D5572D}">
      <dgm:prSet phldrT="[Текст]"/>
      <dgm:spPr/>
      <dgm:t>
        <a:bodyPr/>
        <a:lstStyle/>
        <a:p>
          <a:r>
            <a:rPr lang="ru-RU" dirty="0" smtClean="0"/>
            <a:t>Программная архитектура</a:t>
          </a:r>
          <a:endParaRPr lang="ru-RU" dirty="0"/>
        </a:p>
      </dgm:t>
    </dgm:pt>
    <dgm:pt modelId="{92FE60F9-43BF-449C-A7B6-738413DCC5DD}" type="parTrans" cxnId="{745FC59E-9668-451B-B963-090711FD63C2}">
      <dgm:prSet/>
      <dgm:spPr/>
      <dgm:t>
        <a:bodyPr/>
        <a:lstStyle/>
        <a:p>
          <a:endParaRPr lang="ru-RU"/>
        </a:p>
      </dgm:t>
    </dgm:pt>
    <dgm:pt modelId="{2ACC877F-9668-49D2-A8A1-0409D4CAB4A4}" type="sibTrans" cxnId="{745FC59E-9668-451B-B963-090711FD63C2}">
      <dgm:prSet/>
      <dgm:spPr/>
      <dgm:t>
        <a:bodyPr/>
        <a:lstStyle/>
        <a:p>
          <a:endParaRPr lang="ru-RU"/>
        </a:p>
      </dgm:t>
    </dgm:pt>
    <dgm:pt modelId="{FC6FD65E-5B6D-4897-993B-75E88EBCEFAC}">
      <dgm:prSet phldrT="[Текст]"/>
      <dgm:spPr/>
      <dgm:t>
        <a:bodyPr/>
        <a:lstStyle/>
        <a:p>
          <a:r>
            <a:rPr lang="ru-RU" dirty="0" smtClean="0"/>
            <a:t>Технологическая архитектура</a:t>
          </a:r>
          <a:endParaRPr lang="ru-RU" dirty="0"/>
        </a:p>
      </dgm:t>
    </dgm:pt>
    <dgm:pt modelId="{021C1275-82D8-4381-B845-B34901133919}" type="parTrans" cxnId="{72EE71D9-4B80-42D6-8FB7-DEBEC2C672B8}">
      <dgm:prSet/>
      <dgm:spPr/>
      <dgm:t>
        <a:bodyPr/>
        <a:lstStyle/>
        <a:p>
          <a:endParaRPr lang="ru-RU"/>
        </a:p>
      </dgm:t>
    </dgm:pt>
    <dgm:pt modelId="{F15E42B5-1EBE-4381-B36A-902D819B7FCF}" type="sibTrans" cxnId="{72EE71D9-4B80-42D6-8FB7-DEBEC2C672B8}">
      <dgm:prSet/>
      <dgm:spPr/>
      <dgm:t>
        <a:bodyPr/>
        <a:lstStyle/>
        <a:p>
          <a:endParaRPr lang="ru-RU"/>
        </a:p>
      </dgm:t>
    </dgm:pt>
    <dgm:pt modelId="{B5EC38F6-CD69-4827-AD68-F2622F87718A}" type="pres">
      <dgm:prSet presAssocID="{C3922A5A-5BBA-4735-BD38-7227C10D60E6}" presName="Name0" presStyleCnt="0">
        <dgm:presLayoutVars>
          <dgm:dir/>
          <dgm:animLvl val="lvl"/>
          <dgm:resizeHandles val="exact"/>
        </dgm:presLayoutVars>
      </dgm:prSet>
      <dgm:spPr/>
    </dgm:pt>
    <dgm:pt modelId="{74EF08A9-AEB7-4867-A6AD-C81770D92E33}" type="pres">
      <dgm:prSet presAssocID="{E7A3F1E9-4094-44AE-9011-9F9BE2BFC0A7}" presName="Name8" presStyleCnt="0"/>
      <dgm:spPr/>
    </dgm:pt>
    <dgm:pt modelId="{4C2B696E-B9F2-4A72-B813-B9C5D3C14CD8}" type="pres">
      <dgm:prSet presAssocID="{E7A3F1E9-4094-44AE-9011-9F9BE2BFC0A7}" presName="level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2E80422-8602-4203-A1A3-3AF9DAA14B8F}" type="pres">
      <dgm:prSet presAssocID="{E7A3F1E9-4094-44AE-9011-9F9BE2BFC0A7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6789147-2B5C-4D0B-8404-7E96957187B4}" type="pres">
      <dgm:prSet presAssocID="{7696FA36-7992-4EB3-863A-727BB3A4A28F}" presName="Name8" presStyleCnt="0"/>
      <dgm:spPr/>
    </dgm:pt>
    <dgm:pt modelId="{7043AF02-3156-4BE3-8125-FF3A8ADDC55B}" type="pres">
      <dgm:prSet presAssocID="{7696FA36-7992-4EB3-863A-727BB3A4A28F}" presName="level" presStyleLbl="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833336-D070-41A4-A0A6-F542C63AC6C3}" type="pres">
      <dgm:prSet presAssocID="{7696FA36-7992-4EB3-863A-727BB3A4A28F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1BC49F3-B988-4E1F-BCA4-B026A4CB30DE}" type="pres">
      <dgm:prSet presAssocID="{B4FFE54A-73C1-49DC-8E9E-46F39CEDAEFF}" presName="Name8" presStyleCnt="0"/>
      <dgm:spPr/>
    </dgm:pt>
    <dgm:pt modelId="{592F3D85-028C-4CF6-9EAE-D41D2CB587FB}" type="pres">
      <dgm:prSet presAssocID="{B4FFE54A-73C1-49DC-8E9E-46F39CEDAEFF}" presName="level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BE47A9B-C4D2-4E76-A30F-1B09B696882D}" type="pres">
      <dgm:prSet presAssocID="{B4FFE54A-73C1-49DC-8E9E-46F39CEDAEFF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00CDF41-00EC-4BE6-81E5-A67ADE3E7B95}" type="pres">
      <dgm:prSet presAssocID="{835B3FD1-1E49-4F72-8D3A-221ED1D5572D}" presName="Name8" presStyleCnt="0"/>
      <dgm:spPr/>
    </dgm:pt>
    <dgm:pt modelId="{EAC9CE9B-F5AD-4741-9336-A164C5B4044A}" type="pres">
      <dgm:prSet presAssocID="{835B3FD1-1E49-4F72-8D3A-221ED1D5572D}" presName="level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1314315-88F3-4F04-A216-1E3D81FCDE39}" type="pres">
      <dgm:prSet presAssocID="{835B3FD1-1E49-4F72-8D3A-221ED1D5572D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D580DE5-AC2D-42EC-B845-5E790E599715}" type="pres">
      <dgm:prSet presAssocID="{FC6FD65E-5B6D-4897-993B-75E88EBCEFAC}" presName="Name8" presStyleCnt="0"/>
      <dgm:spPr/>
    </dgm:pt>
    <dgm:pt modelId="{37A77A62-880D-42D1-B73D-0D8F5B957627}" type="pres">
      <dgm:prSet presAssocID="{FC6FD65E-5B6D-4897-993B-75E88EBCEFAC}" presName="level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0DF761A-B883-4D39-B610-FFE9D294E9AF}" type="pres">
      <dgm:prSet presAssocID="{FC6FD65E-5B6D-4897-993B-75E88EBCEFAC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205348A-ECE9-473B-9BC2-8B6842258D41}" type="presOf" srcId="{835B3FD1-1E49-4F72-8D3A-221ED1D5572D}" destId="{71314315-88F3-4F04-A216-1E3D81FCDE39}" srcOrd="1" destOrd="0" presId="urn:microsoft.com/office/officeart/2005/8/layout/pyramid1"/>
    <dgm:cxn modelId="{98E499B1-5F6C-40F4-84EA-02CA5756DEAD}" type="presOf" srcId="{E7A3F1E9-4094-44AE-9011-9F9BE2BFC0A7}" destId="{4C2B696E-B9F2-4A72-B813-B9C5D3C14CD8}" srcOrd="0" destOrd="0" presId="urn:microsoft.com/office/officeart/2005/8/layout/pyramid1"/>
    <dgm:cxn modelId="{60A5ADC7-61E6-4B03-9340-24EFD970A7DF}" type="presOf" srcId="{C3922A5A-5BBA-4735-BD38-7227C10D60E6}" destId="{B5EC38F6-CD69-4827-AD68-F2622F87718A}" srcOrd="0" destOrd="0" presId="urn:microsoft.com/office/officeart/2005/8/layout/pyramid1"/>
    <dgm:cxn modelId="{59B5143B-9CF8-4556-BFD7-D3C68686DA25}" type="presOf" srcId="{B4FFE54A-73C1-49DC-8E9E-46F39CEDAEFF}" destId="{FBE47A9B-C4D2-4E76-A30F-1B09B696882D}" srcOrd="1" destOrd="0" presId="urn:microsoft.com/office/officeart/2005/8/layout/pyramid1"/>
    <dgm:cxn modelId="{745FC59E-9668-451B-B963-090711FD63C2}" srcId="{C3922A5A-5BBA-4735-BD38-7227C10D60E6}" destId="{835B3FD1-1E49-4F72-8D3A-221ED1D5572D}" srcOrd="3" destOrd="0" parTransId="{92FE60F9-43BF-449C-A7B6-738413DCC5DD}" sibTransId="{2ACC877F-9668-49D2-A8A1-0409D4CAB4A4}"/>
    <dgm:cxn modelId="{0ADB8BC4-B9B0-453A-9D7E-487A5E720135}" type="presOf" srcId="{B4FFE54A-73C1-49DC-8E9E-46F39CEDAEFF}" destId="{592F3D85-028C-4CF6-9EAE-D41D2CB587FB}" srcOrd="0" destOrd="0" presId="urn:microsoft.com/office/officeart/2005/8/layout/pyramid1"/>
    <dgm:cxn modelId="{FDEBE955-5349-436B-A44C-8A07B8D43984}" type="presOf" srcId="{835B3FD1-1E49-4F72-8D3A-221ED1D5572D}" destId="{EAC9CE9B-F5AD-4741-9336-A164C5B4044A}" srcOrd="0" destOrd="0" presId="urn:microsoft.com/office/officeart/2005/8/layout/pyramid1"/>
    <dgm:cxn modelId="{233DE89A-A59D-44A8-97D6-CF913E7F4B2B}" type="presOf" srcId="{FC6FD65E-5B6D-4897-993B-75E88EBCEFAC}" destId="{D0DF761A-B883-4D39-B610-FFE9D294E9AF}" srcOrd="1" destOrd="0" presId="urn:microsoft.com/office/officeart/2005/8/layout/pyramid1"/>
    <dgm:cxn modelId="{E418E02E-3982-4D33-B7E0-37C2ADADAE9E}" srcId="{C3922A5A-5BBA-4735-BD38-7227C10D60E6}" destId="{B4FFE54A-73C1-49DC-8E9E-46F39CEDAEFF}" srcOrd="2" destOrd="0" parTransId="{68297C5A-C7F5-49CB-93B1-2E32578BBBA5}" sibTransId="{221ECC2B-6BC0-4D0C-A51F-E3BAE8857C0F}"/>
    <dgm:cxn modelId="{9B71D0A3-81C3-436B-B577-26905BA673CF}" type="presOf" srcId="{E7A3F1E9-4094-44AE-9011-9F9BE2BFC0A7}" destId="{C2E80422-8602-4203-A1A3-3AF9DAA14B8F}" srcOrd="1" destOrd="0" presId="urn:microsoft.com/office/officeart/2005/8/layout/pyramid1"/>
    <dgm:cxn modelId="{CA96BC8A-DA4E-492B-BFF2-68070F5E10E1}" type="presOf" srcId="{7696FA36-7992-4EB3-863A-727BB3A4A28F}" destId="{7043AF02-3156-4BE3-8125-FF3A8ADDC55B}" srcOrd="0" destOrd="0" presId="urn:microsoft.com/office/officeart/2005/8/layout/pyramid1"/>
    <dgm:cxn modelId="{49C082E0-F345-4C59-8C6D-2EF0D3755074}" type="presOf" srcId="{FC6FD65E-5B6D-4897-993B-75E88EBCEFAC}" destId="{37A77A62-880D-42D1-B73D-0D8F5B957627}" srcOrd="0" destOrd="0" presId="urn:microsoft.com/office/officeart/2005/8/layout/pyramid1"/>
    <dgm:cxn modelId="{BE052588-816C-4DFB-B338-E16A86A5D159}" srcId="{C3922A5A-5BBA-4735-BD38-7227C10D60E6}" destId="{7696FA36-7992-4EB3-863A-727BB3A4A28F}" srcOrd="1" destOrd="0" parTransId="{B460C3D2-B170-42B0-99B5-21CB7F74B0AB}" sibTransId="{3660484E-DC2D-48A1-B055-9E9954CE87A0}"/>
    <dgm:cxn modelId="{72EE71D9-4B80-42D6-8FB7-DEBEC2C672B8}" srcId="{C3922A5A-5BBA-4735-BD38-7227C10D60E6}" destId="{FC6FD65E-5B6D-4897-993B-75E88EBCEFAC}" srcOrd="4" destOrd="0" parTransId="{021C1275-82D8-4381-B845-B34901133919}" sibTransId="{F15E42B5-1EBE-4381-B36A-902D819B7FCF}"/>
    <dgm:cxn modelId="{60DDC563-87AE-4A4E-802F-29BBC61856BE}" type="presOf" srcId="{7696FA36-7992-4EB3-863A-727BB3A4A28F}" destId="{CD833336-D070-41A4-A0A6-F542C63AC6C3}" srcOrd="1" destOrd="0" presId="urn:microsoft.com/office/officeart/2005/8/layout/pyramid1"/>
    <dgm:cxn modelId="{B068051A-D797-4AD7-B32F-4B6A9A1F7977}" srcId="{C3922A5A-5BBA-4735-BD38-7227C10D60E6}" destId="{E7A3F1E9-4094-44AE-9011-9F9BE2BFC0A7}" srcOrd="0" destOrd="0" parTransId="{F6324813-BA70-49BE-BBE1-1496BD45A011}" sibTransId="{A815BCE0-78ED-4EEF-BDC5-3C0BE20112F4}"/>
    <dgm:cxn modelId="{65C91C65-308A-42F1-B9F9-27DB5F553020}" type="presParOf" srcId="{B5EC38F6-CD69-4827-AD68-F2622F87718A}" destId="{74EF08A9-AEB7-4867-A6AD-C81770D92E33}" srcOrd="0" destOrd="0" presId="urn:microsoft.com/office/officeart/2005/8/layout/pyramid1"/>
    <dgm:cxn modelId="{B1B1767E-FF4B-44D1-B4E9-5B56079543C9}" type="presParOf" srcId="{74EF08A9-AEB7-4867-A6AD-C81770D92E33}" destId="{4C2B696E-B9F2-4A72-B813-B9C5D3C14CD8}" srcOrd="0" destOrd="0" presId="urn:microsoft.com/office/officeart/2005/8/layout/pyramid1"/>
    <dgm:cxn modelId="{97CEF0B8-DF7F-4B0F-AF73-6559C7A852B9}" type="presParOf" srcId="{74EF08A9-AEB7-4867-A6AD-C81770D92E33}" destId="{C2E80422-8602-4203-A1A3-3AF9DAA14B8F}" srcOrd="1" destOrd="0" presId="urn:microsoft.com/office/officeart/2005/8/layout/pyramid1"/>
    <dgm:cxn modelId="{08EFCA3F-3AA6-4C3A-860C-3C612755AF37}" type="presParOf" srcId="{B5EC38F6-CD69-4827-AD68-F2622F87718A}" destId="{86789147-2B5C-4D0B-8404-7E96957187B4}" srcOrd="1" destOrd="0" presId="urn:microsoft.com/office/officeart/2005/8/layout/pyramid1"/>
    <dgm:cxn modelId="{3E0D6DF4-09FE-4A2C-B596-CAD09AC4A147}" type="presParOf" srcId="{86789147-2B5C-4D0B-8404-7E96957187B4}" destId="{7043AF02-3156-4BE3-8125-FF3A8ADDC55B}" srcOrd="0" destOrd="0" presId="urn:microsoft.com/office/officeart/2005/8/layout/pyramid1"/>
    <dgm:cxn modelId="{C10D8E1F-3816-4DC9-ADBA-770059612005}" type="presParOf" srcId="{86789147-2B5C-4D0B-8404-7E96957187B4}" destId="{CD833336-D070-41A4-A0A6-F542C63AC6C3}" srcOrd="1" destOrd="0" presId="urn:microsoft.com/office/officeart/2005/8/layout/pyramid1"/>
    <dgm:cxn modelId="{FA035395-EE1C-466F-9EB1-A925880A5558}" type="presParOf" srcId="{B5EC38F6-CD69-4827-AD68-F2622F87718A}" destId="{D1BC49F3-B988-4E1F-BCA4-B026A4CB30DE}" srcOrd="2" destOrd="0" presId="urn:microsoft.com/office/officeart/2005/8/layout/pyramid1"/>
    <dgm:cxn modelId="{CB838D4C-88E8-4F5C-9B60-91CFC0F612C4}" type="presParOf" srcId="{D1BC49F3-B988-4E1F-BCA4-B026A4CB30DE}" destId="{592F3D85-028C-4CF6-9EAE-D41D2CB587FB}" srcOrd="0" destOrd="0" presId="urn:microsoft.com/office/officeart/2005/8/layout/pyramid1"/>
    <dgm:cxn modelId="{C1486112-39A2-4046-86B1-ECD36495E57C}" type="presParOf" srcId="{D1BC49F3-B988-4E1F-BCA4-B026A4CB30DE}" destId="{FBE47A9B-C4D2-4E76-A30F-1B09B696882D}" srcOrd="1" destOrd="0" presId="urn:microsoft.com/office/officeart/2005/8/layout/pyramid1"/>
    <dgm:cxn modelId="{D30C9140-945F-47AE-A5B4-2CE4C7932BFF}" type="presParOf" srcId="{B5EC38F6-CD69-4827-AD68-F2622F87718A}" destId="{E00CDF41-00EC-4BE6-81E5-A67ADE3E7B95}" srcOrd="3" destOrd="0" presId="urn:microsoft.com/office/officeart/2005/8/layout/pyramid1"/>
    <dgm:cxn modelId="{5045A041-47BC-4796-AEC6-783FA8E52BDD}" type="presParOf" srcId="{E00CDF41-00EC-4BE6-81E5-A67ADE3E7B95}" destId="{EAC9CE9B-F5AD-4741-9336-A164C5B4044A}" srcOrd="0" destOrd="0" presId="urn:microsoft.com/office/officeart/2005/8/layout/pyramid1"/>
    <dgm:cxn modelId="{6E3682A9-01F9-4C84-8125-BB76DFABBB09}" type="presParOf" srcId="{E00CDF41-00EC-4BE6-81E5-A67ADE3E7B95}" destId="{71314315-88F3-4F04-A216-1E3D81FCDE39}" srcOrd="1" destOrd="0" presId="urn:microsoft.com/office/officeart/2005/8/layout/pyramid1"/>
    <dgm:cxn modelId="{96682DCE-6126-4C96-8851-96EA066555B9}" type="presParOf" srcId="{B5EC38F6-CD69-4827-AD68-F2622F87718A}" destId="{AD580DE5-AC2D-42EC-B845-5E790E599715}" srcOrd="4" destOrd="0" presId="urn:microsoft.com/office/officeart/2005/8/layout/pyramid1"/>
    <dgm:cxn modelId="{5CB281E8-F9C7-4AFE-85B4-DB87349CCDAE}" type="presParOf" srcId="{AD580DE5-AC2D-42EC-B845-5E790E599715}" destId="{37A77A62-880D-42D1-B73D-0D8F5B957627}" srcOrd="0" destOrd="0" presId="urn:microsoft.com/office/officeart/2005/8/layout/pyramid1"/>
    <dgm:cxn modelId="{FF4C5639-F80A-444D-B411-18F9510761C5}" type="presParOf" srcId="{AD580DE5-AC2D-42EC-B845-5E790E599715}" destId="{D0DF761A-B883-4D39-B610-FFE9D294E9AF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609A0D-358E-4CA6-AA0D-133CD00C14D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C9195CA-730A-479F-8250-BB2B44AFAE0C}">
      <dgm:prSet/>
      <dgm:spPr/>
      <dgm:t>
        <a:bodyPr/>
        <a:lstStyle/>
        <a:p>
          <a:pPr rtl="0"/>
          <a:r>
            <a:rPr lang="ru-RU" b="1" i="1" dirty="0" smtClean="0"/>
            <a:t>Бизнес-архитектура</a:t>
          </a:r>
          <a:r>
            <a:rPr lang="ru-RU" i="1" dirty="0" smtClean="0"/>
            <a:t>,</a:t>
          </a:r>
          <a:r>
            <a:rPr lang="ru-RU" dirty="0" smtClean="0"/>
            <a:t> или архитектура уровня бизнес-процессов</a:t>
          </a:r>
          <a:endParaRPr lang="ru-RU" dirty="0"/>
        </a:p>
      </dgm:t>
    </dgm:pt>
    <dgm:pt modelId="{853555A6-9597-4937-8532-06366E420E0C}" type="parTrans" cxnId="{D4005C4C-E919-43B6-9E4C-346358DEF1FD}">
      <dgm:prSet/>
      <dgm:spPr/>
      <dgm:t>
        <a:bodyPr/>
        <a:lstStyle/>
        <a:p>
          <a:endParaRPr lang="ru-RU"/>
        </a:p>
      </dgm:t>
    </dgm:pt>
    <dgm:pt modelId="{A4645CA9-700F-4107-9914-520A43A8A877}" type="sibTrans" cxnId="{D4005C4C-E919-43B6-9E4C-346358DEF1FD}">
      <dgm:prSet/>
      <dgm:spPr/>
      <dgm:t>
        <a:bodyPr/>
        <a:lstStyle/>
        <a:p>
          <a:endParaRPr lang="ru-RU"/>
        </a:p>
      </dgm:t>
    </dgm:pt>
    <dgm:pt modelId="{62C2DF69-9939-485C-95CD-A57DA77741B1}">
      <dgm:prSet/>
      <dgm:spPr/>
      <dgm:t>
        <a:bodyPr/>
        <a:lstStyle/>
        <a:p>
          <a:pPr rtl="0"/>
          <a:r>
            <a:rPr lang="ru-RU" smtClean="0"/>
            <a:t>определяет бизнес-стратегии, управление, организацию, ключевые бизнес-процессы в масштабе предприятия, причем не все бизнес- процессы реализуются средствами ИТ-технологий. </a:t>
          </a:r>
          <a:endParaRPr lang="ru-RU"/>
        </a:p>
      </dgm:t>
    </dgm:pt>
    <dgm:pt modelId="{592059A6-1A96-4814-B300-FAC74D6CE971}" type="parTrans" cxnId="{E7716ECE-9A2D-48F2-AB0A-C2EC3D902234}">
      <dgm:prSet/>
      <dgm:spPr/>
      <dgm:t>
        <a:bodyPr/>
        <a:lstStyle/>
        <a:p>
          <a:endParaRPr lang="ru-RU"/>
        </a:p>
      </dgm:t>
    </dgm:pt>
    <dgm:pt modelId="{157A8B13-8488-47F9-A397-AF030A2CD496}" type="sibTrans" cxnId="{E7716ECE-9A2D-48F2-AB0A-C2EC3D902234}">
      <dgm:prSet/>
      <dgm:spPr/>
      <dgm:t>
        <a:bodyPr/>
        <a:lstStyle/>
        <a:p>
          <a:endParaRPr lang="ru-RU"/>
        </a:p>
      </dgm:t>
    </dgm:pt>
    <dgm:pt modelId="{F90E8709-E184-4F3D-9096-105ABF08B8DD}">
      <dgm:prSet/>
      <dgm:spPr/>
      <dgm:t>
        <a:bodyPr/>
        <a:lstStyle/>
        <a:p>
          <a:pPr rtl="0"/>
          <a:r>
            <a:rPr lang="ru-RU" smtClean="0"/>
            <a:t>Бизнес-архитектура отображается на ИТ-архитектуру.</a:t>
          </a:r>
          <a:endParaRPr lang="ru-RU"/>
        </a:p>
      </dgm:t>
    </dgm:pt>
    <dgm:pt modelId="{DF26BAD7-2DEE-468F-AB78-C9DCC24D4386}" type="parTrans" cxnId="{91FFEA8E-F549-403D-8BC1-908CE319BCC0}">
      <dgm:prSet/>
      <dgm:spPr/>
      <dgm:t>
        <a:bodyPr/>
        <a:lstStyle/>
        <a:p>
          <a:endParaRPr lang="ru-RU"/>
        </a:p>
      </dgm:t>
    </dgm:pt>
    <dgm:pt modelId="{0D8D486B-0761-4070-BACB-E0ADE83EAD9C}" type="sibTrans" cxnId="{91FFEA8E-F549-403D-8BC1-908CE319BCC0}">
      <dgm:prSet/>
      <dgm:spPr/>
      <dgm:t>
        <a:bodyPr/>
        <a:lstStyle/>
        <a:p>
          <a:endParaRPr lang="ru-RU"/>
        </a:p>
      </dgm:t>
    </dgm:pt>
    <dgm:pt modelId="{DFE5D56E-1809-4728-9326-8D1176FDBF08}" type="pres">
      <dgm:prSet presAssocID="{49609A0D-358E-4CA6-AA0D-133CD00C14D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049F59D-83E3-4487-8DA4-F05552B6B98A}" type="pres">
      <dgm:prSet presAssocID="{5C9195CA-730A-479F-8250-BB2B44AFAE0C}" presName="parentText" presStyleLbl="node1" presStyleIdx="0" presStyleCnt="1" custScaleY="5350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04BE840-885A-4CAE-BF20-5D1F786AA935}" type="pres">
      <dgm:prSet presAssocID="{5C9195CA-730A-479F-8250-BB2B44AFAE0C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E365728-3DAB-4941-B312-DD9B3FD6A35D}" type="presOf" srcId="{62C2DF69-9939-485C-95CD-A57DA77741B1}" destId="{204BE840-885A-4CAE-BF20-5D1F786AA935}" srcOrd="0" destOrd="0" presId="urn:microsoft.com/office/officeart/2005/8/layout/vList2"/>
    <dgm:cxn modelId="{4CADA559-1FEE-44A5-803D-98E73EFAC28D}" type="presOf" srcId="{F90E8709-E184-4F3D-9096-105ABF08B8DD}" destId="{204BE840-885A-4CAE-BF20-5D1F786AA935}" srcOrd="0" destOrd="1" presId="urn:microsoft.com/office/officeart/2005/8/layout/vList2"/>
    <dgm:cxn modelId="{D9967979-8C78-42CF-9E20-7647B9804AB1}" type="presOf" srcId="{49609A0D-358E-4CA6-AA0D-133CD00C14DE}" destId="{DFE5D56E-1809-4728-9326-8D1176FDBF08}" srcOrd="0" destOrd="0" presId="urn:microsoft.com/office/officeart/2005/8/layout/vList2"/>
    <dgm:cxn modelId="{E7716ECE-9A2D-48F2-AB0A-C2EC3D902234}" srcId="{5C9195CA-730A-479F-8250-BB2B44AFAE0C}" destId="{62C2DF69-9939-485C-95CD-A57DA77741B1}" srcOrd="0" destOrd="0" parTransId="{592059A6-1A96-4814-B300-FAC74D6CE971}" sibTransId="{157A8B13-8488-47F9-A397-AF030A2CD496}"/>
    <dgm:cxn modelId="{91FFEA8E-F549-403D-8BC1-908CE319BCC0}" srcId="{5C9195CA-730A-479F-8250-BB2B44AFAE0C}" destId="{F90E8709-E184-4F3D-9096-105ABF08B8DD}" srcOrd="1" destOrd="0" parTransId="{DF26BAD7-2DEE-468F-AB78-C9DCC24D4386}" sibTransId="{0D8D486B-0761-4070-BACB-E0ADE83EAD9C}"/>
    <dgm:cxn modelId="{D4005C4C-E919-43B6-9E4C-346358DEF1FD}" srcId="{49609A0D-358E-4CA6-AA0D-133CD00C14DE}" destId="{5C9195CA-730A-479F-8250-BB2B44AFAE0C}" srcOrd="0" destOrd="0" parTransId="{853555A6-9597-4937-8532-06366E420E0C}" sibTransId="{A4645CA9-700F-4107-9914-520A43A8A877}"/>
    <dgm:cxn modelId="{8C337ECC-E7DC-474F-9917-0D293B4E31E9}" type="presOf" srcId="{5C9195CA-730A-479F-8250-BB2B44AFAE0C}" destId="{7049F59D-83E3-4487-8DA4-F05552B6B98A}" srcOrd="0" destOrd="0" presId="urn:microsoft.com/office/officeart/2005/8/layout/vList2"/>
    <dgm:cxn modelId="{08E151AD-C85B-406D-B85B-32B55B2182B1}" type="presParOf" srcId="{DFE5D56E-1809-4728-9326-8D1176FDBF08}" destId="{7049F59D-83E3-4487-8DA4-F05552B6B98A}" srcOrd="0" destOrd="0" presId="urn:microsoft.com/office/officeart/2005/8/layout/vList2"/>
    <dgm:cxn modelId="{1C23E1FE-E479-400C-A281-BF662A929748}" type="presParOf" srcId="{DFE5D56E-1809-4728-9326-8D1176FDBF08}" destId="{204BE840-885A-4CAE-BF20-5D1F786AA93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98E949C-2EA3-40B9-A955-A4F9B63F77A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E2FBF75-2364-411B-8171-EC72230339AD}">
      <dgm:prSet/>
      <dgm:spPr/>
      <dgm:t>
        <a:bodyPr/>
        <a:lstStyle/>
        <a:p>
          <a:pPr rtl="0"/>
          <a:r>
            <a:rPr lang="ru-RU" b="1" i="1" dirty="0" smtClean="0"/>
            <a:t>ИТ-архитектура</a:t>
          </a:r>
          <a:r>
            <a:rPr lang="ru-RU" dirty="0" smtClean="0"/>
            <a:t> рассматривается в трех аспектах:</a:t>
          </a:r>
          <a:endParaRPr lang="ru-RU" dirty="0"/>
        </a:p>
      </dgm:t>
    </dgm:pt>
    <dgm:pt modelId="{DF6F0AE1-5AC3-48A0-9EE7-71C29848ACBB}" type="parTrans" cxnId="{AD25E7CA-2891-4892-8BA3-27DD75A7D324}">
      <dgm:prSet/>
      <dgm:spPr/>
      <dgm:t>
        <a:bodyPr/>
        <a:lstStyle/>
        <a:p>
          <a:endParaRPr lang="ru-RU"/>
        </a:p>
      </dgm:t>
    </dgm:pt>
    <dgm:pt modelId="{9F6AF542-A929-4964-9590-E1ED6F59B9A3}" type="sibTrans" cxnId="{AD25E7CA-2891-4892-8BA3-27DD75A7D324}">
      <dgm:prSet/>
      <dgm:spPr/>
      <dgm:t>
        <a:bodyPr/>
        <a:lstStyle/>
        <a:p>
          <a:endParaRPr lang="ru-RU"/>
        </a:p>
      </dgm:t>
    </dgm:pt>
    <dgm:pt modelId="{EFD4C7C2-7F92-4D81-9237-FCCF5D0E65DB}">
      <dgm:prSet/>
      <dgm:spPr/>
      <dgm:t>
        <a:bodyPr/>
        <a:lstStyle/>
        <a:p>
          <a:pPr rtl="0"/>
          <a:r>
            <a:rPr lang="ru-RU" dirty="0" smtClean="0"/>
            <a:t>обеспечивает достижение </a:t>
          </a:r>
          <a:r>
            <a:rPr lang="ru-RU" dirty="0" err="1" smtClean="0"/>
            <a:t>бизнес-целей</a:t>
          </a:r>
          <a:r>
            <a:rPr lang="ru-RU" dirty="0" smtClean="0"/>
            <a:t> посредством использования программной инфраструктуры, ориентированной на реализацию наиболее важных бизнес-приложений;</a:t>
          </a:r>
          <a:endParaRPr lang="ru-RU" dirty="0"/>
        </a:p>
      </dgm:t>
    </dgm:pt>
    <dgm:pt modelId="{0DA37CC6-D8D0-49E7-9286-09F067C437B6}" type="parTrans" cxnId="{FA1695C7-173B-41EC-B7B0-C47FC7BA1047}">
      <dgm:prSet/>
      <dgm:spPr/>
      <dgm:t>
        <a:bodyPr/>
        <a:lstStyle/>
        <a:p>
          <a:endParaRPr lang="ru-RU"/>
        </a:p>
      </dgm:t>
    </dgm:pt>
    <dgm:pt modelId="{C74EE59C-FBB8-4852-BF17-C9BF0D5F0EE4}" type="sibTrans" cxnId="{FA1695C7-173B-41EC-B7B0-C47FC7BA1047}">
      <dgm:prSet/>
      <dgm:spPr/>
      <dgm:t>
        <a:bodyPr/>
        <a:lstStyle/>
        <a:p>
          <a:endParaRPr lang="ru-RU"/>
        </a:p>
      </dgm:t>
    </dgm:pt>
    <dgm:pt modelId="{681FC203-12C5-4DD1-8B89-AF7092A854DE}">
      <dgm:prSet/>
      <dgm:spPr/>
      <dgm:t>
        <a:bodyPr/>
        <a:lstStyle/>
        <a:p>
          <a:pPr rtl="0"/>
          <a:r>
            <a:rPr lang="ru-RU" smtClean="0"/>
            <a:t>среда, обеспечивающая реализацию бизнес-приложений;</a:t>
          </a:r>
          <a:endParaRPr lang="ru-RU"/>
        </a:p>
      </dgm:t>
    </dgm:pt>
    <dgm:pt modelId="{32F3EEF5-78EE-4A41-9337-B55691FAA4E0}" type="parTrans" cxnId="{4A2C8D0D-B0D5-483A-832B-9303FE74E649}">
      <dgm:prSet/>
      <dgm:spPr/>
      <dgm:t>
        <a:bodyPr/>
        <a:lstStyle/>
        <a:p>
          <a:endParaRPr lang="ru-RU"/>
        </a:p>
      </dgm:t>
    </dgm:pt>
    <dgm:pt modelId="{DA05A372-D16D-4453-96CA-F9AE9AED33A3}" type="sibTrans" cxnId="{4A2C8D0D-B0D5-483A-832B-9303FE74E649}">
      <dgm:prSet/>
      <dgm:spPr/>
      <dgm:t>
        <a:bodyPr/>
        <a:lstStyle/>
        <a:p>
          <a:endParaRPr lang="ru-RU"/>
        </a:p>
      </dgm:t>
    </dgm:pt>
    <dgm:pt modelId="{0A8D6136-0AF1-47A9-8E7F-D78B862CD4E2}">
      <dgm:prSet/>
      <dgm:spPr/>
      <dgm:t>
        <a:bodyPr/>
        <a:lstStyle/>
        <a:p>
          <a:pPr rtl="0"/>
          <a:r>
            <a:rPr lang="ru-RU" smtClean="0"/>
            <a:t>совокупность программных и аппаратных средств, составляющая информационную систему организации и включающая, в частности, базы данных и промежуточное программное обеспечение.</a:t>
          </a:r>
          <a:endParaRPr lang="ru-RU"/>
        </a:p>
      </dgm:t>
    </dgm:pt>
    <dgm:pt modelId="{AE77899E-2659-4DBC-AB4D-5CC8B2378C06}" type="parTrans" cxnId="{871CE5B0-96C2-486A-8786-E64E0460B2DB}">
      <dgm:prSet/>
      <dgm:spPr/>
      <dgm:t>
        <a:bodyPr/>
        <a:lstStyle/>
        <a:p>
          <a:endParaRPr lang="ru-RU"/>
        </a:p>
      </dgm:t>
    </dgm:pt>
    <dgm:pt modelId="{DB25285B-1169-43D3-9678-52AA55B3D8DA}" type="sibTrans" cxnId="{871CE5B0-96C2-486A-8786-E64E0460B2DB}">
      <dgm:prSet/>
      <dgm:spPr/>
      <dgm:t>
        <a:bodyPr/>
        <a:lstStyle/>
        <a:p>
          <a:endParaRPr lang="ru-RU"/>
        </a:p>
      </dgm:t>
    </dgm:pt>
    <dgm:pt modelId="{269BCDA1-AC67-4697-B131-C5C3650C4183}" type="pres">
      <dgm:prSet presAssocID="{598E949C-2EA3-40B9-A955-A4F9B63F77A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02E1903-5682-4ADA-9599-EF7FEA1A0603}" type="pres">
      <dgm:prSet presAssocID="{AE2FBF75-2364-411B-8171-EC72230339AD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E443FAC-AC88-465A-8F72-DA943F1254E3}" type="pres">
      <dgm:prSet presAssocID="{AE2FBF75-2364-411B-8171-EC72230339AD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3E6F34B-7675-456F-B1C5-49171C0D465D}" type="presOf" srcId="{0A8D6136-0AF1-47A9-8E7F-D78B862CD4E2}" destId="{9E443FAC-AC88-465A-8F72-DA943F1254E3}" srcOrd="0" destOrd="2" presId="urn:microsoft.com/office/officeart/2005/8/layout/vList2"/>
    <dgm:cxn modelId="{4A2C8D0D-B0D5-483A-832B-9303FE74E649}" srcId="{AE2FBF75-2364-411B-8171-EC72230339AD}" destId="{681FC203-12C5-4DD1-8B89-AF7092A854DE}" srcOrd="1" destOrd="0" parTransId="{32F3EEF5-78EE-4A41-9337-B55691FAA4E0}" sibTransId="{DA05A372-D16D-4453-96CA-F9AE9AED33A3}"/>
    <dgm:cxn modelId="{EC8E4C03-6843-4E1E-9738-0BDE57B0239E}" type="presOf" srcId="{598E949C-2EA3-40B9-A955-A4F9B63F77A8}" destId="{269BCDA1-AC67-4697-B131-C5C3650C4183}" srcOrd="0" destOrd="0" presId="urn:microsoft.com/office/officeart/2005/8/layout/vList2"/>
    <dgm:cxn modelId="{AD25E7CA-2891-4892-8BA3-27DD75A7D324}" srcId="{598E949C-2EA3-40B9-A955-A4F9B63F77A8}" destId="{AE2FBF75-2364-411B-8171-EC72230339AD}" srcOrd="0" destOrd="0" parTransId="{DF6F0AE1-5AC3-48A0-9EE7-71C29848ACBB}" sibTransId="{9F6AF542-A929-4964-9590-E1ED6F59B9A3}"/>
    <dgm:cxn modelId="{7741BBC1-CB25-49FC-BB12-209A64D46ABB}" type="presOf" srcId="{AE2FBF75-2364-411B-8171-EC72230339AD}" destId="{302E1903-5682-4ADA-9599-EF7FEA1A0603}" srcOrd="0" destOrd="0" presId="urn:microsoft.com/office/officeart/2005/8/layout/vList2"/>
    <dgm:cxn modelId="{FA1695C7-173B-41EC-B7B0-C47FC7BA1047}" srcId="{AE2FBF75-2364-411B-8171-EC72230339AD}" destId="{EFD4C7C2-7F92-4D81-9237-FCCF5D0E65DB}" srcOrd="0" destOrd="0" parTransId="{0DA37CC6-D8D0-49E7-9286-09F067C437B6}" sibTransId="{C74EE59C-FBB8-4852-BF17-C9BF0D5F0EE4}"/>
    <dgm:cxn modelId="{F6BFA827-D047-4287-9B33-E2E0617045AD}" type="presOf" srcId="{EFD4C7C2-7F92-4D81-9237-FCCF5D0E65DB}" destId="{9E443FAC-AC88-465A-8F72-DA943F1254E3}" srcOrd="0" destOrd="0" presId="urn:microsoft.com/office/officeart/2005/8/layout/vList2"/>
    <dgm:cxn modelId="{871CE5B0-96C2-486A-8786-E64E0460B2DB}" srcId="{AE2FBF75-2364-411B-8171-EC72230339AD}" destId="{0A8D6136-0AF1-47A9-8E7F-D78B862CD4E2}" srcOrd="2" destOrd="0" parTransId="{AE77899E-2659-4DBC-AB4D-5CC8B2378C06}" sibTransId="{DB25285B-1169-43D3-9678-52AA55B3D8DA}"/>
    <dgm:cxn modelId="{2ACE658C-EE70-42D4-B2FC-AA74DB344DD5}" type="presOf" srcId="{681FC203-12C5-4DD1-8B89-AF7092A854DE}" destId="{9E443FAC-AC88-465A-8F72-DA943F1254E3}" srcOrd="0" destOrd="1" presId="urn:microsoft.com/office/officeart/2005/8/layout/vList2"/>
    <dgm:cxn modelId="{EC9A1685-707D-4B2E-8056-4EFF0FA44F8B}" type="presParOf" srcId="{269BCDA1-AC67-4697-B131-C5C3650C4183}" destId="{302E1903-5682-4ADA-9599-EF7FEA1A0603}" srcOrd="0" destOrd="0" presId="urn:microsoft.com/office/officeart/2005/8/layout/vList2"/>
    <dgm:cxn modelId="{DB4ADE22-43E8-4CD8-ACC5-282E9FE47541}" type="presParOf" srcId="{269BCDA1-AC67-4697-B131-C5C3650C4183}" destId="{9E443FAC-AC88-465A-8F72-DA943F1254E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C31FBE-2F85-4A49-BD97-7F26FB8656A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CB57BFC-29D2-40C7-A488-B9BD60235F60}">
      <dgm:prSet/>
      <dgm:spPr/>
      <dgm:t>
        <a:bodyPr/>
        <a:lstStyle/>
        <a:p>
          <a:pPr rtl="0"/>
          <a:r>
            <a:rPr lang="ru-RU" b="1" i="1" smtClean="0"/>
            <a:t>Архитектура данных</a:t>
          </a:r>
          <a:r>
            <a:rPr lang="ru-RU" b="1" smtClean="0"/>
            <a:t> </a:t>
          </a:r>
          <a:r>
            <a:rPr lang="ru-RU" smtClean="0"/>
            <a:t>информационной системы</a:t>
          </a:r>
          <a:endParaRPr lang="ru-RU"/>
        </a:p>
      </dgm:t>
    </dgm:pt>
    <dgm:pt modelId="{0D9DC733-56E9-408E-9A0E-F6284FAB660F}" type="parTrans" cxnId="{3F39D6A1-4C42-40FE-90D9-710E77CBEFCF}">
      <dgm:prSet/>
      <dgm:spPr/>
      <dgm:t>
        <a:bodyPr/>
        <a:lstStyle/>
        <a:p>
          <a:endParaRPr lang="ru-RU"/>
        </a:p>
      </dgm:t>
    </dgm:pt>
    <dgm:pt modelId="{96AB247B-D110-4FAB-9B1F-B567530CFE82}" type="sibTrans" cxnId="{3F39D6A1-4C42-40FE-90D9-710E77CBEFCF}">
      <dgm:prSet/>
      <dgm:spPr/>
      <dgm:t>
        <a:bodyPr/>
        <a:lstStyle/>
        <a:p>
          <a:endParaRPr lang="ru-RU"/>
        </a:p>
      </dgm:t>
    </dgm:pt>
    <dgm:pt modelId="{85F25A8B-578B-49B8-A28C-C0E731A7F199}">
      <dgm:prSet/>
      <dgm:spPr/>
      <dgm:t>
        <a:bodyPr/>
        <a:lstStyle/>
        <a:p>
          <a:pPr rtl="0"/>
          <a:r>
            <a:rPr lang="ru-RU" smtClean="0"/>
            <a:t>включает логические и физические хранилища данных и средства управления данными. </a:t>
          </a:r>
          <a:endParaRPr lang="ru-RU"/>
        </a:p>
      </dgm:t>
    </dgm:pt>
    <dgm:pt modelId="{E623AB6D-0DA0-41EE-A733-5FE9FFFF345B}" type="parTrans" cxnId="{A5C98DA8-9935-49E9-83F9-1A9042250431}">
      <dgm:prSet/>
      <dgm:spPr/>
      <dgm:t>
        <a:bodyPr/>
        <a:lstStyle/>
        <a:p>
          <a:endParaRPr lang="ru-RU"/>
        </a:p>
      </dgm:t>
    </dgm:pt>
    <dgm:pt modelId="{ACF528EB-9984-4241-AC11-158B81501948}" type="sibTrans" cxnId="{A5C98DA8-9935-49E9-83F9-1A9042250431}">
      <dgm:prSet/>
      <dgm:spPr/>
      <dgm:t>
        <a:bodyPr/>
        <a:lstStyle/>
        <a:p>
          <a:endParaRPr lang="ru-RU"/>
        </a:p>
      </dgm:t>
    </dgm:pt>
    <dgm:pt modelId="{DD0970E3-313C-449B-8EEC-D610E2A5E5A2}">
      <dgm:prSet/>
      <dgm:spPr/>
      <dgm:t>
        <a:bodyPr/>
        <a:lstStyle/>
        <a:p>
          <a:pPr rtl="0"/>
          <a:r>
            <a:rPr lang="ru-RU" smtClean="0"/>
            <a:t>Архитектура данных должна быть поддержана ИТ-архитектурой. </a:t>
          </a:r>
          <a:endParaRPr lang="ru-RU"/>
        </a:p>
      </dgm:t>
    </dgm:pt>
    <dgm:pt modelId="{B721BEE3-A971-49A9-8887-C003A3149793}" type="parTrans" cxnId="{9A19E803-96B0-47B3-806D-2FC035FCD50A}">
      <dgm:prSet/>
      <dgm:spPr/>
      <dgm:t>
        <a:bodyPr/>
        <a:lstStyle/>
        <a:p>
          <a:endParaRPr lang="ru-RU"/>
        </a:p>
      </dgm:t>
    </dgm:pt>
    <dgm:pt modelId="{BB0A0414-EC6D-420E-99D7-FA4D8FB73978}" type="sibTrans" cxnId="{9A19E803-96B0-47B3-806D-2FC035FCD50A}">
      <dgm:prSet/>
      <dgm:spPr/>
      <dgm:t>
        <a:bodyPr/>
        <a:lstStyle/>
        <a:p>
          <a:endParaRPr lang="ru-RU"/>
        </a:p>
      </dgm:t>
    </dgm:pt>
    <dgm:pt modelId="{2E20454C-AD34-4274-9B2D-97915E630468}">
      <dgm:prSet/>
      <dgm:spPr/>
      <dgm:t>
        <a:bodyPr/>
        <a:lstStyle/>
        <a:p>
          <a:pPr rtl="0"/>
          <a:r>
            <a:rPr lang="ru-RU" smtClean="0"/>
            <a:t>В современных ИТ-системах, ориентированных на работу со знаниями, иногда выделяют отдельный тип архитектуры — архитектуру знаний (</a:t>
          </a:r>
          <a:r>
            <a:rPr lang="en-US" smtClean="0"/>
            <a:t>Knowledge Architecture</a:t>
          </a:r>
          <a:r>
            <a:rPr lang="ru-RU" smtClean="0"/>
            <a:t>).</a:t>
          </a:r>
          <a:endParaRPr lang="ru-RU"/>
        </a:p>
      </dgm:t>
    </dgm:pt>
    <dgm:pt modelId="{D670AA50-7BA4-48D4-BA3F-0CE136E69B26}" type="parTrans" cxnId="{F992FC0B-91B2-488E-82E9-922C29124745}">
      <dgm:prSet/>
      <dgm:spPr/>
      <dgm:t>
        <a:bodyPr/>
        <a:lstStyle/>
        <a:p>
          <a:endParaRPr lang="ru-RU"/>
        </a:p>
      </dgm:t>
    </dgm:pt>
    <dgm:pt modelId="{C90316F5-F5EB-41B7-8AA4-EBA4D86EFBCC}" type="sibTrans" cxnId="{F992FC0B-91B2-488E-82E9-922C29124745}">
      <dgm:prSet/>
      <dgm:spPr/>
      <dgm:t>
        <a:bodyPr/>
        <a:lstStyle/>
        <a:p>
          <a:endParaRPr lang="ru-RU"/>
        </a:p>
      </dgm:t>
    </dgm:pt>
    <dgm:pt modelId="{813F825A-68A9-4515-9D90-9553A8CCEE51}" type="pres">
      <dgm:prSet presAssocID="{F0C31FBE-2F85-4A49-BD97-7F26FB8656A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8750CA1-223D-4819-B71D-3B6AF1A56600}" type="pres">
      <dgm:prSet presAssocID="{FCB57BFC-29D2-40C7-A488-B9BD60235F60}" presName="parentText" presStyleLbl="node1" presStyleIdx="0" presStyleCnt="1" custScaleY="7484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0B1FB3D-3CD9-42D1-9AF8-D6F82F281F57}" type="pres">
      <dgm:prSet presAssocID="{FCB57BFC-29D2-40C7-A488-B9BD60235F60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34CA7AB-B67B-40FB-840D-0A9062CBC802}" type="presOf" srcId="{FCB57BFC-29D2-40C7-A488-B9BD60235F60}" destId="{88750CA1-223D-4819-B71D-3B6AF1A56600}" srcOrd="0" destOrd="0" presId="urn:microsoft.com/office/officeart/2005/8/layout/vList2"/>
    <dgm:cxn modelId="{3F39D6A1-4C42-40FE-90D9-710E77CBEFCF}" srcId="{F0C31FBE-2F85-4A49-BD97-7F26FB8656AD}" destId="{FCB57BFC-29D2-40C7-A488-B9BD60235F60}" srcOrd="0" destOrd="0" parTransId="{0D9DC733-56E9-408E-9A0E-F6284FAB660F}" sibTransId="{96AB247B-D110-4FAB-9B1F-B567530CFE82}"/>
    <dgm:cxn modelId="{618746EA-4016-49DB-95DA-0F4ADACE9268}" type="presOf" srcId="{F0C31FBE-2F85-4A49-BD97-7F26FB8656AD}" destId="{813F825A-68A9-4515-9D90-9553A8CCEE51}" srcOrd="0" destOrd="0" presId="urn:microsoft.com/office/officeart/2005/8/layout/vList2"/>
    <dgm:cxn modelId="{ABB757FA-0A41-47E9-818D-C83604AAAABE}" type="presOf" srcId="{85F25A8B-578B-49B8-A28C-C0E731A7F199}" destId="{B0B1FB3D-3CD9-42D1-9AF8-D6F82F281F57}" srcOrd="0" destOrd="0" presId="urn:microsoft.com/office/officeart/2005/8/layout/vList2"/>
    <dgm:cxn modelId="{F992FC0B-91B2-488E-82E9-922C29124745}" srcId="{FCB57BFC-29D2-40C7-A488-B9BD60235F60}" destId="{2E20454C-AD34-4274-9B2D-97915E630468}" srcOrd="2" destOrd="0" parTransId="{D670AA50-7BA4-48D4-BA3F-0CE136E69B26}" sibTransId="{C90316F5-F5EB-41B7-8AA4-EBA4D86EFBCC}"/>
    <dgm:cxn modelId="{A5C98DA8-9935-49E9-83F9-1A9042250431}" srcId="{FCB57BFC-29D2-40C7-A488-B9BD60235F60}" destId="{85F25A8B-578B-49B8-A28C-C0E731A7F199}" srcOrd="0" destOrd="0" parTransId="{E623AB6D-0DA0-41EE-A733-5FE9FFFF345B}" sibTransId="{ACF528EB-9984-4241-AC11-158B81501948}"/>
    <dgm:cxn modelId="{1F8C4613-4EB6-47B5-9871-1B0FC1AA44AE}" type="presOf" srcId="{DD0970E3-313C-449B-8EEC-D610E2A5E5A2}" destId="{B0B1FB3D-3CD9-42D1-9AF8-D6F82F281F57}" srcOrd="0" destOrd="1" presId="urn:microsoft.com/office/officeart/2005/8/layout/vList2"/>
    <dgm:cxn modelId="{C1207E6E-3173-4D56-A4D7-121CA61084B6}" type="presOf" srcId="{2E20454C-AD34-4274-9B2D-97915E630468}" destId="{B0B1FB3D-3CD9-42D1-9AF8-D6F82F281F57}" srcOrd="0" destOrd="2" presId="urn:microsoft.com/office/officeart/2005/8/layout/vList2"/>
    <dgm:cxn modelId="{9A19E803-96B0-47B3-806D-2FC035FCD50A}" srcId="{FCB57BFC-29D2-40C7-A488-B9BD60235F60}" destId="{DD0970E3-313C-449B-8EEC-D610E2A5E5A2}" srcOrd="1" destOrd="0" parTransId="{B721BEE3-A971-49A9-8887-C003A3149793}" sibTransId="{BB0A0414-EC6D-420E-99D7-FA4D8FB73978}"/>
    <dgm:cxn modelId="{927CA849-A0E2-42F1-8EEF-855411B2FFFD}" type="presParOf" srcId="{813F825A-68A9-4515-9D90-9553A8CCEE51}" destId="{88750CA1-223D-4819-B71D-3B6AF1A56600}" srcOrd="0" destOrd="0" presId="urn:microsoft.com/office/officeart/2005/8/layout/vList2"/>
    <dgm:cxn modelId="{F4C25AAF-A580-4336-BC9D-6DB6E82C2E11}" type="presParOf" srcId="{813F825A-68A9-4515-9D90-9553A8CCEE51}" destId="{B0B1FB3D-3CD9-42D1-9AF8-D6F82F281F57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FE88C87-791F-474C-86F6-49FB2076B5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E6864599-453F-4F8D-874C-18A2A53EED7C}">
      <dgm:prSet/>
      <dgm:spPr/>
      <dgm:t>
        <a:bodyPr/>
        <a:lstStyle/>
        <a:p>
          <a:pPr rtl="0"/>
          <a:r>
            <a:rPr lang="ru-RU" b="1" i="1" smtClean="0"/>
            <a:t>Программная архитектура</a:t>
          </a:r>
          <a:r>
            <a:rPr lang="ru-RU" b="1" smtClean="0"/>
            <a:t> </a:t>
          </a:r>
          <a:r>
            <a:rPr lang="ru-RU" smtClean="0"/>
            <a:t>отображает совокупность программных приложений: </a:t>
          </a:r>
          <a:endParaRPr lang="ru-RU"/>
        </a:p>
      </dgm:t>
    </dgm:pt>
    <dgm:pt modelId="{B78284BD-DDCD-493C-9683-748F599F44E9}" type="parTrans" cxnId="{CA798741-C9B8-4FE4-AD63-973F1BE8F2D9}">
      <dgm:prSet/>
      <dgm:spPr/>
      <dgm:t>
        <a:bodyPr/>
        <a:lstStyle/>
        <a:p>
          <a:endParaRPr lang="ru-RU"/>
        </a:p>
      </dgm:t>
    </dgm:pt>
    <dgm:pt modelId="{5A2B8F7D-1508-41D8-95F9-BF67435F3060}" type="sibTrans" cxnId="{CA798741-C9B8-4FE4-AD63-973F1BE8F2D9}">
      <dgm:prSet/>
      <dgm:spPr/>
      <dgm:t>
        <a:bodyPr/>
        <a:lstStyle/>
        <a:p>
          <a:endParaRPr lang="ru-RU"/>
        </a:p>
      </dgm:t>
    </dgm:pt>
    <dgm:pt modelId="{3D8832F8-17AA-4C10-9808-3BB36F905943}">
      <dgm:prSet/>
      <dgm:spPr/>
      <dgm:t>
        <a:bodyPr/>
        <a:lstStyle/>
        <a:p>
          <a:pPr rtl="0"/>
          <a:r>
            <a:rPr lang="ru-RU" b="1" smtClean="0"/>
            <a:t>Программное приложение </a:t>
          </a:r>
          <a:r>
            <a:rPr lang="ru-RU" smtClean="0"/>
            <a:t>— это компьютерная программа, ориентированная на решение задач конечного пользователя. </a:t>
          </a:r>
          <a:endParaRPr lang="ru-RU"/>
        </a:p>
      </dgm:t>
    </dgm:pt>
    <dgm:pt modelId="{FF9D77A0-01C3-406B-92FC-187052AEB48F}" type="parTrans" cxnId="{4D65ACAA-1BA3-4151-AF2C-740FE0BAB82C}">
      <dgm:prSet/>
      <dgm:spPr/>
      <dgm:t>
        <a:bodyPr/>
        <a:lstStyle/>
        <a:p>
          <a:endParaRPr lang="ru-RU"/>
        </a:p>
      </dgm:t>
    </dgm:pt>
    <dgm:pt modelId="{41840043-8FFD-49A1-8425-8C60F0C08E4B}" type="sibTrans" cxnId="{4D65ACAA-1BA3-4151-AF2C-740FE0BAB82C}">
      <dgm:prSet/>
      <dgm:spPr/>
      <dgm:t>
        <a:bodyPr/>
        <a:lstStyle/>
        <a:p>
          <a:endParaRPr lang="ru-RU"/>
        </a:p>
      </dgm:t>
    </dgm:pt>
    <dgm:pt modelId="{EFD99EDA-3ABE-4BFC-B276-BC1BD9CA78E1}">
      <dgm:prSet/>
      <dgm:spPr/>
      <dgm:t>
        <a:bodyPr/>
        <a:lstStyle/>
        <a:p>
          <a:pPr rtl="0"/>
          <a:r>
            <a:rPr lang="ru-RU" b="1" smtClean="0"/>
            <a:t>Архитектура приложения </a:t>
          </a:r>
          <a:r>
            <a:rPr lang="ru-RU" smtClean="0"/>
            <a:t>— это описание отдельного приложения, работающего в составе ИТ-системы, включая его программные интерфейсы. </a:t>
          </a:r>
          <a:endParaRPr lang="ru-RU"/>
        </a:p>
      </dgm:t>
    </dgm:pt>
    <dgm:pt modelId="{F277BB89-DBA8-481A-A489-0AF9DC01294B}" type="parTrans" cxnId="{C2087226-FC57-4715-9F25-413082B56977}">
      <dgm:prSet/>
      <dgm:spPr/>
      <dgm:t>
        <a:bodyPr/>
        <a:lstStyle/>
        <a:p>
          <a:endParaRPr lang="ru-RU"/>
        </a:p>
      </dgm:t>
    </dgm:pt>
    <dgm:pt modelId="{9AEB4A9C-CFD5-433A-8181-C6F02A26852B}" type="sibTrans" cxnId="{C2087226-FC57-4715-9F25-413082B56977}">
      <dgm:prSet/>
      <dgm:spPr/>
      <dgm:t>
        <a:bodyPr/>
        <a:lstStyle/>
        <a:p>
          <a:endParaRPr lang="ru-RU"/>
        </a:p>
      </dgm:t>
    </dgm:pt>
    <dgm:pt modelId="{0D718E77-89DA-4F23-BBF8-F78AEC649F7C}">
      <dgm:prSet/>
      <dgm:spPr/>
      <dgm:t>
        <a:bodyPr/>
        <a:lstStyle/>
        <a:p>
          <a:pPr rtl="0"/>
          <a:r>
            <a:rPr lang="ru-RU" smtClean="0"/>
            <a:t>Архитектура приложения базируется на ИТ-архитектуре и использует сервисы, предоставляемые ИТ-архитектурой.</a:t>
          </a:r>
          <a:endParaRPr lang="ru-RU"/>
        </a:p>
      </dgm:t>
    </dgm:pt>
    <dgm:pt modelId="{C08D3FC8-B2BA-429E-BB4D-D91D68B96EC4}" type="parTrans" cxnId="{B99552C3-EE46-4F5E-BF1D-D77E5B1BF6BD}">
      <dgm:prSet/>
      <dgm:spPr/>
      <dgm:t>
        <a:bodyPr/>
        <a:lstStyle/>
        <a:p>
          <a:endParaRPr lang="ru-RU"/>
        </a:p>
      </dgm:t>
    </dgm:pt>
    <dgm:pt modelId="{612F54C5-728A-4B34-A020-3B4D6C8A1415}" type="sibTrans" cxnId="{B99552C3-EE46-4F5E-BF1D-D77E5B1BF6BD}">
      <dgm:prSet/>
      <dgm:spPr/>
      <dgm:t>
        <a:bodyPr/>
        <a:lstStyle/>
        <a:p>
          <a:endParaRPr lang="ru-RU"/>
        </a:p>
      </dgm:t>
    </dgm:pt>
    <dgm:pt modelId="{BA20259D-9281-4320-A652-B81597CD652D}" type="pres">
      <dgm:prSet presAssocID="{EFE88C87-791F-474C-86F6-49FB2076B55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FA63101-403E-420D-BA8F-B7B25E9CAA4C}" type="pres">
      <dgm:prSet presAssocID="{E6864599-453F-4F8D-874C-18A2A53EED7C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F88D5F7-6C7E-4FB7-846B-149DA29C4C8B}" type="pres">
      <dgm:prSet presAssocID="{E6864599-453F-4F8D-874C-18A2A53EED7C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05A437F-2933-44F0-AFED-61CAB6EAAA8D}" type="presOf" srcId="{E6864599-453F-4F8D-874C-18A2A53EED7C}" destId="{2FA63101-403E-420D-BA8F-B7B25E9CAA4C}" srcOrd="0" destOrd="0" presId="urn:microsoft.com/office/officeart/2005/8/layout/vList2"/>
    <dgm:cxn modelId="{F106B5C2-D9FE-4A13-A522-045F837F8132}" type="presOf" srcId="{0D718E77-89DA-4F23-BBF8-F78AEC649F7C}" destId="{6F88D5F7-6C7E-4FB7-846B-149DA29C4C8B}" srcOrd="0" destOrd="2" presId="urn:microsoft.com/office/officeart/2005/8/layout/vList2"/>
    <dgm:cxn modelId="{4D65ACAA-1BA3-4151-AF2C-740FE0BAB82C}" srcId="{E6864599-453F-4F8D-874C-18A2A53EED7C}" destId="{3D8832F8-17AA-4C10-9808-3BB36F905943}" srcOrd="0" destOrd="0" parTransId="{FF9D77A0-01C3-406B-92FC-187052AEB48F}" sibTransId="{41840043-8FFD-49A1-8425-8C60F0C08E4B}"/>
    <dgm:cxn modelId="{D19A43F0-2EED-4734-AF17-5CC4C5712DB5}" type="presOf" srcId="{EFD99EDA-3ABE-4BFC-B276-BC1BD9CA78E1}" destId="{6F88D5F7-6C7E-4FB7-846B-149DA29C4C8B}" srcOrd="0" destOrd="1" presId="urn:microsoft.com/office/officeart/2005/8/layout/vList2"/>
    <dgm:cxn modelId="{A4159E98-3559-4933-9763-E0952A291B5A}" type="presOf" srcId="{3D8832F8-17AA-4C10-9808-3BB36F905943}" destId="{6F88D5F7-6C7E-4FB7-846B-149DA29C4C8B}" srcOrd="0" destOrd="0" presId="urn:microsoft.com/office/officeart/2005/8/layout/vList2"/>
    <dgm:cxn modelId="{C2087226-FC57-4715-9F25-413082B56977}" srcId="{E6864599-453F-4F8D-874C-18A2A53EED7C}" destId="{EFD99EDA-3ABE-4BFC-B276-BC1BD9CA78E1}" srcOrd="1" destOrd="0" parTransId="{F277BB89-DBA8-481A-A489-0AF9DC01294B}" sibTransId="{9AEB4A9C-CFD5-433A-8181-C6F02A26852B}"/>
    <dgm:cxn modelId="{B99552C3-EE46-4F5E-BF1D-D77E5B1BF6BD}" srcId="{E6864599-453F-4F8D-874C-18A2A53EED7C}" destId="{0D718E77-89DA-4F23-BBF8-F78AEC649F7C}" srcOrd="2" destOrd="0" parTransId="{C08D3FC8-B2BA-429E-BB4D-D91D68B96EC4}" sibTransId="{612F54C5-728A-4B34-A020-3B4D6C8A1415}"/>
    <dgm:cxn modelId="{DB3C2EC4-CD1E-4E98-9DD5-E8DF1A4A51FB}" type="presOf" srcId="{EFE88C87-791F-474C-86F6-49FB2076B55A}" destId="{BA20259D-9281-4320-A652-B81597CD652D}" srcOrd="0" destOrd="0" presId="urn:microsoft.com/office/officeart/2005/8/layout/vList2"/>
    <dgm:cxn modelId="{CA798741-C9B8-4FE4-AD63-973F1BE8F2D9}" srcId="{EFE88C87-791F-474C-86F6-49FB2076B55A}" destId="{E6864599-453F-4F8D-874C-18A2A53EED7C}" srcOrd="0" destOrd="0" parTransId="{B78284BD-DDCD-493C-9683-748F599F44E9}" sibTransId="{5A2B8F7D-1508-41D8-95F9-BF67435F3060}"/>
    <dgm:cxn modelId="{DEAF609F-8FC9-4E6A-ADA0-41EC10A8AE09}" type="presParOf" srcId="{BA20259D-9281-4320-A652-B81597CD652D}" destId="{2FA63101-403E-420D-BA8F-B7B25E9CAA4C}" srcOrd="0" destOrd="0" presId="urn:microsoft.com/office/officeart/2005/8/layout/vList2"/>
    <dgm:cxn modelId="{E315C37C-4E59-4153-8576-0E443FCA75E3}" type="presParOf" srcId="{BA20259D-9281-4320-A652-B81597CD652D}" destId="{6F88D5F7-6C7E-4FB7-846B-149DA29C4C8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45252C0-2285-4620-BC3D-CF3E849B76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381B752-EA48-49A8-960F-37DF7573A720}">
      <dgm:prSet/>
      <dgm:spPr/>
      <dgm:t>
        <a:bodyPr/>
        <a:lstStyle/>
        <a:p>
          <a:pPr rtl="0"/>
          <a:r>
            <a:rPr lang="ru-RU" b="1" i="1" smtClean="0"/>
            <a:t>Технологическая архитектура</a:t>
          </a:r>
          <a:r>
            <a:rPr lang="ru-RU" b="1" smtClean="0"/>
            <a:t> </a:t>
          </a:r>
          <a:endParaRPr lang="ru-RU"/>
        </a:p>
      </dgm:t>
    </dgm:pt>
    <dgm:pt modelId="{47BA6399-8581-4991-8ED8-175BC23D7036}" type="parTrans" cxnId="{B3B1DB54-5631-4625-82CC-60BB0D073267}">
      <dgm:prSet/>
      <dgm:spPr/>
      <dgm:t>
        <a:bodyPr/>
        <a:lstStyle/>
        <a:p>
          <a:endParaRPr lang="ru-RU"/>
        </a:p>
      </dgm:t>
    </dgm:pt>
    <dgm:pt modelId="{79063AFF-0227-42EC-8A19-BEAAADED43B2}" type="sibTrans" cxnId="{B3B1DB54-5631-4625-82CC-60BB0D073267}">
      <dgm:prSet/>
      <dgm:spPr/>
      <dgm:t>
        <a:bodyPr/>
        <a:lstStyle/>
        <a:p>
          <a:endParaRPr lang="ru-RU"/>
        </a:p>
      </dgm:t>
    </dgm:pt>
    <dgm:pt modelId="{D1219B3B-8501-4949-9DA7-DE6BDDB57A18}">
      <dgm:prSet/>
      <dgm:spPr/>
      <dgm:t>
        <a:bodyPr/>
        <a:lstStyle/>
        <a:p>
          <a:pPr rtl="0"/>
          <a:r>
            <a:rPr lang="ru-RU" smtClean="0"/>
            <a:t>характеризует программно-аппаратные средства информационных систем и включает такие элементы, как процессор, память, жесткие диски, периферийные устройства, элементы для их соединения, операционные системы, а также сетевые средства.</a:t>
          </a:r>
          <a:endParaRPr lang="ru-RU"/>
        </a:p>
      </dgm:t>
    </dgm:pt>
    <dgm:pt modelId="{BF156E6B-665A-4DD5-82F6-6A1931EC2AFD}" type="parTrans" cxnId="{527D9DBD-6169-4B9B-8FBC-396385A80985}">
      <dgm:prSet/>
      <dgm:spPr/>
      <dgm:t>
        <a:bodyPr/>
        <a:lstStyle/>
        <a:p>
          <a:endParaRPr lang="ru-RU"/>
        </a:p>
      </dgm:t>
    </dgm:pt>
    <dgm:pt modelId="{44311D42-6355-4B27-8811-4A9AC687BE1F}" type="sibTrans" cxnId="{527D9DBD-6169-4B9B-8FBC-396385A80985}">
      <dgm:prSet/>
      <dgm:spPr/>
      <dgm:t>
        <a:bodyPr/>
        <a:lstStyle/>
        <a:p>
          <a:endParaRPr lang="ru-RU"/>
        </a:p>
      </dgm:t>
    </dgm:pt>
    <dgm:pt modelId="{08694650-810B-45A1-A61C-5E8AFD2EA319}" type="pres">
      <dgm:prSet presAssocID="{745252C0-2285-4620-BC3D-CF3E849B765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45A32DD-41F1-4304-BE47-C20986ECCA6A}" type="pres">
      <dgm:prSet presAssocID="{9381B752-EA48-49A8-960F-37DF7573A720}" presName="parentText" presStyleLbl="node1" presStyleIdx="0" presStyleCnt="1" custScaleY="8620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8670091-62E1-4AE2-83DB-E2A8831AAC7E}" type="pres">
      <dgm:prSet presAssocID="{9381B752-EA48-49A8-960F-37DF7573A720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27D9DBD-6169-4B9B-8FBC-396385A80985}" srcId="{9381B752-EA48-49A8-960F-37DF7573A720}" destId="{D1219B3B-8501-4949-9DA7-DE6BDDB57A18}" srcOrd="0" destOrd="0" parTransId="{BF156E6B-665A-4DD5-82F6-6A1931EC2AFD}" sibTransId="{44311D42-6355-4B27-8811-4A9AC687BE1F}"/>
    <dgm:cxn modelId="{B3B1DB54-5631-4625-82CC-60BB0D073267}" srcId="{745252C0-2285-4620-BC3D-CF3E849B765B}" destId="{9381B752-EA48-49A8-960F-37DF7573A720}" srcOrd="0" destOrd="0" parTransId="{47BA6399-8581-4991-8ED8-175BC23D7036}" sibTransId="{79063AFF-0227-42EC-8A19-BEAAADED43B2}"/>
    <dgm:cxn modelId="{49D6217D-F7DA-4B01-8748-A99342D820E7}" type="presOf" srcId="{D1219B3B-8501-4949-9DA7-DE6BDDB57A18}" destId="{68670091-62E1-4AE2-83DB-E2A8831AAC7E}" srcOrd="0" destOrd="0" presId="urn:microsoft.com/office/officeart/2005/8/layout/vList2"/>
    <dgm:cxn modelId="{657B15CB-3C53-4199-BAC8-FFFFCB65D4C7}" type="presOf" srcId="{745252C0-2285-4620-BC3D-CF3E849B765B}" destId="{08694650-810B-45A1-A61C-5E8AFD2EA319}" srcOrd="0" destOrd="0" presId="urn:microsoft.com/office/officeart/2005/8/layout/vList2"/>
    <dgm:cxn modelId="{0681B470-5861-415E-B882-0B14A21C141A}" type="presOf" srcId="{9381B752-EA48-49A8-960F-37DF7573A720}" destId="{945A32DD-41F1-4304-BE47-C20986ECCA6A}" srcOrd="0" destOrd="0" presId="urn:microsoft.com/office/officeart/2005/8/layout/vList2"/>
    <dgm:cxn modelId="{6B4D0DA7-B045-4986-B897-E5845F70FDA0}" type="presParOf" srcId="{08694650-810B-45A1-A61C-5E8AFD2EA319}" destId="{945A32DD-41F1-4304-BE47-C20986ECCA6A}" srcOrd="0" destOrd="0" presId="urn:microsoft.com/office/officeart/2005/8/layout/vList2"/>
    <dgm:cxn modelId="{9C64C983-52DA-49DF-B31E-9B0D07F6507B}" type="presParOf" srcId="{08694650-810B-45A1-A61C-5E8AFD2EA319}" destId="{68670091-62E1-4AE2-83DB-E2A8831AAC7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2B696E-B9F2-4A72-B813-B9C5D3C14CD8}">
      <dsp:nvSpPr>
        <dsp:cNvPr id="0" name=""/>
        <dsp:cNvSpPr/>
      </dsp:nvSpPr>
      <dsp:spPr>
        <a:xfrm>
          <a:off x="3291840" y="0"/>
          <a:ext cx="1645920" cy="813063"/>
        </a:xfrm>
        <a:prstGeom prst="trapezoid">
          <a:avLst>
            <a:gd name="adj" fmla="val 10121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Бизнес- архитектура</a:t>
          </a:r>
          <a:endParaRPr lang="ru-RU" sz="2400" kern="1200" dirty="0"/>
        </a:p>
      </dsp:txBody>
      <dsp:txXfrm>
        <a:off x="3291840" y="0"/>
        <a:ext cx="1645920" cy="813063"/>
      </dsp:txXfrm>
    </dsp:sp>
    <dsp:sp modelId="{7043AF02-3156-4BE3-8125-FF3A8ADDC55B}">
      <dsp:nvSpPr>
        <dsp:cNvPr id="0" name=""/>
        <dsp:cNvSpPr/>
      </dsp:nvSpPr>
      <dsp:spPr>
        <a:xfrm>
          <a:off x="2468879" y="813063"/>
          <a:ext cx="3291840" cy="813063"/>
        </a:xfrm>
        <a:prstGeom prst="trapezoid">
          <a:avLst>
            <a:gd name="adj" fmla="val 10121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ИТ-архитектура</a:t>
          </a:r>
          <a:endParaRPr lang="ru-RU" sz="2400" kern="1200" dirty="0"/>
        </a:p>
      </dsp:txBody>
      <dsp:txXfrm>
        <a:off x="3044951" y="813063"/>
        <a:ext cx="2139696" cy="813063"/>
      </dsp:txXfrm>
    </dsp:sp>
    <dsp:sp modelId="{592F3D85-028C-4CF6-9EAE-D41D2CB587FB}">
      <dsp:nvSpPr>
        <dsp:cNvPr id="0" name=""/>
        <dsp:cNvSpPr/>
      </dsp:nvSpPr>
      <dsp:spPr>
        <a:xfrm>
          <a:off x="1645919" y="1626126"/>
          <a:ext cx="4937760" cy="813063"/>
        </a:xfrm>
        <a:prstGeom prst="trapezoid">
          <a:avLst>
            <a:gd name="adj" fmla="val 10121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Архитектура данных</a:t>
          </a:r>
          <a:endParaRPr lang="ru-RU" sz="2400" kern="1200" dirty="0"/>
        </a:p>
      </dsp:txBody>
      <dsp:txXfrm>
        <a:off x="2510027" y="1626126"/>
        <a:ext cx="3209544" cy="813063"/>
      </dsp:txXfrm>
    </dsp:sp>
    <dsp:sp modelId="{EAC9CE9B-F5AD-4741-9336-A164C5B4044A}">
      <dsp:nvSpPr>
        <dsp:cNvPr id="0" name=""/>
        <dsp:cNvSpPr/>
      </dsp:nvSpPr>
      <dsp:spPr>
        <a:xfrm>
          <a:off x="822959" y="2439189"/>
          <a:ext cx="6583680" cy="813063"/>
        </a:xfrm>
        <a:prstGeom prst="trapezoid">
          <a:avLst>
            <a:gd name="adj" fmla="val 10121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Программная архитектура</a:t>
          </a:r>
          <a:endParaRPr lang="ru-RU" sz="2400" kern="1200" dirty="0"/>
        </a:p>
      </dsp:txBody>
      <dsp:txXfrm>
        <a:off x="1975103" y="2439189"/>
        <a:ext cx="4279392" cy="813063"/>
      </dsp:txXfrm>
    </dsp:sp>
    <dsp:sp modelId="{37A77A62-880D-42D1-B73D-0D8F5B957627}">
      <dsp:nvSpPr>
        <dsp:cNvPr id="0" name=""/>
        <dsp:cNvSpPr/>
      </dsp:nvSpPr>
      <dsp:spPr>
        <a:xfrm>
          <a:off x="0" y="3252252"/>
          <a:ext cx="8229600" cy="813063"/>
        </a:xfrm>
        <a:prstGeom prst="trapezoid">
          <a:avLst>
            <a:gd name="adj" fmla="val 10121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Технологическая архитектура</a:t>
          </a:r>
          <a:endParaRPr lang="ru-RU" sz="2400" kern="1200" dirty="0"/>
        </a:p>
      </dsp:txBody>
      <dsp:txXfrm>
        <a:off x="1440179" y="3252252"/>
        <a:ext cx="5349240" cy="8130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49F59D-83E3-4487-8DA4-F05552B6B98A}">
      <dsp:nvSpPr>
        <dsp:cNvPr id="0" name=""/>
        <dsp:cNvSpPr/>
      </dsp:nvSpPr>
      <dsp:spPr>
        <a:xfrm>
          <a:off x="0" y="38831"/>
          <a:ext cx="8229600" cy="1147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900" b="1" i="1" kern="1200" dirty="0" smtClean="0"/>
            <a:t>Бизнес-архитектура</a:t>
          </a:r>
          <a:r>
            <a:rPr lang="ru-RU" sz="2900" i="1" kern="1200" dirty="0" smtClean="0"/>
            <a:t>,</a:t>
          </a:r>
          <a:r>
            <a:rPr lang="ru-RU" sz="2900" kern="1200" dirty="0" smtClean="0"/>
            <a:t> или архитектура уровня бизнес-процессов</a:t>
          </a:r>
          <a:endParaRPr lang="ru-RU" sz="2900" kern="1200" dirty="0"/>
        </a:p>
      </dsp:txBody>
      <dsp:txXfrm>
        <a:off x="56013" y="94844"/>
        <a:ext cx="8117574" cy="1035404"/>
      </dsp:txXfrm>
    </dsp:sp>
    <dsp:sp modelId="{204BE840-885A-4CAE-BF20-5D1F786AA935}">
      <dsp:nvSpPr>
        <dsp:cNvPr id="0" name=""/>
        <dsp:cNvSpPr/>
      </dsp:nvSpPr>
      <dsp:spPr>
        <a:xfrm>
          <a:off x="0" y="1186261"/>
          <a:ext cx="8229600" cy="3148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6830" rIns="206248" bIns="36830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2300" kern="1200" smtClean="0"/>
            <a:t>определяет бизнес-стратегии, управление, организацию, ключевые бизнес-процессы в масштабе предприятия, причем не все бизнес- процессы реализуются средствами ИТ-технологий. </a:t>
          </a:r>
          <a:endParaRPr lang="ru-RU" sz="2300" kern="1200"/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2300" kern="1200" smtClean="0"/>
            <a:t>Бизнес-архитектура отображается на ИТ-архитектуру.</a:t>
          </a:r>
          <a:endParaRPr lang="ru-RU" sz="2300" kern="1200"/>
        </a:p>
      </dsp:txBody>
      <dsp:txXfrm>
        <a:off x="0" y="1186261"/>
        <a:ext cx="8229600" cy="31484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2E1903-5682-4ADA-9599-EF7FEA1A0603}">
      <dsp:nvSpPr>
        <dsp:cNvPr id="0" name=""/>
        <dsp:cNvSpPr/>
      </dsp:nvSpPr>
      <dsp:spPr>
        <a:xfrm>
          <a:off x="0" y="6531"/>
          <a:ext cx="8229600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b="1" i="1" kern="1200" dirty="0" smtClean="0"/>
            <a:t>ИТ-архитектура</a:t>
          </a:r>
          <a:r>
            <a:rPr lang="ru-RU" sz="3000" kern="1200" dirty="0" smtClean="0"/>
            <a:t> рассматривается в трех аспектах:</a:t>
          </a:r>
          <a:endParaRPr lang="ru-RU" sz="3000" kern="1200" dirty="0"/>
        </a:p>
      </dsp:txBody>
      <dsp:txXfrm>
        <a:off x="58257" y="64788"/>
        <a:ext cx="8113086" cy="1076886"/>
      </dsp:txXfrm>
    </dsp:sp>
    <dsp:sp modelId="{9E443FAC-AC88-465A-8F72-DA943F1254E3}">
      <dsp:nvSpPr>
        <dsp:cNvPr id="0" name=""/>
        <dsp:cNvSpPr/>
      </dsp:nvSpPr>
      <dsp:spPr>
        <a:xfrm>
          <a:off x="0" y="1199931"/>
          <a:ext cx="8229600" cy="3167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8100" rIns="213360" bIns="38100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2300" kern="1200" dirty="0" smtClean="0"/>
            <a:t>обеспечивает достижение </a:t>
          </a:r>
          <a:r>
            <a:rPr lang="ru-RU" sz="2300" kern="1200" dirty="0" err="1" smtClean="0"/>
            <a:t>бизнес-целей</a:t>
          </a:r>
          <a:r>
            <a:rPr lang="ru-RU" sz="2300" kern="1200" dirty="0" smtClean="0"/>
            <a:t> посредством использования программной инфраструктуры, ориентированной на реализацию наиболее важных бизнес-приложений;</a:t>
          </a:r>
          <a:endParaRPr lang="ru-RU" sz="2300" kern="1200" dirty="0"/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2300" kern="1200" smtClean="0"/>
            <a:t>среда, обеспечивающая реализацию бизнес-приложений;</a:t>
          </a:r>
          <a:endParaRPr lang="ru-RU" sz="2300" kern="1200"/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2300" kern="1200" smtClean="0"/>
            <a:t>совокупность программных и аппаратных средств, составляющая информационную систему организации и включающая, в частности, базы данных и промежуточное программное обеспечение.</a:t>
          </a:r>
          <a:endParaRPr lang="ru-RU" sz="2300" kern="1200"/>
        </a:p>
      </dsp:txBody>
      <dsp:txXfrm>
        <a:off x="0" y="1199931"/>
        <a:ext cx="8229600" cy="31670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750CA1-223D-4819-B71D-3B6AF1A56600}">
      <dsp:nvSpPr>
        <dsp:cNvPr id="0" name=""/>
        <dsp:cNvSpPr/>
      </dsp:nvSpPr>
      <dsp:spPr>
        <a:xfrm>
          <a:off x="0" y="26718"/>
          <a:ext cx="8229600" cy="10122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900" b="1" i="1" kern="1200" smtClean="0"/>
            <a:t>Архитектура данных</a:t>
          </a:r>
          <a:r>
            <a:rPr lang="ru-RU" sz="2900" b="1" kern="1200" smtClean="0"/>
            <a:t> </a:t>
          </a:r>
          <a:r>
            <a:rPr lang="ru-RU" sz="2900" kern="1200" smtClean="0"/>
            <a:t>информационной системы</a:t>
          </a:r>
          <a:endParaRPr lang="ru-RU" sz="2900" kern="1200"/>
        </a:p>
      </dsp:txBody>
      <dsp:txXfrm>
        <a:off x="49415" y="76133"/>
        <a:ext cx="8130770" cy="913436"/>
      </dsp:txXfrm>
    </dsp:sp>
    <dsp:sp modelId="{B0B1FB3D-3CD9-42D1-9AF8-D6F82F281F57}">
      <dsp:nvSpPr>
        <dsp:cNvPr id="0" name=""/>
        <dsp:cNvSpPr/>
      </dsp:nvSpPr>
      <dsp:spPr>
        <a:xfrm>
          <a:off x="0" y="1038984"/>
          <a:ext cx="8229600" cy="330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6830" rIns="206248" bIns="36830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2300" kern="1200" smtClean="0"/>
            <a:t>включает логические и физические хранилища данных и средства управления данными. </a:t>
          </a:r>
          <a:endParaRPr lang="ru-RU" sz="2300" kern="1200"/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2300" kern="1200" smtClean="0"/>
            <a:t>Архитектура данных должна быть поддержана ИТ-архитектурой. </a:t>
          </a:r>
          <a:endParaRPr lang="ru-RU" sz="2300" kern="1200"/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2300" kern="1200" smtClean="0"/>
            <a:t>В современных ИТ-системах, ориентированных на работу со знаниями, иногда выделяют отдельный тип архитектуры — архитектуру знаний (</a:t>
          </a:r>
          <a:r>
            <a:rPr lang="en-US" sz="2300" kern="1200" smtClean="0"/>
            <a:t>Knowledge Architecture</a:t>
          </a:r>
          <a:r>
            <a:rPr lang="ru-RU" sz="2300" kern="1200" smtClean="0"/>
            <a:t>).</a:t>
          </a:r>
          <a:endParaRPr lang="ru-RU" sz="2300" kern="1200"/>
        </a:p>
      </dsp:txBody>
      <dsp:txXfrm>
        <a:off x="0" y="1038984"/>
        <a:ext cx="8229600" cy="33078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A63101-403E-420D-BA8F-B7B25E9CAA4C}">
      <dsp:nvSpPr>
        <dsp:cNvPr id="0" name=""/>
        <dsp:cNvSpPr/>
      </dsp:nvSpPr>
      <dsp:spPr>
        <a:xfrm>
          <a:off x="0" y="94281"/>
          <a:ext cx="8229600" cy="12331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100" b="1" i="1" kern="1200" smtClean="0"/>
            <a:t>Программная архитектура</a:t>
          </a:r>
          <a:r>
            <a:rPr lang="ru-RU" sz="3100" b="1" kern="1200" smtClean="0"/>
            <a:t> </a:t>
          </a:r>
          <a:r>
            <a:rPr lang="ru-RU" sz="3100" kern="1200" smtClean="0"/>
            <a:t>отображает совокупность программных приложений: </a:t>
          </a:r>
          <a:endParaRPr lang="ru-RU" sz="3100" kern="1200"/>
        </a:p>
      </dsp:txBody>
      <dsp:txXfrm>
        <a:off x="60199" y="154480"/>
        <a:ext cx="8109202" cy="1112781"/>
      </dsp:txXfrm>
    </dsp:sp>
    <dsp:sp modelId="{6F88D5F7-6C7E-4FB7-846B-149DA29C4C8B}">
      <dsp:nvSpPr>
        <dsp:cNvPr id="0" name=""/>
        <dsp:cNvSpPr/>
      </dsp:nvSpPr>
      <dsp:spPr>
        <a:xfrm>
          <a:off x="0" y="1327461"/>
          <a:ext cx="8229600" cy="2951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9370" rIns="220472" bIns="39370" numCol="1" spcCol="1270" anchor="t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2400" b="1" kern="1200" smtClean="0"/>
            <a:t>Программное приложение </a:t>
          </a:r>
          <a:r>
            <a:rPr lang="ru-RU" sz="2400" kern="1200" smtClean="0"/>
            <a:t>— это компьютерная программа, ориентированная на решение задач конечного пользователя. </a:t>
          </a:r>
          <a:endParaRPr lang="ru-RU" sz="2400" kern="120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2400" b="1" kern="1200" smtClean="0"/>
            <a:t>Архитектура приложения </a:t>
          </a:r>
          <a:r>
            <a:rPr lang="ru-RU" sz="2400" kern="1200" smtClean="0"/>
            <a:t>— это описание отдельного приложения, работающего в составе ИТ-системы, включая его программные интерфейсы. </a:t>
          </a:r>
          <a:endParaRPr lang="ru-RU" sz="2400" kern="120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2400" kern="1200" smtClean="0"/>
            <a:t>Архитектура приложения базируется на ИТ-архитектуре и использует сервисы, предоставляемые ИТ-архитектурой.</a:t>
          </a:r>
          <a:endParaRPr lang="ru-RU" sz="2400" kern="1200"/>
        </a:p>
      </dsp:txBody>
      <dsp:txXfrm>
        <a:off x="0" y="1327461"/>
        <a:ext cx="8229600" cy="295181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5A32DD-41F1-4304-BE47-C20986ECCA6A}">
      <dsp:nvSpPr>
        <dsp:cNvPr id="0" name=""/>
        <dsp:cNvSpPr/>
      </dsp:nvSpPr>
      <dsp:spPr>
        <a:xfrm>
          <a:off x="0" y="1383"/>
          <a:ext cx="8229600" cy="9097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1" i="1" kern="1200" smtClean="0"/>
            <a:t>Технологическая архитектура</a:t>
          </a:r>
          <a:r>
            <a:rPr lang="ru-RU" sz="3800" b="1" kern="1200" smtClean="0"/>
            <a:t> </a:t>
          </a:r>
          <a:endParaRPr lang="ru-RU" sz="3800" kern="1200"/>
        </a:p>
      </dsp:txBody>
      <dsp:txXfrm>
        <a:off x="44411" y="45794"/>
        <a:ext cx="8140778" cy="820933"/>
      </dsp:txXfrm>
    </dsp:sp>
    <dsp:sp modelId="{68670091-62E1-4AE2-83DB-E2A8831AAC7E}">
      <dsp:nvSpPr>
        <dsp:cNvPr id="0" name=""/>
        <dsp:cNvSpPr/>
      </dsp:nvSpPr>
      <dsp:spPr>
        <a:xfrm>
          <a:off x="0" y="911139"/>
          <a:ext cx="8229600" cy="3461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48260" rIns="270256" bIns="48260" numCol="1" spcCol="1270" anchor="t" anchorCtr="0">
          <a:noAutofit/>
        </a:bodyPr>
        <a:lstStyle/>
        <a:p>
          <a:pPr marL="285750" lvl="1" indent="-285750" algn="l" defTabSz="13335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3000" kern="1200" smtClean="0"/>
            <a:t>характеризует программно-аппаратные средства информационных систем и включает такие элементы, как процессор, память, жесткие диски, периферийные устройства, элементы для их соединения, операционные системы, а также сетевые средства.</a:t>
          </a:r>
          <a:endParaRPr lang="ru-RU" sz="3000" kern="1200"/>
        </a:p>
      </dsp:txBody>
      <dsp:txXfrm>
        <a:off x="0" y="911139"/>
        <a:ext cx="8229600" cy="3461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CAC2D151-D627-4F24-9CAA-A5ACC4B34989}" type="datetimeFigureOut">
              <a:rPr lang="ru-RU" smtClean="0"/>
              <a:t>08.09.2016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DB963AB1-2A1F-44C2-B3DB-4A3B4845F5B9}" type="slidenum">
              <a:rPr lang="ru-RU" smtClean="0"/>
              <a:t>‹#›</a:t>
            </a:fld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Прямоугольник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Прямоугольник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2D151-D627-4F24-9CAA-A5ACC4B34989}" type="datetimeFigureOut">
              <a:rPr lang="ru-RU" smtClean="0"/>
              <a:t>08.09.2016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63AB1-2A1F-44C2-B3DB-4A3B4845F5B9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CAC2D151-D627-4F24-9CAA-A5ACC4B34989}" type="datetimeFigureOut">
              <a:rPr lang="ru-RU" smtClean="0"/>
              <a:t>08.09.2016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DB963AB1-2A1F-44C2-B3DB-4A3B4845F5B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2D151-D627-4F24-9CAA-A5ACC4B34989}" type="datetimeFigureOut">
              <a:rPr lang="ru-RU" smtClean="0"/>
              <a:t>08.09.2016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63AB1-2A1F-44C2-B3DB-4A3B4845F5B9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Объект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2D151-D627-4F24-9CAA-A5ACC4B34989}" type="datetimeFigureOut">
              <a:rPr lang="ru-RU" smtClean="0"/>
              <a:t>08.09.2016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63AB1-2A1F-44C2-B3DB-4A3B4845F5B9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2D151-D627-4F24-9CAA-A5ACC4B34989}" type="datetimeFigureOut">
              <a:rPr lang="ru-RU" smtClean="0"/>
              <a:t>08.09.2016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63AB1-2A1F-44C2-B3DB-4A3B4845F5B9}" type="slidenum">
              <a:rPr lang="ru-RU" smtClean="0"/>
              <a:t>‹#›</a:t>
            </a:fld>
            <a:endParaRPr lang="ru-RU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2D151-D627-4F24-9CAA-A5ACC4B34989}" type="datetimeFigureOut">
              <a:rPr lang="ru-RU" smtClean="0"/>
              <a:t>08.09.2016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63AB1-2A1F-44C2-B3DB-4A3B4845F5B9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Прямая соединительная линия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2D151-D627-4F24-9CAA-A5ACC4B34989}" type="datetimeFigureOut">
              <a:rPr lang="ru-RU" smtClean="0"/>
              <a:t>08.09.2016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63AB1-2A1F-44C2-B3DB-4A3B4845F5B9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Объект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2D151-D627-4F24-9CAA-A5ACC4B34989}" type="datetimeFigureOut">
              <a:rPr lang="ru-RU" smtClean="0"/>
              <a:t>08.09.2016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63AB1-2A1F-44C2-B3DB-4A3B4845F5B9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2D151-D627-4F24-9CAA-A5ACC4B34989}" type="datetimeFigureOut">
              <a:rPr lang="ru-RU" smtClean="0"/>
              <a:t>08.09.2016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63AB1-2A1F-44C2-B3DB-4A3B4845F5B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2D151-D627-4F24-9CAA-A5ACC4B34989}" type="datetimeFigureOut">
              <a:rPr lang="ru-RU" smtClean="0"/>
              <a:t>08.09.2016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63AB1-2A1F-44C2-B3DB-4A3B4845F5B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Равнобедренный треугольник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AC2D151-D627-4F24-9CAA-A5ACC4B34989}" type="datetimeFigureOut">
              <a:rPr lang="ru-RU" smtClean="0"/>
              <a:t>08.09.2016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B963AB1-2A1F-44C2-B3DB-4A3B4845F5B9}" type="slidenum">
              <a:rPr lang="ru-RU" smtClean="0"/>
              <a:t>‹#›</a:t>
            </a:fld>
            <a:endParaRPr lang="ru-RU"/>
          </a:p>
        </p:txBody>
      </p:sp>
      <p:sp>
        <p:nvSpPr>
          <p:cNvPr id="28" name="Прямая соединительная линия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Прямая соединительная линия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Равнобедренный треугольник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Архитектура ИС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968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По словарю: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556792"/>
            <a:ext cx="8229600" cy="4569371"/>
          </a:xfrm>
        </p:spPr>
        <p:txBody>
          <a:bodyPr>
            <a:noAutofit/>
          </a:bodyPr>
          <a:lstStyle/>
          <a:p>
            <a:r>
              <a:rPr lang="ru-RU" sz="2200" b="1" dirty="0" smtClean="0">
                <a:latin typeface="Arial" pitchFamily="34" charset="0"/>
                <a:cs typeface="Arial" pitchFamily="34" charset="0"/>
              </a:rPr>
              <a:t>Информационная </a:t>
            </a:r>
            <a:r>
              <a:rPr lang="ru-RU" sz="2200" b="1" dirty="0">
                <a:latin typeface="Arial" pitchFamily="34" charset="0"/>
                <a:cs typeface="Arial" pitchFamily="34" charset="0"/>
              </a:rPr>
              <a:t>система 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– организационно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упорядоченная совокупность 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документов (массивов документов) и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информационных технологий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, в том числе с использованием средств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вычислительной техники 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и связи, реализующих информационные процессы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ru-RU" sz="2200" dirty="0">
              <a:latin typeface="Arial" pitchFamily="34" charset="0"/>
              <a:cs typeface="Arial" pitchFamily="34" charset="0"/>
            </a:endParaRPr>
          </a:p>
          <a:p>
            <a:r>
              <a:rPr lang="ru-RU" sz="2200" dirty="0">
                <a:latin typeface="Arial" pitchFamily="34" charset="0"/>
                <a:cs typeface="Arial" pitchFamily="34" charset="0"/>
              </a:rPr>
              <a:t>Информационные системы предназначены для хранения,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обработки, поиска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, распространения, передачи и предоставления информации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ru-RU" sz="2200" dirty="0">
              <a:latin typeface="Arial" pitchFamily="34" charset="0"/>
              <a:cs typeface="Arial" pitchFamily="34" charset="0"/>
            </a:endParaRPr>
          </a:p>
          <a:p>
            <a:r>
              <a:rPr lang="ru-RU" sz="2200" b="1" dirty="0">
                <a:latin typeface="Arial" pitchFamily="34" charset="0"/>
                <a:cs typeface="Arial" pitchFamily="34" charset="0"/>
              </a:rPr>
              <a:t>Архитектура информационной системы 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–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концепция, определяющая 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модель, структуру, выполняемые функции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и взаимосвязь </a:t>
            </a:r>
            <a:r>
              <a:rPr lang="ru-RU" sz="2200" dirty="0">
                <a:latin typeface="Arial" pitchFamily="34" charset="0"/>
                <a:cs typeface="Arial" pitchFamily="34" charset="0"/>
              </a:rPr>
              <a:t>компонентов информационной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3458424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000" b="1" dirty="0" smtClean="0">
                <a:solidFill>
                  <a:srgbClr val="FF0000"/>
                </a:solidFill>
              </a:rPr>
              <a:t>Простыми словами: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smtClean="0"/>
              <a:t>Информационная </a:t>
            </a:r>
            <a:r>
              <a:rPr lang="ru-RU" b="1" dirty="0"/>
              <a:t>система </a:t>
            </a:r>
            <a:r>
              <a:rPr lang="ru-RU" dirty="0"/>
              <a:t>– это совокупность </a:t>
            </a:r>
            <a:r>
              <a:rPr lang="ru-RU" dirty="0" smtClean="0"/>
              <a:t>программного обеспечения </a:t>
            </a:r>
            <a:r>
              <a:rPr lang="ru-RU" dirty="0"/>
              <a:t>решающего определенную прикладную задачу.</a:t>
            </a:r>
          </a:p>
          <a:p>
            <a:r>
              <a:rPr lang="ru-RU" b="1" dirty="0"/>
              <a:t>Архитектура информационной системы </a:t>
            </a:r>
            <a:r>
              <a:rPr lang="ru-RU" dirty="0"/>
              <a:t>– абстрактное </a:t>
            </a:r>
            <a:r>
              <a:rPr lang="ru-RU" dirty="0" smtClean="0"/>
              <a:t>понятие, определяющее </a:t>
            </a:r>
            <a:r>
              <a:rPr lang="ru-RU" dirty="0"/>
              <a:t>из каких составных частей (элементов, </a:t>
            </a:r>
            <a:r>
              <a:rPr lang="ru-RU" dirty="0" smtClean="0"/>
              <a:t>компонент) состоит </a:t>
            </a:r>
            <a:r>
              <a:rPr lang="ru-RU" dirty="0"/>
              <a:t>приложение и как эти части между собой взаимодействуют.</a:t>
            </a:r>
          </a:p>
          <a:p>
            <a:r>
              <a:rPr lang="ru-RU" dirty="0"/>
              <a:t>Под </a:t>
            </a:r>
            <a:r>
              <a:rPr lang="ru-RU" b="1" dirty="0"/>
              <a:t>составными частями (элементами, </a:t>
            </a:r>
            <a:r>
              <a:rPr lang="ru-RU" b="1" dirty="0" smtClean="0"/>
              <a:t>компонентами) </a:t>
            </a:r>
            <a:r>
              <a:rPr lang="ru-RU" dirty="0" smtClean="0"/>
              <a:t>приложения </a:t>
            </a:r>
            <a:r>
              <a:rPr lang="ru-RU" dirty="0"/>
              <a:t>обычно понимаются программы или </a:t>
            </a:r>
            <a:r>
              <a:rPr lang="ru-RU" dirty="0" smtClean="0"/>
              <a:t>программные модули </a:t>
            </a:r>
            <a:r>
              <a:rPr lang="ru-RU" dirty="0"/>
              <a:t>выполняющие отдельные, относительно </a:t>
            </a:r>
            <a:r>
              <a:rPr lang="ru-RU" dirty="0" smtClean="0"/>
              <a:t>изолированные задачи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6506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Какие задачи решаются в рамках </a:t>
            </a:r>
            <a:r>
              <a:rPr lang="ru-RU" sz="3000" b="1" dirty="0" smtClean="0">
                <a:solidFill>
                  <a:srgbClr val="FF0000"/>
                </a:solidFill>
              </a:rPr>
              <a:t/>
            </a:r>
            <a:br>
              <a:rPr lang="ru-RU" sz="3000" b="1" dirty="0" smtClean="0">
                <a:solidFill>
                  <a:srgbClr val="FF0000"/>
                </a:solidFill>
              </a:rPr>
            </a:br>
            <a:r>
              <a:rPr lang="ru-RU" sz="3000" b="1" dirty="0" smtClean="0">
                <a:solidFill>
                  <a:srgbClr val="FF0000"/>
                </a:solidFill>
              </a:rPr>
              <a:t>архитектуры </a:t>
            </a:r>
            <a:r>
              <a:rPr lang="ru-RU" sz="3000" b="1" dirty="0">
                <a:solidFill>
                  <a:srgbClr val="FF0000"/>
                </a:solidFill>
              </a:rPr>
              <a:t>ИС</a:t>
            </a:r>
            <a:r>
              <a:rPr lang="ru-RU" sz="3000" b="1" dirty="0" smtClean="0">
                <a:solidFill>
                  <a:srgbClr val="FF0000"/>
                </a:solidFill>
              </a:rPr>
              <a:t>?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Конструктивно архитектура обычно определяется как набор ответов на следующие вопросы:</a:t>
            </a:r>
          </a:p>
          <a:p>
            <a:pPr lvl="1"/>
            <a:r>
              <a:rPr lang="ru-RU" dirty="0"/>
              <a:t>что делает система?;</a:t>
            </a:r>
          </a:p>
          <a:p>
            <a:pPr lvl="1"/>
            <a:r>
              <a:rPr lang="ru-RU" dirty="0"/>
              <a:t>на какие части она разделяется?;</a:t>
            </a:r>
          </a:p>
          <a:p>
            <a:pPr lvl="1"/>
            <a:r>
              <a:rPr lang="ru-RU" dirty="0"/>
              <a:t>как эти части взаимодействуют?;</a:t>
            </a:r>
          </a:p>
          <a:p>
            <a:pPr lvl="1"/>
            <a:r>
              <a:rPr lang="ru-RU" dirty="0"/>
              <a:t>где эти части размещены?.</a:t>
            </a:r>
          </a:p>
        </p:txBody>
      </p:sp>
    </p:spTree>
    <p:extLst>
      <p:ext uri="{BB962C8B-B14F-4D97-AF65-F5344CB8AC3E}">
        <p14:creationId xmlns:p14="http://schemas.microsoft.com/office/powerpoint/2010/main" val="1481908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Программный интерфейс (</a:t>
            </a:r>
            <a:r>
              <a:rPr lang="en-US" sz="3000" b="1" dirty="0">
                <a:solidFill>
                  <a:srgbClr val="FF0000"/>
                </a:solidFill>
              </a:rPr>
              <a:t>API)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Программный интерфейс или API (</a:t>
            </a:r>
            <a:r>
              <a:rPr lang="ru-RU" b="1" dirty="0" err="1"/>
              <a:t>Application</a:t>
            </a:r>
            <a:r>
              <a:rPr lang="ru-RU" b="1" dirty="0"/>
              <a:t> </a:t>
            </a:r>
            <a:r>
              <a:rPr lang="ru-RU" b="1" dirty="0" err="1"/>
              <a:t>Programming</a:t>
            </a:r>
            <a:r>
              <a:rPr lang="ru-RU" b="1" dirty="0"/>
              <a:t> </a:t>
            </a:r>
            <a:r>
              <a:rPr lang="ru-RU" b="1" dirty="0" err="1"/>
              <a:t>Interface</a:t>
            </a:r>
            <a:r>
              <a:rPr lang="ru-RU" b="1" dirty="0"/>
              <a:t>) </a:t>
            </a:r>
            <a:r>
              <a:rPr lang="ru-RU" dirty="0"/>
              <a:t>определяет способ взаимодействия составных частей (компонент) приложения</a:t>
            </a:r>
          </a:p>
          <a:p>
            <a:r>
              <a:rPr lang="ru-RU" dirty="0" smtClean="0"/>
              <a:t>Программные </a:t>
            </a:r>
            <a:r>
              <a:rPr lang="ru-RU" dirty="0"/>
              <a:t>интерфейсы бывают </a:t>
            </a:r>
            <a:r>
              <a:rPr lang="ru-RU" b="1" dirty="0"/>
              <a:t>разной природы(типа)</a:t>
            </a:r>
            <a:r>
              <a:rPr lang="ru-RU" dirty="0"/>
              <a:t>: экспортируемые функции DLL, публичные классы пакета/сборки, COM, EJB, CORBA, SOAP и т.д.</a:t>
            </a:r>
          </a:p>
          <a:p>
            <a:r>
              <a:rPr lang="ru-RU" dirty="0" smtClean="0"/>
              <a:t>Разрабатываются </a:t>
            </a:r>
            <a:r>
              <a:rPr lang="ru-RU" dirty="0"/>
              <a:t>под конкретную задачу</a:t>
            </a:r>
          </a:p>
          <a:p>
            <a:r>
              <a:rPr lang="ru-RU" dirty="0" smtClean="0"/>
              <a:t>Тяготеют </a:t>
            </a:r>
            <a:r>
              <a:rPr lang="ru-RU" dirty="0"/>
              <a:t>к унификации и стандартизации</a:t>
            </a:r>
          </a:p>
        </p:txBody>
      </p:sp>
    </p:spTree>
    <p:extLst>
      <p:ext uri="{BB962C8B-B14F-4D97-AF65-F5344CB8AC3E}">
        <p14:creationId xmlns:p14="http://schemas.microsoft.com/office/powerpoint/2010/main" val="622998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Три качества, которыми должна обладать архитектура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1268760"/>
            <a:ext cx="8201661" cy="511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092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Архитектура информационной системы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4825361"/>
              </p:ext>
            </p:extLst>
          </p:nvPr>
        </p:nvGraphicFramePr>
        <p:xfrm>
          <a:off x="457200" y="2060848"/>
          <a:ext cx="8229600" cy="4065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5273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Бизнес-Архитектура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3381023"/>
              </p:ext>
            </p:extLst>
          </p:nvPr>
        </p:nvGraphicFramePr>
        <p:xfrm>
          <a:off x="457200" y="1752600"/>
          <a:ext cx="8229600" cy="4373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624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ИТ-архитектура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8424702"/>
              </p:ext>
            </p:extLst>
          </p:nvPr>
        </p:nvGraphicFramePr>
        <p:xfrm>
          <a:off x="457200" y="1752600"/>
          <a:ext cx="8229600" cy="4373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8231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Архитектура данных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1735306"/>
              </p:ext>
            </p:extLst>
          </p:nvPr>
        </p:nvGraphicFramePr>
        <p:xfrm>
          <a:off x="457200" y="1752600"/>
          <a:ext cx="8229600" cy="4373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251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Программная архитектура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9323104"/>
              </p:ext>
            </p:extLst>
          </p:nvPr>
        </p:nvGraphicFramePr>
        <p:xfrm>
          <a:off x="457200" y="1752600"/>
          <a:ext cx="8229600" cy="4373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4798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Технологическая архитектура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3445733"/>
              </p:ext>
            </p:extLst>
          </p:nvPr>
        </p:nvGraphicFramePr>
        <p:xfrm>
          <a:off x="457200" y="1752600"/>
          <a:ext cx="8229600" cy="4373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7374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Классификация информационных систем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Используется </a:t>
            </a:r>
            <a:r>
              <a:rPr lang="ru-RU" sz="2400" b="1" i="1" dirty="0" smtClean="0"/>
              <a:t>доменный </a:t>
            </a:r>
            <a:r>
              <a:rPr lang="ru-RU" sz="2400" b="1" i="1" dirty="0"/>
              <a:t>подход </a:t>
            </a:r>
            <a:r>
              <a:rPr lang="ru-RU" sz="2400" dirty="0"/>
              <a:t>к описанию ИТ-архитектур. </a:t>
            </a:r>
            <a:endParaRPr lang="ru-RU" sz="2400" dirty="0" smtClean="0"/>
          </a:p>
          <a:p>
            <a:pPr lvl="1"/>
            <a:r>
              <a:rPr lang="ru-RU" sz="2000" dirty="0" smtClean="0"/>
              <a:t>Под </a:t>
            </a:r>
            <a:r>
              <a:rPr lang="ru-RU" sz="2000" dirty="0"/>
              <a:t>доменной архитектурой </a:t>
            </a:r>
            <a:r>
              <a:rPr lang="ru-RU" sz="2000" dirty="0" smtClean="0"/>
              <a:t>понимают </a:t>
            </a:r>
            <a:r>
              <a:rPr lang="ru-RU" sz="2000" dirty="0"/>
              <a:t>эталонную модель, описывающую множество систем, </a:t>
            </a:r>
            <a:r>
              <a:rPr lang="ru-RU" sz="2000" dirty="0" smtClean="0"/>
              <a:t>которые </a:t>
            </a:r>
            <a:r>
              <a:rPr lang="ru-RU" sz="2000" dirty="0"/>
              <a:t>реализуют похожую структуру, функциональность и поведение</a:t>
            </a:r>
            <a:r>
              <a:rPr lang="ru-RU" sz="2000" dirty="0" smtClean="0"/>
              <a:t>.</a:t>
            </a:r>
          </a:p>
          <a:p>
            <a:r>
              <a:rPr lang="ru-RU" sz="2400" dirty="0"/>
              <a:t>Можно выделить следующие основные характеристики домена задач:</a:t>
            </a:r>
          </a:p>
          <a:p>
            <a:pPr lvl="1"/>
            <a:r>
              <a:rPr lang="ru-RU" sz="2000" dirty="0"/>
              <a:t>характер решаемых задач;</a:t>
            </a:r>
          </a:p>
          <a:p>
            <a:pPr lvl="1"/>
            <a:r>
              <a:rPr lang="ru-RU" sz="2000" dirty="0"/>
              <a:t>тип домена;</a:t>
            </a:r>
          </a:p>
          <a:p>
            <a:pPr lvl="1"/>
            <a:r>
              <a:rPr lang="ru-RU" sz="2000" dirty="0"/>
              <a:t>предметная область;</a:t>
            </a:r>
          </a:p>
          <a:p>
            <a:pPr lvl="1"/>
            <a:r>
              <a:rPr lang="ru-RU" sz="2000" dirty="0"/>
              <a:t>степень автоматизации;</a:t>
            </a:r>
          </a:p>
          <a:p>
            <a:pPr lvl="1"/>
            <a:r>
              <a:rPr lang="ru-RU" sz="2000" dirty="0"/>
              <a:t>масштаб применения.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486296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Классификация информационных систем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sz="2400" dirty="0"/>
          </a:p>
        </p:txBody>
      </p:sp>
      <p:pic>
        <p:nvPicPr>
          <p:cNvPr id="4" name="Picture 2" descr="image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3" y="1124744"/>
            <a:ext cx="6766547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9609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Классификация информационных систем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sz="24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4"/>
          <a:stretch/>
        </p:blipFill>
        <p:spPr bwMode="auto">
          <a:xfrm>
            <a:off x="674125" y="1112108"/>
            <a:ext cx="7222815" cy="5529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8458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Классификация информационных систем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2400" b="1" i="1" dirty="0"/>
              <a:t>Клиент</a:t>
            </a:r>
            <a:r>
              <a:rPr lang="en-US" sz="2400" b="1" i="1" dirty="0"/>
              <a:t> (client)</a:t>
            </a:r>
            <a:r>
              <a:rPr lang="ru-RU" sz="2400" dirty="0"/>
              <a:t> – пользователь и (или) компьютер, использующий какие-либо программные сервисы</a:t>
            </a:r>
          </a:p>
          <a:p>
            <a:r>
              <a:rPr lang="ru-RU" sz="2400" b="1" i="1" dirty="0"/>
              <a:t>Сервер (</a:t>
            </a:r>
            <a:r>
              <a:rPr lang="en-US" sz="2400" b="1" i="1" dirty="0"/>
              <a:t>server)</a:t>
            </a:r>
            <a:r>
              <a:rPr lang="ru-RU" sz="2400" b="1" dirty="0"/>
              <a:t> </a:t>
            </a:r>
            <a:r>
              <a:rPr lang="ru-RU" sz="2400" dirty="0"/>
              <a:t>– компьютер или центр обработки данных, предоставляющий программные сервисы</a:t>
            </a:r>
            <a:endParaRPr lang="en-US" sz="2400" dirty="0"/>
          </a:p>
          <a:p>
            <a:r>
              <a:rPr lang="ru-RU" sz="2400" b="1" i="1" dirty="0"/>
              <a:t>Тонкий клиент (</a:t>
            </a:r>
            <a:r>
              <a:rPr lang="en-US" sz="2400" b="1" i="1" dirty="0"/>
              <a:t>thin client)</a:t>
            </a:r>
            <a:r>
              <a:rPr lang="en-US" sz="2400" b="1" dirty="0"/>
              <a:t> </a:t>
            </a:r>
            <a:r>
              <a:rPr lang="en-US" sz="2400" dirty="0"/>
              <a:t>– </a:t>
            </a:r>
            <a:r>
              <a:rPr lang="ru-RU" sz="2400" dirty="0"/>
              <a:t>клиент с минимальным пользовательским интерфейсом – не имеющий состояния, сеанса, полнофункционального </a:t>
            </a:r>
            <a:r>
              <a:rPr lang="en-US" sz="2400" dirty="0"/>
              <a:t>GUI</a:t>
            </a:r>
            <a:endParaRPr lang="ru-RU" sz="2400" dirty="0"/>
          </a:p>
          <a:p>
            <a:r>
              <a:rPr lang="en-US" sz="2400" b="1" i="1" dirty="0"/>
              <a:t>Rich  client (</a:t>
            </a:r>
            <a:r>
              <a:rPr lang="ru-RU" sz="2400" b="1" i="1" dirty="0"/>
              <a:t>полнофункциональный клиент)</a:t>
            </a:r>
            <a:r>
              <a:rPr lang="ru-RU" sz="2400" dirty="0"/>
              <a:t> – клиент, имеющий полнофункциональный </a:t>
            </a:r>
            <a:r>
              <a:rPr lang="en-US" sz="2400" dirty="0"/>
              <a:t>GUI </a:t>
            </a:r>
            <a:r>
              <a:rPr lang="ru-RU" sz="2400" dirty="0"/>
              <a:t>и общающийся с сервером через слой промежуточного программного интерфейса (</a:t>
            </a:r>
            <a:r>
              <a:rPr lang="en-US" sz="2400" dirty="0"/>
              <a:t>middleware), </a:t>
            </a:r>
            <a:r>
              <a:rPr lang="ru-RU" sz="2400" dirty="0"/>
              <a:t>обеспечивающий его функциональность</a:t>
            </a:r>
            <a:r>
              <a:rPr lang="en-US" sz="2400" dirty="0"/>
              <a:t>; </a:t>
            </a:r>
            <a:endParaRPr lang="ru-RU" sz="2400" i="1" dirty="0"/>
          </a:p>
          <a:p>
            <a:r>
              <a:rPr lang="ru-RU" sz="2400" b="1" i="1" dirty="0"/>
              <a:t>Слой (</a:t>
            </a:r>
            <a:r>
              <a:rPr lang="en-US" sz="2400" b="1" i="1" dirty="0"/>
              <a:t>layer) </a:t>
            </a:r>
            <a:r>
              <a:rPr lang="en-US" sz="2400" dirty="0"/>
              <a:t>– </a:t>
            </a:r>
            <a:r>
              <a:rPr lang="ru-RU" sz="2400" dirty="0"/>
              <a:t>крупная независимая компонента архитектуры ПО</a:t>
            </a:r>
          </a:p>
          <a:p>
            <a:r>
              <a:rPr lang="ru-RU" sz="2400" b="1" i="1" dirty="0"/>
              <a:t>Уровень абстракции (</a:t>
            </a:r>
            <a:r>
              <a:rPr lang="en-US" sz="2400" b="1" i="1" dirty="0"/>
              <a:t>abstraction layer)</a:t>
            </a:r>
            <a:r>
              <a:rPr lang="en-US" sz="2400" b="1" dirty="0"/>
              <a:t> </a:t>
            </a:r>
            <a:r>
              <a:rPr lang="en-US" sz="2400" dirty="0"/>
              <a:t>– “</a:t>
            </a:r>
            <a:r>
              <a:rPr lang="ru-RU" sz="2400" dirty="0"/>
              <a:t>горизонтальный слой</a:t>
            </a:r>
            <a:r>
              <a:rPr lang="en-US" sz="2400" dirty="0"/>
              <a:t>” (</a:t>
            </a:r>
            <a:r>
              <a:rPr lang="ru-RU" sz="2400" dirty="0"/>
              <a:t>номер </a:t>
            </a:r>
            <a:r>
              <a:rPr lang="en-US" sz="2400" i="1" dirty="0"/>
              <a:t>N); </a:t>
            </a:r>
            <a:r>
              <a:rPr lang="ru-RU" sz="2400" dirty="0"/>
              <a:t>совокупность модулей, реализация которых использует только модули уровня </a:t>
            </a:r>
            <a:r>
              <a:rPr lang="en-US" sz="2400" i="1" dirty="0"/>
              <a:t>N-1 (N &gt; 0).  </a:t>
            </a:r>
            <a:endParaRPr lang="en-US" sz="2400" dirty="0"/>
          </a:p>
          <a:p>
            <a:r>
              <a:rPr lang="ru-RU" sz="2400" b="1" i="1" dirty="0"/>
              <a:t>Вертикальный срез (аспект) </a:t>
            </a:r>
            <a:r>
              <a:rPr lang="ru-RU" sz="2400" i="1" dirty="0"/>
              <a:t>– </a:t>
            </a:r>
            <a:r>
              <a:rPr lang="ru-RU" sz="2400" dirty="0"/>
              <a:t>совокупность рассредоточенных фрагментов кода, реализующих (сквозную) функциональность, например, </a:t>
            </a:r>
            <a:r>
              <a:rPr lang="ru-RU" sz="2400"/>
              <a:t>проверку </a:t>
            </a:r>
            <a:r>
              <a:rPr lang="ru-RU" sz="2400" smtClean="0"/>
              <a:t>безопасности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2300345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Классификация информационных систем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sz="2400" b="1" i="1" dirty="0" smtClean="0"/>
              <a:t>Промежуточное </a:t>
            </a:r>
            <a:r>
              <a:rPr lang="ru-RU" sz="2400" b="1" i="1" dirty="0"/>
              <a:t>программное обеспечение</a:t>
            </a:r>
            <a:r>
              <a:rPr lang="en-US" sz="2400" b="1" i="1" dirty="0"/>
              <a:t> (middleware)</a:t>
            </a:r>
            <a:r>
              <a:rPr lang="en-US" sz="2400" b="1" dirty="0"/>
              <a:t> </a:t>
            </a:r>
            <a:r>
              <a:rPr lang="en-US" sz="2400" dirty="0"/>
              <a:t>– </a:t>
            </a:r>
            <a:r>
              <a:rPr lang="ru-RU" sz="2400" dirty="0"/>
              <a:t>совокупность слоев ПО, лежащих между клиентом и сервером</a:t>
            </a:r>
            <a:r>
              <a:rPr lang="ru-RU" sz="2400" i="1" dirty="0"/>
              <a:t> </a:t>
            </a:r>
            <a:r>
              <a:rPr lang="ru-RU" sz="2400" dirty="0"/>
              <a:t>и обеспечивающих их взаимодействие, например, поддержку сетевых коммуникационных протоколов</a:t>
            </a:r>
          </a:p>
          <a:p>
            <a:r>
              <a:rPr lang="ru-RU" sz="2400" b="1" i="1" dirty="0"/>
              <a:t>Ярус (</a:t>
            </a:r>
            <a:r>
              <a:rPr lang="en-US" sz="2400" b="1" i="1" dirty="0"/>
              <a:t>tier) </a:t>
            </a:r>
            <a:r>
              <a:rPr lang="en-US" sz="2400" i="1" dirty="0"/>
              <a:t>– </a:t>
            </a:r>
            <a:r>
              <a:rPr lang="ru-RU" sz="2400" dirty="0"/>
              <a:t>слой программного обеспечения, реализующий какую-либо независимую часть его архитектуры</a:t>
            </a:r>
            <a:r>
              <a:rPr lang="en-US" sz="2400" dirty="0"/>
              <a:t>; </a:t>
            </a:r>
            <a:r>
              <a:rPr lang="ru-RU" sz="2400" dirty="0"/>
              <a:t>например: </a:t>
            </a:r>
            <a:r>
              <a:rPr lang="en-US" sz="2400" i="1" dirty="0"/>
              <a:t>business tier</a:t>
            </a:r>
            <a:r>
              <a:rPr lang="ru-RU" sz="2400" dirty="0"/>
              <a:t> – реализация бизнес-логики</a:t>
            </a:r>
            <a:r>
              <a:rPr lang="en-US" sz="2400" dirty="0"/>
              <a:t>; </a:t>
            </a:r>
            <a:r>
              <a:rPr lang="en-US" sz="2400" i="1" dirty="0"/>
              <a:t>Web tier</a:t>
            </a:r>
            <a:r>
              <a:rPr lang="en-US" sz="2400" dirty="0"/>
              <a:t> – </a:t>
            </a:r>
            <a:r>
              <a:rPr lang="ru-RU" sz="2400" dirty="0"/>
              <a:t>реализация взаимодействия с </a:t>
            </a:r>
            <a:r>
              <a:rPr lang="en-US" sz="2400" dirty="0"/>
              <a:t>Web</a:t>
            </a:r>
            <a:endParaRPr lang="ru-RU" sz="2400" dirty="0"/>
          </a:p>
          <a:p>
            <a:r>
              <a:rPr lang="ru-RU" sz="2400" b="1" i="1" dirty="0"/>
              <a:t>Многоярусная архитектура (</a:t>
            </a:r>
            <a:r>
              <a:rPr lang="en-US" sz="2400" b="1" i="1" dirty="0"/>
              <a:t>multi-tier architecture) </a:t>
            </a:r>
            <a:r>
              <a:rPr lang="en-US" sz="2400" i="1" dirty="0"/>
              <a:t>– </a:t>
            </a:r>
            <a:r>
              <a:rPr lang="ru-RU" sz="2400" dirty="0"/>
              <a:t>архитектура ПО, при которой презентация результатов, обработка и управление данными реализованы как отдельные процессы. </a:t>
            </a:r>
            <a:r>
              <a:rPr lang="ru-RU" sz="2400" i="1" dirty="0"/>
              <a:t>Пример: </a:t>
            </a:r>
            <a:r>
              <a:rPr lang="ru-RU" sz="2400" dirty="0"/>
              <a:t>Использование </a:t>
            </a:r>
            <a:r>
              <a:rPr lang="en-US" sz="2400" dirty="0"/>
              <a:t>middleware </a:t>
            </a:r>
            <a:r>
              <a:rPr lang="ru-RU" sz="2400" dirty="0"/>
              <a:t>для взаимодействия с сервером и СУБД для взаимодействия с данными</a:t>
            </a:r>
            <a:endParaRPr lang="ru-RU" sz="2400" i="1" dirty="0"/>
          </a:p>
          <a:p>
            <a:r>
              <a:rPr lang="ru-RU" sz="2400" i="1" dirty="0" err="1"/>
              <a:t>Многоклиентская</a:t>
            </a:r>
            <a:r>
              <a:rPr lang="ru-RU" sz="2400" i="1" dirty="0"/>
              <a:t> архитектура (</a:t>
            </a:r>
            <a:r>
              <a:rPr lang="en-US" sz="2400" i="1" dirty="0"/>
              <a:t>multi-tenant architecture)</a:t>
            </a:r>
            <a:r>
              <a:rPr lang="ru-RU" sz="2400" dirty="0"/>
              <a:t> – архитектура клиент-серверного ПО, при которой один экземпляр серверного ПО, исполняемый на сервере, обслуживает несколько клиентов (</a:t>
            </a:r>
            <a:r>
              <a:rPr lang="en-US" sz="2400" i="1" dirty="0"/>
              <a:t>tenants</a:t>
            </a:r>
            <a:r>
              <a:rPr lang="ru-RU" sz="2400" dirty="0"/>
              <a:t> – букв. </a:t>
            </a:r>
            <a:r>
              <a:rPr lang="ru-RU" sz="2400" i="1" dirty="0"/>
              <a:t>клиенты</a:t>
            </a:r>
            <a:r>
              <a:rPr lang="ru-RU" sz="2400" dirty="0"/>
              <a:t>, </a:t>
            </a:r>
            <a:r>
              <a:rPr lang="ru-RU" sz="2400" i="1" dirty="0"/>
              <a:t>арендаторы</a:t>
            </a:r>
            <a:r>
              <a:rPr lang="ru-RU" sz="2400" dirty="0"/>
              <a:t>)</a:t>
            </a:r>
            <a:r>
              <a:rPr lang="en-US" sz="2400" dirty="0"/>
              <a:t>. </a:t>
            </a:r>
            <a:r>
              <a:rPr lang="ru-RU" sz="2400" i="1" dirty="0"/>
              <a:t>Пример: </a:t>
            </a:r>
            <a:r>
              <a:rPr lang="en-US" sz="2400" dirty="0"/>
              <a:t>Web-</a:t>
            </a:r>
            <a:r>
              <a:rPr lang="ru-RU" sz="2400" dirty="0"/>
              <a:t>сервис</a:t>
            </a:r>
          </a:p>
          <a:p>
            <a:r>
              <a:rPr lang="ru-RU" sz="2400" dirty="0"/>
              <a:t>Например, с точки зрения рассмотренных концепций, </a:t>
            </a:r>
            <a:r>
              <a:rPr lang="ru-RU" sz="2400" b="1" i="1" dirty="0"/>
              <a:t>облачные вычисления</a:t>
            </a:r>
            <a:r>
              <a:rPr lang="ru-RU" sz="2400" dirty="0"/>
              <a:t>  соответствуют принципам </a:t>
            </a:r>
            <a:r>
              <a:rPr lang="en-US" sz="2400" i="1" dirty="0"/>
              <a:t>multi-tiered and multi-tenant architecture</a:t>
            </a:r>
            <a:r>
              <a:rPr lang="ru-RU" sz="2400" i="1" dirty="0"/>
              <a:t>.</a:t>
            </a:r>
          </a:p>
          <a:p>
            <a:endParaRPr lang="ru-RU" sz="2400" i="1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6940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Типовые функциональные компоненты ИС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endParaRPr lang="ru-RU" b="1" dirty="0" smtClean="0"/>
          </a:p>
          <a:p>
            <a:endParaRPr lang="ru-RU" b="1" dirty="0"/>
          </a:p>
          <a:p>
            <a:endParaRPr lang="ru-RU" b="1" dirty="0" smtClean="0"/>
          </a:p>
          <a:p>
            <a:endParaRPr lang="ru-RU" b="1" dirty="0"/>
          </a:p>
          <a:p>
            <a:endParaRPr lang="ru-RU" b="1" dirty="0" smtClean="0"/>
          </a:p>
          <a:p>
            <a:endParaRPr lang="ru-RU" b="1" dirty="0"/>
          </a:p>
          <a:p>
            <a:r>
              <a:rPr lang="ru-RU" b="1" dirty="0" smtClean="0"/>
              <a:t>Пользовательский </a:t>
            </a:r>
            <a:r>
              <a:rPr lang="ru-RU" b="1" dirty="0"/>
              <a:t>интерфейс</a:t>
            </a:r>
            <a:r>
              <a:rPr lang="ru-RU" dirty="0"/>
              <a:t>-все, что связано с </a:t>
            </a:r>
            <a:r>
              <a:rPr lang="ru-RU" dirty="0" smtClean="0"/>
              <a:t>взаимодействием </a:t>
            </a:r>
            <a:r>
              <a:rPr lang="ru-RU" dirty="0"/>
              <a:t>с пользователем: нажатие кнопок, движение мыши, </a:t>
            </a:r>
            <a:r>
              <a:rPr lang="ru-RU" dirty="0" err="1"/>
              <a:t>отрисовкаизображение</a:t>
            </a:r>
            <a:r>
              <a:rPr lang="ru-RU" dirty="0"/>
              <a:t>, вывод результатов поиска и т.д.</a:t>
            </a:r>
          </a:p>
          <a:p>
            <a:r>
              <a:rPr lang="ru-RU" b="1" dirty="0" smtClean="0"/>
              <a:t>Бизнес </a:t>
            </a:r>
            <a:r>
              <a:rPr lang="ru-RU" b="1" dirty="0"/>
              <a:t>логика</a:t>
            </a:r>
            <a:r>
              <a:rPr lang="ru-RU" dirty="0"/>
              <a:t>-правила, алгоритмы реакции приложения на действия пользователя или на внутренние события, правила обработки данных</a:t>
            </a:r>
          </a:p>
          <a:p>
            <a:r>
              <a:rPr lang="ru-RU" b="1" dirty="0" smtClean="0"/>
              <a:t>Управление </a:t>
            </a:r>
            <a:r>
              <a:rPr lang="ru-RU" b="1" dirty="0"/>
              <a:t>данными</a:t>
            </a:r>
            <a:r>
              <a:rPr lang="ru-RU" dirty="0"/>
              <a:t>-хранение, выборка, модификация и удаление данных, связанных с решаемой приложением прикладной задачей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3" y="1124744"/>
            <a:ext cx="8242782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244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Пример</a:t>
            </a:r>
            <a:r>
              <a:rPr lang="ru-RU" sz="2800" dirty="0"/>
              <a:t>: </a:t>
            </a:r>
            <a:r>
              <a:rPr lang="en-US" sz="2800" b="1" i="1" dirty="0"/>
              <a:t>Microsoft Outlook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5868144" y="1219200"/>
            <a:ext cx="2818655" cy="4937760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smtClean="0"/>
              <a:t>Пользовательский интерфейс </a:t>
            </a:r>
            <a:r>
              <a:rPr lang="ru-RU" dirty="0"/>
              <a:t>– кнопки, </a:t>
            </a:r>
            <a:r>
              <a:rPr lang="ru-RU" dirty="0" smtClean="0"/>
              <a:t>меню, списки </a:t>
            </a:r>
            <a:r>
              <a:rPr lang="ru-RU" dirty="0"/>
              <a:t>писем, дерево </a:t>
            </a:r>
            <a:r>
              <a:rPr lang="ru-RU" dirty="0" smtClean="0"/>
              <a:t>папок </a:t>
            </a:r>
            <a:r>
              <a:rPr lang="en-US" dirty="0" smtClean="0"/>
              <a:t>(folders</a:t>
            </a:r>
            <a:r>
              <a:rPr lang="en-US" dirty="0"/>
              <a:t>) </a:t>
            </a:r>
            <a:r>
              <a:rPr lang="ru-RU" dirty="0"/>
              <a:t>и т.д.</a:t>
            </a:r>
          </a:p>
          <a:p>
            <a:r>
              <a:rPr lang="ru-RU" b="1" dirty="0"/>
              <a:t>Бизнес логика </a:t>
            </a:r>
            <a:r>
              <a:rPr lang="ru-RU" dirty="0"/>
              <a:t>– </a:t>
            </a:r>
            <a:r>
              <a:rPr lang="ru-RU" dirty="0" smtClean="0"/>
              <a:t>правила обработки </a:t>
            </a:r>
            <a:r>
              <a:rPr lang="ru-RU" dirty="0"/>
              <a:t>писем (</a:t>
            </a:r>
            <a:r>
              <a:rPr lang="en-US" dirty="0"/>
              <a:t>Rules</a:t>
            </a:r>
            <a:r>
              <a:rPr lang="en-US" dirty="0" smtClean="0"/>
              <a:t>),</a:t>
            </a:r>
            <a:r>
              <a:rPr lang="ru-RU" dirty="0" smtClean="0"/>
              <a:t> получение </a:t>
            </a:r>
            <a:r>
              <a:rPr lang="ru-RU" dirty="0"/>
              <a:t>и отправка </a:t>
            </a:r>
            <a:r>
              <a:rPr lang="ru-RU" dirty="0" smtClean="0"/>
              <a:t>писем, оповещения </a:t>
            </a:r>
            <a:r>
              <a:rPr lang="ru-RU" dirty="0"/>
              <a:t>о </a:t>
            </a:r>
            <a:r>
              <a:rPr lang="ru-RU" dirty="0" smtClean="0"/>
              <a:t>наступлении встреч </a:t>
            </a:r>
            <a:r>
              <a:rPr lang="ru-RU" dirty="0"/>
              <a:t>(</a:t>
            </a:r>
            <a:r>
              <a:rPr lang="en-US" dirty="0"/>
              <a:t>Meetings), </a:t>
            </a:r>
            <a:r>
              <a:rPr lang="ru-RU" dirty="0" smtClean="0"/>
              <a:t>событий </a:t>
            </a:r>
            <a:r>
              <a:rPr lang="en-US" dirty="0" smtClean="0"/>
              <a:t>(Events</a:t>
            </a:r>
            <a:r>
              <a:rPr lang="en-US" dirty="0"/>
              <a:t>), </a:t>
            </a:r>
            <a:r>
              <a:rPr lang="ru-RU" dirty="0" err="1" smtClean="0"/>
              <a:t>журналирование</a:t>
            </a:r>
            <a:r>
              <a:rPr lang="ru-RU" dirty="0" smtClean="0"/>
              <a:t> действий </a:t>
            </a:r>
            <a:r>
              <a:rPr lang="ru-RU" dirty="0"/>
              <a:t>пользователя и т.д.</a:t>
            </a:r>
          </a:p>
          <a:p>
            <a:r>
              <a:rPr lang="ru-RU" b="1" dirty="0"/>
              <a:t>Управление данными </a:t>
            </a:r>
            <a:r>
              <a:rPr lang="ru-RU" dirty="0" smtClean="0"/>
              <a:t>–хранение </a:t>
            </a:r>
            <a:r>
              <a:rPr lang="ru-RU" dirty="0"/>
              <a:t>писем, </a:t>
            </a:r>
            <a:r>
              <a:rPr lang="ru-RU" dirty="0" smtClean="0"/>
              <a:t>контактов, данных </a:t>
            </a:r>
            <a:r>
              <a:rPr lang="ru-RU" dirty="0"/>
              <a:t>о </a:t>
            </a:r>
            <a:r>
              <a:rPr lang="ru-RU" dirty="0" smtClean="0"/>
              <a:t>совещаниях, событиях </a:t>
            </a:r>
            <a:r>
              <a:rPr lang="ru-RU" dirty="0"/>
              <a:t>и т.д.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68760"/>
            <a:ext cx="5544615" cy="4153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947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Классификация архитектур ИС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96751"/>
            <a:ext cx="8100392" cy="5324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8953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Централизованная архитектура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70-e годы. Эпоха </a:t>
            </a:r>
            <a:r>
              <a:rPr lang="ru-RU" dirty="0" err="1"/>
              <a:t>мейнфреймов</a:t>
            </a:r>
            <a:r>
              <a:rPr lang="ru-RU" dirty="0"/>
              <a:t> - больших централизованных ЭВМ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3" y="1988840"/>
            <a:ext cx="8296275" cy="470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189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Централизованная архитектура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Основные </a:t>
            </a:r>
            <a:r>
              <a:rPr lang="ru-RU" b="1" dirty="0"/>
              <a:t>особенности:</a:t>
            </a:r>
            <a:endParaRPr lang="ru-RU" dirty="0"/>
          </a:p>
          <a:p>
            <a:r>
              <a:rPr lang="ru-RU" dirty="0" smtClean="0"/>
              <a:t>Все </a:t>
            </a:r>
            <a:r>
              <a:rPr lang="ru-RU" dirty="0"/>
              <a:t>базовые функции приложения реализуются в одной месте</a:t>
            </a:r>
          </a:p>
          <a:p>
            <a:r>
              <a:rPr lang="ru-RU" dirty="0" smtClean="0"/>
              <a:t>Все </a:t>
            </a:r>
            <a:r>
              <a:rPr lang="ru-RU" dirty="0"/>
              <a:t>пользователи работают одновременно на одном компьютере</a:t>
            </a:r>
          </a:p>
          <a:p>
            <a:pPr marL="0" indent="0">
              <a:buNone/>
            </a:pPr>
            <a:r>
              <a:rPr lang="ru-RU" b="1" dirty="0"/>
              <a:t>Плюсы:</a:t>
            </a:r>
            <a:endParaRPr lang="ru-RU" dirty="0"/>
          </a:p>
          <a:p>
            <a:r>
              <a:rPr lang="ru-RU" dirty="0" smtClean="0"/>
              <a:t>«</a:t>
            </a:r>
            <a:r>
              <a:rPr lang="ru-RU" dirty="0"/>
              <a:t>Нулевое» администрирование рабочих мест пользователей</a:t>
            </a:r>
          </a:p>
          <a:p>
            <a:r>
              <a:rPr lang="ru-RU" dirty="0" smtClean="0"/>
              <a:t>Централизованная </a:t>
            </a:r>
            <a:r>
              <a:rPr lang="ru-RU" dirty="0"/>
              <a:t>разработка и обслуживание системы</a:t>
            </a:r>
          </a:p>
          <a:p>
            <a:pPr marL="0" indent="0">
              <a:buNone/>
            </a:pPr>
            <a:r>
              <a:rPr lang="ru-RU" b="1" dirty="0"/>
              <a:t>Минусы:</a:t>
            </a:r>
            <a:endParaRPr lang="ru-RU" dirty="0"/>
          </a:p>
          <a:p>
            <a:r>
              <a:rPr lang="ru-RU" dirty="0" smtClean="0"/>
              <a:t>Дорогая </a:t>
            </a:r>
            <a:r>
              <a:rPr lang="ru-RU" dirty="0"/>
              <a:t>аппаратура оправдана только для больших систем</a:t>
            </a:r>
          </a:p>
          <a:p>
            <a:r>
              <a:rPr lang="ru-RU" dirty="0" smtClean="0"/>
              <a:t>Взаимная </a:t>
            </a:r>
            <a:r>
              <a:rPr lang="ru-RU" dirty="0"/>
              <a:t>зависимость пользователей на программном уровне</a:t>
            </a:r>
          </a:p>
        </p:txBody>
      </p:sp>
    </p:spTree>
    <p:extLst>
      <p:ext uri="{BB962C8B-B14F-4D97-AF65-F5344CB8AC3E}">
        <p14:creationId xmlns:p14="http://schemas.microsoft.com/office/powerpoint/2010/main" val="1736972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Персональный компьютер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Начало </a:t>
            </a:r>
            <a:r>
              <a:rPr lang="ru-RU" dirty="0"/>
              <a:t>80-х —персональные компьютеры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988840"/>
            <a:ext cx="7215702" cy="395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40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Персональный компьютер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Основные особенности:</a:t>
            </a:r>
            <a:endParaRPr lang="ru-RU" dirty="0"/>
          </a:p>
          <a:p>
            <a:r>
              <a:rPr lang="ru-RU" dirty="0" smtClean="0"/>
              <a:t>Все </a:t>
            </a:r>
            <a:r>
              <a:rPr lang="ru-RU" dirty="0"/>
              <a:t>базовые функции приложения реализуются в одной месте</a:t>
            </a:r>
          </a:p>
          <a:p>
            <a:r>
              <a:rPr lang="ru-RU" dirty="0" smtClean="0"/>
              <a:t>Однопользовательский </a:t>
            </a:r>
            <a:r>
              <a:rPr lang="ru-RU" dirty="0"/>
              <a:t>режим работы приложений</a:t>
            </a:r>
          </a:p>
          <a:p>
            <a:pPr marL="0" indent="0">
              <a:buNone/>
            </a:pPr>
            <a:r>
              <a:rPr lang="ru-RU" b="1" dirty="0"/>
              <a:t>Плюсы:</a:t>
            </a:r>
            <a:endParaRPr lang="ru-RU" dirty="0"/>
          </a:p>
          <a:p>
            <a:r>
              <a:rPr lang="ru-RU" dirty="0" smtClean="0"/>
              <a:t>Полная </a:t>
            </a:r>
            <a:r>
              <a:rPr lang="ru-RU" dirty="0"/>
              <a:t>автономность работы. Мобильность приложений.</a:t>
            </a:r>
          </a:p>
          <a:p>
            <a:r>
              <a:rPr lang="ru-RU" dirty="0" smtClean="0"/>
              <a:t>Развитый </a:t>
            </a:r>
            <a:r>
              <a:rPr lang="ru-RU" dirty="0"/>
              <a:t>пользовательский интерфейс -как следствие монополизации аппаратного обеспечения.</a:t>
            </a:r>
          </a:p>
          <a:p>
            <a:pPr marL="0" indent="0">
              <a:buNone/>
            </a:pPr>
            <a:r>
              <a:rPr lang="ru-RU" b="1" dirty="0"/>
              <a:t>Минусы:</a:t>
            </a:r>
            <a:endParaRPr lang="ru-RU" dirty="0"/>
          </a:p>
          <a:p>
            <a:r>
              <a:rPr lang="ru-RU" dirty="0" smtClean="0"/>
              <a:t>Серьезные </a:t>
            </a:r>
            <a:r>
              <a:rPr lang="ru-RU" dirty="0"/>
              <a:t>ограничения в вычислительной мощности</a:t>
            </a:r>
          </a:p>
          <a:p>
            <a:r>
              <a:rPr lang="ru-RU" dirty="0" smtClean="0"/>
              <a:t>Крайне </a:t>
            </a:r>
            <a:r>
              <a:rPr lang="ru-RU" dirty="0"/>
              <a:t>затруднен обмен данными. Дублирование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169132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Архитектура «файл-сервер»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788024" y="1219200"/>
            <a:ext cx="3898776" cy="493776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Появились локальные сети. Файлы начали передаваться по сети. Сначала были </a:t>
            </a:r>
            <a:r>
              <a:rPr lang="ru-RU" dirty="0" err="1"/>
              <a:t>одноранговые</a:t>
            </a:r>
            <a:r>
              <a:rPr lang="ru-RU" dirty="0"/>
              <a:t> сети - все компьютеры равноправны. 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Потом </a:t>
            </a:r>
            <a:r>
              <a:rPr lang="ru-RU" dirty="0"/>
              <a:t>возникла идея хранения всех общедоступных файлов на выделенном компьютере в сети - файл-сервере.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528" y="1340768"/>
            <a:ext cx="4909872" cy="4489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4447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Архитектура «файл-сервер»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1271658"/>
            <a:ext cx="7975277" cy="5181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1459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Архитектура «файл-сервер»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Основные особенности:</a:t>
            </a:r>
            <a:endParaRPr lang="ru-RU" dirty="0"/>
          </a:p>
          <a:p>
            <a:r>
              <a:rPr lang="ru-RU" dirty="0" smtClean="0"/>
              <a:t>Функция </a:t>
            </a:r>
            <a:r>
              <a:rPr lang="ru-RU" dirty="0"/>
              <a:t>хранения данных вынесена на выделенный компьютер -файл-сервер</a:t>
            </a:r>
          </a:p>
          <a:p>
            <a:r>
              <a:rPr lang="ru-RU" dirty="0" smtClean="0"/>
              <a:t>Поддержка </a:t>
            </a:r>
            <a:r>
              <a:rPr lang="ru-RU" dirty="0"/>
              <a:t>многопользовательской работы</a:t>
            </a:r>
          </a:p>
          <a:p>
            <a:pPr marL="0" indent="0">
              <a:buNone/>
            </a:pPr>
            <a:r>
              <a:rPr lang="ru-RU" b="1" dirty="0"/>
              <a:t>Плюсы:</a:t>
            </a:r>
            <a:endParaRPr lang="ru-RU" dirty="0"/>
          </a:p>
          <a:p>
            <a:r>
              <a:rPr lang="ru-RU" dirty="0" smtClean="0"/>
              <a:t>Многопользовательский </a:t>
            </a:r>
            <a:r>
              <a:rPr lang="ru-RU" dirty="0"/>
              <a:t>режим работы с данными</a:t>
            </a:r>
          </a:p>
          <a:p>
            <a:r>
              <a:rPr lang="ru-RU" dirty="0" smtClean="0"/>
              <a:t>Удобство </a:t>
            </a:r>
            <a:r>
              <a:rPr lang="ru-RU" dirty="0"/>
              <a:t>централизованного управления доступом</a:t>
            </a:r>
          </a:p>
          <a:p>
            <a:pPr marL="0" indent="0">
              <a:buNone/>
            </a:pPr>
            <a:r>
              <a:rPr lang="ru-RU" b="1" dirty="0"/>
              <a:t>Минусы:</a:t>
            </a:r>
            <a:endParaRPr lang="ru-RU" dirty="0"/>
          </a:p>
          <a:p>
            <a:r>
              <a:rPr lang="ru-RU" dirty="0" smtClean="0"/>
              <a:t>Проблемы </a:t>
            </a:r>
            <a:r>
              <a:rPr lang="ru-RU" dirty="0"/>
              <a:t>многопользовательской работы с данными: последовательный доступ, отсутствие гарантии целостности</a:t>
            </a:r>
          </a:p>
        </p:txBody>
      </p:sp>
    </p:spTree>
    <p:extLst>
      <p:ext uri="{BB962C8B-B14F-4D97-AF65-F5344CB8AC3E}">
        <p14:creationId xmlns:p14="http://schemas.microsoft.com/office/powerpoint/2010/main" val="320001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Архитектура «клиент-сервер»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5004048" y="1219200"/>
            <a:ext cx="3682752" cy="4937760"/>
          </a:xfrm>
        </p:spPr>
        <p:txBody>
          <a:bodyPr>
            <a:normAutofit/>
          </a:bodyPr>
          <a:lstStyle/>
          <a:p>
            <a:r>
              <a:rPr lang="ru-RU" dirty="0"/>
              <a:t>Начало 90-х -архитектура «клиент-сервер».</a:t>
            </a:r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052736"/>
            <a:ext cx="4628182" cy="5367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956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Архитектура «клиент-сервер»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216587"/>
            <a:ext cx="8208912" cy="515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9657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Архитектура «клиент-сервер»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Основные особенности:</a:t>
            </a:r>
            <a:endParaRPr lang="ru-RU" dirty="0"/>
          </a:p>
          <a:p>
            <a:r>
              <a:rPr lang="ru-RU" dirty="0" smtClean="0"/>
              <a:t>Клиентское </a:t>
            </a:r>
            <a:r>
              <a:rPr lang="ru-RU" dirty="0"/>
              <a:t>программа работает с данными через запросы к серверному ПО.</a:t>
            </a:r>
          </a:p>
          <a:p>
            <a:r>
              <a:rPr lang="ru-RU" dirty="0" smtClean="0"/>
              <a:t>Базовые </a:t>
            </a:r>
            <a:r>
              <a:rPr lang="ru-RU" dirty="0"/>
              <a:t>функции приложения разделены между клиентом и сервером.</a:t>
            </a:r>
          </a:p>
          <a:p>
            <a:pPr marL="0" indent="0">
              <a:buNone/>
            </a:pPr>
            <a:r>
              <a:rPr lang="ru-RU" b="1" dirty="0"/>
              <a:t>Плюсы:</a:t>
            </a:r>
            <a:endParaRPr lang="ru-RU" dirty="0"/>
          </a:p>
          <a:p>
            <a:r>
              <a:rPr lang="ru-RU" dirty="0" smtClean="0"/>
              <a:t>Полная </a:t>
            </a:r>
            <a:r>
              <a:rPr lang="ru-RU" dirty="0"/>
              <a:t>поддержка многопользовательской работы</a:t>
            </a:r>
          </a:p>
          <a:p>
            <a:r>
              <a:rPr lang="ru-RU" dirty="0" smtClean="0"/>
              <a:t>Гарантия </a:t>
            </a:r>
            <a:r>
              <a:rPr lang="ru-RU" dirty="0"/>
              <a:t>целостности данных</a:t>
            </a:r>
          </a:p>
          <a:p>
            <a:pPr marL="0" indent="0">
              <a:buNone/>
            </a:pPr>
            <a:r>
              <a:rPr lang="ru-RU" b="1" dirty="0"/>
              <a:t>Минусы:</a:t>
            </a:r>
            <a:endParaRPr lang="ru-RU" dirty="0"/>
          </a:p>
          <a:p>
            <a:r>
              <a:rPr lang="ru-RU" dirty="0" smtClean="0"/>
              <a:t>Бизнес </a:t>
            </a:r>
            <a:r>
              <a:rPr lang="ru-RU" dirty="0"/>
              <a:t>логика приложений осталась в клиентском ПО. При любом изменении алгоритмов, надо бегать и обновлять пользовательское ПО</a:t>
            </a:r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985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Переходная архитектура </a:t>
            </a:r>
            <a:r>
              <a:rPr lang="ru-RU" sz="3000" b="1" dirty="0" smtClean="0">
                <a:solidFill>
                  <a:srgbClr val="FF0000"/>
                </a:solidFill>
              </a:rPr>
              <a:t/>
            </a:r>
            <a:br>
              <a:rPr lang="ru-RU" sz="3000" b="1" dirty="0" smtClean="0">
                <a:solidFill>
                  <a:srgbClr val="FF0000"/>
                </a:solidFill>
              </a:rPr>
            </a:br>
            <a:r>
              <a:rPr lang="ru-RU" sz="3000" b="1" dirty="0" smtClean="0">
                <a:solidFill>
                  <a:srgbClr val="FF0000"/>
                </a:solidFill>
              </a:rPr>
              <a:t>(</a:t>
            </a:r>
            <a:r>
              <a:rPr lang="ru-RU" sz="3000" b="1" dirty="0">
                <a:solidFill>
                  <a:srgbClr val="FF0000"/>
                </a:solidFill>
              </a:rPr>
              <a:t>2,5-слойный клиент-сервер)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Основные особенности:</a:t>
            </a:r>
            <a:endParaRPr lang="ru-RU" dirty="0"/>
          </a:p>
          <a:p>
            <a:r>
              <a:rPr lang="ru-RU" dirty="0"/>
              <a:t>Использование хранимых процедур и вычисление данных на </a:t>
            </a:r>
            <a:r>
              <a:rPr lang="ru-RU" dirty="0" smtClean="0"/>
              <a:t>стороне сервера</a:t>
            </a:r>
            <a:r>
              <a:rPr lang="ru-RU" dirty="0"/>
              <a:t>;</a:t>
            </a:r>
          </a:p>
          <a:p>
            <a:r>
              <a:rPr lang="ru-RU" dirty="0" smtClean="0"/>
              <a:t>использование </a:t>
            </a:r>
            <a:r>
              <a:rPr lang="ru-RU" dirty="0"/>
              <a:t>систем управления базами данных (СУБД) со всеми </a:t>
            </a:r>
            <a:r>
              <a:rPr lang="ru-RU" dirty="0" smtClean="0"/>
              <a:t>их преимуществами</a:t>
            </a:r>
            <a:r>
              <a:rPr lang="ru-RU" dirty="0"/>
              <a:t>;</a:t>
            </a:r>
          </a:p>
          <a:p>
            <a:r>
              <a:rPr lang="ru-RU" dirty="0" smtClean="0"/>
              <a:t>написание </a:t>
            </a:r>
            <a:r>
              <a:rPr lang="ru-RU" dirty="0"/>
              <a:t>программ для серверной части, в основном, </a:t>
            </a:r>
            <a:r>
              <a:rPr lang="ru-RU" dirty="0" smtClean="0"/>
              <a:t>на специализированных </a:t>
            </a:r>
            <a:r>
              <a:rPr lang="ru-RU" dirty="0"/>
              <a:t>встроенных языках СУБД, которые не </a:t>
            </a:r>
            <a:r>
              <a:rPr lang="ru-RU" dirty="0" smtClean="0"/>
              <a:t>позволяют написать </a:t>
            </a:r>
            <a:r>
              <a:rPr lang="ru-RU" dirty="0"/>
              <a:t>всю бизнес-логику приложения, вследствие чего часть </a:t>
            </a:r>
            <a:r>
              <a:rPr lang="ru-RU" dirty="0" smtClean="0"/>
              <a:t>бизнес-логики </a:t>
            </a:r>
            <a:r>
              <a:rPr lang="ru-RU" dirty="0"/>
              <a:t>все равно реализуется на стороне клиента;</a:t>
            </a:r>
          </a:p>
          <a:p>
            <a:r>
              <a:rPr lang="ru-RU" b="1" dirty="0" smtClean="0"/>
              <a:t> </a:t>
            </a:r>
            <a:r>
              <a:rPr lang="ru-RU" dirty="0"/>
              <a:t>физически ИС состоит из двух </a:t>
            </a:r>
            <a:r>
              <a:rPr lang="ru-RU" dirty="0" smtClean="0"/>
              <a:t>компонентов.</a:t>
            </a:r>
          </a:p>
          <a:p>
            <a:pPr marL="0" indent="0">
              <a:buNone/>
            </a:pPr>
            <a:r>
              <a:rPr lang="ru-RU" b="1" dirty="0" smtClean="0"/>
              <a:t>Плюсы</a:t>
            </a:r>
            <a:r>
              <a:rPr lang="ru-RU" b="1" dirty="0"/>
              <a:t>:</a:t>
            </a:r>
            <a:endParaRPr lang="ru-RU" dirty="0"/>
          </a:p>
          <a:p>
            <a:r>
              <a:rPr lang="ru-RU" dirty="0"/>
              <a:t>реализация вычислений на серверной стороне и передача по </a:t>
            </a:r>
            <a:r>
              <a:rPr lang="ru-RU" dirty="0" smtClean="0"/>
              <a:t>сети готовых </a:t>
            </a:r>
            <a:r>
              <a:rPr lang="ru-RU" dirty="0"/>
              <a:t>результатов вычислений =&gt; снижение требований к </a:t>
            </a:r>
            <a:r>
              <a:rPr lang="ru-RU" dirty="0" smtClean="0"/>
              <a:t>скорости передачи </a:t>
            </a:r>
            <a:r>
              <a:rPr lang="ru-RU" dirty="0"/>
              <a:t>данных между клиентской и серверной частями</a:t>
            </a:r>
            <a:r>
              <a:rPr lang="ru-RU" dirty="0" smtClean="0"/>
              <a:t>;</a:t>
            </a:r>
          </a:p>
          <a:p>
            <a:r>
              <a:rPr lang="ru-RU" dirty="0"/>
              <a:t>существенное улучшение защиты информации &lt;= пользователям </a:t>
            </a:r>
            <a:r>
              <a:rPr lang="ru-RU" dirty="0" smtClean="0"/>
              <a:t>даются права </a:t>
            </a:r>
            <a:r>
              <a:rPr lang="ru-RU" dirty="0"/>
              <a:t>на доступ к функциям системы, а не к ее данным и т.д.</a:t>
            </a:r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6501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Переходная архитектура </a:t>
            </a:r>
            <a:r>
              <a:rPr lang="ru-RU" sz="3000" b="1" dirty="0" smtClean="0">
                <a:solidFill>
                  <a:srgbClr val="FF0000"/>
                </a:solidFill>
              </a:rPr>
              <a:t/>
            </a:r>
            <a:br>
              <a:rPr lang="ru-RU" sz="3000" b="1" dirty="0" smtClean="0">
                <a:solidFill>
                  <a:srgbClr val="FF0000"/>
                </a:solidFill>
              </a:rPr>
            </a:br>
            <a:r>
              <a:rPr lang="ru-RU" sz="3000" b="1" dirty="0" smtClean="0">
                <a:solidFill>
                  <a:srgbClr val="FF0000"/>
                </a:solidFill>
              </a:rPr>
              <a:t>(</a:t>
            </a:r>
            <a:r>
              <a:rPr lang="ru-RU" sz="3000" b="1" dirty="0">
                <a:solidFill>
                  <a:srgbClr val="FF0000"/>
                </a:solidFill>
              </a:rPr>
              <a:t>2,5-слойный клиент-сервер)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 smtClean="0"/>
              <a:t>Минусы</a:t>
            </a:r>
            <a:r>
              <a:rPr lang="ru-RU" b="1" dirty="0"/>
              <a:t>:</a:t>
            </a:r>
            <a:endParaRPr lang="ru-RU" dirty="0"/>
          </a:p>
          <a:p>
            <a:r>
              <a:rPr lang="ru-RU" dirty="0" smtClean="0"/>
              <a:t>ограниченная </a:t>
            </a:r>
            <a:r>
              <a:rPr lang="ru-RU" dirty="0"/>
              <a:t>масштабируемость;</a:t>
            </a:r>
          </a:p>
          <a:p>
            <a:r>
              <a:rPr lang="ru-RU" dirty="0" smtClean="0"/>
              <a:t>зависимость </a:t>
            </a:r>
            <a:r>
              <a:rPr lang="ru-RU" dirty="0"/>
              <a:t>от программной платформы;</a:t>
            </a:r>
          </a:p>
          <a:p>
            <a:r>
              <a:rPr lang="ru-RU" dirty="0" smtClean="0"/>
              <a:t>ограниченное </a:t>
            </a:r>
            <a:r>
              <a:rPr lang="ru-RU" dirty="0"/>
              <a:t>использование сетевых вычислительных ресурсов;</a:t>
            </a:r>
          </a:p>
          <a:p>
            <a:r>
              <a:rPr lang="ru-RU" dirty="0" smtClean="0"/>
              <a:t>написание </a:t>
            </a:r>
            <a:r>
              <a:rPr lang="ru-RU" dirty="0"/>
              <a:t>программ для серверной части системы на </a:t>
            </a:r>
            <a:r>
              <a:rPr lang="ru-RU" dirty="0" smtClean="0"/>
              <a:t>слабо предназначенных </a:t>
            </a:r>
            <a:r>
              <a:rPr lang="ru-RU" dirty="0"/>
              <a:t>для этого встроенных в СУБД языках </a:t>
            </a:r>
            <a:r>
              <a:rPr lang="ru-RU" dirty="0" smtClean="0"/>
              <a:t>описания хранимых </a:t>
            </a:r>
            <a:r>
              <a:rPr lang="ru-RU" dirty="0"/>
              <a:t>процедур </a:t>
            </a:r>
            <a:r>
              <a:rPr lang="ru-RU" b="1" dirty="0"/>
              <a:t>=&gt;</a:t>
            </a:r>
          </a:p>
          <a:p>
            <a:pPr lvl="1"/>
            <a:r>
              <a:rPr lang="ru-RU" dirty="0" smtClean="0"/>
              <a:t>низкое </a:t>
            </a:r>
            <a:r>
              <a:rPr lang="ru-RU" dirty="0"/>
              <a:t>быстродействие системы;</a:t>
            </a:r>
          </a:p>
          <a:p>
            <a:pPr lvl="1"/>
            <a:r>
              <a:rPr lang="ru-RU" dirty="0" smtClean="0"/>
              <a:t>высокая </a:t>
            </a:r>
            <a:r>
              <a:rPr lang="ru-RU" dirty="0"/>
              <a:t>трудоемкость создания и модификации ИС;</a:t>
            </a:r>
          </a:p>
          <a:p>
            <a:pPr lvl="1"/>
            <a:r>
              <a:rPr lang="ru-RU" dirty="0" smtClean="0"/>
              <a:t>высокая </a:t>
            </a:r>
            <a:r>
              <a:rPr lang="ru-RU" dirty="0"/>
              <a:t>стоимость аппаратных средств, необходимых </a:t>
            </a:r>
            <a:r>
              <a:rPr lang="ru-RU" dirty="0" smtClean="0"/>
              <a:t>для функционирования </a:t>
            </a:r>
            <a:r>
              <a:rPr lang="ru-RU" dirty="0"/>
              <a:t>ИС.</a:t>
            </a:r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67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Трехуровневый «клиент-сервер»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5292080" y="1219200"/>
            <a:ext cx="3744416" cy="4937760"/>
          </a:xfrm>
        </p:spPr>
        <p:txBody>
          <a:bodyPr>
            <a:normAutofit fontScale="92500" lnSpcReduction="20000"/>
          </a:bodyPr>
          <a:lstStyle/>
          <a:p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Отличие от </a:t>
            </a:r>
            <a:br>
              <a:rPr lang="ru-RU" dirty="0" smtClean="0"/>
            </a:br>
            <a:r>
              <a:rPr lang="ru-RU" i="1" dirty="0" smtClean="0"/>
              <a:t>архитектуры </a:t>
            </a:r>
            <a:r>
              <a:rPr lang="ru-RU" i="1" dirty="0"/>
              <a:t>2.5 </a:t>
            </a:r>
            <a:r>
              <a:rPr lang="ru-RU" dirty="0"/>
              <a:t>– </a:t>
            </a:r>
            <a:r>
              <a:rPr lang="ru-RU" b="1" dirty="0" smtClean="0"/>
              <a:t>физическое </a:t>
            </a:r>
            <a:r>
              <a:rPr lang="ru-RU" dirty="0"/>
              <a:t>разделение </a:t>
            </a:r>
            <a:r>
              <a:rPr lang="ru-RU" dirty="0" smtClean="0"/>
              <a:t>программ</a:t>
            </a:r>
            <a:r>
              <a:rPr lang="ru-RU" dirty="0"/>
              <a:t>, отвечающих </a:t>
            </a:r>
            <a:r>
              <a:rPr lang="ru-RU" dirty="0" smtClean="0"/>
              <a:t>за хранение </a:t>
            </a:r>
            <a:r>
              <a:rPr lang="ru-RU" dirty="0"/>
              <a:t>данных (СУБД) </a:t>
            </a:r>
            <a:r>
              <a:rPr lang="ru-RU" dirty="0" smtClean="0"/>
              <a:t>и </a:t>
            </a:r>
            <a:r>
              <a:rPr lang="ru-RU" dirty="0" err="1" smtClean="0"/>
              <a:t>и</a:t>
            </a:r>
            <a:r>
              <a:rPr lang="ru-RU" dirty="0" smtClean="0"/>
              <a:t> </a:t>
            </a:r>
            <a:r>
              <a:rPr lang="ru-RU" dirty="0"/>
              <a:t>их обработку (</a:t>
            </a:r>
            <a:r>
              <a:rPr lang="ru-RU" dirty="0" smtClean="0"/>
              <a:t>сервер приложения </a:t>
            </a:r>
            <a:r>
              <a:rPr lang="ru-RU" dirty="0"/>
              <a:t>(СП), </a:t>
            </a:r>
            <a:r>
              <a:rPr lang="en-US" dirty="0" smtClean="0"/>
              <a:t>application</a:t>
            </a:r>
            <a:r>
              <a:rPr lang="ru-RU" dirty="0" smtClean="0"/>
              <a:t> </a:t>
            </a:r>
            <a:r>
              <a:rPr lang="en-US" dirty="0" smtClean="0"/>
              <a:t>server </a:t>
            </a:r>
            <a:r>
              <a:rPr lang="en-US" dirty="0"/>
              <a:t>(AS)). </a:t>
            </a:r>
            <a:r>
              <a:rPr lang="ru-RU" dirty="0" smtClean="0"/>
              <a:t>Такое разделение программных компонент </a:t>
            </a:r>
            <a:r>
              <a:rPr lang="ru-RU" dirty="0"/>
              <a:t>позволяет </a:t>
            </a:r>
            <a:r>
              <a:rPr lang="ru-RU" dirty="0" smtClean="0"/>
              <a:t>оптимизировать </a:t>
            </a:r>
            <a:r>
              <a:rPr lang="ru-RU" dirty="0"/>
              <a:t>нагрузки </a:t>
            </a:r>
            <a:r>
              <a:rPr lang="ru-RU" dirty="0" smtClean="0"/>
              <a:t>как на </a:t>
            </a:r>
            <a:r>
              <a:rPr lang="ru-RU" dirty="0"/>
              <a:t>сетевое, так и </a:t>
            </a:r>
            <a:r>
              <a:rPr lang="ru-RU" dirty="0" smtClean="0"/>
              <a:t>на вычислительное оборудование комплекса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40768"/>
            <a:ext cx="5026426" cy="3913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16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40296"/>
          </a:xfrm>
        </p:spPr>
        <p:txBody>
          <a:bodyPr>
            <a:normAutofit fontScale="90000"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Трехуровневый «клиент-сервер»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764704"/>
            <a:ext cx="8229600" cy="590465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Основные особенности:</a:t>
            </a:r>
            <a:endParaRPr lang="ru-RU" dirty="0"/>
          </a:p>
          <a:p>
            <a:r>
              <a:rPr lang="ru-RU" dirty="0" smtClean="0"/>
              <a:t>Централизованы</a:t>
            </a:r>
            <a:r>
              <a:rPr lang="ru-RU" dirty="0"/>
              <a:t>, но разделены функции бизнес логики и хранения данных.</a:t>
            </a:r>
          </a:p>
          <a:p>
            <a:r>
              <a:rPr lang="ru-RU" dirty="0" smtClean="0"/>
              <a:t>Клиентское </a:t>
            </a:r>
            <a:r>
              <a:rPr lang="ru-RU" dirty="0"/>
              <a:t>ПО реализует только функции пользовательского интерфейса и общается только с сервером приложений</a:t>
            </a:r>
            <a:r>
              <a:rPr lang="ru-RU" dirty="0" smtClean="0"/>
              <a:t>.</a:t>
            </a:r>
          </a:p>
          <a:p>
            <a:r>
              <a:rPr lang="ru-RU" b="1" i="1" dirty="0"/>
              <a:t>Широкие возможности масштабирования. </a:t>
            </a:r>
            <a:r>
              <a:rPr lang="ru-RU" dirty="0"/>
              <a:t>Одна и та же </a:t>
            </a:r>
            <a:r>
              <a:rPr lang="ru-RU" dirty="0" smtClean="0"/>
              <a:t>система может </a:t>
            </a:r>
            <a:r>
              <a:rPr lang="ru-RU" dirty="0"/>
              <a:t>работать как на одном отдельно стоящем компьютере, </a:t>
            </a:r>
            <a:r>
              <a:rPr lang="ru-RU" dirty="0" smtClean="0"/>
              <a:t>выполняя на </a:t>
            </a:r>
            <a:r>
              <a:rPr lang="ru-RU" dirty="0"/>
              <a:t>нем программы СУБД, СП и клиентской части, так и в </a:t>
            </a:r>
            <a:r>
              <a:rPr lang="ru-RU" dirty="0" smtClean="0"/>
              <a:t>сети, состоящей </a:t>
            </a:r>
            <a:r>
              <a:rPr lang="ru-RU" dirty="0"/>
              <a:t>из сотен и тысяч машин. Единственным </a:t>
            </a:r>
            <a:r>
              <a:rPr lang="ru-RU" dirty="0" smtClean="0"/>
              <a:t>фактором, препятствующим </a:t>
            </a:r>
            <a:r>
              <a:rPr lang="ru-RU" dirty="0"/>
              <a:t>бесконечной масштабируемости, является </a:t>
            </a:r>
            <a:r>
              <a:rPr lang="ru-RU" dirty="0" smtClean="0"/>
              <a:t>лишь требование </a:t>
            </a:r>
            <a:r>
              <a:rPr lang="ru-RU" dirty="0"/>
              <a:t>ведения единой базы данных.</a:t>
            </a:r>
          </a:p>
          <a:p>
            <a:r>
              <a:rPr lang="ru-RU" b="1" i="1" dirty="0" smtClean="0"/>
              <a:t>Упрощение </a:t>
            </a:r>
            <a:r>
              <a:rPr lang="ru-RU" b="1" i="1" dirty="0"/>
              <a:t>расширения функциональных возможностей</a:t>
            </a:r>
            <a:r>
              <a:rPr lang="ru-RU" b="1" i="1" dirty="0" smtClean="0"/>
              <a:t>. </a:t>
            </a:r>
          </a:p>
          <a:p>
            <a:pPr lvl="1"/>
            <a:r>
              <a:rPr lang="ru-RU" dirty="0" smtClean="0"/>
              <a:t>⎯ </a:t>
            </a:r>
            <a:r>
              <a:rPr lang="ru-RU" dirty="0"/>
              <a:t>В отличие от 2,5-слойной схемы нет необходимости менять </a:t>
            </a:r>
            <a:r>
              <a:rPr lang="ru-RU" i="1" dirty="0" smtClean="0"/>
              <a:t>всю </a:t>
            </a:r>
            <a:r>
              <a:rPr lang="ru-RU" dirty="0" smtClean="0"/>
              <a:t>систему </a:t>
            </a:r>
            <a:r>
              <a:rPr lang="ru-RU" dirty="0"/>
              <a:t>– достаточно установить новый СП с требуемой функцией.</a:t>
            </a:r>
          </a:p>
          <a:p>
            <a:pPr lvl="1"/>
            <a:r>
              <a:rPr lang="ru-RU" dirty="0"/>
              <a:t>⎯ По сравнению с 2-слойной схемой уменьшается число </a:t>
            </a:r>
            <a:r>
              <a:rPr lang="ru-RU" dirty="0" smtClean="0"/>
              <a:t>проблем, связанных </a:t>
            </a:r>
            <a:r>
              <a:rPr lang="ru-RU" dirty="0"/>
              <a:t>с переустановкой клиентских частей программы </a:t>
            </a:r>
            <a:r>
              <a:rPr lang="ru-RU" dirty="0" smtClean="0"/>
              <a:t>на множестве </a:t>
            </a:r>
            <a:r>
              <a:rPr lang="ru-RU" dirty="0"/>
              <a:t>компьютеров, быть может весьма удаленных.</a:t>
            </a:r>
          </a:p>
          <a:p>
            <a:pPr marL="0" indent="0">
              <a:buNone/>
            </a:pPr>
            <a:r>
              <a:rPr lang="ru-RU" b="1" dirty="0"/>
              <a:t>Плюсы:</a:t>
            </a:r>
            <a:endParaRPr lang="ru-RU" dirty="0"/>
          </a:p>
          <a:p>
            <a:r>
              <a:rPr lang="ru-RU" dirty="0" smtClean="0"/>
              <a:t>Простота </a:t>
            </a:r>
            <a:r>
              <a:rPr lang="ru-RU" dirty="0"/>
              <a:t>внесения изменений в бизнес алгоритмы.</a:t>
            </a:r>
          </a:p>
          <a:p>
            <a:r>
              <a:rPr lang="ru-RU" dirty="0" smtClean="0"/>
              <a:t>Клиентское </a:t>
            </a:r>
            <a:r>
              <a:rPr lang="ru-RU" dirty="0"/>
              <a:t>ПО не нуждается в администрировании.</a:t>
            </a:r>
          </a:p>
          <a:p>
            <a:pPr marL="0" indent="0">
              <a:buNone/>
            </a:pPr>
            <a:r>
              <a:rPr lang="ru-RU" b="1" dirty="0"/>
              <a:t>Минусы:</a:t>
            </a:r>
            <a:endParaRPr lang="ru-RU" dirty="0"/>
          </a:p>
          <a:p>
            <a:r>
              <a:rPr lang="ru-RU" dirty="0" smtClean="0"/>
              <a:t>Растет </a:t>
            </a:r>
            <a:r>
              <a:rPr lang="ru-RU" dirty="0"/>
              <a:t>сложность серверной части и, как следствие, затраты на администрирование и обслуживание.</a:t>
            </a:r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380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Архитектура на основе </a:t>
            </a:r>
            <a:r>
              <a:rPr lang="ru-RU" sz="3000" b="1" dirty="0" err="1">
                <a:solidFill>
                  <a:srgbClr val="FF0000"/>
                </a:solidFill>
              </a:rPr>
              <a:t>Internet</a:t>
            </a:r>
            <a:r>
              <a:rPr lang="ru-RU" sz="3000" b="1" dirty="0">
                <a:solidFill>
                  <a:srgbClr val="FF0000"/>
                </a:solidFill>
              </a:rPr>
              <a:t>/</a:t>
            </a:r>
            <a:r>
              <a:rPr lang="ru-RU" sz="3000" b="1" dirty="0" err="1">
                <a:solidFill>
                  <a:srgbClr val="FF0000"/>
                </a:solidFill>
              </a:rPr>
              <a:t>Intranet</a:t>
            </a:r>
            <a:r>
              <a:rPr lang="ru-RU" sz="3000" b="1" dirty="0">
                <a:solidFill>
                  <a:srgbClr val="FF0000"/>
                </a:solidFill>
              </a:rPr>
              <a:t> и CGI/API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40768"/>
            <a:ext cx="8388424" cy="447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4378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Архитектура на основе </a:t>
            </a:r>
            <a:r>
              <a:rPr lang="ru-RU" sz="3000" b="1" dirty="0" err="1">
                <a:solidFill>
                  <a:srgbClr val="FF0000"/>
                </a:solidFill>
              </a:rPr>
              <a:t>Internet</a:t>
            </a:r>
            <a:r>
              <a:rPr lang="ru-RU" sz="3000" b="1" dirty="0">
                <a:solidFill>
                  <a:srgbClr val="FF0000"/>
                </a:solidFill>
              </a:rPr>
              <a:t>/</a:t>
            </a:r>
            <a:r>
              <a:rPr lang="ru-RU" sz="3000" b="1" dirty="0" err="1">
                <a:solidFill>
                  <a:srgbClr val="FF0000"/>
                </a:solidFill>
              </a:rPr>
              <a:t>Intranet</a:t>
            </a:r>
            <a:r>
              <a:rPr lang="ru-RU" sz="3000" b="1" dirty="0">
                <a:solidFill>
                  <a:srgbClr val="FF0000"/>
                </a:solidFill>
              </a:rPr>
              <a:t> и CGI/API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268760"/>
            <a:ext cx="8240210" cy="5458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001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Архитектура на основе </a:t>
            </a:r>
            <a:r>
              <a:rPr lang="ru-RU" sz="3000" b="1" dirty="0" err="1">
                <a:solidFill>
                  <a:srgbClr val="FF0000"/>
                </a:solidFill>
              </a:rPr>
              <a:t>Internet</a:t>
            </a:r>
            <a:r>
              <a:rPr lang="ru-RU" sz="3000" b="1" dirty="0">
                <a:solidFill>
                  <a:srgbClr val="FF0000"/>
                </a:solidFill>
              </a:rPr>
              <a:t>/</a:t>
            </a:r>
            <a:r>
              <a:rPr lang="ru-RU" sz="3000" b="1" dirty="0" err="1">
                <a:solidFill>
                  <a:srgbClr val="FF0000"/>
                </a:solidFill>
              </a:rPr>
              <a:t>Intranet</a:t>
            </a:r>
            <a:r>
              <a:rPr lang="ru-RU" sz="3000" b="1" dirty="0">
                <a:solidFill>
                  <a:srgbClr val="FF0000"/>
                </a:solidFill>
              </a:rPr>
              <a:t> и CGI/API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endParaRPr lang="ru-RU" dirty="0"/>
          </a:p>
          <a:p>
            <a:r>
              <a:rPr lang="ru-RU" b="1" dirty="0"/>
              <a:t>CGI (от англ. </a:t>
            </a:r>
            <a:r>
              <a:rPr lang="ru-RU" b="1" dirty="0" err="1"/>
              <a:t>Common</a:t>
            </a:r>
            <a:r>
              <a:rPr lang="ru-RU" b="1" dirty="0"/>
              <a:t> </a:t>
            </a:r>
            <a:r>
              <a:rPr lang="ru-RU" b="1" dirty="0" err="1"/>
              <a:t>Gateway</a:t>
            </a:r>
            <a:r>
              <a:rPr lang="ru-RU" b="1" dirty="0"/>
              <a:t> </a:t>
            </a:r>
            <a:r>
              <a:rPr lang="ru-RU" b="1" dirty="0" err="1"/>
              <a:t>Interface</a:t>
            </a:r>
            <a:r>
              <a:rPr lang="ru-RU" b="1" dirty="0"/>
              <a:t> — «общий интерфейс шлюза») — </a:t>
            </a:r>
            <a:r>
              <a:rPr lang="ru-RU" dirty="0"/>
              <a:t>стандарт интерфейса, используемого для связи внешней программы с веб-сервером. </a:t>
            </a:r>
          </a:p>
          <a:p>
            <a:pPr marL="0" indent="0">
              <a:buNone/>
            </a:pPr>
            <a:r>
              <a:rPr lang="ru-RU" b="1" dirty="0"/>
              <a:t>Плюсы: </a:t>
            </a:r>
            <a:endParaRPr lang="ru-RU" dirty="0"/>
          </a:p>
          <a:p>
            <a:r>
              <a:rPr lang="ru-RU" dirty="0" err="1" smtClean="0"/>
              <a:t>Web</a:t>
            </a:r>
            <a:r>
              <a:rPr lang="ru-RU" dirty="0" smtClean="0"/>
              <a:t>-сервер </a:t>
            </a:r>
            <a:r>
              <a:rPr lang="ru-RU" dirty="0"/>
              <a:t>выступает в качестве сервера приложения (администрирование выполняется централизованно). </a:t>
            </a:r>
          </a:p>
          <a:p>
            <a:r>
              <a:rPr lang="ru-RU" dirty="0" smtClean="0"/>
              <a:t>CGI </a:t>
            </a:r>
            <a:r>
              <a:rPr lang="ru-RU" dirty="0"/>
              <a:t>интерфейс унифицирован и реализован во всех серверах. </a:t>
            </a:r>
          </a:p>
          <a:p>
            <a:r>
              <a:rPr lang="ru-RU" dirty="0" smtClean="0"/>
              <a:t>Для </a:t>
            </a:r>
            <a:r>
              <a:rPr lang="ru-RU" dirty="0"/>
              <a:t>доступа к БД можно использовать любой </a:t>
            </a:r>
            <a:r>
              <a:rPr lang="ru-RU" dirty="0" err="1"/>
              <a:t>web</a:t>
            </a:r>
            <a:r>
              <a:rPr lang="ru-RU" dirty="0"/>
              <a:t>-браузер. 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b="1" dirty="0"/>
              <a:t>Минусы: </a:t>
            </a:r>
            <a:endParaRPr lang="ru-RU" dirty="0"/>
          </a:p>
          <a:p>
            <a:r>
              <a:rPr lang="ru-RU" dirty="0" smtClean="0"/>
              <a:t>Каждая </a:t>
            </a:r>
            <a:r>
              <a:rPr lang="ru-RU" dirty="0"/>
              <a:t>CGI программа выполняется как процесс ОС. Занимает много времени. </a:t>
            </a:r>
          </a:p>
          <a:p>
            <a:r>
              <a:rPr lang="ru-RU" dirty="0" smtClean="0"/>
              <a:t>CGI </a:t>
            </a:r>
            <a:r>
              <a:rPr lang="ru-RU" dirty="0"/>
              <a:t>программа не поддерживает контекст связи с БД, т.е. БД открывается при каждом вызове CGI программы. </a:t>
            </a:r>
          </a:p>
          <a:p>
            <a:r>
              <a:rPr lang="ru-RU" dirty="0" smtClean="0"/>
              <a:t>Генерируемая </a:t>
            </a:r>
            <a:r>
              <a:rPr lang="ru-RU" dirty="0"/>
              <a:t>форма имеет небольшие выразительные возможности. </a:t>
            </a:r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9006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Архитектура на основе </a:t>
            </a:r>
            <a:r>
              <a:rPr lang="ru-RU" sz="3000" b="1" dirty="0" err="1">
                <a:solidFill>
                  <a:srgbClr val="FF0000"/>
                </a:solidFill>
              </a:rPr>
              <a:t>Internet</a:t>
            </a:r>
            <a:r>
              <a:rPr lang="ru-RU" sz="3000" b="1" dirty="0">
                <a:solidFill>
                  <a:srgbClr val="FF0000"/>
                </a:solidFill>
              </a:rPr>
              <a:t>/</a:t>
            </a:r>
            <a:r>
              <a:rPr lang="ru-RU" sz="3000" b="1" dirty="0" err="1">
                <a:solidFill>
                  <a:srgbClr val="FF0000"/>
                </a:solidFill>
              </a:rPr>
              <a:t>Intranet</a:t>
            </a:r>
            <a:r>
              <a:rPr lang="ru-RU" sz="3000" b="1" dirty="0">
                <a:solidFill>
                  <a:srgbClr val="FF0000"/>
                </a:solidFill>
              </a:rPr>
              <a:t> и CGI/API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API </a:t>
            </a:r>
            <a:r>
              <a:rPr lang="ru-RU" b="1" dirty="0"/>
              <a:t>– (от англ. </a:t>
            </a:r>
            <a:r>
              <a:rPr lang="ru-RU" b="1" dirty="0" err="1"/>
              <a:t>Application</a:t>
            </a:r>
            <a:r>
              <a:rPr lang="ru-RU" b="1" dirty="0"/>
              <a:t> </a:t>
            </a:r>
            <a:r>
              <a:rPr lang="ru-RU" b="1" dirty="0" err="1"/>
              <a:t>programming</a:t>
            </a:r>
            <a:r>
              <a:rPr lang="ru-RU" b="1" dirty="0"/>
              <a:t> </a:t>
            </a:r>
            <a:r>
              <a:rPr lang="ru-RU" b="1" dirty="0" err="1"/>
              <a:t>interface</a:t>
            </a:r>
            <a:r>
              <a:rPr lang="ru-RU" b="1" dirty="0"/>
              <a:t> — «интерфейс программирования приложений») — </a:t>
            </a:r>
            <a:r>
              <a:rPr lang="ru-RU" dirty="0"/>
              <a:t>набор готовых классов, процедур, функций, структур и констант, предоставляемых приложением (библиотекой, сервисом) для использования во внешних программных продуктах </a:t>
            </a:r>
          </a:p>
          <a:p>
            <a:pPr marL="0" indent="0">
              <a:buNone/>
            </a:pPr>
            <a:r>
              <a:rPr lang="ru-RU" b="1" dirty="0"/>
              <a:t>Плюсы: </a:t>
            </a:r>
            <a:endParaRPr lang="ru-RU" dirty="0"/>
          </a:p>
          <a:p>
            <a:r>
              <a:rPr lang="ru-RU" dirty="0" smtClean="0"/>
              <a:t>Они </a:t>
            </a:r>
            <a:r>
              <a:rPr lang="ru-RU" dirty="0"/>
              <a:t>выполняются быстрее, чем CGI программы (нет переключения между задачами ОС). </a:t>
            </a:r>
          </a:p>
          <a:p>
            <a:r>
              <a:rPr lang="ru-RU" dirty="0" smtClean="0"/>
              <a:t>ASP </a:t>
            </a:r>
            <a:r>
              <a:rPr lang="ru-RU" dirty="0"/>
              <a:t>вместе с некоторыми дополнениями (</a:t>
            </a:r>
            <a:r>
              <a:rPr lang="ru-RU" dirty="0" err="1"/>
              <a:t>Remote</a:t>
            </a:r>
            <a:r>
              <a:rPr lang="ru-RU" dirty="0"/>
              <a:t> </a:t>
            </a:r>
            <a:r>
              <a:rPr lang="ru-RU" dirty="0" err="1"/>
              <a:t>scripting</a:t>
            </a:r>
            <a:r>
              <a:rPr lang="ru-RU" dirty="0"/>
              <a:t>, </a:t>
            </a:r>
            <a:r>
              <a:rPr lang="ru-RU" dirty="0" err="1"/>
              <a:t>scriptlet</a:t>
            </a:r>
            <a:r>
              <a:rPr lang="ru-RU" dirty="0"/>
              <a:t>) позволяют поддерживать контекст с БД 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b="1" dirty="0"/>
              <a:t>Минусы: </a:t>
            </a:r>
            <a:endParaRPr lang="ru-RU" dirty="0"/>
          </a:p>
          <a:p>
            <a:r>
              <a:rPr lang="ru-RU" dirty="0" smtClean="0"/>
              <a:t>API </a:t>
            </a:r>
            <a:r>
              <a:rPr lang="ru-RU" dirty="0"/>
              <a:t>программы разных производителей не совместимы между собой </a:t>
            </a:r>
          </a:p>
          <a:p>
            <a:r>
              <a:rPr lang="ru-RU" dirty="0" smtClean="0"/>
              <a:t>API </a:t>
            </a:r>
            <a:r>
              <a:rPr lang="ru-RU" dirty="0"/>
              <a:t>интерфейсы и соответствующие API программы зависят от платформы </a:t>
            </a:r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6192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Архитектура на основе </a:t>
            </a:r>
            <a:r>
              <a:rPr lang="ru-RU" sz="3000" b="1" dirty="0" err="1">
                <a:solidFill>
                  <a:srgbClr val="FF0000"/>
                </a:solidFill>
              </a:rPr>
              <a:t>Internet</a:t>
            </a:r>
            <a:r>
              <a:rPr lang="ru-RU" sz="3000" b="1" dirty="0">
                <a:solidFill>
                  <a:srgbClr val="FF0000"/>
                </a:solidFill>
              </a:rPr>
              <a:t>/</a:t>
            </a:r>
            <a:r>
              <a:rPr lang="ru-RU" sz="3000" b="1" dirty="0" err="1">
                <a:solidFill>
                  <a:srgbClr val="FF0000"/>
                </a:solidFill>
              </a:rPr>
              <a:t>Intranet</a:t>
            </a:r>
            <a:r>
              <a:rPr lang="ru-RU" sz="3000" b="1" dirty="0">
                <a:solidFill>
                  <a:srgbClr val="FF0000"/>
                </a:solidFill>
              </a:rPr>
              <a:t> с мигрирующими программами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40768"/>
            <a:ext cx="8546154" cy="441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396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Архитектура на основе </a:t>
            </a:r>
            <a:r>
              <a:rPr lang="ru-RU" sz="3000" b="1" dirty="0" err="1">
                <a:solidFill>
                  <a:srgbClr val="FF0000"/>
                </a:solidFill>
              </a:rPr>
              <a:t>Internet</a:t>
            </a:r>
            <a:r>
              <a:rPr lang="ru-RU" sz="3000" b="1" dirty="0">
                <a:solidFill>
                  <a:srgbClr val="FF0000"/>
                </a:solidFill>
              </a:rPr>
              <a:t>/</a:t>
            </a:r>
            <a:r>
              <a:rPr lang="ru-RU" sz="3000" b="1" dirty="0" err="1">
                <a:solidFill>
                  <a:srgbClr val="FF0000"/>
                </a:solidFill>
              </a:rPr>
              <a:t>Intranet</a:t>
            </a:r>
            <a:r>
              <a:rPr lang="ru-RU" sz="3000" b="1" dirty="0">
                <a:solidFill>
                  <a:srgbClr val="FF0000"/>
                </a:solidFill>
              </a:rPr>
              <a:t> с мигрирующими программами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endParaRPr lang="ru-RU" dirty="0"/>
          </a:p>
          <a:p>
            <a:r>
              <a:rPr lang="ru-RU" dirty="0"/>
              <a:t>1 – тег &lt;</a:t>
            </a:r>
            <a:r>
              <a:rPr lang="ru-RU" dirty="0" err="1"/>
              <a:t>applet</a:t>
            </a:r>
            <a:r>
              <a:rPr lang="ru-RU" dirty="0"/>
              <a:t>&gt;-&gt;браузер обращается к </a:t>
            </a:r>
            <a:r>
              <a:rPr lang="ru-RU" dirty="0" err="1"/>
              <a:t>web</a:t>
            </a:r>
            <a:r>
              <a:rPr lang="ru-RU" dirty="0"/>
              <a:t>-серверу с запросом на чтение </a:t>
            </a:r>
            <a:r>
              <a:rPr lang="ru-RU" dirty="0" err="1"/>
              <a:t>java</a:t>
            </a:r>
            <a:r>
              <a:rPr lang="ru-RU" dirty="0"/>
              <a:t>-программы </a:t>
            </a:r>
            <a:endParaRPr lang="ru-RU" dirty="0" smtClean="0"/>
          </a:p>
          <a:p>
            <a:r>
              <a:rPr lang="ru-RU" dirty="0" smtClean="0"/>
              <a:t>2 </a:t>
            </a:r>
            <a:r>
              <a:rPr lang="ru-RU" dirty="0"/>
              <a:t>- </a:t>
            </a:r>
            <a:r>
              <a:rPr lang="ru-RU" dirty="0" err="1"/>
              <a:t>java</a:t>
            </a:r>
            <a:r>
              <a:rPr lang="ru-RU" dirty="0"/>
              <a:t>-программа передается на WS и там интерпретируется </a:t>
            </a:r>
            <a:r>
              <a:rPr lang="ru-RU" dirty="0" err="1" smtClean="0"/>
              <a:t>java</a:t>
            </a:r>
            <a:r>
              <a:rPr lang="ru-RU" dirty="0" smtClean="0"/>
              <a:t>-машиной</a:t>
            </a:r>
          </a:p>
          <a:p>
            <a:r>
              <a:rPr lang="ru-RU" dirty="0" smtClean="0"/>
              <a:t> </a:t>
            </a:r>
            <a:r>
              <a:rPr lang="ru-RU" dirty="0"/>
              <a:t>3 - в процессе выполнения </a:t>
            </a:r>
            <a:r>
              <a:rPr lang="ru-RU" dirty="0" err="1"/>
              <a:t>java</a:t>
            </a:r>
            <a:r>
              <a:rPr lang="ru-RU" dirty="0"/>
              <a:t>-программы встречается </a:t>
            </a:r>
            <a:r>
              <a:rPr lang="ru-RU" dirty="0" smtClean="0"/>
              <a:t>SQL-оператор</a:t>
            </a:r>
            <a:br>
              <a:rPr lang="ru-RU" dirty="0" smtClean="0"/>
            </a:br>
            <a:r>
              <a:rPr lang="ru-RU" dirty="0" smtClean="0"/>
              <a:t>-&gt; </a:t>
            </a:r>
            <a:r>
              <a:rPr lang="ru-RU" dirty="0"/>
              <a:t>через интерфейс JDBC-ODBC передается на удаленный сервер БД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-&gt;</a:t>
            </a:r>
            <a:r>
              <a:rPr lang="ru-RU" dirty="0"/>
              <a:t>выполняется </a:t>
            </a:r>
            <a:endParaRPr lang="ru-RU" dirty="0" smtClean="0"/>
          </a:p>
          <a:p>
            <a:r>
              <a:rPr lang="ru-RU" dirty="0" smtClean="0"/>
              <a:t>Результаты </a:t>
            </a:r>
            <a:r>
              <a:rPr lang="ru-RU" dirty="0"/>
              <a:t>возвращаются обратно в </a:t>
            </a:r>
            <a:r>
              <a:rPr lang="ru-RU" dirty="0" err="1"/>
              <a:t>java</a:t>
            </a:r>
            <a:r>
              <a:rPr lang="ru-RU" dirty="0"/>
              <a:t>-программу, там </a:t>
            </a:r>
            <a:r>
              <a:rPr lang="ru-RU" dirty="0" smtClean="0"/>
              <a:t>обрабатываются</a:t>
            </a:r>
            <a:r>
              <a:rPr lang="ru-RU" dirty="0"/>
              <a:t>. </a:t>
            </a:r>
            <a:r>
              <a:rPr lang="en-US" dirty="0" smtClean="0"/>
              <a:t>J</a:t>
            </a:r>
            <a:r>
              <a:rPr lang="ru-RU" dirty="0" err="1" smtClean="0"/>
              <a:t>ava</a:t>
            </a:r>
            <a:r>
              <a:rPr lang="ru-RU" dirty="0" smtClean="0"/>
              <a:t>-программа </a:t>
            </a:r>
            <a:r>
              <a:rPr lang="ru-RU" dirty="0"/>
              <a:t>выводит их в </a:t>
            </a:r>
            <a:r>
              <a:rPr lang="ru-RU" dirty="0" err="1"/>
              <a:t>web</a:t>
            </a:r>
            <a:r>
              <a:rPr lang="ru-RU" dirty="0"/>
              <a:t>-страницу. </a:t>
            </a:r>
          </a:p>
        </p:txBody>
      </p:sp>
    </p:spTree>
    <p:extLst>
      <p:ext uri="{BB962C8B-B14F-4D97-AF65-F5344CB8AC3E}">
        <p14:creationId xmlns:p14="http://schemas.microsoft.com/office/powerpoint/2010/main" val="2168515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Архитектура на основе </a:t>
            </a:r>
            <a:r>
              <a:rPr lang="ru-RU" sz="3000" b="1" dirty="0" err="1">
                <a:solidFill>
                  <a:srgbClr val="FF0000"/>
                </a:solidFill>
              </a:rPr>
              <a:t>Internet</a:t>
            </a:r>
            <a:r>
              <a:rPr lang="ru-RU" sz="3000" b="1" dirty="0">
                <a:solidFill>
                  <a:srgbClr val="FF0000"/>
                </a:solidFill>
              </a:rPr>
              <a:t>/</a:t>
            </a:r>
            <a:r>
              <a:rPr lang="ru-RU" sz="3000" b="1" dirty="0" err="1">
                <a:solidFill>
                  <a:srgbClr val="FF0000"/>
                </a:solidFill>
              </a:rPr>
              <a:t>Intranet</a:t>
            </a:r>
            <a:r>
              <a:rPr lang="ru-RU" sz="3000" b="1" dirty="0">
                <a:solidFill>
                  <a:srgbClr val="FF0000"/>
                </a:solidFill>
              </a:rPr>
              <a:t> с мигрирующими программами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395536" y="1268760"/>
            <a:ext cx="8229600" cy="493776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sz="3100" b="1" dirty="0" smtClean="0"/>
              <a:t>Плюсы</a:t>
            </a:r>
            <a:r>
              <a:rPr lang="ru-RU" sz="3100" b="1" dirty="0"/>
              <a:t>: </a:t>
            </a:r>
          </a:p>
          <a:p>
            <a:r>
              <a:rPr lang="ru-RU" sz="3100" dirty="0"/>
              <a:t>Эта технология позволяет существенно разгрузить </a:t>
            </a:r>
            <a:r>
              <a:rPr lang="ru-RU" sz="3100" dirty="0" err="1"/>
              <a:t>web</a:t>
            </a:r>
            <a:r>
              <a:rPr lang="ru-RU" sz="3100" dirty="0"/>
              <a:t>-сервер, т.к. </a:t>
            </a:r>
            <a:r>
              <a:rPr lang="ru-RU" sz="3100" dirty="0" err="1"/>
              <a:t>java-аплеты</a:t>
            </a:r>
            <a:r>
              <a:rPr lang="ru-RU" sz="3100" dirty="0"/>
              <a:t> выполняются на рабочих станциях </a:t>
            </a:r>
          </a:p>
          <a:p>
            <a:r>
              <a:rPr lang="ru-RU" sz="3100" dirty="0" err="1"/>
              <a:t>Java</a:t>
            </a:r>
            <a:r>
              <a:rPr lang="ru-RU" sz="3100" dirty="0"/>
              <a:t>-апплеты мобильны. Язык </a:t>
            </a:r>
            <a:r>
              <a:rPr lang="ru-RU" sz="3100" dirty="0" err="1"/>
              <a:t>java</a:t>
            </a:r>
            <a:r>
              <a:rPr lang="ru-RU" sz="3100" dirty="0"/>
              <a:t> достаточно гибкий для создания сложных программ </a:t>
            </a:r>
          </a:p>
          <a:p>
            <a:r>
              <a:rPr lang="ru-RU" sz="3100" dirty="0"/>
              <a:t>JDBC является универсальным интерфейсом. Язык SQL не зависит от СУБД </a:t>
            </a:r>
          </a:p>
          <a:p>
            <a:r>
              <a:rPr lang="ru-RU" sz="3100" dirty="0"/>
              <a:t>Существует множество </a:t>
            </a:r>
            <a:r>
              <a:rPr lang="ru-RU" sz="3100" dirty="0" err="1"/>
              <a:t>java</a:t>
            </a:r>
            <a:r>
              <a:rPr lang="ru-RU" sz="3100" dirty="0"/>
              <a:t>-программ, которые можно использовать. Их можно запускать с различных серверов и связывать на рабочей станции </a:t>
            </a:r>
          </a:p>
          <a:p>
            <a:endParaRPr lang="ru-RU" sz="3100" dirty="0"/>
          </a:p>
          <a:p>
            <a:pPr marL="0" indent="0">
              <a:buNone/>
            </a:pPr>
            <a:r>
              <a:rPr lang="ru-RU" sz="3100" b="1" dirty="0"/>
              <a:t>Минусы: </a:t>
            </a:r>
          </a:p>
          <a:p>
            <a:r>
              <a:rPr lang="ru-RU" sz="3100" dirty="0"/>
              <a:t>Размеры </a:t>
            </a:r>
            <a:r>
              <a:rPr lang="ru-RU" sz="3100" dirty="0" err="1"/>
              <a:t>java</a:t>
            </a:r>
            <a:r>
              <a:rPr lang="ru-RU" sz="3100" dirty="0"/>
              <a:t>-апплетов должны быть небольшими. Это связано с ограничением времени передачи по сети </a:t>
            </a:r>
          </a:p>
          <a:p>
            <a:r>
              <a:rPr lang="ru-RU" sz="3100" dirty="0"/>
              <a:t>Низкая производительность </a:t>
            </a:r>
            <a:r>
              <a:rPr lang="en-US" sz="3100" dirty="0"/>
              <a:t>java-</a:t>
            </a:r>
            <a:r>
              <a:rPr lang="ru-RU" sz="3100" dirty="0"/>
              <a:t>программ </a:t>
            </a:r>
          </a:p>
          <a:p>
            <a:r>
              <a:rPr lang="ru-RU" sz="3100" dirty="0"/>
              <a:t>Относительная сложность разработки </a:t>
            </a:r>
            <a:r>
              <a:rPr lang="ru-RU" sz="3100" dirty="0" err="1"/>
              <a:t>java</a:t>
            </a:r>
            <a:r>
              <a:rPr lang="ru-RU" sz="3100" dirty="0"/>
              <a:t>-апплетов, выполняющих доступ к </a:t>
            </a:r>
            <a:r>
              <a:rPr lang="ru-RU" sz="3100" dirty="0" smtClean="0"/>
              <a:t>БД  </a:t>
            </a:r>
            <a:endParaRPr lang="ru-RU" sz="3100" dirty="0"/>
          </a:p>
        </p:txBody>
      </p:sp>
    </p:spTree>
    <p:extLst>
      <p:ext uri="{BB962C8B-B14F-4D97-AF65-F5344CB8AC3E}">
        <p14:creationId xmlns:p14="http://schemas.microsoft.com/office/powerpoint/2010/main" val="306619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>
                <a:solidFill>
                  <a:srgbClr val="7030A0"/>
                </a:solidFill>
              </a:rPr>
              <a:t>Развитие программных архитектур тесно связано с развитием </a:t>
            </a:r>
            <a:r>
              <a:rPr lang="ru-RU" b="1" dirty="0">
                <a:solidFill>
                  <a:srgbClr val="7030A0"/>
                </a:solidFill>
              </a:rPr>
              <a:t>аппаратного </a:t>
            </a:r>
            <a:r>
              <a:rPr lang="ru-RU" b="1" dirty="0" smtClean="0">
                <a:solidFill>
                  <a:srgbClr val="7030A0"/>
                </a:solidFill>
              </a:rPr>
              <a:t>обеспечения </a:t>
            </a:r>
            <a:r>
              <a:rPr lang="ru-RU" dirty="0" smtClean="0">
                <a:solidFill>
                  <a:srgbClr val="7030A0"/>
                </a:solidFill>
              </a:rPr>
              <a:t>и </a:t>
            </a:r>
            <a:r>
              <a:rPr lang="ru-RU" b="1" dirty="0">
                <a:solidFill>
                  <a:srgbClr val="7030A0"/>
                </a:solidFill>
              </a:rPr>
              <a:t>инфраструктурных технологий</a:t>
            </a:r>
            <a:endParaRPr lang="ru-RU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40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N-</a:t>
            </a:r>
            <a:r>
              <a:rPr lang="ru-RU" sz="3000" b="1" dirty="0">
                <a:solidFill>
                  <a:srgbClr val="FF0000"/>
                </a:solidFill>
              </a:rPr>
              <a:t>уровневый «клиент-сервер»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 smtClean="0"/>
              <a:t>Основные </a:t>
            </a:r>
            <a:r>
              <a:rPr lang="ru-RU" b="1" dirty="0"/>
              <a:t>особенности:</a:t>
            </a:r>
            <a:endParaRPr lang="ru-RU" dirty="0"/>
          </a:p>
          <a:p>
            <a:r>
              <a:rPr lang="ru-RU" dirty="0" smtClean="0"/>
              <a:t>Много </a:t>
            </a:r>
            <a:r>
              <a:rPr lang="ru-RU" dirty="0"/>
              <a:t>серверов приложений, взаимодействующих друг с другом</a:t>
            </a:r>
            <a:r>
              <a:rPr lang="ru-RU" dirty="0" smtClean="0"/>
              <a:t>. Каждый </a:t>
            </a:r>
            <a:r>
              <a:rPr lang="ru-RU" dirty="0"/>
              <a:t>сервер решает свою бизнес-задачу</a:t>
            </a:r>
          </a:p>
          <a:p>
            <a:pPr marL="0" indent="0">
              <a:buNone/>
            </a:pPr>
            <a:r>
              <a:rPr lang="ru-RU" b="1" dirty="0" smtClean="0"/>
              <a:t>Плюсы</a:t>
            </a:r>
            <a:r>
              <a:rPr lang="ru-RU" b="1" dirty="0"/>
              <a:t>:</a:t>
            </a:r>
            <a:endParaRPr lang="ru-RU" dirty="0"/>
          </a:p>
          <a:p>
            <a:r>
              <a:rPr lang="ru-RU" dirty="0" smtClean="0"/>
              <a:t>Простота </a:t>
            </a:r>
            <a:r>
              <a:rPr lang="ru-RU" dirty="0"/>
              <a:t>внесения изменений в бизнес алгоритмы.</a:t>
            </a:r>
          </a:p>
          <a:p>
            <a:r>
              <a:rPr lang="ru-RU" dirty="0" smtClean="0"/>
              <a:t>Клиентское </a:t>
            </a:r>
            <a:r>
              <a:rPr lang="ru-RU" dirty="0"/>
              <a:t>ПО не нуждается в администрировании.</a:t>
            </a:r>
          </a:p>
          <a:p>
            <a:pPr marL="0" indent="0">
              <a:buNone/>
            </a:pPr>
            <a:r>
              <a:rPr lang="ru-RU" b="1" dirty="0"/>
              <a:t>Минусы:</a:t>
            </a:r>
            <a:endParaRPr lang="ru-RU" dirty="0"/>
          </a:p>
          <a:p>
            <a:r>
              <a:rPr lang="ru-RU" dirty="0"/>
              <a:t>Усложнение серверной </a:t>
            </a:r>
            <a:r>
              <a:rPr lang="ru-RU" dirty="0" smtClean="0"/>
              <a:t>инфраструктуры</a:t>
            </a:r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1408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Распределенные информационные системы.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smtClean="0"/>
              <a:t>май </a:t>
            </a:r>
            <a:r>
              <a:rPr lang="ru-RU" dirty="0"/>
              <a:t>1987 </a:t>
            </a:r>
            <a:r>
              <a:rPr lang="ru-RU" dirty="0" smtClean="0"/>
              <a:t>года</a:t>
            </a:r>
            <a:r>
              <a:rPr lang="en-US" dirty="0" smtClean="0"/>
              <a:t> </a:t>
            </a:r>
            <a:r>
              <a:rPr lang="ru-RU" dirty="0" smtClean="0"/>
              <a:t>лауреат</a:t>
            </a:r>
            <a:r>
              <a:rPr lang="en-US" dirty="0" smtClean="0"/>
              <a:t> </a:t>
            </a:r>
            <a:r>
              <a:rPr lang="ru-RU" dirty="0" smtClean="0"/>
              <a:t>премии </a:t>
            </a:r>
            <a:r>
              <a:rPr lang="ru-RU" dirty="0" err="1"/>
              <a:t>Дейкстры</a:t>
            </a:r>
            <a:r>
              <a:rPr lang="ru-RU" dirty="0"/>
              <a:t> за достижения в области распределенных </a:t>
            </a:r>
            <a:r>
              <a:rPr lang="ru-RU" dirty="0" smtClean="0"/>
              <a:t>вычислений</a:t>
            </a:r>
            <a:r>
              <a:rPr lang="en-US" dirty="0" smtClean="0"/>
              <a:t> </a:t>
            </a:r>
            <a:r>
              <a:rPr lang="ru-RU" dirty="0" smtClean="0"/>
              <a:t>Лесли Лампорта</a:t>
            </a:r>
            <a:r>
              <a:rPr lang="en-US" dirty="0" smtClean="0"/>
              <a:t>: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b="1" i="1" dirty="0" smtClean="0"/>
              <a:t>РВС </a:t>
            </a:r>
            <a:r>
              <a:rPr lang="ru-RU" i="1" dirty="0"/>
              <a:t>можно назвать </a:t>
            </a:r>
            <a:r>
              <a:rPr lang="ru-RU" i="1" dirty="0" smtClean="0"/>
              <a:t>такую</a:t>
            </a:r>
            <a:r>
              <a:rPr lang="en-US" i="1" dirty="0" smtClean="0"/>
              <a:t> </a:t>
            </a:r>
            <a:r>
              <a:rPr lang="ru-RU" i="1" dirty="0" smtClean="0"/>
              <a:t>систему</a:t>
            </a:r>
            <a:r>
              <a:rPr lang="ru-RU" i="1" dirty="0"/>
              <a:t>, в которой отказ компьютера, о существовании которого вы </a:t>
            </a:r>
            <a:r>
              <a:rPr lang="ru-RU" i="1" dirty="0" smtClean="0"/>
              <a:t>даже</a:t>
            </a:r>
            <a:r>
              <a:rPr lang="en-US" i="1" dirty="0" smtClean="0"/>
              <a:t> </a:t>
            </a:r>
            <a:r>
              <a:rPr lang="ru-RU" i="1" dirty="0" smtClean="0"/>
              <a:t>не </a:t>
            </a:r>
            <a:r>
              <a:rPr lang="ru-RU" i="1" dirty="0"/>
              <a:t>подозревали, может сделать ваш собственный компьютер непригодным </a:t>
            </a:r>
            <a:r>
              <a:rPr lang="ru-RU" i="1" dirty="0" smtClean="0"/>
              <a:t>к</a:t>
            </a:r>
            <a:r>
              <a:rPr lang="en-US" i="1" dirty="0" smtClean="0"/>
              <a:t> </a:t>
            </a:r>
            <a:r>
              <a:rPr lang="ru-RU" i="1" dirty="0" smtClean="0"/>
              <a:t>использованию</a:t>
            </a:r>
          </a:p>
          <a:p>
            <a:endParaRPr lang="ru-RU" i="1" dirty="0"/>
          </a:p>
          <a:p>
            <a:r>
              <a:rPr lang="ru-RU" dirty="0"/>
              <a:t>Эндрю </a:t>
            </a:r>
            <a:r>
              <a:rPr lang="ru-RU" dirty="0" err="1" smtClean="0"/>
              <a:t>Таненбаум</a:t>
            </a:r>
            <a:r>
              <a:rPr lang="ru-RU" dirty="0" smtClean="0"/>
              <a:t>: </a:t>
            </a:r>
            <a:r>
              <a:rPr lang="ru-RU" b="1" i="1" dirty="0"/>
              <a:t>РВС </a:t>
            </a:r>
            <a:r>
              <a:rPr lang="ru-RU" i="1" dirty="0" smtClean="0"/>
              <a:t>– </a:t>
            </a:r>
            <a:r>
              <a:rPr lang="ru-RU" i="1" dirty="0"/>
              <a:t>это набор </a:t>
            </a:r>
            <a:r>
              <a:rPr lang="ru-RU" i="1" dirty="0" smtClean="0"/>
              <a:t>соединенных каналами </a:t>
            </a:r>
            <a:r>
              <a:rPr lang="ru-RU" i="1" dirty="0"/>
              <a:t>связи независимых компьютеров, которые с точки </a:t>
            </a:r>
            <a:r>
              <a:rPr lang="ru-RU" i="1" dirty="0" smtClean="0"/>
              <a:t>зрения пользователя </a:t>
            </a:r>
            <a:r>
              <a:rPr lang="ru-RU" i="1" dirty="0"/>
              <a:t>некоторого программного обеспечения выглядят </a:t>
            </a:r>
            <a:r>
              <a:rPr lang="ru-RU" i="1" dirty="0" smtClean="0"/>
              <a:t>единым целым</a:t>
            </a:r>
          </a:p>
          <a:p>
            <a:endParaRPr lang="ru-RU" i="1" dirty="0"/>
          </a:p>
          <a:p>
            <a:r>
              <a:rPr lang="ru-RU" dirty="0" smtClean="0"/>
              <a:t>характерны:</a:t>
            </a:r>
            <a:endParaRPr lang="ru-RU" dirty="0"/>
          </a:p>
          <a:p>
            <a:pPr lvl="1"/>
            <a:r>
              <a:rPr lang="ru-RU" dirty="0" smtClean="0"/>
              <a:t>автономность </a:t>
            </a:r>
            <a:r>
              <a:rPr lang="ru-RU" dirty="0"/>
              <a:t>узлов;</a:t>
            </a:r>
          </a:p>
          <a:p>
            <a:pPr lvl="1"/>
            <a:r>
              <a:rPr lang="ru-RU" dirty="0" smtClean="0"/>
              <a:t>представление </a:t>
            </a:r>
            <a:r>
              <a:rPr lang="ru-RU" dirty="0"/>
              <a:t>системы пользователем, как единой </a:t>
            </a:r>
            <a:r>
              <a:rPr lang="ru-RU" dirty="0" smtClean="0"/>
              <a:t>структуры</a:t>
            </a:r>
          </a:p>
          <a:p>
            <a:pPr lvl="1"/>
            <a:r>
              <a:rPr lang="ru-RU" sz="2500" dirty="0" smtClean="0"/>
              <a:t>связующее звено -</a:t>
            </a:r>
            <a:r>
              <a:rPr lang="ru-RU" sz="2800" dirty="0" smtClean="0"/>
              <a:t> </a:t>
            </a:r>
            <a:r>
              <a:rPr lang="ru-RU" sz="2400" dirty="0"/>
              <a:t>программное обеспечение</a:t>
            </a:r>
          </a:p>
        </p:txBody>
      </p:sp>
    </p:spTree>
    <p:extLst>
      <p:ext uri="{BB962C8B-B14F-4D97-AF65-F5344CB8AC3E}">
        <p14:creationId xmlns:p14="http://schemas.microsoft.com/office/powerpoint/2010/main" val="3789814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 smtClean="0">
                <a:solidFill>
                  <a:srgbClr val="FF0000"/>
                </a:solidFill>
              </a:rPr>
              <a:t>Характеристики </a:t>
            </a:r>
            <a:r>
              <a:rPr lang="ru-RU" sz="3000" b="1" dirty="0">
                <a:solidFill>
                  <a:srgbClr val="FF0000"/>
                </a:solidFill>
              </a:rPr>
              <a:t>РВС: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возможность </a:t>
            </a:r>
            <a:r>
              <a:rPr lang="ru-RU" dirty="0"/>
              <a:t>работы с различными типами устройств:</a:t>
            </a:r>
          </a:p>
          <a:p>
            <a:pPr marL="548640" lvl="2" indent="0">
              <a:buNone/>
            </a:pPr>
            <a:r>
              <a:rPr lang="ru-RU" dirty="0"/>
              <a:t>- с различными поставщиками устройств;</a:t>
            </a:r>
          </a:p>
          <a:p>
            <a:pPr marL="548640" lvl="2" indent="0">
              <a:buNone/>
            </a:pPr>
            <a:r>
              <a:rPr lang="ru-RU" dirty="0"/>
              <a:t>- с различными операционными системами,</a:t>
            </a:r>
          </a:p>
          <a:p>
            <a:pPr marL="548640" lvl="2" indent="0">
              <a:buNone/>
            </a:pPr>
            <a:r>
              <a:rPr lang="ru-RU" dirty="0"/>
              <a:t>- с различными аппаратными платформами.</a:t>
            </a:r>
          </a:p>
          <a:p>
            <a:pPr marL="548640" lvl="2" indent="0">
              <a:buNone/>
            </a:pPr>
            <a:r>
              <a:rPr lang="ru-RU" dirty="0"/>
              <a:t>Вычислительные среды, состоящие из множества вычислительных систем </a:t>
            </a:r>
            <a:r>
              <a:rPr lang="ru-RU" dirty="0" smtClean="0"/>
              <a:t>на базе </a:t>
            </a:r>
            <a:r>
              <a:rPr lang="ru-RU" dirty="0"/>
              <a:t>разных программно-аппаратных платформ, называются </a:t>
            </a:r>
            <a:r>
              <a:rPr lang="ru-RU" b="1" i="1" dirty="0"/>
              <a:t>гетерогенными</a:t>
            </a:r>
            <a:r>
              <a:rPr lang="ru-RU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возможность </a:t>
            </a:r>
            <a:r>
              <a:rPr lang="ru-RU" dirty="0"/>
              <a:t>простого расширения и масштабирования;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 </a:t>
            </a:r>
            <a:r>
              <a:rPr lang="ru-RU" dirty="0"/>
              <a:t>перманентная (постоянная) доступность ресурсов (даже если </a:t>
            </a:r>
            <a:r>
              <a:rPr lang="ru-RU" dirty="0" smtClean="0"/>
              <a:t>некоторые элементы </a:t>
            </a:r>
            <a:r>
              <a:rPr lang="ru-RU" dirty="0"/>
              <a:t>РВС некоторое время могут находиться вне доступа);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сокрытие </a:t>
            </a:r>
            <a:r>
              <a:rPr lang="ru-RU" dirty="0"/>
              <a:t>особенностей коммуникации от пользователей.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777603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Слои программного обеспечения в РВС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Для обеспечения работы гетерогенного оборудования РВС в виде </a:t>
            </a:r>
            <a:r>
              <a:rPr lang="ru-RU" sz="1800" dirty="0" smtClean="0"/>
              <a:t>единого целого</a:t>
            </a:r>
            <a:r>
              <a:rPr lang="ru-RU" sz="1800" dirty="0"/>
              <a:t>, стек программного обеспечения (ПО) обычно разбивают на два </a:t>
            </a:r>
            <a:r>
              <a:rPr lang="ru-RU" sz="1800" dirty="0" smtClean="0"/>
              <a:t>слоя. На </a:t>
            </a:r>
            <a:r>
              <a:rPr lang="ru-RU" sz="1800" dirty="0"/>
              <a:t>верхнем слое располагаются </a:t>
            </a:r>
            <a:r>
              <a:rPr lang="ru-RU" sz="1800" b="1" i="1" dirty="0"/>
              <a:t>распределенные приложения</a:t>
            </a:r>
            <a:r>
              <a:rPr lang="ru-RU" sz="1800" i="1" dirty="0"/>
              <a:t>, </a:t>
            </a:r>
            <a:r>
              <a:rPr lang="ru-RU" sz="1800" dirty="0"/>
              <a:t>отвечающие </a:t>
            </a:r>
            <a:r>
              <a:rPr lang="ru-RU" sz="1800" dirty="0" smtClean="0"/>
              <a:t>за решение </a:t>
            </a:r>
            <a:r>
              <a:rPr lang="ru-RU" sz="1800" dirty="0"/>
              <a:t>определенных прикладных задач средствами РВС. </a:t>
            </a:r>
            <a:r>
              <a:rPr lang="ru-RU" sz="1800" dirty="0" smtClean="0"/>
              <a:t>Их </a:t>
            </a:r>
            <a:r>
              <a:rPr lang="ru-RU" sz="1800" dirty="0" smtClean="0"/>
              <a:t>функциональные </a:t>
            </a:r>
            <a:r>
              <a:rPr lang="ru-RU" sz="1800" dirty="0"/>
              <a:t>возможности базируются на нижнем слое – </a:t>
            </a:r>
            <a:r>
              <a:rPr lang="ru-RU" sz="1800" b="1" i="1" dirty="0" smtClean="0"/>
              <a:t>промежуточном программном </a:t>
            </a:r>
            <a:r>
              <a:rPr lang="ru-RU" sz="1800" b="1" i="1" dirty="0"/>
              <a:t>обеспечении </a:t>
            </a:r>
            <a:r>
              <a:rPr lang="ru-RU" sz="1800" i="1" dirty="0"/>
              <a:t>(ППО), </a:t>
            </a:r>
            <a:r>
              <a:rPr lang="ru-RU" sz="1800" dirty="0"/>
              <a:t>которое взаимодействует с системным </a:t>
            </a:r>
            <a:r>
              <a:rPr lang="ru-RU" sz="1800" dirty="0" smtClean="0"/>
              <a:t>ПО и </a:t>
            </a:r>
            <a:r>
              <a:rPr lang="ru-RU" sz="1800" dirty="0"/>
              <a:t>сетевым уровнем, для обеспечения прозрачности работы приложений в РВС.</a:t>
            </a:r>
            <a:endParaRPr lang="ru-RU" sz="16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545919"/>
            <a:ext cx="5400600" cy="314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7108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Особенности распределенных систем с точки зрения проектировщика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sz="2800" dirty="0" smtClean="0"/>
              <a:t>Ссылки </a:t>
            </a:r>
          </a:p>
          <a:p>
            <a:pPr lvl="1"/>
            <a:r>
              <a:rPr lang="ru-RU" sz="2500" dirty="0" smtClean="0"/>
              <a:t>Содержат </a:t>
            </a:r>
            <a:r>
              <a:rPr lang="ru-RU" sz="2500" dirty="0"/>
              <a:t>информацию о размещении </a:t>
            </a:r>
          </a:p>
          <a:p>
            <a:pPr lvl="1"/>
            <a:r>
              <a:rPr lang="ru-RU" sz="2500" dirty="0" smtClean="0"/>
              <a:t>Содержат </a:t>
            </a:r>
            <a:r>
              <a:rPr lang="ru-RU" sz="2500" dirty="0"/>
              <a:t>информацию о безопасности </a:t>
            </a:r>
          </a:p>
          <a:p>
            <a:pPr lvl="1"/>
            <a:r>
              <a:rPr lang="ru-RU" sz="2500" dirty="0" smtClean="0"/>
              <a:t>Содержат </a:t>
            </a:r>
            <a:r>
              <a:rPr lang="ru-RU" sz="2500" dirty="0"/>
              <a:t>ссылки на объектные типы </a:t>
            </a:r>
          </a:p>
          <a:p>
            <a:r>
              <a:rPr lang="ru-RU" sz="2800" dirty="0" smtClean="0"/>
              <a:t>Задержки </a:t>
            </a:r>
            <a:r>
              <a:rPr lang="ru-RU" sz="2800" dirty="0"/>
              <a:t>выполнения запросов </a:t>
            </a:r>
            <a:endParaRPr lang="ru-RU" sz="2800" dirty="0" smtClean="0"/>
          </a:p>
          <a:p>
            <a:pPr lvl="1"/>
            <a:r>
              <a:rPr lang="ru-RU" sz="2100" dirty="0" smtClean="0"/>
              <a:t>Снизить </a:t>
            </a:r>
            <a:r>
              <a:rPr lang="ru-RU" sz="2100" dirty="0"/>
              <a:t>частоту обращения </a:t>
            </a:r>
          </a:p>
          <a:p>
            <a:pPr lvl="1"/>
            <a:r>
              <a:rPr lang="ru-RU" sz="2100" dirty="0" smtClean="0"/>
              <a:t>Укрупнить </a:t>
            </a:r>
            <a:r>
              <a:rPr lang="ru-RU" sz="2100" dirty="0"/>
              <a:t>выполняемые функции </a:t>
            </a:r>
          </a:p>
          <a:p>
            <a:r>
              <a:rPr lang="ru-RU" sz="2800" dirty="0" smtClean="0"/>
              <a:t>Активация/деактивация </a:t>
            </a:r>
          </a:p>
          <a:p>
            <a:pPr lvl="1"/>
            <a:r>
              <a:rPr lang="ru-RU" sz="2100" dirty="0" smtClean="0"/>
              <a:t>Большое </a:t>
            </a:r>
            <a:r>
              <a:rPr lang="ru-RU" sz="2100" dirty="0"/>
              <a:t>число объектов </a:t>
            </a:r>
          </a:p>
          <a:p>
            <a:pPr lvl="1"/>
            <a:r>
              <a:rPr lang="ru-RU" sz="2100" dirty="0" smtClean="0"/>
              <a:t>Объекты </a:t>
            </a:r>
            <a:r>
              <a:rPr lang="ru-RU" sz="2100" dirty="0"/>
              <a:t>могут не использоваться на протяжении долгого времени </a:t>
            </a:r>
          </a:p>
          <a:p>
            <a:pPr lvl="1"/>
            <a:r>
              <a:rPr lang="ru-RU" sz="2100" dirty="0" smtClean="0"/>
              <a:t>Объект </a:t>
            </a:r>
            <a:r>
              <a:rPr lang="ru-RU" sz="2100" dirty="0"/>
              <a:t>переносится в память при активации </a:t>
            </a:r>
          </a:p>
          <a:p>
            <a:pPr lvl="1"/>
            <a:r>
              <a:rPr lang="ru-RU" sz="2100" dirty="0" smtClean="0"/>
              <a:t>Объект </a:t>
            </a:r>
            <a:r>
              <a:rPr lang="ru-RU" sz="2100" dirty="0"/>
              <a:t>удаляется из памяти при деактивации </a:t>
            </a:r>
          </a:p>
          <a:p>
            <a:r>
              <a:rPr lang="ru-RU" sz="2800" dirty="0" smtClean="0"/>
              <a:t>Постоянное </a:t>
            </a:r>
            <a:r>
              <a:rPr lang="ru-RU" sz="2800" dirty="0"/>
              <a:t>хранение </a:t>
            </a:r>
          </a:p>
          <a:p>
            <a:r>
              <a:rPr lang="ru-RU" sz="2800" dirty="0" smtClean="0"/>
              <a:t>Параллельное </a:t>
            </a:r>
            <a:r>
              <a:rPr lang="ru-RU" sz="2800" dirty="0"/>
              <a:t>исполнение </a:t>
            </a:r>
          </a:p>
          <a:p>
            <a:r>
              <a:rPr lang="ru-RU" sz="2800" dirty="0" smtClean="0"/>
              <a:t>Отказы </a:t>
            </a:r>
            <a:endParaRPr lang="ru-RU" sz="2800" dirty="0"/>
          </a:p>
          <a:p>
            <a:r>
              <a:rPr lang="ru-RU" sz="2800" dirty="0" smtClean="0"/>
              <a:t>Безопасность </a:t>
            </a:r>
            <a:endParaRPr lang="ru-RU" sz="2800" dirty="0"/>
          </a:p>
          <a:p>
            <a:endParaRPr lang="ru-RU" sz="28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2564469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Особенности распределенных систем с точки зрения проектировщика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78152"/>
          </a:xfrm>
        </p:spPr>
        <p:txBody>
          <a:bodyPr>
            <a:normAutofit fontScale="70000" lnSpcReduction="20000"/>
          </a:bodyPr>
          <a:lstStyle/>
          <a:p>
            <a:r>
              <a:rPr lang="ru-RU" sz="2800" dirty="0" smtClean="0"/>
              <a:t>Ссылки </a:t>
            </a:r>
          </a:p>
          <a:p>
            <a:r>
              <a:rPr lang="ru-RU" sz="2800" dirty="0" smtClean="0"/>
              <a:t>Задержки </a:t>
            </a:r>
            <a:r>
              <a:rPr lang="ru-RU" sz="2800" dirty="0"/>
              <a:t>выполнения запросов </a:t>
            </a:r>
            <a:endParaRPr lang="ru-RU" sz="2800" dirty="0" smtClean="0"/>
          </a:p>
          <a:p>
            <a:r>
              <a:rPr lang="ru-RU" sz="2800" dirty="0" smtClean="0"/>
              <a:t>Активация/деактивация </a:t>
            </a:r>
          </a:p>
          <a:p>
            <a:r>
              <a:rPr lang="ru-RU" sz="2800" dirty="0" smtClean="0"/>
              <a:t>Постоянное </a:t>
            </a:r>
            <a:r>
              <a:rPr lang="ru-RU" sz="2800" dirty="0"/>
              <a:t>хранение </a:t>
            </a:r>
            <a:endParaRPr lang="ru-RU" sz="2800" dirty="0" smtClean="0"/>
          </a:p>
          <a:p>
            <a:pPr lvl="1"/>
            <a:r>
              <a:rPr lang="ru-RU" sz="2500" dirty="0" smtClean="0"/>
              <a:t>Объект </a:t>
            </a:r>
            <a:r>
              <a:rPr lang="ru-RU" sz="2500" dirty="0"/>
              <a:t>может иметь или не иметь состояния </a:t>
            </a:r>
          </a:p>
          <a:p>
            <a:pPr lvl="1"/>
            <a:r>
              <a:rPr lang="ru-RU" sz="2500" dirty="0" smtClean="0"/>
              <a:t>Имеющие </a:t>
            </a:r>
            <a:r>
              <a:rPr lang="ru-RU" sz="2500" dirty="0"/>
              <a:t>состояние объекты должны храниться между деактивацией и активацией </a:t>
            </a:r>
          </a:p>
          <a:p>
            <a:pPr lvl="1"/>
            <a:r>
              <a:rPr lang="ru-RU" sz="2500" dirty="0" smtClean="0"/>
              <a:t>Способы </a:t>
            </a:r>
            <a:r>
              <a:rPr lang="ru-RU" sz="2500" dirty="0"/>
              <a:t>хранения: </a:t>
            </a:r>
          </a:p>
          <a:p>
            <a:pPr lvl="2"/>
            <a:r>
              <a:rPr lang="ru-RU" sz="2200" dirty="0" smtClean="0"/>
              <a:t>Запись </a:t>
            </a:r>
            <a:r>
              <a:rPr lang="ru-RU" sz="2200" dirty="0"/>
              <a:t>в файловую систему </a:t>
            </a:r>
          </a:p>
          <a:p>
            <a:pPr lvl="2"/>
            <a:r>
              <a:rPr lang="ru-RU" sz="2200" dirty="0" smtClean="0"/>
              <a:t>Отображение </a:t>
            </a:r>
            <a:r>
              <a:rPr lang="ru-RU" sz="2200" dirty="0"/>
              <a:t>в реляционную СУБД </a:t>
            </a:r>
          </a:p>
          <a:p>
            <a:pPr lvl="2"/>
            <a:r>
              <a:rPr lang="ru-RU" sz="2200" dirty="0" smtClean="0"/>
              <a:t>Сохранение </a:t>
            </a:r>
            <a:r>
              <a:rPr lang="ru-RU" sz="2200" dirty="0"/>
              <a:t>в объектную СУБД </a:t>
            </a:r>
          </a:p>
          <a:p>
            <a:r>
              <a:rPr lang="ru-RU" sz="2800" dirty="0" smtClean="0"/>
              <a:t>Параллельное </a:t>
            </a:r>
            <a:r>
              <a:rPr lang="ru-RU" sz="2800" dirty="0"/>
              <a:t>исполнение </a:t>
            </a:r>
            <a:endParaRPr lang="ru-RU" sz="2800" dirty="0" smtClean="0"/>
          </a:p>
          <a:p>
            <a:pPr lvl="1"/>
            <a:r>
              <a:rPr lang="ru-RU" sz="2600" dirty="0"/>
              <a:t>В нераспределенных системах выполнение последовательное либо конкурентное в разных потоках процесса. </a:t>
            </a:r>
          </a:p>
          <a:p>
            <a:pPr lvl="1"/>
            <a:r>
              <a:rPr lang="ru-RU" sz="2600" dirty="0"/>
              <a:t>В распределенных системах выполнение всегда параллельное -&gt; сложные схемы синхронизации </a:t>
            </a:r>
          </a:p>
          <a:p>
            <a:r>
              <a:rPr lang="ru-RU" sz="2800" dirty="0" smtClean="0"/>
              <a:t>Отказы </a:t>
            </a:r>
            <a:endParaRPr lang="ru-RU" sz="2800" dirty="0"/>
          </a:p>
          <a:p>
            <a:r>
              <a:rPr lang="ru-RU" sz="2800" dirty="0" smtClean="0"/>
              <a:t>Безопасность </a:t>
            </a:r>
            <a:endParaRPr lang="ru-RU" sz="2800" dirty="0"/>
          </a:p>
          <a:p>
            <a:endParaRPr lang="ru-RU" sz="28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1831865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Особенности распределенных систем с точки зрения проектировщика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412776"/>
            <a:ext cx="8229600" cy="4392488"/>
          </a:xfrm>
        </p:spPr>
        <p:txBody>
          <a:bodyPr>
            <a:normAutofit fontScale="77500" lnSpcReduction="20000"/>
          </a:bodyPr>
          <a:lstStyle/>
          <a:p>
            <a:r>
              <a:rPr lang="ru-RU" sz="2800" dirty="0" smtClean="0"/>
              <a:t>Ссылки </a:t>
            </a:r>
          </a:p>
          <a:p>
            <a:r>
              <a:rPr lang="ru-RU" sz="2800" dirty="0" smtClean="0"/>
              <a:t>Задержки </a:t>
            </a:r>
            <a:r>
              <a:rPr lang="ru-RU" sz="2800" dirty="0"/>
              <a:t>выполнения запросов </a:t>
            </a:r>
            <a:endParaRPr lang="ru-RU" sz="2800" dirty="0" smtClean="0"/>
          </a:p>
          <a:p>
            <a:r>
              <a:rPr lang="ru-RU" sz="2800" dirty="0" smtClean="0"/>
              <a:t>Активация/деактивация </a:t>
            </a:r>
          </a:p>
          <a:p>
            <a:r>
              <a:rPr lang="ru-RU" sz="2800" dirty="0" smtClean="0"/>
              <a:t>Постоянное </a:t>
            </a:r>
            <a:r>
              <a:rPr lang="ru-RU" sz="2800" dirty="0"/>
              <a:t>хранение </a:t>
            </a:r>
            <a:endParaRPr lang="ru-RU" sz="2800" dirty="0" smtClean="0"/>
          </a:p>
          <a:p>
            <a:r>
              <a:rPr lang="ru-RU" sz="2800" dirty="0" smtClean="0"/>
              <a:t>Параллельное </a:t>
            </a:r>
            <a:r>
              <a:rPr lang="ru-RU" sz="2800" dirty="0"/>
              <a:t>исполнение </a:t>
            </a:r>
            <a:endParaRPr lang="ru-RU" sz="2800" dirty="0" smtClean="0"/>
          </a:p>
          <a:p>
            <a:r>
              <a:rPr lang="ru-RU" sz="2800" dirty="0" smtClean="0"/>
              <a:t>Отказы </a:t>
            </a:r>
          </a:p>
          <a:p>
            <a:pPr lvl="1"/>
            <a:r>
              <a:rPr lang="ru-RU" sz="2500" dirty="0" smtClean="0"/>
              <a:t>Большая </a:t>
            </a:r>
            <a:r>
              <a:rPr lang="ru-RU" sz="2500" dirty="0"/>
              <a:t>вероятность отказов </a:t>
            </a:r>
          </a:p>
          <a:p>
            <a:pPr lvl="1"/>
            <a:r>
              <a:rPr lang="ru-RU" sz="2500" dirty="0" smtClean="0"/>
              <a:t>Клиент </a:t>
            </a:r>
            <a:r>
              <a:rPr lang="ru-RU" sz="2500" dirty="0"/>
              <a:t>обязан проверять выполнение запроса сервером </a:t>
            </a:r>
          </a:p>
          <a:p>
            <a:r>
              <a:rPr lang="ru-RU" sz="2800" dirty="0" smtClean="0"/>
              <a:t>Безопасность </a:t>
            </a:r>
          </a:p>
          <a:p>
            <a:pPr lvl="1"/>
            <a:r>
              <a:rPr lang="ru-RU" sz="2500" dirty="0" smtClean="0"/>
              <a:t>Кто </a:t>
            </a:r>
            <a:r>
              <a:rPr lang="ru-RU" sz="2500" dirty="0"/>
              <a:t>запрашивает выполнение операции? </a:t>
            </a:r>
          </a:p>
          <a:p>
            <a:pPr lvl="1"/>
            <a:r>
              <a:rPr lang="ru-RU" sz="2500" dirty="0" smtClean="0"/>
              <a:t>Как </a:t>
            </a:r>
            <a:r>
              <a:rPr lang="ru-RU" sz="2500" dirty="0"/>
              <a:t>можно удостовериться в личности субъекта? </a:t>
            </a:r>
          </a:p>
          <a:p>
            <a:pPr lvl="1"/>
            <a:r>
              <a:rPr lang="ru-RU" sz="2500" dirty="0" smtClean="0"/>
              <a:t>Как </a:t>
            </a:r>
            <a:r>
              <a:rPr lang="ru-RU" sz="2500" dirty="0"/>
              <a:t>определить предоставлять ли субъекту сервис? </a:t>
            </a:r>
          </a:p>
          <a:p>
            <a:pPr lvl="1"/>
            <a:r>
              <a:rPr lang="ru-RU" sz="2500" dirty="0" smtClean="0"/>
              <a:t>Как </a:t>
            </a:r>
            <a:r>
              <a:rPr lang="ru-RU" sz="2500" dirty="0"/>
              <a:t>можно доказать, что сервис был предоставлен? </a:t>
            </a:r>
          </a:p>
          <a:p>
            <a:pPr lvl="1"/>
            <a:endParaRPr lang="ru-RU" sz="2500" dirty="0"/>
          </a:p>
          <a:p>
            <a:endParaRPr lang="ru-RU" sz="2800" dirty="0"/>
          </a:p>
          <a:p>
            <a:endParaRPr lang="ru-RU" sz="2800" dirty="0"/>
          </a:p>
          <a:p>
            <a:endParaRPr lang="ru-RU" sz="28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3613363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4312"/>
          </a:xfrm>
        </p:spPr>
        <p:txBody>
          <a:bodyPr>
            <a:normAutofit/>
          </a:bodyPr>
          <a:lstStyle/>
          <a:p>
            <a:r>
              <a:rPr lang="ru-RU" sz="3000" b="1" dirty="0" smtClean="0">
                <a:solidFill>
                  <a:srgbClr val="FF0000"/>
                </a:solidFill>
              </a:rPr>
              <a:t>Сервис-ориентированная архитектура</a:t>
            </a:r>
            <a:endParaRPr lang="ru-RU" sz="3000" b="1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229600" cy="52565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 smtClean="0"/>
              <a:t>Сервис-ориентированная архитектура</a:t>
            </a:r>
            <a:r>
              <a:rPr lang="ru-RU" sz="2400" b="1" dirty="0" smtClean="0"/>
              <a:t>(SOA</a:t>
            </a:r>
            <a:r>
              <a:rPr lang="ru-RU" sz="2400" b="1" dirty="0"/>
              <a:t>, </a:t>
            </a:r>
            <a:r>
              <a:rPr lang="ru-RU" sz="2400" b="1" dirty="0" err="1" smtClean="0"/>
              <a:t>service-oriented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architecture</a:t>
            </a:r>
            <a:r>
              <a:rPr lang="ru-RU" sz="2400" b="1" dirty="0" smtClean="0"/>
              <a:t>)</a:t>
            </a:r>
            <a:r>
              <a:rPr lang="ru-RU" sz="2400" dirty="0" smtClean="0"/>
              <a:t>– модульный </a:t>
            </a:r>
            <a:r>
              <a:rPr lang="ru-RU" sz="2400" dirty="0"/>
              <a:t>подход к разработке программного обеспечения, основанный на использовании сервисов (служб) со стандартизированными интерфейсами </a:t>
            </a:r>
            <a:endParaRPr lang="ru-RU" sz="2400" dirty="0" smtClean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500" dirty="0" smtClean="0"/>
              <a:t>Цели </a:t>
            </a:r>
            <a:r>
              <a:rPr lang="ru-RU" sz="2500" dirty="0"/>
              <a:t>применения SOA</a:t>
            </a:r>
          </a:p>
          <a:p>
            <a:pPr lvl="1"/>
            <a:r>
              <a:rPr lang="ru-RU" sz="2500" dirty="0" smtClean="0"/>
              <a:t>сокращение </a:t>
            </a:r>
            <a:r>
              <a:rPr lang="ru-RU" sz="2500" dirty="0"/>
              <a:t>издержек при разработке приложений, за счет упорядочивания процесса разработки;</a:t>
            </a:r>
          </a:p>
          <a:p>
            <a:pPr lvl="1"/>
            <a:r>
              <a:rPr lang="ru-RU" sz="2500" dirty="0" smtClean="0"/>
              <a:t>расширение </a:t>
            </a:r>
            <a:r>
              <a:rPr lang="ru-RU" sz="2500" dirty="0"/>
              <a:t>повторного использования кода;</a:t>
            </a:r>
          </a:p>
          <a:p>
            <a:pPr lvl="1"/>
            <a:r>
              <a:rPr lang="ru-RU" sz="2500" dirty="0" smtClean="0"/>
              <a:t>независимость </a:t>
            </a:r>
            <a:r>
              <a:rPr lang="ru-RU" sz="2500" dirty="0"/>
              <a:t>от используемых платформ, инструментов, языков разработки;</a:t>
            </a:r>
          </a:p>
          <a:p>
            <a:pPr lvl="1"/>
            <a:r>
              <a:rPr lang="ru-RU" sz="2500" dirty="0" smtClean="0"/>
              <a:t>повышение масштабируемости создаваемых </a:t>
            </a:r>
            <a:r>
              <a:rPr lang="ru-RU" sz="2500" dirty="0"/>
              <a:t>систем;</a:t>
            </a:r>
          </a:p>
          <a:p>
            <a:pPr lvl="1"/>
            <a:r>
              <a:rPr lang="ru-RU" sz="2500" dirty="0" smtClean="0"/>
              <a:t>улучшение </a:t>
            </a:r>
            <a:r>
              <a:rPr lang="ru-RU" sz="2500" dirty="0"/>
              <a:t>управляемости создаваемых систем.</a:t>
            </a:r>
          </a:p>
          <a:p>
            <a:endParaRPr lang="ru-RU" sz="2800" dirty="0"/>
          </a:p>
          <a:p>
            <a:endParaRPr lang="ru-RU" sz="2800" dirty="0"/>
          </a:p>
          <a:p>
            <a:endParaRPr lang="ru-RU" sz="28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5580461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4312"/>
          </a:xfrm>
        </p:spPr>
        <p:txBody>
          <a:bodyPr>
            <a:normAutofit/>
          </a:bodyPr>
          <a:lstStyle/>
          <a:p>
            <a:r>
              <a:rPr lang="ru-RU" sz="3000" b="1" dirty="0" smtClean="0">
                <a:solidFill>
                  <a:srgbClr val="FF0000"/>
                </a:solidFill>
              </a:rPr>
              <a:t>Сервис-ориентированная архитектура</a:t>
            </a:r>
            <a:endParaRPr lang="ru-RU" sz="3000" b="1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229600" cy="5256584"/>
          </a:xfrm>
        </p:spPr>
        <p:txBody>
          <a:bodyPr>
            <a:normAutofit lnSpcReduction="10000"/>
          </a:bodyPr>
          <a:lstStyle/>
          <a:p>
            <a:endParaRPr lang="ru-RU" sz="2400" dirty="0"/>
          </a:p>
          <a:p>
            <a:pPr marL="0" indent="0">
              <a:buNone/>
            </a:pPr>
            <a:r>
              <a:rPr lang="ru-RU" sz="2400" dirty="0"/>
              <a:t>Принципы </a:t>
            </a:r>
            <a:r>
              <a:rPr lang="en-US" sz="2400" dirty="0"/>
              <a:t>SOA:</a:t>
            </a:r>
          </a:p>
          <a:p>
            <a:r>
              <a:rPr lang="ru-RU" sz="2400" dirty="0" smtClean="0"/>
              <a:t>архитектура</a:t>
            </a:r>
            <a:r>
              <a:rPr lang="ru-RU" sz="2400" dirty="0"/>
              <a:t>, как таковая, не привязана к какой-то определенной технологии; </a:t>
            </a:r>
          </a:p>
          <a:p>
            <a:r>
              <a:rPr lang="ru-RU" sz="2400" dirty="0" smtClean="0"/>
              <a:t>независимость </a:t>
            </a:r>
            <a:r>
              <a:rPr lang="ru-RU" sz="2400" dirty="0"/>
              <a:t>организации системы от используемой вычислительной платформы (платформ); </a:t>
            </a:r>
          </a:p>
          <a:p>
            <a:r>
              <a:rPr lang="ru-RU" sz="2400" dirty="0" smtClean="0"/>
              <a:t>независимость </a:t>
            </a:r>
            <a:r>
              <a:rPr lang="ru-RU" sz="2400" dirty="0"/>
              <a:t>организации системы от применяемых языков программирования; </a:t>
            </a:r>
          </a:p>
          <a:p>
            <a:r>
              <a:rPr lang="ru-RU" sz="2400" dirty="0" smtClean="0"/>
              <a:t>использование </a:t>
            </a:r>
            <a:r>
              <a:rPr lang="ru-RU" sz="2400" dirty="0"/>
              <a:t>сервисов, независимых от конкретных приложений, с единообразными интерфейсами доступа к ним; </a:t>
            </a:r>
          </a:p>
          <a:p>
            <a:r>
              <a:rPr lang="ru-RU" sz="2400" dirty="0" smtClean="0"/>
              <a:t>организация </a:t>
            </a:r>
            <a:r>
              <a:rPr lang="ru-RU" sz="2400" dirty="0"/>
              <a:t>сервисов как слабосвязанных компонентов для построения систем. </a:t>
            </a:r>
          </a:p>
          <a:p>
            <a:endParaRPr lang="ru-RU" sz="2800" dirty="0"/>
          </a:p>
          <a:p>
            <a:endParaRPr lang="ru-RU" sz="28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4098970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4312"/>
          </a:xfrm>
        </p:spPr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Облачные информационные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229600" cy="5256584"/>
          </a:xfrm>
        </p:spPr>
        <p:txBody>
          <a:bodyPr>
            <a:normAutofit lnSpcReduction="10000"/>
          </a:bodyPr>
          <a:lstStyle/>
          <a:p>
            <a:r>
              <a:rPr lang="ru-RU" sz="2400" b="1" dirty="0" smtClean="0"/>
              <a:t>Облачные </a:t>
            </a:r>
            <a:r>
              <a:rPr lang="ru-RU" sz="2400" b="1" dirty="0"/>
              <a:t>вычисления</a:t>
            </a:r>
            <a:r>
              <a:rPr lang="ru-RU" sz="2400" dirty="0"/>
              <a:t>(англ. </a:t>
            </a:r>
            <a:r>
              <a:rPr lang="ru-RU" sz="2400" dirty="0" err="1" smtClean="0"/>
              <a:t>cloud</a:t>
            </a:r>
            <a:r>
              <a:rPr lang="ru-RU" sz="2400" dirty="0" smtClean="0"/>
              <a:t> </a:t>
            </a:r>
            <a:r>
              <a:rPr lang="ru-RU" sz="2400" dirty="0" err="1" smtClean="0"/>
              <a:t>computing</a:t>
            </a:r>
            <a:r>
              <a:rPr lang="ru-RU" sz="2400" dirty="0"/>
              <a:t>) —технология распределённой обработки данных, в которой компьютерные ресурсы и мощности предоставляются пользователю как Интернет-сервис</a:t>
            </a:r>
          </a:p>
          <a:p>
            <a:r>
              <a:rPr lang="ru-RU" sz="2400" b="1" dirty="0" smtClean="0"/>
              <a:t>Облако</a:t>
            </a:r>
            <a:r>
              <a:rPr lang="ru-RU" sz="2400" dirty="0" smtClean="0"/>
              <a:t>—это </a:t>
            </a:r>
            <a:r>
              <a:rPr lang="ru-RU" sz="2400" dirty="0"/>
              <a:t>крупный дата-центр или сеть </a:t>
            </a:r>
            <a:r>
              <a:rPr lang="ru-RU" sz="2400" dirty="0" smtClean="0"/>
              <a:t>взаимосвязанных между </a:t>
            </a:r>
            <a:r>
              <a:rPr lang="ru-RU" sz="2400" dirty="0"/>
              <a:t>собой </a:t>
            </a:r>
            <a:r>
              <a:rPr lang="ru-RU" sz="2400" dirty="0" smtClean="0"/>
              <a:t>серверов</a:t>
            </a:r>
          </a:p>
          <a:p>
            <a:endParaRPr lang="ru-RU" sz="2400" dirty="0" smtClean="0"/>
          </a:p>
          <a:p>
            <a:pPr marL="0" indent="0">
              <a:buNone/>
            </a:pPr>
            <a:r>
              <a:rPr lang="ru-RU" sz="2800" i="1" dirty="0"/>
              <a:t>Типы облаков</a:t>
            </a:r>
            <a:endParaRPr lang="ru-RU" sz="2800" dirty="0"/>
          </a:p>
          <a:p>
            <a:r>
              <a:rPr lang="ru-RU" sz="2800" dirty="0" smtClean="0"/>
              <a:t>публичные </a:t>
            </a:r>
            <a:endParaRPr lang="ru-RU" sz="2800" dirty="0"/>
          </a:p>
          <a:p>
            <a:r>
              <a:rPr lang="ru-RU" sz="2800" dirty="0" smtClean="0"/>
              <a:t>частные </a:t>
            </a:r>
            <a:endParaRPr lang="ru-RU" sz="2800" dirty="0"/>
          </a:p>
          <a:p>
            <a:r>
              <a:rPr lang="ru-RU" sz="2800" dirty="0" smtClean="0"/>
              <a:t>общественные</a:t>
            </a:r>
          </a:p>
          <a:p>
            <a:r>
              <a:rPr lang="ru-RU" sz="2800" dirty="0" smtClean="0"/>
              <a:t>гибридное</a:t>
            </a:r>
            <a:endParaRPr lang="ru-RU" sz="2800" dirty="0"/>
          </a:p>
          <a:p>
            <a:endParaRPr lang="ru-RU" sz="2800" dirty="0"/>
          </a:p>
          <a:p>
            <a:endParaRPr lang="ru-RU" sz="28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984902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4312"/>
          </a:xfrm>
        </p:spPr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Типы облаков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229600" cy="5256584"/>
          </a:xfrm>
        </p:spPr>
        <p:txBody>
          <a:bodyPr>
            <a:normAutofit fontScale="70000" lnSpcReduction="20000"/>
          </a:bodyPr>
          <a:lstStyle/>
          <a:p>
            <a:r>
              <a:rPr lang="ru-RU" sz="2400" b="1" dirty="0"/>
              <a:t>Частное облако </a:t>
            </a:r>
            <a:r>
              <a:rPr lang="ru-RU" sz="2400" dirty="0"/>
              <a:t>(</a:t>
            </a:r>
            <a:r>
              <a:rPr lang="ru-RU" sz="2400" b="1" i="1" dirty="0" err="1"/>
              <a:t>private</a:t>
            </a:r>
            <a:r>
              <a:rPr lang="ru-RU" sz="2400" b="1" i="1" dirty="0"/>
              <a:t> </a:t>
            </a:r>
            <a:r>
              <a:rPr lang="ru-RU" sz="2400" b="1" i="1" dirty="0" err="1"/>
              <a:t>cloud</a:t>
            </a:r>
            <a:r>
              <a:rPr lang="ru-RU" sz="2400" dirty="0"/>
              <a:t>) — инфраструктура, </a:t>
            </a:r>
            <a:r>
              <a:rPr lang="ru-RU" sz="2400" dirty="0" smtClean="0"/>
              <a:t>предназначенная для </a:t>
            </a:r>
            <a:r>
              <a:rPr lang="ru-RU" sz="2400" dirty="0"/>
              <a:t>использования одной </a:t>
            </a:r>
            <a:r>
              <a:rPr lang="ru-RU" sz="2400" dirty="0" smtClean="0"/>
              <a:t>организацией. Частное </a:t>
            </a:r>
            <a:r>
              <a:rPr lang="ru-RU" sz="2400" dirty="0"/>
              <a:t>облако может находиться в собственности, управлении </a:t>
            </a:r>
            <a:r>
              <a:rPr lang="ru-RU" sz="2400" dirty="0" smtClean="0"/>
              <a:t>и эксплуатации </a:t>
            </a:r>
            <a:r>
              <a:rPr lang="ru-RU" sz="2400" dirty="0"/>
              <a:t>как самой организации, так и третьей стороны (</a:t>
            </a:r>
            <a:r>
              <a:rPr lang="ru-RU" sz="2400" dirty="0" smtClean="0"/>
              <a:t>или какой-либо </a:t>
            </a:r>
            <a:r>
              <a:rPr lang="ru-RU" sz="2400" dirty="0"/>
              <a:t>их комбинации), и оно может физически существовать </a:t>
            </a:r>
            <a:r>
              <a:rPr lang="ru-RU" sz="2400" dirty="0" smtClean="0"/>
              <a:t>как внутри</a:t>
            </a:r>
            <a:r>
              <a:rPr lang="ru-RU" sz="2400" dirty="0"/>
              <a:t>, так и вне юрисдикции владельца.</a:t>
            </a:r>
          </a:p>
          <a:p>
            <a:r>
              <a:rPr lang="ru-RU" sz="2400" b="1" dirty="0"/>
              <a:t>Публичное облако </a:t>
            </a:r>
            <a:r>
              <a:rPr lang="ru-RU" sz="2400" dirty="0"/>
              <a:t>(</a:t>
            </a:r>
            <a:r>
              <a:rPr lang="ru-RU" sz="2400" b="1" i="1" dirty="0" err="1"/>
              <a:t>public</a:t>
            </a:r>
            <a:r>
              <a:rPr lang="ru-RU" sz="2400" b="1" i="1" dirty="0"/>
              <a:t> </a:t>
            </a:r>
            <a:r>
              <a:rPr lang="ru-RU" sz="2400" b="1" i="1" dirty="0" err="1"/>
              <a:t>cloud</a:t>
            </a:r>
            <a:r>
              <a:rPr lang="ru-RU" sz="2400" dirty="0"/>
              <a:t>) — инфраструктура, </a:t>
            </a:r>
            <a:r>
              <a:rPr lang="ru-RU" sz="2400" dirty="0" smtClean="0"/>
              <a:t>предназначенная для </a:t>
            </a:r>
            <a:r>
              <a:rPr lang="ru-RU" sz="2400" dirty="0"/>
              <a:t>свободного использования широкой публикой. Публичное </a:t>
            </a:r>
            <a:r>
              <a:rPr lang="ru-RU" sz="2400" dirty="0" smtClean="0"/>
              <a:t>облако может </a:t>
            </a:r>
            <a:r>
              <a:rPr lang="ru-RU" sz="2400" dirty="0"/>
              <a:t>находиться в собственности, управлении и </a:t>
            </a:r>
            <a:r>
              <a:rPr lang="ru-RU" sz="2400" dirty="0" smtClean="0"/>
              <a:t>эксплуатации коммерческих</a:t>
            </a:r>
            <a:r>
              <a:rPr lang="ru-RU" sz="2400" dirty="0"/>
              <a:t>, научных и правительственных организаций (или </a:t>
            </a:r>
            <a:r>
              <a:rPr lang="ru-RU" sz="2400" dirty="0" smtClean="0"/>
              <a:t>какой-либо </a:t>
            </a:r>
            <a:r>
              <a:rPr lang="ru-RU" sz="2400" dirty="0"/>
              <a:t>их комбинации). Публичное облако физически существует </a:t>
            </a:r>
            <a:r>
              <a:rPr lang="ru-RU" sz="2400" dirty="0" smtClean="0"/>
              <a:t>в юрисдикции </a:t>
            </a:r>
            <a:r>
              <a:rPr lang="ru-RU" sz="2400" dirty="0"/>
              <a:t>владельца —поставщика услуг</a:t>
            </a:r>
            <a:r>
              <a:rPr lang="ru-RU" sz="2400" dirty="0" smtClean="0"/>
              <a:t>.</a:t>
            </a:r>
          </a:p>
          <a:p>
            <a:r>
              <a:rPr lang="ru-RU" sz="2400" b="1" dirty="0"/>
              <a:t>Общественное облако (</a:t>
            </a:r>
            <a:r>
              <a:rPr lang="ru-RU" sz="2400" b="1" dirty="0" err="1"/>
              <a:t>community</a:t>
            </a:r>
            <a:r>
              <a:rPr lang="ru-RU" sz="2400" b="1" dirty="0"/>
              <a:t> </a:t>
            </a:r>
            <a:r>
              <a:rPr lang="ru-RU" sz="2400" b="1" dirty="0" err="1"/>
              <a:t>cloud</a:t>
            </a:r>
            <a:r>
              <a:rPr lang="ru-RU" sz="2400" b="1" dirty="0"/>
              <a:t>) </a:t>
            </a:r>
            <a:r>
              <a:rPr lang="ru-RU" sz="2400" dirty="0"/>
              <a:t>— вид инфраструктуры, предназначенный для использования конкретным сообществом потребителей из организаций, имеющих общие задачи. Общественное облако может находиться в кооперативной (совместной) собственности, управлении и эксплуатации одной или более из организаций сообщества или третьей стороны (или какой-либо их комбинации), и оно может физически существовать как внутри, так и вне юрисдикции владельца.</a:t>
            </a:r>
          </a:p>
          <a:p>
            <a:r>
              <a:rPr lang="ru-RU" sz="2400" b="1" dirty="0"/>
              <a:t>Гибридное облако (</a:t>
            </a:r>
            <a:r>
              <a:rPr lang="ru-RU" sz="2400" b="1" dirty="0" err="1"/>
              <a:t>hybrid</a:t>
            </a:r>
            <a:r>
              <a:rPr lang="ru-RU" sz="2400" b="1" dirty="0"/>
              <a:t> </a:t>
            </a:r>
            <a:r>
              <a:rPr lang="ru-RU" sz="2400" b="1" dirty="0" err="1"/>
              <a:t>cloud</a:t>
            </a:r>
            <a:r>
              <a:rPr lang="ru-RU" sz="2400" b="1" dirty="0"/>
              <a:t>) </a:t>
            </a:r>
            <a:r>
              <a:rPr lang="ru-RU" sz="2400" dirty="0"/>
              <a:t>— это комбинация из двух или более различных облачных инфраструктур (частных, публичных или общественных), остающихся уникальными объектами, но связанных между собой стандартизованными или частными технологиями передачи данных и приложений (например, кратковременное использование ресурсов публичных облаков для балансировки нагрузки между облаками).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7672606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4312"/>
          </a:xfrm>
        </p:spPr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Облачные информационные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229600" cy="5256584"/>
          </a:xfrm>
        </p:spPr>
        <p:txBody>
          <a:bodyPr>
            <a:normAutofit/>
          </a:bodyPr>
          <a:lstStyle/>
          <a:p>
            <a:endParaRPr lang="ru-RU" sz="3200" dirty="0"/>
          </a:p>
          <a:p>
            <a:endParaRPr lang="ru-RU" sz="3200" dirty="0"/>
          </a:p>
          <a:p>
            <a:endParaRPr lang="ru-RU" sz="32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78" y="1340768"/>
            <a:ext cx="8267445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09893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68288"/>
          </a:xfrm>
        </p:spPr>
        <p:txBody>
          <a:bodyPr>
            <a:normAutofit fontScale="90000"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Облачные информационные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692696"/>
            <a:ext cx="8435280" cy="6048672"/>
          </a:xfrm>
        </p:spPr>
        <p:txBody>
          <a:bodyPr>
            <a:noAutofit/>
          </a:bodyPr>
          <a:lstStyle/>
          <a:p>
            <a:r>
              <a:rPr lang="ru-RU" sz="1800" b="1" dirty="0" err="1"/>
              <a:t>SaaS</a:t>
            </a:r>
            <a:r>
              <a:rPr lang="ru-RU" sz="1800" b="1" dirty="0"/>
              <a:t> – </a:t>
            </a:r>
            <a:r>
              <a:rPr lang="ru-RU" sz="1800" b="1" dirty="0" err="1"/>
              <a:t>Software</a:t>
            </a:r>
            <a:r>
              <a:rPr lang="ru-RU" sz="1800" b="1" dirty="0"/>
              <a:t>-</a:t>
            </a:r>
            <a:r>
              <a:rPr lang="ru-RU" sz="1800" b="1" dirty="0" err="1"/>
              <a:t>as</a:t>
            </a:r>
            <a:r>
              <a:rPr lang="ru-RU" sz="1800" b="1" dirty="0"/>
              <a:t>-a-</a:t>
            </a:r>
            <a:r>
              <a:rPr lang="ru-RU" sz="1800" b="1" dirty="0" err="1"/>
              <a:t>Service</a:t>
            </a:r>
            <a:r>
              <a:rPr lang="ru-RU" sz="1800" b="1" dirty="0"/>
              <a:t> </a:t>
            </a:r>
            <a:r>
              <a:rPr lang="ru-RU" sz="1800" b="1" dirty="0" smtClean="0"/>
              <a:t>-</a:t>
            </a:r>
            <a:r>
              <a:rPr lang="ru-RU" sz="1800" dirty="0" smtClean="0"/>
              <a:t> </a:t>
            </a:r>
            <a:r>
              <a:rPr lang="ru-RU" sz="1800" dirty="0"/>
              <a:t>модель, </a:t>
            </a:r>
            <a:r>
              <a:rPr lang="ru-RU" sz="1800" dirty="0" smtClean="0"/>
              <a:t>в которой </a:t>
            </a:r>
            <a:r>
              <a:rPr lang="ru-RU" sz="1800" dirty="0"/>
              <a:t>потребителю предоставляется возможность использования </a:t>
            </a:r>
            <a:r>
              <a:rPr lang="ru-RU" sz="1800" dirty="0" smtClean="0"/>
              <a:t>прикладного программного </a:t>
            </a:r>
            <a:r>
              <a:rPr lang="ru-RU" sz="1800" dirty="0"/>
              <a:t>обеспечения провайдера, работающего в облачной инфраструктуре </a:t>
            </a:r>
            <a:r>
              <a:rPr lang="ru-RU" sz="1800" dirty="0" smtClean="0"/>
              <a:t>и доступного </a:t>
            </a:r>
            <a:r>
              <a:rPr lang="ru-RU" sz="1800" dirty="0"/>
              <a:t>из различных клиентских устройств</a:t>
            </a:r>
          </a:p>
          <a:p>
            <a:pPr lvl="1"/>
            <a:r>
              <a:rPr lang="ru-RU" sz="1600" dirty="0" smtClean="0"/>
              <a:t>посредством </a:t>
            </a:r>
            <a:r>
              <a:rPr lang="ru-RU" sz="1600" dirty="0"/>
              <a:t>тонкого клиента (например, из браузера (веб-почта);</a:t>
            </a:r>
          </a:p>
          <a:p>
            <a:pPr lvl="1"/>
            <a:r>
              <a:rPr lang="ru-RU" sz="1600" dirty="0" smtClean="0"/>
              <a:t>посредством </a:t>
            </a:r>
            <a:r>
              <a:rPr lang="ru-RU" sz="1600" dirty="0"/>
              <a:t>интерфейса программы</a:t>
            </a:r>
            <a:r>
              <a:rPr lang="ru-RU" sz="1600" dirty="0" smtClean="0"/>
              <a:t>.</a:t>
            </a:r>
          </a:p>
          <a:p>
            <a:r>
              <a:rPr lang="ru-RU" sz="1800" b="1" dirty="0" err="1"/>
              <a:t>PaaS</a:t>
            </a:r>
            <a:r>
              <a:rPr lang="ru-RU" sz="1800" b="1" dirty="0"/>
              <a:t> - </a:t>
            </a:r>
            <a:r>
              <a:rPr lang="ru-RU" sz="1800" b="1" dirty="0" err="1"/>
              <a:t>Platform</a:t>
            </a:r>
            <a:r>
              <a:rPr lang="ru-RU" sz="1800" b="1" dirty="0"/>
              <a:t>-</a:t>
            </a:r>
            <a:r>
              <a:rPr lang="ru-RU" sz="1800" b="1" dirty="0" err="1"/>
              <a:t>as</a:t>
            </a:r>
            <a:r>
              <a:rPr lang="ru-RU" sz="1800" b="1" dirty="0"/>
              <a:t>-a-</a:t>
            </a:r>
            <a:r>
              <a:rPr lang="ru-RU" sz="1800" b="1" dirty="0" err="1"/>
              <a:t>Service</a:t>
            </a:r>
            <a:r>
              <a:rPr lang="ru-RU" sz="1800" b="1" dirty="0"/>
              <a:t> - </a:t>
            </a:r>
            <a:r>
              <a:rPr lang="ru-RU" sz="1800" dirty="0" smtClean="0"/>
              <a:t>модель</a:t>
            </a:r>
            <a:r>
              <a:rPr lang="ru-RU" sz="1800" dirty="0"/>
              <a:t>, когда </a:t>
            </a:r>
            <a:r>
              <a:rPr lang="ru-RU" sz="1800" dirty="0" smtClean="0"/>
              <a:t>потребителю предоставляется </a:t>
            </a:r>
            <a:r>
              <a:rPr lang="ru-RU" sz="1800" dirty="0"/>
              <a:t>возможность использования облачной инфраструктуры </a:t>
            </a:r>
            <a:r>
              <a:rPr lang="ru-RU" sz="1800" dirty="0" smtClean="0"/>
              <a:t>для размещения </a:t>
            </a:r>
            <a:r>
              <a:rPr lang="ru-RU" sz="1800" dirty="0"/>
              <a:t>базового ПО для последующего размещения на нём новых </a:t>
            </a:r>
            <a:r>
              <a:rPr lang="ru-RU" sz="1800" dirty="0" smtClean="0"/>
              <a:t>или существующих </a:t>
            </a:r>
            <a:r>
              <a:rPr lang="ru-RU" sz="1800" dirty="0"/>
              <a:t>приложений (собственных, разработанных на заказ или </a:t>
            </a:r>
            <a:r>
              <a:rPr lang="ru-RU" sz="1800" dirty="0" smtClean="0"/>
              <a:t>приобретённых тиражируемых </a:t>
            </a:r>
            <a:r>
              <a:rPr lang="ru-RU" sz="1800" dirty="0"/>
              <a:t>приложений). В состав таких платформ входят </a:t>
            </a:r>
            <a:r>
              <a:rPr lang="ru-RU" sz="1800" dirty="0" smtClean="0"/>
              <a:t>инструментальные средства </a:t>
            </a:r>
            <a:r>
              <a:rPr lang="ru-RU" sz="1800" dirty="0"/>
              <a:t>создания, тестирования и выполнения прикладного ПО (системы </a:t>
            </a:r>
            <a:r>
              <a:rPr lang="ru-RU" sz="1800" dirty="0" smtClean="0"/>
              <a:t>управления базами </a:t>
            </a:r>
            <a:r>
              <a:rPr lang="ru-RU" sz="1800" dirty="0"/>
              <a:t>данных, связующее ПО, среды исполнения языков программирования</a:t>
            </a:r>
            <a:r>
              <a:rPr lang="ru-RU" sz="1800" dirty="0" smtClean="0"/>
              <a:t>), предоставляемые облачным провайдером.</a:t>
            </a:r>
          </a:p>
          <a:p>
            <a:r>
              <a:rPr lang="ru-RU" sz="1800" b="1" dirty="0" err="1"/>
              <a:t>IaaS</a:t>
            </a:r>
            <a:r>
              <a:rPr lang="ru-RU" sz="1800" b="1" dirty="0"/>
              <a:t> – </a:t>
            </a:r>
            <a:r>
              <a:rPr lang="ru-RU" sz="1800" b="1" dirty="0" err="1"/>
              <a:t>Infrastructure</a:t>
            </a:r>
            <a:r>
              <a:rPr lang="ru-RU" sz="1800" b="1" dirty="0"/>
              <a:t>-</a:t>
            </a:r>
            <a:r>
              <a:rPr lang="ru-RU" sz="1800" b="1" dirty="0" err="1"/>
              <a:t>as</a:t>
            </a:r>
            <a:r>
              <a:rPr lang="ru-RU" sz="1800" b="1" dirty="0"/>
              <a:t>-a-</a:t>
            </a:r>
            <a:r>
              <a:rPr lang="ru-RU" sz="1800" b="1" dirty="0" err="1"/>
              <a:t>Service</a:t>
            </a:r>
            <a:r>
              <a:rPr lang="ru-RU" sz="1800" b="1" dirty="0"/>
              <a:t> - </a:t>
            </a:r>
            <a:r>
              <a:rPr lang="ru-RU" sz="1800" dirty="0" smtClean="0"/>
              <a:t>предоставляется как возможность </a:t>
            </a:r>
            <a:r>
              <a:rPr lang="ru-RU" sz="1800" dirty="0"/>
              <a:t>использования облачной инфраструктуры для </a:t>
            </a:r>
            <a:r>
              <a:rPr lang="ru-RU" sz="1800" dirty="0" smtClean="0"/>
              <a:t>самостоятельного управления </a:t>
            </a:r>
            <a:r>
              <a:rPr lang="ru-RU" sz="1800" dirty="0"/>
              <a:t>ресурсами обработки, хранения, сетями и другими </a:t>
            </a:r>
            <a:r>
              <a:rPr lang="ru-RU" sz="1800" dirty="0" smtClean="0"/>
              <a:t>фундаментальными вычислительными </a:t>
            </a:r>
            <a:r>
              <a:rPr lang="ru-RU" sz="1800" dirty="0"/>
              <a:t>ресурсами, например, потребитель может устанавливать и </a:t>
            </a:r>
            <a:r>
              <a:rPr lang="ru-RU" sz="1800" dirty="0" smtClean="0"/>
              <a:t>запускать произвольное </a:t>
            </a:r>
            <a:r>
              <a:rPr lang="ru-RU" sz="1800" dirty="0"/>
              <a:t>программное обеспечение, которое может включать в себя </a:t>
            </a:r>
            <a:r>
              <a:rPr lang="ru-RU" sz="1800" dirty="0" smtClean="0"/>
              <a:t>операционные системы</a:t>
            </a:r>
            <a:r>
              <a:rPr lang="ru-RU" sz="1800" dirty="0"/>
              <a:t>, платформенное и прикладное ПО.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8333560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4312"/>
          </a:xfrm>
        </p:spPr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Что имеем сегодня?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229600" cy="5256584"/>
          </a:xfrm>
        </p:spPr>
        <p:txBody>
          <a:bodyPr>
            <a:normAutofit/>
          </a:bodyPr>
          <a:lstStyle/>
          <a:p>
            <a:r>
              <a:rPr lang="ru-RU" sz="2400" b="1" dirty="0"/>
              <a:t>Разнообразие клиентских устройств</a:t>
            </a:r>
            <a:endParaRPr lang="ru-RU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060848"/>
            <a:ext cx="7562850" cy="389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75439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4312"/>
          </a:xfrm>
        </p:spPr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Что имеем сегодня?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229600" cy="52565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3000" b="1" dirty="0"/>
              <a:t>Бурное развитие программных </a:t>
            </a:r>
            <a:r>
              <a:rPr lang="ru-RU" sz="3000" b="1" dirty="0" smtClean="0"/>
              <a:t>технологий</a:t>
            </a:r>
          </a:p>
          <a:p>
            <a:r>
              <a:rPr lang="ru-RU" sz="2400" dirty="0" smtClean="0"/>
              <a:t>Все </a:t>
            </a:r>
            <a:r>
              <a:rPr lang="ru-RU" sz="2400" dirty="0"/>
              <a:t>архитектуры по-прежнему актуальны и зачастую используются вместе</a:t>
            </a:r>
          </a:p>
          <a:p>
            <a:r>
              <a:rPr lang="ru-RU" sz="2400" dirty="0" smtClean="0"/>
              <a:t>Терминальные </a:t>
            </a:r>
            <a:r>
              <a:rPr lang="ru-RU" sz="2400" dirty="0"/>
              <a:t>решения (</a:t>
            </a:r>
            <a:r>
              <a:rPr lang="en-US" sz="2400" dirty="0" err="1"/>
              <a:t>MicrosoftTerminalServices</a:t>
            </a:r>
            <a:r>
              <a:rPr lang="en-US" sz="2400" dirty="0"/>
              <a:t>, Citrix, VNC </a:t>
            </a:r>
            <a:r>
              <a:rPr lang="ru-RU" sz="2400" dirty="0"/>
              <a:t>и т.д.)</a:t>
            </a:r>
          </a:p>
          <a:p>
            <a:r>
              <a:rPr lang="ru-RU" sz="2400" dirty="0" smtClean="0"/>
              <a:t>Сервер </a:t>
            </a:r>
            <a:r>
              <a:rPr lang="ru-RU" sz="2400" dirty="0"/>
              <a:t>баз данных с функциями сервера приложений и </a:t>
            </a:r>
            <a:r>
              <a:rPr lang="ru-RU" sz="2400" dirty="0" err="1"/>
              <a:t>Web</a:t>
            </a:r>
            <a:r>
              <a:rPr lang="ru-RU" sz="2400" dirty="0"/>
              <a:t>-сервера</a:t>
            </a:r>
          </a:p>
          <a:p>
            <a:r>
              <a:rPr lang="ru-RU" sz="2400" dirty="0" err="1" smtClean="0"/>
              <a:t>Web</a:t>
            </a:r>
            <a:r>
              <a:rPr lang="ru-RU" sz="2400" dirty="0" smtClean="0"/>
              <a:t>-клиент </a:t>
            </a:r>
            <a:r>
              <a:rPr lang="ru-RU" sz="2400" dirty="0"/>
              <a:t>теперь не такой, уж, и «тонкий»</a:t>
            </a:r>
          </a:p>
          <a:p>
            <a:r>
              <a:rPr lang="en-US" sz="2400" dirty="0" err="1" smtClean="0"/>
              <a:t>RichClient</a:t>
            </a:r>
            <a:r>
              <a:rPr lang="en-US" sz="2400" dirty="0" smtClean="0"/>
              <a:t>(JavaScript</a:t>
            </a:r>
            <a:r>
              <a:rPr lang="en-US" sz="2400" dirty="0"/>
              <a:t>, Flash, Silverlight, </a:t>
            </a:r>
            <a:r>
              <a:rPr lang="en-US" sz="2400" dirty="0" err="1"/>
              <a:t>JavaFX</a:t>
            </a:r>
            <a:r>
              <a:rPr lang="en-US" sz="2400" dirty="0"/>
              <a:t>)</a:t>
            </a:r>
          </a:p>
          <a:p>
            <a:r>
              <a:rPr lang="ru-RU" sz="2400" dirty="0" err="1" smtClean="0"/>
              <a:t>Web</a:t>
            </a:r>
            <a:r>
              <a:rPr lang="ru-RU" sz="2400" dirty="0" smtClean="0"/>
              <a:t>-технологии </a:t>
            </a:r>
            <a:r>
              <a:rPr lang="ru-RU" sz="2400" dirty="0"/>
              <a:t>приходят в мир </a:t>
            </a:r>
            <a:r>
              <a:rPr lang="ru-RU" sz="2400" dirty="0" err="1"/>
              <a:t>Desktop</a:t>
            </a:r>
            <a:r>
              <a:rPr lang="ru-RU" sz="2400" dirty="0"/>
              <a:t>-приложений (</a:t>
            </a:r>
            <a:r>
              <a:rPr lang="ru-RU" sz="2400" dirty="0" err="1"/>
              <a:t>AdobeAIR</a:t>
            </a:r>
            <a:r>
              <a:rPr lang="ru-RU" sz="2400" dirty="0"/>
              <a:t>, </a:t>
            </a:r>
            <a:r>
              <a:rPr lang="ru-RU" sz="2400" dirty="0" err="1"/>
              <a:t>GoogleGears</a:t>
            </a:r>
            <a:r>
              <a:rPr lang="ru-RU" sz="2400" dirty="0"/>
              <a:t>)</a:t>
            </a:r>
          </a:p>
          <a:p>
            <a:r>
              <a:rPr lang="ru-RU" sz="2400" dirty="0" smtClean="0"/>
              <a:t>Толстый </a:t>
            </a:r>
            <a:r>
              <a:rPr lang="ru-RU" sz="2400" dirty="0"/>
              <a:t>клиент из </a:t>
            </a:r>
            <a:r>
              <a:rPr lang="en-US" sz="2400" dirty="0"/>
              <a:t>Web-</a:t>
            </a:r>
            <a:r>
              <a:rPr lang="ru-RU" sz="2400" dirty="0" err="1"/>
              <a:t>броузера</a:t>
            </a:r>
            <a:r>
              <a:rPr lang="ru-RU" sz="2400" dirty="0"/>
              <a:t>(</a:t>
            </a:r>
            <a:r>
              <a:rPr lang="en-US" sz="2400" dirty="0" err="1"/>
              <a:t>JavaWebStart</a:t>
            </a:r>
            <a:r>
              <a:rPr lang="en-US" sz="2400" dirty="0"/>
              <a:t>, </a:t>
            </a:r>
            <a:r>
              <a:rPr lang="en-US" sz="2400" dirty="0" err="1"/>
              <a:t>MicrosoftSmartClient</a:t>
            </a:r>
            <a:r>
              <a:rPr lang="en-US" sz="2400" dirty="0"/>
              <a:t>)</a:t>
            </a:r>
          </a:p>
          <a:p>
            <a:r>
              <a:rPr lang="ru-RU" sz="2400" dirty="0" smtClean="0"/>
              <a:t>«</a:t>
            </a:r>
            <a:r>
              <a:rPr lang="ru-RU" sz="2400" dirty="0"/>
              <a:t>Расслоение» базовых функций ИС</a:t>
            </a:r>
          </a:p>
          <a:p>
            <a:r>
              <a:rPr lang="ru-RU" sz="2400" dirty="0" smtClean="0"/>
              <a:t>Интеграция </a:t>
            </a:r>
            <a:r>
              <a:rPr lang="ru-RU" sz="2400" dirty="0"/>
              <a:t>на уровне пользовательского интерфейса (</a:t>
            </a:r>
            <a:r>
              <a:rPr lang="ru-RU" sz="2400" dirty="0" err="1"/>
              <a:t>Meshup</a:t>
            </a:r>
            <a:r>
              <a:rPr lang="ru-RU" sz="2400" dirty="0"/>
              <a:t>, порталы)</a:t>
            </a:r>
          </a:p>
        </p:txBody>
      </p:sp>
    </p:spTree>
    <p:extLst>
      <p:ext uri="{BB962C8B-B14F-4D97-AF65-F5344CB8AC3E}">
        <p14:creationId xmlns:p14="http://schemas.microsoft.com/office/powerpoint/2010/main" val="589733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4312"/>
          </a:xfrm>
        </p:spPr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Что имеем сегодня?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229600" cy="5256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b="1" dirty="0"/>
              <a:t>Разнообразие инфраструктурных </a:t>
            </a:r>
            <a:r>
              <a:rPr lang="ru-RU" sz="3200" b="1" dirty="0" smtClean="0"/>
              <a:t>решений</a:t>
            </a:r>
          </a:p>
          <a:p>
            <a:r>
              <a:rPr lang="ru-RU" sz="2400" dirty="0"/>
              <a:t>Широкое распространение сетевых технологии. Больше </a:t>
            </a:r>
            <a:r>
              <a:rPr lang="ru-RU" sz="2400" dirty="0" err="1"/>
              <a:t>on-line</a:t>
            </a:r>
            <a:endParaRPr lang="ru-RU" sz="2400" dirty="0"/>
          </a:p>
          <a:p>
            <a:r>
              <a:rPr lang="ru-RU" sz="2400" dirty="0" smtClean="0"/>
              <a:t>Корпоративные </a:t>
            </a:r>
            <a:r>
              <a:rPr lang="ru-RU" sz="2400" dirty="0"/>
              <a:t>инструменты управления клиентскими устройствами</a:t>
            </a:r>
          </a:p>
          <a:p>
            <a:r>
              <a:rPr lang="ru-RU" sz="2400" dirty="0" smtClean="0"/>
              <a:t>Дата-центры </a:t>
            </a:r>
            <a:r>
              <a:rPr lang="ru-RU" sz="2400" dirty="0"/>
              <a:t>и вычисления в облаках (</a:t>
            </a:r>
            <a:r>
              <a:rPr lang="ru-RU" sz="2400" dirty="0" err="1"/>
              <a:t>Cloud</a:t>
            </a:r>
            <a:r>
              <a:rPr lang="ru-RU" sz="2400" dirty="0"/>
              <a:t> </a:t>
            </a:r>
            <a:r>
              <a:rPr lang="ru-RU" sz="2400" dirty="0" err="1"/>
              <a:t>Computing</a:t>
            </a:r>
            <a:r>
              <a:rPr lang="ru-RU" sz="2400" dirty="0"/>
              <a:t>)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2780580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4312"/>
          </a:xfrm>
        </p:spPr>
        <p:txBody>
          <a:bodyPr>
            <a:normAutofit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Что имеем сегодня?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67544" y="1196752"/>
            <a:ext cx="8229600" cy="5256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b="1" dirty="0"/>
              <a:t>Новые требования </a:t>
            </a:r>
            <a:r>
              <a:rPr lang="ru-RU" sz="3200" b="1" dirty="0" smtClean="0"/>
              <a:t>бизнеса</a:t>
            </a:r>
          </a:p>
          <a:p>
            <a:r>
              <a:rPr lang="ru-RU" sz="2400" dirty="0"/>
              <a:t>Низкая стоимость владения ИС</a:t>
            </a:r>
          </a:p>
          <a:p>
            <a:r>
              <a:rPr lang="ru-RU" sz="2400" dirty="0" smtClean="0"/>
              <a:t>Плохо </a:t>
            </a:r>
            <a:r>
              <a:rPr lang="ru-RU" sz="2400" dirty="0"/>
              <a:t>определенные требования</a:t>
            </a:r>
          </a:p>
          <a:p>
            <a:r>
              <a:rPr lang="ru-RU" sz="2400" dirty="0" smtClean="0"/>
              <a:t>Возможности </a:t>
            </a:r>
            <a:r>
              <a:rPr lang="ru-RU" sz="2400" dirty="0"/>
              <a:t>расширения функциональных возможностей(эволюционный потенциал)</a:t>
            </a:r>
          </a:p>
          <a:p>
            <a:r>
              <a:rPr lang="ru-RU" sz="2400" dirty="0" smtClean="0"/>
              <a:t>Доступ </a:t>
            </a:r>
            <a:r>
              <a:rPr lang="ru-RU" sz="2400" dirty="0"/>
              <a:t>с мобильных устройств + автономность</a:t>
            </a:r>
          </a:p>
          <a:p>
            <a:r>
              <a:rPr lang="ru-RU" sz="2400" dirty="0" smtClean="0"/>
              <a:t>Срок</a:t>
            </a:r>
            <a:r>
              <a:rPr lang="ru-RU" sz="2400" dirty="0"/>
              <a:t>: </a:t>
            </a:r>
            <a:r>
              <a:rPr lang="ru-RU" sz="2400" b="1" dirty="0"/>
              <a:t>вчера!</a:t>
            </a:r>
            <a:endParaRPr lang="ru-RU" sz="24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305571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4312"/>
          </a:xfrm>
        </p:spPr>
        <p:txBody>
          <a:bodyPr>
            <a:normAutofit fontScale="90000"/>
          </a:bodyPr>
          <a:lstStyle/>
          <a:p>
            <a:r>
              <a:rPr lang="ru-RU" sz="3000" b="1" dirty="0">
                <a:solidFill>
                  <a:srgbClr val="FF0000"/>
                </a:solidFill>
              </a:rPr>
              <a:t>Факторы, влияющие на выбор архитектуры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67544" y="1196752"/>
            <a:ext cx="8229600" cy="5256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b="1" dirty="0"/>
              <a:t>Новые требования </a:t>
            </a:r>
            <a:r>
              <a:rPr lang="ru-RU" sz="3200" b="1" dirty="0" smtClean="0"/>
              <a:t>бизнеса</a:t>
            </a:r>
          </a:p>
          <a:p>
            <a:r>
              <a:rPr lang="ru-RU" sz="2400" b="1" dirty="0"/>
              <a:t>Бизнес задача. Требования </a:t>
            </a:r>
            <a:r>
              <a:rPr lang="ru-RU" sz="2400" b="1" dirty="0" smtClean="0"/>
              <a:t>заказчика</a:t>
            </a:r>
          </a:p>
          <a:p>
            <a:pPr marL="274320" lvl="1" indent="0">
              <a:buNone/>
            </a:pPr>
            <a:r>
              <a:rPr lang="ru-RU" sz="2100" dirty="0" smtClean="0"/>
              <a:t>Многопользовательский </a:t>
            </a:r>
            <a:r>
              <a:rPr lang="ru-RU" sz="2100" dirty="0"/>
              <a:t>режим, масштабируемость, клиентское и серверное оборудование. </a:t>
            </a:r>
          </a:p>
          <a:p>
            <a:r>
              <a:rPr lang="ru-RU" sz="2400" b="1" dirty="0" smtClean="0"/>
              <a:t>Дополнительные </a:t>
            </a:r>
            <a:r>
              <a:rPr lang="ru-RU" sz="2400" b="1" dirty="0"/>
              <a:t>нюансы </a:t>
            </a:r>
            <a:r>
              <a:rPr lang="ru-RU" sz="2400" b="1" dirty="0" smtClean="0"/>
              <a:t>заказчика</a:t>
            </a:r>
          </a:p>
          <a:p>
            <a:pPr marL="274320" lvl="1" indent="0">
              <a:buNone/>
            </a:pPr>
            <a:r>
              <a:rPr lang="ru-RU" sz="2100" dirty="0" smtClean="0"/>
              <a:t>Наличие </a:t>
            </a:r>
            <a:r>
              <a:rPr lang="ru-RU" sz="2100" dirty="0"/>
              <a:t>квалифицированных администраторов. Квалификация пользователей.</a:t>
            </a:r>
          </a:p>
          <a:p>
            <a:r>
              <a:rPr lang="ru-RU" sz="2400" b="1" dirty="0" smtClean="0"/>
              <a:t>Аспекты лицензирования</a:t>
            </a:r>
          </a:p>
          <a:p>
            <a:pPr marL="274320" lvl="1" indent="0">
              <a:buNone/>
            </a:pPr>
            <a:r>
              <a:rPr lang="ru-RU" sz="2100" dirty="0" smtClean="0"/>
              <a:t>В </a:t>
            </a:r>
            <a:r>
              <a:rPr lang="ru-RU" sz="2100" dirty="0"/>
              <a:t>разных архитектурах один и тот же продукт может по разному лицензироваться</a:t>
            </a:r>
            <a:r>
              <a:rPr lang="ru-RU" sz="2100" dirty="0" smtClean="0"/>
              <a:t>. СУБД</a:t>
            </a:r>
            <a:r>
              <a:rPr lang="ru-RU" sz="2100" dirty="0"/>
              <a:t>: </a:t>
            </a:r>
            <a:r>
              <a:rPr lang="ru-RU" sz="2100" dirty="0" err="1"/>
              <a:t>peruser</a:t>
            </a:r>
            <a:r>
              <a:rPr lang="ru-RU" sz="2100" dirty="0"/>
              <a:t>/ </a:t>
            </a:r>
            <a:r>
              <a:rPr lang="ru-RU" sz="2100" dirty="0" err="1"/>
              <a:t>perprocessor</a:t>
            </a:r>
            <a:endParaRPr lang="ru-RU" sz="2100" dirty="0"/>
          </a:p>
          <a:p>
            <a:r>
              <a:rPr lang="ru-RU" sz="2400" b="1" dirty="0" smtClean="0"/>
              <a:t>Проектная ситуация</a:t>
            </a:r>
          </a:p>
          <a:p>
            <a:pPr marL="274320" lvl="1" indent="0">
              <a:buNone/>
            </a:pPr>
            <a:r>
              <a:rPr lang="ru-RU" sz="2100" dirty="0" smtClean="0"/>
              <a:t>Навыки </a:t>
            </a:r>
            <a:r>
              <a:rPr lang="ru-RU" sz="2100" dirty="0"/>
              <a:t>разработчиков, сроки выполнения проекта, корпоративная специализация компании-разработчика и т.д.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5107186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чальная">
  <a:themeElements>
    <a:clrScheme name="Начальная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Начальная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Начальная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546</TotalTime>
  <Words>3132</Words>
  <PresentationFormat>Экран (4:3)</PresentationFormat>
  <Paragraphs>419</Paragraphs>
  <Slides>60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1" baseType="lpstr">
      <vt:lpstr>Начальная</vt:lpstr>
      <vt:lpstr>Архитектура ИС</vt:lpstr>
      <vt:lpstr>По словарю:</vt:lpstr>
      <vt:lpstr>Простыми словами:</vt:lpstr>
      <vt:lpstr>Какие задачи решаются в рамках  архитектуры ИС?</vt:lpstr>
      <vt:lpstr>Программный интерфейс (API)</vt:lpstr>
      <vt:lpstr>Три качества, которыми должна обладать архитектура</vt:lpstr>
      <vt:lpstr>Архитектура информационной системы</vt:lpstr>
      <vt:lpstr>Бизнес-Архитектура</vt:lpstr>
      <vt:lpstr>ИТ-архитектура</vt:lpstr>
      <vt:lpstr>Архитектура данных</vt:lpstr>
      <vt:lpstr>Программная архитектура</vt:lpstr>
      <vt:lpstr>Технологическая архитектура</vt:lpstr>
      <vt:lpstr>Классификация информационных систем</vt:lpstr>
      <vt:lpstr>Классификация информационных систем</vt:lpstr>
      <vt:lpstr>Классификация информационных систем</vt:lpstr>
      <vt:lpstr>Классификация информационных систем</vt:lpstr>
      <vt:lpstr>Классификация информационных систем</vt:lpstr>
      <vt:lpstr>Типовые функциональные компоненты ИС</vt:lpstr>
      <vt:lpstr>Пример: Microsoft Outlook</vt:lpstr>
      <vt:lpstr>Классификация архитектур ИС</vt:lpstr>
      <vt:lpstr>Централизованная архитектура</vt:lpstr>
      <vt:lpstr>Централизованная архитектура</vt:lpstr>
      <vt:lpstr>Персональный компьютер</vt:lpstr>
      <vt:lpstr>Персональный компьютер</vt:lpstr>
      <vt:lpstr>Архитектура «файл-сервер»</vt:lpstr>
      <vt:lpstr>Архитектура «файл-сервер»</vt:lpstr>
      <vt:lpstr>Архитектура «файл-сервер»</vt:lpstr>
      <vt:lpstr>Архитектура «клиент-сервер»</vt:lpstr>
      <vt:lpstr>Архитектура «клиент-сервер»</vt:lpstr>
      <vt:lpstr>Архитектура «клиент-сервер»</vt:lpstr>
      <vt:lpstr>Переходная архитектура  (2,5-слойный клиент-сервер)</vt:lpstr>
      <vt:lpstr>Переходная архитектура  (2,5-слойный клиент-сервер)</vt:lpstr>
      <vt:lpstr>Трехуровневый «клиент-сервер»</vt:lpstr>
      <vt:lpstr>Трехуровневый «клиент-сервер»</vt:lpstr>
      <vt:lpstr>Архитектура на основе Internet/Intranet и CGI/API</vt:lpstr>
      <vt:lpstr>Архитектура на основе Internet/Intranet и CGI/API</vt:lpstr>
      <vt:lpstr>Архитектура на основе Internet/Intranet и CGI/API</vt:lpstr>
      <vt:lpstr>Архитектура на основе Internet/Intranet и CGI/API</vt:lpstr>
      <vt:lpstr>Архитектура на основе Internet/Intranet с мигрирующими программами</vt:lpstr>
      <vt:lpstr>Архитектура на основе Internet/Intranet с мигрирующими программами</vt:lpstr>
      <vt:lpstr>Архитектура на основе Internet/Intranet с мигрирующими программами</vt:lpstr>
      <vt:lpstr>Презентация PowerPoint</vt:lpstr>
      <vt:lpstr>N-уровневый «клиент-сервер»</vt:lpstr>
      <vt:lpstr>Распределенные информационные системы.</vt:lpstr>
      <vt:lpstr>Характеристики РВС:</vt:lpstr>
      <vt:lpstr>Слои программного обеспечения в РВС</vt:lpstr>
      <vt:lpstr>Особенности распределенных систем с точки зрения проектировщика</vt:lpstr>
      <vt:lpstr>Особенности распределенных систем с точки зрения проектировщика</vt:lpstr>
      <vt:lpstr>Особенности распределенных систем с точки зрения проектировщика</vt:lpstr>
      <vt:lpstr>Сервис-ориентированная архитектура</vt:lpstr>
      <vt:lpstr>Сервис-ориентированная архитектура</vt:lpstr>
      <vt:lpstr>Облачные информационные системы</vt:lpstr>
      <vt:lpstr>Типы облаков</vt:lpstr>
      <vt:lpstr>Облачные информационные системы</vt:lpstr>
      <vt:lpstr>Облачные информационные системы</vt:lpstr>
      <vt:lpstr>Что имеем сегодня?</vt:lpstr>
      <vt:lpstr>Что имеем сегодня?</vt:lpstr>
      <vt:lpstr>Что имеем сегодня?</vt:lpstr>
      <vt:lpstr>Что имеем сегодня?</vt:lpstr>
      <vt:lpstr>Факторы, влияющие на выбор архитектуры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2016-09-07T06:39:17Z</dcterms:created>
  <dcterms:modified xsi:type="dcterms:W3CDTF">2016-09-08T11:47:59Z</dcterms:modified>
</cp:coreProperties>
</file>