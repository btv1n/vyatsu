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1"/>
  </p:notesMasterIdLst>
  <p:sldIdLst>
    <p:sldId id="258" r:id="rId2"/>
    <p:sldId id="337" r:id="rId3"/>
    <p:sldId id="338" r:id="rId4"/>
    <p:sldId id="332" r:id="rId5"/>
    <p:sldId id="259" r:id="rId6"/>
    <p:sldId id="256" r:id="rId7"/>
    <p:sldId id="257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3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84" r:id="rId36"/>
    <p:sldId id="285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3" r:id="rId77"/>
    <p:sldId id="334" r:id="rId78"/>
    <p:sldId id="335" r:id="rId79"/>
    <p:sldId id="336" r:id="rId8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1867" autoAdjust="0"/>
  </p:normalViewPr>
  <p:slideViewPr>
    <p:cSldViewPr snapToGrid="0">
      <p:cViewPr varScale="1">
        <p:scale>
          <a:sx n="95" d="100"/>
          <a:sy n="95" d="100"/>
        </p:scale>
        <p:origin x="21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B7C60A-DD81-424B-BE92-6FE2508CD5C3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109C-5AA0-4095-A779-4EA69159A9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46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166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821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2561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753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265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129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719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589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727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27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057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</a:t>
            </a:r>
            <a:r>
              <a:rPr lang="ru-RU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739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1. 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3567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2. с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6691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a,b,c,d,e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0135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4. </a:t>
            </a:r>
            <a:r>
              <a:rPr lang="en-US" dirty="0" err="1" smtClean="0"/>
              <a:t>a,b,c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374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a,b,c,d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4263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6. False</a:t>
            </a:r>
          </a:p>
          <a:p>
            <a:r>
              <a:rPr lang="en-US" dirty="0" smtClean="0"/>
              <a:t>7. True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3511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8. False</a:t>
            </a:r>
          </a:p>
          <a:p>
            <a:r>
              <a:rPr lang="en-US" dirty="0" smtClean="0"/>
              <a:t>9. True</a:t>
            </a:r>
          </a:p>
          <a:p>
            <a:r>
              <a:rPr lang="en-US" dirty="0" smtClean="0"/>
              <a:t>10. True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48959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2060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9182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7006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21590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67637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65601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3715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7685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692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5018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2372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8489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26031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7296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3441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8935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2293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0625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7143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7980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5966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9620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34681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1.Ответ:</a:t>
            </a:r>
          </a:p>
          <a:p>
            <a:r>
              <a:rPr lang="ru-RU" dirty="0" smtClean="0"/>
              <a:t>▫Четкое разделение функций и границ между уровнями облегчает разработку, проектирование и диагностику и устранение проблем в любом компоненте.</a:t>
            </a:r>
          </a:p>
          <a:p>
            <a:r>
              <a:rPr lang="ru-RU" dirty="0" smtClean="0"/>
              <a:t>▫Возможность определения функций каждого уровня способствуют стандартизации в отрасли.</a:t>
            </a:r>
          </a:p>
          <a:p>
            <a:r>
              <a:rPr lang="ru-RU" dirty="0" smtClean="0"/>
              <a:t>▫Интерфейсы, обеспечивающие связь между аппаратным и программным обеспечением в различных сетях, улучшают общую совместимость.</a:t>
            </a:r>
          </a:p>
          <a:p>
            <a:r>
              <a:rPr lang="ru-RU" dirty="0" smtClean="0"/>
              <a:t>2.Ответ:</a:t>
            </a:r>
          </a:p>
          <a:p>
            <a:r>
              <a:rPr lang="ru-RU" dirty="0" smtClean="0"/>
              <a:t>▫Уровень приложений: HTTP, FTP, </a:t>
            </a:r>
            <a:r>
              <a:rPr lang="ru-RU" dirty="0" err="1" smtClean="0"/>
              <a:t>Telnet</a:t>
            </a:r>
            <a:r>
              <a:rPr lang="ru-RU" dirty="0" smtClean="0"/>
              <a:t> и т.д.</a:t>
            </a:r>
          </a:p>
          <a:p>
            <a:r>
              <a:rPr lang="ru-RU" dirty="0" smtClean="0"/>
              <a:t>▫Транспортный уровень: UDP и TCP</a:t>
            </a:r>
          </a:p>
          <a:p>
            <a:r>
              <a:rPr lang="ru-RU" dirty="0" smtClean="0"/>
              <a:t>▫Сетевой уровень: IP, ICMP и т.д.</a:t>
            </a:r>
          </a:p>
          <a:p>
            <a:r>
              <a:rPr lang="ru-RU" dirty="0" smtClean="0"/>
              <a:t>▫Канальный уровень: </a:t>
            </a:r>
            <a:r>
              <a:rPr lang="ru-RU" dirty="0" err="1" smtClean="0"/>
              <a:t>Ethernet</a:t>
            </a:r>
            <a:r>
              <a:rPr lang="ru-RU" dirty="0" smtClean="0"/>
              <a:t>, PPP, </a:t>
            </a:r>
            <a:r>
              <a:rPr lang="ru-RU" dirty="0" err="1" smtClean="0"/>
              <a:t>PPPoE</a:t>
            </a:r>
            <a:r>
              <a:rPr lang="ru-RU" dirty="0" smtClean="0"/>
              <a:t> и т.д.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325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aseline="0" dirty="0" smtClean="0"/>
              <a:t>1 A</a:t>
            </a:r>
          </a:p>
          <a:p>
            <a:pPr marL="0" indent="0">
              <a:buNone/>
            </a:pPr>
            <a:r>
              <a:rPr lang="en-US" baseline="0" dirty="0" smtClean="0"/>
              <a:t>2 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6323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3 ACD</a:t>
            </a:r>
          </a:p>
          <a:p>
            <a:r>
              <a:rPr lang="en-US" dirty="0" smtClean="0"/>
              <a:t>4 ABCD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51364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5 AC</a:t>
            </a:r>
          </a:p>
          <a:p>
            <a:r>
              <a:rPr lang="en-US" dirty="0" smtClean="0"/>
              <a:t>6 BD</a:t>
            </a:r>
          </a:p>
          <a:p>
            <a:r>
              <a:rPr lang="en-US" dirty="0" smtClean="0"/>
              <a:t>7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8969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8 B</a:t>
            </a:r>
          </a:p>
          <a:p>
            <a:r>
              <a:rPr lang="en-US" dirty="0" smtClean="0"/>
              <a:t>9 A</a:t>
            </a:r>
          </a:p>
          <a:p>
            <a:r>
              <a:rPr lang="en-US" dirty="0" smtClean="0"/>
              <a:t>10 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E109C-5AA0-4095-A779-4EA69159A9E3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633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F2B0-FD49-4434-BA35-90D66DB1E77B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A443D-33FF-4B13-B323-9EF39B031E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533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F2B0-FD49-4434-BA35-90D66DB1E77B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A443D-33FF-4B13-B323-9EF39B031E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708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F2B0-FD49-4434-BA35-90D66DB1E77B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A443D-33FF-4B13-B323-9EF39B031E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005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F2B0-FD49-4434-BA35-90D66DB1E77B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A443D-33FF-4B13-B323-9EF39B031E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516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F2B0-FD49-4434-BA35-90D66DB1E77B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A443D-33FF-4B13-B323-9EF39B031E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086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F2B0-FD49-4434-BA35-90D66DB1E77B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A443D-33FF-4B13-B323-9EF39B031E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627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F2B0-FD49-4434-BA35-90D66DB1E77B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A443D-33FF-4B13-B323-9EF39B031E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807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F2B0-FD49-4434-BA35-90D66DB1E77B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A443D-33FF-4B13-B323-9EF39B031E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99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F2B0-FD49-4434-BA35-90D66DB1E77B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A443D-33FF-4B13-B323-9EF39B031E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8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F2B0-FD49-4434-BA35-90D66DB1E77B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A443D-33FF-4B13-B323-9EF39B031E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148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2F2B0-FD49-4434-BA35-90D66DB1E77B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A443D-33FF-4B13-B323-9EF39B031E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42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2F2B0-FD49-4434-BA35-90D66DB1E77B}" type="datetimeFigureOut">
              <a:rPr lang="ru-RU" smtClean="0"/>
              <a:t>08.09.2023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A443D-33FF-4B13-B323-9EF39B031E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49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Сетевое администрирование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24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ja-JP" b="1" dirty="0"/>
              <a:t>Понятие, цель и задачи сетевого администрирования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2309" y="1825624"/>
            <a:ext cx="8643668" cy="483396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altLang="ru-RU" sz="2900" b="1" dirty="0"/>
              <a:t>Компьютерная сеть</a:t>
            </a:r>
            <a:r>
              <a:rPr lang="ru-RU" altLang="ru-RU" sz="2900" dirty="0"/>
              <a:t> (</a:t>
            </a:r>
            <a:r>
              <a:rPr lang="ru-RU" altLang="ru-RU" sz="2900" b="1" dirty="0"/>
              <a:t>вычислительная сеть</a:t>
            </a:r>
            <a:r>
              <a:rPr lang="ru-RU" altLang="ru-RU" sz="2900" dirty="0"/>
              <a:t>)  – система, обеспечивающая обмен данными между вычислительными устройствами.</a:t>
            </a:r>
            <a:endParaRPr lang="en-US" altLang="ru-RU" sz="2900" dirty="0"/>
          </a:p>
          <a:p>
            <a:pPr marL="0" indent="0">
              <a:buNone/>
            </a:pPr>
            <a:r>
              <a:rPr lang="ru-RU" altLang="ru-RU" sz="2900" dirty="0"/>
              <a:t>Цель создания любой компьютерной </a:t>
            </a:r>
            <a:r>
              <a:rPr lang="ru-RU" altLang="ru-RU" sz="2900" dirty="0" smtClean="0"/>
              <a:t>сети – </a:t>
            </a:r>
            <a:r>
              <a:rPr lang="ru-RU" altLang="ru-RU" sz="2900" dirty="0"/>
              <a:t>предоставление доступа к её ресурсам.</a:t>
            </a:r>
          </a:p>
          <a:p>
            <a:pPr marL="0" indent="0">
              <a:buNone/>
            </a:pPr>
            <a:r>
              <a:rPr lang="ru-RU" altLang="ru-RU" sz="2900" dirty="0"/>
              <a:t>Виды ресурсов: </a:t>
            </a:r>
          </a:p>
          <a:p>
            <a:pPr lvl="1" indent="-220663"/>
            <a:r>
              <a:rPr lang="ru-RU" altLang="ru-RU" sz="2900" dirty="0"/>
              <a:t>данные (файлы и папки)</a:t>
            </a:r>
          </a:p>
          <a:p>
            <a:pPr lvl="1" indent="-220663"/>
            <a:r>
              <a:rPr lang="ru-RU" altLang="ru-RU" sz="2900" dirty="0"/>
              <a:t>устройства (принтеры, сканеры, модемы)</a:t>
            </a:r>
          </a:p>
          <a:p>
            <a:pPr lvl="1" indent="-220663"/>
            <a:r>
              <a:rPr lang="ru-RU" altLang="ru-RU" sz="2900" dirty="0"/>
              <a:t>вычислительные возможности, обеспечиваемые процессорами</a:t>
            </a:r>
          </a:p>
          <a:p>
            <a:pPr marL="0" indent="0">
              <a:buNone/>
            </a:pPr>
            <a:r>
              <a:rPr lang="ru-RU" altLang="ru-RU" i="1" dirty="0"/>
              <a:t>Сетевое администрирование</a:t>
            </a:r>
            <a:r>
              <a:rPr lang="ru-RU" altLang="ru-RU" dirty="0"/>
              <a:t> </a:t>
            </a:r>
            <a:r>
              <a:rPr lang="ru-RU" altLang="ru-RU" dirty="0" smtClean="0"/>
              <a:t>– управление </a:t>
            </a:r>
            <a:r>
              <a:rPr lang="ru-RU" altLang="ru-RU" dirty="0"/>
              <a:t>ресурсами и инфраструктурой сети для обеспечения эффективного, надежного и безопасного доступа к её ресурсам.</a:t>
            </a:r>
          </a:p>
          <a:p>
            <a:pPr>
              <a:buNone/>
            </a:pPr>
            <a:r>
              <a:rPr lang="ru-RU" altLang="ru-RU" dirty="0"/>
              <a:t>Группы задач сетевого администрирования:</a:t>
            </a:r>
          </a:p>
          <a:p>
            <a:r>
              <a:rPr lang="ru-RU" altLang="ru-RU" dirty="0"/>
              <a:t>задачи планирования</a:t>
            </a:r>
          </a:p>
          <a:p>
            <a:r>
              <a:rPr lang="ru-RU" altLang="ru-RU" dirty="0"/>
              <a:t>задачи установки и настройки программного и аппаратного обеспечения</a:t>
            </a:r>
          </a:p>
          <a:p>
            <a:r>
              <a:rPr lang="ru-RU" altLang="ru-RU" dirty="0"/>
              <a:t>задачи управления безопасностью</a:t>
            </a:r>
          </a:p>
          <a:p>
            <a:r>
              <a:rPr lang="ru-RU" altLang="ru-RU" dirty="0"/>
              <a:t>задачи управления </a:t>
            </a:r>
            <a:r>
              <a:rPr lang="ru-RU" altLang="ru-RU" dirty="0" smtClean="0"/>
              <a:t>производительностью</a:t>
            </a:r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2237192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ja-JP" b="1" dirty="0"/>
              <a:t>Понятие, цель и задачи сетевого администрирования</a:t>
            </a:r>
            <a:endParaRPr lang="ru-RU" dirty="0"/>
          </a:p>
        </p:txBody>
      </p:sp>
      <p:graphicFrame>
        <p:nvGraphicFramePr>
          <p:cNvPr id="4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3556684"/>
              </p:ext>
            </p:extLst>
          </p:nvPr>
        </p:nvGraphicFramePr>
        <p:xfrm>
          <a:off x="1155939" y="1490145"/>
          <a:ext cx="7080725" cy="5212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Visio" r:id="rId3" imgW="6166866" imgH="4540758" progId="Visio.Drawing.11">
                  <p:embed/>
                </p:oleObj>
              </mc:Choice>
              <mc:Fallback>
                <p:oleObj name="Visio" r:id="rId3" imgW="6166866" imgH="454075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939" y="1490145"/>
                        <a:ext cx="7080725" cy="52125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6016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759" y="0"/>
            <a:ext cx="8274294" cy="349701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/>
          <a:srcRect l="465" t="7008" r="1046" b="1770"/>
          <a:stretch/>
        </p:blipFill>
        <p:spPr>
          <a:xfrm>
            <a:off x="0" y="3497016"/>
            <a:ext cx="8325293" cy="208378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4"/>
          <a:srcRect l="349" t="2475" r="581" b="3900"/>
          <a:stretch/>
        </p:blipFill>
        <p:spPr>
          <a:xfrm>
            <a:off x="0" y="5580798"/>
            <a:ext cx="9144000" cy="128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5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0579"/>
            <a:ext cx="9144000" cy="617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26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13" y="1022552"/>
            <a:ext cx="9157413" cy="4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62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" y="775405"/>
            <a:ext cx="9142515" cy="485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04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6086"/>
            <a:ext cx="9144000" cy="486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81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773458"/>
            <a:ext cx="9144001" cy="477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0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0429"/>
            <a:ext cx="9158453" cy="484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06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2962"/>
            <a:ext cx="9143045" cy="483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67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95232"/>
            <a:ext cx="9138952" cy="481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30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08968"/>
            <a:ext cx="9126518" cy="481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62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4424"/>
            <a:ext cx="9144000" cy="486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757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3692"/>
            <a:ext cx="9140512" cy="484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9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0945"/>
            <a:ext cx="9144000" cy="485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06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1202"/>
            <a:ext cx="9142559" cy="483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9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2781"/>
            <a:ext cx="9146361" cy="475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9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0727"/>
            <a:ext cx="9138950" cy="481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35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4424"/>
            <a:ext cx="9144000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4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6914"/>
            <a:ext cx="9131730" cy="487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010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6439"/>
            <a:ext cx="9128093" cy="484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98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3218"/>
            <a:ext cx="9144000" cy="482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61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708968"/>
            <a:ext cx="9144001" cy="482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767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1202"/>
            <a:ext cx="9144000" cy="483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729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746440"/>
            <a:ext cx="9144001" cy="485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95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5334"/>
            <a:ext cx="9144000" cy="484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381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2114240"/>
            <a:ext cx="7886700" cy="27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80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2447380"/>
            <a:ext cx="7886700" cy="252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75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2191518"/>
            <a:ext cx="7886700" cy="323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25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2435948"/>
            <a:ext cx="7886700" cy="254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741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2250710"/>
            <a:ext cx="7886700" cy="253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33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1897088"/>
            <a:ext cx="7886700" cy="344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85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39371" y="1428810"/>
            <a:ext cx="68652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4525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0508"/>
            <a:ext cx="9144000" cy="477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11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8956"/>
            <a:ext cx="9144000" cy="430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75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0727"/>
            <a:ext cx="9144000" cy="481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116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5964"/>
            <a:ext cx="9144000" cy="485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01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9777"/>
            <a:ext cx="9144000" cy="479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796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9186"/>
            <a:ext cx="9144000" cy="487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343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8237"/>
            <a:ext cx="9144000" cy="484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458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2743"/>
            <a:ext cx="9144000" cy="482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102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85785"/>
            <a:ext cx="9144000" cy="478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0940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24424"/>
            <a:ext cx="9144000" cy="491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506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8237"/>
            <a:ext cx="9144000" cy="482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771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7762"/>
            <a:ext cx="9144000" cy="47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418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3948"/>
            <a:ext cx="9144000" cy="482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476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94682"/>
            <a:ext cx="9144000" cy="483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371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0946"/>
            <a:ext cx="9144000" cy="483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536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5488"/>
            <a:ext cx="9144000" cy="480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887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16696"/>
            <a:ext cx="9144000" cy="483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818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5965"/>
            <a:ext cx="9144000" cy="482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965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4643"/>
            <a:ext cx="9144000" cy="488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737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6657"/>
            <a:ext cx="9144000" cy="488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47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3218"/>
            <a:ext cx="9144000" cy="482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172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16696"/>
            <a:ext cx="9144000" cy="483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388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3691"/>
            <a:ext cx="9144000" cy="486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3167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6915"/>
            <a:ext cx="9144000" cy="487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7853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88121"/>
            <a:ext cx="9144000" cy="491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9449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21459"/>
            <a:ext cx="9144000" cy="482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84285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2371"/>
            <a:ext cx="9144000" cy="491987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864" y="5672240"/>
            <a:ext cx="1743489" cy="19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5053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8236"/>
            <a:ext cx="9144000" cy="480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530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9405"/>
            <a:ext cx="9144000" cy="488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175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08338"/>
            <a:ext cx="9144000" cy="494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979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0508"/>
            <a:ext cx="9144000" cy="477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304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5490"/>
            <a:ext cx="9144000" cy="479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6523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2306"/>
            <a:ext cx="9144000" cy="472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540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6440"/>
            <a:ext cx="9144000" cy="489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8752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35746"/>
            <a:ext cx="9144000" cy="478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47676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4539"/>
            <a:ext cx="9144000" cy="477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718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07171"/>
            <a:ext cx="9144000" cy="487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310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94681"/>
            <a:ext cx="9144000" cy="493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2298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13732"/>
            <a:ext cx="9144000" cy="486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8758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83988"/>
            <a:ext cx="9144000" cy="482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1148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09639"/>
            <a:ext cx="9144000" cy="483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856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433722"/>
            <a:ext cx="9144000" cy="291470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14253"/>
            <a:ext cx="9144000" cy="247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945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639905"/>
            <a:ext cx="9144000" cy="267368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88367"/>
            <a:ext cx="9144000" cy="285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521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420"/>
            <a:ext cx="9144000" cy="242831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60080"/>
            <a:ext cx="9144000" cy="429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1088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7907"/>
            <a:ext cx="9143999" cy="488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3142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571</TotalTime>
  <Words>213</Words>
  <PresentationFormat>Экран (4:3)</PresentationFormat>
  <Paragraphs>92</Paragraphs>
  <Slides>79</Slides>
  <Notes>47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79</vt:i4>
      </vt:variant>
    </vt:vector>
  </HeadingPairs>
  <TitlesOfParts>
    <vt:vector size="85" baseType="lpstr">
      <vt:lpstr>ＭＳ Ｐゴシック</vt:lpstr>
      <vt:lpstr>Arial</vt:lpstr>
      <vt:lpstr>Calibri</vt:lpstr>
      <vt:lpstr>Calibri Light</vt:lpstr>
      <vt:lpstr>Тема Office</vt:lpstr>
      <vt:lpstr>Visio</vt:lpstr>
      <vt:lpstr>Сетевое администрирование</vt:lpstr>
      <vt:lpstr>Понятие, цель и задачи сетевого администрирования</vt:lpstr>
      <vt:lpstr>Понятие, цель и задачи сетевого администрирования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2022-01-30T21:01:24Z</dcterms:created>
  <dcterms:modified xsi:type="dcterms:W3CDTF">2023-09-08T08:02:06Z</dcterms:modified>
</cp:coreProperties>
</file>