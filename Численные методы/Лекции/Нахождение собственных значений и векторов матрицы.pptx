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6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5714E-BA07-49A0-BC11-187A4E9C7947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29B0-230E-415E-8963-F14272FE1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416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5714E-BA07-49A0-BC11-187A4E9C7947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29B0-230E-415E-8963-F14272FE1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3406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5714E-BA07-49A0-BC11-187A4E9C7947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29B0-230E-415E-8963-F14272FE1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24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5714E-BA07-49A0-BC11-187A4E9C7947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29B0-230E-415E-8963-F14272FE1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930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5714E-BA07-49A0-BC11-187A4E9C7947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29B0-230E-415E-8963-F14272FE1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502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5714E-BA07-49A0-BC11-187A4E9C7947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29B0-230E-415E-8963-F14272FE1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149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5714E-BA07-49A0-BC11-187A4E9C7947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29B0-230E-415E-8963-F14272FE1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6684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5714E-BA07-49A0-BC11-187A4E9C7947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29B0-230E-415E-8963-F14272FE1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482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5714E-BA07-49A0-BC11-187A4E9C7947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29B0-230E-415E-8963-F14272FE1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517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5714E-BA07-49A0-BC11-187A4E9C7947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29B0-230E-415E-8963-F14272FE1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510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5714E-BA07-49A0-BC11-187A4E9C7947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29B0-230E-415E-8963-F14272FE1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72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5714E-BA07-49A0-BC11-187A4E9C7947}" type="datetimeFigureOut">
              <a:rPr lang="ru-RU" smtClean="0"/>
              <a:t>30.09.2024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29B0-230E-415E-8963-F14272FE19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0765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4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1.png"/><Relationship Id="rId4" Type="http://schemas.openxmlformats.org/officeDocument/2006/relationships/image" Target="../media/image35.wmf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35925" y="1313431"/>
            <a:ext cx="7772400" cy="301291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Нахождение собственных значений и векторов матрицы</a:t>
            </a:r>
          </a:p>
        </p:txBody>
      </p:sp>
    </p:spTree>
    <p:extLst>
      <p:ext uri="{BB962C8B-B14F-4D97-AF65-F5344CB8AC3E}">
        <p14:creationId xmlns:p14="http://schemas.microsoft.com/office/powerpoint/2010/main" val="3185096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5569" y="60327"/>
            <a:ext cx="7886700" cy="944690"/>
          </a:xfrm>
        </p:spPr>
        <p:txBody>
          <a:bodyPr/>
          <a:lstStyle/>
          <a:p>
            <a:r>
              <a:rPr lang="ru-RU" b="1" dirty="0"/>
              <a:t>Характеристический многочлен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5569" y="1029138"/>
            <a:ext cx="8668180" cy="5576378"/>
          </a:xfrm>
        </p:spPr>
        <p:txBody>
          <a:bodyPr/>
          <a:lstStyle/>
          <a:p>
            <a:r>
              <a:rPr lang="ru-RU" b="1" dirty="0"/>
              <a:t>Характеристический многочлен</a:t>
            </a:r>
            <a:r>
              <a:rPr lang="ru-RU" dirty="0"/>
              <a:t> определяется для произвольной </a:t>
            </a:r>
            <a:r>
              <a:rPr lang="ru-RU" u="sng" dirty="0"/>
              <a:t>квадратной</a:t>
            </a:r>
            <a:r>
              <a:rPr lang="ru-RU" dirty="0"/>
              <a:t> матрицы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/>
              <a:t>как</a:t>
            </a:r>
          </a:p>
          <a:p>
            <a:pPr marL="0" indent="0">
              <a:buNone/>
            </a:pPr>
            <a:r>
              <a:rPr lang="ru-RU" dirty="0"/>
              <a:t> </a:t>
            </a:r>
            <a:r>
              <a:rPr lang="en-US" dirty="0"/>
              <a:t>|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E</a:t>
            </a:r>
            <a:r>
              <a:rPr lang="en-US" dirty="0"/>
              <a:t>|, </a:t>
            </a:r>
            <a:r>
              <a:rPr lang="ru-RU" dirty="0"/>
              <a:t>  где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dirty="0"/>
              <a:t> – единичная матрица одинакового с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dirty="0"/>
              <a:t> порядка.</a:t>
            </a:r>
          </a:p>
          <a:p>
            <a:r>
              <a:rPr lang="ru-RU" u="sng" dirty="0"/>
              <a:t>Пример</a:t>
            </a:r>
            <a:r>
              <a:rPr lang="ru-RU" dirty="0"/>
              <a:t>. Для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/>
              <a:t>: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Для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05" y="3290531"/>
            <a:ext cx="7715960" cy="92662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733" y="4241280"/>
            <a:ext cx="3557478" cy="123263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36657"/>
            <a:ext cx="8843749" cy="88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13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05218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Свойства характеристических многочленов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6513" y="805218"/>
            <a:ext cx="8733714" cy="5936775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Теорема 1.</a:t>
            </a:r>
            <a:r>
              <a:rPr lang="ru-RU" dirty="0"/>
              <a:t> Характеристический многочлен матрицы </a:t>
            </a:r>
            <a:br>
              <a:rPr lang="ru-RU" dirty="0"/>
            </a:br>
            <a:r>
              <a:rPr lang="ru-RU" u="sng" dirty="0"/>
              <a:t>не меняется</a:t>
            </a:r>
            <a:r>
              <a:rPr lang="ru-RU" dirty="0"/>
              <a:t>:</a:t>
            </a:r>
          </a:p>
          <a:p>
            <a:r>
              <a:rPr lang="ru-RU" dirty="0"/>
              <a:t>при её транспонировании;</a:t>
            </a:r>
          </a:p>
          <a:p>
            <a:r>
              <a:rPr lang="ru-RU" dirty="0"/>
              <a:t>при переходе к эквивалентной матрице.</a:t>
            </a:r>
          </a:p>
          <a:p>
            <a:pPr marL="0" indent="0">
              <a:buNone/>
            </a:pPr>
            <a:r>
              <a:rPr lang="ru-RU" b="1" dirty="0"/>
              <a:t>Теорема 2. </a:t>
            </a:r>
            <a:r>
              <a:rPr lang="ru-RU" dirty="0"/>
              <a:t>Если характеристический многочлен матрицы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/>
              <a:t> </a:t>
            </a:r>
            <a:r>
              <a:rPr lang="ru-RU" dirty="0"/>
              <a:t>равен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то характеристический многочлен матрицы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aseline="30000" dirty="0"/>
              <a:t>-1</a:t>
            </a:r>
            <a:r>
              <a:rPr lang="en-US" dirty="0"/>
              <a:t> </a:t>
            </a:r>
            <a:r>
              <a:rPr lang="ru-RU" dirty="0"/>
              <a:t>равен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321" y="3551758"/>
            <a:ext cx="6799358" cy="87799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83" y="5176383"/>
            <a:ext cx="8724633" cy="81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363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3807" y="256131"/>
            <a:ext cx="8542647" cy="6294793"/>
          </a:xfrm>
        </p:spPr>
        <p:txBody>
          <a:bodyPr>
            <a:normAutofit/>
          </a:bodyPr>
          <a:lstStyle/>
          <a:p>
            <a:r>
              <a:rPr lang="ru-RU" sz="3200" b="1" dirty="0"/>
              <a:t>Теорема (Гамильтона-Кэли) </a:t>
            </a:r>
            <a:r>
              <a:rPr lang="ru-RU" sz="3200" dirty="0"/>
              <a:t>Матрица является корнем своего характеристического многочлена.</a:t>
            </a:r>
          </a:p>
          <a:p>
            <a:r>
              <a:rPr lang="ru-RU" sz="3200" dirty="0"/>
              <a:t>Иначе говоря, результатом подстановки в характеристический многочлен самой матрицы A будет нулевая матрица.</a:t>
            </a:r>
          </a:p>
          <a:p>
            <a:r>
              <a:rPr lang="ru-RU" sz="3200" dirty="0"/>
              <a:t>Пример. Для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/>
              <a:t>:</a:t>
            </a:r>
            <a:endParaRPr lang="ru-RU" sz="32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151" y="3898472"/>
            <a:ext cx="6649957" cy="236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838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0286" y="324371"/>
            <a:ext cx="8733714" cy="6363032"/>
          </a:xfrm>
        </p:spPr>
        <p:txBody>
          <a:bodyPr/>
          <a:lstStyle/>
          <a:p>
            <a:r>
              <a:rPr lang="ru-RU" u="sng" dirty="0"/>
              <a:t>Пример</a:t>
            </a:r>
            <a:r>
              <a:rPr lang="ru-RU" dirty="0"/>
              <a:t>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Характеристический многочлен:</a:t>
            </a:r>
            <a:endParaRPr lang="en-US" dirty="0"/>
          </a:p>
          <a:p>
            <a:pPr marL="0" indent="0" algn="ctr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(2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)(1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)(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) = 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3 + 2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/>
              <a:t>Его корни: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2, 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1, 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0.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677" y="324371"/>
            <a:ext cx="2159403" cy="133847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3259"/>
          <a:stretch/>
        </p:blipFill>
        <p:spPr>
          <a:xfrm>
            <a:off x="2926080" y="1852325"/>
            <a:ext cx="2683504" cy="144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91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7455" y="310721"/>
            <a:ext cx="8761011" cy="6390329"/>
          </a:xfrm>
        </p:spPr>
        <p:txBody>
          <a:bodyPr>
            <a:normAutofit/>
          </a:bodyPr>
          <a:lstStyle/>
          <a:p>
            <a:r>
              <a:rPr lang="ru-RU" sz="3200" dirty="0"/>
              <a:t>Обозначим через </a:t>
            </a:r>
            <a:r>
              <a:rPr lang="ru-RU" sz="3200" dirty="0">
                <a:sym typeface="Symbol" panose="05050102010706020507" pitchFamily="18" charset="2"/>
              </a:rPr>
              <a:t></a:t>
            </a:r>
            <a:r>
              <a:rPr lang="ru-RU" sz="3200" baseline="-25000" dirty="0"/>
              <a:t>1</a:t>
            </a:r>
            <a:r>
              <a:rPr lang="ru-RU" sz="3200" dirty="0"/>
              <a:t>, </a:t>
            </a:r>
            <a:r>
              <a:rPr lang="ru-RU" sz="3200" dirty="0">
                <a:sym typeface="Symbol" panose="05050102010706020507" pitchFamily="18" charset="2"/>
              </a:rPr>
              <a:t></a:t>
            </a:r>
            <a:r>
              <a:rPr lang="en-US" sz="3200" baseline="-25000" dirty="0"/>
              <a:t>2</a:t>
            </a:r>
            <a:r>
              <a:rPr lang="en-US" sz="3200" dirty="0"/>
              <a:t>, …, </a:t>
            </a:r>
            <a:r>
              <a:rPr lang="ru-RU" sz="3200" dirty="0">
                <a:sym typeface="Symbol" panose="05050102010706020507" pitchFamily="18" charset="2"/>
              </a:rPr>
              <a:t>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3200" dirty="0"/>
              <a:t> все корни характеристического многочлена.</a:t>
            </a:r>
          </a:p>
          <a:p>
            <a:r>
              <a:rPr lang="ru-RU" sz="3200" dirty="0"/>
              <a:t>Каждое из чисел </a:t>
            </a:r>
            <a:r>
              <a:rPr lang="ru-RU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sz="3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3200" dirty="0"/>
              <a:t> повторяется в этом ряду столько раз, какова его кратность как корня многочлена.</a:t>
            </a:r>
          </a:p>
          <a:p>
            <a:pPr marL="0" indent="0" algn="ctr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| = (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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)(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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)…(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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396359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035" y="0"/>
            <a:ext cx="7886700" cy="1325563"/>
          </a:xfrm>
        </p:spPr>
        <p:txBody>
          <a:bodyPr/>
          <a:lstStyle/>
          <a:p>
            <a:r>
              <a:rPr lang="ru-RU" b="1" dirty="0"/>
              <a:t>Собственное число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034" y="1052606"/>
            <a:ext cx="8897487" cy="5552909"/>
          </a:xfrm>
        </p:spPr>
        <p:txBody>
          <a:bodyPr/>
          <a:lstStyle/>
          <a:p>
            <a:r>
              <a:rPr lang="ru-RU" b="1" dirty="0"/>
              <a:t>Собственным числом </a:t>
            </a:r>
            <a:r>
              <a:rPr lang="ru-RU" dirty="0"/>
              <a:t>квадратной матрицы A называют произвольный корень её характеристического многочлена.</a:t>
            </a:r>
          </a:p>
          <a:p>
            <a:r>
              <a:rPr lang="ru-RU" dirty="0"/>
              <a:t>Набор всех собственных чисел матрицы A (с учетом их кратностей) называется </a:t>
            </a:r>
            <a:r>
              <a:rPr lang="ru-RU" b="1" dirty="0"/>
              <a:t>спектром матрицы. </a:t>
            </a:r>
          </a:p>
          <a:p>
            <a:r>
              <a:rPr lang="ru-RU" dirty="0"/>
              <a:t>Таким образом, спектр матрицы </a:t>
            </a:r>
            <a:r>
              <a:rPr lang="ru-RU" b="1" dirty="0"/>
              <a:t>A порядка n всегда состоит из </a:t>
            </a:r>
            <a:r>
              <a:rPr lang="ru-RU" b="1" i="1" dirty="0"/>
              <a:t>n</a:t>
            </a:r>
            <a:r>
              <a:rPr lang="ru-RU" b="1" dirty="0"/>
              <a:t> чисел</a:t>
            </a:r>
            <a:r>
              <a:rPr lang="ru-RU" dirty="0"/>
              <a:t>, часть из которых могут быть одинаковыми. </a:t>
            </a:r>
          </a:p>
          <a:p>
            <a:r>
              <a:rPr lang="ru-RU" dirty="0"/>
              <a:t>Максимальный из модулей собственных чисел матрицы A называется её </a:t>
            </a:r>
            <a:r>
              <a:rPr lang="ru-RU" b="1" dirty="0"/>
              <a:t>спектральным радиусом.</a:t>
            </a:r>
            <a:r>
              <a:rPr lang="ru-RU" dirty="0"/>
              <a:t> </a:t>
            </a:r>
          </a:p>
          <a:p>
            <a:r>
              <a:rPr lang="ru-RU" dirty="0"/>
              <a:t>Он иногда обозначается </a:t>
            </a:r>
            <a:r>
              <a:rPr lang="ru-RU" dirty="0">
                <a:sym typeface="Symbol" panose="05050102010706020507" pitchFamily="18" charset="2"/>
              </a:rPr>
              <a:t></a:t>
            </a:r>
            <a:r>
              <a:rPr lang="ru-RU" dirty="0"/>
              <a:t>(A).</a:t>
            </a:r>
          </a:p>
        </p:txBody>
      </p:sp>
    </p:spTree>
    <p:extLst>
      <p:ext uri="{BB962C8B-B14F-4D97-AF65-F5344CB8AC3E}">
        <p14:creationId xmlns:p14="http://schemas.microsoft.com/office/powerpoint/2010/main" val="3746625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4626" y="119655"/>
            <a:ext cx="8651827" cy="6444918"/>
          </a:xfrm>
        </p:spPr>
        <p:txBody>
          <a:bodyPr/>
          <a:lstStyle/>
          <a:p>
            <a:r>
              <a:rPr lang="ru-RU" u="sng" dirty="0"/>
              <a:t>Пример</a:t>
            </a:r>
            <a:r>
              <a:rPr lang="ru-RU" dirty="0"/>
              <a:t>. Найти спектр матрицы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Корни:</a:t>
            </a:r>
          </a:p>
          <a:p>
            <a:endParaRPr lang="ru-RU" dirty="0"/>
          </a:p>
          <a:p>
            <a:r>
              <a:rPr lang="ru-RU" dirty="0"/>
              <a:t>Ответ: Спектр матрицы </a:t>
            </a:r>
            <a:r>
              <a:rPr lang="en-US" dirty="0"/>
              <a:t>A: </a:t>
            </a:r>
            <a:endParaRPr lang="ru-RU" dirty="0"/>
          </a:p>
          <a:p>
            <a:r>
              <a:rPr lang="ru-RU" dirty="0"/>
              <a:t>Спектральный радиус матрицы 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762" y="614220"/>
            <a:ext cx="3227554" cy="161377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925" y="2334476"/>
            <a:ext cx="3843227" cy="150054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145" y="3941498"/>
            <a:ext cx="3843454" cy="50132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0538" y="4760841"/>
            <a:ext cx="2196865" cy="40509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1865" y="5165937"/>
            <a:ext cx="1630715" cy="44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37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15350" cy="955343"/>
          </a:xfrm>
        </p:spPr>
        <p:txBody>
          <a:bodyPr/>
          <a:lstStyle/>
          <a:p>
            <a:r>
              <a:rPr lang="ru-RU" dirty="0"/>
              <a:t>Свойства собственных чисел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955342"/>
            <a:ext cx="9048466" cy="5786651"/>
          </a:xfrm>
        </p:spPr>
        <p:txBody>
          <a:bodyPr/>
          <a:lstStyle/>
          <a:p>
            <a:r>
              <a:rPr lang="ru-RU" b="1" dirty="0"/>
              <a:t>Теорема</a:t>
            </a:r>
            <a:r>
              <a:rPr lang="ru-RU" dirty="0"/>
              <a:t>. Если </a:t>
            </a:r>
            <a:r>
              <a:rPr lang="en-US" dirty="0"/>
              <a:t>{</a:t>
            </a:r>
            <a:r>
              <a:rPr lang="ru-RU" dirty="0">
                <a:sym typeface="Symbol" panose="05050102010706020507" pitchFamily="18" charset="2"/>
              </a:rPr>
              <a:t></a:t>
            </a:r>
            <a:r>
              <a:rPr lang="ru-RU" baseline="-25000" dirty="0"/>
              <a:t>1</a:t>
            </a:r>
            <a:r>
              <a:rPr lang="ru-RU" dirty="0"/>
              <a:t>, </a:t>
            </a:r>
            <a:r>
              <a:rPr lang="ru-RU" dirty="0">
                <a:sym typeface="Symbol" panose="05050102010706020507" pitchFamily="18" charset="2"/>
              </a:rPr>
              <a:t>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ru-RU" dirty="0">
                <a:sym typeface="Symbol" panose="05050102010706020507" pitchFamily="18" charset="2"/>
              </a:rPr>
              <a:t></a:t>
            </a:r>
            <a:r>
              <a:rPr lang="en-US" baseline="-25000" dirty="0"/>
              <a:t>n</a:t>
            </a:r>
            <a:r>
              <a:rPr lang="en-US" dirty="0"/>
              <a:t>} — </a:t>
            </a:r>
            <a:r>
              <a:rPr lang="ru-RU" dirty="0"/>
              <a:t>спектр матрицы</a:t>
            </a:r>
            <a:r>
              <a:rPr lang="en-US" dirty="0"/>
              <a:t> A, </a:t>
            </a:r>
            <a:r>
              <a:rPr lang="ru-RU" dirty="0"/>
              <a:t>то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Для того, чтобы матрица A была невырожденной необходимо и достаточно, чтобы среди её собственных чисел не было нулевого.</a:t>
            </a:r>
          </a:p>
          <a:p>
            <a:r>
              <a:rPr lang="ru-RU" b="1" dirty="0"/>
              <a:t>Теорема</a:t>
            </a:r>
            <a:r>
              <a:rPr lang="ru-RU" dirty="0"/>
              <a:t>. Собственные числа вещественной симметричной матрицы A все вещественны.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51" y="1481706"/>
            <a:ext cx="7753366" cy="132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32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5820" y="1"/>
            <a:ext cx="7886700" cy="914400"/>
          </a:xfrm>
        </p:spPr>
        <p:txBody>
          <a:bodyPr/>
          <a:lstStyle/>
          <a:p>
            <a:r>
              <a:rPr lang="ru-RU" b="1" dirty="0"/>
              <a:t>Собственные векторы матрицы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-1" y="914400"/>
            <a:ext cx="8952931" cy="5943599"/>
          </a:xfrm>
        </p:spPr>
        <p:txBody>
          <a:bodyPr/>
          <a:lstStyle/>
          <a:p>
            <a:r>
              <a:rPr lang="ru-RU" dirty="0"/>
              <a:t>Пусть задана квадратная матрица 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Ненулевой вектор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называется </a:t>
            </a:r>
            <a:r>
              <a:rPr lang="ru-RU" b="1" dirty="0"/>
              <a:t>собственным вектором </a:t>
            </a:r>
            <a:r>
              <a:rPr lang="ru-RU" dirty="0"/>
              <a:t>матрицы A, если существует такое ненулевое число </a:t>
            </a:r>
            <a:r>
              <a:rPr lang="ru-RU" dirty="0">
                <a:sym typeface="Symbol" panose="05050102010706020507" pitchFamily="18" charset="2"/>
              </a:rPr>
              <a:t></a:t>
            </a:r>
            <a:r>
              <a:rPr lang="ru-RU" dirty="0"/>
              <a:t>, что </a:t>
            </a:r>
          </a:p>
          <a:p>
            <a:pPr marL="0" indent="0" algn="ctr">
              <a:buNone/>
            </a:pPr>
            <a:r>
              <a:rPr lang="ru-RU" dirty="0"/>
              <a:t>AX = </a:t>
            </a:r>
            <a:r>
              <a:rPr lang="ru-RU" dirty="0">
                <a:sym typeface="Symbol" panose="05050102010706020507" pitchFamily="18" charset="2"/>
              </a:rPr>
              <a:t></a:t>
            </a:r>
            <a:r>
              <a:rPr lang="ru-RU" dirty="0"/>
              <a:t>X.</a:t>
            </a:r>
          </a:p>
          <a:p>
            <a:r>
              <a:rPr lang="ru-RU" dirty="0"/>
              <a:t>Число </a:t>
            </a:r>
            <a:r>
              <a:rPr lang="ru-RU" dirty="0">
                <a:sym typeface="Symbol" panose="05050102010706020507" pitchFamily="18" charset="2"/>
              </a:rPr>
              <a:t> </a:t>
            </a:r>
            <a:r>
              <a:rPr lang="ru-RU" dirty="0"/>
              <a:t>при этом называется </a:t>
            </a:r>
            <a:r>
              <a:rPr lang="ru-RU" b="1" dirty="0"/>
              <a:t>собственным значением вектора</a:t>
            </a:r>
            <a:r>
              <a:rPr lang="ru-RU" dirty="0"/>
              <a:t> X относительно матрицы A.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941" y="1311535"/>
            <a:ext cx="3849663" cy="167760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293" y="2347695"/>
            <a:ext cx="1747056" cy="201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98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4626" y="174245"/>
            <a:ext cx="8624532" cy="6376679"/>
          </a:xfrm>
        </p:spPr>
        <p:txBody>
          <a:bodyPr>
            <a:normAutofit/>
          </a:bodyPr>
          <a:lstStyle/>
          <a:p>
            <a:r>
              <a:rPr lang="ru-RU" sz="3200" dirty="0"/>
              <a:t>Координаты собственного вектора X соответствующего собственному значению </a:t>
            </a:r>
            <a:r>
              <a:rPr lang="ru-RU" sz="3200" dirty="0">
                <a:sym typeface="Symbol" panose="05050102010706020507" pitchFamily="18" charset="2"/>
              </a:rPr>
              <a:t> </a:t>
            </a:r>
            <a:r>
              <a:rPr lang="ru-RU" sz="3200" dirty="0"/>
              <a:t>находятся из однородной системы уравнений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26" y="1805698"/>
            <a:ext cx="8275514" cy="250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04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8273" y="324371"/>
            <a:ext cx="8965727" cy="6253850"/>
          </a:xfrm>
        </p:spPr>
        <p:txBody>
          <a:bodyPr/>
          <a:lstStyle/>
          <a:p>
            <a:r>
              <a:rPr lang="ru-RU" u="sng" dirty="0"/>
              <a:t>Пример</a:t>
            </a:r>
            <a:r>
              <a:rPr lang="ru-RU" dirty="0"/>
              <a:t>: Найти собственные числа и собственные векторы матрицы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Обозначим через               искомый собственный вектор.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 Две матрицы равны, если равны их соответствующие элементы. Приравниваем соответствующие элементы векторов-столбцов и получаем однородную систему линейных уравнений: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042" y="992601"/>
            <a:ext cx="1842585" cy="89986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543" y="2011412"/>
            <a:ext cx="982926" cy="90920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65" y="2840166"/>
            <a:ext cx="2916496" cy="87861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856" y="2759153"/>
            <a:ext cx="2418250" cy="95962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9472" y="5355401"/>
            <a:ext cx="2463724" cy="110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81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1102" y="310723"/>
            <a:ext cx="8638181" cy="6403975"/>
          </a:xfrm>
        </p:spPr>
        <p:txBody>
          <a:bodyPr/>
          <a:lstStyle/>
          <a:p>
            <a:r>
              <a:rPr lang="ru-RU" dirty="0"/>
              <a:t>Перенесём всё налево: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По определению, собственный вектор не может быть нулевым.</a:t>
            </a:r>
          </a:p>
          <a:p>
            <a:r>
              <a:rPr lang="ru-RU" dirty="0"/>
              <a:t>Следовательно, уравнения линейно зависимы и определитель матрицы системы равен нулю: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Раскроем определитель и решим квадратное уравнение: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56" y="765340"/>
            <a:ext cx="2623201" cy="106346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393" y="765340"/>
            <a:ext cx="2974606" cy="106346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348" y="3598696"/>
            <a:ext cx="2690826" cy="100158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850" y="5432645"/>
            <a:ext cx="4227373" cy="48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68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5464" y="378962"/>
            <a:ext cx="8978536" cy="6581396"/>
          </a:xfrm>
        </p:spPr>
        <p:txBody>
          <a:bodyPr>
            <a:normAutofit/>
          </a:bodyPr>
          <a:lstStyle/>
          <a:p>
            <a:r>
              <a:rPr lang="ru-RU" dirty="0"/>
              <a:t>Собственные значения:</a:t>
            </a:r>
          </a:p>
          <a:p>
            <a:r>
              <a:rPr lang="ru-RU" dirty="0"/>
              <a:t>В данном примере получены различные собственные числа и </a:t>
            </a:r>
            <a:r>
              <a:rPr lang="ru-RU" u="sng" dirty="0"/>
              <a:t>каждому из них соответствует свои собственные векторы</a:t>
            </a:r>
            <a:r>
              <a:rPr lang="ru-RU" dirty="0"/>
              <a:t>.  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Рассмотрим собственное число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dirty="0"/>
              <a:t>и подставим значение 2 в систему уравнений: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Если в ходе решения выяснилось, что линейной зависимости нет (т.е. получается только тривиальное решение, в данном примере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r>
              <a:rPr lang="en-US" dirty="0"/>
              <a:t> </a:t>
            </a:r>
            <a:r>
              <a:rPr lang="ru-RU" dirty="0"/>
              <a:t>) – где-то ошибка! </a:t>
            </a:r>
            <a:endParaRPr lang="en-US" dirty="0"/>
          </a:p>
          <a:p>
            <a:r>
              <a:rPr lang="ru-RU" dirty="0"/>
              <a:t>Придавая переменной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ru-RU" i="1" dirty="0"/>
              <a:t>(либо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i="1" dirty="0"/>
              <a:t>) </a:t>
            </a:r>
            <a:r>
              <a:rPr lang="ru-RU" dirty="0"/>
              <a:t>произвольные значения, мы получаем бесконечно много собственных векторов.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675" y="482167"/>
            <a:ext cx="1621453" cy="34322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330" y="3055928"/>
            <a:ext cx="3711339" cy="98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40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4716" y="382136"/>
            <a:ext cx="8734568" cy="6264323"/>
          </a:xfrm>
        </p:spPr>
        <p:txBody>
          <a:bodyPr/>
          <a:lstStyle/>
          <a:p>
            <a:r>
              <a:rPr lang="ru-RU" dirty="0"/>
              <a:t>Достаточно указать один из них. Обычно стараются выбрать «красивый» вектор.</a:t>
            </a:r>
          </a:p>
          <a:p>
            <a:r>
              <a:rPr lang="ru-RU" dirty="0"/>
              <a:t>Возьмём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/>
              <a:t>. Тогда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2*(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= 2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Обязательно проверяем, что частное решение  удовлетворяет каждому уравнению системы: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Первый собственный вектор 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948" y="2696997"/>
            <a:ext cx="5700002" cy="92271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686" y="4165624"/>
            <a:ext cx="1376044" cy="102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38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899" y="232012"/>
            <a:ext cx="8201451" cy="644174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2.  Найдём собственные векторы, соответствующие числу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</a:t>
            </a:r>
            <a:r>
              <a:rPr lang="ru-RU" dirty="0"/>
              <a:t>.</a:t>
            </a:r>
          </a:p>
          <a:p>
            <a:r>
              <a:rPr lang="ru-RU" dirty="0"/>
              <a:t> Запишем вторую систему уравнений: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Возьмём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/>
              <a:t>, тогда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Второй собственный вектор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810" y="1698150"/>
            <a:ext cx="2410956" cy="118152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127" y="1777562"/>
            <a:ext cx="1212084" cy="83913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821" y="3429000"/>
            <a:ext cx="2290777" cy="98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06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3116" y="211823"/>
            <a:ext cx="7886700" cy="699400"/>
          </a:xfrm>
        </p:spPr>
        <p:txBody>
          <a:bodyPr/>
          <a:lstStyle/>
          <a:p>
            <a:r>
              <a:rPr lang="ru-RU" dirty="0"/>
              <a:t>Алгоритмические проблемы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7582" y="1074999"/>
            <a:ext cx="7886700" cy="5366744"/>
          </a:xfrm>
        </p:spPr>
        <p:txBody>
          <a:bodyPr>
            <a:normAutofit/>
          </a:bodyPr>
          <a:lstStyle/>
          <a:p>
            <a:r>
              <a:rPr lang="ru-RU" sz="3200" dirty="0"/>
              <a:t>Практическая реализация сопряжена </a:t>
            </a:r>
            <a:br>
              <a:rPr lang="ru-RU" sz="3200" dirty="0"/>
            </a:br>
            <a:r>
              <a:rPr lang="ru-RU" sz="3200" dirty="0"/>
              <a:t>с рядом трудностей, </a:t>
            </a:r>
            <a:r>
              <a:rPr lang="ru-RU" sz="3200" b="1" dirty="0"/>
              <a:t>возрастающих с ростом размерности </a:t>
            </a:r>
            <a:r>
              <a:rPr lang="ru-RU" sz="3200" dirty="0"/>
              <a:t>решаемой задачи. Трудности эти обусловлены: </a:t>
            </a:r>
          </a:p>
          <a:p>
            <a:r>
              <a:rPr lang="ru-RU" sz="3200" dirty="0"/>
              <a:t>развертыванием характеристического определителя</a:t>
            </a:r>
            <a:r>
              <a:rPr lang="en-US" sz="3200" dirty="0"/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|,</a:t>
            </a:r>
            <a:r>
              <a:rPr lang="ru-RU" sz="3200" dirty="0"/>
              <a:t> </a:t>
            </a:r>
          </a:p>
          <a:p>
            <a:r>
              <a:rPr lang="ru-RU" sz="3200" dirty="0"/>
              <a:t> вычислением корней получающегося при этом многочлена n-й степени, </a:t>
            </a:r>
          </a:p>
          <a:p>
            <a:r>
              <a:rPr lang="ru-RU" sz="3200" dirty="0"/>
              <a:t>а также поиском линейно независимых решений вырожденных СЛАУ.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2610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6602" y="259306"/>
            <a:ext cx="8393374" cy="17679527"/>
          </a:xfrm>
        </p:spPr>
        <p:txBody>
          <a:bodyPr/>
          <a:lstStyle/>
          <a:p>
            <a:r>
              <a:rPr lang="ru-RU" dirty="0"/>
              <a:t>Различают </a:t>
            </a:r>
            <a:r>
              <a:rPr lang="ru-RU" b="1" dirty="0"/>
              <a:t>полную</a:t>
            </a:r>
            <a:r>
              <a:rPr lang="ru-RU" dirty="0"/>
              <a:t> (алгебраическую, или, иначе, матричную) проблему собственных значений, предполагающую нахождение всех собственных </a:t>
            </a:r>
            <a:br>
              <a:rPr lang="ru-RU" dirty="0"/>
            </a:br>
            <a:r>
              <a:rPr lang="ru-RU" dirty="0"/>
              <a:t>пар            матрицы A, </a:t>
            </a:r>
          </a:p>
          <a:p>
            <a:r>
              <a:rPr lang="ru-RU" dirty="0"/>
              <a:t>и </a:t>
            </a:r>
            <a:r>
              <a:rPr lang="ru-RU" b="1" dirty="0"/>
              <a:t>частичные</a:t>
            </a:r>
            <a:r>
              <a:rPr lang="ru-RU" dirty="0"/>
              <a:t> проблемы собственных значений, состоящие, как правило, в нахождении одного или нескольких собственных чисел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ru-RU" dirty="0"/>
              <a:t> и, возможно, соответствующих им собственных векторов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/>
              <a:t>. </a:t>
            </a:r>
          </a:p>
          <a:p>
            <a:r>
              <a:rPr lang="ru-RU" dirty="0"/>
              <a:t>Чаще всего в последнем случае речь идёт </a:t>
            </a:r>
            <a:br>
              <a:rPr lang="en-US" dirty="0"/>
            </a:br>
            <a:r>
              <a:rPr lang="ru-RU" dirty="0"/>
              <a:t>о нахождении </a:t>
            </a:r>
            <a:r>
              <a:rPr lang="ru-RU" b="1" dirty="0"/>
              <a:t>наибольшего</a:t>
            </a:r>
            <a:r>
              <a:rPr lang="ru-RU" dirty="0"/>
              <a:t> и </a:t>
            </a:r>
            <a:r>
              <a:rPr lang="ru-RU" b="1" dirty="0"/>
              <a:t>наименьшего </a:t>
            </a:r>
            <a:br>
              <a:rPr lang="en-US" b="1" dirty="0"/>
            </a:br>
            <a:r>
              <a:rPr lang="ru-RU" b="1" dirty="0"/>
              <a:t>по модулю</a:t>
            </a:r>
            <a:r>
              <a:rPr lang="ru-RU" dirty="0"/>
              <a:t> собственных чисел.</a:t>
            </a:r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051492"/>
              </p:ext>
            </p:extLst>
          </p:nvPr>
        </p:nvGraphicFramePr>
        <p:xfrm>
          <a:off x="1178603" y="1433014"/>
          <a:ext cx="849698" cy="559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r:id="rId3" imgW="393529" imgH="253890" progId="Equation.DSMT4">
                  <p:embed/>
                </p:oleObj>
              </mc:Choice>
              <mc:Fallback>
                <p:oleObj r:id="rId3" imgW="393529" imgH="25389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8603" y="1433014"/>
                        <a:ext cx="849698" cy="5595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1192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0161" y="174059"/>
            <a:ext cx="8597236" cy="1286252"/>
          </a:xfrm>
        </p:spPr>
        <p:txBody>
          <a:bodyPr>
            <a:noAutofit/>
          </a:bodyPr>
          <a:lstStyle/>
          <a:p>
            <a:r>
              <a:rPr lang="ru-RU" sz="3600" dirty="0"/>
              <a:t>Методы нахождения собственных значений и собственных векторов можно разделить на </a:t>
            </a:r>
            <a:r>
              <a:rPr lang="ru-RU" sz="3600" b="1" dirty="0"/>
              <a:t>3 группы</a:t>
            </a:r>
            <a:r>
              <a:rPr lang="ru-RU" sz="3600" dirty="0"/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0161" y="1648203"/>
            <a:ext cx="8597236" cy="4943665"/>
          </a:xfrm>
        </p:spPr>
        <p:txBody>
          <a:bodyPr/>
          <a:lstStyle/>
          <a:p>
            <a:r>
              <a:rPr lang="ru-RU" b="1" i="1" dirty="0"/>
              <a:t>прямые</a:t>
            </a:r>
            <a:r>
              <a:rPr lang="ru-RU" dirty="0"/>
              <a:t>, основанные на раскрытии характеристических определителей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dirty="0"/>
              <a:t> и решении характеристических уравнений;</a:t>
            </a:r>
          </a:p>
          <a:p>
            <a:r>
              <a:rPr lang="ru-RU" b="1" i="1" dirty="0"/>
              <a:t>итерационные</a:t>
            </a:r>
            <a:r>
              <a:rPr lang="ru-RU" dirty="0"/>
              <a:t>, основанные на многократном применении итерационного алгоритма, приближающего получаемые в каждом цикле собственные вектор или число к точному значению;</a:t>
            </a:r>
            <a:endParaRPr lang="en-US" dirty="0"/>
          </a:p>
          <a:p>
            <a:r>
              <a:rPr lang="ru-RU" b="1" i="1" dirty="0"/>
              <a:t>преобразований подобия</a:t>
            </a:r>
            <a:r>
              <a:rPr lang="ru-RU" dirty="0"/>
              <a:t>, использующих свойства подобных матриц, имеющих одинаковые собственные значения и ортогональные собственные векторы.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4161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случае прямых методов решение состоит из 2х этапов: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907512"/>
            <a:ext cx="8078622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sz="3200" dirty="0"/>
              <a:t>развёртывание характеристического определителя (например, методами Данилевского, Крылова, </a:t>
            </a:r>
            <a:r>
              <a:rPr lang="ru-RU" sz="3200" dirty="0" err="1"/>
              <a:t>Леверрье</a:t>
            </a:r>
            <a:r>
              <a:rPr lang="ru-RU" sz="3200" dirty="0"/>
              <a:t>-(Фаддеева) и т.д.);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/>
              <a:t>решение полученного характеристического уравнения, корни которого и будут собственными значениями матрицы.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7986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865" y="0"/>
            <a:ext cx="7886700" cy="955343"/>
          </a:xfrm>
        </p:spPr>
        <p:txBody>
          <a:bodyPr/>
          <a:lstStyle/>
          <a:p>
            <a:r>
              <a:rPr lang="ru-RU" b="1" i="1" dirty="0"/>
              <a:t>Метод итераций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2046" y="955343"/>
            <a:ext cx="8460759" cy="5718412"/>
          </a:xfrm>
        </p:spPr>
        <p:txBody>
          <a:bodyPr/>
          <a:lstStyle/>
          <a:p>
            <a:r>
              <a:rPr lang="ru-RU" dirty="0"/>
              <a:t>С помощью метода итераций можно определить наибольшее по модулю собственное число матрицы </a:t>
            </a:r>
            <a:r>
              <a:rPr lang="en-US" i="1" dirty="0"/>
              <a:t>A</a:t>
            </a:r>
            <a:r>
              <a:rPr lang="ru-RU" dirty="0"/>
              <a:t> </a:t>
            </a:r>
            <a:r>
              <a:rPr lang="ru-RU" u="sng" dirty="0"/>
              <a:t>без раскрытия характеристического определителя</a:t>
            </a:r>
            <a:r>
              <a:rPr lang="ru-RU" dirty="0"/>
              <a:t>.</a:t>
            </a:r>
          </a:p>
          <a:p>
            <a:r>
              <a:rPr lang="ru-RU" dirty="0"/>
              <a:t>Пусть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ru-RU" dirty="0"/>
              <a:t>– характеристическое уравнение;</a:t>
            </a:r>
          </a:p>
          <a:p>
            <a:r>
              <a:rPr lang="ru-RU" dirty="0"/>
              <a:t> </a:t>
            </a:r>
            <a:r>
              <a:rPr lang="ru-RU" dirty="0">
                <a:sym typeface="Symbol" panose="05050102010706020507" pitchFamily="18" charset="2"/>
              </a:rPr>
              <a:t></a:t>
            </a:r>
            <a:r>
              <a:rPr lang="ru-RU" baseline="-25000" dirty="0"/>
              <a:t>1</a:t>
            </a:r>
            <a:r>
              <a:rPr lang="ru-RU" dirty="0"/>
              <a:t>, </a:t>
            </a:r>
            <a:r>
              <a:rPr lang="ru-RU" dirty="0">
                <a:sym typeface="Symbol" panose="05050102010706020507" pitchFamily="18" charset="2"/>
              </a:rPr>
              <a:t>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ru-RU" dirty="0">
                <a:sym typeface="Symbol" panose="05050102010706020507" pitchFamily="18" charset="2"/>
              </a:rPr>
              <a:t></a:t>
            </a:r>
            <a:r>
              <a:rPr lang="en-US" i="1" baseline="-25000" dirty="0"/>
              <a:t>n</a:t>
            </a:r>
            <a:r>
              <a:rPr lang="ru-RU" dirty="0"/>
              <a:t>– его корни, являющиеся собственными значениями матрицы A. </a:t>
            </a:r>
          </a:p>
          <a:p>
            <a:r>
              <a:rPr lang="ru-RU" dirty="0"/>
              <a:t>Предположим, что</a:t>
            </a:r>
          </a:p>
          <a:p>
            <a:pPr marL="0" indent="0" algn="ctr">
              <a:buNone/>
            </a:pPr>
            <a:r>
              <a:rPr lang="ru-RU" dirty="0"/>
              <a:t> </a:t>
            </a:r>
            <a:r>
              <a:rPr lang="en-US" dirty="0"/>
              <a:t>|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/>
              <a:t>|</a:t>
            </a:r>
            <a:r>
              <a:rPr lang="ru-RU" dirty="0">
                <a:sym typeface="Symbol" panose="05050102010706020507" pitchFamily="18" charset="2"/>
              </a:rPr>
              <a:t></a:t>
            </a:r>
            <a:r>
              <a:rPr lang="en-US" dirty="0"/>
              <a:t>|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/>
              <a:t>| </a:t>
            </a:r>
            <a:r>
              <a:rPr lang="ru-RU" dirty="0">
                <a:sym typeface="Symbol" panose="05050102010706020507" pitchFamily="18" charset="2"/>
              </a:rPr>
              <a:t></a:t>
            </a:r>
            <a:r>
              <a:rPr lang="en-US" dirty="0"/>
              <a:t>… </a:t>
            </a:r>
            <a:r>
              <a:rPr lang="ru-RU" dirty="0">
                <a:sym typeface="Symbol" panose="05050102010706020507" pitchFamily="18" charset="2"/>
              </a:rPr>
              <a:t></a:t>
            </a:r>
            <a:r>
              <a:rPr lang="en-US" dirty="0"/>
              <a:t>|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/>
              <a:t>|</a:t>
            </a:r>
            <a:r>
              <a:rPr lang="ru-RU" dirty="0"/>
              <a:t>,</a:t>
            </a:r>
          </a:p>
          <a:p>
            <a:pPr marL="0" indent="0">
              <a:buNone/>
            </a:pPr>
            <a:r>
              <a:rPr lang="ru-RU" dirty="0"/>
              <a:t>т.е. </a:t>
            </a:r>
            <a:r>
              <a:rPr lang="ru-RU" dirty="0">
                <a:sym typeface="Symbol" panose="05050102010706020507" pitchFamily="18" charset="2"/>
              </a:rPr>
              <a:t></a:t>
            </a:r>
            <a:r>
              <a:rPr lang="ru-RU" baseline="-25000" dirty="0"/>
              <a:t>1</a:t>
            </a:r>
            <a:r>
              <a:rPr lang="ru-RU" dirty="0"/>
              <a:t> – наибольшее по модулю собственное число.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8367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2047" y="392610"/>
            <a:ext cx="8638180" cy="62538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Тогда для нахождения приближенного значения корня используется следующая схема:</a:t>
            </a:r>
          </a:p>
          <a:p>
            <a:pPr marL="514350" lvl="0" indent="-514350">
              <a:buFont typeface="+mj-lt"/>
              <a:buAutoNum type="arabicParenR"/>
            </a:pPr>
            <a:r>
              <a:rPr lang="ru-RU" dirty="0"/>
              <a:t>выбирают произвольный начальный вектор </a:t>
            </a:r>
            <a:r>
              <a:rPr lang="en-US" i="1" dirty="0"/>
              <a:t>Y</a:t>
            </a:r>
            <a:r>
              <a:rPr lang="ru-RU" dirty="0"/>
              <a:t>;</a:t>
            </a:r>
          </a:p>
          <a:p>
            <a:pPr marL="514350" lvl="0" indent="-514350">
              <a:buFont typeface="+mj-lt"/>
              <a:buAutoNum type="arabicParenR"/>
            </a:pPr>
            <a:r>
              <a:rPr lang="ru-RU" dirty="0"/>
              <a:t>составляют последовательные итерации</a:t>
            </a:r>
          </a:p>
          <a:p>
            <a:endParaRPr lang="ru-RU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574116"/>
              </p:ext>
            </p:extLst>
          </p:nvPr>
        </p:nvGraphicFramePr>
        <p:xfrm>
          <a:off x="2565777" y="2429300"/>
          <a:ext cx="3700699" cy="3493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r:id="rId3" imgW="1536700" imgH="1447800" progId="Equation.3">
                  <p:embed/>
                </p:oleObj>
              </mc:Choice>
              <mc:Fallback>
                <p:oleObj r:id="rId3" imgW="1536700" imgH="1447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777" y="2429300"/>
                        <a:ext cx="3700699" cy="34938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459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14750" y="256132"/>
                <a:ext cx="8662995" cy="6240201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arenR" startAt="3"/>
                </a:pPr>
                <a:r>
                  <a:rPr lang="ru-RU" sz="3200" dirty="0"/>
                  <a:t>выбирают из последовательности два последних значения 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ru-RU" sz="3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ru-RU" sz="3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3200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3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ru-RU" sz="3200" dirty="0"/>
                  <a:t>и </a:t>
                </a:r>
                <a:br>
                  <a:rPr lang="ru-RU" sz="3200" dirty="0"/>
                </a:b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ru-RU" sz="3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ru-RU" sz="3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+1)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32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ru-RU" sz="3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ru-RU" sz="3200" dirty="0"/>
                  <a:t>; </a:t>
                </a:r>
                <a:br>
                  <a:rPr lang="ru-RU" sz="3200" dirty="0"/>
                </a:br>
                <a:r>
                  <a:rPr lang="ru-RU" sz="3200" dirty="0"/>
                  <a:t>тогда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nor/>
                          </m:rPr>
                          <a:rPr lang="ru-RU" sz="3200" dirty="0"/>
                          <m:t> </m:t>
                        </m:r>
                      </m:e>
                      <m:sub>
                        <m:r>
                          <a:rPr lang="ru-R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func>
                          <m:func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+1)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sSubSup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den>
                            </m:f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ru-RU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или</m:t>
                            </m:r>
                          </m:e>
                        </m:func>
                      </m:fName>
                      <m:e>
                        <m:sSub>
                          <m:sSubPr>
                            <m:ctrlPr>
                              <a:rPr lang="ru-RU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  <m:r>
                              <m:rPr>
                                <m:nor/>
                              </m:rPr>
                              <a:rPr lang="ru-RU" sz="3200" dirty="0"/>
                              <m:t> </m:t>
                            </m:r>
                          </m:e>
                          <m:sub>
                            <m:r>
                              <a:rPr lang="ru-RU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+1)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den>
                        </m:f>
                        <m:r>
                          <a:rPr lang="ru-R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e>
                    </m:func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sz="3200" dirty="0"/>
                  <a:t>где                        – соответствующие координаты векторов 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ru-RU" sz="3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ru-RU" sz="3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+1)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3200" dirty="0"/>
                  <a:t>и 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ru-RU" sz="3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2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ru-RU" sz="3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3200" dirty="0"/>
                  <a:t>.</a:t>
                </a:r>
              </a:p>
              <a:p>
                <a:r>
                  <a:rPr lang="ru-RU" sz="3200" dirty="0"/>
                  <a:t>Таким образом, взяв достаточно большой номер итерации </a:t>
                </a:r>
                <a:r>
                  <a:rPr lang="ru-RU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ru-RU" sz="3200" dirty="0"/>
                  <a:t>, можно с любой степенью точности вычислить наибольший по модулю корень </a:t>
                </a:r>
                <a:r>
                  <a:rPr lang="ru-RU" sz="3200" dirty="0">
                    <a:sym typeface="Symbol" panose="05050102010706020507" pitchFamily="18" charset="2"/>
                  </a:rPr>
                  <a:t></a:t>
                </a:r>
                <a:r>
                  <a:rPr lang="ru-RU" sz="3200" baseline="-25000" dirty="0"/>
                  <a:t>1</a:t>
                </a:r>
                <a:r>
                  <a:rPr lang="ru-RU" sz="3200" dirty="0"/>
                  <a:t> характеристического уравнения матрицы А.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750" y="256132"/>
                <a:ext cx="8662995" cy="6240201"/>
              </a:xfrm>
              <a:blipFill>
                <a:blip r:embed="rId3"/>
                <a:stretch>
                  <a:fillRect l="-1900" t="-2246" r="-4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55845" y="133748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0730986"/>
              </p:ext>
            </p:extLst>
          </p:nvPr>
        </p:nvGraphicFramePr>
        <p:xfrm>
          <a:off x="1090332" y="2562932"/>
          <a:ext cx="1869743" cy="56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r:id="rId4" imgW="787400" imgH="241300" progId="Equation.DSMT4">
                  <p:embed/>
                </p:oleObj>
              </mc:Choice>
              <mc:Fallback>
                <p:oleObj r:id="rId4" imgW="787400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332" y="2562932"/>
                        <a:ext cx="1869743" cy="5631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8018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7581" y="215001"/>
            <a:ext cx="7886700" cy="508330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Алгоритм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7455" y="897576"/>
            <a:ext cx="8706419" cy="5721587"/>
          </a:xfrm>
        </p:spPr>
        <p:txBody>
          <a:bodyPr/>
          <a:lstStyle/>
          <a:p>
            <a:pPr marL="0" indent="0">
              <a:buNone/>
              <a:tabLst>
                <a:tab pos="531813" algn="l"/>
              </a:tabLst>
            </a:pPr>
            <a:r>
              <a:rPr lang="ru-RU" dirty="0"/>
              <a:t>1.	Выбрать произвольный начальный вектор Y;</a:t>
            </a:r>
          </a:p>
          <a:p>
            <a:pPr marL="514350" indent="-514350">
              <a:buAutoNum type="arabicPeriod" startAt="2"/>
              <a:tabLst>
                <a:tab pos="531813" algn="l"/>
              </a:tabLst>
            </a:pPr>
            <a:r>
              <a:rPr lang="ru-RU" dirty="0"/>
              <a:t>Составить последовательные итерации</a:t>
            </a:r>
          </a:p>
          <a:p>
            <a:pPr marL="514350" indent="-514350">
              <a:buAutoNum type="arabicPeriod" startAt="2"/>
              <a:tabLst>
                <a:tab pos="531813" algn="l"/>
              </a:tabLst>
            </a:pPr>
            <a:endParaRPr lang="ru-RU" dirty="0"/>
          </a:p>
          <a:p>
            <a:pPr marL="514350" indent="-514350">
              <a:buAutoNum type="arabicPeriod" startAt="2"/>
              <a:tabLst>
                <a:tab pos="531813" algn="l"/>
              </a:tabLst>
            </a:pPr>
            <a:endParaRPr lang="ru-RU" dirty="0"/>
          </a:p>
          <a:p>
            <a:pPr marL="514350" indent="-514350">
              <a:buAutoNum type="arabicPeriod" startAt="2"/>
              <a:tabLst>
                <a:tab pos="531813" algn="l"/>
              </a:tabLst>
            </a:pPr>
            <a:endParaRPr lang="ru-RU" dirty="0"/>
          </a:p>
          <a:p>
            <a:pPr marL="514350" indent="-514350">
              <a:buAutoNum type="arabicPeriod" startAt="2"/>
              <a:tabLst>
                <a:tab pos="531813" algn="l"/>
              </a:tabLst>
            </a:pPr>
            <a:endParaRPr lang="ru-RU" dirty="0"/>
          </a:p>
          <a:p>
            <a:pPr marL="514350" indent="-514350">
              <a:buAutoNum type="arabicPeriod" startAt="2"/>
              <a:tabLst>
                <a:tab pos="531813" algn="l"/>
              </a:tabLst>
            </a:pPr>
            <a:endParaRPr lang="ru-RU" dirty="0"/>
          </a:p>
          <a:p>
            <a:pPr marL="514350" indent="-514350">
              <a:buAutoNum type="arabicPeriod" startAt="2"/>
              <a:tabLst>
                <a:tab pos="531813" algn="l"/>
              </a:tabLst>
            </a:pPr>
            <a:r>
              <a:rPr lang="ru-RU" dirty="0"/>
              <a:t>Выбрать из последовательности два последних значения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dirty="0"/>
              <a:t>и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dirty="0"/>
              <a:t>; 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089743"/>
              </p:ext>
            </p:extLst>
          </p:nvPr>
        </p:nvGraphicFramePr>
        <p:xfrm>
          <a:off x="2984736" y="1897039"/>
          <a:ext cx="2720028" cy="2567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r:id="rId3" imgW="1536700" imgH="1447800" progId="Equation.3">
                  <p:embed/>
                </p:oleObj>
              </mc:Choice>
              <mc:Fallback>
                <p:oleObj r:id="rId3" imgW="1536700" imgH="1447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736" y="1897039"/>
                        <a:ext cx="2720028" cy="25679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1528107" y="5529632"/>
                <a:ext cx="4947507" cy="8337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nor/>
                            </m:rPr>
                            <a:rPr lang="ru-RU" dirty="0"/>
                            <m:t> 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+1)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или</m:t>
                              </m:r>
                            </m:e>
                          </m:func>
                        </m:fNam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m:rPr>
                                  <m:nor/>
                                </m:rPr>
                                <a:rPr lang="ru-RU" dirty="0"/>
                                <m:t> 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+1)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den>
                          </m:f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107" y="5529632"/>
                <a:ext cx="4947507" cy="8337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481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2047" y="174058"/>
            <a:ext cx="7886700" cy="781286"/>
          </a:xfrm>
        </p:spPr>
        <p:txBody>
          <a:bodyPr>
            <a:normAutofit/>
          </a:bodyPr>
          <a:lstStyle/>
          <a:p>
            <a:r>
              <a:rPr lang="ru-RU" sz="3600" b="1" dirty="0"/>
              <a:t>Пример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2047" y="955344"/>
            <a:ext cx="8610884" cy="5421336"/>
          </a:xfrm>
        </p:spPr>
        <p:txBody>
          <a:bodyPr/>
          <a:lstStyle/>
          <a:p>
            <a:r>
              <a:rPr lang="ru-RU" dirty="0"/>
              <a:t>Найти максимальное по модулю собственное значение матрицы </a:t>
            </a:r>
          </a:p>
          <a:p>
            <a:endParaRPr lang="ru-RU" dirty="0"/>
          </a:p>
          <a:p>
            <a:pPr marL="0" indent="0">
              <a:buNone/>
            </a:pPr>
            <a:br>
              <a:rPr lang="ru-RU" dirty="0"/>
            </a:br>
            <a:r>
              <a:rPr lang="ru-RU" dirty="0"/>
              <a:t>и соответствующий собственный вектор.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000"/>
                    </a14:imgEffect>
                    <a14:imgEffect>
                      <a14:brightnessContrast bright="2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42613" y="1446449"/>
            <a:ext cx="2849255" cy="121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93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05" y="132645"/>
            <a:ext cx="8828067" cy="48065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767" y="613302"/>
            <a:ext cx="6634200" cy="491319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26495"/>
            <a:ext cx="9144000" cy="47273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84" y="5999228"/>
            <a:ext cx="7848625" cy="71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116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</TotalTime>
  <Words>1119</Words>
  <PresentationFormat>Экран (4:3)</PresentationFormat>
  <Paragraphs>146</Paragraphs>
  <Slides>26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Times New Roman</vt:lpstr>
      <vt:lpstr>Тема Office</vt:lpstr>
      <vt:lpstr>Equation.DSMT4</vt:lpstr>
      <vt:lpstr>Equation.3</vt:lpstr>
      <vt:lpstr>Нахождение собственных значений и векторов матрицы</vt:lpstr>
      <vt:lpstr>Характеристический многочлен</vt:lpstr>
      <vt:lpstr>Свойства характеристических многочленов</vt:lpstr>
      <vt:lpstr>Презентация PowerPoint</vt:lpstr>
      <vt:lpstr>Презентация PowerPoint</vt:lpstr>
      <vt:lpstr>Презентация PowerPoint</vt:lpstr>
      <vt:lpstr>Собственное число</vt:lpstr>
      <vt:lpstr>Презентация PowerPoint</vt:lpstr>
      <vt:lpstr>Свойства собственных чисел</vt:lpstr>
      <vt:lpstr>Собственные векторы матрицы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Алгоритмические проблемы </vt:lpstr>
      <vt:lpstr>Презентация PowerPoint</vt:lpstr>
      <vt:lpstr>Методы нахождения собственных значений и собственных векторов можно разделить на 3 группы:</vt:lpstr>
      <vt:lpstr>В случае прямых методов решение состоит из 2х этапов:</vt:lpstr>
      <vt:lpstr>Метод итераций</vt:lpstr>
      <vt:lpstr>Презентация PowerPoint</vt:lpstr>
      <vt:lpstr>Презентация PowerPoint</vt:lpstr>
      <vt:lpstr>Алгоритм</vt:lpstr>
      <vt:lpstr>Пример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2021-12-06T11:05:22Z</dcterms:created>
  <dcterms:modified xsi:type="dcterms:W3CDTF">2024-09-30T06:37:17Z</dcterms:modified>
</cp:coreProperties>
</file>