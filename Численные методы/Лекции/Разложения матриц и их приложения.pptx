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67" r:id="rId5"/>
    <p:sldId id="268" r:id="rId6"/>
    <p:sldId id="266" r:id="rId7"/>
    <p:sldId id="269" r:id="rId8"/>
    <p:sldId id="270" r:id="rId9"/>
    <p:sldId id="257" r:id="rId10"/>
    <p:sldId id="258" r:id="rId11"/>
    <p:sldId id="287" r:id="rId12"/>
    <p:sldId id="260" r:id="rId13"/>
    <p:sldId id="259" r:id="rId14"/>
    <p:sldId id="261" r:id="rId15"/>
    <p:sldId id="262" r:id="rId16"/>
    <p:sldId id="265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271" r:id="rId30"/>
    <p:sldId id="272" r:id="rId31"/>
    <p:sldId id="300" r:id="rId3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9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5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31B0E-3597-45BB-A94E-BBE342CD7B8F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2766-9F3C-45F2-8272-E6BC4CFDBF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0671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31B0E-3597-45BB-A94E-BBE342CD7B8F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2766-9F3C-45F2-8272-E6BC4CFDBF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161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31B0E-3597-45BB-A94E-BBE342CD7B8F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2766-9F3C-45F2-8272-E6BC4CFDBF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3806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31B0E-3597-45BB-A94E-BBE342CD7B8F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2766-9F3C-45F2-8272-E6BC4CFDBF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68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31B0E-3597-45BB-A94E-BBE342CD7B8F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2766-9F3C-45F2-8272-E6BC4CFDBF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1734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31B0E-3597-45BB-A94E-BBE342CD7B8F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2766-9F3C-45F2-8272-E6BC4CFDBF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8303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31B0E-3597-45BB-A94E-BBE342CD7B8F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2766-9F3C-45F2-8272-E6BC4CFDBF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2384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31B0E-3597-45BB-A94E-BBE342CD7B8F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2766-9F3C-45F2-8272-E6BC4CFDBF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9660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31B0E-3597-45BB-A94E-BBE342CD7B8F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2766-9F3C-45F2-8272-E6BC4CFDBF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810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31B0E-3597-45BB-A94E-BBE342CD7B8F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2766-9F3C-45F2-8272-E6BC4CFDBF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251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31B0E-3597-45BB-A94E-BBE342CD7B8F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2766-9F3C-45F2-8272-E6BC4CFDBF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005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31B0E-3597-45BB-A94E-BBE342CD7B8F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2766-9F3C-45F2-8272-E6BC4CFDBF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101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ware.intel.com/en-us/intel-mkl" TargetMode="External"/><Relationship Id="rId2" Type="http://schemas.openxmlformats.org/officeDocument/2006/relationships/hyperlink" Target="https://www.gnu.org/software/gsl/manual/html_node/Singular-Value-Decomposition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ensorflow.org/api_docs/python/tf/svd" TargetMode="External"/><Relationship Id="rId4" Type="http://schemas.openxmlformats.org/officeDocument/2006/relationships/hyperlink" Target="https://docs.scipy.org/doc/numpy-1.12.0/reference/generated/numpy.linalg.svd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64078" y="1348785"/>
            <a:ext cx="7772400" cy="2387600"/>
          </a:xfrm>
        </p:spPr>
        <p:txBody>
          <a:bodyPr>
            <a:normAutofit/>
          </a:bodyPr>
          <a:lstStyle/>
          <a:p>
            <a:r>
              <a:rPr lang="ru-RU" sz="5900" b="1" dirty="0">
                <a:solidFill>
                  <a:schemeClr val="accent1">
                    <a:lumMod val="75000"/>
                  </a:schemeClr>
                </a:solidFill>
              </a:rPr>
              <a:t>Разложения матриц и их приложения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0ADFC0E-128E-473D-B914-FB821CCC8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337" y="3921644"/>
            <a:ext cx="3087326" cy="281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60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0855" y="117990"/>
            <a:ext cx="7886700" cy="837599"/>
          </a:xfrm>
        </p:spPr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LU-разложение матриц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6758" y="1026555"/>
            <a:ext cx="8729534" cy="5736710"/>
          </a:xfrm>
        </p:spPr>
        <p:txBody>
          <a:bodyPr/>
          <a:lstStyle/>
          <a:p>
            <a:r>
              <a:rPr lang="en-US" b="1" dirty="0"/>
              <a:t>LU-</a:t>
            </a:r>
            <a:r>
              <a:rPr lang="ru-RU" b="1" dirty="0"/>
              <a:t>разложение (</a:t>
            </a:r>
            <a:r>
              <a:rPr lang="en-US" b="1" dirty="0"/>
              <a:t>LU-</a:t>
            </a:r>
            <a:r>
              <a:rPr lang="ru-RU" b="1" dirty="0"/>
              <a:t>декомпозиция, </a:t>
            </a:r>
            <a:r>
              <a:rPr lang="en-US" b="1" dirty="0"/>
              <a:t>LU-</a:t>
            </a:r>
            <a:r>
              <a:rPr lang="ru-RU" b="1" dirty="0"/>
              <a:t>факторизация) </a:t>
            </a:r>
            <a:r>
              <a:rPr lang="ru-RU" dirty="0"/>
              <a:t>— представление матрицы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dirty="0"/>
              <a:t> </a:t>
            </a:r>
            <a:r>
              <a:rPr lang="ru-RU" dirty="0"/>
              <a:t>в виде произведения двух матриц,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LU</a:t>
            </a:r>
            <a:r>
              <a:rPr lang="en-US" dirty="0"/>
              <a:t>, </a:t>
            </a:r>
            <a:r>
              <a:rPr lang="ru-RU" dirty="0"/>
              <a:t>где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L </a:t>
            </a:r>
            <a:r>
              <a:rPr lang="en-US" dirty="0"/>
              <a:t>— </a:t>
            </a:r>
            <a:r>
              <a:rPr lang="ru-RU" dirty="0"/>
              <a:t>нижняя (</a:t>
            </a:r>
            <a:r>
              <a:rPr lang="ru-RU" dirty="0" err="1"/>
              <a:t>Lower</a:t>
            </a:r>
            <a:r>
              <a:rPr lang="ru-RU" dirty="0"/>
              <a:t>) треугольная матрица, а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/>
              <a:t>— </a:t>
            </a:r>
            <a:r>
              <a:rPr lang="ru-RU" dirty="0"/>
              <a:t>верхняя (</a:t>
            </a:r>
            <a:r>
              <a:rPr lang="en-US" dirty="0"/>
              <a:t>Upper</a:t>
            </a:r>
            <a:r>
              <a:rPr lang="ru-RU" dirty="0"/>
              <a:t>) треугольная матрица.</a:t>
            </a:r>
            <a:endParaRPr lang="en-US" dirty="0"/>
          </a:p>
          <a:p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LU</a:t>
            </a:r>
            <a:r>
              <a:rPr lang="ru-RU" dirty="0"/>
              <a:t>-разложение используется для решения систем линейных уравнений, обращения матриц и вычисления определителя. </a:t>
            </a:r>
            <a:endParaRPr lang="en-US" dirty="0"/>
          </a:p>
          <a:p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LU</a:t>
            </a:r>
            <a:r>
              <a:rPr lang="ru-RU" dirty="0"/>
              <a:t>-разложение существует только в том случае, когда </a:t>
            </a:r>
            <a:r>
              <a:rPr lang="ru-RU" u="sng" dirty="0"/>
              <a:t>матрица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u="sng" dirty="0"/>
              <a:t> обратима</a:t>
            </a:r>
            <a:r>
              <a:rPr lang="ru-RU" dirty="0"/>
              <a:t>, а все </a:t>
            </a:r>
            <a:r>
              <a:rPr lang="ru-RU" u="sng" dirty="0"/>
              <a:t>главные миноры матрицы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 </a:t>
            </a:r>
            <a:r>
              <a:rPr lang="ru-RU" u="sng" dirty="0" err="1"/>
              <a:t>невырождены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FBAB3F-A67D-459A-9B52-06A13906A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2</a:t>
            </a:fld>
            <a:endParaRPr lang="ru-RU" sz="2800" dirty="0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F11D6D90-EF44-46D4-A9B4-D0226385F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FBB7DB5B-13AA-4A57-959C-440DC2715D9D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586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428" y="0"/>
            <a:ext cx="7886700" cy="650789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Алгоритм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LU-разложения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8520" y="837085"/>
            <a:ext cx="8647156" cy="5720234"/>
          </a:xfrm>
        </p:spPr>
        <p:txBody>
          <a:bodyPr>
            <a:normAutofit/>
          </a:bodyPr>
          <a:lstStyle/>
          <a:p>
            <a:r>
              <a:rPr lang="ru-RU" dirty="0"/>
              <a:t>Пусть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dirty="0"/>
              <a:t> </a:t>
            </a:r>
            <a:r>
              <a:rPr lang="ru-RU" dirty="0">
                <a:sym typeface="Symbol" panose="05050102010706020507" pitchFamily="18" charset="2"/>
              </a:rPr>
              <a:t></a:t>
            </a:r>
            <a:r>
              <a:rPr lang="ru-RU" dirty="0"/>
              <a:t> прямоугольная матрица порядка </a:t>
            </a:r>
            <a:r>
              <a:rPr lang="ru-RU" dirty="0" err="1"/>
              <a:t>m×n</a:t>
            </a:r>
            <a:r>
              <a:rPr lang="ru-RU" dirty="0"/>
              <a:t> любого ранга. </a:t>
            </a:r>
          </a:p>
          <a:p>
            <a:r>
              <a:rPr lang="ru-RU" dirty="0"/>
              <a:t>С правой стороны матрицы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А</a:t>
            </a:r>
            <a:r>
              <a:rPr lang="ru-RU" dirty="0"/>
              <a:t> приписываем единичную матрицу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ru-RU" dirty="0"/>
              <a:t>  порядка </a:t>
            </a:r>
            <a:r>
              <a:rPr lang="ru-RU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ru-RU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×</a:t>
            </a:r>
            <a:r>
              <a:rPr lang="ru-RU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ru-RU" dirty="0"/>
              <a:t>. </a:t>
            </a:r>
          </a:p>
          <a:p>
            <a:r>
              <a:rPr lang="ru-RU" dirty="0"/>
              <a:t>Применяем к матрице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dirty="0"/>
              <a:t>|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ru-RU" dirty="0"/>
              <a:t>метод исключения Гаусса. </a:t>
            </a:r>
          </a:p>
          <a:p>
            <a:r>
              <a:rPr lang="ru-RU" dirty="0"/>
              <a:t>Если на каком</a:t>
            </a:r>
            <a:r>
              <a:rPr lang="en-US" dirty="0"/>
              <a:t>-</a:t>
            </a:r>
            <a:r>
              <a:rPr lang="ru-RU" dirty="0"/>
              <a:t>то этапе ведущий элемент равен нулю, и существует ненулевой элемент, расположенный ниже ведущего элемента, то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LU</a:t>
            </a:r>
            <a:r>
              <a:rPr lang="ru-RU" dirty="0"/>
              <a:t>-разложение данной матрицы невозможно. </a:t>
            </a:r>
          </a:p>
          <a:p>
            <a:r>
              <a:rPr lang="ru-RU" dirty="0"/>
              <a:t>Если же элементы ниже ведущего элемента нулевые, то выбираем новый ведущий элемент той же строки и следующего столбца.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2FC186-3FE8-44A2-B27C-A4AC644D7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3</a:t>
            </a:fld>
            <a:endParaRPr lang="ru-RU" sz="2800" dirty="0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4F7C46A9-18FF-4759-B21C-3EBB84168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841E33F-A2C4-46FA-A263-0D2C9E276605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749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41472" y="301624"/>
                <a:ext cx="8696582" cy="6387499"/>
              </a:xfrm>
            </p:spPr>
            <p:txBody>
              <a:bodyPr>
                <a:normAutofit/>
              </a:bodyPr>
              <a:lstStyle/>
              <a:p>
                <a:r>
                  <a:rPr lang="ru-RU" sz="3200" dirty="0"/>
                  <a:t>Приводим матрицу </a:t>
                </a:r>
                <a:r>
                  <a:rPr lang="ru-RU" sz="3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 </a:t>
                </a:r>
                <a:r>
                  <a:rPr lang="ru-RU" sz="3200" dirty="0"/>
                  <a:t>|</a:t>
                </a:r>
                <a:r>
                  <a:rPr lang="ru-RU" sz="3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</a:t>
                </a:r>
                <a:r>
                  <a:rPr lang="ru-RU" sz="3200" dirty="0"/>
                  <a:t> к треугольному или ступенчатому виду. </a:t>
                </a:r>
              </a:p>
              <a:p>
                <a:r>
                  <a:rPr lang="ru-RU" sz="3200" dirty="0"/>
                  <a:t>Получим матрицу </a:t>
                </a:r>
                <a:r>
                  <a:rPr lang="ru-RU" sz="3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 </a:t>
                </a:r>
                <a:r>
                  <a:rPr lang="ru-RU" sz="3200" dirty="0"/>
                  <a:t>|</a:t>
                </a:r>
                <a:r>
                  <a:rPr lang="ru-RU" sz="3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ru-RU" sz="3200" baseline="-25000" dirty="0"/>
                  <a:t>0</a:t>
                </a:r>
                <a:r>
                  <a:rPr lang="ru-RU" sz="3200" dirty="0"/>
                  <a:t>, где </a:t>
                </a:r>
                <a:r>
                  <a:rPr lang="ru-RU" sz="3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</a:t>
                </a:r>
                <a:r>
                  <a:rPr lang="ru-RU" sz="3200" dirty="0"/>
                  <a:t> </a:t>
                </a:r>
                <a:r>
                  <a:rPr lang="ru-RU" sz="3200" dirty="0">
                    <a:sym typeface="Symbol" panose="05050102010706020507" pitchFamily="18" charset="2"/>
                  </a:rPr>
                  <a:t></a:t>
                </a:r>
                <a:r>
                  <a:rPr lang="ru-RU" sz="3200" dirty="0"/>
                  <a:t> верхняя треугольная или ступенчатая матрица, а </a:t>
                </a:r>
                <a:r>
                  <a:rPr lang="ru-RU" sz="3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ru-RU" sz="3200" baseline="-25000" dirty="0"/>
                  <a:t>0 </a:t>
                </a:r>
                <a:r>
                  <a:rPr lang="ru-RU" sz="3200" dirty="0">
                    <a:sym typeface="Symbol" panose="05050102010706020507" pitchFamily="18" charset="2"/>
                  </a:rPr>
                  <a:t></a:t>
                </a:r>
                <a:r>
                  <a:rPr lang="ru-RU" sz="3200" dirty="0"/>
                  <a:t> нижняя треугольная матрица.</a:t>
                </a:r>
              </a:p>
              <a:p>
                <a:r>
                  <a:rPr lang="ru-RU" sz="3200" dirty="0"/>
                  <a:t>Заметим, что полученная матрица </a:t>
                </a:r>
                <a:r>
                  <a:rPr lang="ru-RU" sz="3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ru-RU" sz="3200" baseline="-25000" dirty="0"/>
                  <a:t>0</a:t>
                </a:r>
                <a:r>
                  <a:rPr lang="ru-RU" sz="3200" dirty="0"/>
                  <a:t> приводит </a:t>
                </a:r>
                <a:r>
                  <a:rPr lang="ru-RU" sz="3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ru-RU" sz="3200" dirty="0"/>
                  <a:t> к треугольному или ступенчатому виду:</a:t>
                </a:r>
              </a:p>
              <a:p>
                <a:pPr marL="0" indent="0" algn="ctr">
                  <a:buNone/>
                </a:pPr>
                <a:r>
                  <a:rPr lang="ru-RU" sz="3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ru-RU" sz="32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ru-RU" sz="3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 = U</a:t>
                </a:r>
                <a:r>
                  <a:rPr lang="ru-RU" sz="3200" dirty="0"/>
                  <a:t>.</a:t>
                </a:r>
              </a:p>
              <a:p>
                <a:r>
                  <a:rPr lang="ru-RU" sz="3200" dirty="0"/>
                  <a:t>Так как </a:t>
                </a:r>
                <a:r>
                  <a:rPr lang="ru-RU" sz="3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ru-RU" sz="3200" baseline="-25000" dirty="0"/>
                  <a:t>0</a:t>
                </a:r>
                <a:r>
                  <a:rPr lang="ru-RU" sz="3200" dirty="0"/>
                  <a:t> </a:t>
                </a:r>
                <a:r>
                  <a:rPr lang="ru-RU" sz="3200" dirty="0">
                    <a:sym typeface="Symbol" panose="05050102010706020507" pitchFamily="18" charset="2"/>
                  </a:rPr>
                  <a:t></a:t>
                </a:r>
                <a:r>
                  <a:rPr lang="ru-RU" sz="3200" dirty="0"/>
                  <a:t> квадратная невырожденная матрица, следовательно имеет обратную матрицу. Тогда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3200" dirty="0"/>
                  <a:t> </a:t>
                </a:r>
                <a:r>
                  <a:rPr lang="ru-RU" sz="3200" dirty="0"/>
                  <a:t>или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3200" dirty="0"/>
                  <a:t> </a:t>
                </a:r>
                <a:endParaRPr lang="ru-RU" sz="320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472" y="301624"/>
                <a:ext cx="8696582" cy="6387499"/>
              </a:xfrm>
              <a:blipFill>
                <a:blip r:embed="rId2"/>
                <a:stretch>
                  <a:fillRect l="-1613" t="-2195" r="-11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71FE7F8B-1F68-4236-AB59-19808EB41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4</a:t>
            </a:fld>
            <a:endParaRPr lang="ru-RU" sz="2800" dirty="0"/>
          </a:p>
        </p:txBody>
      </p:sp>
      <p:sp>
        <p:nvSpPr>
          <p:cNvPr id="8" name="Нижний колонтитул 5">
            <a:extLst>
              <a:ext uri="{FF2B5EF4-FFF2-40B4-BE49-F238E27FC236}">
                <a16:creationId xmlns:a16="http://schemas.microsoft.com/office/drawing/2014/main" id="{BFEC7072-A242-405E-A536-36BCB260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6003EE4-B987-4E9C-86BA-F11C0DB824BD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337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88171"/>
          </a:xfrm>
        </p:spPr>
        <p:txBody>
          <a:bodyPr>
            <a:normAutofit/>
          </a:bodyPr>
          <a:lstStyle/>
          <a:p>
            <a:r>
              <a:rPr lang="ru-RU" sz="3600" dirty="0"/>
              <a:t>Пример </a:t>
            </a:r>
            <a:r>
              <a:rPr lang="en-US" sz="3600" dirty="0"/>
              <a:t>LU – </a:t>
            </a:r>
            <a:r>
              <a:rPr lang="ru-RU" sz="3600" dirty="0"/>
              <a:t>разложения: 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197" y="1433662"/>
            <a:ext cx="8241405" cy="2817062"/>
          </a:xfrm>
          <a:prstGeom prst="rect">
            <a:avLst/>
          </a:prstGeom>
        </p:spPr>
      </p:pic>
      <p:sp>
        <p:nvSpPr>
          <p:cNvPr id="7" name="Двойные круглые скобки 6"/>
          <p:cNvSpPr/>
          <p:nvPr/>
        </p:nvSpPr>
        <p:spPr>
          <a:xfrm>
            <a:off x="2627870" y="1746422"/>
            <a:ext cx="2290119" cy="934995"/>
          </a:xfrm>
          <a:prstGeom prst="bracket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Двойные круглые скобки 7"/>
          <p:cNvSpPr/>
          <p:nvPr/>
        </p:nvSpPr>
        <p:spPr>
          <a:xfrm>
            <a:off x="5548184" y="1511644"/>
            <a:ext cx="2599038" cy="1000897"/>
          </a:xfrm>
          <a:prstGeom prst="bracket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Двойные круглые скобки 8"/>
          <p:cNvSpPr/>
          <p:nvPr/>
        </p:nvSpPr>
        <p:spPr>
          <a:xfrm>
            <a:off x="453082" y="3089189"/>
            <a:ext cx="2718486" cy="1021492"/>
          </a:xfrm>
          <a:prstGeom prst="bracket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CFFE3F50-6473-4271-87C9-EECF0FD8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5</a:t>
            </a:fld>
            <a:endParaRPr lang="ru-RU" sz="2800" dirty="0"/>
          </a:p>
        </p:txBody>
      </p:sp>
      <p:sp>
        <p:nvSpPr>
          <p:cNvPr id="11" name="Нижний колонтитул 5">
            <a:extLst>
              <a:ext uri="{FF2B5EF4-FFF2-40B4-BE49-F238E27FC236}">
                <a16:creationId xmlns:a16="http://schemas.microsoft.com/office/drawing/2014/main" id="{5FB3E6D9-FB70-4E03-A744-807557B15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07EF25FC-8A3D-4317-BC54-9EDC97F5CE78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614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112045"/>
            <a:ext cx="9003957" cy="105087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Решение СЛАУ методом 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LU-</a:t>
            </a:r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разложения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5724" y="789819"/>
            <a:ext cx="8711887" cy="582759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Если матрица </a:t>
            </a:r>
            <a:r>
              <a:rPr lang="ru-RU" sz="32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</a:t>
            </a:r>
            <a:r>
              <a:rPr lang="ru-RU" dirty="0"/>
              <a:t> исходной СЛУ</a:t>
            </a:r>
            <a:r>
              <a:rPr lang="en-US" dirty="0"/>
              <a:t> </a:t>
            </a:r>
            <a:r>
              <a:rPr lang="ru-RU" dirty="0"/>
              <a:t>разложена в произведение треугольных матриц </a:t>
            </a:r>
            <a:r>
              <a:rPr lang="ru-RU" sz="32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 </a:t>
            </a:r>
            <a:r>
              <a:rPr lang="ru-RU" dirty="0"/>
              <a:t>и </a:t>
            </a:r>
            <a:r>
              <a:rPr lang="ru-RU" sz="32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U</a:t>
            </a:r>
            <a:r>
              <a:rPr lang="ru-RU" dirty="0"/>
              <a:t>, то, значит, можно записать эквивалентное уравнение:</a:t>
            </a:r>
          </a:p>
          <a:p>
            <a:pPr marL="0" indent="0" algn="ctr">
              <a:buNone/>
            </a:pPr>
            <a:r>
              <a:rPr lang="en-US" sz="32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Ax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= </a:t>
            </a:r>
            <a:r>
              <a:rPr lang="en-US" sz="32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 </a:t>
            </a:r>
            <a:r>
              <a:rPr lang="en-US" sz="3200" i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LUx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= </a:t>
            </a:r>
            <a:r>
              <a:rPr lang="en-US" sz="32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</a:t>
            </a:r>
          </a:p>
          <a:p>
            <a:r>
              <a:rPr lang="en-US" dirty="0"/>
              <a:t> </a:t>
            </a:r>
            <a:r>
              <a:rPr lang="ru-RU" dirty="0"/>
              <a:t>Введём вектор вспомогательных переменных </a:t>
            </a:r>
            <a:r>
              <a:rPr lang="ru-RU" sz="32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y</a:t>
            </a:r>
            <a:r>
              <a:rPr lang="ru-RU" dirty="0"/>
              <a:t>, тогда последнее выражение можно переписать в виде системы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r>
              <a:rPr lang="en-US" sz="32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Ly = b</a:t>
            </a:r>
          </a:p>
          <a:p>
            <a:pPr marL="0" indent="0" algn="ctr">
              <a:buNone/>
            </a:pPr>
            <a:r>
              <a:rPr lang="en-US" sz="3200" i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Ux</a:t>
            </a:r>
            <a:r>
              <a:rPr lang="en-US" sz="32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= y</a:t>
            </a:r>
          </a:p>
          <a:p>
            <a:r>
              <a:rPr lang="ru-RU" dirty="0"/>
              <a:t>Таким образом, решение данной системы с квадратной матрицей коэффициентов сводится к последовательному решению двух систем с треугольными матрицами коэффициентов.</a:t>
            </a:r>
          </a:p>
        </p:txBody>
      </p:sp>
      <p:sp>
        <p:nvSpPr>
          <p:cNvPr id="4" name="Левая фигурная скобка 3"/>
          <p:cNvSpPr/>
          <p:nvPr/>
        </p:nvSpPr>
        <p:spPr>
          <a:xfrm>
            <a:off x="3871026" y="3703615"/>
            <a:ext cx="232012" cy="914402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8F76CC49-FF0F-4413-AA2A-59A64AC49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6</a:t>
            </a:fld>
            <a:endParaRPr lang="ru-RU" sz="2800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45B2E3-C120-4736-8005-8F03221AD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046D3994-D530-4BA6-8A67-07DF8942EA9E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305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0161" y="242484"/>
            <a:ext cx="8515350" cy="6158316"/>
          </a:xfrm>
        </p:spPr>
        <p:txBody>
          <a:bodyPr/>
          <a:lstStyle/>
          <a:p>
            <a:r>
              <a:rPr lang="ru-RU" sz="3200" u="sng" dirty="0"/>
              <a:t>Пример</a:t>
            </a:r>
            <a:r>
              <a:rPr lang="ru-RU" sz="3200" dirty="0"/>
              <a:t>: Используя метод </a:t>
            </a:r>
            <a:r>
              <a:rPr lang="en-US" sz="3200" dirty="0"/>
              <a:t>LU-</a:t>
            </a:r>
            <a:r>
              <a:rPr lang="ru-RU" sz="3200" dirty="0"/>
              <a:t>разложения, решить систему</a:t>
            </a:r>
          </a:p>
          <a:p>
            <a:endParaRPr lang="ru-RU" sz="3200" dirty="0"/>
          </a:p>
          <a:p>
            <a:endParaRPr lang="ru-RU" sz="3200" dirty="0"/>
          </a:p>
          <a:p>
            <a:r>
              <a:rPr lang="ru-RU" sz="3200" dirty="0"/>
              <a:t>Матрица системы:</a:t>
            </a:r>
          </a:p>
          <a:p>
            <a:endParaRPr lang="ru-RU" sz="3200" dirty="0"/>
          </a:p>
          <a:p>
            <a:endParaRPr lang="ru-RU" sz="3200" dirty="0"/>
          </a:p>
          <a:p>
            <a:r>
              <a:rPr lang="ru-RU" sz="3200" dirty="0"/>
              <a:t>Находим её </a:t>
            </a:r>
            <a:r>
              <a:rPr lang="en-US" sz="3200" dirty="0"/>
              <a:t>LU-</a:t>
            </a:r>
            <a:r>
              <a:rPr lang="ru-RU" sz="3200" dirty="0"/>
              <a:t>разложение: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968" y="726725"/>
            <a:ext cx="2675364" cy="136470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846" y="2345916"/>
            <a:ext cx="2019608" cy="147015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8074" y="4661439"/>
            <a:ext cx="2039772" cy="146983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708" y="4651940"/>
            <a:ext cx="2006624" cy="1504968"/>
          </a:xfrm>
          <a:prstGeom prst="rect">
            <a:avLst/>
          </a:prstGeom>
        </p:spPr>
      </p:pic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D1E4F85B-B983-4805-ABFA-1B238DE9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7</a:t>
            </a:fld>
            <a:endParaRPr lang="ru-RU" sz="2800" dirty="0"/>
          </a:p>
        </p:txBody>
      </p:sp>
      <p:sp>
        <p:nvSpPr>
          <p:cNvPr id="9" name="Нижний колонтитул 5">
            <a:extLst>
              <a:ext uri="{FF2B5EF4-FFF2-40B4-BE49-F238E27FC236}">
                <a16:creationId xmlns:a16="http://schemas.microsoft.com/office/drawing/2014/main" id="{CEBF2859-D116-4A75-B2F8-69910D39C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E379B04-1817-4319-BE56-969CFDDA14D1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15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5659" y="245659"/>
            <a:ext cx="8488908" cy="6509983"/>
          </a:xfrm>
        </p:spPr>
        <p:txBody>
          <a:bodyPr/>
          <a:lstStyle/>
          <a:p>
            <a:r>
              <a:rPr lang="ru-RU" dirty="0"/>
              <a:t>Решение исходной системы сводится к последовательному решению систем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Решаем первую: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Находим столбец неизвестных х: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95" y="1153164"/>
            <a:ext cx="2890174" cy="139896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132" y="1153164"/>
            <a:ext cx="2636861" cy="144740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800" y="2741548"/>
            <a:ext cx="5281138" cy="151588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0669" y="4700584"/>
            <a:ext cx="4204884" cy="1417031"/>
          </a:xfrm>
          <a:prstGeom prst="rect">
            <a:avLst/>
          </a:prstGeom>
        </p:spPr>
      </p:pic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5E1CF423-1011-4540-BE40-25BFD506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8</a:t>
            </a:fld>
            <a:endParaRPr lang="ru-RU" sz="2800" dirty="0"/>
          </a:p>
        </p:txBody>
      </p:sp>
      <p:sp>
        <p:nvSpPr>
          <p:cNvPr id="9" name="Нижний колонтитул 5">
            <a:extLst>
              <a:ext uri="{FF2B5EF4-FFF2-40B4-BE49-F238E27FC236}">
                <a16:creationId xmlns:a16="http://schemas.microsoft.com/office/drawing/2014/main" id="{B1BEE531-1713-4B88-8565-6ED17F30C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70A4D335-98DF-4043-ADA2-A1A304BABB90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785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41" y="85039"/>
            <a:ext cx="8762485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Метод </a:t>
            </a:r>
            <a:r>
              <a:rPr lang="ru-RU" sz="4000" b="1" dirty="0" err="1">
                <a:solidFill>
                  <a:schemeClr val="accent1">
                    <a:lumMod val="75000"/>
                  </a:schemeClr>
                </a:solidFill>
              </a:rPr>
              <a:t>Холецкого</a:t>
            </a:r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b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(метод квадратного корня)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6185" y="1410601"/>
            <a:ext cx="7886700" cy="5253809"/>
          </a:xfrm>
        </p:spPr>
        <p:txBody>
          <a:bodyPr>
            <a:normAutofit/>
          </a:bodyPr>
          <a:lstStyle/>
          <a:p>
            <a:r>
              <a:rPr lang="ru-RU" dirty="0"/>
              <a:t>Метод использует </a:t>
            </a:r>
            <a:r>
              <a:rPr lang="ru-RU" b="1" dirty="0"/>
              <a:t>разложение </a:t>
            </a:r>
            <a:r>
              <a:rPr lang="ru-RU" b="1" dirty="0" err="1"/>
              <a:t>Холецкого</a:t>
            </a:r>
            <a:r>
              <a:rPr lang="ru-RU" dirty="0"/>
              <a:t>, которое впервые было предложено французским офицером и математиком </a:t>
            </a:r>
            <a:br>
              <a:rPr lang="ru-RU" dirty="0"/>
            </a:br>
            <a:r>
              <a:rPr lang="ru-RU" dirty="0"/>
              <a:t>Андре-Луи </a:t>
            </a:r>
            <a:r>
              <a:rPr lang="ru-RU" dirty="0" err="1"/>
              <a:t>Холецким</a:t>
            </a:r>
            <a:r>
              <a:rPr lang="ru-RU" dirty="0"/>
              <a:t> (</a:t>
            </a:r>
            <a:r>
              <a:rPr lang="en-US" dirty="0"/>
              <a:t>André-Louis </a:t>
            </a:r>
            <a:r>
              <a:rPr lang="en-US" dirty="0" err="1"/>
              <a:t>Cholesky</a:t>
            </a:r>
            <a:r>
              <a:rPr lang="ru-RU" dirty="0"/>
              <a:t>, </a:t>
            </a:r>
            <a:br>
              <a:rPr lang="ru-RU" dirty="0"/>
            </a:br>
            <a:r>
              <a:rPr lang="ru-RU" dirty="0"/>
              <a:t>15 октября 1875 </a:t>
            </a:r>
            <a:r>
              <a:rPr lang="ru-RU" dirty="0">
                <a:sym typeface="Symbol" panose="05050102010706020507" pitchFamily="18" charset="2"/>
              </a:rPr>
              <a:t></a:t>
            </a:r>
            <a:r>
              <a:rPr lang="ru-RU" dirty="0"/>
              <a:t> 31 августа 1918).</a:t>
            </a:r>
          </a:p>
          <a:p>
            <a:r>
              <a:rPr lang="ru-RU" dirty="0"/>
              <a:t>Сам </a:t>
            </a:r>
            <a:r>
              <a:rPr lang="ru-RU" dirty="0" err="1"/>
              <a:t>Холецкий</a:t>
            </a:r>
            <a:r>
              <a:rPr lang="ru-RU" dirty="0"/>
              <a:t> погиб в бою в Первой Мировой войне, а идея разложения была опубликована </a:t>
            </a:r>
            <a:br>
              <a:rPr lang="ru-RU" dirty="0"/>
            </a:br>
            <a:r>
              <a:rPr lang="ru-RU" dirty="0"/>
              <a:t>в 1924 году его сослуживцем.</a:t>
            </a:r>
          </a:p>
          <a:p>
            <a:r>
              <a:rPr lang="ru-RU" dirty="0"/>
              <a:t>Название метода связано с характерными операциями, отсутствующими в родственном разложении Гаусса.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238" y="193590"/>
            <a:ext cx="1681293" cy="1921478"/>
          </a:xfrm>
          <a:prstGeom prst="rect">
            <a:avLst/>
          </a:prstGeom>
        </p:spPr>
      </p:pic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2B88D50A-60D7-47A7-9D68-C8E1C6BE6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9</a:t>
            </a:fld>
            <a:endParaRPr lang="ru-RU" sz="2800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E04574-6175-43CE-BFCC-1D33F826B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026D1FF-1D26-4693-96AF-0588FCE80B4F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245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7842" y="296919"/>
            <a:ext cx="8976671" cy="5388019"/>
          </a:xfrm>
        </p:spPr>
        <p:txBody>
          <a:bodyPr>
            <a:normAutofit/>
          </a:bodyPr>
          <a:lstStyle/>
          <a:p>
            <a:r>
              <a:rPr lang="ru-RU" dirty="0"/>
              <a:t>Если матрица системы является </a:t>
            </a:r>
            <a:r>
              <a:rPr lang="ru-RU" u="sng" dirty="0"/>
              <a:t>симметричной и положительно определённой</a:t>
            </a:r>
            <a:r>
              <a:rPr lang="ru-RU" dirty="0"/>
              <a:t>, то для решения системы применяют метод </a:t>
            </a:r>
            <a:r>
              <a:rPr lang="ru-RU" dirty="0" err="1"/>
              <a:t>Холецкого</a:t>
            </a:r>
            <a:r>
              <a:rPr lang="ru-RU" dirty="0"/>
              <a:t> (метод квадратного корня).</a:t>
            </a:r>
          </a:p>
          <a:p>
            <a:r>
              <a:rPr lang="ru-RU" dirty="0"/>
              <a:t>В основе метода лежит алгоритм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LU</a:t>
            </a:r>
            <a:r>
              <a:rPr lang="ru-RU" dirty="0"/>
              <a:t>-разложения матрицы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dirty="0"/>
              <a:t>, в результате чего она приводится к виду</a:t>
            </a:r>
          </a:p>
          <a:p>
            <a:pPr marL="0" indent="0" algn="ctr">
              <a:buNone/>
            </a:pP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LL</a:t>
            </a:r>
            <a:r>
              <a:rPr lang="en-US" i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ru-RU" dirty="0"/>
              <a:t>,</a:t>
            </a:r>
          </a:p>
          <a:p>
            <a:pPr marL="0" indent="0">
              <a:buNone/>
            </a:pPr>
            <a:r>
              <a:rPr lang="ru-RU" dirty="0"/>
              <a:t>где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ru-RU" dirty="0"/>
              <a:t> — нижняя треугольная матрица со строго положительными элементами на диагонали.</a:t>
            </a:r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590" y="4226010"/>
            <a:ext cx="4148819" cy="1858230"/>
          </a:xfrm>
          <a:prstGeom prst="rect">
            <a:avLst/>
          </a:prstGeom>
        </p:spPr>
      </p:pic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179A7E33-ABD2-41A6-A649-5C3D856B8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10</a:t>
            </a:fld>
            <a:endParaRPr lang="ru-RU" sz="2800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1F09B0-074C-4B81-B8C0-A71A1E4C0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AD5D2BBA-DEB3-4762-9A06-ED1184B4E68E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154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B03F6914-1A8F-4DDA-B8F9-4AFC55156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599" y="260623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ru-RU" sz="3100" b="1" dirty="0"/>
              <a:t>Теорема</a:t>
            </a:r>
            <a:r>
              <a:rPr lang="ru-RU" sz="3100" dirty="0"/>
              <a:t>. Для любой симметричной положительно определённой матрицы разложение </a:t>
            </a:r>
            <a:r>
              <a:rPr lang="ru-RU" sz="3100" dirty="0" err="1"/>
              <a:t>Холецкого</a:t>
            </a:r>
            <a:r>
              <a:rPr lang="ru-RU" sz="3100" dirty="0"/>
              <a:t> существует и единственно.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D424587-2EDF-4C21-8DB2-B794A45120E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28749" y="1722348"/>
                <a:ext cx="38862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Система 1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>
                    <a:solidFill>
                      <a:srgbClr val="FF0000"/>
                    </a:solidFill>
                  </a:rPr>
                  <a:t>Метод </a:t>
                </a:r>
                <a:r>
                  <a:rPr lang="ru-RU" dirty="0" err="1">
                    <a:solidFill>
                      <a:srgbClr val="FF0000"/>
                    </a:solidFill>
                  </a:rPr>
                  <a:t>Холецкого</a:t>
                </a:r>
                <a:r>
                  <a:rPr lang="ru-RU" dirty="0">
                    <a:solidFill>
                      <a:srgbClr val="FF0000"/>
                    </a:solidFill>
                  </a:rPr>
                  <a:t> применять нельзя!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D424587-2EDF-4C21-8DB2-B794A45120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28749" y="1722348"/>
                <a:ext cx="3886200" cy="4351338"/>
              </a:xfrm>
              <a:blipFill>
                <a:blip r:embed="rId2"/>
                <a:stretch>
                  <a:fillRect l="-3297" t="-23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6FF226C-FD22-4057-B0EA-B27015F04F1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768487" y="1722348"/>
                <a:ext cx="38862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Система 2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+5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>
                    <a:solidFill>
                      <a:srgbClr val="1C944F"/>
                    </a:solidFill>
                  </a:rPr>
                  <a:t>Метод </a:t>
                </a:r>
                <a:r>
                  <a:rPr lang="ru-RU" dirty="0" err="1">
                    <a:solidFill>
                      <a:srgbClr val="1C944F"/>
                    </a:solidFill>
                  </a:rPr>
                  <a:t>Холецкого</a:t>
                </a:r>
                <a:r>
                  <a:rPr lang="ru-RU" dirty="0">
                    <a:solidFill>
                      <a:srgbClr val="1C944F"/>
                    </a:solidFill>
                  </a:rPr>
                  <a:t> применять можно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6FF226C-FD22-4057-B0EA-B27015F04F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768487" y="1722348"/>
                <a:ext cx="3886200" cy="4351338"/>
              </a:xfrm>
              <a:blipFill>
                <a:blip r:embed="rId3"/>
                <a:stretch>
                  <a:fillRect l="-3135" t="-23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4C480C10-D6FA-4F45-9BD0-496102D31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87438D-7F51-4A5F-A390-B4980DB3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307CD-CB30-410E-8065-FB59291247B2}" type="slidenum">
              <a:rPr lang="ru-RU" sz="2800" smtClean="0"/>
              <a:t>11</a:t>
            </a:fld>
            <a:endParaRPr lang="ru-RU" sz="2800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E46CA19-BCB0-46AB-B2FF-F8DA400CCF49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73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2088" y="0"/>
            <a:ext cx="7886700" cy="1062681"/>
          </a:xfrm>
        </p:spPr>
        <p:txBody>
          <a:bodyPr/>
          <a:lstStyle/>
          <a:p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Алгоритм метода </a:t>
            </a:r>
            <a:r>
              <a:rPr lang="ru-RU" sz="4000" b="1" dirty="0" err="1">
                <a:solidFill>
                  <a:schemeClr val="accent1">
                    <a:lumMod val="75000"/>
                  </a:schemeClr>
                </a:solidFill>
              </a:rPr>
              <a:t>Холецкого</a:t>
            </a:r>
            <a:endParaRPr lang="ru-RU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2087" y="1062680"/>
            <a:ext cx="8251739" cy="525574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Строится разложение матрицы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А</a:t>
            </a:r>
            <a:r>
              <a:rPr lang="ru-RU" dirty="0"/>
              <a:t> в виде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LL</a:t>
            </a:r>
            <a:r>
              <a:rPr lang="en-US" i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ru-RU" i="1" baseline="30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Решение системы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Ax = b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/>
              <a:t>сводится к последовательному решению двух систем с треугольными матрицами:</a:t>
            </a:r>
            <a:endParaRPr lang="en-US" dirty="0"/>
          </a:p>
          <a:p>
            <a:pPr marL="0" indent="0" algn="ctr">
              <a:buNone/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Ly = b </a:t>
            </a:r>
            <a:r>
              <a:rPr lang="ru-RU" dirty="0"/>
              <a:t>и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en-US" i="1" baseline="30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y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02161AF9-CCE8-4B74-A4A3-75EB64B80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12</a:t>
            </a:fld>
            <a:endParaRPr lang="ru-RU" sz="2800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F97361-C681-4FFF-95AC-C58E2DB95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413442A-0F40-41A5-BF90-B45527434A83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876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2660" y="285150"/>
            <a:ext cx="8770723" cy="6572850"/>
          </a:xfrm>
        </p:spPr>
        <p:txBody>
          <a:bodyPr/>
          <a:lstStyle/>
          <a:p>
            <a:r>
              <a:rPr lang="ru-RU" dirty="0"/>
              <a:t>Элементы матрицы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ru-RU" dirty="0"/>
              <a:t> можно вычислить, начиная с верхнего левого угла матрицы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dirty="0"/>
              <a:t>, по следующим формулам: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87" y="1622861"/>
            <a:ext cx="7432667" cy="3374682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25FD27-A3B5-4A7A-AFD0-A09FE7D02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13</a:t>
            </a:fld>
            <a:endParaRPr lang="ru-RU" sz="2800" dirty="0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7019D565-EC65-498A-B4EE-D2E197F5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C36A0D4-4EF2-49A6-9EB8-8C2FC8023B53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111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03114" y="136524"/>
                <a:ext cx="8737772" cy="649459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u="sng" dirty="0"/>
                  <a:t>Пример</a:t>
                </a:r>
                <a:r>
                  <a:rPr lang="ru-RU" dirty="0"/>
                  <a:t>. Решить систему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 = b</a:t>
                </a:r>
                <a:r>
                  <a:rPr lang="ru-RU" dirty="0"/>
                  <a:t> методом </a:t>
                </a:r>
                <a:r>
                  <a:rPr lang="ru-RU" dirty="0" err="1"/>
                  <a:t>Холецкого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−45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−45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−15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−15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38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−460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193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r>
                  <a:rPr lang="ru-RU" dirty="0"/>
                  <a:t>Находим элементы матрицы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en-US" dirty="0"/>
                  <a:t>:</a:t>
                </a:r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r>
                  <a:rPr lang="ru-RU" dirty="0"/>
                  <a:t>Разложение матрицы A: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3114" y="136524"/>
                <a:ext cx="8737772" cy="6494591"/>
              </a:xfrm>
              <a:blipFill>
                <a:blip r:embed="rId2"/>
                <a:stretch>
                  <a:fillRect l="-1395" t="-16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642" y="4558863"/>
            <a:ext cx="3853636" cy="1372955"/>
          </a:xfrm>
          <a:prstGeom prst="rect">
            <a:avLst/>
          </a:prstGeom>
        </p:spPr>
      </p:pic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7F1DF073-7DF1-44EA-8986-C3596CF8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14</a:t>
            </a:fld>
            <a:endParaRPr lang="ru-RU" sz="2800" dirty="0"/>
          </a:p>
        </p:txBody>
      </p:sp>
      <p:sp>
        <p:nvSpPr>
          <p:cNvPr id="8" name="Нижний колонтитул 5">
            <a:extLst>
              <a:ext uri="{FF2B5EF4-FFF2-40B4-BE49-F238E27FC236}">
                <a16:creationId xmlns:a16="http://schemas.microsoft.com/office/drawing/2014/main" id="{EA401970-A50F-46EF-8772-DEC1B78B5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FCED153-FFE1-4A65-877A-38756F6C5D3D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1205" y="1760191"/>
            <a:ext cx="5020926" cy="217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87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6184" y="285149"/>
            <a:ext cx="8696583" cy="6362786"/>
          </a:xfrm>
        </p:spPr>
        <p:txBody>
          <a:bodyPr>
            <a:normAutofit/>
          </a:bodyPr>
          <a:lstStyle/>
          <a:p>
            <a:r>
              <a:rPr lang="ru-RU" dirty="0"/>
              <a:t>Последовательно решаем системы:</a:t>
            </a:r>
          </a:p>
          <a:p>
            <a:pPr marL="0" indent="0">
              <a:buNone/>
            </a:pPr>
            <a:r>
              <a:rPr lang="ru-RU" dirty="0"/>
              <a:t>1)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Ly = b</a:t>
            </a:r>
            <a:endParaRPr lang="ru-RU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2)</a:t>
            </a:r>
            <a:r>
              <a:rPr lang="en-US" dirty="0"/>
              <a:t>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en-US" i="1" baseline="30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Ответ: </a:t>
            </a:r>
            <a:r>
              <a:rPr lang="en-US" dirty="0"/>
              <a:t>(6; -5; -4).</a:t>
            </a: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29262" t="7812" r="36744" b="6910"/>
          <a:stretch/>
        </p:blipFill>
        <p:spPr>
          <a:xfrm>
            <a:off x="724929" y="1268627"/>
            <a:ext cx="1309817" cy="116977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67009"/>
          <a:stretch/>
        </p:blipFill>
        <p:spPr>
          <a:xfrm>
            <a:off x="2240690" y="1128584"/>
            <a:ext cx="1210963" cy="146824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l="-1518" t="12455" r="6526" b="7209"/>
          <a:stretch/>
        </p:blipFill>
        <p:spPr>
          <a:xfrm>
            <a:off x="4176584" y="1293340"/>
            <a:ext cx="1079157" cy="106268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64502" t="9724" r="1718" b="8600"/>
          <a:stretch/>
        </p:blipFill>
        <p:spPr>
          <a:xfrm>
            <a:off x="446035" y="3375454"/>
            <a:ext cx="1301578" cy="112034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t="6898" r="5439" b="6538"/>
          <a:stretch/>
        </p:blipFill>
        <p:spPr>
          <a:xfrm>
            <a:off x="1927464" y="3280720"/>
            <a:ext cx="1145250" cy="122072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831" y="3280720"/>
            <a:ext cx="1101673" cy="1215080"/>
          </a:xfrm>
          <a:prstGeom prst="rect">
            <a:avLst/>
          </a:prstGeom>
        </p:spPr>
      </p:pic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A2D83544-8E2F-4680-9EE2-CE4DE6E3C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15</a:t>
            </a:fld>
            <a:endParaRPr lang="ru-RU" sz="2800" dirty="0"/>
          </a:p>
        </p:txBody>
      </p:sp>
      <p:sp>
        <p:nvSpPr>
          <p:cNvPr id="11" name="Нижний колонтитул 5">
            <a:extLst>
              <a:ext uri="{FF2B5EF4-FFF2-40B4-BE49-F238E27FC236}">
                <a16:creationId xmlns:a16="http://schemas.microsoft.com/office/drawing/2014/main" id="{C4351848-A24B-43CF-A80A-5B1E2FB7E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01657A0-9F86-4C1A-8222-8489FF8DAA11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88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784" y="0"/>
            <a:ext cx="9020432" cy="906162"/>
          </a:xfrm>
        </p:spPr>
        <p:txBody>
          <a:bodyPr/>
          <a:lstStyle/>
          <a:p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Другие виды разложений матриц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0898" y="807754"/>
            <a:ext cx="8853102" cy="5876754"/>
          </a:xfrm>
        </p:spPr>
        <p:txBody>
          <a:bodyPr>
            <a:normAutofit/>
          </a:bodyPr>
          <a:lstStyle/>
          <a:p>
            <a:r>
              <a:rPr lang="ru-RU" dirty="0"/>
              <a:t>Ранговая факторизация: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CF</a:t>
            </a:r>
            <a:r>
              <a:rPr lang="en-US" sz="2400" dirty="0"/>
              <a:t>, </a:t>
            </a:r>
            <a:r>
              <a:rPr lang="ru-RU" sz="2400" dirty="0"/>
              <a:t>где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sz="2400" dirty="0"/>
              <a:t> — </a:t>
            </a:r>
            <a:r>
              <a:rPr lang="ru-RU" sz="2400" dirty="0"/>
              <a:t>матрица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m×r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br>
              <a:rPr lang="en-US" sz="2400" dirty="0"/>
            </a:b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F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/>
              <a:t>— </a:t>
            </a:r>
            <a:r>
              <a:rPr lang="ru-RU" sz="2400" dirty="0"/>
              <a:t>матрица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r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×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dirty="0"/>
              <a:t>.</a:t>
            </a:r>
            <a:endParaRPr lang="ru-RU" sz="2400" dirty="0"/>
          </a:p>
          <a:p>
            <a:r>
              <a:rPr lang="en-US" dirty="0"/>
              <a:t>QR-</a:t>
            </a:r>
            <a:r>
              <a:rPr lang="ru-RU" dirty="0"/>
              <a:t>разложение:</a:t>
            </a:r>
            <a:r>
              <a:rPr lang="en-US" dirty="0"/>
              <a:t>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= QR</a:t>
            </a:r>
            <a:r>
              <a:rPr lang="en-US" sz="2400" dirty="0"/>
              <a:t>, </a:t>
            </a:r>
            <a:r>
              <a:rPr lang="ru-RU" sz="2400" dirty="0"/>
              <a:t>где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US" sz="2400" dirty="0"/>
              <a:t> — </a:t>
            </a:r>
            <a:r>
              <a:rPr lang="ru-RU" sz="2400" dirty="0"/>
              <a:t>ортогональная матрица размера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m×m</a:t>
            </a:r>
            <a:r>
              <a:rPr lang="en-US" sz="2400" dirty="0"/>
              <a:t>, </a:t>
            </a:r>
            <a:r>
              <a:rPr lang="ru-RU" sz="2400" dirty="0"/>
              <a:t>и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sz="2400" dirty="0"/>
              <a:t>— </a:t>
            </a:r>
            <a:r>
              <a:rPr lang="ru-RU" sz="2400" dirty="0"/>
              <a:t>верхняя треугольная размера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m×n</a:t>
            </a:r>
            <a:r>
              <a:rPr lang="ru-RU" dirty="0"/>
              <a:t>.</a:t>
            </a:r>
            <a:r>
              <a:rPr lang="en-US" dirty="0"/>
              <a:t> </a:t>
            </a:r>
            <a:endParaRPr lang="ru-RU" dirty="0"/>
          </a:p>
          <a:p>
            <a:r>
              <a:rPr lang="ru-RU" dirty="0"/>
              <a:t>Интерполяционное разложение</a:t>
            </a:r>
          </a:p>
          <a:p>
            <a:r>
              <a:rPr lang="ru-RU" dirty="0"/>
              <a:t>Спектральное разложение: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 = VDV 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−1</a:t>
            </a:r>
            <a:r>
              <a:rPr lang="en-US" sz="2400" dirty="0"/>
              <a:t>, </a:t>
            </a:r>
            <a:br>
              <a:rPr lang="en-US" sz="2400" dirty="0"/>
            </a:br>
            <a:r>
              <a:rPr lang="ru-RU" sz="2400" dirty="0"/>
              <a:t>где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  <a:r>
              <a:rPr lang="en-US" sz="2400" dirty="0"/>
              <a:t> — </a:t>
            </a:r>
            <a:r>
              <a:rPr lang="ru-RU" sz="2400" dirty="0"/>
              <a:t>диагональная матрица, образованная из собственных значений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400" dirty="0"/>
              <a:t>, </a:t>
            </a:r>
            <a:r>
              <a:rPr lang="ru-RU" sz="2400" dirty="0"/>
              <a:t>а столбцы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US" sz="2400" dirty="0"/>
              <a:t> — </a:t>
            </a:r>
            <a:r>
              <a:rPr lang="ru-RU" sz="2400" dirty="0"/>
              <a:t>соответствующие собственные вектора.</a:t>
            </a:r>
          </a:p>
          <a:p>
            <a:r>
              <a:rPr lang="ru-RU" dirty="0"/>
              <a:t>Жорданова нормальная форма: </a:t>
            </a:r>
            <a:r>
              <a:rPr lang="en-US" dirty="0"/>
              <a:t>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 = CJC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 −1</a:t>
            </a:r>
            <a:r>
              <a:rPr lang="en-US" sz="2400" dirty="0"/>
              <a:t>, </a:t>
            </a:r>
            <a:br>
              <a:rPr lang="ru-RU" sz="2400" dirty="0"/>
            </a:br>
            <a:r>
              <a:rPr lang="ru-RU" sz="2400" dirty="0"/>
              <a:t>где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/>
              <a:t>— </a:t>
            </a:r>
            <a:r>
              <a:rPr lang="ru-RU" sz="2400" dirty="0"/>
              <a:t>матрица специального вида, называемая жордановой, </a:t>
            </a:r>
            <a:br>
              <a:rPr lang="ru-RU" sz="2400" dirty="0"/>
            </a:br>
            <a:r>
              <a:rPr lang="ru-RU" sz="2400" dirty="0"/>
              <a:t>а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 </a:t>
            </a:r>
            <a:r>
              <a:rPr lang="en-US" sz="2400" dirty="0"/>
              <a:t>— </a:t>
            </a:r>
            <a:r>
              <a:rPr lang="ru-RU" sz="2400" dirty="0"/>
              <a:t>матрица перехода к новому базису.</a:t>
            </a:r>
          </a:p>
          <a:p>
            <a:r>
              <a:rPr lang="ru-RU" sz="3200" b="1" dirty="0"/>
              <a:t>Сингулярное разложение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656C3A-5612-4A34-8E28-B90F6D375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16</a:t>
            </a:fld>
            <a:endParaRPr lang="ru-RU" sz="2800" dirty="0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858CD219-2BC8-4F6C-B221-6F5A69DC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625AA78-B332-4342-86FD-B41E571ECEF5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691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9342" y="392611"/>
            <a:ext cx="8406168" cy="6281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000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Сингулярное разложение 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  <a:p>
            <a:r>
              <a:rPr lang="ru-RU" sz="3200" b="1" dirty="0"/>
              <a:t>Сингулярное разложение</a:t>
            </a:r>
            <a:r>
              <a:rPr lang="en-US" sz="3200" b="1" dirty="0"/>
              <a:t> </a:t>
            </a:r>
            <a:r>
              <a:rPr lang="ru-RU" sz="3200" dirty="0"/>
              <a:t>(</a:t>
            </a:r>
            <a:r>
              <a:rPr lang="ru-RU" sz="3200" dirty="0" err="1"/>
              <a:t>Singular</a:t>
            </a:r>
            <a:r>
              <a:rPr lang="ru-RU" sz="3200" dirty="0"/>
              <a:t> Value </a:t>
            </a:r>
            <a:r>
              <a:rPr lang="ru-RU" sz="3200" dirty="0" err="1"/>
              <a:t>Decomposition</a:t>
            </a:r>
            <a:r>
              <a:rPr lang="ru-RU" sz="3200" dirty="0"/>
              <a:t>, SVD) — декомпозиция вещественной матрицы с целью её приведения к каноническому виду. </a:t>
            </a:r>
          </a:p>
          <a:p>
            <a:r>
              <a:rPr lang="ru-RU" sz="3200" dirty="0"/>
              <a:t>Сингулярное разложение является удобным методом при работе с матрицами. </a:t>
            </a:r>
          </a:p>
          <a:p>
            <a:r>
              <a:rPr lang="ru-RU" sz="3200" dirty="0"/>
              <a:t>Оно показывает геометрическую структуру матрицы и позволяет </a:t>
            </a:r>
            <a:r>
              <a:rPr lang="ru-RU" sz="3200" u="sng" dirty="0"/>
              <a:t>наглядно представить имеющиеся данные</a:t>
            </a:r>
            <a:r>
              <a:rPr lang="ru-RU" sz="3200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0722C6-708C-4CFC-836A-BA9D0D7E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17</a:t>
            </a:fld>
            <a:endParaRPr lang="ru-RU" sz="2800" dirty="0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6667AFCA-F894-42E5-97C0-9491B7F7C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97A05B9-79CF-4B1D-890F-8D57AB7B3745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683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18371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0070C0"/>
                </a:solidFill>
              </a:rPr>
              <a:t>Некоторые предварительные сведения о матрице 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3279" y="856287"/>
            <a:ext cx="8877442" cy="5629701"/>
          </a:xfrm>
        </p:spPr>
        <p:txBody>
          <a:bodyPr/>
          <a:lstStyle/>
          <a:p>
            <a:r>
              <a:rPr lang="ru-RU" sz="2400" dirty="0"/>
              <a:t>Обе матрицы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AA</a:t>
            </a:r>
            <a:r>
              <a:rPr lang="en-US" sz="2400" i="1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/>
              <a:t>и</a:t>
            </a:r>
            <a:r>
              <a:rPr lang="ru-RU" sz="2400" i="1" dirty="0">
                <a:cs typeface="Times New Roman" panose="02020603050405020304" pitchFamily="18" charset="0"/>
              </a:rPr>
              <a:t>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</a:t>
            </a:r>
            <a:r>
              <a:rPr lang="en-US" sz="2400" i="1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</a:t>
            </a:r>
            <a:r>
              <a:rPr lang="ru-RU" sz="2400" dirty="0"/>
              <a:t> — симметричны (хотя не обязательно одинаковых порядков).</a:t>
            </a:r>
          </a:p>
          <a:p>
            <a:r>
              <a:rPr lang="ru-RU" sz="2400" dirty="0"/>
              <a:t>Если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rank A = r</a:t>
            </a:r>
            <a:r>
              <a:rPr lang="en-US" sz="2400" dirty="0"/>
              <a:t>, </a:t>
            </a:r>
            <a:r>
              <a:rPr lang="ru-RU" sz="2400" dirty="0"/>
              <a:t>то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rank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AA</a:t>
            </a:r>
            <a:r>
              <a:rPr lang="en-US" sz="2400" i="1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= rank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</a:t>
            </a:r>
            <a:r>
              <a:rPr lang="en-US" sz="2400" i="1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r</a:t>
            </a:r>
            <a:r>
              <a:rPr lang="en-US" sz="2400" dirty="0"/>
              <a:t>.</a:t>
            </a:r>
            <a:endParaRPr lang="ru-RU" sz="2400" dirty="0"/>
          </a:p>
          <a:p>
            <a:r>
              <a:rPr lang="ru-RU" sz="2400" dirty="0"/>
              <a:t>Характеристические полиномы матриц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AA</a:t>
            </a:r>
            <a:r>
              <a:rPr lang="en-US" sz="2400" i="1" baseline="30000" dirty="0">
                <a:cs typeface="Times New Roman" panose="02020603050405020304" pitchFamily="18" charset="0"/>
              </a:rPr>
              <a:t>T</a:t>
            </a:r>
            <a:r>
              <a:rPr lang="ru-RU" sz="2400" i="1" dirty="0">
                <a:cs typeface="Times New Roman" panose="02020603050405020304" pitchFamily="18" charset="0"/>
              </a:rPr>
              <a:t> </a:t>
            </a:r>
            <a:r>
              <a:rPr lang="ru-RU" sz="2400" dirty="0"/>
              <a:t>и</a:t>
            </a:r>
            <a:r>
              <a:rPr lang="ru-RU" sz="2400" i="1" dirty="0">
                <a:cs typeface="Times New Roman" panose="02020603050405020304" pitchFamily="18" charset="0"/>
              </a:rPr>
              <a:t>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</a:t>
            </a:r>
            <a:r>
              <a:rPr lang="en-US" sz="2400" i="1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</a:t>
            </a:r>
            <a:r>
              <a:rPr lang="ru-RU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sz="2400" dirty="0"/>
              <a:t>могут различаться только лишь на степень переменной.</a:t>
            </a:r>
          </a:p>
          <a:p>
            <a:r>
              <a:rPr lang="ru-RU" sz="2400" dirty="0"/>
              <a:t>Собственные числа обеих матриц вещественны и неотрицательны. Количество ненулевых совпадает с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rank A = r</a:t>
            </a:r>
            <a:r>
              <a:rPr lang="ru-RU" sz="2400" dirty="0"/>
              <a:t>. </a:t>
            </a:r>
          </a:p>
          <a:p>
            <a:r>
              <a:rPr lang="ru-RU" sz="2400" dirty="0"/>
              <a:t>Обозначим положительные собственные числа </a:t>
            </a:r>
          </a:p>
          <a:p>
            <a:r>
              <a:rPr lang="ru-RU" sz="2400" dirty="0"/>
              <a:t>Таким образом спектры матриц: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78" y="4504769"/>
            <a:ext cx="6828146" cy="154120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948" y="3797489"/>
            <a:ext cx="1430741" cy="464024"/>
          </a:xfrm>
          <a:prstGeom prst="rect">
            <a:avLst/>
          </a:prstGeom>
        </p:spPr>
      </p:pic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71AF497E-E8F5-4370-B36D-B417CE1B0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18</a:t>
            </a:fld>
            <a:endParaRPr lang="ru-RU" sz="2800" dirty="0"/>
          </a:p>
        </p:txBody>
      </p:sp>
      <p:sp>
        <p:nvSpPr>
          <p:cNvPr id="8" name="Нижний колонтитул 5">
            <a:extLst>
              <a:ext uri="{FF2B5EF4-FFF2-40B4-BE49-F238E27FC236}">
                <a16:creationId xmlns:a16="http://schemas.microsoft.com/office/drawing/2014/main" id="{F2BA613F-D50F-4EB0-B89B-9F2413405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DD6593CE-9363-4F84-A943-36F473EE9FA2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041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46161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Теорема (о сингулярном разложении)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709637"/>
            <a:ext cx="8966579" cy="6011839"/>
          </a:xfrm>
        </p:spPr>
        <p:txBody>
          <a:bodyPr>
            <a:normAutofit/>
          </a:bodyPr>
          <a:lstStyle/>
          <a:p>
            <a:r>
              <a:rPr lang="ru-RU" dirty="0"/>
              <a:t>Для вещественной матрицы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dirty="0"/>
              <a:t> </a:t>
            </a:r>
            <a:r>
              <a:rPr lang="ru-RU" dirty="0"/>
              <a:t>размерности </a:t>
            </a:r>
            <a:r>
              <a:rPr lang="en-US" dirty="0"/>
              <a:t>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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dirty="0"/>
              <a:t>, </a:t>
            </a:r>
            <a:r>
              <a:rPr lang="ru-RU" dirty="0"/>
              <a:t>ранга</a:t>
            </a:r>
            <a:r>
              <a:rPr lang="en-US" dirty="0"/>
              <a:t>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dirty="0"/>
              <a:t> </a:t>
            </a:r>
            <a:r>
              <a:rPr lang="ru-RU" dirty="0"/>
              <a:t>существует представление её в виде произведения</a:t>
            </a:r>
          </a:p>
          <a:p>
            <a:pPr marL="0" indent="0" algn="ctr">
              <a:buNone/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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W</a:t>
            </a:r>
            <a:r>
              <a:rPr lang="en-US" i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ru-RU" dirty="0"/>
              <a:t>где</a:t>
            </a:r>
            <a:r>
              <a:rPr lang="en-US" dirty="0"/>
              <a:t> </a:t>
            </a:r>
            <a:r>
              <a:rPr lang="ru-RU" dirty="0"/>
              <a:t>матрицы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US" dirty="0"/>
              <a:t> </a:t>
            </a:r>
            <a:r>
              <a:rPr lang="ru-RU" dirty="0"/>
              <a:t>(размерности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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W</a:t>
            </a:r>
            <a:r>
              <a:rPr lang="en-US" dirty="0"/>
              <a:t> </a:t>
            </a:r>
            <a:r>
              <a:rPr lang="ru-RU" dirty="0"/>
              <a:t> (размерности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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ru-RU" dirty="0"/>
              <a:t>)</a:t>
            </a:r>
            <a:r>
              <a:rPr lang="en-US" dirty="0"/>
              <a:t> — </a:t>
            </a:r>
            <a:r>
              <a:rPr lang="ru-RU" dirty="0"/>
              <a:t>ортогональные;</a:t>
            </a:r>
          </a:p>
          <a:p>
            <a:r>
              <a:rPr lang="ru-RU" dirty="0"/>
              <a:t>матрица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dirty="0"/>
              <a:t>размерности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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dirty="0"/>
              <a:t> </a:t>
            </a:r>
            <a:r>
              <a:rPr lang="ru-RU" dirty="0"/>
              <a:t>имеет ненулевыми только диагональные элементы </a:t>
            </a:r>
            <a:r>
              <a:rPr lang="ru-RU" dirty="0">
                <a:sym typeface="Symbol" panose="05050102010706020507" pitchFamily="18" charset="2"/>
              </a:rPr>
              <a:t></a:t>
            </a:r>
            <a:r>
              <a:rPr lang="en-US" baseline="-25000" dirty="0" err="1"/>
              <a:t>jj</a:t>
            </a:r>
            <a:r>
              <a:rPr lang="ru-RU" dirty="0"/>
              <a:t> </a:t>
            </a:r>
            <a:r>
              <a:rPr lang="en-US" dirty="0"/>
              <a:t>=</a:t>
            </a:r>
            <a:r>
              <a:rPr lang="ru-RU" dirty="0">
                <a:sym typeface="Symbol" panose="05050102010706020507" pitchFamily="18" charset="2"/>
              </a:rPr>
              <a:t> </a:t>
            </a:r>
            <a:r>
              <a:rPr lang="en-US" baseline="-25000" dirty="0"/>
              <a:t>j</a:t>
            </a:r>
            <a:r>
              <a:rPr lang="ru-RU" dirty="0"/>
              <a:t>, которые расположены в порядке </a:t>
            </a:r>
            <a:r>
              <a:rPr lang="ru-RU" dirty="0" err="1"/>
              <a:t>неубывания</a:t>
            </a:r>
            <a:r>
              <a:rPr lang="ru-RU" dirty="0"/>
              <a:t> и равны арифметическим квадратным корням из ненулевых собственных чисел матрицы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AA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/>
              <a:t>.</a:t>
            </a:r>
          </a:p>
          <a:p>
            <a:r>
              <a:rPr lang="ru-RU" dirty="0"/>
              <a:t>Столбцы матрицы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ru-RU" dirty="0"/>
              <a:t> </a:t>
            </a:r>
            <a:r>
              <a:rPr lang="en-US" dirty="0"/>
              <a:t>—</a:t>
            </a:r>
            <a:r>
              <a:rPr lang="ru-RU" dirty="0"/>
              <a:t> собственные векторы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AA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ru-RU" dirty="0"/>
          </a:p>
          <a:p>
            <a:r>
              <a:rPr lang="ru-RU" dirty="0"/>
              <a:t>Столбцы матрицы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W</a:t>
            </a:r>
            <a:r>
              <a:rPr lang="ru-RU" dirty="0"/>
              <a:t> </a:t>
            </a:r>
            <a:r>
              <a:rPr lang="en-US" dirty="0"/>
              <a:t>—</a:t>
            </a:r>
            <a:r>
              <a:rPr lang="ru-RU" dirty="0"/>
              <a:t> собственные векторы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i="1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72D1FD-030A-4472-828B-BAD027FDA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19</a:t>
            </a:fld>
            <a:endParaRPr lang="ru-RU" sz="2800" dirty="0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2AC481F2-470F-44D9-8963-708B0A9FE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03277275-87B3-483E-B6A4-12D09153E65B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548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34797" y="404433"/>
                <a:ext cx="8474406" cy="6049133"/>
              </a:xfrm>
            </p:spPr>
            <p:txBody>
              <a:bodyPr/>
              <a:lstStyle/>
              <a:p>
                <a:r>
                  <a:rPr lang="ru-RU" dirty="0"/>
                  <a:t>Диагональные элементы матрицы</a:t>
                </a:r>
                <a:r>
                  <a:rPr lang="en-US" dirty="0"/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 </a:t>
                </a:r>
                <a:r>
                  <a:rPr lang="en-US" dirty="0"/>
                  <a:t> </a:t>
                </a:r>
                <a:r>
                  <a:rPr lang="ru-RU" dirty="0"/>
                  <a:t>называются </a:t>
                </a:r>
                <a:r>
                  <a:rPr lang="ru-RU" b="1" dirty="0"/>
                  <a:t>сингулярными числами </a:t>
                </a:r>
                <a:r>
                  <a:rPr lang="ru-RU" dirty="0"/>
                  <a:t>матрицы </a:t>
                </a:r>
                <a:r>
                  <a:rPr lang="ru-RU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ru-RU" dirty="0"/>
                  <a:t>. </a:t>
                </a:r>
                <a:endParaRPr lang="en-US" dirty="0"/>
              </a:p>
              <a:p>
                <a:r>
                  <a:rPr lang="ru-RU" dirty="0"/>
                  <a:t>Столбцы матрицы </a:t>
                </a:r>
                <a:r>
                  <a:rPr lang="ru-RU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 </a:t>
                </a:r>
                <a:r>
                  <a:rPr lang="ru-RU" dirty="0"/>
                  <a:t>называют левыми сингулярными векторами, а столбцы матрицы </a:t>
                </a:r>
                <a:r>
                  <a:rPr lang="ru-RU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</a:t>
                </a:r>
                <a:r>
                  <a:rPr lang="ru-RU" dirty="0"/>
                  <a:t> — правыми сингулярными векторами матрицы </a:t>
                </a:r>
                <a:r>
                  <a:rPr lang="ru-RU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ru-RU" dirty="0"/>
                  <a:t>. </a:t>
                </a:r>
                <a:endParaRPr lang="en-US" dirty="0"/>
              </a:p>
              <a:p>
                <a:r>
                  <a:rPr lang="ru-RU" dirty="0"/>
                  <a:t>Левый и правый сингулярные векторы, соответствующие одному и тому же сингулярному числу </a:t>
                </a:r>
                <a:r>
                  <a:rPr lang="ru-RU" dirty="0">
                    <a:sym typeface="Symbol" panose="05050102010706020507" pitchFamily="18" charset="2"/>
                  </a:rPr>
                  <a:t></a:t>
                </a:r>
                <a:r>
                  <a:rPr lang="en-US" baseline="-25000" dirty="0"/>
                  <a:t>j</a:t>
                </a:r>
                <a:r>
                  <a:rPr lang="ru-RU" dirty="0"/>
                  <a:t>, связаны соотношениями</a:t>
                </a:r>
                <a:r>
                  <a:rPr lang="en-US" dirty="0"/>
                  <a:t>:</a:t>
                </a:r>
              </a:p>
              <a:p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ru-RU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797" y="404433"/>
                <a:ext cx="8474406" cy="6049133"/>
              </a:xfrm>
              <a:blipFill>
                <a:blip r:embed="rId2"/>
                <a:stretch>
                  <a:fillRect l="-1295" t="-19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5D1638EA-DACD-4F7D-8CF7-15985946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20</a:t>
            </a:fld>
            <a:endParaRPr lang="ru-RU" sz="2800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3F96E4-7198-4E92-B08F-E446C4795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A27C7B87-CA10-4A96-86A2-348A7E9B218F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82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638" y="119467"/>
            <a:ext cx="7886700" cy="904116"/>
          </a:xfrm>
        </p:spPr>
        <p:txBody>
          <a:bodyPr>
            <a:normAutofit/>
          </a:bodyPr>
          <a:lstStyle/>
          <a:p>
            <a:r>
              <a:rPr lang="ru-RU" sz="3600" dirty="0"/>
              <a:t>Схема разложения при </a:t>
            </a:r>
            <a:r>
              <a:rPr lang="en-US" sz="3600" dirty="0"/>
              <a:t>m&lt;n:</a:t>
            </a:r>
            <a:r>
              <a:rPr lang="ru-RU" sz="3600" dirty="0"/>
              <a:t> 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513" y="3024519"/>
            <a:ext cx="8118712" cy="27518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>
                <a:latin typeface="+mj-lt"/>
                <a:ea typeface="+mj-ea"/>
                <a:cs typeface="+mj-cs"/>
              </a:rPr>
              <a:t>Схема разложения при </a:t>
            </a:r>
            <a:r>
              <a:rPr lang="en-US" sz="3600" dirty="0">
                <a:latin typeface="+mj-lt"/>
                <a:ea typeface="+mj-ea"/>
                <a:cs typeface="+mj-cs"/>
              </a:rPr>
              <a:t>m&gt;n:</a:t>
            </a:r>
            <a:r>
              <a:rPr lang="ru-RU" sz="3600" dirty="0"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4" y="904755"/>
            <a:ext cx="7985760" cy="20265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61" y="3569224"/>
            <a:ext cx="7304734" cy="2637358"/>
          </a:xfrm>
          <a:prstGeom prst="rect">
            <a:avLst/>
          </a:prstGeom>
        </p:spPr>
      </p:pic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6D5851AC-6E71-4F5A-A2B3-40878A287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21</a:t>
            </a:fld>
            <a:endParaRPr lang="ru-RU" sz="2800" dirty="0"/>
          </a:p>
        </p:txBody>
      </p:sp>
      <p:sp>
        <p:nvSpPr>
          <p:cNvPr id="7" name="Нижний колонтитул 5">
            <a:extLst>
              <a:ext uri="{FF2B5EF4-FFF2-40B4-BE49-F238E27FC236}">
                <a16:creationId xmlns:a16="http://schemas.microsoft.com/office/drawing/2014/main" id="{7F1578CF-F94F-483F-AF10-BED0BAA3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6334ED80-DACF-48F5-BE75-92E8A4B1340D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98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5569" y="1"/>
            <a:ext cx="7886700" cy="1023582"/>
          </a:xfrm>
        </p:spPr>
        <p:txBody>
          <a:bodyPr/>
          <a:lstStyle/>
          <a:p>
            <a:r>
              <a:rPr lang="ru-RU" u="sng" dirty="0"/>
              <a:t>Пример</a:t>
            </a:r>
            <a:r>
              <a:rPr lang="ru-RU" dirty="0"/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4751" y="1279713"/>
            <a:ext cx="8651828" cy="5312155"/>
          </a:xfrm>
        </p:spPr>
        <p:txBody>
          <a:bodyPr/>
          <a:lstStyle/>
          <a:p>
            <a:r>
              <a:rPr lang="ru-RU" dirty="0"/>
              <a:t>Для матрицы</a:t>
            </a:r>
          </a:p>
          <a:p>
            <a:endParaRPr lang="ru-RU" dirty="0"/>
          </a:p>
          <a:p>
            <a:r>
              <a:rPr lang="ru-RU" dirty="0"/>
              <a:t>Одним из сингулярных разложений является разложение</a:t>
            </a:r>
          </a:p>
          <a:p>
            <a:endParaRPr lang="ru-RU" dirty="0"/>
          </a:p>
          <a:p>
            <a:pPr marL="0" indent="0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V=</a:t>
            </a:r>
            <a:r>
              <a:rPr lang="en-US" sz="2400" dirty="0"/>
              <a:t>                                                                    </a:t>
            </a:r>
            <a:r>
              <a:rPr lang="ru-RU" sz="2400" dirty="0"/>
              <a:t> 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W=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ru-RU" dirty="0"/>
              <a:t>Имеет место соотношение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VW = WV = E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988" y="699840"/>
            <a:ext cx="3061619" cy="170841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26" y="3258512"/>
            <a:ext cx="1575109" cy="11487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035" y="3108097"/>
            <a:ext cx="3082077" cy="154886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6841" y="3058463"/>
            <a:ext cx="2532265" cy="1548861"/>
          </a:xfrm>
          <a:prstGeom prst="rect">
            <a:avLst/>
          </a:prstGeom>
        </p:spPr>
      </p:pic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87AF3DD6-F208-489D-A7E0-B094434F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22</a:t>
            </a:fld>
            <a:endParaRPr lang="ru-RU" sz="2800" dirty="0"/>
          </a:p>
        </p:txBody>
      </p:sp>
      <p:sp>
        <p:nvSpPr>
          <p:cNvPr id="9" name="Нижний колонтитул 5">
            <a:extLst>
              <a:ext uri="{FF2B5EF4-FFF2-40B4-BE49-F238E27FC236}">
                <a16:creationId xmlns:a16="http://schemas.microsoft.com/office/drawing/2014/main" id="{72406DC8-F0AB-41EA-A5B0-14224E8E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DD2B975-165F-4563-BA39-88B97875E070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864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034" y="133113"/>
            <a:ext cx="8706419" cy="781287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Приложения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сингулярного разложения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034" y="914400"/>
            <a:ext cx="9033966" cy="5841242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b="1" dirty="0" err="1">
                <a:solidFill>
                  <a:srgbClr val="0070C0"/>
                </a:solidFill>
              </a:rPr>
              <a:t>Псевдообратная</a:t>
            </a:r>
            <a:r>
              <a:rPr lang="ru-RU" b="1" dirty="0">
                <a:solidFill>
                  <a:srgbClr val="0070C0"/>
                </a:solidFill>
              </a:rPr>
              <a:t> матрица</a:t>
            </a:r>
          </a:p>
          <a:p>
            <a:r>
              <a:rPr lang="ru-RU" dirty="0"/>
              <a:t>Если матрица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dirty="0"/>
              <a:t> является вырожденной или прямоугольной, то обратной матрицы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 </a:t>
            </a:r>
            <a:r>
              <a:rPr lang="ru-RU" baseline="30000" dirty="0"/>
              <a:t>-1</a:t>
            </a:r>
            <a:r>
              <a:rPr lang="ru-RU" dirty="0"/>
              <a:t> для неё не существует. </a:t>
            </a:r>
          </a:p>
          <a:p>
            <a:r>
              <a:rPr lang="ru-RU" dirty="0"/>
              <a:t>Однако для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dirty="0"/>
              <a:t> может быть найдена </a:t>
            </a:r>
            <a:r>
              <a:rPr lang="ru-RU" dirty="0" err="1"/>
              <a:t>псевдообратная</a:t>
            </a:r>
            <a:r>
              <a:rPr lang="ru-RU" dirty="0"/>
              <a:t> матрица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i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ru-RU" dirty="0"/>
              <a:t> — такая матрица, для которой выполняются условия:</a:t>
            </a:r>
          </a:p>
          <a:p>
            <a:pPr marL="0" indent="0" algn="ctr">
              <a:buNone/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i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 =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endParaRPr lang="en-US" i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ctr">
              <a:buNone/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AA</a:t>
            </a:r>
            <a:r>
              <a:rPr lang="en-US" i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endParaRPr lang="en-US" i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ctr">
              <a:buNone/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i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AA</a:t>
            </a:r>
            <a:r>
              <a:rPr lang="en-US" i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A</a:t>
            </a:r>
            <a:r>
              <a:rPr lang="en-US" i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</a:p>
          <a:p>
            <a:pPr marL="0" indent="0" algn="ctr">
              <a:buNone/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AA</a:t>
            </a:r>
            <a:r>
              <a:rPr lang="en-US" i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endParaRPr lang="ru-RU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ru-RU" dirty="0"/>
              <a:t>Матрица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А</a:t>
            </a:r>
            <a:r>
              <a:rPr lang="ru-RU" i="1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ru-RU" dirty="0"/>
              <a:t>, удовлетворяющая этим условиям существует и единственна.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08FD90-5BE1-498F-9ABD-1D90BEAF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23</a:t>
            </a:fld>
            <a:endParaRPr lang="ru-RU" sz="2800" dirty="0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3EAD2C69-43A1-4FE5-ACA8-A61D95296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16B3570-2BEB-4E1A-811B-BBBE386951CC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195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7582" y="501791"/>
            <a:ext cx="8365224" cy="6199259"/>
          </a:xfrm>
        </p:spPr>
        <p:txBody>
          <a:bodyPr>
            <a:normAutofit/>
          </a:bodyPr>
          <a:lstStyle/>
          <a:p>
            <a:r>
              <a:rPr lang="ru-RU" sz="3200" dirty="0"/>
              <a:t>Если </a:t>
            </a:r>
            <a:r>
              <a:rPr lang="en-US" sz="32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M = V</a:t>
            </a:r>
            <a:r>
              <a:rPr lang="en-US" sz="32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sz="32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W</a:t>
            </a:r>
            <a:r>
              <a:rPr lang="en-US" sz="3200" dirty="0"/>
              <a:t>, </a:t>
            </a:r>
            <a:r>
              <a:rPr lang="ru-RU" sz="3200" dirty="0"/>
              <a:t>то </a:t>
            </a:r>
            <a:r>
              <a:rPr lang="ru-RU" sz="3200" dirty="0" err="1"/>
              <a:t>псевдообратная</a:t>
            </a:r>
            <a:r>
              <a:rPr lang="ru-RU" sz="3200" dirty="0"/>
              <a:t> к ней матрица находится по формуле:</a:t>
            </a:r>
          </a:p>
          <a:p>
            <a:pPr marL="0" indent="0" algn="ctr">
              <a:buNone/>
            </a:pPr>
            <a:r>
              <a:rPr lang="en-US" sz="32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</a:t>
            </a:r>
            <a:r>
              <a:rPr lang="en-US" sz="3200" i="1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32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 V</a:t>
            </a:r>
            <a:r>
              <a:rPr lang="en-US" sz="32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sz="3200" i="1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sz="32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</a:t>
            </a:r>
          </a:p>
          <a:p>
            <a:r>
              <a:rPr lang="ru-RU" sz="3200" dirty="0"/>
              <a:t>где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sz="3200" dirty="0"/>
              <a:t> — </a:t>
            </a:r>
            <a:r>
              <a:rPr lang="ru-RU" sz="3200" dirty="0" err="1"/>
              <a:t>псевдообратная</a:t>
            </a:r>
            <a:r>
              <a:rPr lang="ru-RU" sz="3200" dirty="0"/>
              <a:t> к матрице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sz="3200" dirty="0"/>
              <a:t>, </a:t>
            </a:r>
            <a:r>
              <a:rPr lang="ru-RU" sz="3200" dirty="0"/>
              <a:t>получающаяся из неё заменой каждого ненулевого элемента </a:t>
            </a:r>
            <a:r>
              <a:rPr lang="ru-RU" sz="3200" dirty="0">
                <a:sym typeface="Symbol" panose="05050102010706020507" pitchFamily="18" charset="2"/>
              </a:rPr>
              <a:t></a:t>
            </a:r>
            <a:r>
              <a:rPr lang="en-US" sz="3200" baseline="-25000" dirty="0"/>
              <a:t>j </a:t>
            </a:r>
            <a:r>
              <a:rPr lang="ru-RU" sz="3200" dirty="0"/>
              <a:t>на диагонали на обратный к нему: </a:t>
            </a:r>
            <a:r>
              <a:rPr lang="ru-RU" sz="3200" dirty="0">
                <a:sym typeface="Symbol" panose="05050102010706020507" pitchFamily="18" charset="2"/>
              </a:rPr>
              <a:t></a:t>
            </a:r>
            <a:r>
              <a:rPr lang="en-US" sz="3200" baseline="-25000" dirty="0"/>
              <a:t>j</a:t>
            </a:r>
            <a:r>
              <a:rPr lang="en-US" sz="3200" baseline="30000" dirty="0"/>
              <a:t>-1</a:t>
            </a:r>
            <a:r>
              <a:rPr lang="en-US" sz="3200" dirty="0"/>
              <a:t>, </a:t>
            </a:r>
            <a:r>
              <a:rPr lang="ru-RU" sz="3200" dirty="0"/>
              <a:t>с последующим транспонированием самой матрицы.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D23DAB-EA35-4344-B33C-DBB5F663F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24</a:t>
            </a:fld>
            <a:endParaRPr lang="ru-RU" sz="2800" dirty="0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14C19D10-A4F7-405D-85B0-69BF7D46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0795CB2-BB32-497C-8313-A404B5CCDC4B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586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5327" y="255895"/>
            <a:ext cx="8652681" cy="63462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0070C0"/>
                </a:solidFill>
              </a:rPr>
              <a:t>2.</a:t>
            </a:r>
            <a:r>
              <a:rPr lang="en-US" sz="3300" b="1" dirty="0"/>
              <a:t> </a:t>
            </a:r>
            <a:r>
              <a:rPr lang="ru-RU" sz="3300" b="1" dirty="0">
                <a:solidFill>
                  <a:srgbClr val="0070C0"/>
                </a:solidFill>
              </a:rPr>
              <a:t>Приближение матрицей меньшего ранга</a:t>
            </a:r>
            <a:endParaRPr lang="en-US" sz="3300" b="1" dirty="0">
              <a:solidFill>
                <a:srgbClr val="0070C0"/>
              </a:solidFill>
            </a:endParaRPr>
          </a:p>
          <a:p>
            <a:r>
              <a:rPr lang="ru-RU" dirty="0"/>
              <a:t>В некоторых практических задачах требуется приближать заданную матрицу</a:t>
            </a:r>
            <a:r>
              <a:rPr lang="en-US" dirty="0"/>
              <a:t>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dirty="0"/>
              <a:t> </a:t>
            </a:r>
            <a:r>
              <a:rPr lang="ru-RU" dirty="0"/>
              <a:t>некоторой другой матрицей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i="1" dirty="0"/>
              <a:t> </a:t>
            </a:r>
            <a:r>
              <a:rPr lang="ru-RU" dirty="0"/>
              <a:t>с заранее заданным рангом</a:t>
            </a:r>
            <a:r>
              <a:rPr lang="en-US" dirty="0"/>
              <a:t> </a:t>
            </a:r>
            <a:r>
              <a:rPr lang="en-US" i="1" dirty="0"/>
              <a:t>k</a:t>
            </a:r>
            <a:r>
              <a:rPr lang="en-US" dirty="0"/>
              <a:t>. </a:t>
            </a:r>
          </a:p>
          <a:p>
            <a:r>
              <a:rPr lang="ru-RU" dirty="0"/>
              <a:t>Известна следующая теорема</a:t>
            </a:r>
            <a:r>
              <a:rPr lang="en-US" dirty="0"/>
              <a:t> (</a:t>
            </a:r>
            <a:r>
              <a:rPr lang="ru-RU" dirty="0" err="1"/>
              <a:t>Эккарта</a:t>
            </a:r>
            <a:r>
              <a:rPr lang="en-US" dirty="0"/>
              <a:t>–</a:t>
            </a:r>
            <a:r>
              <a:rPr lang="ru-RU" dirty="0"/>
              <a:t>Янга</a:t>
            </a:r>
            <a:r>
              <a:rPr lang="en-US" dirty="0"/>
              <a:t>):</a:t>
            </a:r>
            <a:endParaRPr lang="ru-RU" dirty="0"/>
          </a:p>
          <a:p>
            <a:r>
              <a:rPr lang="ru-RU" dirty="0"/>
              <a:t>Если потребовать, чтобы такое приближение было наилучшим в том смысле, что Фробениусова норма разности матриц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dirty="0"/>
              <a:t> </a:t>
            </a:r>
            <a:r>
              <a:rPr lang="ru-RU" dirty="0"/>
              <a:t> и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dirty="0"/>
              <a:t> </a:t>
            </a:r>
            <a:r>
              <a:rPr lang="ru-RU" dirty="0"/>
              <a:t>минимальна, при ограничении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rank M</a:t>
            </a:r>
            <a:r>
              <a:rPr lang="en-US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k</a:t>
            </a:r>
            <a:r>
              <a:rPr lang="en-US" dirty="0"/>
              <a:t>, </a:t>
            </a:r>
            <a:r>
              <a:rPr lang="ru-RU" dirty="0"/>
              <a:t>то оказывается, что наилучшая такая матрица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/>
              <a:t>получается из сингулярного разложения матрицы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dirty="0"/>
              <a:t> </a:t>
            </a:r>
            <a:r>
              <a:rPr lang="ru-RU" dirty="0"/>
              <a:t>по формуле:</a:t>
            </a:r>
          </a:p>
          <a:p>
            <a:pPr marL="0" indent="0" algn="ctr">
              <a:buNone/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</a:t>
            </a:r>
            <a:r>
              <a:rPr lang="en-US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k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V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</a:t>
            </a: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r>
              <a:rPr lang="ru-RU" dirty="0"/>
              <a:t>где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dirty="0"/>
              <a:t>— </a:t>
            </a:r>
            <a:r>
              <a:rPr lang="ru-RU" dirty="0"/>
              <a:t>матрица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dirty="0"/>
              <a:t>, </a:t>
            </a:r>
            <a:r>
              <a:rPr lang="ru-RU" dirty="0"/>
              <a:t>в которой заменили нулями все диагональные элементы, кроме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k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dirty="0"/>
              <a:t>наибольших элементов.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A42A2B-CED6-4A24-80B6-5EE691A9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25</a:t>
            </a:fld>
            <a:endParaRPr lang="ru-RU" sz="2800" dirty="0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023478C0-665C-49C6-9560-B7086BD31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F1EE3C5-3433-4DCF-8D6F-64CAF7875D56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896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23582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3. Метод наименьших квадратов и число обусловленности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0" y="1023583"/>
                <a:ext cx="8733714" cy="5834417"/>
              </a:xfrm>
            </p:spPr>
            <p:txBody>
              <a:bodyPr>
                <a:normAutofit/>
              </a:bodyPr>
              <a:lstStyle/>
              <a:p>
                <a:r>
                  <a:rPr lang="ru-RU" sz="2400" dirty="0"/>
                  <a:t>Задача наименьших квадратов ставится следующим образом: Даны действительная </a:t>
                </a:r>
                <a:r>
                  <a:rPr lang="ru-RU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ru-RU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 </a:t>
                </a:r>
                <a:r>
                  <a:rPr lang="ru-RU" sz="2400" dirty="0"/>
                  <a:t>матрица </a:t>
                </a:r>
                <a:r>
                  <a:rPr lang="ru-RU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ru-RU" sz="2400" dirty="0"/>
                  <a:t> и действительный </a:t>
                </a:r>
                <a:r>
                  <a:rPr lang="ru-RU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m-</a:t>
                </a:r>
                <a:r>
                  <a:rPr lang="ru-RU" sz="2400" dirty="0"/>
                  <a:t>мерный вектор </a:t>
                </a:r>
                <a:r>
                  <a:rPr lang="ru-RU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ru-RU" sz="2400" dirty="0"/>
                  <a:t>. </a:t>
                </a:r>
              </a:p>
              <a:p>
                <a:r>
                  <a:rPr lang="ru-RU" sz="2400" dirty="0"/>
                  <a:t>Требуется найти действительный </a:t>
                </a:r>
                <a:r>
                  <a:rPr lang="ru-RU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ru-RU" sz="2400" dirty="0"/>
                  <a:t>-мерный вектор </a:t>
                </a:r>
                <a:r>
                  <a:rPr lang="ru-RU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</a:t>
                </a:r>
                <a:r>
                  <a:rPr lang="ru-RU" sz="2400" dirty="0"/>
                  <a:t>, минимизирующий Евклидову длину вектора невязки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𝐴𝑤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Решение задачи наименьших квадратов — вектор </a:t>
                </a:r>
                <a:endParaRPr lang="en-US" sz="2400" dirty="0"/>
              </a:p>
              <a:p>
                <a:pPr marL="0" indent="0" algn="ctr">
                  <a:buNone/>
                </a:pP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=(</a:t>
                </a:r>
                <a:r>
                  <a:rPr lang="ru-RU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400" i="1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u-RU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1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ru-RU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400" i="1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endParaRPr lang="ru-RU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ru-RU" sz="2400" dirty="0"/>
                  <a:t> Для квадратных матриц </a:t>
                </a:r>
                <a:r>
                  <a:rPr lang="ru-RU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ru-RU" sz="2400" dirty="0"/>
                  <a:t> число обусловленности определено отношением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𝑐𝑜𝑛𝑑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‖"/>
                        <m:endChr m:val="‖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400" dirty="0"/>
              </a:p>
              <a:p>
                <a:r>
                  <a:rPr lang="ru-RU" sz="2400" dirty="0"/>
                  <a:t>Число обусловленности матрицы есть отношение её первого сингулярного числа к последнему: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𝑐𝑜𝑛𝑑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ru-RU" sz="2400" i="1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</a:t>
                </a:r>
                <a:r>
                  <a:rPr lang="ru-RU" sz="24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1</a:t>
                </a:r>
                <a:r>
                  <a:rPr lang="ru-RU" sz="24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ru-RU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</a:t>
                </a:r>
                <a:r>
                  <a:rPr lang="ru-RU" sz="2400" i="1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 </a:t>
                </a:r>
                <a:r>
                  <a:rPr lang="en-US" sz="24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n</a:t>
                </a:r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23583"/>
                <a:ext cx="8733714" cy="5834417"/>
              </a:xfrm>
              <a:blipFill>
                <a:blip r:embed="rId2"/>
                <a:stretch>
                  <a:fillRect l="-907" t="-1463" r="-7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6617808D-4855-4B31-B0A0-FCA8DCF1D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26</a:t>
            </a:fld>
            <a:endParaRPr lang="ru-RU" sz="2800" dirty="0"/>
          </a:p>
        </p:txBody>
      </p:sp>
      <p:sp>
        <p:nvSpPr>
          <p:cNvPr id="10" name="Нижний колонтитул 5">
            <a:extLst>
              <a:ext uri="{FF2B5EF4-FFF2-40B4-BE49-F238E27FC236}">
                <a16:creationId xmlns:a16="http://schemas.microsoft.com/office/drawing/2014/main" id="{E504A294-55CD-4F69-B2CD-0F774B197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1895" y="6387171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E11D395-9F57-444A-85B7-E657A59DA150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46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" y="1"/>
            <a:ext cx="8884693" cy="777922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+mn-lt"/>
                <a:ea typeface="+mn-ea"/>
                <a:cs typeface="+mn-cs"/>
              </a:rPr>
              <a:t> </a:t>
            </a:r>
            <a:r>
              <a:rPr lang="ru-RU" sz="28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4.  Сокращённое представление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4626" y="790031"/>
            <a:ext cx="8720066" cy="5748882"/>
          </a:xfrm>
        </p:spPr>
        <p:txBody>
          <a:bodyPr>
            <a:normAutofit/>
          </a:bodyPr>
          <a:lstStyle/>
          <a:p>
            <a:r>
              <a:rPr lang="ru-RU" dirty="0"/>
              <a:t>Для матрицы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</a:t>
            </a:r>
            <a:r>
              <a:rPr lang="en-US" dirty="0"/>
              <a:t> </a:t>
            </a:r>
            <a:r>
              <a:rPr lang="ru-RU" dirty="0"/>
              <a:t>порядка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</a:t>
            </a:r>
            <a:r>
              <a:rPr lang="en-US" sz="28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×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dirty="0"/>
              <a:t> </a:t>
            </a:r>
            <a:r>
              <a:rPr lang="ru-RU" dirty="0"/>
              <a:t>при необходимости приближения матрицей ранга</a:t>
            </a:r>
            <a:r>
              <a:rPr lang="en-US" dirty="0"/>
              <a:t>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 </a:t>
            </a:r>
            <a:r>
              <a:rPr lang="ru-RU" dirty="0"/>
              <a:t>меньшего чем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часто используют компактное представление разложения: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 =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V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dirty="0"/>
              <a:t>Вычисляются только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dirty="0"/>
              <a:t> </a:t>
            </a:r>
            <a:r>
              <a:rPr lang="ru-RU" dirty="0"/>
              <a:t>столбцов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V </a:t>
            </a:r>
            <a:r>
              <a:rPr lang="ru-RU" dirty="0"/>
              <a:t>и </a:t>
            </a:r>
            <a:r>
              <a:rPr lang="en-US" dirty="0"/>
              <a:t>r </a:t>
            </a:r>
            <a:r>
              <a:rPr lang="ru-RU" dirty="0"/>
              <a:t>строк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</a:t>
            </a:r>
            <a:r>
              <a:rPr lang="en-US" dirty="0"/>
              <a:t>. </a:t>
            </a:r>
            <a:r>
              <a:rPr lang="ru-RU" dirty="0"/>
              <a:t>Остальные столбцы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V</a:t>
            </a:r>
            <a:r>
              <a:rPr lang="en-US" dirty="0"/>
              <a:t> </a:t>
            </a:r>
            <a:r>
              <a:rPr lang="ru-RU" dirty="0"/>
              <a:t>и строки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</a:t>
            </a:r>
            <a:r>
              <a:rPr lang="en-US" dirty="0"/>
              <a:t> </a:t>
            </a:r>
            <a:r>
              <a:rPr lang="ru-RU" dirty="0"/>
              <a:t>не вычисляются. </a:t>
            </a:r>
            <a:endParaRPr lang="en-US" dirty="0"/>
          </a:p>
          <a:p>
            <a:r>
              <a:rPr lang="ru-RU" dirty="0"/>
              <a:t>Это экономит большое количество памяти при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r&lt;&lt;n </a:t>
            </a:r>
            <a:br>
              <a:rPr lang="ru-RU" dirty="0"/>
            </a:br>
            <a:r>
              <a:rPr lang="en-US" dirty="0"/>
              <a:t>(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dirty="0"/>
              <a:t> </a:t>
            </a:r>
            <a:r>
              <a:rPr lang="ru-RU" dirty="0"/>
              <a:t>много больше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dirty="0"/>
              <a:t>).</a:t>
            </a:r>
            <a:endParaRPr lang="ru-RU" dirty="0"/>
          </a:p>
          <a:p>
            <a:r>
              <a:rPr lang="ru-RU" dirty="0"/>
              <a:t>Если мы хотим сохранить только </a:t>
            </a:r>
            <a:r>
              <a:rPr lang="en-US" dirty="0"/>
              <a:t>90% </a:t>
            </a:r>
            <a:r>
              <a:rPr lang="ru-RU" dirty="0"/>
              <a:t>информации, то мы должны взять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dirty="0"/>
              <a:t>, </a:t>
            </a:r>
            <a:r>
              <a:rPr lang="ru-RU" dirty="0"/>
              <a:t>таким образом, чтобы сумма квадратов первых элементов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dirty="0"/>
              <a:t> </a:t>
            </a:r>
            <a:r>
              <a:rPr lang="ru-RU" dirty="0"/>
              <a:t>была </a:t>
            </a:r>
            <a:r>
              <a:rPr lang="en-US" dirty="0"/>
              <a:t>90% </a:t>
            </a:r>
            <a:r>
              <a:rPr lang="ru-RU" dirty="0"/>
              <a:t>от общей суммы всех квадратов диагональных элементов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14B458-39B6-456E-9F19-46AD433CF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27</a:t>
            </a:fld>
            <a:endParaRPr lang="ru-RU" sz="2800" dirty="0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1A2BD1F8-2A5B-4606-91B2-99192E4F1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72F2E16-49A7-4A93-BAB0-A4A2872E1ECE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743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" y="0"/>
            <a:ext cx="8884693" cy="723331"/>
          </a:xfrm>
        </p:spPr>
        <p:txBody>
          <a:bodyPr>
            <a:normAutofit/>
          </a:bodyPr>
          <a:lstStyle/>
          <a:p>
            <a:r>
              <a:rPr lang="ru-RU" sz="2800" b="1" u="sng" dirty="0"/>
              <a:t>Пример</a:t>
            </a:r>
            <a:r>
              <a:rPr lang="ru-RU" sz="2800" b="1" dirty="0"/>
              <a:t>.</a:t>
            </a:r>
            <a:r>
              <a:rPr lang="ru-RU" sz="2800" dirty="0"/>
              <a:t> </a:t>
            </a:r>
            <a:r>
              <a:rPr lang="ru-RU" sz="2800" dirty="0">
                <a:latin typeface="+mn-lt"/>
              </a:rPr>
              <a:t>Для передачи матрицы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386" y="2506662"/>
            <a:ext cx="8788305" cy="4351338"/>
          </a:xfrm>
        </p:spPr>
        <p:txBody>
          <a:bodyPr/>
          <a:lstStyle/>
          <a:p>
            <a:endParaRPr lang="ru-RU" dirty="0"/>
          </a:p>
          <a:p>
            <a:pPr marL="0" indent="0">
              <a:buNone/>
            </a:pPr>
            <a:r>
              <a:rPr lang="ru-RU" dirty="0"/>
              <a:t>по каналу связи требуется переслать 120 её элементов.</a:t>
            </a:r>
          </a:p>
          <a:p>
            <a:r>
              <a:rPr lang="ru-RU" dirty="0"/>
              <a:t>Попробуем уменьшить это количество за счёт предварительного сингулярного разложения матрицы.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06" y="532429"/>
            <a:ext cx="8064975" cy="2550276"/>
          </a:xfrm>
          <a:prstGeom prst="rect">
            <a:avLst/>
          </a:prstGeom>
        </p:spPr>
      </p:pic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532CC67-6441-41D5-A24F-D7FD5B930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28</a:t>
            </a:fld>
            <a:endParaRPr lang="ru-RU" sz="2800" dirty="0"/>
          </a:p>
        </p:txBody>
      </p:sp>
      <p:sp>
        <p:nvSpPr>
          <p:cNvPr id="7" name="Нижний колонтитул 5">
            <a:extLst>
              <a:ext uri="{FF2B5EF4-FFF2-40B4-BE49-F238E27FC236}">
                <a16:creationId xmlns:a16="http://schemas.microsoft.com/office/drawing/2014/main" id="{938A2205-D9BC-46CD-8E17-38E8BF504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1286BD5-FBB6-4D83-A987-5CFDFC2F16FB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427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2864" y="133302"/>
            <a:ext cx="8665475" cy="6724697"/>
          </a:xfrm>
        </p:spPr>
        <p:txBody>
          <a:bodyPr>
            <a:normAutofit/>
          </a:bodyPr>
          <a:lstStyle/>
          <a:p>
            <a:r>
              <a:rPr lang="ru-RU" dirty="0"/>
              <a:t>Имеем: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Если отбросить в этом разложении все слагаемые, соответствующие 6 минимальным сингулярным значениям (обозначены красным), то получим приближение матрицы A в виде </a:t>
            </a:r>
            <a:r>
              <a:rPr lang="ru-RU" b="1" dirty="0"/>
              <a:t>матрицы ранга 4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313" y="469184"/>
            <a:ext cx="9167313" cy="4067033"/>
          </a:xfrm>
          <a:prstGeom prst="rect">
            <a:avLst/>
          </a:prstGeom>
        </p:spPr>
      </p:pic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38E83146-4E3B-4983-9D91-8E1A7E7EA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29</a:t>
            </a:fld>
            <a:endParaRPr lang="ru-RU" sz="2800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5BADEE-C8E1-468E-A3D0-43DA236AC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99B8A0-471E-4C56-95FE-E791A37B180D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4660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7409" y="863305"/>
            <a:ext cx="8692772" cy="541816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Эта матрица отличается от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dirty="0"/>
              <a:t>. Однако, последняя «узнаваема» из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baseline="-25000" dirty="0"/>
              <a:t>4</a:t>
            </a:r>
            <a:r>
              <a:rPr lang="ru-RU" dirty="0"/>
              <a:t>. </a:t>
            </a:r>
          </a:p>
          <a:p>
            <a:r>
              <a:rPr lang="ru-RU" dirty="0"/>
              <a:t>Если в ходе пересылки предполагается, что отправляемая матрица имеет только целочисленные элементы, то при получении матрицы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baseline="-25000" dirty="0"/>
              <a:t>4</a:t>
            </a:r>
            <a:r>
              <a:rPr lang="ru-RU" dirty="0"/>
              <a:t> мы вправе округлить ее элементы до ближайшего целого. </a:t>
            </a:r>
          </a:p>
          <a:p>
            <a:r>
              <a:rPr lang="ru-RU" dirty="0"/>
              <a:t>Сделав это, увидим, что в 88 элементах из 120 ошибок не будет, а оставшиеся имеют ошибку в последней цифре в пределах 1 по абсолютной величине.</a:t>
            </a:r>
          </a:p>
          <a:p>
            <a:r>
              <a:rPr lang="ru-RU" dirty="0"/>
              <a:t>Если такая погрешность допустима для нашей цели, имеет смысл пересылать именно матрицу </a:t>
            </a:r>
            <a:r>
              <a:rPr lang="ru-RU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ru-RU" baseline="-25000" dirty="0"/>
              <a:t>4</a:t>
            </a:r>
            <a:r>
              <a:rPr lang="ru-RU" dirty="0"/>
              <a:t>, потому что это позволит сэкономить на количестве пересылаемых элементов.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2" y="249924"/>
            <a:ext cx="8835549" cy="63717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28" y="5649851"/>
            <a:ext cx="7865511" cy="833297"/>
          </a:xfrm>
          <a:prstGeom prst="rect">
            <a:avLst/>
          </a:prstGeom>
        </p:spPr>
      </p:pic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68E1F320-0492-46DE-8503-D6559D9B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30</a:t>
            </a:fld>
            <a:endParaRPr lang="ru-RU" sz="2800" dirty="0"/>
          </a:p>
        </p:txBody>
      </p:sp>
      <p:sp>
        <p:nvSpPr>
          <p:cNvPr id="7" name="Нижний колонтитул 5">
            <a:extLst>
              <a:ext uri="{FF2B5EF4-FFF2-40B4-BE49-F238E27FC236}">
                <a16:creationId xmlns:a16="http://schemas.microsoft.com/office/drawing/2014/main" id="{AFB13151-0003-49F1-9EF9-C444D7558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DE0184F-DFC3-4545-AA6C-BBEBCFD3585E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139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49" y="241253"/>
            <a:ext cx="7886700" cy="670560"/>
          </a:xfrm>
        </p:spPr>
        <p:txBody>
          <a:bodyPr>
            <a:normAutofit fontScale="90000"/>
          </a:bodyPr>
          <a:lstStyle/>
          <a:p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Программные реализации сингулярного разложения матриц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9873" y="1146786"/>
            <a:ext cx="8583589" cy="5796935"/>
          </a:xfrm>
        </p:spPr>
        <p:txBody>
          <a:bodyPr/>
          <a:lstStyle/>
          <a:p>
            <a:r>
              <a:rPr lang="ru-RU" sz="2400" dirty="0"/>
              <a:t>SVD входит в список основных методов многих математических библиотек, в том числе свободно распространяемых.</a:t>
            </a:r>
          </a:p>
          <a:p>
            <a:r>
              <a:rPr lang="ru-RU" sz="2400" dirty="0"/>
              <a:t>В </a:t>
            </a:r>
            <a:r>
              <a:rPr lang="en-US" sz="2400" dirty="0"/>
              <a:t>GNU Scientific library (GSL):</a:t>
            </a:r>
            <a:r>
              <a:rPr lang="ru-RU" sz="2400" dirty="0"/>
              <a:t> </a:t>
            </a:r>
            <a:r>
              <a:rPr lang="en-US" sz="2400" dirty="0">
                <a:hlinkClick r:id="rId2"/>
              </a:rPr>
              <a:t>https://www.gnu.org/software/gsl/manual/html_node/Singular-Value-Decomposition.html</a:t>
            </a:r>
            <a:endParaRPr lang="en-US" sz="2400" dirty="0"/>
          </a:p>
          <a:p>
            <a:r>
              <a:rPr lang="ru-RU" sz="2400" dirty="0"/>
              <a:t> библиотеке </a:t>
            </a:r>
            <a:r>
              <a:rPr lang="en-US" sz="2400" dirty="0"/>
              <a:t>Intel® Math Kernel Library (Intel® MKL).</a:t>
            </a:r>
            <a:r>
              <a:rPr lang="ru-RU" sz="2400" dirty="0"/>
              <a:t> </a:t>
            </a:r>
            <a:r>
              <a:rPr lang="en-US" sz="2400" dirty="0">
                <a:hlinkClick r:id="rId3"/>
              </a:rPr>
              <a:t>https://software.intel.com/en-us/intel-mkl</a:t>
            </a:r>
            <a:endParaRPr lang="ru-RU" sz="2400" dirty="0"/>
          </a:p>
          <a:p>
            <a:r>
              <a:rPr lang="ru-RU" sz="2400" dirty="0"/>
              <a:t>В библиотеке </a:t>
            </a:r>
            <a:r>
              <a:rPr lang="ru-RU" sz="2400" dirty="0" err="1"/>
              <a:t>numpy</a:t>
            </a:r>
            <a:r>
              <a:rPr lang="ru-RU" sz="2400" dirty="0"/>
              <a:t> для линейной алгебры в </a:t>
            </a:r>
            <a:r>
              <a:rPr lang="ru-RU" sz="2400" dirty="0" err="1"/>
              <a:t>Python</a:t>
            </a:r>
            <a:r>
              <a:rPr lang="ru-RU" sz="2400" dirty="0"/>
              <a:t>: </a:t>
            </a:r>
            <a:r>
              <a:rPr lang="ru-RU" sz="2400" dirty="0">
                <a:hlinkClick r:id="rId4"/>
              </a:rPr>
              <a:t>https://docs.scipy.org/doc/numpy-1.12.0/reference/generated/numpy.linalg.svd.html</a:t>
            </a:r>
            <a:endParaRPr lang="ru-RU" sz="2400" dirty="0"/>
          </a:p>
          <a:p>
            <a:r>
              <a:rPr lang="ru-RU" sz="2400" dirty="0"/>
              <a:t>В библиотеке для машинного обучения </a:t>
            </a:r>
            <a:r>
              <a:rPr lang="ru-RU" sz="2400" dirty="0" err="1"/>
              <a:t>tensorflow</a:t>
            </a:r>
            <a:r>
              <a:rPr lang="ru-RU" sz="2400" dirty="0"/>
              <a:t>:</a:t>
            </a:r>
          </a:p>
          <a:p>
            <a:pPr marL="0" indent="0" algn="ctr">
              <a:buNone/>
            </a:pPr>
            <a:r>
              <a:rPr lang="ru-RU" sz="2400" dirty="0">
                <a:hlinkClick r:id="rId5"/>
              </a:rPr>
              <a:t>https://www.tensorflow.org/api_docs/python/tf/svd</a:t>
            </a:r>
            <a:endParaRPr lang="ru-RU" sz="2400" dirty="0"/>
          </a:p>
          <a:p>
            <a:endParaRPr lang="ru-RU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0C6382-8430-4A65-994C-C8026ADD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9BE307CD-CB30-410E-8065-FB59291247B2}" type="slidenum">
              <a:rPr lang="ru-RU" sz="2800" smtClean="0"/>
              <a:t>31</a:t>
            </a:fld>
            <a:endParaRPr lang="ru-RU" sz="2800" dirty="0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F8440148-35D8-4B60-9448-398AF148D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49" y="6319383"/>
            <a:ext cx="4013019" cy="365125"/>
          </a:xfrm>
        </p:spPr>
        <p:txBody>
          <a:bodyPr/>
          <a:lstStyle/>
          <a:p>
            <a:pPr algn="l"/>
            <a:r>
              <a:rPr lang="ru-RU" sz="1400" dirty="0"/>
              <a:t>Разложения матриц и их приложения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9FB6174-98AA-4FF9-A5EE-5BF47CE56859}"/>
              </a:ext>
            </a:extLst>
          </p:cNvPr>
          <p:cNvCxnSpPr/>
          <p:nvPr/>
        </p:nvCxnSpPr>
        <p:spPr>
          <a:xfrm>
            <a:off x="628650" y="6281466"/>
            <a:ext cx="78867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1439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</TotalTime>
  <Words>1958</Words>
  <PresentationFormat>Экран (4:3)</PresentationFormat>
  <Paragraphs>239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Times New Roman</vt:lpstr>
      <vt:lpstr>Тема Office</vt:lpstr>
      <vt:lpstr>Разложения матриц и их приложения</vt:lpstr>
      <vt:lpstr>LU-разложение матриц</vt:lpstr>
      <vt:lpstr>Алгоритм LU-разложения</vt:lpstr>
      <vt:lpstr>Презентация PowerPoint</vt:lpstr>
      <vt:lpstr>Пример LU – разложения: </vt:lpstr>
      <vt:lpstr>Решение СЛАУ методом LU-разложения</vt:lpstr>
      <vt:lpstr>Презентация PowerPoint</vt:lpstr>
      <vt:lpstr>Презентация PowerPoint</vt:lpstr>
      <vt:lpstr>Метод Холецкого  (метод квадратного корня)</vt:lpstr>
      <vt:lpstr>Презентация PowerPoint</vt:lpstr>
      <vt:lpstr>Теорема. Для любой симметричной положительно определённой матрицы разложение Холецкого существует и единственно.</vt:lpstr>
      <vt:lpstr>Алгоритм метода Холецкого</vt:lpstr>
      <vt:lpstr>Презентация PowerPoint</vt:lpstr>
      <vt:lpstr>Презентация PowerPoint</vt:lpstr>
      <vt:lpstr>Презентация PowerPoint</vt:lpstr>
      <vt:lpstr>Другие виды разложений матриц</vt:lpstr>
      <vt:lpstr>Презентация PowerPoint</vt:lpstr>
      <vt:lpstr>Некоторые предварительные сведения о матрице А</vt:lpstr>
      <vt:lpstr>Теорема (о сингулярном разложении)</vt:lpstr>
      <vt:lpstr>Презентация PowerPoint</vt:lpstr>
      <vt:lpstr>Схема разложения при m&lt;n:  </vt:lpstr>
      <vt:lpstr>Пример:</vt:lpstr>
      <vt:lpstr>Приложения сингулярного разложения</vt:lpstr>
      <vt:lpstr>Презентация PowerPoint</vt:lpstr>
      <vt:lpstr>Презентация PowerPoint</vt:lpstr>
      <vt:lpstr>3. Метод наименьших квадратов и число обусловленности</vt:lpstr>
      <vt:lpstr> 4.  Сокращённое представление</vt:lpstr>
      <vt:lpstr>Пример. Для передачи матрицы</vt:lpstr>
      <vt:lpstr>Презентация PowerPoint</vt:lpstr>
      <vt:lpstr>Презентация PowerPoint</vt:lpstr>
      <vt:lpstr>Программные реализации сингулярного разложения матриц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2019-09-18T15:43:00Z</dcterms:created>
  <dcterms:modified xsi:type="dcterms:W3CDTF">2024-09-30T06:38:06Z</dcterms:modified>
</cp:coreProperties>
</file>