
<file path=[Content_Types].xml><?xml version="1.0" encoding="utf-8"?>
<Types xmlns="http://schemas.openxmlformats.org/package/2006/content-types">
  <Default Extension="bin" ContentType="application/vnd.openxmlformats-officedocument.oleObject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34"/>
  </p:notesMasterIdLst>
  <p:sldIdLst>
    <p:sldId id="256" r:id="rId2"/>
    <p:sldId id="258" r:id="rId3"/>
    <p:sldId id="259" r:id="rId4"/>
    <p:sldId id="260" r:id="rId5"/>
    <p:sldId id="261" r:id="rId6"/>
    <p:sldId id="262" r:id="rId7"/>
    <p:sldId id="275" r:id="rId8"/>
    <p:sldId id="276" r:id="rId9"/>
    <p:sldId id="277" r:id="rId10"/>
    <p:sldId id="263" r:id="rId11"/>
    <p:sldId id="264" r:id="rId12"/>
    <p:sldId id="265" r:id="rId13"/>
    <p:sldId id="266" r:id="rId14"/>
    <p:sldId id="272" r:id="rId15"/>
    <p:sldId id="267" r:id="rId16"/>
    <p:sldId id="280" r:id="rId17"/>
    <p:sldId id="282" r:id="rId18"/>
    <p:sldId id="283" r:id="rId19"/>
    <p:sldId id="284" r:id="rId20"/>
    <p:sldId id="268" r:id="rId21"/>
    <p:sldId id="285" r:id="rId22"/>
    <p:sldId id="269" r:id="rId23"/>
    <p:sldId id="270" r:id="rId24"/>
    <p:sldId id="273" r:id="rId25"/>
    <p:sldId id="271" r:id="rId26"/>
    <p:sldId id="287" r:id="rId27"/>
    <p:sldId id="288" r:id="rId28"/>
    <p:sldId id="274" r:id="rId29"/>
    <p:sldId id="286" r:id="rId30"/>
    <p:sldId id="278" r:id="rId31"/>
    <p:sldId id="279" r:id="rId32"/>
    <p:sldId id="281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60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9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35.wmf"/><Relationship Id="rId2" Type="http://schemas.openxmlformats.org/officeDocument/2006/relationships/image" Target="../media/image34.wmf"/><Relationship Id="rId1" Type="http://schemas.openxmlformats.org/officeDocument/2006/relationships/image" Target="../media/image29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37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39.wmf"/><Relationship Id="rId1" Type="http://schemas.openxmlformats.org/officeDocument/2006/relationships/image" Target="../media/image38.w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3E4A8C-A907-4FC7-8DFF-18ED5F3D3FC2}" type="datetimeFigureOut">
              <a:rPr lang="ru-RU" smtClean="0"/>
              <a:t>02.10.2023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A43563-D090-4FA3-B51B-56A9C083A23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1207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9A03F-C7A7-43F8-9F0A-8867DF3C186D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3222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AEA4CE-2EDC-4229-8A02-3E7923854A93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299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59795-B93F-46EB-866E-838C12A50067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0661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FC8D4-6810-4926-9A80-CDC930DCD6DA}" type="datetime1">
              <a:rPr lang="ru-RU" smtClean="0"/>
              <a:t>02.10.2023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00911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BDFB6-DDD2-4FBD-B138-EE1CEBD33413}" type="datetime1">
              <a:rPr lang="ru-RU" smtClean="0"/>
              <a:t>02.10.2023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7938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93812-AB48-4A49-918D-B1F8D24DBFBA}" type="datetime1">
              <a:rPr lang="ru-RU" smtClean="0"/>
              <a:t>02.10.2023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74241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124626-D19D-4555-AC8E-38229AAB3042}" type="datetime1">
              <a:rPr lang="ru-RU" smtClean="0"/>
              <a:t>02.10.2023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975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623D1-F5A1-4499-89F5-B9A9996CC0E7}" type="datetime1">
              <a:rPr lang="ru-RU" smtClean="0"/>
              <a:t>02.10.2023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9503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DBE2-D5C6-4E2C-B984-A0978FB40A6C}" type="datetime1">
              <a:rPr lang="ru-RU" smtClean="0"/>
              <a:t>02.10.2023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93727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E3E703-A8C8-48A9-B3F9-EF187ED44974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638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D0965-B782-4DE5-A921-58A5FA5D1822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4866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Заголовок, текст и 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38400" y="228600"/>
            <a:ext cx="6400800" cy="12192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2438400" y="1600200"/>
            <a:ext cx="3124200" cy="4495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2"/>
          </p:nvPr>
        </p:nvSpPr>
        <p:spPr>
          <a:xfrm>
            <a:off x="5715000" y="1600200"/>
            <a:ext cx="3124200" cy="21717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3"/>
          </p:nvPr>
        </p:nvSpPr>
        <p:spPr>
          <a:xfrm>
            <a:off x="5715000" y="3924300"/>
            <a:ext cx="3124200" cy="21717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Дата 5"/>
          <p:cNvSpPr>
            <a:spLocks noGrp="1"/>
          </p:cNvSpPr>
          <p:nvPr>
            <p:ph type="dt" sz="half" idx="10"/>
          </p:nvPr>
        </p:nvSpPr>
        <p:spPr>
          <a:xfrm>
            <a:off x="152400" y="6248400"/>
            <a:ext cx="1901825" cy="457200"/>
          </a:xfrm>
        </p:spPr>
        <p:txBody>
          <a:bodyPr/>
          <a:lstStyle>
            <a:lvl1pPr>
              <a:defRPr/>
            </a:lvl1pPr>
          </a:lstStyle>
          <a:p>
            <a:fld id="{E5634F0C-BE7B-4473-B12E-2255ED918E30}" type="datetime1">
              <a:rPr lang="ru-RU" altLang="ru-RU" smtClean="0"/>
              <a:t>02.10.2023</a:t>
            </a:fld>
            <a:endParaRPr lang="ru-RU" altLang="ru-RU"/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ru-RU" altLang="ru-RU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>
          <a:xfrm>
            <a:off x="6934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26E668DF-FBD4-4B5A-B8D4-84B3FDBCDBBE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270399213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Заголовок, текст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38400" y="228600"/>
            <a:ext cx="6400800" cy="12192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sz="half" idx="1"/>
          </p:nvPr>
        </p:nvSpPr>
        <p:spPr>
          <a:xfrm>
            <a:off x="2438400" y="1600200"/>
            <a:ext cx="3124200" cy="4495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5715000" y="1600200"/>
            <a:ext cx="3124200" cy="4495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>
          <a:xfrm>
            <a:off x="152400" y="6248400"/>
            <a:ext cx="1901825" cy="457200"/>
          </a:xfrm>
        </p:spPr>
        <p:txBody>
          <a:bodyPr/>
          <a:lstStyle>
            <a:lvl1pPr>
              <a:defRPr/>
            </a:lvl1pPr>
          </a:lstStyle>
          <a:p>
            <a:fld id="{F2B0CD4F-E8EF-4B56-A504-3A798F31658A}" type="datetime1">
              <a:rPr lang="ru-RU" altLang="ru-RU" smtClean="0"/>
              <a:t>02.10.2023</a:t>
            </a:fld>
            <a:endParaRPr lang="ru-RU" alt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ru-RU" alt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6934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40FD819B-597F-4C51-BCC6-67776FC76691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1476672297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Заголовок, 1 большой объект и 2 маленьких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38400" y="228600"/>
            <a:ext cx="6400800" cy="1219200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2438400" y="1600200"/>
            <a:ext cx="3124200" cy="4495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quarter" idx="2"/>
          </p:nvPr>
        </p:nvSpPr>
        <p:spPr>
          <a:xfrm>
            <a:off x="5715000" y="1600200"/>
            <a:ext cx="3124200" cy="21717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3"/>
          </p:nvPr>
        </p:nvSpPr>
        <p:spPr>
          <a:xfrm>
            <a:off x="5715000" y="3924300"/>
            <a:ext cx="3124200" cy="21717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Дата 5"/>
          <p:cNvSpPr>
            <a:spLocks noGrp="1"/>
          </p:cNvSpPr>
          <p:nvPr>
            <p:ph type="dt" sz="half" idx="10"/>
          </p:nvPr>
        </p:nvSpPr>
        <p:spPr>
          <a:xfrm>
            <a:off x="152400" y="6248400"/>
            <a:ext cx="1901825" cy="457200"/>
          </a:xfrm>
        </p:spPr>
        <p:txBody>
          <a:bodyPr/>
          <a:lstStyle>
            <a:lvl1pPr>
              <a:defRPr/>
            </a:lvl1pPr>
          </a:lstStyle>
          <a:p>
            <a:fld id="{23A8CFA3-D61F-4E42-90A4-72116BAD0FFF}" type="datetime1">
              <a:rPr lang="ru-RU" altLang="ru-RU" smtClean="0"/>
              <a:t>02.10.2023</a:t>
            </a:fld>
            <a:endParaRPr lang="ru-RU" altLang="ru-RU"/>
          </a:p>
        </p:txBody>
      </p:sp>
      <p:sp>
        <p:nvSpPr>
          <p:cNvPr id="7" name="Нижний колонтитул 6"/>
          <p:cNvSpPr>
            <a:spLocks noGrp="1"/>
          </p:cNvSpPr>
          <p:nvPr>
            <p:ph type="ftr" sz="quarter" idx="11"/>
          </p:nvPr>
        </p:nvSpPr>
        <p:spPr>
          <a:xfrm>
            <a:off x="3124200" y="6248400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ru-RU" altLang="ru-RU"/>
          </a:p>
        </p:txBody>
      </p:sp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>
          <a:xfrm>
            <a:off x="69342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121412E0-DA5B-4395-8C4F-9E21DA2840A8}" type="slidenum">
              <a:rPr lang="ru-RU" altLang="ru-RU"/>
              <a:pPr/>
              <a:t>‹#›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2942426269"/>
      </p:ext>
    </p:extLst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C9DC8E-059A-4083-960D-97B60B52F567}" type="datetime1">
              <a:rPr lang="ru-RU" smtClean="0"/>
              <a:t>02.10.2023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D8EA-FFCD-4294-8EEE-E3C0B30582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5355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gi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29.w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320.png"/><Relationship Id="rId4" Type="http://schemas.openxmlformats.org/officeDocument/2006/relationships/image" Target="../media/image310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oleObject" Target="../embeddings/oleObject2.bin"/><Relationship Id="rId7" Type="http://schemas.openxmlformats.org/officeDocument/2006/relationships/image" Target="../media/image34.w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37.png"/><Relationship Id="rId10" Type="http://schemas.openxmlformats.org/officeDocument/2006/relationships/image" Target="../media/image35.wmf"/><Relationship Id="rId4" Type="http://schemas.openxmlformats.org/officeDocument/2006/relationships/image" Target="../media/image29.wmf"/><Relationship Id="rId9" Type="http://schemas.openxmlformats.org/officeDocument/2006/relationships/oleObject" Target="../embeddings/oleObject4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37.wmf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oleObject" Target="../embeddings/oleObject6.bin"/><Relationship Id="rId7" Type="http://schemas.openxmlformats.org/officeDocument/2006/relationships/image" Target="../media/image42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39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43.png"/><Relationship Id="rId4" Type="http://schemas.openxmlformats.org/officeDocument/2006/relationships/image" Target="../media/image38.wmf"/><Relationship Id="rId9" Type="http://schemas.openxmlformats.org/officeDocument/2006/relationships/image" Target="../media/image4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45.png"/><Relationship Id="rId4" Type="http://schemas.openxmlformats.org/officeDocument/2006/relationships/image" Target="../media/image44.wmf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545910" y="464024"/>
            <a:ext cx="8161362" cy="3138014"/>
          </a:xfrm>
        </p:spPr>
        <p:txBody>
          <a:bodyPr>
            <a:normAutofit fontScale="90000"/>
          </a:bodyPr>
          <a:lstStyle/>
          <a:p>
            <a:r>
              <a:rPr lang="ru-RU" altLang="ru-RU" b="1" i="1" dirty="0">
                <a:latin typeface="Times New Roman" panose="02020603050405020304" pitchFamily="18" charset="0"/>
              </a:rPr>
              <a:t>Решение систем линейных алгебраических уравнений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06772" y="4311722"/>
            <a:ext cx="6858000" cy="1655762"/>
          </a:xfrm>
        </p:spPr>
        <p:txBody>
          <a:bodyPr>
            <a:normAutofit lnSpcReduction="10000"/>
          </a:bodyPr>
          <a:lstStyle/>
          <a:p>
            <a:pPr marL="609600" indent="-609600" algn="just">
              <a:buClr>
                <a:srgbClr val="6C657F"/>
              </a:buClr>
            </a:pPr>
            <a:r>
              <a:rPr lang="en-US" altLang="ru-RU" i="1" dirty="0">
                <a:latin typeface="Times New Roman" panose="02020603050405020304" pitchFamily="18" charset="0"/>
              </a:rPr>
              <a:t>1</a:t>
            </a:r>
            <a:r>
              <a:rPr lang="ru-RU" altLang="ru-RU" i="1" dirty="0">
                <a:latin typeface="Times New Roman" panose="02020603050405020304" pitchFamily="18" charset="0"/>
              </a:rPr>
              <a:t>. Правило </a:t>
            </a:r>
            <a:r>
              <a:rPr lang="ru-RU" altLang="ru-RU" i="1" dirty="0" err="1">
                <a:latin typeface="Times New Roman" panose="02020603050405020304" pitchFamily="18" charset="0"/>
              </a:rPr>
              <a:t>Крамера</a:t>
            </a:r>
            <a:r>
              <a:rPr lang="ru-RU" altLang="ru-RU" i="1" dirty="0">
                <a:latin typeface="Times New Roman" panose="02020603050405020304" pitchFamily="18" charset="0"/>
              </a:rPr>
              <a:t>.</a:t>
            </a:r>
          </a:p>
          <a:p>
            <a:pPr marL="609600" indent="-609600" algn="just">
              <a:buClr>
                <a:srgbClr val="6C657F"/>
              </a:buClr>
            </a:pPr>
            <a:r>
              <a:rPr lang="ru-RU" altLang="ru-RU" i="1" dirty="0">
                <a:latin typeface="Times New Roman" panose="02020603050405020304" pitchFamily="18" charset="0"/>
              </a:rPr>
              <a:t>2. Метод обратной матрицы.</a:t>
            </a:r>
          </a:p>
          <a:p>
            <a:pPr marL="609600" indent="-609600" algn="just">
              <a:buClr>
                <a:srgbClr val="6C657F"/>
              </a:buClr>
            </a:pPr>
            <a:r>
              <a:rPr lang="ru-RU" altLang="ru-RU" i="1" dirty="0">
                <a:latin typeface="Times New Roman" panose="02020603050405020304" pitchFamily="18" charset="0"/>
              </a:rPr>
              <a:t>3. Метод Гаусса.</a:t>
            </a:r>
          </a:p>
          <a:p>
            <a:pPr marL="609600" indent="-609600" algn="just">
              <a:buClr>
                <a:srgbClr val="6C657F"/>
              </a:buClr>
            </a:pPr>
            <a:r>
              <a:rPr lang="ru-RU" altLang="ru-RU" i="1" dirty="0">
                <a:latin typeface="Times New Roman" panose="02020603050405020304" pitchFamily="18" charset="0"/>
              </a:rPr>
              <a:t>4. Итерационные методы.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5682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41653" y="509077"/>
            <a:ext cx="8709400" cy="5847274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dirty="0">
                <a:effectLst/>
                <a:latin typeface="Times New Roman" panose="02020603050405020304" pitchFamily="18" charset="0"/>
              </a:rPr>
              <a:t>Методы решения СЛАУ разбиваются на две группы:</a:t>
            </a:r>
            <a:endParaRPr lang="ru-RU" altLang="ko-KR" b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ko-KR" b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b="1" dirty="0">
                <a:effectLst/>
                <a:latin typeface="Times New Roman" panose="02020603050405020304" pitchFamily="18" charset="0"/>
              </a:rPr>
              <a:t>точные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(прямые), позволяющие получить решение системы в точном виде за конечное число арифметических операций. </a:t>
            </a:r>
            <a:endParaRPr lang="ru-RU" altLang="ko-KR" dirty="0"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Правило Крамера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,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метод Гаусса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,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метод обратной матрицы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.</a:t>
            </a:r>
            <a:endParaRPr lang="ru-RU" altLang="ko-KR" b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ru-RU" altLang="ko-KR" b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b="1" dirty="0">
                <a:effectLst/>
                <a:latin typeface="Times New Roman" panose="02020603050405020304" pitchFamily="18" charset="0"/>
              </a:rPr>
              <a:t>приближенные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(итерационные). В них задаются начальные значения и с помощью некоторого алгоритма проводится цикл уточняющих решение до </a:t>
            </a:r>
            <a:r>
              <a:rPr lang="ru-RU" altLang="ko-KR" dirty="0">
                <a:effectLst/>
                <a:latin typeface="Times New Roman" panose="02020603050405020304" pitchFamily="18" charset="0"/>
                <a:sym typeface="Symbol" panose="05050102010706020507" pitchFamily="18" charset="2"/>
              </a:rPr>
              <a:t>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вычислений (итераций). </a:t>
            </a: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dirty="0">
                <a:effectLst/>
                <a:latin typeface="Times New Roman" panose="02020603050405020304" pitchFamily="18" charset="0"/>
              </a:rPr>
              <a:t>Примеры: 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метод простых итераций, метод Гаусса-Зейделя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.</a:t>
            </a:r>
            <a:endParaRPr lang="ru-RU" altLang="ru-RU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B7307E3-0651-4CC8-AAB1-E151E12FD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79589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68490" y="546099"/>
            <a:ext cx="8470710" cy="5810251"/>
          </a:xfrm>
        </p:spPr>
        <p:txBody>
          <a:bodyPr/>
          <a:lstStyle/>
          <a:p>
            <a:pPr marL="92075" indent="0" algn="ctr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sz="3000" b="1" dirty="0">
                <a:latin typeface="Times New Roman" panose="02020603050405020304" pitchFamily="18" charset="0"/>
              </a:rPr>
              <a:t>Постановка задачи</a:t>
            </a:r>
            <a:r>
              <a:rPr lang="ru-RU" altLang="ko-KR" b="1" dirty="0">
                <a:latin typeface="Times New Roman" panose="02020603050405020304" pitchFamily="18" charset="0"/>
              </a:rPr>
              <a:t> </a:t>
            </a:r>
            <a:endParaRPr lang="en-US" altLang="ko-KR" b="1" dirty="0"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92075" indent="0" algn="just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Пусть дана система линейных алгебраических  уравнений (СЛАУ) </a:t>
            </a:r>
            <a:r>
              <a:rPr lang="en-US" altLang="ko-KR" sz="2600" i="1" dirty="0"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ru-RU" altLang="ko-KR" sz="2600" dirty="0">
                <a:latin typeface="Times New Roman" panose="02020603050405020304" pitchFamily="18" charset="0"/>
                <a:ea typeface="굴림" panose="020B0600000101010101" pitchFamily="34" charset="-127"/>
              </a:rPr>
              <a:t>-</a:t>
            </a:r>
            <a:r>
              <a:rPr lang="ru-RU" altLang="ko-KR" sz="2600" dirty="0" err="1">
                <a:latin typeface="Times New Roman" panose="02020603050405020304" pitchFamily="18" charset="0"/>
                <a:ea typeface="굴림" panose="020B0600000101010101" pitchFamily="34" charset="-127"/>
              </a:rPr>
              <a:t>ного</a:t>
            </a:r>
            <a:r>
              <a:rPr lang="ru-RU" altLang="ko-KR" sz="2600" dirty="0">
                <a:latin typeface="Times New Roman" panose="02020603050405020304" pitchFamily="18" charset="0"/>
                <a:ea typeface="굴림" panose="020B0600000101010101" pitchFamily="34" charset="-127"/>
              </a:rPr>
              <a:t> порядка:</a:t>
            </a: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92075" indent="0" algn="ctr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а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11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  + a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12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+ … + a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b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1</a:t>
            </a:r>
          </a:p>
          <a:p>
            <a:pPr marL="92075" indent="0" algn="ctr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а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2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  + a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2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+ … + a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2n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b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2</a:t>
            </a:r>
            <a:endParaRPr lang="en-US" altLang="ko-KR" i="1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92075" indent="0" algn="ctr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……………………………………</a:t>
            </a:r>
          </a:p>
          <a:p>
            <a:pPr marL="92075" indent="0" algn="ctr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а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  + a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+ … + </a:t>
            </a:r>
            <a:r>
              <a:rPr lang="en-US" altLang="ko-KR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a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nn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</a:t>
            </a:r>
            <a:r>
              <a:rPr lang="en-US" altLang="ko-KR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b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endParaRPr lang="en-US" altLang="ko-KR" i="1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92075" indent="0" algn="just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а</a:t>
            </a:r>
            <a:r>
              <a:rPr lang="en-US" altLang="ko-KR" i="1" baseline="-25000" dirty="0" err="1">
                <a:effectLst/>
                <a:latin typeface="Times New Roman" panose="02020603050405020304" pitchFamily="18" charset="0"/>
              </a:rPr>
              <a:t>ij</a:t>
            </a:r>
            <a:r>
              <a:rPr lang="en-US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</a:rPr>
              <a:t>– 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числовые коэффициенты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, </a:t>
            </a:r>
            <a:r>
              <a:rPr lang="en-US" altLang="ko-KR" i="1" dirty="0">
                <a:effectLst/>
                <a:latin typeface="Times New Roman" panose="02020603050405020304" pitchFamily="18" charset="0"/>
              </a:rPr>
              <a:t>b</a:t>
            </a:r>
            <a:r>
              <a:rPr lang="en-US" altLang="ko-KR" i="1" baseline="-25000" dirty="0">
                <a:effectLst/>
                <a:latin typeface="Times New Roman" panose="02020603050405020304" pitchFamily="18" charset="0"/>
              </a:rPr>
              <a:t>i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</a:rPr>
              <a:t>–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свободные члены.</a:t>
            </a:r>
          </a:p>
          <a:p>
            <a:pPr marL="92075" indent="0" algn="just">
              <a:buFont typeface="Wingdings" panose="05000000000000000000" pitchFamily="2" charset="2"/>
              <a:buNone/>
              <a:tabLst>
                <a:tab pos="0" algn="l"/>
              </a:tabLst>
            </a:pPr>
            <a:r>
              <a:rPr lang="ru-RU" b="1" i="1" dirty="0">
                <a:latin typeface="Times New Roman" panose="02020603050405020304" pitchFamily="18" charset="0"/>
              </a:rPr>
              <a:t>Решением </a:t>
            </a:r>
            <a:r>
              <a:rPr lang="ru-RU" dirty="0">
                <a:latin typeface="Times New Roman" panose="02020603050405020304" pitchFamily="18" charset="0"/>
              </a:rPr>
              <a:t>СЛАУ называется такой набор значений неизвестных </a:t>
            </a:r>
            <a:r>
              <a:rPr lang="en-US" sz="2400" i="1" dirty="0">
                <a:latin typeface="Times New Roman" panose="02020603050405020304" pitchFamily="18" charset="0"/>
              </a:rPr>
              <a:t>x</a:t>
            </a:r>
            <a:r>
              <a:rPr lang="en-US" baseline="-25000" dirty="0">
                <a:latin typeface="Times New Roman" panose="02020603050405020304" pitchFamily="18" charset="0"/>
              </a:rPr>
              <a:t>1</a:t>
            </a:r>
            <a:r>
              <a:rPr lang="en-US" baseline="30000" dirty="0">
                <a:latin typeface="Times New Roman" panose="02020603050405020304" pitchFamily="18" charset="0"/>
              </a:rPr>
              <a:t>0</a:t>
            </a:r>
            <a:r>
              <a:rPr lang="en-US" dirty="0">
                <a:latin typeface="Times New Roman" panose="02020603050405020304" pitchFamily="18" charset="0"/>
              </a:rPr>
              <a:t>,</a:t>
            </a:r>
            <a:r>
              <a:rPr lang="ru-RU" dirty="0">
                <a:latin typeface="Times New Roman" panose="02020603050405020304" pitchFamily="18" charset="0"/>
              </a:rPr>
              <a:t> </a:t>
            </a:r>
            <a:r>
              <a:rPr lang="en-US" sz="2400" i="1" dirty="0">
                <a:latin typeface="Times New Roman" panose="02020603050405020304" pitchFamily="18" charset="0"/>
              </a:rPr>
              <a:t>x</a:t>
            </a:r>
            <a:r>
              <a:rPr lang="en-US" sz="2400" i="1" baseline="-25000" dirty="0">
                <a:latin typeface="Times New Roman" panose="02020603050405020304" pitchFamily="18" charset="0"/>
              </a:rPr>
              <a:t>2</a:t>
            </a:r>
            <a:r>
              <a:rPr lang="en-US" baseline="30000" dirty="0">
                <a:latin typeface="Times New Roman" panose="02020603050405020304" pitchFamily="18" charset="0"/>
              </a:rPr>
              <a:t>0</a:t>
            </a:r>
            <a:r>
              <a:rPr lang="en-US" dirty="0">
                <a:latin typeface="Times New Roman" panose="02020603050405020304" pitchFamily="18" charset="0"/>
              </a:rPr>
              <a:t>,…, </a:t>
            </a:r>
            <a:r>
              <a:rPr lang="en-US" sz="2400" i="1" dirty="0">
                <a:latin typeface="Times New Roman" panose="02020603050405020304" pitchFamily="18" charset="0"/>
              </a:rPr>
              <a:t>x</a:t>
            </a:r>
            <a:r>
              <a:rPr lang="en-US" sz="2400" i="1" baseline="-25000" dirty="0">
                <a:latin typeface="Times New Roman" panose="02020603050405020304" pitchFamily="18" charset="0"/>
              </a:rPr>
              <a:t>n</a:t>
            </a:r>
            <a:r>
              <a:rPr lang="en-US" baseline="30000" dirty="0">
                <a:latin typeface="Times New Roman" panose="02020603050405020304" pitchFamily="18" charset="0"/>
              </a:rPr>
              <a:t>0</a:t>
            </a:r>
            <a:r>
              <a:rPr lang="ru-RU" dirty="0">
                <a:latin typeface="Times New Roman" panose="02020603050405020304" pitchFamily="18" charset="0"/>
              </a:rPr>
              <a:t>, который при подстановке их</a:t>
            </a:r>
            <a:r>
              <a:rPr lang="en-US" dirty="0">
                <a:latin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</a:rPr>
              <a:t>в каждое уравнение СЛАУ даёт тождество.</a:t>
            </a:r>
            <a:endParaRPr lang="en-US" altLang="ko-KR" dirty="0">
              <a:latin typeface="Times New Roman" panose="02020603050405020304" pitchFamily="18" charset="0"/>
            </a:endParaRPr>
          </a:p>
          <a:p>
            <a:pPr marL="92075" indent="0" algn="just">
              <a:buFont typeface="Wingdings" panose="05000000000000000000" pitchFamily="2" charset="2"/>
              <a:buNone/>
              <a:tabLst>
                <a:tab pos="0" algn="l"/>
              </a:tabLst>
            </a:pPr>
            <a:endParaRPr lang="en-US" altLang="ko-KR" i="1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</p:txBody>
      </p:sp>
      <p:sp>
        <p:nvSpPr>
          <p:cNvPr id="2" name="Левая фигурная скобка 1"/>
          <p:cNvSpPr/>
          <p:nvPr/>
        </p:nvSpPr>
        <p:spPr>
          <a:xfrm>
            <a:off x="2021747" y="2055303"/>
            <a:ext cx="228005" cy="1882295"/>
          </a:xfrm>
          <a:prstGeom prst="leftBrace">
            <a:avLst>
              <a:gd name="adj1" fmla="val 8333"/>
              <a:gd name="adj2" fmla="val 4852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94F020-24FF-4590-9B8B-02C86A87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140534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68740" y="260350"/>
            <a:ext cx="8170460" cy="6337300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Используя понятия основной матрицы системы:</a:t>
            </a: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 вектор-столбца:</a:t>
            </a: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систему уравнений можно переписать в матричном виде:</a:t>
            </a: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 algn="ctr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3200" b="1" i="1" dirty="0">
                <a:effectLst/>
                <a:latin typeface="Times New Roman" panose="02020603050405020304" pitchFamily="18" charset="0"/>
              </a:rPr>
              <a:t>AX = B.</a:t>
            </a:r>
            <a:endParaRPr lang="en-US" altLang="ko-KR" sz="3200" b="1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ru-RU" sz="2200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111621" name="Rectangle 5"/>
          <p:cNvSpPr>
            <a:spLocks noChangeArrowheads="1"/>
          </p:cNvSpPr>
          <p:nvPr/>
        </p:nvSpPr>
        <p:spPr bwMode="auto">
          <a:xfrm>
            <a:off x="0" y="29337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620" name="Object 4"/>
              <p:cNvSpPr txBox="1"/>
              <p:nvPr/>
            </p:nvSpPr>
            <p:spPr bwMode="auto">
              <a:xfrm>
                <a:off x="2169993" y="967516"/>
                <a:ext cx="4082225" cy="158273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ru-RU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ru-RU" sz="24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...</m:t>
                                </m:r>
                              </m:e>
                              <m:e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...</m:t>
                                </m:r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r>
                                        <a:rPr lang="ru-RU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sz="24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sz="24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1620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169993" y="967516"/>
                <a:ext cx="4082225" cy="15827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623" name="Rectangle 7"/>
          <p:cNvSpPr>
            <a:spLocks noChangeArrowheads="1"/>
          </p:cNvSpPr>
          <p:nvPr/>
        </p:nvSpPr>
        <p:spPr bwMode="auto">
          <a:xfrm>
            <a:off x="0" y="297180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993" y="3317147"/>
            <a:ext cx="1209675" cy="140017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3707" y="3384550"/>
            <a:ext cx="1209675" cy="1400175"/>
          </a:xfrm>
          <a:prstGeom prst="rect">
            <a:avLst/>
          </a:prstGeom>
        </p:spPr>
      </p:pic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B079BD-B6BE-46D4-A5EA-985A4B00E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637708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9821" y="910436"/>
            <a:ext cx="8484358" cy="5553220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Правило Крамера состоит в вычислении главного определителя матрицы А:</a:t>
            </a: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 побочных определителей:</a:t>
            </a: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 тогда вычисление решения имеет вид:</a:t>
            </a:r>
            <a:endParaRPr lang="en-US" altLang="ko-KR" sz="2600" i="1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ctr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 = D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/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D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,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 x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D</a:t>
            </a:r>
            <a:r>
              <a:rPr lang="ru-RU" altLang="ko-KR" sz="2600" i="1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/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D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,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…  </a:t>
            </a:r>
            <a:r>
              <a:rPr lang="en-US" altLang="ko-KR" sz="2600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en-US" altLang="ko-KR" sz="2600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</a:t>
            </a:r>
            <a:r>
              <a:rPr lang="en-US" altLang="ko-KR" sz="2600" i="1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D</a:t>
            </a:r>
            <a:r>
              <a:rPr lang="en-US" altLang="ko-KR" sz="2600" i="1" baseline="-25000" dirty="0" err="1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n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/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D.</a:t>
            </a: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lnSpc>
                <a:spcPct val="9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Число требуемых для вычисления определителей операций:                   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N </a:t>
            </a:r>
            <a:r>
              <a:rPr lang="ru-RU" altLang="ko-KR" sz="2600" dirty="0">
                <a:effectLst/>
                <a:latin typeface="Times New Roman" panose="02020603050405020304" pitchFamily="18" charset="0"/>
                <a:sym typeface="Symbol" panose="05050102010706020507" pitchFamily="18" charset="2"/>
              </a:rPr>
              <a:t>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 n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(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n! +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1).</a:t>
            </a:r>
            <a:endParaRPr lang="ru-RU" altLang="ru-RU" sz="2600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112645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44" name="Object 4"/>
              <p:cNvSpPr txBox="1"/>
              <p:nvPr/>
            </p:nvSpPr>
            <p:spPr bwMode="auto">
              <a:xfrm>
                <a:off x="2029946" y="1638393"/>
                <a:ext cx="3960813" cy="1198562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>
                              <m:sSubPr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/>
                            </m:s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/>
                                        </m:mr>
                                      </m:m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13</m:t>
                                          </m:r>
                                        </m:sub>
                                      </m:sSub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/>
                                        </m:mr>
                                      </m:m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𝑛𝑛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d>
                          </m:e>
                          <m:e/>
                        </m:mr>
                      </m:m>
                    </m:oMath>
                  </m:oMathPara>
                </a14:m>
                <a:endParaRPr lang="ru-RU"/>
              </a:p>
            </p:txBody>
          </p:sp>
        </mc:Choice>
        <mc:Fallback xmlns="">
          <p:sp>
            <p:nvSpPr>
              <p:cNvPr id="112644" name="Object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029946" y="1638393"/>
                <a:ext cx="3960813" cy="119856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647" name="Rectangle 7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646" name="Object 6"/>
              <p:cNvSpPr txBox="1"/>
              <p:nvPr/>
            </p:nvSpPr>
            <p:spPr bwMode="auto">
              <a:xfrm>
                <a:off x="918407" y="3117637"/>
                <a:ext cx="7109857" cy="1259506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12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...</m:t>
                                </m:r>
                              </m:e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...</m:t>
                                </m:r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𝑛𝑛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m>
                        <m:mPr>
                          <m:plcHide m:val="on"/>
                          <m:mcs>
                            <m:mc>
                              <m:mcPr>
                                <m:count m:val="3"/>
                                <m:mcJc m:val="center"/>
                              </m:mcPr>
                            </m:mc>
                          </m:mcs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…,</m:t>
                            </m:r>
                          </m:e>
                          <m:e>
                            <m:sSub>
                              <m:sSubPr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plcHide m:val="on"/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/>
                                        </m:mr>
                                      </m:m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13</m:t>
                                          </m:r>
                                        </m:sub>
                                      </m:sSub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...</m:t>
                                      </m:r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𝑎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/>
                                        </m:mr>
                                      </m:m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  <m:sub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3</m:t>
                                          </m:r>
                                        </m:sub>
                                      </m:sSub>
                                    </m:e>
                                    <m:e>
                                      <m:m>
                                        <m:mPr>
                                          <m:plcHide m:val="on"/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ru-RU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...</m:t>
                                            </m:r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b="0" i="1" smtClean="0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ru-RU" i="1">
                                                    <a:solidFill>
                                                      <a:srgbClr val="000000"/>
                                                    </a:solidFill>
                                                    <a:latin typeface="Cambria Math" panose="02040503050406030204" pitchFamily="18" charset="0"/>
                                                  </a:rPr>
                                                  <m:t>𝑛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d>
                          </m:e>
                          <m:e/>
                        </m:mr>
                      </m:m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12646" name="Objec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18407" y="3117637"/>
                <a:ext cx="7109857" cy="12595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2">
            <a:extLst>
              <a:ext uri="{FF2B5EF4-FFF2-40B4-BE49-F238E27FC236}">
                <a16:creationId xmlns:a16="http://schemas.microsoft.com/office/drawing/2014/main" id="{F5D59CEC-1D98-49BC-9460-2EE9E32279B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15068" y="49036"/>
            <a:ext cx="8088573" cy="896938"/>
          </a:xfrm>
        </p:spPr>
        <p:txBody>
          <a:bodyPr/>
          <a:lstStyle/>
          <a:p>
            <a:pPr algn="ctr"/>
            <a:r>
              <a:rPr lang="ru-RU" altLang="ru-RU" dirty="0"/>
              <a:t> </a:t>
            </a: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1. Правило Крамера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85B8331-4245-420A-A998-414939213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4936810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2"/>
          <p:cNvSpPr>
            <a:spLocks noGrp="1" noChangeArrowheads="1"/>
          </p:cNvSpPr>
          <p:nvPr>
            <p:ph type="title"/>
          </p:nvPr>
        </p:nvSpPr>
        <p:spPr>
          <a:xfrm>
            <a:off x="750627" y="228600"/>
            <a:ext cx="8088573" cy="896938"/>
          </a:xfrm>
        </p:spPr>
        <p:txBody>
          <a:bodyPr/>
          <a:lstStyle/>
          <a:p>
            <a:pPr algn="ctr"/>
            <a:r>
              <a:rPr lang="ru-RU" altLang="ru-RU" dirty="0"/>
              <a:t> </a:t>
            </a: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2. Метод обратной матрицы</a:t>
            </a:r>
          </a:p>
        </p:txBody>
      </p:sp>
      <p:sp>
        <p:nvSpPr>
          <p:cNvPr id="1136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2997" y="1125538"/>
            <a:ext cx="8498006" cy="4683125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Отталкиваясь от 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АХ = В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, умножим обе части </a:t>
            </a:r>
            <a:r>
              <a:rPr lang="ru-RU" altLang="ko-KR" sz="2600" b="1" dirty="0">
                <a:effectLst/>
                <a:latin typeface="Times New Roman" panose="02020603050405020304" pitchFamily="18" charset="0"/>
              </a:rPr>
              <a:t>слева </a:t>
            </a:r>
            <a:br>
              <a:rPr lang="ru-RU" altLang="ko-KR" sz="2600" b="1" dirty="0">
                <a:effectLst/>
                <a:latin typeface="Times New Roman" panose="02020603050405020304" pitchFamily="18" charset="0"/>
              </a:rPr>
            </a:br>
            <a:r>
              <a:rPr lang="ru-RU" altLang="ko-KR" sz="2600" dirty="0">
                <a:effectLst/>
                <a:latin typeface="Times New Roman" panose="02020603050405020304" pitchFamily="18" charset="0"/>
              </a:rPr>
              <a:t>на обратную матрицу 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ko-KR" sz="2600" i="1" baseline="30000" dirty="0">
                <a:effectLst/>
                <a:latin typeface="Times New Roman" panose="02020603050405020304" pitchFamily="18" charset="0"/>
              </a:rPr>
              <a:t>-1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:</a:t>
            </a: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ko-KR" sz="2600" i="1" baseline="30000" dirty="0">
                <a:effectLst/>
                <a:latin typeface="Times New Roman" panose="02020603050405020304" pitchFamily="18" charset="0"/>
              </a:rPr>
              <a:t>-1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АХ = A</a:t>
            </a:r>
            <a:r>
              <a:rPr lang="ru-RU" altLang="ko-KR" sz="2600" i="1" baseline="30000" dirty="0">
                <a:effectLst/>
                <a:latin typeface="Times New Roman" panose="02020603050405020304" pitchFamily="18" charset="0"/>
              </a:rPr>
              <a:t>-1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В</a:t>
            </a:r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или</a:t>
            </a:r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Х = A</a:t>
            </a:r>
            <a:r>
              <a:rPr lang="ru-RU" altLang="ko-KR" sz="2600" i="1" baseline="30000" dirty="0">
                <a:effectLst/>
                <a:latin typeface="Times New Roman" panose="02020603050405020304" pitchFamily="18" charset="0"/>
              </a:rPr>
              <a:t>-1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В.</a:t>
            </a: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Таким образом, решение системы сводится к вычислению  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ko-KR" sz="2600" i="1" baseline="30000" dirty="0">
                <a:effectLst/>
                <a:latin typeface="Times New Roman" panose="02020603050405020304" pitchFamily="18" charset="0"/>
              </a:rPr>
              <a:t>-1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, но её вычисление также трудоёмко:</a:t>
            </a:r>
            <a:endParaRPr lang="ru-RU" altLang="ru-RU" sz="2600" dirty="0">
              <a:effectLst/>
              <a:latin typeface="Times New Roman" panose="02020603050405020304" pitchFamily="18" charset="0"/>
            </a:endParaRPr>
          </a:p>
        </p:txBody>
      </p:sp>
      <p:pic>
        <p:nvPicPr>
          <p:cNvPr id="11266" name="Picture 2" descr="Обратная матрица онлайн">
            <a:extLst>
              <a:ext uri="{FF2B5EF4-FFF2-40B4-BE49-F238E27FC236}">
                <a16:creationId xmlns:a16="http://schemas.microsoft.com/office/drawing/2014/main" id="{2C91CE1A-AA89-42BA-96C2-BBE8A9B7A5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886" y="4400593"/>
            <a:ext cx="5897923" cy="1773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797D25E2-6037-4BC4-A77B-4BB12A9F4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9889546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8E41DD-71CF-478F-AAC3-30AAE6B05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77" y="113457"/>
            <a:ext cx="7886700" cy="498940"/>
          </a:xfrm>
        </p:spPr>
        <p:txBody>
          <a:bodyPr>
            <a:normAutofit/>
          </a:bodyPr>
          <a:lstStyle/>
          <a:p>
            <a:r>
              <a:rPr lang="ru-RU" sz="2800" b="1" dirty="0">
                <a:latin typeface="Times New Roman" panose="02020603050405020304" pitchFamily="18" charset="0"/>
              </a:rPr>
              <a:t>Поиск обратной матрицы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49390BE-65DB-4462-9F04-193D4254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5978" y="625999"/>
            <a:ext cx="8733464" cy="6378808"/>
          </a:xfrm>
        </p:spPr>
        <p:txBody>
          <a:bodyPr>
            <a:normAutofit lnSpcReduction="10000"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вычисления обратной матрицы с помощью алгебраических дополнений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Найти определитель 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матрицы А и убедиться, что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|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| 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≠</a:t>
            </a:r>
            <a:r>
              <a:rPr lang="en-US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0, т.е. что 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матрица А – невырожденная.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Составить алгебраические дополнения </a:t>
            </a:r>
            <a:r>
              <a:rPr lang="ru-RU" sz="1800" i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i="1" baseline="-25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ij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 каждого элемента матрицы A и записать матрицу </a:t>
            </a:r>
            <a:r>
              <a:rPr lang="ru-RU" sz="1800" i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baseline="30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∗</a:t>
            </a:r>
            <a:r>
              <a:rPr lang="ru-RU" sz="1800" i="1" baseline="-25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n</a:t>
            </a:r>
            <a:r>
              <a:rPr lang="ru-RU" sz="1800" baseline="-25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×</a:t>
            </a:r>
            <a:r>
              <a:rPr lang="ru-RU" sz="1800" i="1" baseline="-25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=(</a:t>
            </a:r>
            <a:r>
              <a:rPr lang="ru-RU" sz="1800" i="1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i="1" baseline="-25000" dirty="0" err="1">
                <a:solidFill>
                  <a:srgbClr val="000000"/>
                </a:solidFill>
                <a:latin typeface="Times New Roman" panose="02020603050405020304" pitchFamily="18" charset="0"/>
              </a:rPr>
              <a:t>ij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) из найденных </a:t>
            </a: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алгебраических дополнений.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Записать обратную матрицу с учётом формулы </a:t>
            </a:r>
            <a:endParaRPr lang="en-US" sz="1800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элементарных преобразований (метод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присоединённой матрицы)</a:t>
            </a: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spcBef>
                <a:spcPts val="0"/>
              </a:spcBef>
              <a:buNone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Допишем справа к матрице 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 единичную матрицу 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 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n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-го порядка. После такого дописывания мы получим матрицу (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|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). Со строками этой матрицы можно выполнять такие преобразования: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Смена мест двух строк.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Умножение всех элементов строки на некоторое число, не равное нулю.</a:t>
            </a:r>
          </a:p>
          <a:p>
            <a:pPr algn="just">
              <a:spcBef>
                <a:spcPts val="0"/>
              </a:spcBef>
              <a:buFont typeface="+mj-lt"/>
              <a:buAutoNum type="arabicPeriod"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Прибавление к элементам одной строки соответствующих элементов другой строки, умноженных на любой множитель.</a:t>
            </a:r>
          </a:p>
          <a:p>
            <a:pPr marL="0" indent="0" algn="just">
              <a:spcBef>
                <a:spcPts val="0"/>
              </a:spcBef>
              <a:buNone/>
            </a:pP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Конечная цель указанных выше преобразований: привести матрицу (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|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) к такому виду: (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E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|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baseline="30000" dirty="0">
                <a:solidFill>
                  <a:srgbClr val="000000"/>
                </a:solidFill>
                <a:latin typeface="Times New Roman" panose="02020603050405020304" pitchFamily="18" charset="0"/>
              </a:rPr>
              <a:t>−1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). Т.е. нужно сделать так, чтобы матрица до черты стала единичной, тогда после черты будет записана обратная матрица </a:t>
            </a:r>
            <a:r>
              <a:rPr lang="ru-RU" sz="18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ru-RU" sz="1800" baseline="30000" dirty="0">
                <a:solidFill>
                  <a:srgbClr val="000000"/>
                </a:solidFill>
                <a:latin typeface="Times New Roman" panose="02020603050405020304" pitchFamily="18" charset="0"/>
              </a:rPr>
              <a:t>−1</a:t>
            </a:r>
            <a:r>
              <a:rPr lang="ru-RU" sz="1800" dirty="0">
                <a:solidFill>
                  <a:srgbClr val="000000"/>
                </a:solidFill>
                <a:latin typeface="Times New Roman" panose="02020603050405020304" pitchFamily="18" charset="0"/>
              </a:rPr>
              <a:t>.</a:t>
            </a:r>
            <a:endParaRPr lang="ru-RU" dirty="0"/>
          </a:p>
        </p:txBody>
      </p:sp>
      <p:pic>
        <p:nvPicPr>
          <p:cNvPr id="4" name="Picture 2" descr="Обратная матрица онлайн">
            <a:extLst>
              <a:ext uri="{FF2B5EF4-FFF2-40B4-BE49-F238E27FC236}">
                <a16:creationId xmlns:a16="http://schemas.microsoft.com/office/drawing/2014/main" id="{2383979A-ED0A-477A-816A-01CCC8BAF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5398" y="2397244"/>
            <a:ext cx="4358312" cy="13106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FE6A080-D3FA-43DA-8047-47D268FC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3803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A76ABE-AAC9-4265-B10C-C1C08FDAF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32" y="130234"/>
            <a:ext cx="7886700" cy="473773"/>
          </a:xfrm>
        </p:spPr>
        <p:txBody>
          <a:bodyPr>
            <a:normAutofit fontScale="90000"/>
          </a:bodyPr>
          <a:lstStyle/>
          <a:p>
            <a:r>
              <a:rPr lang="ru-RU" sz="2800" b="1" dirty="0">
                <a:latin typeface="Times New Roman" panose="02020603050405020304" pitchFamily="18" charset="0"/>
              </a:rPr>
              <a:t>Примеры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0516866-4C34-460F-80E4-4062ADE978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32" y="604006"/>
            <a:ext cx="8926936" cy="61237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Найти матрицу, обратную матрице</a:t>
            </a:r>
          </a:p>
          <a:p>
            <a:pPr marL="0" indent="0">
              <a:buNone/>
            </a:pPr>
            <a:endParaRPr lang="ru-RU" sz="24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Вычислим определитель матрицы: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</a:rPr>
              <a:t>|</a:t>
            </a:r>
            <a:r>
              <a:rPr lang="en-US" sz="2400" i="1" dirty="0">
                <a:solidFill>
                  <a:srgbClr val="000000"/>
                </a:solidFill>
                <a:latin typeface="Times New Roman" panose="02020603050405020304" pitchFamily="18" charset="0"/>
              </a:rPr>
              <a:t>A</a:t>
            </a:r>
            <a:r>
              <a:rPr lang="en-US" sz="2400" dirty="0">
                <a:solidFill>
                  <a:srgbClr val="000000"/>
                </a:solidFill>
                <a:latin typeface="Times New Roman" panose="02020603050405020304" pitchFamily="18" charset="0"/>
              </a:rPr>
              <a:t>| = </a:t>
            </a:r>
            <a:endParaRPr lang="ru-RU" sz="2400" dirty="0">
              <a:solidFill>
                <a:srgbClr val="000000"/>
              </a:solidFill>
              <a:latin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2400" b="0" i="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2. </a:t>
            </a:r>
            <a:r>
              <a:rPr lang="ru-RU" sz="2400" dirty="0">
                <a:solidFill>
                  <a:srgbClr val="000000"/>
                </a:solidFill>
                <a:latin typeface="Times New Roman" panose="02020603050405020304" pitchFamily="18" charset="0"/>
              </a:rPr>
              <a:t>Составим алгебраические дополнения: </a:t>
            </a:r>
            <a:endParaRPr lang="ru-RU" sz="24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E1D9772-53A3-4D0D-A409-897DF39FEE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6919" y="197345"/>
            <a:ext cx="2627073" cy="123746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DF4699D-7D25-4DC3-93AB-42BECF10A56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4843"/>
          <a:stretch/>
        </p:blipFill>
        <p:spPr>
          <a:xfrm>
            <a:off x="847836" y="1966735"/>
            <a:ext cx="4881843" cy="364005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5019EF0-291F-4657-BAEA-DD1208C9FC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42586" b="665"/>
          <a:stretch/>
        </p:blipFill>
        <p:spPr>
          <a:xfrm>
            <a:off x="2786949" y="2339129"/>
            <a:ext cx="6248519" cy="36400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EAD7C2A-35AC-4137-AE93-BB670FA8E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2151" y="3423893"/>
            <a:ext cx="5286375" cy="1838325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026D933-DF75-4058-B6CF-93D02BC96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380" y="5421921"/>
            <a:ext cx="4381500" cy="933450"/>
          </a:xfrm>
          <a:prstGeom prst="rect">
            <a:avLst/>
          </a:prstGeom>
        </p:spPr>
      </p:pic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7BF4D721-F5C6-46B3-B073-3022FEA9B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037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FB42C684-A647-41F3-B345-0A21F17EF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590" y="231716"/>
            <a:ext cx="8641184" cy="64207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Матрица из алгебраических дополнений: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Присоединённая матрица: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Обратная матрица</a:t>
            </a:r>
            <a:r>
              <a:rPr lang="ru-RU" dirty="0"/>
              <a:t>: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Самостоятельно найти обратную матрицу с помощью присоединенной.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96FAAB5-19D5-4FEC-BF51-8D60C94A7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830" y="859564"/>
            <a:ext cx="3850634" cy="1362532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17AA217-2B43-4685-8932-564FBC4D32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844" y="2780502"/>
            <a:ext cx="3114675" cy="10858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E9FB49A-1A06-457A-B790-CE9BADA24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90" y="4312640"/>
            <a:ext cx="8803228" cy="1362531"/>
          </a:xfrm>
          <a:prstGeom prst="rect">
            <a:avLst/>
          </a:prstGeom>
        </p:spPr>
      </p:pic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DDBEBF57-9172-4297-BCB8-A66A47C3E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0290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2"/>
          <p:cNvSpPr>
            <a:spLocks noGrp="1" noChangeArrowheads="1"/>
          </p:cNvSpPr>
          <p:nvPr>
            <p:ph type="title"/>
          </p:nvPr>
        </p:nvSpPr>
        <p:spPr>
          <a:xfrm>
            <a:off x="1181089" y="140878"/>
            <a:ext cx="6400800" cy="896938"/>
          </a:xfrm>
        </p:spPr>
        <p:txBody>
          <a:bodyPr/>
          <a:lstStyle/>
          <a:p>
            <a:pPr algn="ctr"/>
            <a:r>
              <a:rPr lang="ru-RU" altLang="ru-RU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3. Метод Гаусса</a:t>
            </a:r>
          </a:p>
        </p:txBody>
      </p:sp>
      <p:sp>
        <p:nvSpPr>
          <p:cNvPr id="1146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98059" y="1037816"/>
            <a:ext cx="8347881" cy="5327650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Рассмотрим на примере системы трёх уравнений:</a:t>
            </a:r>
          </a:p>
          <a:p>
            <a:pPr marL="0" indent="0" algn="ctr">
              <a:buFont typeface="Wingdings" panose="05000000000000000000" pitchFamily="2" charset="2"/>
              <a:buNone/>
            </a:pPr>
            <a:endParaRPr lang="ru-RU" altLang="ko-KR" i="1" baseline="-250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ko-KR" sz="2600" i="1" dirty="0"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Прямой ход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 метода Гаусса состоит в следующем:</a:t>
            </a: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Умножим первое уравнение на –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ko-KR" sz="2600" i="1" baseline="-25000" dirty="0">
                <a:effectLst/>
                <a:latin typeface="Times New Roman" panose="02020603050405020304" pitchFamily="18" charset="0"/>
              </a:rPr>
              <a:t>21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/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ru-RU" altLang="ko-KR" sz="2600" i="1" baseline="-25000" dirty="0">
                <a:effectLst/>
                <a:latin typeface="Times New Roman" panose="02020603050405020304" pitchFamily="18" charset="0"/>
              </a:rPr>
              <a:t>11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 </a:t>
            </a:r>
            <a:endParaRPr lang="ru-RU" altLang="ko-KR" sz="2600" i="1" dirty="0"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 сложим со вторым:</a:t>
            </a: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ko-KR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ru-RU" sz="26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Object 5"/>
              <p:cNvSpPr txBox="1"/>
              <p:nvPr/>
            </p:nvSpPr>
            <p:spPr bwMode="auto">
              <a:xfrm>
                <a:off x="2328065" y="1574989"/>
                <a:ext cx="5432310" cy="18540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28065" y="1574989"/>
                <a:ext cx="5432310" cy="1854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3646019-52C5-4217-93A7-5A01B3C1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10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4">
                <a:extLst>
                  <a:ext uri="{FF2B5EF4-FFF2-40B4-BE49-F238E27FC236}">
                    <a16:creationId xmlns:a16="http://schemas.microsoft.com/office/drawing/2014/main" id="{8C5DFA08-46E3-4CC2-AF39-5EAF8DCA265B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1305636" y="4340226"/>
                <a:ext cx="7209714" cy="20161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ru-RU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_______________________________________</m:t>
                      </m:r>
                    </m:oMath>
                    <m:oMath xmlns:m="http://schemas.openxmlformats.org/officeDocument/2006/math"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+(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Object 4">
                <a:extLst>
                  <a:ext uri="{FF2B5EF4-FFF2-40B4-BE49-F238E27FC236}">
                    <a16:creationId xmlns:a16="http://schemas.microsoft.com/office/drawing/2014/main" id="{8C5DFA08-46E3-4CC2-AF39-5EAF8DCA2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05636" y="4340226"/>
                <a:ext cx="7209714" cy="201612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2423745"/>
      </p:ext>
    </p:extLst>
  </p:cSld>
  <p:clrMapOvr>
    <a:masterClrMapping/>
  </p:clrMapOvr>
  <p:transition spd="slow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600501" y="188913"/>
            <a:ext cx="8292674" cy="6408737"/>
          </a:xfrm>
        </p:spPr>
        <p:txBody>
          <a:bodyPr>
            <a:normAutofit/>
          </a:bodyPr>
          <a:lstStyle/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600" dirty="0"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Если обозначить первую скобку за a</a:t>
            </a:r>
            <a:r>
              <a:rPr lang="en-US" altLang="ko-KR" sz="2600" baseline="30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’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22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 , а вторую за a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’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23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 и полученную правую часть за b</a:t>
            </a:r>
            <a:r>
              <a:rPr lang="en-US" altLang="ko-KR" sz="2600" baseline="30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’</a:t>
            </a:r>
            <a:r>
              <a:rPr lang="en-US" altLang="ko-KR" sz="2600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2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, то получим:</a:t>
            </a: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endParaRPr lang="en-US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lnSpc>
                <a:spcPct val="80000"/>
              </a:lnSpc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Аналогично: умножим первое уравнение на –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en-US" altLang="ko-KR" sz="2600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31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/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a</a:t>
            </a:r>
            <a:r>
              <a:rPr lang="en-US" altLang="ko-KR" sz="2600" i="1" baseline="-250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11 </a:t>
            </a:r>
            <a:r>
              <a:rPr lang="en-US" altLang="ko-KR" sz="2600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,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 сложим с третьим уравнением</a:t>
            </a:r>
            <a:r>
              <a:rPr lang="en-US" altLang="ko-KR" sz="2600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 обозначим полученное уравнение так:</a:t>
            </a: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en-US" altLang="ko-KR" sz="2400" i="1" dirty="0"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400" i="1" dirty="0">
                <a:latin typeface="Times New Roman" panose="02020603050405020304" pitchFamily="18" charset="0"/>
              </a:rPr>
              <a:t>a'</a:t>
            </a:r>
            <a:r>
              <a:rPr lang="en-US" altLang="ko-KR" sz="2400" i="1" baseline="-25000" dirty="0">
                <a:latin typeface="Times New Roman" panose="02020603050405020304" pitchFamily="18" charset="0"/>
                <a:ea typeface="굴림" panose="020B0600000101010101" pitchFamily="34" charset="-127"/>
              </a:rPr>
              <a:t>32</a:t>
            </a:r>
            <a:r>
              <a:rPr lang="en-US" altLang="ko-KR" sz="2400" dirty="0"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400" i="1" dirty="0">
                <a:latin typeface="Times New Roman" panose="02020603050405020304" pitchFamily="18" charset="0"/>
              </a:rPr>
              <a:t>x</a:t>
            </a:r>
            <a:r>
              <a:rPr lang="en-US" altLang="ko-KR" sz="2400" i="1" baseline="-25000" dirty="0">
                <a:latin typeface="Times New Roman" panose="02020603050405020304" pitchFamily="18" charset="0"/>
                <a:ea typeface="굴림" panose="020B0600000101010101" pitchFamily="34" charset="-127"/>
              </a:rPr>
              <a:t>2</a:t>
            </a:r>
            <a:r>
              <a:rPr lang="ru-RU" altLang="ko-KR" sz="2400" i="1" dirty="0">
                <a:latin typeface="Times New Roman" panose="02020603050405020304" pitchFamily="18" charset="0"/>
              </a:rPr>
              <a:t> + a'</a:t>
            </a:r>
            <a:r>
              <a:rPr lang="en-US" altLang="ko-KR" sz="2400" i="1" baseline="-25000" dirty="0">
                <a:latin typeface="Times New Roman" panose="02020603050405020304" pitchFamily="18" charset="0"/>
                <a:ea typeface="굴림" panose="020B0600000101010101" pitchFamily="34" charset="-127"/>
              </a:rPr>
              <a:t>33</a:t>
            </a:r>
            <a:r>
              <a:rPr lang="en-US" altLang="ko-KR" sz="2400" dirty="0"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400" i="1" dirty="0">
                <a:latin typeface="Times New Roman" panose="02020603050405020304" pitchFamily="18" charset="0"/>
              </a:rPr>
              <a:t>x</a:t>
            </a:r>
            <a:r>
              <a:rPr lang="en-US" altLang="ko-KR" sz="2400" i="1" baseline="-25000" dirty="0">
                <a:latin typeface="Times New Roman" panose="02020603050405020304" pitchFamily="18" charset="0"/>
                <a:ea typeface="굴림" panose="020B0600000101010101" pitchFamily="34" charset="-127"/>
              </a:rPr>
              <a:t>3</a:t>
            </a:r>
            <a:r>
              <a:rPr lang="ru-RU" altLang="ko-KR" sz="2400" i="1" dirty="0">
                <a:latin typeface="Times New Roman" panose="02020603050405020304" pitchFamily="18" charset="0"/>
              </a:rPr>
              <a:t> = b'</a:t>
            </a:r>
            <a:r>
              <a:rPr lang="en-US" altLang="ko-KR" sz="2400" i="1" baseline="-25000" dirty="0">
                <a:latin typeface="Times New Roman" panose="02020603050405020304" pitchFamily="18" charset="0"/>
                <a:ea typeface="굴림" panose="020B0600000101010101" pitchFamily="34" charset="-127"/>
              </a:rPr>
              <a:t>3</a:t>
            </a:r>
            <a:r>
              <a:rPr lang="en-US" altLang="ko-KR" sz="2400" i="1" dirty="0"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400" dirty="0">
                <a:latin typeface="Times New Roman" panose="02020603050405020304" pitchFamily="18" charset="0"/>
              </a:rPr>
              <a:t>.</a:t>
            </a: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400" dirty="0">
                <a:latin typeface="Times New Roman" panose="02020603050405020304" pitchFamily="18" charset="0"/>
              </a:rPr>
              <a:t>Обобщенная формула для «штриховых» коэффициентов:</a:t>
            </a:r>
            <a:endParaRPr lang="ru-RU" altLang="ko-KR" sz="2400" dirty="0"/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ru-RU" sz="2400" dirty="0"/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ru-RU" sz="2400" dirty="0"/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ru-RU" sz="2400" dirty="0"/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400" dirty="0">
                <a:latin typeface="Times New Roman" panose="02020603050405020304" pitchFamily="18" charset="0"/>
              </a:rPr>
              <a:t>Исключим теперь </a:t>
            </a:r>
            <a:r>
              <a:rPr lang="ru-RU" altLang="ko-KR" sz="2400" i="1" dirty="0">
                <a:latin typeface="Times New Roman" panose="02020603050405020304" pitchFamily="18" charset="0"/>
              </a:rPr>
              <a:t>x</a:t>
            </a:r>
            <a:r>
              <a:rPr lang="ru-RU" altLang="ko-KR" sz="2400" baseline="-25000" dirty="0">
                <a:latin typeface="Times New Roman" panose="02020603050405020304" pitchFamily="18" charset="0"/>
              </a:rPr>
              <a:t>2</a:t>
            </a:r>
            <a:r>
              <a:rPr lang="ru-RU" altLang="ko-KR" sz="2400" dirty="0">
                <a:latin typeface="Times New Roman" panose="02020603050405020304" pitchFamily="18" charset="0"/>
              </a:rPr>
              <a:t> из 3-го уравнения.</a:t>
            </a:r>
            <a:r>
              <a:rPr lang="ru-RU" altLang="ko-KR" sz="2400" dirty="0"/>
              <a:t> </a:t>
            </a:r>
            <a:endParaRPr lang="ru-RU" altLang="ko-KR" sz="2200" dirty="0">
              <a:effectLst/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5722" name="Object 10"/>
              <p:cNvSpPr txBox="1">
                <a:spLocks noGrp="1"/>
              </p:cNvSpPr>
              <p:nvPr>
                <p:ph sz="quarter" idx="3"/>
              </p:nvPr>
            </p:nvSpPr>
            <p:spPr bwMode="auto">
              <a:xfrm>
                <a:off x="2354215" y="1515522"/>
                <a:ext cx="4435570" cy="120313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br>
                  <a:rPr lang="ru-RU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15722" name="Object 10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3"/>
              </p:nvPr>
            </p:nvSpPr>
            <p:spPr bwMode="auto">
              <a:xfrm>
                <a:off x="2354215" y="1515522"/>
                <a:ext cx="4435570" cy="120313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EC64BAE-9277-40C2-BFA4-30565CD9C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E668DF-FBD4-4B5A-B8D4-84B3FDBCDBBE}" type="slidenum">
              <a:rPr lang="ru-RU" altLang="ru-RU" smtClean="0"/>
              <a:pPr/>
              <a:t>11</a:t>
            </a:fld>
            <a:endParaRPr lang="ru-RU" alt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C20B0107-E6CC-4A94-9EA7-FEF9AF5098EE}"/>
                  </a:ext>
                </a:extLst>
              </p:cNvPr>
              <p:cNvSpPr txBox="1"/>
              <p:nvPr/>
            </p:nvSpPr>
            <p:spPr bwMode="auto">
              <a:xfrm>
                <a:off x="1363651" y="4882998"/>
                <a:ext cx="7019108" cy="1179085"/>
              </a:xfrm>
              <a:prstGeom prst="rect">
                <a:avLst/>
              </a:prstGeom>
              <a:noFill/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ru-RU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ru-RU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ru-RU" sz="2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</m:sub>
                          </m:sSub>
                        </m:den>
                      </m:f>
                      <m:r>
                        <a:rPr lang="ru-RU" sz="2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2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Sup>
                              <m:sSubSupPr>
                                <m:ctrlP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ru-RU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ru-RU" sz="2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ru-RU" sz="2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2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>
                                  <m:r>
                                    <a:rPr lang="ru-RU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ru-RU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ru-RU" sz="28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=2,3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C20B0107-E6CC-4A94-9EA7-FEF9AF509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363651" y="4882998"/>
                <a:ext cx="7019108" cy="117908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7181490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09434" y="260350"/>
            <a:ext cx="8483742" cy="6337300"/>
          </a:xfrm>
        </p:spPr>
        <p:txBody>
          <a:bodyPr/>
          <a:lstStyle/>
          <a:p>
            <a:pPr marL="0" indent="0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Таким образом, система сведётся к ступенчатому виду: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ru-RU" altLang="ko-KR" sz="2600" i="1" dirty="0">
              <a:effectLst/>
              <a:latin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ru-RU" altLang="ko-KR" sz="2600" i="1" dirty="0">
              <a:latin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ru-RU" altLang="ko-KR" sz="2600" i="1" dirty="0"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buFont typeface="Wingdings" panose="05000000000000000000" pitchFamily="2" charset="2"/>
              <a:buNone/>
            </a:pPr>
            <a:endParaRPr lang="ru-RU" altLang="ko-KR" sz="2600" i="1" dirty="0"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>
              <a:buNone/>
            </a:pPr>
            <a:r>
              <a:rPr lang="ru-RU" altLang="ko-KR" sz="2600" dirty="0">
                <a:latin typeface="Times New Roman" panose="02020603050405020304" pitchFamily="18" charset="0"/>
              </a:rPr>
              <a:t>Для «дважды штриховых» коэффициентов общие формулы имеют вид: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altLang="ko-KR" sz="2600" i="1" dirty="0">
              <a:latin typeface="Times New Roman" panose="02020603050405020304" pitchFamily="18" charset="0"/>
              <a:ea typeface="굴림" panose="020B0600000101010101" pitchFamily="34" charset="-127"/>
            </a:endParaRPr>
          </a:p>
        </p:txBody>
      </p:sp>
      <p:sp>
        <p:nvSpPr>
          <p:cNvPr id="119813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9814" name="Object 6"/>
              <p:cNvSpPr txBox="1">
                <a:spLocks noGrp="1"/>
              </p:cNvSpPr>
              <p:nvPr>
                <p:ph sz="half" idx="2"/>
              </p:nvPr>
            </p:nvSpPr>
            <p:spPr bwMode="auto">
              <a:xfrm>
                <a:off x="2333727" y="1098969"/>
                <a:ext cx="4476545" cy="204390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11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12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13</m:t>
                          </m:r>
                        </m:sub>
                      </m:sSub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br>
                  <a:rPr lang="ru-RU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        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22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23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br>
                  <a:rPr lang="ru-RU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r>
                  <a:rPr lang="en-US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a:t>		       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33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″</m:t>
                        </m:r>
                      </m:sup>
                    </m:sSubSup>
                    <m:sSub>
                      <m:sSub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″</m:t>
                        </m:r>
                      </m:sup>
                    </m:sSub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19814" name="Object 6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 bwMode="auto">
              <a:xfrm>
                <a:off x="2333727" y="1098969"/>
                <a:ext cx="4476545" cy="20439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8B1B337-CB84-4A61-9DC7-E9A622882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FD819B-597F-4C51-BCC6-67776FC76691}" type="slidenum">
              <a:rPr lang="ru-RU" altLang="ru-RU" smtClean="0"/>
              <a:pPr/>
              <a:t>12</a:t>
            </a:fld>
            <a:endParaRPr lang="ru-RU" altLang="ru-RU"/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986EE400-1A8B-48B4-B443-AA5325267DA0}"/>
              </a:ext>
            </a:extLst>
          </p:cNvPr>
          <p:cNvSpPr/>
          <p:nvPr/>
        </p:nvSpPr>
        <p:spPr>
          <a:xfrm>
            <a:off x="2204073" y="1199464"/>
            <a:ext cx="259307" cy="1182689"/>
          </a:xfrm>
          <a:prstGeom prst="leftBrace">
            <a:avLst>
              <a:gd name="adj1" fmla="val 8333"/>
              <a:gd name="adj2" fmla="val 48529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Object 4">
                <a:extLst>
                  <a:ext uri="{FF2B5EF4-FFF2-40B4-BE49-F238E27FC236}">
                    <a16:creationId xmlns:a16="http://schemas.microsoft.com/office/drawing/2014/main" id="{BF436DBC-5F67-48F4-94D0-97EB7B22A5B4}"/>
                  </a:ext>
                </a:extLst>
              </p:cNvPr>
              <p:cNvSpPr txBox="1"/>
              <p:nvPr/>
            </p:nvSpPr>
            <p:spPr bwMode="auto">
              <a:xfrm>
                <a:off x="1563970" y="4152708"/>
                <a:ext cx="6917300" cy="1253409"/>
              </a:xfrm>
              <a:prstGeom prst="rect">
                <a:avLst/>
              </a:prstGeom>
              <a:noFill/>
            </p:spPr>
            <p:txBody>
              <a:bodyPr>
                <a:normAutofit fontScale="925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′′</m:t>
                          </m:r>
                        </m:sup>
                      </m:sSubSup>
                      <m:r>
                        <a:rPr lang="ru-RU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ru-RU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22</m:t>
                              </m:r>
                            </m:sub>
                          </m:sSub>
                        </m:den>
                      </m:f>
                      <m:r>
                        <a:rPr lang="ru-RU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Sup>
                              <m:sSubSupPr>
                                <m:ctrlP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′′</m:t>
                                </m:r>
                              </m:sup>
                            </m:sSubSup>
                            <m:r>
                              <a:rPr lang="ru-RU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p>
                                  <m:sSup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  <m:sub>
                                <m: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p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ru-RU" sz="2400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sz="24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ru-RU" sz="24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sz="24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ru-RU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=2,3</m:t>
                                  </m:r>
                                </m:e>
                              </m:mr>
                            </m:m>
                          </m:e>
                        </m:mr>
                      </m:m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8" name="Object 4">
                <a:extLst>
                  <a:ext uri="{FF2B5EF4-FFF2-40B4-BE49-F238E27FC236}">
                    <a16:creationId xmlns:a16="http://schemas.microsoft.com/office/drawing/2014/main" id="{BF436DBC-5F67-48F4-94D0-97EB7B22A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63970" y="4152708"/>
                <a:ext cx="6917300" cy="125340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131391"/>
      </p:ext>
    </p:extLst>
  </p:cSld>
  <p:clrMapOvr>
    <a:masterClrMapping/>
  </p:clrMapOvr>
  <p:transition spd="slow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263" y="188913"/>
            <a:ext cx="8306937" cy="6408737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endParaRPr lang="ru-RU" altLang="ru-RU" sz="2600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Обратный ход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 метода Гаусса состоит в следующем: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Находим 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x</a:t>
            </a:r>
            <a:r>
              <a:rPr lang="ru-RU" altLang="ko-KR" sz="2600" baseline="-25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ko-KR" sz="2600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из 3-го уравнения: </a:t>
            </a:r>
          </a:p>
          <a:p>
            <a:pPr marL="0" indent="0" algn="ctr">
              <a:buFont typeface="Wingdings" panose="05000000000000000000" pitchFamily="2" charset="2"/>
              <a:buNone/>
            </a:pPr>
            <a:r>
              <a:rPr lang="ru-RU" altLang="ko-KR" i="1" dirty="0">
                <a:effectLst/>
                <a:latin typeface="Times New Roman" panose="02020603050405020304" pitchFamily="18" charset="0"/>
              </a:rPr>
              <a:t>x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 = b''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/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a''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33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ru-RU" altLang="ko-KR" sz="2600" dirty="0">
                <a:effectLst/>
                <a:latin typeface="Times New Roman" panose="02020603050405020304" pitchFamily="18" charset="0"/>
              </a:rPr>
              <a:t>Потом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r>
              <a:rPr lang="ru-RU" altLang="ko-KR" sz="2600" dirty="0">
                <a:effectLst/>
                <a:latin typeface="Times New Roman" panose="02020603050405020304" pitchFamily="18" charset="0"/>
              </a:rPr>
              <a:t>находим</a:t>
            </a:r>
            <a:r>
              <a:rPr lang="en-US" altLang="ko-KR" sz="2600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</a:t>
            </a:r>
            <a:endParaRPr lang="ru-RU" altLang="ko-KR" sz="2600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(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b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'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– a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'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23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)/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a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'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22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, </a:t>
            </a:r>
            <a:endParaRPr lang="ru-RU" altLang="ko-KR" dirty="0">
              <a:effectLst/>
              <a:latin typeface="Times New Roman" panose="02020603050405020304" pitchFamily="18" charset="0"/>
            </a:endParaRPr>
          </a:p>
          <a:p>
            <a:pPr marL="0" indent="0" algn="just">
              <a:buFont typeface="Wingdings" panose="05000000000000000000" pitchFamily="2" charset="2"/>
              <a:buNone/>
            </a:pP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 = 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(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b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– a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12</a:t>
            </a:r>
            <a:r>
              <a:rPr lang="ru-RU" altLang="ko-KR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x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2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– a</a:t>
            </a:r>
            <a:r>
              <a:rPr lang="ru-RU" altLang="ko-KR" baseline="-25000" dirty="0">
                <a:effectLst/>
                <a:latin typeface="Times New Roman" panose="02020603050405020304" pitchFamily="18" charset="0"/>
              </a:rPr>
              <a:t>13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 x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3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)/</a:t>
            </a:r>
            <a:r>
              <a:rPr lang="en-US" altLang="ko-KR" i="1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a</a:t>
            </a:r>
            <a:r>
              <a:rPr lang="ru-RU" altLang="ko-KR" i="1" baseline="-25000" dirty="0">
                <a:effectLst/>
                <a:latin typeface="Times New Roman" panose="02020603050405020304" pitchFamily="18" charset="0"/>
              </a:rPr>
              <a:t>11</a:t>
            </a:r>
            <a:r>
              <a:rPr lang="ru-RU" altLang="ko-KR" i="1" dirty="0">
                <a:effectLst/>
                <a:latin typeface="Times New Roman" panose="02020603050405020304" pitchFamily="18" charset="0"/>
              </a:rPr>
              <a:t> </a:t>
            </a:r>
            <a:r>
              <a:rPr lang="en-US" altLang="ko-KR" dirty="0">
                <a:effectLst/>
                <a:latin typeface="Times New Roman" panose="02020603050405020304" pitchFamily="18" charset="0"/>
                <a:ea typeface="굴림" panose="020B0600000101010101" pitchFamily="34" charset="-127"/>
              </a:rPr>
              <a:t>.</a:t>
            </a:r>
            <a:endParaRPr lang="ru-RU" altLang="ko-KR" dirty="0">
              <a:effectLst/>
              <a:latin typeface="Times New Roman" panose="02020603050405020304" pitchFamily="18" charset="0"/>
              <a:ea typeface="굴림" panose="020B0600000101010101" pitchFamily="34" charset="-127"/>
            </a:endParaRPr>
          </a:p>
          <a:p>
            <a:pPr marL="0" indent="0" algn="just">
              <a:buNone/>
            </a:pPr>
            <a:r>
              <a:rPr lang="ru-RU" altLang="ko-KR" dirty="0">
                <a:latin typeface="Times New Roman" panose="02020603050405020304" pitchFamily="18" charset="0"/>
              </a:rPr>
              <a:t>Аналогично строится процесс метода Гаусса для системы из </a:t>
            </a:r>
            <a:r>
              <a:rPr lang="en-US" altLang="ko-KR" i="1" dirty="0">
                <a:latin typeface="Times New Roman" panose="02020603050405020304" pitchFamily="18" charset="0"/>
              </a:rPr>
              <a:t>n</a:t>
            </a:r>
            <a:r>
              <a:rPr lang="ru-RU" altLang="ko-KR" dirty="0">
                <a:latin typeface="Times New Roman" panose="02020603050405020304" pitchFamily="18" charset="0"/>
              </a:rPr>
              <a:t> уравнений. Обобщим формулы «штриховых» коэффициентов:</a:t>
            </a:r>
          </a:p>
          <a:p>
            <a:pPr marL="0" indent="0" algn="just">
              <a:buFont typeface="Wingdings" panose="05000000000000000000" pitchFamily="2" charset="2"/>
              <a:buNone/>
            </a:pPr>
            <a:endParaRPr lang="ru-RU" altLang="ru-RU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121861" name="Rectangle 5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883C202-AD45-4D6A-94BB-1C0ED8F5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13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494F9B35-23F9-468C-8C31-E456137F301B}"/>
                  </a:ext>
                </a:extLst>
              </p:cNvPr>
              <p:cNvSpPr txBox="1"/>
              <p:nvPr/>
            </p:nvSpPr>
            <p:spPr bwMode="auto">
              <a:xfrm>
                <a:off x="948164" y="4945909"/>
                <a:ext cx="7999257" cy="1504106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  <m:sup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−1)</m:t>
                              </m:r>
                            </m:sup>
                          </m:sSup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p>
                                <m:s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p>
                            </m:e>
                            <m: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𝑘𝑘</m:t>
                              </m:r>
                            </m:sub>
                          </m:sSub>
                        </m:den>
                      </m:f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sSubSup>
                              <m:sSubSupPr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  <m:sup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p>
                            </m:sSubSup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p>
                                  <m:sSup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−1)</m:t>
                                    </m:r>
                                  </m:sup>
                                </m:sSup>
                              </m:e>
                              <m:sub>
                                <m: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−1)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𝑖𝑘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p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−1)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sSup>
                                      <m:sSupPr>
                                        <m:ctrlP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p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−1)</m:t>
                                        </m:r>
                                      </m:sup>
                                    </m:sSup>
                                  </m:e>
                                  <m:sub>
                                    <m:r>
                                      <a:rPr lang="ru-RU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𝑘𝑘</m:t>
                                    </m:r>
                                  </m:sub>
                                </m:sSub>
                              </m:den>
                            </m:f>
                            <m:r>
                              <a:rPr lang="ru-RU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</m:mr>
                      </m:m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494F9B35-23F9-468C-8C31-E456137F30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948164" y="4945909"/>
                <a:ext cx="7999257" cy="15041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35E8C050-B299-42C8-ADAA-8224419419DA}"/>
                  </a:ext>
                </a:extLst>
              </p:cNvPr>
              <p:cNvSpPr txBox="1"/>
              <p:nvPr/>
            </p:nvSpPr>
            <p:spPr bwMode="auto">
              <a:xfrm>
                <a:off x="699742" y="5795241"/>
                <a:ext cx="8496100" cy="466654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ru-RU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/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=2,3,...,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m>
                                    <m:mPr>
                                      <m:plcHide m:val="on"/>
                                      <m:mcs>
                                        <m:mc>
                                          <m:mcPr>
                                            <m:count m:val="2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/>
                                      <m:e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−1,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,...,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  <m:r>
                                          <a:rPr lang="ru-RU" i="1">
                                            <a:solidFill>
                                              <a:srgbClr val="00000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−1,</m:t>
                                        </m:r>
                                        <m:m>
                                          <m:mPr>
                                            <m:plcHide m:val="on"/>
                                            <m:mcs>
                                              <m:mc>
                                                <m:mcPr>
                                                  <m:count m:val="2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ru-RU" i="1">
                                                <a:solidFill>
                                                  <a:srgbClr val="00000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/>
                                            <m:e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=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+1,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+2,...,</m:t>
                                              </m:r>
                                              <m:r>
                                                <a:rPr lang="ru-RU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e>
                                          </m:mr>
                                        </m:m>
                                      </m:e>
                                    </m:mr>
                                  </m:m>
                                </m:e>
                              </m:mr>
                            </m:m>
                          </m:e>
                        </m:mr>
                      </m:m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7" name="Object 7">
                <a:extLst>
                  <a:ext uri="{FF2B5EF4-FFF2-40B4-BE49-F238E27FC236}">
                    <a16:creationId xmlns:a16="http://schemas.microsoft.com/office/drawing/2014/main" id="{35E8C050-B299-42C8-ADAA-8224419419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9742" y="5795241"/>
                <a:ext cx="8496100" cy="4666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7478734"/>
      </p:ext>
    </p:extLst>
  </p:cSld>
  <p:clrMapOvr>
    <a:masterClrMapping/>
  </p:clrMapOvr>
  <p:transition spd="slow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371853"/>
          </a:xfrm>
        </p:spPr>
        <p:txBody>
          <a:bodyPr>
            <a:normAutofit fontScale="90000"/>
          </a:bodyPr>
          <a:lstStyle/>
          <a:p>
            <a:r>
              <a:rPr lang="ru-RU" sz="3300" b="1" dirty="0">
                <a:latin typeface="Times New Roman" panose="02020603050405020304" pitchFamily="18" charset="0"/>
              </a:rPr>
              <a:t>Об оценке погрешности решения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9468" y="979464"/>
            <a:ext cx="8256042" cy="4351338"/>
          </a:xfrm>
        </p:spPr>
        <p:txBody>
          <a:bodyPr>
            <a:normAutofit lnSpcReduction="1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Существуют две величины, характеризующие степень отклонения полученного решения от точного: </a:t>
            </a:r>
          </a:p>
          <a:p>
            <a:pPr>
              <a:buFontTx/>
              <a:buChar char="-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погрешность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ru-RU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равная норме разности этих значений: </a:t>
            </a:r>
          </a:p>
          <a:p>
            <a:pPr>
              <a:buFontTx/>
              <a:buChar char="-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невязка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равная разности между левой и правой частями уравнений при подстановке в них полученного решения: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en-US" sz="4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4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Ax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* </a:t>
            </a:r>
            <a:r>
              <a:rPr lang="ru-RU" sz="4000" dirty="0">
                <a:latin typeface="Times New Roman" panose="02020603050405020304" pitchFamily="18" charset="0"/>
              </a:rPr>
              <a:t>–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</a:p>
          <a:p>
            <a:pPr marL="0" indent="0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endParaRPr lang="ru-RU" dirty="0"/>
          </a:p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DD3E25A-D2BF-4C6E-8663-F70E5ABD0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14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43230CBD-E946-4CF3-ACEF-1F2EF8A9B283}"/>
                  </a:ext>
                </a:extLst>
              </p:cNvPr>
              <p:cNvSpPr txBox="1"/>
              <p:nvPr/>
            </p:nvSpPr>
            <p:spPr bwMode="auto">
              <a:xfrm>
                <a:off x="3021433" y="2813309"/>
                <a:ext cx="3101133" cy="785568"/>
              </a:xfrm>
              <a:prstGeom prst="rect">
                <a:avLst/>
              </a:prstGeom>
              <a:noFill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ru-RU" sz="2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/>
                          <m:e>
                            <m:r>
                              <a:rPr lang="ru-RU" sz="26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sz="2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≤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a:rPr lang="en-US" sz="2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sz="2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n-US" sz="2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p>
                                <m:r>
                                  <a:rPr lang="en-US" sz="2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|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Object 7">
                <a:extLst>
                  <a:ext uri="{FF2B5EF4-FFF2-40B4-BE49-F238E27FC236}">
                    <a16:creationId xmlns:a16="http://schemas.microsoft.com/office/drawing/2014/main" id="{43230CBD-E946-4CF3-ACEF-1F2EF8A9B2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21433" y="2813309"/>
                <a:ext cx="3101133" cy="7855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1882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4" name="Text Box 4"/>
          <p:cNvSpPr txBox="1">
            <a:spLocks noChangeArrowheads="1"/>
          </p:cNvSpPr>
          <p:nvPr/>
        </p:nvSpPr>
        <p:spPr bwMode="auto">
          <a:xfrm>
            <a:off x="423082" y="333375"/>
            <a:ext cx="8470094" cy="3493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just">
              <a:spcBef>
                <a:spcPct val="50000"/>
              </a:spcBef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>
              <a:spcBef>
                <a:spcPct val="50000"/>
              </a:spcBef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>
              <a:spcBef>
                <a:spcPct val="50000"/>
              </a:spcBef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>
              <a:spcBef>
                <a:spcPct val="50000"/>
              </a:spcBef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>
              <a:spcBef>
                <a:spcPct val="50000"/>
              </a:spcBef>
            </a:pP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>
              <a:spcBef>
                <a:spcPct val="50000"/>
              </a:spcBef>
            </a:pPr>
            <a:endParaRPr lang="ru-RU" altLang="ru-RU" sz="2600" dirty="0">
              <a:latin typeface="Times New Roman" panose="02020603050405020304" pitchFamily="18" charset="0"/>
            </a:endParaRPr>
          </a:p>
        </p:txBody>
      </p:sp>
      <p:sp>
        <p:nvSpPr>
          <p:cNvPr id="122886" name="Rectangle 6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sp>
        <p:nvSpPr>
          <p:cNvPr id="122888" name="Rectangle 8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sp>
        <p:nvSpPr>
          <p:cNvPr id="122890" name="Rectangle 10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endParaRPr lang="ru-RU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195A4CC-110A-4941-BED4-1036BE201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15</a:t>
            </a:fld>
            <a:endParaRPr lang="ru-RU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8D40C61D-F8AC-461A-ADBE-B72DC9E1C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147" y="123374"/>
            <a:ext cx="7886700" cy="557663"/>
          </a:xfrm>
        </p:spPr>
        <p:txBody>
          <a:bodyPr>
            <a:normAutofit/>
          </a:bodyPr>
          <a:lstStyle/>
          <a:p>
            <a:r>
              <a:rPr lang="ru-RU" sz="3000" b="1" dirty="0">
                <a:latin typeface="Times New Roman" panose="02020603050405020304" pitchFamily="18" charset="0"/>
              </a:rPr>
              <a:t>Пример 1:</a:t>
            </a:r>
            <a:r>
              <a:rPr lang="ru-RU" sz="3000" dirty="0">
                <a:latin typeface="Times New Roman" panose="02020603050405020304" pitchFamily="18" charset="0"/>
              </a:rPr>
              <a:t> Решить СЛАУ методом Гаусса</a:t>
            </a:r>
          </a:p>
        </p:txBody>
      </p:sp>
      <p:pic>
        <p:nvPicPr>
          <p:cNvPr id="1026" name="Picture 2" descr="http://mathprofi.ru/g/metod_gaussa_dlya_chainikov_clip_image056.gif">
            <a:extLst>
              <a:ext uri="{FF2B5EF4-FFF2-40B4-BE49-F238E27FC236}">
                <a16:creationId xmlns:a16="http://schemas.microsoft.com/office/drawing/2014/main" id="{8F4EA015-34CE-49E2-82A9-DAC955BC7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152" y="681037"/>
            <a:ext cx="1756509" cy="1071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mathprofi.ru/g/metod_gaussa_dlya_chainikov_clip_image088.gif">
            <a:extLst>
              <a:ext uri="{FF2B5EF4-FFF2-40B4-BE49-F238E27FC236}">
                <a16:creationId xmlns:a16="http://schemas.microsoft.com/office/drawing/2014/main" id="{4D52E02E-7471-43E0-A1D2-5A0E172CC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966" y="4546571"/>
            <a:ext cx="1579662" cy="1173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5">
            <a:extLst>
              <a:ext uri="{FF2B5EF4-FFF2-40B4-BE49-F238E27FC236}">
                <a16:creationId xmlns:a16="http://schemas.microsoft.com/office/drawing/2014/main" id="{6CB00C37-141B-4D09-A049-AC102F8B9F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082" y="5894686"/>
            <a:ext cx="361509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Ответ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 </a:t>
            </a:r>
            <a:r>
              <a:rPr kumimoji="0" lang="en-US" altLang="ru-RU" sz="2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= 3, </a:t>
            </a:r>
            <a:r>
              <a:rPr kumimoji="0" lang="en-US" altLang="ru-RU" sz="2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= 5, </a:t>
            </a:r>
            <a:r>
              <a:rPr kumimoji="0" lang="en-US" altLang="ru-RU" sz="2400" b="0" i="1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= 4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</a:p>
        </p:txBody>
      </p:sp>
      <p:pic>
        <p:nvPicPr>
          <p:cNvPr id="1034" name="Picture 10" descr="http://mathprofi.ru/g/metod_gaussa_dlya_chainikov_clip_image086.gif">
            <a:extLst>
              <a:ext uri="{FF2B5EF4-FFF2-40B4-BE49-F238E27FC236}">
                <a16:creationId xmlns:a16="http://schemas.microsoft.com/office/drawing/2014/main" id="{6EEE4611-DD61-4272-A2B7-9367EC2823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55" y="2011830"/>
            <a:ext cx="7791092" cy="2269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07158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388D87-2819-4BB8-BA85-63FBD6D13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147" y="123374"/>
            <a:ext cx="7886700" cy="557663"/>
          </a:xfrm>
        </p:spPr>
        <p:txBody>
          <a:bodyPr/>
          <a:lstStyle/>
          <a:p>
            <a:r>
              <a:rPr lang="ru-RU" sz="3000" b="1" dirty="0">
                <a:latin typeface="Times New Roman" panose="02020603050405020304" pitchFamily="18" charset="0"/>
              </a:rPr>
              <a:t>Метод Гаусса с выбором главного  элемента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9EDBD62-194E-4486-9199-AA3E5C143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81" y="681037"/>
            <a:ext cx="8979799" cy="5814430"/>
          </a:xfrm>
        </p:spPr>
        <p:txBody>
          <a:bodyPr>
            <a:normAutofit fontScale="92500" lnSpcReduction="20000"/>
          </a:bodyPr>
          <a:lstStyle/>
          <a:p>
            <a:r>
              <a:rPr lang="ru-RU" dirty="0">
                <a:latin typeface="Times New Roman" panose="02020603050405020304" pitchFamily="18" charset="0"/>
              </a:rPr>
              <a:t>Анализ соотношений метода Гаусса показывает, что погрешности вычисления коэффициентов ведущего уравнения привносятся в соответствующие коэффициенты всех последующих уравнений в долях отношений этих коэффициентов к диагональному (главному) коэффициенту ведущего. </a:t>
            </a:r>
          </a:p>
          <a:p>
            <a:r>
              <a:rPr lang="ru-RU" dirty="0">
                <a:latin typeface="Times New Roman" panose="02020603050405020304" pitchFamily="18" charset="0"/>
              </a:rPr>
              <a:t>В связи с этим привносимая погрешность будет тем меньше, чем меньше доли этих отношений. </a:t>
            </a:r>
          </a:p>
          <a:p>
            <a:r>
              <a:rPr lang="ru-RU" dirty="0">
                <a:latin typeface="Times New Roman" panose="02020603050405020304" pitchFamily="18" charset="0"/>
              </a:rPr>
              <a:t>Поэтому в методе Гаусса с выбором главного элемента на каждом шаге исключения </a:t>
            </a:r>
            <a:r>
              <a:rPr lang="ru-RU" i="1" dirty="0">
                <a:latin typeface="Times New Roman" panose="02020603050405020304" pitchFamily="18" charset="0"/>
              </a:rPr>
              <a:t>i</a:t>
            </a:r>
            <a:r>
              <a:rPr lang="ru-RU" dirty="0">
                <a:latin typeface="Times New Roman" panose="02020603050405020304" pitchFamily="18" charset="0"/>
              </a:rPr>
              <a:t>-го неизвестного в качестве ведущего используется уравнение (с </a:t>
            </a:r>
            <a:r>
              <a:rPr lang="ru-RU" i="1" dirty="0">
                <a:latin typeface="Times New Roman" panose="02020603050405020304" pitchFamily="18" charset="0"/>
              </a:rPr>
              <a:t>i</a:t>
            </a:r>
            <a:r>
              <a:rPr lang="ru-RU" dirty="0">
                <a:latin typeface="Times New Roman" panose="02020603050405020304" pitchFamily="18" charset="0"/>
              </a:rPr>
              <a:t>-го по </a:t>
            </a:r>
            <a:r>
              <a:rPr lang="ru-RU" i="1" dirty="0">
                <a:latin typeface="Times New Roman" panose="02020603050405020304" pitchFamily="18" charset="0"/>
              </a:rPr>
              <a:t>n</a:t>
            </a:r>
            <a:r>
              <a:rPr lang="ru-RU" dirty="0">
                <a:latin typeface="Times New Roman" panose="02020603050405020304" pitchFamily="18" charset="0"/>
              </a:rPr>
              <a:t>-</a:t>
            </a:r>
            <a:r>
              <a:rPr lang="ru-RU" dirty="0" err="1">
                <a:latin typeface="Times New Roman" panose="02020603050405020304" pitchFamily="18" charset="0"/>
              </a:rPr>
              <a:t>ое</a:t>
            </a:r>
            <a:r>
              <a:rPr lang="ru-RU" dirty="0">
                <a:latin typeface="Times New Roman" panose="02020603050405020304" pitchFamily="18" charset="0"/>
              </a:rPr>
              <a:t>), содержащее </a:t>
            </a:r>
            <a:r>
              <a:rPr lang="ru-RU" b="1" dirty="0">
                <a:latin typeface="Times New Roman" panose="02020603050405020304" pitchFamily="18" charset="0"/>
              </a:rPr>
              <a:t>максимальный по модулю коэффициент </a:t>
            </a:r>
            <a:r>
              <a:rPr lang="ru-RU" dirty="0">
                <a:latin typeface="Times New Roman" panose="02020603050405020304" pitchFamily="18" charset="0"/>
              </a:rPr>
              <a:t>– </a:t>
            </a:r>
            <a:r>
              <a:rPr lang="ru-RU" b="1" i="1" dirty="0">
                <a:latin typeface="Times New Roman" panose="02020603050405020304" pitchFamily="18" charset="0"/>
              </a:rPr>
              <a:t>главный элемент</a:t>
            </a:r>
            <a:r>
              <a:rPr lang="ru-RU" dirty="0">
                <a:latin typeface="Times New Roman" panose="02020603050405020304" pitchFamily="18" charset="0"/>
              </a:rPr>
              <a:t>. </a:t>
            </a:r>
          </a:p>
          <a:p>
            <a:r>
              <a:rPr lang="ru-RU" dirty="0">
                <a:latin typeface="Times New Roman" panose="02020603050405020304" pitchFamily="18" charset="0"/>
              </a:rPr>
              <a:t>При этом в качестве него может использоваться один из коэффициентов </a:t>
            </a:r>
            <a:r>
              <a:rPr lang="ru-RU" i="1" dirty="0">
                <a:latin typeface="Times New Roman" panose="02020603050405020304" pitchFamily="18" charset="0"/>
              </a:rPr>
              <a:t>i</a:t>
            </a:r>
            <a:r>
              <a:rPr lang="ru-RU" dirty="0">
                <a:latin typeface="Times New Roman" panose="02020603050405020304" pitchFamily="18" charset="0"/>
              </a:rPr>
              <a:t>-го столбца, </a:t>
            </a:r>
            <a:r>
              <a:rPr lang="ru-RU" i="1" dirty="0">
                <a:latin typeface="Times New Roman" panose="02020603050405020304" pitchFamily="18" charset="0"/>
              </a:rPr>
              <a:t>i</a:t>
            </a:r>
            <a:r>
              <a:rPr lang="ru-RU" dirty="0">
                <a:latin typeface="Times New Roman" panose="02020603050405020304" pitchFamily="18" charset="0"/>
              </a:rPr>
              <a:t>-ой строки или всей непреобразованной части матрицы. </a:t>
            </a:r>
          </a:p>
          <a:p>
            <a:r>
              <a:rPr lang="ru-RU" dirty="0">
                <a:latin typeface="Times New Roman" panose="02020603050405020304" pitchFamily="18" charset="0"/>
              </a:rPr>
              <a:t>Первый подход называется выбором главного элемента по столбцу, второй – по строке, а третий – по всей матрице.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0200B38-2B1E-4AE0-9B6E-7FF8E677A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573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29CEE6-8171-41F6-9528-6BA74F9C9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9144000" cy="981512"/>
          </a:xfrm>
        </p:spPr>
        <p:txBody>
          <a:bodyPr>
            <a:normAutofit/>
          </a:bodyPr>
          <a:lstStyle/>
          <a:p>
            <a:r>
              <a:rPr lang="ru-RU" sz="3000" b="1" dirty="0">
                <a:latin typeface="Times New Roman" panose="02020603050405020304" pitchFamily="18" charset="0"/>
              </a:rPr>
              <a:t>Пример 2: </a:t>
            </a:r>
            <a:r>
              <a:rPr lang="ru-RU" sz="3000" dirty="0">
                <a:latin typeface="Times New Roman" panose="02020603050405020304" pitchFamily="18" charset="0"/>
              </a:rPr>
              <a:t>метод Гаусса с выбором главного элемента по всей матрице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266054-C051-4DED-9424-860F2469B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17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F949D604-1C47-4959-8C50-FF885CA59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201" y="981513"/>
            <a:ext cx="8979799" cy="5814430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</a:rPr>
              <a:t>Пусть дана система линейных уравнений:</a:t>
            </a:r>
          </a:p>
          <a:p>
            <a:endParaRPr lang="ru-RU" dirty="0">
              <a:latin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</a:rPr>
              <a:t>Выбираем максимальный по модулю коэффициент (1.2671). Меняем строки и столбцы и ставим его на место (1, 1) </a:t>
            </a:r>
          </a:p>
          <a:p>
            <a:r>
              <a:rPr lang="en-US" dirty="0">
                <a:latin typeface="Times New Roman" panose="02020603050405020304" pitchFamily="18" charset="0"/>
              </a:rPr>
              <a:t>k – </a:t>
            </a:r>
            <a:r>
              <a:rPr lang="ru-RU" dirty="0">
                <a:latin typeface="Times New Roman" panose="02020603050405020304" pitchFamily="18" charset="0"/>
              </a:rPr>
              <a:t>номер шага.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EDBF9C6-3E01-4887-BF88-FEFC4AD8F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829" y="1443125"/>
            <a:ext cx="6346805" cy="156852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61D6314-D64A-43F8-A5ED-0212D9167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3308" y="4805509"/>
            <a:ext cx="6286500" cy="147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75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3C472BE6-E945-4607-A933-411836F58A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314" y="273662"/>
            <a:ext cx="7886700" cy="4351338"/>
          </a:xfrm>
        </p:spPr>
        <p:txBody>
          <a:bodyPr>
            <a:normAutofit/>
          </a:bodyPr>
          <a:lstStyle/>
          <a:p>
            <a:r>
              <a:rPr lang="ru-RU" sz="2600" dirty="0">
                <a:latin typeface="Times New Roman" panose="02020603050405020304" pitchFamily="18" charset="0"/>
              </a:rPr>
              <a:t>Исключаем х</a:t>
            </a:r>
            <a:r>
              <a:rPr lang="ru-RU" sz="2600" baseline="-25000" dirty="0">
                <a:latin typeface="Times New Roman" panose="02020603050405020304" pitchFamily="18" charset="0"/>
              </a:rPr>
              <a:t>4</a:t>
            </a:r>
            <a:r>
              <a:rPr lang="ru-RU" sz="2600" dirty="0">
                <a:latin typeface="Times New Roman" panose="02020603050405020304" pitchFamily="18" charset="0"/>
              </a:rPr>
              <a:t> из 2-го, 3-го и 4-го уравнений: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5345A3D-81AD-46C0-985C-3C2DF3872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06826B-65FF-45D9-A0E6-4593F8A97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357" y="780395"/>
            <a:ext cx="5838825" cy="143827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755C242-0443-426C-B8CC-2F83EAA23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32" y="2449331"/>
            <a:ext cx="6343650" cy="15621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5A92ED2-7A72-4D65-AB91-7454A7061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368" y="4312583"/>
            <a:ext cx="64008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432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53C7A376-76C1-4280-A4C8-D145B4F92D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04" y="4535910"/>
            <a:ext cx="7886700" cy="1009884"/>
          </a:xfrm>
        </p:spPr>
        <p:txBody>
          <a:bodyPr/>
          <a:lstStyle/>
          <a:p>
            <a:r>
              <a:rPr lang="ru-RU" sz="2600" dirty="0">
                <a:latin typeface="Times New Roman" panose="02020603050405020304" pitchFamily="18" charset="0"/>
              </a:rPr>
              <a:t>Обратным ходом находим все неизвестные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4045140-E0EB-441C-81E1-B0BD447F9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19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380728-7893-4962-8A9E-B24364426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04" y="417789"/>
            <a:ext cx="65151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1925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0" name="Rectangle 2"/>
          <p:cNvSpPr>
            <a:spLocks noGrp="1" noChangeArrowheads="1"/>
          </p:cNvSpPr>
          <p:nvPr>
            <p:ph type="title"/>
          </p:nvPr>
        </p:nvSpPr>
        <p:spPr>
          <a:xfrm>
            <a:off x="232012" y="65088"/>
            <a:ext cx="8443415" cy="774581"/>
          </a:xfrm>
        </p:spPr>
        <p:txBody>
          <a:bodyPr>
            <a:normAutofit fontScale="90000"/>
          </a:bodyPr>
          <a:lstStyle/>
          <a:p>
            <a:pPr algn="ctr"/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4. Итерационны</a:t>
            </a:r>
            <a:r>
              <a:rPr lang="ru-RU" altLang="ru-RU" sz="3000" b="1" dirty="0">
                <a:latin typeface="Times New Roman" panose="02020603050405020304" pitchFamily="18" charset="0"/>
              </a:rPr>
              <a:t>е</a:t>
            </a:r>
            <a:r>
              <a:rPr lang="ru-RU" altLang="ru-RU" sz="3000" b="1" dirty="0">
                <a:effectLst/>
                <a:latin typeface="Times New Roman" panose="02020603050405020304" pitchFamily="18" charset="0"/>
              </a:rPr>
              <a:t> методы:  метод простой итерации</a:t>
            </a:r>
            <a:br>
              <a:rPr lang="ru-RU" altLang="ru-RU" sz="3000" b="1" dirty="0">
                <a:effectLst/>
                <a:latin typeface="Times New Roman" panose="02020603050405020304" pitchFamily="18" charset="0"/>
              </a:rPr>
            </a:br>
            <a:endParaRPr lang="ru-RU" altLang="ru-RU" sz="3000" b="1" dirty="0">
              <a:effectLst/>
              <a:latin typeface="Times New Roman" panose="02020603050405020304" pitchFamily="18" charset="0"/>
            </a:endParaRPr>
          </a:p>
        </p:txBody>
      </p:sp>
      <p:sp>
        <p:nvSpPr>
          <p:cNvPr id="124932" name="Text Box 4"/>
          <p:cNvSpPr txBox="1">
            <a:spLocks noChangeArrowheads="1"/>
          </p:cNvSpPr>
          <p:nvPr/>
        </p:nvSpPr>
        <p:spPr bwMode="auto">
          <a:xfrm>
            <a:off x="539749" y="839669"/>
            <a:ext cx="8344943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ru-RU" altLang="ko-KR" sz="2600" dirty="0">
                <a:latin typeface="Times New Roman" panose="02020603050405020304" pitchFamily="18" charset="0"/>
              </a:rPr>
              <a:t>Рассмотрим метод простой итерации на примере системы из трёх уравнений:</a:t>
            </a: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r>
              <a:rPr lang="ru-RU" altLang="ko-KR" sz="2600" dirty="0">
                <a:latin typeface="Times New Roman" panose="02020603050405020304" pitchFamily="18" charset="0"/>
              </a:rPr>
              <a:t>Выразим </a:t>
            </a:r>
            <a:r>
              <a:rPr lang="ru-RU" altLang="ko-KR" sz="2600" i="1" dirty="0">
                <a:latin typeface="Times New Roman" panose="02020603050405020304" pitchFamily="18" charset="0"/>
              </a:rPr>
              <a:t>x</a:t>
            </a:r>
            <a:r>
              <a:rPr lang="ru-RU" altLang="ko-KR" sz="2600" i="1" baseline="-25000" dirty="0">
                <a:latin typeface="Times New Roman" panose="02020603050405020304" pitchFamily="18" charset="0"/>
              </a:rPr>
              <a:t>1</a:t>
            </a:r>
            <a:r>
              <a:rPr lang="ru-RU" altLang="ko-KR" sz="2600" dirty="0">
                <a:latin typeface="Times New Roman" panose="02020603050405020304" pitchFamily="18" charset="0"/>
              </a:rPr>
              <a:t>,</a:t>
            </a:r>
            <a:r>
              <a:rPr lang="ru-RU" altLang="ko-KR" sz="2600" i="1" dirty="0">
                <a:latin typeface="Times New Roman" panose="02020603050405020304" pitchFamily="18" charset="0"/>
              </a:rPr>
              <a:t> x</a:t>
            </a:r>
            <a:r>
              <a:rPr lang="ru-RU" altLang="ko-KR" sz="2600" i="1" baseline="-25000" dirty="0">
                <a:latin typeface="Times New Roman" panose="02020603050405020304" pitchFamily="18" charset="0"/>
              </a:rPr>
              <a:t>2</a:t>
            </a:r>
            <a:r>
              <a:rPr lang="ru-RU" altLang="ko-KR" sz="2600" i="1" dirty="0"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latin typeface="Times New Roman" panose="02020603050405020304" pitchFamily="18" charset="0"/>
              </a:rPr>
              <a:t>и </a:t>
            </a:r>
            <a:r>
              <a:rPr lang="ru-RU" altLang="ko-KR" sz="2600" i="1" dirty="0">
                <a:latin typeface="Times New Roman" panose="02020603050405020304" pitchFamily="18" charset="0"/>
              </a:rPr>
              <a:t>x</a:t>
            </a:r>
            <a:r>
              <a:rPr lang="ru-RU" altLang="ko-KR" sz="2600" i="1" baseline="-25000" dirty="0">
                <a:latin typeface="Times New Roman" panose="02020603050405020304" pitchFamily="18" charset="0"/>
              </a:rPr>
              <a:t>3</a:t>
            </a:r>
            <a:r>
              <a:rPr lang="ru-RU" altLang="ko-KR" sz="2600" i="1" dirty="0"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latin typeface="Times New Roman" panose="02020603050405020304" pitchFamily="18" charset="0"/>
              </a:rPr>
              <a:t>соответственно из 1-го, 2-го и 3-го уравнений:</a:t>
            </a: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Перепишем последнюю</a:t>
            </a:r>
            <a:r>
              <a:rPr lang="en-US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систему в виде:</a:t>
            </a: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ru-RU" sz="26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4933" name="Object 5"/>
              <p:cNvSpPr txBox="1">
                <a:spLocks noGrp="1"/>
              </p:cNvSpPr>
              <p:nvPr>
                <p:ph idx="1"/>
              </p:nvPr>
            </p:nvSpPr>
            <p:spPr bwMode="auto">
              <a:xfrm>
                <a:off x="2293131" y="1667112"/>
                <a:ext cx="4325383" cy="12668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925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4933" name="Object 5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 bwMode="auto">
              <a:xfrm>
                <a:off x="2293131" y="1667112"/>
                <a:ext cx="4325383" cy="12668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941" name="Object 13"/>
              <p:cNvSpPr txBox="1"/>
              <p:nvPr/>
            </p:nvSpPr>
            <p:spPr bwMode="auto">
              <a:xfrm>
                <a:off x="2486854" y="3429000"/>
                <a:ext cx="6314184" cy="126686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type m:val="lin"/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4941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6854" y="3429000"/>
                <a:ext cx="6314184" cy="12668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B424B49-5CA3-4251-B6CB-AB1486946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20</a:t>
            </a:fld>
            <a:endParaRPr lang="ru-RU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D7F007-326B-4017-A968-2D31F82B10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2A0B34B9-9282-4111-A441-81B757A6ABD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76818371"/>
              </p:ext>
            </p:extLst>
          </p:nvPr>
        </p:nvGraphicFramePr>
        <p:xfrm>
          <a:off x="2690949" y="4963886"/>
          <a:ext cx="3220954" cy="13924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r:id="rId5" imgW="2184400" imgH="939800" progId="Equation.3">
                  <p:embed/>
                </p:oleObj>
              </mc:Choice>
              <mc:Fallback>
                <p:oleObj r:id="rId5" imgW="2184400" imgH="939800" progId="Equation.3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90949" y="4963886"/>
                        <a:ext cx="3220954" cy="139246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290190846"/>
      </p:ext>
    </p:extLst>
  </p:cSld>
  <p:clrMapOvr>
    <a:masterClrMapping/>
  </p:clrMapOvr>
  <p:transition spd="slow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C5C4803-7B64-40A6-B9FA-8D2DA15A1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0638" y="292917"/>
                <a:ext cx="8802733" cy="5942420"/>
              </a:xfrm>
            </p:spPr>
            <p:txBody>
              <a:bodyPr/>
              <a:lstStyle/>
              <a:p>
                <a:pPr>
                  <a:lnSpc>
                    <a:spcPct val="150000"/>
                  </a:lnSpc>
                </a:pP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Правая часть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последней системы определяет отображение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𝐹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600" b="0" i="1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6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 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𝑖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=1,2,…,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𝑛</m:t>
                      </m:r>
                      <m:r>
                        <a:rPr lang="ru-RU" sz="2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</m:oMath>
                  </m:oMathPara>
                </a14:m>
                <a:endParaRPr lang="ru-RU" sz="2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преобразующее точку </a:t>
                </a:r>
                <a:r>
                  <a:rPr lang="en-US" sz="2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:r>
                  <a:rPr lang="en-US" sz="2600" i="1" dirty="0">
                    <a:latin typeface="Times New Roman" panose="02020603050405020304" pitchFamily="18" charset="0"/>
                  </a:rPr>
                  <a:t>x</a:t>
                </a:r>
                <a:r>
                  <a:rPr lang="en-US" sz="2600" baseline="-25000" dirty="0">
                    <a:latin typeface="Times New Roman" panose="02020603050405020304" pitchFamily="18" charset="0"/>
                  </a:rPr>
                  <a:t>1</a:t>
                </a:r>
                <a:r>
                  <a:rPr lang="en-US" sz="2600" dirty="0">
                    <a:latin typeface="Times New Roman" panose="02020603050405020304" pitchFamily="18" charset="0"/>
                  </a:rPr>
                  <a:t>,</a:t>
                </a:r>
                <a:r>
                  <a:rPr lang="ru-RU" sz="2600" dirty="0">
                    <a:latin typeface="Times New Roman" panose="02020603050405020304" pitchFamily="18" charset="0"/>
                  </a:rPr>
                  <a:t> </a:t>
                </a:r>
                <a:r>
                  <a:rPr lang="en-US" sz="2600" i="1" dirty="0">
                    <a:latin typeface="Times New Roman" panose="02020603050405020304" pitchFamily="18" charset="0"/>
                  </a:rPr>
                  <a:t>x</a:t>
                </a:r>
                <a:r>
                  <a:rPr lang="en-US" sz="2600" i="1" baseline="-25000" dirty="0">
                    <a:latin typeface="Times New Roman" panose="02020603050405020304" pitchFamily="18" charset="0"/>
                  </a:rPr>
                  <a:t>2</a:t>
                </a:r>
                <a:r>
                  <a:rPr lang="en-US" sz="2600" dirty="0">
                    <a:latin typeface="Times New Roman" panose="02020603050405020304" pitchFamily="18" charset="0"/>
                  </a:rPr>
                  <a:t>,…, </a:t>
                </a:r>
                <a:r>
                  <a:rPr lang="en-US" sz="2600" i="1" dirty="0" err="1">
                    <a:latin typeface="Times New Roman" panose="02020603050405020304" pitchFamily="18" charset="0"/>
                  </a:rPr>
                  <a:t>x</a:t>
                </a:r>
                <a:r>
                  <a:rPr lang="en-US" sz="2600" i="1" baseline="-25000" dirty="0" err="1">
                    <a:latin typeface="Times New Roman" panose="02020603050405020304" pitchFamily="18" charset="0"/>
                  </a:rPr>
                  <a:t>n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-мерного векторного пространства в точку </a:t>
                </a:r>
                <a:r>
                  <a:rPr lang="en-US" sz="2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(</a:t>
                </a:r>
                <a:r>
                  <a:rPr lang="en-US" sz="2600" i="1" dirty="0">
                    <a:latin typeface="Times New Roman" panose="02020603050405020304" pitchFamily="18" charset="0"/>
                  </a:rPr>
                  <a:t>x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</a:t>
                </a:r>
                <a:r>
                  <a:rPr lang="en-US" sz="2600" baseline="-25000" dirty="0">
                    <a:latin typeface="Times New Roman" panose="02020603050405020304" pitchFamily="18" charset="0"/>
                  </a:rPr>
                  <a:t>1</a:t>
                </a:r>
                <a:r>
                  <a:rPr lang="en-US" sz="2600" dirty="0">
                    <a:latin typeface="Times New Roman" panose="02020603050405020304" pitchFamily="18" charset="0"/>
                  </a:rPr>
                  <a:t>,</a:t>
                </a:r>
                <a:r>
                  <a:rPr lang="ru-RU" sz="2600" dirty="0">
                    <a:latin typeface="Times New Roman" panose="02020603050405020304" pitchFamily="18" charset="0"/>
                  </a:rPr>
                  <a:t> </a:t>
                </a:r>
                <a:r>
                  <a:rPr lang="en-US" sz="2600" i="1" dirty="0">
                    <a:latin typeface="Times New Roman" panose="02020603050405020304" pitchFamily="18" charset="0"/>
                  </a:rPr>
                  <a:t>x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</a:t>
                </a:r>
                <a:r>
                  <a:rPr lang="en-US" sz="2600" i="1" baseline="-25000" dirty="0">
                    <a:latin typeface="Times New Roman" panose="02020603050405020304" pitchFamily="18" charset="0"/>
                  </a:rPr>
                  <a:t>2</a:t>
                </a:r>
                <a:r>
                  <a:rPr lang="en-US" sz="2600" dirty="0">
                    <a:latin typeface="Times New Roman" panose="02020603050405020304" pitchFamily="18" charset="0"/>
                  </a:rPr>
                  <a:t>,…, </a:t>
                </a:r>
                <a:r>
                  <a:rPr lang="en-US" sz="2600" i="1" dirty="0" err="1">
                    <a:latin typeface="Times New Roman" panose="02020603050405020304" pitchFamily="18" charset="0"/>
                  </a:rPr>
                  <a:t>x</a:t>
                </a:r>
                <a:r>
                  <a:rPr lang="en-US" sz="2600" dirty="0" err="1">
                    <a:latin typeface="Times New Roman" panose="02020603050405020304" pitchFamily="18" charset="0"/>
                    <a:cs typeface="Times New Roman" panose="02020603050405020304" pitchFamily="18" charset="0"/>
                    <a:sym typeface="Symbol" panose="05050102010706020507" pitchFamily="18" charset="2"/>
                  </a:rPr>
                  <a:t></a:t>
                </a:r>
                <a:r>
                  <a:rPr lang="en-US" sz="2600" i="1" baseline="-25000" dirty="0" err="1">
                    <a:latin typeface="Times New Roman" panose="02020603050405020304" pitchFamily="18" charset="0"/>
                  </a:rPr>
                  <a:t>n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того же</a:t>
                </a:r>
                <a:r>
                  <a:rPr 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2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пространства. </a:t>
                </a:r>
              </a:p>
              <a:p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C5C4803-7B64-40A6-B9FA-8D2DA15A1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0638" y="292917"/>
                <a:ext cx="8802733" cy="5942420"/>
              </a:xfrm>
              <a:blipFill>
                <a:blip r:embed="rId2"/>
                <a:stretch>
                  <a:fillRect l="-1247" r="-173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9E1C7C-5A87-47C8-8DE2-F0FA007EE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1578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2" name="Text Box 4"/>
          <p:cNvSpPr txBox="1">
            <a:spLocks noChangeArrowheads="1"/>
          </p:cNvSpPr>
          <p:nvPr/>
        </p:nvSpPr>
        <p:spPr bwMode="auto">
          <a:xfrm>
            <a:off x="573206" y="260350"/>
            <a:ext cx="8319969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just"/>
            <a:r>
              <a:rPr lang="ru-RU" altLang="ko-KR" sz="2600" dirty="0">
                <a:latin typeface="Times New Roman" panose="02020603050405020304" pitchFamily="18" charset="0"/>
              </a:rPr>
              <a:t>Зададим </a:t>
            </a:r>
            <a:r>
              <a:rPr lang="ru-RU" altLang="ko-KR" sz="2600" b="1" dirty="0">
                <a:latin typeface="Times New Roman" panose="02020603050405020304" pitchFamily="18" charset="0"/>
              </a:rPr>
              <a:t>начальные (нулевые) приближения </a:t>
            </a:r>
            <a:r>
              <a:rPr lang="ru-RU" altLang="ko-KR" sz="2600" dirty="0">
                <a:latin typeface="Times New Roman" panose="02020603050405020304" pitchFamily="18" charset="0"/>
              </a:rPr>
              <a:t>для неизвестных:</a:t>
            </a: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dirty="0"/>
          </a:p>
          <a:p>
            <a:pPr algn="just"/>
            <a:r>
              <a:rPr lang="ru-RU" altLang="ko-KR" sz="2600" dirty="0">
                <a:latin typeface="Times New Roman" panose="02020603050405020304" pitchFamily="18" charset="0"/>
              </a:rPr>
              <a:t>И подставим их в правую часть соотношений, в результате последовательно получим первое приближение: </a:t>
            </a: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r>
              <a:rPr lang="ru-RU" altLang="ko-KR" sz="2600" dirty="0">
                <a:latin typeface="Times New Roman" panose="02020603050405020304" pitchFamily="18" charset="0"/>
              </a:rPr>
              <a:t>Используя                  , также найдём вторые приближения и так далее.</a:t>
            </a:r>
          </a:p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endParaRPr lang="ru-RU" alt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0053" name="Object 5"/>
              <p:cNvSpPr txBox="1">
                <a:spLocks noGrp="1"/>
              </p:cNvSpPr>
              <p:nvPr>
                <p:ph sz="half" idx="1"/>
              </p:nvPr>
            </p:nvSpPr>
            <p:spPr bwMode="auto">
              <a:xfrm>
                <a:off x="3432665" y="1060695"/>
                <a:ext cx="1439862" cy="5476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ru-RU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  <m:r>
                        <a:rPr lang="ru-RU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ru-RU" sz="3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0053" name="Object 5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 bwMode="auto">
              <a:xfrm>
                <a:off x="3432665" y="1060695"/>
                <a:ext cx="1439862" cy="5476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055" name="Object 7"/>
              <p:cNvSpPr txBox="1">
                <a:spLocks noGrp="1"/>
              </p:cNvSpPr>
              <p:nvPr>
                <p:ph sz="half" idx="2"/>
              </p:nvPr>
            </p:nvSpPr>
            <p:spPr bwMode="auto">
              <a:xfrm>
                <a:off x="1874837" y="3064333"/>
                <a:ext cx="4744077" cy="18360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32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(1)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type m:val="lin"/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sz="32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sz="32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ru-RU" sz="32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(0)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(0)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(1)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sz="3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(0)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(1)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sz="3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sz="32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ru-RU"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0055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 bwMode="auto">
              <a:xfrm>
                <a:off x="1874837" y="3064333"/>
                <a:ext cx="4744077" cy="1836067"/>
              </a:xfrm>
              <a:prstGeom prst="rect">
                <a:avLst/>
              </a:prstGeom>
              <a:blipFill>
                <a:blip r:embed="rId3"/>
                <a:stretch>
                  <a:fillRect t="-166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6FAA568-C611-465E-89FB-A4DF6CCF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22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Object 5">
                <a:extLst>
                  <a:ext uri="{FF2B5EF4-FFF2-40B4-BE49-F238E27FC236}">
                    <a16:creationId xmlns:a16="http://schemas.microsoft.com/office/drawing/2014/main" id="{57807B3D-FE50-4C30-91B7-547B6574B8C5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2355159" y="4968915"/>
                <a:ext cx="1439862" cy="5476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lIns="91440" tIns="45720" rIns="91440" bIns="45720" rtlCol="0">
                <a:normAutofit fontScale="850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:r>
                  <a:rPr lang="ru-RU" dirty="0">
                    <a:solidFill>
                      <a:srgbClr val="000000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ru-RU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ru-RU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Sup>
                      <m:sSubSupPr>
                        <m:ctrlP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ru-RU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  <m:sup>
                        <m:r>
                          <a:rPr lang="ru-RU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10" name="Object 5">
                <a:extLst>
                  <a:ext uri="{FF2B5EF4-FFF2-40B4-BE49-F238E27FC236}">
                    <a16:creationId xmlns:a16="http://schemas.microsoft.com/office/drawing/2014/main" id="{57807B3D-FE50-4C30-91B7-547B6574B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55159" y="4968915"/>
                <a:ext cx="1439862" cy="547687"/>
              </a:xfrm>
              <a:prstGeom prst="rect">
                <a:avLst/>
              </a:prstGeom>
              <a:blipFill>
                <a:blip r:embed="rId4"/>
                <a:stretch>
                  <a:fillRect t="-4444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1735521"/>
      </p:ext>
    </p:extLst>
  </p:cSld>
  <p:clrMapOvr>
    <a:masterClrMapping/>
  </p:clrMapOvr>
  <p:transition spd="slow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5" name="Text Box 5"/>
          <p:cNvSpPr txBox="1">
            <a:spLocks noChangeArrowheads="1"/>
          </p:cNvSpPr>
          <p:nvPr/>
        </p:nvSpPr>
        <p:spPr bwMode="auto">
          <a:xfrm>
            <a:off x="3903663" y="784225"/>
            <a:ext cx="1841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ru-RU" altLang="ru-RU"/>
          </a:p>
        </p:txBody>
      </p:sp>
      <p:sp>
        <p:nvSpPr>
          <p:cNvPr id="133128" name="Text Box 8"/>
          <p:cNvSpPr txBox="1">
            <a:spLocks noChangeArrowheads="1"/>
          </p:cNvSpPr>
          <p:nvPr/>
        </p:nvSpPr>
        <p:spPr bwMode="auto">
          <a:xfrm>
            <a:off x="368490" y="598845"/>
            <a:ext cx="8199603" cy="59708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r>
              <a:rPr lang="ru-RU" altLang="ko-KR" sz="2600" dirty="0">
                <a:latin typeface="Times New Roman" panose="02020603050405020304" pitchFamily="18" charset="0"/>
              </a:rPr>
              <a:t>Итерационный процесс продолжаем, пока </a:t>
            </a:r>
            <a:r>
              <a:rPr lang="ru-RU" altLang="ko-KR" sz="2600" i="1" dirty="0">
                <a:latin typeface="Times New Roman" panose="02020603050405020304" pitchFamily="18" charset="0"/>
              </a:rPr>
              <a:t>    </a:t>
            </a:r>
            <a:r>
              <a:rPr lang="ru-RU" altLang="ko-KR" sz="2600" dirty="0">
                <a:latin typeface="Times New Roman" panose="02020603050405020304" pitchFamily="18" charset="0"/>
              </a:rPr>
              <a:t>не станут близки с заданной погрешностью к </a:t>
            </a:r>
            <a:r>
              <a:rPr lang="ru-RU" altLang="ko-KR" sz="2600" i="1" dirty="0">
                <a:latin typeface="Times New Roman" panose="02020603050405020304" pitchFamily="18" charset="0"/>
              </a:rPr>
              <a:t>         </a:t>
            </a:r>
            <a:r>
              <a:rPr lang="ru-RU" altLang="ko-KR" sz="2600" dirty="0">
                <a:latin typeface="Times New Roman" panose="02020603050405020304" pitchFamily="18" charset="0"/>
              </a:rPr>
              <a:t>.</a:t>
            </a:r>
          </a:p>
          <a:p>
            <a:pPr algn="just"/>
            <a:r>
              <a:rPr lang="ru-RU" altLang="ko-KR" sz="2600" dirty="0">
                <a:latin typeface="Times New Roman" panose="02020603050405020304" pitchFamily="18" charset="0"/>
              </a:rPr>
              <a:t>Достаточным (</a:t>
            </a:r>
            <a:r>
              <a:rPr lang="ru-RU" altLang="ko-KR" sz="2600" b="1" dirty="0">
                <a:latin typeface="Times New Roman" panose="02020603050405020304" pitchFamily="18" charset="0"/>
              </a:rPr>
              <a:t>но не необходимым!</a:t>
            </a:r>
            <a:r>
              <a:rPr lang="ru-RU" altLang="ko-KR" sz="2600" dirty="0">
                <a:latin typeface="Times New Roman" panose="02020603050405020304" pitchFamily="18" charset="0"/>
              </a:rPr>
              <a:t>) условием сходимости итерационного процесса в этом методе является</a:t>
            </a:r>
            <a:r>
              <a:rPr lang="en-US" altLang="ko-KR" sz="2600" dirty="0">
                <a:latin typeface="Times New Roman" panose="02020603050405020304" pitchFamily="18" charset="0"/>
              </a:rPr>
              <a:t> </a:t>
            </a:r>
            <a:r>
              <a:rPr lang="ru-RU" altLang="ko-KR" sz="2600" dirty="0">
                <a:latin typeface="Times New Roman" panose="02020603050405020304" pitchFamily="18" charset="0"/>
              </a:rPr>
              <a:t>преобладание диагональных элементов:</a:t>
            </a:r>
            <a:endParaRPr lang="en-US" altLang="ko-KR" sz="2600" dirty="0">
              <a:latin typeface="Times New Roman" panose="02020603050405020304" pitchFamily="18" charset="0"/>
            </a:endParaRPr>
          </a:p>
          <a:p>
            <a:pPr algn="just"/>
            <a:endParaRPr lang="en-US" altLang="ko-KR" sz="2600" dirty="0">
              <a:latin typeface="Times New Roman" panose="02020603050405020304" pitchFamily="18" charset="0"/>
            </a:endParaRPr>
          </a:p>
          <a:p>
            <a:pPr algn="just"/>
            <a:endParaRPr lang="en-US" altLang="ko-KR" sz="2600" dirty="0">
              <a:latin typeface="Times New Roman" panose="02020603050405020304" pitchFamily="18" charset="0"/>
            </a:endParaRPr>
          </a:p>
          <a:p>
            <a:endParaRPr lang="ru-RU" dirty="0"/>
          </a:p>
          <a:p>
            <a:r>
              <a:rPr lang="ru-RU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этом хотя бы для одного уравнения неравенство должно выполняться строго.</a:t>
            </a:r>
            <a:r>
              <a:rPr lang="ru-RU" altLang="ko-KR" i="1" dirty="0"/>
              <a:t>				</a:t>
            </a:r>
            <a:endParaRPr lang="ru-RU" altLang="ko-KR" sz="2600" dirty="0">
              <a:latin typeface="Times New Roman" panose="02020603050405020304" pitchFamily="18" charset="0"/>
            </a:endParaRPr>
          </a:p>
          <a:p>
            <a:pPr algn="just"/>
            <a:endParaRPr lang="ru-RU" altLang="ru-RU" sz="2600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132" name="Object 12"/>
              <p:cNvSpPr txBox="1">
                <a:spLocks noGrp="1"/>
              </p:cNvSpPr>
              <p:nvPr>
                <p:ph sz="half" idx="1"/>
              </p:nvPr>
            </p:nvSpPr>
            <p:spPr bwMode="auto">
              <a:xfrm>
                <a:off x="1877947" y="567352"/>
                <a:ext cx="4861115" cy="17308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700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type m:val="lin"/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3132" name="Object 12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 bwMode="auto">
              <a:xfrm>
                <a:off x="1877947" y="567352"/>
                <a:ext cx="4861115" cy="1730867"/>
              </a:xfrm>
              <a:prstGeom prst="rect">
                <a:avLst/>
              </a:prstGeom>
              <a:blipFill>
                <a:blip r:embed="rId2"/>
                <a:stretch>
                  <a:fillRect t="-176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146" name="Object 26"/>
              <p:cNvSpPr txBox="1">
                <a:spLocks noGrp="1"/>
              </p:cNvSpPr>
              <p:nvPr>
                <p:ph sz="quarter" idx="2"/>
              </p:nvPr>
            </p:nvSpPr>
            <p:spPr bwMode="auto">
              <a:xfrm>
                <a:off x="5442850" y="2617788"/>
                <a:ext cx="719138" cy="504825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62500" lnSpcReduction="2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−1)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3146" name="Object 26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quarter" idx="2"/>
              </p:nvPr>
            </p:nvSpPr>
            <p:spPr bwMode="auto">
              <a:xfrm>
                <a:off x="5442850" y="2617788"/>
                <a:ext cx="719138" cy="504825"/>
              </a:xfrm>
              <a:prstGeom prst="rect">
                <a:avLst/>
              </a:prstGeom>
              <a:blipFill>
                <a:blip r:embed="rId3"/>
                <a:stretch>
                  <a:fillRect r="-762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137" name="Object 17"/>
              <p:cNvSpPr txBox="1"/>
              <p:nvPr/>
            </p:nvSpPr>
            <p:spPr bwMode="auto">
              <a:xfrm>
                <a:off x="6541128" y="2266726"/>
                <a:ext cx="823912" cy="54768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33137" name="Objec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541128" y="2266726"/>
                <a:ext cx="823912" cy="5476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149" name="Object 29"/>
              <p:cNvSpPr txBox="1">
                <a:spLocks noGrp="1"/>
              </p:cNvSpPr>
              <p:nvPr>
                <p:ph sz="quarter" idx="3"/>
              </p:nvPr>
            </p:nvSpPr>
            <p:spPr bwMode="auto">
              <a:xfrm>
                <a:off x="2516012" y="4317430"/>
                <a:ext cx="4025116" cy="9490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rmAutofit fontScale="85000" lnSpcReduction="10000"/>
              </a:bodyPr>
              <a:lstStyle/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𝑖𝑖</m:t>
                              </m:r>
                            </m:sub>
                          </m:sSub>
                        </m:e>
                      </m:d>
                      <m:r>
                        <a:rPr lang="ru-RU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nary>
                        <m:naryPr>
                          <m:chr m:val="∑"/>
                          <m:supHide m:val="on"/>
                          <m:ctrlP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=1,2,...,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</m:e>
                      </m:nary>
                    </m:oMath>
                  </m:oMathPara>
                </a14:m>
                <a:endParaRPr lang="ru-RU"/>
              </a:p>
            </p:txBody>
          </p:sp>
        </mc:Choice>
        <mc:Fallback xmlns="">
          <p:sp>
            <p:nvSpPr>
              <p:cNvPr id="133149" name="Object 29"/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ph sz="quarter" idx="3"/>
              </p:nvPr>
            </p:nvSpPr>
            <p:spPr bwMode="auto">
              <a:xfrm>
                <a:off x="2516012" y="4317430"/>
                <a:ext cx="4025116" cy="94901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FD17A77-66FA-4D5B-BDEF-3F9686895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1412E0-DA5B-4395-8C4F-9E21DA2840A8}" type="slidenum">
              <a:rPr lang="ru-RU" altLang="ru-RU" smtClean="0"/>
              <a:pPr/>
              <a:t>23</a:t>
            </a:fld>
            <a:endParaRPr lang="ru-RU" altLang="ru-RU"/>
          </a:p>
        </p:txBody>
      </p:sp>
    </p:spTree>
    <p:extLst>
      <p:ext uri="{BB962C8B-B14F-4D97-AF65-F5344CB8AC3E}">
        <p14:creationId xmlns:p14="http://schemas.microsoft.com/office/powerpoint/2010/main" val="975421014"/>
      </p:ext>
    </p:extLst>
  </p:cSld>
  <p:clrMapOvr>
    <a:masterClrMapping/>
  </p:clrMapOvr>
  <p:transition spd="slow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505819" y="460848"/>
            <a:ext cx="8294231" cy="5895503"/>
          </a:xfrm>
        </p:spPr>
        <p:txBody>
          <a:bodyPr>
            <a:normAutofit/>
          </a:bodyPr>
          <a:lstStyle/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практике наличие сходимости и достижение требуемой точности обычно определяют приближённо: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малом (с заданной допустимой погрешностью) изменении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двух последовательных итерациях, т.е. при малом отличии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от </a:t>
            </a:r>
            <a:r>
              <a:rPr lang="ru-RU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ru-RU" i="1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</a:t>
            </a:r>
            <a:r>
              <a:rPr lang="ru-RU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процесс прекращается, и происходит вывод значений неизвестных, полученных на последней итерации.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E3D1612-16D0-4DFC-B204-8F1DB2148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89032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935226CA-0BF2-46EB-BCB7-6262F666C5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25</a:t>
            </a:fld>
            <a:endParaRPr lang="ru-RU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13968C30-3250-4C6D-9FA8-3588B007D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164" y="4802706"/>
            <a:ext cx="8725500" cy="3837539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Если система не является плохо обусловленной, то в качестве критерия окончания итерационного процесса можно использовать условие малости невязки: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5C32FBD-8988-4990-B914-E228D92F6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7587" y="5930900"/>
            <a:ext cx="2028825" cy="7905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99C50A0F-3D69-4028-87CB-F4D2E8CDF83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09250" y="0"/>
                <a:ext cx="8725500" cy="480270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ru-RU" sz="2400" b="1" dirty="0">
                    <a:solidFill>
                      <a:srgbClr val="19191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Достаточное условие сходимости итерационного процесса</a:t>
                </a:r>
              </a:p>
              <a:p>
                <a:r>
                  <a:rPr lang="ru-RU" sz="2400" dirty="0">
                    <a:solidFill>
                      <a:srgbClr val="19191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практическом применении метода простой итерации удобно рассматривать систему линейных уравнений в пространстве </a:t>
                </a:r>
                <a:br>
                  <a:rPr lang="ru-RU" sz="2400" dirty="0">
                    <a:solidFill>
                      <a:srgbClr val="19191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2400" dirty="0">
                    <a:solidFill>
                      <a:srgbClr val="19191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с одной из следующих трёх метрик: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40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40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ru-RU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ru-RU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rgbClr val="191919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1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≤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≤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lim>
                          </m:limLow>
                        </m:fName>
                        <m:e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</m:func>
                    </m:oMath>
                  </m:oMathPara>
                </a14:m>
                <a:endParaRPr lang="en-US" sz="2400" dirty="0">
                  <a:solidFill>
                    <a:srgbClr val="19191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rgbClr val="19191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40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40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ru-RU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b="0" i="1" smtClean="0">
                          <a:solidFill>
                            <a:srgbClr val="191919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lang="en-US" sz="2400" dirty="0">
                  <a:solidFill>
                    <a:srgbClr val="19191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:endParaRPr lang="en-US" sz="2400" dirty="0">
                  <a:solidFill>
                    <a:srgbClr val="19191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ru-RU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  <m:r>
                            <a:rPr lang="en-US" sz="2400" i="1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sz="2400" i="1">
                          <a:solidFill>
                            <a:srgbClr val="191919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400" b="0" i="1" smtClean="0">
                              <a:solidFill>
                                <a:srgbClr val="191919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en-US" sz="2400" i="1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2400" b="0" i="1" smtClean="0">
                                  <a:solidFill>
                                    <a:srgbClr val="191919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400" i="1" smtClean="0">
                                      <a:solidFill>
                                        <a:srgbClr val="191919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ru-RU" sz="2400" b="0" i="1" smtClean="0">
                                      <a:solidFill>
                                        <a:srgbClr val="191919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solidFill>
                                        <a:srgbClr val="191919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′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solidFill>
                                            <a:srgbClr val="191919"/>
                                          </a:solidFill>
                                          <a:latin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ru-RU" sz="2400" b="0" i="1" smtClean="0">
                                      <a:solidFill>
                                        <a:srgbClr val="191919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ru-RU" sz="2400" b="0" i="1" smtClean="0">
                                      <a:solidFill>
                                        <a:srgbClr val="191919"/>
                                      </a:solidFill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ru-RU" sz="2400" dirty="0">
                  <a:solidFill>
                    <a:srgbClr val="19191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" name="Объект 2">
                <a:extLst>
                  <a:ext uri="{FF2B5EF4-FFF2-40B4-BE49-F238E27FC236}">
                    <a16:creationId xmlns:a16="http://schemas.microsoft.com/office/drawing/2014/main" id="{99C50A0F-3D69-4028-87CB-F4D2E8CDF8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250" y="0"/>
                <a:ext cx="8725500" cy="4802706"/>
              </a:xfrm>
              <a:prstGeom prst="rect">
                <a:avLst/>
              </a:prstGeom>
              <a:blipFill>
                <a:blip r:embed="rId3"/>
                <a:stretch>
                  <a:fillRect l="-908" t="-15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6864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D68BF2-5203-461B-B20F-4CFD0BC28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26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495189-199E-4BF6-A653-9E48BDAB0EB2}"/>
              </a:ext>
            </a:extLst>
          </p:cNvPr>
          <p:cNvSpPr txBox="1"/>
          <p:nvPr/>
        </p:nvSpPr>
        <p:spPr>
          <a:xfrm>
            <a:off x="22695" y="37916"/>
            <a:ext cx="867809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algn="just"/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Для того чтобы отображение </a:t>
            </a:r>
            <a:r>
              <a:rPr lang="ru-RU" sz="26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заданное в метрическом пространстве, заданное системой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7CA7920-C4FB-424F-ACD5-7B47F03AA3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8" name="Объект 7">
            <a:extLst>
              <a:ext uri="{FF2B5EF4-FFF2-40B4-BE49-F238E27FC236}">
                <a16:creationId xmlns:a16="http://schemas.microsoft.com/office/drawing/2014/main" id="{1D56A4FC-9229-43F8-80F5-0C482D8C0AA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60769"/>
              </p:ext>
            </p:extLst>
          </p:nvPr>
        </p:nvGraphicFramePr>
        <p:xfrm>
          <a:off x="2751909" y="968115"/>
          <a:ext cx="3219664" cy="13919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1" r:id="rId3" imgW="2184400" imgH="939800" progId="Equation.3">
                  <p:embed/>
                </p:oleObj>
              </mc:Choice>
              <mc:Fallback>
                <p:oleObj r:id="rId3" imgW="2184400" imgH="939800" progId="Equation.3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1909" y="968115"/>
                        <a:ext cx="3219664" cy="139190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B2C22A-1FC5-4352-84F3-D8628789F9B0}"/>
                  </a:ext>
                </a:extLst>
              </p:cNvPr>
              <p:cNvSpPr txBox="1"/>
              <p:nvPr/>
            </p:nvSpPr>
            <p:spPr>
              <a:xfrm>
                <a:off x="165463" y="2290688"/>
                <a:ext cx="8813074" cy="31870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sz="2600" dirty="0">
                    <a:latin typeface="Times New Roman" panose="02020603050405020304" pitchFamily="18" charset="0"/>
                  </a:rPr>
                  <a:t>было сжимающим отображением, достаточно выполнения одного из следующих условий:</a:t>
                </a:r>
              </a:p>
              <a:p>
                <a:pPr marL="514350" indent="-514350">
                  <a:lnSpc>
                    <a:spcPct val="150000"/>
                  </a:lnSpc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8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600" dirty="0">
                    <a:latin typeface="Times New Roman" panose="02020603050405020304" pitchFamily="18" charset="0"/>
                  </a:rPr>
                  <a:t>:</a:t>
                </a:r>
              </a:p>
              <a:p>
                <a:pPr marL="514350" indent="-514350">
                  <a:lnSpc>
                    <a:spcPct val="150000"/>
                  </a:lnSpc>
                  <a:buFontTx/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8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400" dirty="0">
                    <a:latin typeface="Times New Roman" panose="02020603050405020304" pitchFamily="18" charset="0"/>
                  </a:rPr>
                  <a:t>:</a:t>
                </a:r>
              </a:p>
              <a:p>
                <a:pPr marL="514350" indent="-514350">
                  <a:lnSpc>
                    <a:spcPct val="150000"/>
                  </a:lnSpc>
                  <a:buFontTx/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8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8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ru-RU" sz="2400" dirty="0">
                    <a:latin typeface="Times New Roman" panose="02020603050405020304" pitchFamily="18" charset="0"/>
                  </a:rPr>
                  <a:t>:</a:t>
                </a:r>
              </a:p>
              <a:p>
                <a:pPr marL="514350" indent="-514350">
                  <a:buAutoNum type="arabicParenR"/>
                </a:pPr>
                <a:endParaRPr lang="ru-RU" sz="2600" dirty="0">
                  <a:latin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3B2C22A-1FC5-4352-84F3-D8628789F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463" y="2290688"/>
                <a:ext cx="8813074" cy="3187026"/>
              </a:xfrm>
              <a:prstGeom prst="rect">
                <a:avLst/>
              </a:prstGeom>
              <a:blipFill>
                <a:blip r:embed="rId5"/>
                <a:stretch>
                  <a:fillRect l="-1245" t="-17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7">
            <a:extLst>
              <a:ext uri="{FF2B5EF4-FFF2-40B4-BE49-F238E27FC236}">
                <a16:creationId xmlns:a16="http://schemas.microsoft.com/office/drawing/2014/main" id="{DD18EB8B-4AC8-4D15-88E0-AB73AF1B8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85785" y="3272567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5" name="Объект 14">
            <a:extLst>
              <a:ext uri="{FF2B5EF4-FFF2-40B4-BE49-F238E27FC236}">
                <a16:creationId xmlns:a16="http://schemas.microsoft.com/office/drawing/2014/main" id="{DF6F8242-77BB-46EA-BE91-2B1FAC8A66B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65566505"/>
              </p:ext>
            </p:extLst>
          </p:nvPr>
        </p:nvGraphicFramePr>
        <p:xfrm>
          <a:off x="5324825" y="3093083"/>
          <a:ext cx="1964244" cy="7505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2" r:id="rId6" imgW="1167893" imgH="444307" progId="Equation.3">
                  <p:embed/>
                </p:oleObj>
              </mc:Choice>
              <mc:Fallback>
                <p:oleObj r:id="rId6" imgW="1167893" imgH="444307" progId="Equation.3">
                  <p:embed/>
                  <p:pic>
                    <p:nvPicPr>
                      <p:cNvPr id="0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4825" y="3093083"/>
                        <a:ext cx="1964244" cy="75056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C92073AC-3835-4852-AE93-A655B08EBF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4825" y="3891248"/>
            <a:ext cx="1702992" cy="662275"/>
          </a:xfrm>
          <a:prstGeom prst="rect">
            <a:avLst/>
          </a:prstGeom>
        </p:spPr>
      </p:pic>
      <p:sp>
        <p:nvSpPr>
          <p:cNvPr id="17" name="Rectangle 9">
            <a:extLst>
              <a:ext uri="{FF2B5EF4-FFF2-40B4-BE49-F238E27FC236}">
                <a16:creationId xmlns:a16="http://schemas.microsoft.com/office/drawing/2014/main" id="{A28BB6A7-58FC-44F5-8261-5484FF1D52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0103" y="4720236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8" name="Объект 17">
            <a:extLst>
              <a:ext uri="{FF2B5EF4-FFF2-40B4-BE49-F238E27FC236}">
                <a16:creationId xmlns:a16="http://schemas.microsoft.com/office/drawing/2014/main" id="{060C7EA8-78DD-4D70-8264-4CDB904C612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91336474"/>
              </p:ext>
            </p:extLst>
          </p:nvPr>
        </p:nvGraphicFramePr>
        <p:xfrm>
          <a:off x="5324825" y="4595141"/>
          <a:ext cx="1855046" cy="7574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3" r:id="rId9" imgW="1143000" imgH="469900" progId="Equation.3">
                  <p:embed/>
                </p:oleObj>
              </mc:Choice>
              <mc:Fallback>
                <p:oleObj r:id="rId9" imgW="1143000" imgH="469900" progId="Equation.3">
                  <p:embed/>
                  <p:pic>
                    <p:nvPicPr>
                      <p:cNvPr id="0" name="Object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24825" y="4595141"/>
                        <a:ext cx="1855046" cy="75747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68155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990C5F-0FA7-4B0C-BC4E-E4A6DCDB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1C7349-F241-4256-A218-FC5A12E565B7}"/>
              </a:ext>
            </a:extLst>
          </p:cNvPr>
          <p:cNvSpPr txBox="1"/>
          <p:nvPr/>
        </p:nvSpPr>
        <p:spPr>
          <a:xfrm>
            <a:off x="330927" y="692616"/>
            <a:ext cx="8813073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/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Таким образом, получаем формулу, позволяющую установить момент прекращения итерационного процесса при достижении заданной точности результата </a:t>
            </a:r>
            <a:r>
              <a:rPr lang="ru-RU" sz="26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ε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</p:txBody>
      </p:sp>
      <p:graphicFrame>
        <p:nvGraphicFramePr>
          <p:cNvPr id="7" name="Объект 6">
            <a:extLst>
              <a:ext uri="{FF2B5EF4-FFF2-40B4-BE49-F238E27FC236}">
                <a16:creationId xmlns:a16="http://schemas.microsoft.com/office/drawing/2014/main" id="{C903C2A3-8365-4A87-BA39-E32E380A3D1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56967737"/>
              </p:ext>
            </p:extLst>
          </p:nvPr>
        </p:nvGraphicFramePr>
        <p:xfrm>
          <a:off x="2734491" y="2037308"/>
          <a:ext cx="3176999" cy="7753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9" r:id="rId3" imgW="1600200" imgH="393700" progId="Equation.3">
                  <p:embed/>
                </p:oleObj>
              </mc:Choice>
              <mc:Fallback>
                <p:oleObj r:id="rId3" imgW="1600200" imgH="393700" progId="Equation.3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34491" y="2037308"/>
                        <a:ext cx="3176999" cy="77533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DF7FEDC-245C-4DF8-8D6A-A9A9CC8D1A65}"/>
              </a:ext>
            </a:extLst>
          </p:cNvPr>
          <p:cNvSpPr txBox="1"/>
          <p:nvPr/>
        </p:nvSpPr>
        <p:spPr>
          <a:xfrm>
            <a:off x="418011" y="2864677"/>
            <a:ext cx="8438606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</a:rPr>
              <a:t>где </a:t>
            </a:r>
            <a:r>
              <a:rPr lang="ru-RU" sz="2600" i="1" dirty="0">
                <a:latin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ru-RU" sz="2600" dirty="0">
                <a:latin typeface="Times New Roman" panose="02020603050405020304" pitchFamily="18" charset="0"/>
              </a:rPr>
              <a:t> – метрика, по которой была установлена сходимость и получено соответствующее значение </a:t>
            </a:r>
            <a:r>
              <a:rPr lang="ru-RU" sz="2600" i="1" dirty="0">
                <a:latin typeface="Times New Roman" panose="02020603050405020304" pitchFamily="18" charset="0"/>
              </a:rPr>
              <a:t>α</a:t>
            </a:r>
            <a:r>
              <a:rPr lang="ru-RU" sz="2600" dirty="0">
                <a:latin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27625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60F7218-EF9C-41D4-BB7A-58C4F2BDA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28</a:t>
            </a:fld>
            <a:endParaRPr lang="ru-RU"/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6700BF09-DEE7-46DD-A32D-E6B318AFE7C5}"/>
              </a:ext>
            </a:extLst>
          </p:cNvPr>
          <p:cNvSpPr txBox="1">
            <a:spLocks/>
          </p:cNvSpPr>
          <p:nvPr/>
        </p:nvSpPr>
        <p:spPr>
          <a:xfrm>
            <a:off x="93251" y="141725"/>
            <a:ext cx="8887422" cy="5664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5800" b="1" dirty="0">
                <a:latin typeface="Times New Roman" panose="02020603050405020304" pitchFamily="18" charset="0"/>
              </a:rPr>
              <a:t>Пример 3: </a:t>
            </a:r>
            <a:r>
              <a:rPr lang="ru-RU" sz="5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Решить систему методом простой итерации с точностью </a:t>
            </a:r>
            <a:r>
              <a:rPr lang="ru-RU" sz="58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ε </a:t>
            </a:r>
            <a:r>
              <a:rPr lang="ru-RU" sz="5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= 10</a:t>
            </a:r>
            <a:r>
              <a:rPr lang="ru-RU" sz="5800" baseline="30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-4</a:t>
            </a:r>
            <a:r>
              <a:rPr lang="ru-RU" sz="5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endParaRPr lang="ru-RU" sz="2800" b="1" dirty="0">
              <a:latin typeface="Times New Roman" panose="02020603050405020304" pitchFamily="18" charset="0"/>
            </a:endParaRPr>
          </a:p>
        </p:txBody>
      </p:sp>
      <p:graphicFrame>
        <p:nvGraphicFramePr>
          <p:cNvPr id="3" name="Объект 2">
            <a:extLst>
              <a:ext uri="{FF2B5EF4-FFF2-40B4-BE49-F238E27FC236}">
                <a16:creationId xmlns:a16="http://schemas.microsoft.com/office/drawing/2014/main" id="{B60AABEB-6600-4E0D-B7A9-720986F9D5D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4962730"/>
              </p:ext>
            </p:extLst>
          </p:nvPr>
        </p:nvGraphicFramePr>
        <p:xfrm>
          <a:off x="1885949" y="656355"/>
          <a:ext cx="2377123" cy="14377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0" r:id="rId3" imgW="1180588" imgH="710891" progId="Equation.3">
                  <p:embed/>
                </p:oleObj>
              </mc:Choice>
              <mc:Fallback>
                <p:oleObj r:id="rId3" imgW="1180588" imgH="710891" progId="Equation.3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85949" y="656355"/>
                        <a:ext cx="2377123" cy="1437776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Объект 5">
            <a:extLst>
              <a:ext uri="{FF2B5EF4-FFF2-40B4-BE49-F238E27FC236}">
                <a16:creationId xmlns:a16="http://schemas.microsoft.com/office/drawing/2014/main" id="{D72E2F06-8C19-4C90-8897-EE41BF1D90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0043852"/>
              </p:ext>
            </p:extLst>
          </p:nvPr>
        </p:nvGraphicFramePr>
        <p:xfrm>
          <a:off x="5412191" y="552247"/>
          <a:ext cx="2377122" cy="18931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1" r:id="rId5" imgW="1587500" imgH="1270000" progId="Equation.3">
                  <p:embed/>
                </p:oleObj>
              </mc:Choice>
              <mc:Fallback>
                <p:oleObj r:id="rId5" imgW="1587500" imgH="1270000" progId="Equation.3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12191" y="552247"/>
                        <a:ext cx="2377122" cy="1893157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Стрелка: вправо 7">
            <a:extLst>
              <a:ext uri="{FF2B5EF4-FFF2-40B4-BE49-F238E27FC236}">
                <a16:creationId xmlns:a16="http://schemas.microsoft.com/office/drawing/2014/main" id="{4FD687BD-467E-496C-B15E-EB6A8F4B3824}"/>
              </a:ext>
            </a:extLst>
          </p:cNvPr>
          <p:cNvSpPr/>
          <p:nvPr/>
        </p:nvSpPr>
        <p:spPr>
          <a:xfrm>
            <a:off x="4493419" y="1286488"/>
            <a:ext cx="627017" cy="204615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51460D-F6D9-4D30-AA1E-A21230E777C9}"/>
                  </a:ext>
                </a:extLst>
              </p:cNvPr>
              <p:cNvSpPr txBox="1"/>
              <p:nvPr/>
            </p:nvSpPr>
            <p:spPr>
              <a:xfrm>
                <a:off x="243634" y="2952280"/>
                <a:ext cx="5373393" cy="30212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14350" indent="-514350">
                  <a:lnSpc>
                    <a:spcPct val="150000"/>
                  </a:lnSpc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6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sz="2600" dirty="0">
                    <a:latin typeface="Times New Roman" panose="02020603050405020304" pitchFamily="18" charset="0"/>
                  </a:rPr>
                  <a:t>:</a:t>
                </a:r>
                <a:br>
                  <a:rPr lang="ru-RU" sz="2600" dirty="0">
                    <a:latin typeface="Times New Roman" panose="02020603050405020304" pitchFamily="18" charset="0"/>
                  </a:rPr>
                </a:br>
                <a:endParaRPr lang="ru-RU" sz="2600" dirty="0">
                  <a:latin typeface="Times New Roman" panose="02020603050405020304" pitchFamily="18" charset="0"/>
                </a:endParaRPr>
              </a:p>
              <a:p>
                <a:pPr marL="514350" indent="-514350">
                  <a:lnSpc>
                    <a:spcPct val="150000"/>
                  </a:lnSpc>
                  <a:buFontTx/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6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ru-RU" sz="2600" dirty="0">
                    <a:latin typeface="Times New Roman" panose="02020603050405020304" pitchFamily="18" charset="0"/>
                  </a:rPr>
                  <a:t>:</a:t>
                </a:r>
                <a:br>
                  <a:rPr lang="ru-RU" sz="2600" dirty="0">
                    <a:latin typeface="Times New Roman" panose="02020603050405020304" pitchFamily="18" charset="0"/>
                  </a:rPr>
                </a:br>
                <a:endParaRPr lang="ru-RU" sz="2600" dirty="0">
                  <a:latin typeface="Times New Roman" panose="02020603050405020304" pitchFamily="18" charset="0"/>
                </a:endParaRPr>
              </a:p>
              <a:p>
                <a:pPr marL="514350" indent="-514350">
                  <a:lnSpc>
                    <a:spcPct val="150000"/>
                  </a:lnSpc>
                  <a:buFontTx/>
                  <a:buAutoNum type="arabicParenR"/>
                </a:pPr>
                <a:r>
                  <a:rPr lang="ru-RU" sz="2600" dirty="0">
                    <a:latin typeface="Times New Roman" panose="02020603050405020304" pitchFamily="18" charset="0"/>
                  </a:rPr>
                  <a:t>в пространстве с метрикой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260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𝜌</m:t>
                        </m:r>
                      </m:e>
                      <m:sub>
                        <m:r>
                          <a:rPr lang="ru-RU" sz="2600" b="0" i="1" smtClean="0">
                            <a:solidFill>
                              <a:srgbClr val="191919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ru-RU" sz="2600" dirty="0">
                    <a:latin typeface="Times New Roman" panose="020206030504050203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151460D-F6D9-4D30-AA1E-A21230E77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634" y="2952280"/>
                <a:ext cx="5373393" cy="3021276"/>
              </a:xfrm>
              <a:prstGeom prst="rect">
                <a:avLst/>
              </a:prstGeom>
              <a:blipFill>
                <a:blip r:embed="rId7"/>
                <a:stretch>
                  <a:fillRect l="-1816" b="-42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1AEDB280-1412-490E-A6F4-B9A35E691A9B}"/>
              </a:ext>
            </a:extLst>
          </p:cNvPr>
          <p:cNvSpPr txBox="1"/>
          <p:nvPr/>
        </p:nvSpPr>
        <p:spPr>
          <a:xfrm>
            <a:off x="93251" y="2349252"/>
            <a:ext cx="866757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57200" algn="just">
              <a:spcAft>
                <a:spcPts val="600"/>
              </a:spcAft>
            </a:pP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Проверим, является ли полученное отображение сжимающим: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774A125-6E19-4E77-A85D-B9E69AB9C1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6291" y="3610931"/>
            <a:ext cx="5934075" cy="704850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4DE9D6E-45F7-4E64-893D-430632DBB48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04391" y="4797006"/>
            <a:ext cx="5895975" cy="69532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3775FF9C-151B-4664-9A10-ED2E5AEFDA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24836" y="5973556"/>
            <a:ext cx="57912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51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4BDE368-D2E0-4170-A6AB-E0D22E3F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29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09169-1E06-41AA-BEFE-5DAD45785F91}"/>
              </a:ext>
            </a:extLst>
          </p:cNvPr>
          <p:cNvSpPr txBox="1"/>
          <p:nvPr/>
        </p:nvSpPr>
        <p:spPr>
          <a:xfrm>
            <a:off x="228722" y="2837184"/>
            <a:ext cx="8410179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Примем в качестве начального приближения точку </a:t>
            </a:r>
            <a:b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 координатами </a:t>
            </a:r>
            <a:r>
              <a:rPr lang="en-US" sz="2600" i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</a:t>
            </a:r>
            <a:r>
              <a:rPr lang="ru-RU" sz="2600" baseline="30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(0)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(0, 0, 0) и подставим е</a:t>
            </a:r>
            <a:r>
              <a:rPr lang="ru-RU" sz="2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ё</a:t>
            </a:r>
            <a:r>
              <a:rPr lang="ru-RU" sz="26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 полученную систему. </a:t>
            </a:r>
            <a:endParaRPr lang="ru-RU" sz="2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B3AA43-6B4A-4CB4-894D-711C9DFAA287}"/>
              </a:ext>
            </a:extLst>
          </p:cNvPr>
          <p:cNvSpPr txBox="1"/>
          <p:nvPr/>
        </p:nvSpPr>
        <p:spPr>
          <a:xfrm>
            <a:off x="228722" y="210571"/>
            <a:ext cx="8549517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600" dirty="0">
                <a:latin typeface="Times New Roman" panose="02020603050405020304" pitchFamily="18" charset="0"/>
              </a:rPr>
              <a:t>В данном случае можно взять любую из метрик. Возьмём, например, третью (</a:t>
            </a:r>
            <a:r>
              <a:rPr lang="ru-RU" sz="2600" i="1" dirty="0">
                <a:latin typeface="Times New Roman" panose="02020603050405020304" pitchFamily="18" charset="0"/>
              </a:rPr>
              <a:t>α = </a:t>
            </a:r>
            <a:r>
              <a:rPr lang="ru-RU" sz="2600" dirty="0">
                <a:latin typeface="Times New Roman" panose="02020603050405020304" pitchFamily="18" charset="0"/>
              </a:rPr>
              <a:t>0,1) и организуем итерационный процесс. Условием окончания этого процесса является выполнение неравенства:</a:t>
            </a:r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22CC6B23-4388-4330-8B74-8BBB1350F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graphicFrame>
        <p:nvGraphicFramePr>
          <p:cNvPr id="13" name="Объект 12">
            <a:extLst>
              <a:ext uri="{FF2B5EF4-FFF2-40B4-BE49-F238E27FC236}">
                <a16:creationId xmlns:a16="http://schemas.microsoft.com/office/drawing/2014/main" id="{7BF8148F-D461-473F-A5D5-604A610F3E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7096098"/>
              </p:ext>
            </p:extLst>
          </p:nvPr>
        </p:nvGraphicFramePr>
        <p:xfrm>
          <a:off x="2574489" y="1903342"/>
          <a:ext cx="3718643" cy="8521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4" r:id="rId3" imgW="1828800" imgH="419100" progId="Equation.3">
                  <p:embed/>
                </p:oleObj>
              </mc:Choice>
              <mc:Fallback>
                <p:oleObj r:id="rId3" imgW="1828800" imgH="419100" progId="Equation.3">
                  <p:embed/>
                  <p:pic>
                    <p:nvPicPr>
                      <p:cNvPr id="0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4489" y="1903342"/>
                        <a:ext cx="3718643" cy="85218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0B5461B-ECFE-4A33-AB95-1FFDDB031F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7156" y="4129846"/>
            <a:ext cx="3776582" cy="263931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8F78398D-56B9-49DE-ACEF-BBB95A923CBF}"/>
              </a:ext>
            </a:extLst>
          </p:cNvPr>
          <p:cNvSpPr txBox="1"/>
          <p:nvPr/>
        </p:nvSpPr>
        <p:spPr>
          <a:xfrm>
            <a:off x="2857517" y="4129846"/>
            <a:ext cx="1157134" cy="2685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0</a:t>
            </a:r>
          </a:p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latin typeface="Times New Roman" panose="02020603050405020304" pitchFamily="18" charset="0"/>
              </a:rPr>
              <a:t>1</a:t>
            </a:r>
          </a:p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latin typeface="Times New Roman" panose="02020603050405020304" pitchFamily="18" charset="0"/>
              </a:rPr>
              <a:t>2</a:t>
            </a:r>
          </a:p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latin typeface="Times New Roman" panose="02020603050405020304" pitchFamily="18" charset="0"/>
              </a:rPr>
              <a:t>3</a:t>
            </a:r>
          </a:p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latin typeface="Times New Roman" panose="02020603050405020304" pitchFamily="18" charset="0"/>
              </a:rPr>
              <a:t>4</a:t>
            </a:r>
          </a:p>
          <a:p>
            <a:pPr>
              <a:spcAft>
                <a:spcPts val="300"/>
              </a:spcAft>
            </a:pPr>
            <a:r>
              <a:rPr lang="ru-RU" sz="2600" dirty="0">
                <a:solidFill>
                  <a:srgbClr val="00B050"/>
                </a:solidFill>
                <a:latin typeface="Times New Roman" panose="02020603050405020304" pitchFamily="18" charset="0"/>
              </a:rPr>
              <a:t>5</a:t>
            </a:r>
            <a:endParaRPr lang="ru-RU" sz="2600" dirty="0">
              <a:solidFill>
                <a:srgbClr val="00B05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FD957B-F29C-428B-95E8-C8CA0F42FADF}"/>
              </a:ext>
            </a:extLst>
          </p:cNvPr>
          <p:cNvSpPr txBox="1"/>
          <p:nvPr/>
        </p:nvSpPr>
        <p:spPr>
          <a:xfrm>
            <a:off x="2406452" y="3842167"/>
            <a:ext cx="1178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00B05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Итерация</a:t>
            </a:r>
            <a:endParaRPr lang="ru-RU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97790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97786D29-C63D-4B73-BEC5-926AD0442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2011" y="818946"/>
            <a:ext cx="8517705" cy="3492996"/>
          </a:xfrm>
        </p:spPr>
        <p:txBody>
          <a:bodyPr/>
          <a:lstStyle/>
          <a:p>
            <a:r>
              <a:rPr lang="ru-RU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Метод Гаусса-Зейделя </a:t>
            </a:r>
            <a:r>
              <a:rPr lang="ru-RU" i="1" dirty="0">
                <a:solidFill>
                  <a:srgbClr val="191919"/>
                </a:solidFill>
                <a:latin typeface="Georgia" panose="02040502050405020303" pitchFamily="18" charset="0"/>
              </a:rPr>
              <a:t>(метод Зейделя, метод последовательных замещений) 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представляет собой некоторую модификацию метода простой итерации. </a:t>
            </a:r>
          </a:p>
          <a:p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Основная его идея заключается в том, что при вычислении (</a:t>
            </a:r>
            <a:r>
              <a:rPr lang="ru-RU" b="0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k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+1)-го приближения неизвестной </a:t>
            </a:r>
            <a:r>
              <a:rPr lang="ru-RU" b="0" i="1" dirty="0" err="1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x</a:t>
            </a:r>
            <a:r>
              <a:rPr lang="ru-RU" b="0" i="1" baseline="-25000" dirty="0" err="1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i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 учитываются уже вычисленные ранее (</a:t>
            </a:r>
            <a:r>
              <a:rPr lang="ru-RU" b="0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k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+1)</a:t>
            </a:r>
            <a:r>
              <a:rPr lang="en-US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-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е приближения неизвестных </a:t>
            </a:r>
            <a:r>
              <a:rPr lang="ru-RU" b="0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x</a:t>
            </a:r>
            <a:r>
              <a:rPr lang="ru-RU" b="0" i="0" baseline="-2500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, </a:t>
            </a:r>
            <a:r>
              <a:rPr lang="ru-RU" b="0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х</a:t>
            </a:r>
            <a:r>
              <a:rPr lang="ru-RU" b="0" i="0" baseline="-2500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2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, ..., </a:t>
            </a:r>
            <a:r>
              <a:rPr lang="ru-RU" b="0" i="1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x</a:t>
            </a:r>
            <a:r>
              <a:rPr lang="ru-RU" b="0" i="1" baseline="-2500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i-</a:t>
            </a:r>
            <a:r>
              <a:rPr lang="ru-RU" b="0" baseline="-2500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1</a:t>
            </a:r>
            <a:r>
              <a:rPr lang="ru-RU" b="0" i="0" dirty="0">
                <a:solidFill>
                  <a:srgbClr val="191919"/>
                </a:solidFill>
                <a:effectLst/>
                <a:latin typeface="Georgia" panose="02040502050405020303" pitchFamily="18" charset="0"/>
              </a:rPr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028F7B-C7C5-4B1C-85C9-BC99C526E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30</a:t>
            </a:fld>
            <a:endParaRPr lang="ru-RU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C331941C-68CC-425A-8326-0E590C6BFED1}"/>
              </a:ext>
            </a:extLst>
          </p:cNvPr>
          <p:cNvSpPr txBox="1">
            <a:spLocks noChangeArrowheads="1"/>
          </p:cNvSpPr>
          <p:nvPr/>
        </p:nvSpPr>
        <p:spPr>
          <a:xfrm>
            <a:off x="232012" y="65089"/>
            <a:ext cx="8802931" cy="8828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altLang="ru-RU" sz="3000" b="1" dirty="0">
                <a:latin typeface="Times New Roman" panose="02020603050405020304" pitchFamily="18" charset="0"/>
              </a:rPr>
              <a:t>Итерационные методы:  метод Гаусса-Зейделя </a:t>
            </a:r>
            <a:br>
              <a:rPr lang="ru-RU" altLang="ru-RU" sz="3000" b="1" dirty="0">
                <a:latin typeface="Times New Roman" panose="02020603050405020304" pitchFamily="18" charset="0"/>
              </a:rPr>
            </a:br>
            <a:endParaRPr lang="ru-RU" altLang="ru-RU" sz="3000" b="1" dirty="0">
              <a:latin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ct 12">
                <a:extLst>
                  <a:ext uri="{FF2B5EF4-FFF2-40B4-BE49-F238E27FC236}">
                    <a16:creationId xmlns:a16="http://schemas.microsoft.com/office/drawing/2014/main" id="{2102B768-AC90-4C2D-84FF-7AF6B193B6CE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1596835" y="4200365"/>
                <a:ext cx="5416361" cy="190682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lIns="91440" tIns="45720" rIns="91440" bIns="45720" rtlCol="0">
                <a:normAutofit fontScale="77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f>
                                <m:fPr>
                                  <m:type m:val="lin"/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ru-RU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23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−1)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e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sSubSup>
                                <m:sSubSup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=1/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31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32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ru-RU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  <m:sup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ru-RU" i="1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ru-RU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Object 12">
                <a:extLst>
                  <a:ext uri="{FF2B5EF4-FFF2-40B4-BE49-F238E27FC236}">
                    <a16:creationId xmlns:a16="http://schemas.microsoft.com/office/drawing/2014/main" id="{2102B768-AC90-4C2D-84FF-7AF6B193B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596835" y="4200365"/>
                <a:ext cx="5416361" cy="1906820"/>
              </a:xfrm>
              <a:prstGeom prst="rect">
                <a:avLst/>
              </a:prstGeom>
              <a:blipFill>
                <a:blip r:embed="rId2"/>
                <a:stretch>
                  <a:fillRect t="-1597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38583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EDD320-A3D0-49F7-BEE0-815352F92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62641"/>
            <a:ext cx="2057400" cy="365125"/>
          </a:xfrm>
        </p:spPr>
        <p:txBody>
          <a:bodyPr/>
          <a:lstStyle/>
          <a:p>
            <a:fld id="{DCD7D8EA-FFCD-4294-8EEE-E3C0B3058240}" type="slidenum">
              <a:rPr lang="ru-RU" smtClean="0"/>
              <a:t>31</a:t>
            </a:fld>
            <a:endParaRPr lang="ru-RU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9A9BA6B-D9B9-420B-9327-BE7191DA3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50" y="599007"/>
            <a:ext cx="1896141" cy="1026482"/>
          </a:xfrm>
          <a:prstGeom prst="rect">
            <a:avLst/>
          </a:prstGeom>
        </p:spPr>
      </p:pic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272933D5-5811-4FC4-951B-FF85C8B41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532" y="130234"/>
            <a:ext cx="7886700" cy="473773"/>
          </a:xfrm>
        </p:spPr>
        <p:txBody>
          <a:bodyPr>
            <a:normAutofit fontScale="90000"/>
          </a:bodyPr>
          <a:lstStyle/>
          <a:p>
            <a:r>
              <a:rPr lang="ru-RU" sz="2800" b="1" dirty="0">
                <a:latin typeface="Times New Roman" panose="02020603050405020304" pitchFamily="18" charset="0"/>
              </a:rPr>
              <a:t>Пример 4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82E03C0-5EB1-499F-AD2F-5A9A6311D5A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106" t="9116"/>
          <a:stretch/>
        </p:blipFill>
        <p:spPr>
          <a:xfrm>
            <a:off x="4792562" y="243281"/>
            <a:ext cx="2694088" cy="17495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4E2132D-92D7-4B98-932B-1D373E8A3487}"/>
              </a:ext>
            </a:extLst>
          </p:cNvPr>
          <p:cNvSpPr txBox="1"/>
          <p:nvPr/>
        </p:nvSpPr>
        <p:spPr>
          <a:xfrm>
            <a:off x="251740" y="2006227"/>
            <a:ext cx="7886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В качестве начальных приближений возьмем нули, т.е. примем </a:t>
            </a:r>
            <a:r>
              <a:rPr lang="ru-RU" sz="18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  <a:r>
              <a:rPr lang="ru-RU" sz="1800" b="1" i="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r>
              <a:rPr lang="ru-RU" sz="1800" b="1" i="0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(0)</a:t>
            </a:r>
            <a:r>
              <a:rPr lang="ru-RU" sz="18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 = </a:t>
            </a:r>
            <a:r>
              <a:rPr lang="ru-RU" sz="1800" b="1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x</a:t>
            </a:r>
            <a:r>
              <a:rPr lang="ru-RU" sz="1800" b="1" i="0" baseline="-25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r>
              <a:rPr lang="ru-RU" sz="1800" b="1" i="0" baseline="3000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(0)</a:t>
            </a:r>
            <a:r>
              <a:rPr lang="ru-RU" sz="1800" b="1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= 0.</a:t>
            </a:r>
            <a:endParaRPr lang="ru-RU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990E2AE-5E23-454A-ADF5-5D3E7E1FF7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740" y="2318907"/>
            <a:ext cx="5060489" cy="1740808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3472010-D47D-47BB-B29E-1F54DC57D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740" y="4016478"/>
            <a:ext cx="5643963" cy="1751076"/>
          </a:xfrm>
          <a:prstGeom prst="rect">
            <a:avLst/>
          </a:prstGeom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EA4356E9-B718-4165-BFB8-4061985C1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9471" y="5712103"/>
            <a:ext cx="495960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8096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0,984;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1,981;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2,953;</a:t>
            </a:r>
            <a:endParaRPr kumimoji="0" lang="en-US" altLang="ru-RU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1,015;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1,992;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2,988;</a:t>
            </a:r>
            <a:endParaRPr kumimoji="0" lang="en-US" altLang="ru-RU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(5)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0,999;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(4)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1,993;  x</a:t>
            </a:r>
            <a:r>
              <a:rPr kumimoji="0" lang="en-US" altLang="ru-RU" sz="2000" b="1" i="0" u="none" strike="noStrike" cap="none" normalizeH="0" baseline="-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kumimoji="0" lang="en-US" altLang="ru-RU" sz="2000" b="1" i="0" u="none" strike="noStrike" cap="none" normalizeH="0" baseline="3000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(3)</a:t>
            </a:r>
            <a:r>
              <a:rPr kumimoji="0" lang="en-US" altLang="ru-RU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 =  2,997.</a:t>
            </a:r>
            <a:endParaRPr kumimoji="0" lang="en-US" altLang="ru-RU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Стрелка: вправо 9">
            <a:extLst>
              <a:ext uri="{FF2B5EF4-FFF2-40B4-BE49-F238E27FC236}">
                <a16:creationId xmlns:a16="http://schemas.microsoft.com/office/drawing/2014/main" id="{AEBA4369-0EE1-4DAE-94AF-3176727D28FA}"/>
              </a:ext>
            </a:extLst>
          </p:cNvPr>
          <p:cNvSpPr/>
          <p:nvPr/>
        </p:nvSpPr>
        <p:spPr>
          <a:xfrm>
            <a:off x="3944983" y="1009941"/>
            <a:ext cx="627017" cy="204615"/>
          </a:xfrm>
          <a:prstGeom prst="right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9046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B4FF4-0EAA-4CBF-8634-3AB4D94CC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088" y="18255"/>
            <a:ext cx="9001911" cy="728365"/>
          </a:xfrm>
        </p:spPr>
        <p:txBody>
          <a:bodyPr/>
          <a:lstStyle/>
          <a:p>
            <a:r>
              <a:rPr lang="ru-RU" sz="3000" b="1" dirty="0">
                <a:latin typeface="Times New Roman" panose="02020603050405020304" pitchFamily="18" charset="0"/>
              </a:rPr>
              <a:t>Рекомендации по выбору метода решения СЛАУ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8D1B70B-9D1E-4E3A-BBD1-58D285E658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368" y="911224"/>
            <a:ext cx="8406294" cy="567413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ru-RU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Метод Гаусса удобно применять для систем маленькой и средней размерности (до порядка 10</a:t>
            </a:r>
            <a:r>
              <a:rPr lang="ru-RU" baseline="30000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 Для больших же размерностей или разреженных матриц более эффективными представляются итерационные методы.</a:t>
            </a: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Рекомендуется использовать метод Гаусса с выбором главного элемента по столбцу, как более устойчивый к ошибкам, но при этом не требующий больших дополнительных затрат. </a:t>
            </a:r>
          </a:p>
          <a:p>
            <a:pPr>
              <a:lnSpc>
                <a:spcPct val="120000"/>
              </a:lnSpc>
            </a:pPr>
            <a:r>
              <a:rPr lang="ru-RU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 этом плане метод выбора главного элемента по строке и столбцу представляется менее эффективным, так как требует гораздо больше вычислительных затрат, но даёт небольшую прибавку в точности.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4BFC89F-732C-423C-B7BF-DFED4128C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D7D8EA-FFCD-4294-8EEE-E3C0B3058240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297717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242</TotalTime>
  <Words>1907</Words>
  <PresentationFormat>Экран (4:3)</PresentationFormat>
  <Paragraphs>279</Paragraphs>
  <Slides>32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32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Georgia</vt:lpstr>
      <vt:lpstr>Times New Roman</vt:lpstr>
      <vt:lpstr>Wingdings</vt:lpstr>
      <vt:lpstr>Тема Office</vt:lpstr>
      <vt:lpstr>Equation.3</vt:lpstr>
      <vt:lpstr>Решение систем линейных алгебраических уравнений</vt:lpstr>
      <vt:lpstr>Презентация PowerPoint</vt:lpstr>
      <vt:lpstr>Презентация PowerPoint</vt:lpstr>
      <vt:lpstr>Презентация PowerPoint</vt:lpstr>
      <vt:lpstr> 1. Правило Крамера</vt:lpstr>
      <vt:lpstr> 2. Метод обратной матрицы</vt:lpstr>
      <vt:lpstr>Поиск обратной матрицы</vt:lpstr>
      <vt:lpstr>Примеры</vt:lpstr>
      <vt:lpstr>Презентация PowerPoint</vt:lpstr>
      <vt:lpstr> 3. Метод Гаусса</vt:lpstr>
      <vt:lpstr>Презентация PowerPoint</vt:lpstr>
      <vt:lpstr>Презентация PowerPoint</vt:lpstr>
      <vt:lpstr>Презентация PowerPoint</vt:lpstr>
      <vt:lpstr>Об оценке погрешности решения</vt:lpstr>
      <vt:lpstr>Пример 1: Решить СЛАУ методом Гаусса</vt:lpstr>
      <vt:lpstr>Метод Гаусса с выбором главного  элемента</vt:lpstr>
      <vt:lpstr>Пример 2: метод Гаусса с выбором главного элемента по всей матрице</vt:lpstr>
      <vt:lpstr>Презентация PowerPoint</vt:lpstr>
      <vt:lpstr>Презентация PowerPoint</vt:lpstr>
      <vt:lpstr>4. Итерационные методы:  метод простой итерации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Пример 4</vt:lpstr>
      <vt:lpstr>Рекомендации по выбору метода решения СЛАУ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2021-09-23T19:13:41Z</dcterms:created>
  <dcterms:modified xsi:type="dcterms:W3CDTF">2023-10-02T12:24:52Z</dcterms:modified>
</cp:coreProperties>
</file>