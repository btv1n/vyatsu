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34"/>
  </p:notesMasterIdLst>
  <p:sldIdLst>
    <p:sldId id="256" r:id="rId2"/>
    <p:sldId id="258" r:id="rId3"/>
    <p:sldId id="259" r:id="rId4"/>
    <p:sldId id="260" r:id="rId5"/>
    <p:sldId id="261" r:id="rId6"/>
    <p:sldId id="262" r:id="rId7"/>
    <p:sldId id="275" r:id="rId8"/>
    <p:sldId id="276" r:id="rId9"/>
    <p:sldId id="277" r:id="rId10"/>
    <p:sldId id="263" r:id="rId11"/>
    <p:sldId id="264" r:id="rId12"/>
    <p:sldId id="265" r:id="rId13"/>
    <p:sldId id="266" r:id="rId14"/>
    <p:sldId id="272" r:id="rId15"/>
    <p:sldId id="267" r:id="rId16"/>
    <p:sldId id="280" r:id="rId17"/>
    <p:sldId id="282" r:id="rId18"/>
    <p:sldId id="283" r:id="rId19"/>
    <p:sldId id="284" r:id="rId20"/>
    <p:sldId id="268" r:id="rId21"/>
    <p:sldId id="285" r:id="rId22"/>
    <p:sldId id="269" r:id="rId23"/>
    <p:sldId id="270" r:id="rId24"/>
    <p:sldId id="273" r:id="rId25"/>
    <p:sldId id="271" r:id="rId26"/>
    <p:sldId id="287" r:id="rId27"/>
    <p:sldId id="288" r:id="rId28"/>
    <p:sldId id="274" r:id="rId29"/>
    <p:sldId id="286" r:id="rId30"/>
    <p:sldId id="278" r:id="rId31"/>
    <p:sldId id="279" r:id="rId32"/>
    <p:sldId id="281" r:id="rId3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160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35.wmf"/><Relationship Id="rId2" Type="http://schemas.openxmlformats.org/officeDocument/2006/relationships/image" Target="../media/image34.wmf"/><Relationship Id="rId1" Type="http://schemas.openxmlformats.org/officeDocument/2006/relationships/image" Target="../media/image29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7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39.wmf"/><Relationship Id="rId1" Type="http://schemas.openxmlformats.org/officeDocument/2006/relationships/image" Target="../media/image38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4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3E4A8C-A907-4FC7-8DFF-18ED5F3D3FC2}" type="datetimeFigureOut">
              <a:rPr lang="ru-RU" smtClean="0"/>
              <a:t>02.10.2023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A43563-D090-4FA3-B51B-56A9C083A2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41207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9A03F-C7A7-43F8-9F0A-8867DF3C186D}" type="datetime1">
              <a:rPr lang="ru-RU" smtClean="0"/>
              <a:t>02.10.2023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7D8EA-FFCD-4294-8EEE-E3C0B30582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3222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EA4CE-2EDC-4229-8A02-3E7923854A93}" type="datetime1">
              <a:rPr lang="ru-RU" smtClean="0"/>
              <a:t>02.10.2023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7D8EA-FFCD-4294-8EEE-E3C0B30582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7299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59795-B93F-46EB-866E-838C12A50067}" type="datetime1">
              <a:rPr lang="ru-RU" smtClean="0"/>
              <a:t>02.10.2023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7D8EA-FFCD-4294-8EEE-E3C0B30582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06610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FC8D4-6810-4926-9A80-CDC930DCD6DA}" type="datetime1">
              <a:rPr lang="ru-RU" smtClean="0"/>
              <a:t>02.10.2023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7D8EA-FFCD-4294-8EEE-E3C0B30582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0091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BDFB6-DDD2-4FBD-B138-EE1CEBD33413}" type="datetime1">
              <a:rPr lang="ru-RU" smtClean="0"/>
              <a:t>02.10.2023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7D8EA-FFCD-4294-8EEE-E3C0B30582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7938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93812-AB48-4A49-918D-B1F8D24DBFBA}" type="datetime1">
              <a:rPr lang="ru-RU" smtClean="0"/>
              <a:t>02.10.2023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7D8EA-FFCD-4294-8EEE-E3C0B30582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74241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24626-D19D-4555-AC8E-38229AAB3042}" type="datetime1">
              <a:rPr lang="ru-RU" smtClean="0"/>
              <a:t>02.10.2023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7D8EA-FFCD-4294-8EEE-E3C0B30582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39759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623D1-F5A1-4499-89F5-B9A9996CC0E7}" type="datetime1">
              <a:rPr lang="ru-RU" smtClean="0"/>
              <a:t>02.10.2023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7D8EA-FFCD-4294-8EEE-E3C0B30582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95031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DBE2-D5C6-4E2C-B984-A0978FB40A6C}" type="datetime1">
              <a:rPr lang="ru-RU" smtClean="0"/>
              <a:t>02.10.2023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7D8EA-FFCD-4294-8EEE-E3C0B30582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9372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3E703-A8C8-48A9-B3F9-EF187ED44974}" type="datetime1">
              <a:rPr lang="ru-RU" smtClean="0"/>
              <a:t>02.10.2023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7D8EA-FFCD-4294-8EEE-E3C0B30582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2638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D0965-B782-4DE5-A921-58A5FA5D1822}" type="datetime1">
              <a:rPr lang="ru-RU" smtClean="0"/>
              <a:t>02.10.2023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7D8EA-FFCD-4294-8EEE-E3C0B30582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48664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Заголовок, текст и 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438400" y="228600"/>
            <a:ext cx="6400800" cy="1219200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half" idx="1"/>
          </p:nvPr>
        </p:nvSpPr>
        <p:spPr>
          <a:xfrm>
            <a:off x="2438400" y="1600200"/>
            <a:ext cx="3124200" cy="4495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quarter" idx="2"/>
          </p:nvPr>
        </p:nvSpPr>
        <p:spPr>
          <a:xfrm>
            <a:off x="5715000" y="1600200"/>
            <a:ext cx="3124200" cy="21717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Объект 4"/>
          <p:cNvSpPr>
            <a:spLocks noGrp="1"/>
          </p:cNvSpPr>
          <p:nvPr>
            <p:ph sz="quarter" idx="3"/>
          </p:nvPr>
        </p:nvSpPr>
        <p:spPr>
          <a:xfrm>
            <a:off x="5715000" y="3924300"/>
            <a:ext cx="3124200" cy="21717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Дата 5"/>
          <p:cNvSpPr>
            <a:spLocks noGrp="1"/>
          </p:cNvSpPr>
          <p:nvPr>
            <p:ph type="dt" sz="half" idx="10"/>
          </p:nvPr>
        </p:nvSpPr>
        <p:spPr>
          <a:xfrm>
            <a:off x="152400" y="6248400"/>
            <a:ext cx="1901825" cy="457200"/>
          </a:xfrm>
        </p:spPr>
        <p:txBody>
          <a:bodyPr/>
          <a:lstStyle>
            <a:lvl1pPr>
              <a:defRPr/>
            </a:lvl1pPr>
          </a:lstStyle>
          <a:p>
            <a:fld id="{E5634F0C-BE7B-4473-B12E-2255ED918E30}" type="datetime1">
              <a:rPr lang="ru-RU" altLang="ru-RU" smtClean="0"/>
              <a:t>02.10.2023</a:t>
            </a:fld>
            <a:endParaRPr lang="ru-RU" altLang="ru-RU"/>
          </a:p>
        </p:txBody>
      </p:sp>
      <p:sp>
        <p:nvSpPr>
          <p:cNvPr id="7" name="Нижний колонтитул 6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8" name="Номер слайда 7"/>
          <p:cNvSpPr>
            <a:spLocks noGrp="1"/>
          </p:cNvSpPr>
          <p:nvPr>
            <p:ph type="sldNum" sz="quarter" idx="12"/>
          </p:nvPr>
        </p:nvSpPr>
        <p:spPr>
          <a:xfrm>
            <a:off x="6934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26E668DF-FBD4-4B5A-B8D4-84B3FDBCDBBE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270399213"/>
      </p:ext>
    </p:extLst>
  </p:cSld>
  <p:clrMapOvr>
    <a:masterClrMapping/>
  </p:clrMapOvr>
  <p:transition spd="slow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Заголовок, текст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438400" y="228600"/>
            <a:ext cx="6400800" cy="1219200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half" idx="1"/>
          </p:nvPr>
        </p:nvSpPr>
        <p:spPr>
          <a:xfrm>
            <a:off x="2438400" y="1600200"/>
            <a:ext cx="3124200" cy="4495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5715000" y="1600200"/>
            <a:ext cx="3124200" cy="4495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152400" y="6248400"/>
            <a:ext cx="1901825" cy="457200"/>
          </a:xfrm>
        </p:spPr>
        <p:txBody>
          <a:bodyPr/>
          <a:lstStyle>
            <a:lvl1pPr>
              <a:defRPr/>
            </a:lvl1pPr>
          </a:lstStyle>
          <a:p>
            <a:fld id="{F2B0CD4F-E8EF-4B56-A504-3A798F31658A}" type="datetime1">
              <a:rPr lang="ru-RU" altLang="ru-RU" smtClean="0"/>
              <a:t>02.10.2023</a:t>
            </a:fld>
            <a:endParaRPr lang="ru-RU" alt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934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40FD819B-597F-4C51-BCC6-67776FC76691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476672297"/>
      </p:ext>
    </p:extLst>
  </p:cSld>
  <p:clrMapOvr>
    <a:masterClrMapping/>
  </p:clrMapOvr>
  <p:transition spd="slow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Заголовок, 1 большой объект и 2 маленьких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438400" y="228600"/>
            <a:ext cx="6400800" cy="1219200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2438400" y="1600200"/>
            <a:ext cx="3124200" cy="4495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quarter" idx="2"/>
          </p:nvPr>
        </p:nvSpPr>
        <p:spPr>
          <a:xfrm>
            <a:off x="5715000" y="1600200"/>
            <a:ext cx="3124200" cy="21717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Объект 4"/>
          <p:cNvSpPr>
            <a:spLocks noGrp="1"/>
          </p:cNvSpPr>
          <p:nvPr>
            <p:ph sz="quarter" idx="3"/>
          </p:nvPr>
        </p:nvSpPr>
        <p:spPr>
          <a:xfrm>
            <a:off x="5715000" y="3924300"/>
            <a:ext cx="3124200" cy="21717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Дата 5"/>
          <p:cNvSpPr>
            <a:spLocks noGrp="1"/>
          </p:cNvSpPr>
          <p:nvPr>
            <p:ph type="dt" sz="half" idx="10"/>
          </p:nvPr>
        </p:nvSpPr>
        <p:spPr>
          <a:xfrm>
            <a:off x="152400" y="6248400"/>
            <a:ext cx="1901825" cy="457200"/>
          </a:xfrm>
        </p:spPr>
        <p:txBody>
          <a:bodyPr/>
          <a:lstStyle>
            <a:lvl1pPr>
              <a:defRPr/>
            </a:lvl1pPr>
          </a:lstStyle>
          <a:p>
            <a:fld id="{23A8CFA3-D61F-4E42-90A4-72116BAD0FFF}" type="datetime1">
              <a:rPr lang="ru-RU" altLang="ru-RU" smtClean="0"/>
              <a:t>02.10.2023</a:t>
            </a:fld>
            <a:endParaRPr lang="ru-RU" altLang="ru-RU"/>
          </a:p>
        </p:txBody>
      </p:sp>
      <p:sp>
        <p:nvSpPr>
          <p:cNvPr id="7" name="Нижний колонтитул 6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8" name="Номер слайда 7"/>
          <p:cNvSpPr>
            <a:spLocks noGrp="1"/>
          </p:cNvSpPr>
          <p:nvPr>
            <p:ph type="sldNum" sz="quarter" idx="12"/>
          </p:nvPr>
        </p:nvSpPr>
        <p:spPr>
          <a:xfrm>
            <a:off x="6934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121412E0-DA5B-4395-8C4F-9E21DA2840A8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942426269"/>
      </p:ext>
    </p:extLst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C9DC8E-059A-4083-960D-97B60B52F567}" type="datetime1">
              <a:rPr lang="ru-RU" smtClean="0"/>
              <a:t>02.10.2023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D7D8EA-FFCD-4294-8EEE-E3C0B30582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5355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gif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9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3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0.png"/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8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0.png"/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320.png"/><Relationship Id="rId4" Type="http://schemas.openxmlformats.org/officeDocument/2006/relationships/image" Target="../media/image310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oleObject" Target="../embeddings/oleObject2.bin"/><Relationship Id="rId7" Type="http://schemas.openxmlformats.org/officeDocument/2006/relationships/image" Target="../media/image3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37.png"/><Relationship Id="rId10" Type="http://schemas.openxmlformats.org/officeDocument/2006/relationships/image" Target="../media/image35.wmf"/><Relationship Id="rId4" Type="http://schemas.openxmlformats.org/officeDocument/2006/relationships/image" Target="../media/image29.wmf"/><Relationship Id="rId9" Type="http://schemas.openxmlformats.org/officeDocument/2006/relationships/oleObject" Target="../embeddings/oleObject4.bin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37.w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oleObject" Target="../embeddings/oleObject6.bin"/><Relationship Id="rId7" Type="http://schemas.openxmlformats.org/officeDocument/2006/relationships/image" Target="../media/image42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39.wmf"/><Relationship Id="rId5" Type="http://schemas.openxmlformats.org/officeDocument/2006/relationships/oleObject" Target="../embeddings/oleObject7.bin"/><Relationship Id="rId10" Type="http://schemas.openxmlformats.org/officeDocument/2006/relationships/image" Target="../media/image43.png"/><Relationship Id="rId4" Type="http://schemas.openxmlformats.org/officeDocument/2006/relationships/image" Target="../media/image38.wmf"/><Relationship Id="rId9" Type="http://schemas.openxmlformats.org/officeDocument/2006/relationships/image" Target="../media/image4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45.png"/><Relationship Id="rId4" Type="http://schemas.openxmlformats.org/officeDocument/2006/relationships/image" Target="../media/image44.wmf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545910" y="464024"/>
            <a:ext cx="8161362" cy="3138014"/>
          </a:xfrm>
        </p:spPr>
        <p:txBody>
          <a:bodyPr>
            <a:normAutofit fontScale="90000"/>
          </a:bodyPr>
          <a:lstStyle/>
          <a:p>
            <a:r>
              <a:rPr lang="ru-RU" altLang="ru-RU" b="1" i="1" dirty="0">
                <a:latin typeface="Times New Roman" panose="02020603050405020304" pitchFamily="18" charset="0"/>
              </a:rPr>
              <a:t>Решение систем линейных алгебраических уравнений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06772" y="4311722"/>
            <a:ext cx="6858000" cy="1655762"/>
          </a:xfrm>
        </p:spPr>
        <p:txBody>
          <a:bodyPr>
            <a:normAutofit lnSpcReduction="10000"/>
          </a:bodyPr>
          <a:lstStyle/>
          <a:p>
            <a:pPr marL="609600" indent="-609600" algn="just">
              <a:buClr>
                <a:srgbClr val="6C657F"/>
              </a:buClr>
            </a:pPr>
            <a:r>
              <a:rPr lang="en-US" altLang="ru-RU" i="1" dirty="0">
                <a:latin typeface="Times New Roman" panose="02020603050405020304" pitchFamily="18" charset="0"/>
              </a:rPr>
              <a:t>1</a:t>
            </a:r>
            <a:r>
              <a:rPr lang="ru-RU" altLang="ru-RU" i="1" dirty="0">
                <a:latin typeface="Times New Roman" panose="02020603050405020304" pitchFamily="18" charset="0"/>
              </a:rPr>
              <a:t>. Правило </a:t>
            </a:r>
            <a:r>
              <a:rPr lang="ru-RU" altLang="ru-RU" i="1" dirty="0" err="1">
                <a:latin typeface="Times New Roman" panose="02020603050405020304" pitchFamily="18" charset="0"/>
              </a:rPr>
              <a:t>Крамера</a:t>
            </a:r>
            <a:r>
              <a:rPr lang="ru-RU" altLang="ru-RU" i="1" dirty="0">
                <a:latin typeface="Times New Roman" panose="02020603050405020304" pitchFamily="18" charset="0"/>
              </a:rPr>
              <a:t>.</a:t>
            </a:r>
          </a:p>
          <a:p>
            <a:pPr marL="609600" indent="-609600" algn="just">
              <a:buClr>
                <a:srgbClr val="6C657F"/>
              </a:buClr>
            </a:pPr>
            <a:r>
              <a:rPr lang="ru-RU" altLang="ru-RU" i="1" dirty="0">
                <a:latin typeface="Times New Roman" panose="02020603050405020304" pitchFamily="18" charset="0"/>
              </a:rPr>
              <a:t>2. Метод обратной матрицы.</a:t>
            </a:r>
          </a:p>
          <a:p>
            <a:pPr marL="609600" indent="-609600" algn="just">
              <a:buClr>
                <a:srgbClr val="6C657F"/>
              </a:buClr>
            </a:pPr>
            <a:r>
              <a:rPr lang="ru-RU" altLang="ru-RU" i="1" dirty="0">
                <a:latin typeface="Times New Roman" panose="02020603050405020304" pitchFamily="18" charset="0"/>
              </a:rPr>
              <a:t>3. Метод Гаусса.</a:t>
            </a:r>
          </a:p>
          <a:p>
            <a:pPr marL="609600" indent="-609600" algn="just">
              <a:buClr>
                <a:srgbClr val="6C657F"/>
              </a:buClr>
            </a:pPr>
            <a:r>
              <a:rPr lang="ru-RU" altLang="ru-RU" i="1" dirty="0">
                <a:latin typeface="Times New Roman" panose="02020603050405020304" pitchFamily="18" charset="0"/>
              </a:rPr>
              <a:t>4. Итерационные методы.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656821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41653" y="509077"/>
            <a:ext cx="8709400" cy="5847274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ru-RU" altLang="ko-KR" dirty="0">
                <a:effectLst/>
                <a:latin typeface="Times New Roman" panose="02020603050405020304" pitchFamily="18" charset="0"/>
              </a:rPr>
              <a:t>Методы решения СЛАУ разбиваются на две группы:</a:t>
            </a:r>
            <a:endParaRPr lang="ru-RU" altLang="ko-KR" b="1" dirty="0">
              <a:effectLst/>
              <a:latin typeface="Times New Roman" panose="02020603050405020304" pitchFamily="18" charset="0"/>
            </a:endParaRPr>
          </a:p>
          <a:p>
            <a:pPr marL="0" indent="0" algn="just">
              <a:lnSpc>
                <a:spcPct val="80000"/>
              </a:lnSpc>
              <a:buFont typeface="Wingdings" panose="05000000000000000000" pitchFamily="2" charset="2"/>
              <a:buNone/>
            </a:pPr>
            <a:endParaRPr lang="ru-RU" altLang="ko-KR" b="1" dirty="0">
              <a:effectLst/>
              <a:latin typeface="Times New Roman" panose="02020603050405020304" pitchFamily="18" charset="0"/>
            </a:endParaRPr>
          </a:p>
          <a:p>
            <a:pPr marL="0" indent="0" algn="just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ru-RU" altLang="ko-KR" b="1" dirty="0">
                <a:effectLst/>
                <a:latin typeface="Times New Roman" panose="02020603050405020304" pitchFamily="18" charset="0"/>
              </a:rPr>
              <a:t>точные</a:t>
            </a:r>
            <a:r>
              <a:rPr lang="ru-RU" altLang="ko-KR" dirty="0">
                <a:effectLst/>
                <a:latin typeface="Times New Roman" panose="02020603050405020304" pitchFamily="18" charset="0"/>
              </a:rPr>
              <a:t> (прямые), позволяющие получить решение системы в точном виде за конечное число арифметических операций. </a:t>
            </a:r>
            <a:endParaRPr lang="ru-RU" altLang="ko-KR" dirty="0">
              <a:latin typeface="Times New Roman" panose="02020603050405020304" pitchFamily="18" charset="0"/>
            </a:endParaRPr>
          </a:p>
          <a:p>
            <a:pPr marL="0" indent="0" algn="just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ru-RU" altLang="ko-KR" i="1" dirty="0">
                <a:effectLst/>
                <a:latin typeface="Times New Roman" panose="02020603050405020304" pitchFamily="18" charset="0"/>
              </a:rPr>
              <a:t>Правило Крамера</a:t>
            </a:r>
            <a:r>
              <a:rPr lang="ru-RU" altLang="ko-KR" dirty="0">
                <a:effectLst/>
                <a:latin typeface="Times New Roman" panose="02020603050405020304" pitchFamily="18" charset="0"/>
              </a:rPr>
              <a:t>,</a:t>
            </a:r>
            <a:r>
              <a:rPr lang="ru-RU" altLang="ko-KR" i="1" dirty="0">
                <a:effectLst/>
                <a:latin typeface="Times New Roman" panose="02020603050405020304" pitchFamily="18" charset="0"/>
              </a:rPr>
              <a:t> метод Гаусса</a:t>
            </a:r>
            <a:r>
              <a:rPr lang="ru-RU" altLang="ko-KR" dirty="0">
                <a:effectLst/>
                <a:latin typeface="Times New Roman" panose="02020603050405020304" pitchFamily="18" charset="0"/>
              </a:rPr>
              <a:t>,</a:t>
            </a:r>
            <a:r>
              <a:rPr lang="ru-RU" altLang="ko-KR" i="1" dirty="0">
                <a:effectLst/>
                <a:latin typeface="Times New Roman" panose="02020603050405020304" pitchFamily="18" charset="0"/>
              </a:rPr>
              <a:t> метод обратной матрицы</a:t>
            </a:r>
            <a:r>
              <a:rPr lang="ru-RU" altLang="ko-KR" dirty="0">
                <a:effectLst/>
                <a:latin typeface="Times New Roman" panose="02020603050405020304" pitchFamily="18" charset="0"/>
              </a:rPr>
              <a:t>.</a:t>
            </a:r>
            <a:endParaRPr lang="ru-RU" altLang="ko-KR" b="1" dirty="0">
              <a:effectLst/>
              <a:latin typeface="Times New Roman" panose="02020603050405020304" pitchFamily="18" charset="0"/>
            </a:endParaRPr>
          </a:p>
          <a:p>
            <a:pPr marL="0" indent="0" algn="just">
              <a:lnSpc>
                <a:spcPct val="80000"/>
              </a:lnSpc>
              <a:buFont typeface="Wingdings" panose="05000000000000000000" pitchFamily="2" charset="2"/>
              <a:buNone/>
            </a:pPr>
            <a:endParaRPr lang="ru-RU" altLang="ko-KR" b="1" dirty="0">
              <a:effectLst/>
              <a:latin typeface="Times New Roman" panose="02020603050405020304" pitchFamily="18" charset="0"/>
            </a:endParaRPr>
          </a:p>
          <a:p>
            <a:pPr marL="0" indent="0" algn="just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ru-RU" altLang="ko-KR" b="1" dirty="0">
                <a:effectLst/>
                <a:latin typeface="Times New Roman" panose="02020603050405020304" pitchFamily="18" charset="0"/>
              </a:rPr>
              <a:t>приближенные</a:t>
            </a:r>
            <a:r>
              <a:rPr lang="ru-RU" altLang="ko-KR" dirty="0">
                <a:effectLst/>
                <a:latin typeface="Times New Roman" panose="02020603050405020304" pitchFamily="18" charset="0"/>
              </a:rPr>
              <a:t> (итерационные). В них задаются начальные значения и с помощью некоторого алгоритма проводится цикл уточняющих решение до </a:t>
            </a:r>
            <a:r>
              <a:rPr lang="ru-RU" altLang="ko-KR" dirty="0">
                <a:effectLst/>
                <a:latin typeface="Times New Roman" panose="02020603050405020304" pitchFamily="18" charset="0"/>
                <a:sym typeface="Symbol" panose="05050102010706020507" pitchFamily="18" charset="2"/>
              </a:rPr>
              <a:t></a:t>
            </a:r>
            <a:r>
              <a:rPr lang="ru-RU" altLang="ko-KR" dirty="0">
                <a:effectLst/>
                <a:latin typeface="Times New Roman" panose="02020603050405020304" pitchFamily="18" charset="0"/>
              </a:rPr>
              <a:t> вычислений (итераций). </a:t>
            </a:r>
          </a:p>
          <a:p>
            <a:pPr marL="0" indent="0" algn="just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ru-RU" altLang="ko-KR" dirty="0">
                <a:effectLst/>
                <a:latin typeface="Times New Roman" panose="02020603050405020304" pitchFamily="18" charset="0"/>
              </a:rPr>
              <a:t>Примеры: </a:t>
            </a:r>
            <a:r>
              <a:rPr lang="ru-RU" altLang="ko-KR" i="1" dirty="0">
                <a:effectLst/>
                <a:latin typeface="Times New Roman" panose="02020603050405020304" pitchFamily="18" charset="0"/>
              </a:rPr>
              <a:t>метод простых итераций, метод Гаусса-Зейделя</a:t>
            </a:r>
            <a:r>
              <a:rPr lang="ru-RU" altLang="ko-KR" dirty="0">
                <a:effectLst/>
                <a:latin typeface="Times New Roman" panose="02020603050405020304" pitchFamily="18" charset="0"/>
              </a:rPr>
              <a:t>.</a:t>
            </a:r>
            <a:endParaRPr lang="ru-RU" altLang="ru-RU" dirty="0">
              <a:effectLst/>
              <a:latin typeface="Times New Roman" panose="02020603050405020304" pitchFamily="18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B7307E3-0651-4CC8-AAB1-E151E12FD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7D8EA-FFCD-4294-8EEE-E3C0B3058240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4795891"/>
      </p:ext>
    </p:extLst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68490" y="546099"/>
            <a:ext cx="8470710" cy="5810251"/>
          </a:xfrm>
        </p:spPr>
        <p:txBody>
          <a:bodyPr/>
          <a:lstStyle/>
          <a:p>
            <a:pPr marL="92075" indent="0" algn="ctr">
              <a:buFont typeface="Wingdings" panose="05000000000000000000" pitchFamily="2" charset="2"/>
              <a:buNone/>
              <a:tabLst>
                <a:tab pos="0" algn="l"/>
              </a:tabLst>
            </a:pPr>
            <a:r>
              <a:rPr lang="ru-RU" altLang="ko-KR" sz="3000" b="1" dirty="0">
                <a:latin typeface="Times New Roman" panose="02020603050405020304" pitchFamily="18" charset="0"/>
              </a:rPr>
              <a:t>Постановка задачи</a:t>
            </a:r>
            <a:r>
              <a:rPr lang="ru-RU" altLang="ko-KR" b="1" dirty="0">
                <a:latin typeface="Times New Roman" panose="02020603050405020304" pitchFamily="18" charset="0"/>
              </a:rPr>
              <a:t> </a:t>
            </a:r>
            <a:endParaRPr lang="en-US" altLang="ko-KR" b="1" dirty="0">
              <a:latin typeface="Times New Roman" panose="02020603050405020304" pitchFamily="18" charset="0"/>
              <a:ea typeface="굴림" panose="020B0600000101010101" pitchFamily="34" charset="-127"/>
            </a:endParaRPr>
          </a:p>
          <a:p>
            <a:pPr marL="92075" indent="0" algn="just">
              <a:buFont typeface="Wingdings" panose="05000000000000000000" pitchFamily="2" charset="2"/>
              <a:buNone/>
              <a:tabLst>
                <a:tab pos="0" algn="l"/>
              </a:tabLst>
            </a:pPr>
            <a:r>
              <a:rPr lang="ru-RU" altLang="ko-KR" sz="2600" dirty="0">
                <a:effectLst/>
                <a:latin typeface="Times New Roman" panose="02020603050405020304" pitchFamily="18" charset="0"/>
              </a:rPr>
              <a:t>Пусть дана система линейных алгебраических  уравнений (СЛАУ) </a:t>
            </a:r>
            <a:r>
              <a:rPr lang="en-US" altLang="ko-KR" sz="2600" i="1" dirty="0">
                <a:latin typeface="Times New Roman" panose="02020603050405020304" pitchFamily="18" charset="0"/>
                <a:ea typeface="굴림" panose="020B0600000101010101" pitchFamily="34" charset="-127"/>
              </a:rPr>
              <a:t>n</a:t>
            </a:r>
            <a:r>
              <a:rPr lang="ru-RU" altLang="ko-KR" sz="2600" dirty="0">
                <a:latin typeface="Times New Roman" panose="02020603050405020304" pitchFamily="18" charset="0"/>
                <a:ea typeface="굴림" panose="020B0600000101010101" pitchFamily="34" charset="-127"/>
              </a:rPr>
              <a:t>-</a:t>
            </a:r>
            <a:r>
              <a:rPr lang="ru-RU" altLang="ko-KR" sz="2600" dirty="0" err="1">
                <a:latin typeface="Times New Roman" panose="02020603050405020304" pitchFamily="18" charset="0"/>
                <a:ea typeface="굴림" panose="020B0600000101010101" pitchFamily="34" charset="-127"/>
              </a:rPr>
              <a:t>ного</a:t>
            </a:r>
            <a:r>
              <a:rPr lang="ru-RU" altLang="ko-KR" sz="2600" dirty="0">
                <a:latin typeface="Times New Roman" panose="02020603050405020304" pitchFamily="18" charset="0"/>
                <a:ea typeface="굴림" panose="020B0600000101010101" pitchFamily="34" charset="-127"/>
              </a:rPr>
              <a:t> порядка:</a:t>
            </a:r>
            <a:endParaRPr lang="en-US" altLang="ko-KR" sz="2600" dirty="0">
              <a:effectLst/>
              <a:latin typeface="Times New Roman" panose="02020603050405020304" pitchFamily="18" charset="0"/>
              <a:ea typeface="굴림" panose="020B0600000101010101" pitchFamily="34" charset="-127"/>
            </a:endParaRPr>
          </a:p>
          <a:p>
            <a:pPr marL="92075" indent="0" algn="ctr">
              <a:buFont typeface="Wingdings" panose="05000000000000000000" pitchFamily="2" charset="2"/>
              <a:buNone/>
              <a:tabLst>
                <a:tab pos="0" algn="l"/>
              </a:tabLst>
            </a:pPr>
            <a:r>
              <a:rPr lang="ru-RU" altLang="ko-KR" i="1" dirty="0">
                <a:effectLst/>
                <a:latin typeface="Times New Roman" panose="02020603050405020304" pitchFamily="18" charset="0"/>
              </a:rPr>
              <a:t>а</a:t>
            </a:r>
            <a:r>
              <a:rPr lang="ru-RU" altLang="ko-KR" i="1" baseline="-25000" dirty="0">
                <a:effectLst/>
                <a:latin typeface="Times New Roman" panose="02020603050405020304" pitchFamily="18" charset="0"/>
              </a:rPr>
              <a:t>11</a:t>
            </a:r>
            <a:r>
              <a:rPr lang="ru-RU" altLang="ko-KR" i="1" dirty="0">
                <a:effectLst/>
                <a:latin typeface="Times New Roman" panose="02020603050405020304" pitchFamily="18" charset="0"/>
              </a:rPr>
              <a:t> </a:t>
            </a:r>
            <a:r>
              <a:rPr lang="en-US" altLang="ko-KR" i="1" dirty="0">
                <a:effectLst/>
                <a:latin typeface="Times New Roman" panose="02020603050405020304" pitchFamily="18" charset="0"/>
                <a:ea typeface="굴림" panose="020B0600000101010101" pitchFamily="34" charset="-127"/>
              </a:rPr>
              <a:t>x</a:t>
            </a:r>
            <a:r>
              <a:rPr lang="ru-RU" altLang="ko-KR" i="1" baseline="-25000" dirty="0">
                <a:effectLst/>
                <a:latin typeface="Times New Roman" panose="02020603050405020304" pitchFamily="18" charset="0"/>
              </a:rPr>
              <a:t>1</a:t>
            </a:r>
            <a:r>
              <a:rPr lang="en-US" altLang="ko-KR" i="1" dirty="0">
                <a:effectLst/>
                <a:latin typeface="Times New Roman" panose="02020603050405020304" pitchFamily="18" charset="0"/>
                <a:ea typeface="굴림" panose="020B0600000101010101" pitchFamily="34" charset="-127"/>
              </a:rPr>
              <a:t>   + a</a:t>
            </a:r>
            <a:r>
              <a:rPr lang="ru-RU" altLang="ko-KR" i="1" baseline="-25000" dirty="0">
                <a:effectLst/>
                <a:latin typeface="Times New Roman" panose="02020603050405020304" pitchFamily="18" charset="0"/>
              </a:rPr>
              <a:t>12</a:t>
            </a:r>
            <a:r>
              <a:rPr lang="ru-RU" altLang="ko-KR" dirty="0">
                <a:effectLst/>
                <a:latin typeface="Times New Roman" panose="02020603050405020304" pitchFamily="18" charset="0"/>
              </a:rPr>
              <a:t> </a:t>
            </a:r>
            <a:r>
              <a:rPr lang="en-US" altLang="ko-KR" i="1" dirty="0">
                <a:effectLst/>
                <a:latin typeface="Times New Roman" panose="02020603050405020304" pitchFamily="18" charset="0"/>
                <a:ea typeface="굴림" panose="020B0600000101010101" pitchFamily="34" charset="-127"/>
              </a:rPr>
              <a:t>x</a:t>
            </a:r>
            <a:r>
              <a:rPr lang="ru-RU" altLang="ko-KR" i="1" baseline="-25000" dirty="0">
                <a:effectLst/>
                <a:latin typeface="Times New Roman" panose="02020603050405020304" pitchFamily="18" charset="0"/>
              </a:rPr>
              <a:t>2</a:t>
            </a:r>
            <a:r>
              <a:rPr lang="en-US" altLang="ko-KR" i="1" dirty="0">
                <a:effectLst/>
                <a:latin typeface="Times New Roman" panose="02020603050405020304" pitchFamily="18" charset="0"/>
                <a:ea typeface="굴림" panose="020B0600000101010101" pitchFamily="34" charset="-127"/>
              </a:rPr>
              <a:t> + … + a</a:t>
            </a:r>
            <a:r>
              <a:rPr lang="ru-RU" altLang="ko-KR" i="1" baseline="-25000" dirty="0">
                <a:effectLst/>
                <a:latin typeface="Times New Roman" panose="02020603050405020304" pitchFamily="18" charset="0"/>
              </a:rPr>
              <a:t>1</a:t>
            </a:r>
            <a:r>
              <a:rPr lang="en-US" altLang="ko-KR" i="1" baseline="-25000" dirty="0">
                <a:effectLst/>
                <a:latin typeface="Times New Roman" panose="02020603050405020304" pitchFamily="18" charset="0"/>
                <a:ea typeface="굴림" panose="020B0600000101010101" pitchFamily="34" charset="-127"/>
              </a:rPr>
              <a:t>n</a:t>
            </a:r>
            <a:r>
              <a:rPr lang="ru-RU" altLang="ko-KR" dirty="0">
                <a:effectLst/>
                <a:latin typeface="Times New Roman" panose="02020603050405020304" pitchFamily="18" charset="0"/>
              </a:rPr>
              <a:t> </a:t>
            </a:r>
            <a:r>
              <a:rPr lang="en-US" altLang="ko-KR" i="1" dirty="0" err="1">
                <a:effectLst/>
                <a:latin typeface="Times New Roman" panose="02020603050405020304" pitchFamily="18" charset="0"/>
                <a:ea typeface="굴림" panose="020B0600000101010101" pitchFamily="34" charset="-127"/>
              </a:rPr>
              <a:t>x</a:t>
            </a:r>
            <a:r>
              <a:rPr lang="en-US" altLang="ko-KR" i="1" baseline="-25000" dirty="0" err="1">
                <a:effectLst/>
                <a:latin typeface="Times New Roman" panose="02020603050405020304" pitchFamily="18" charset="0"/>
                <a:ea typeface="굴림" panose="020B0600000101010101" pitchFamily="34" charset="-127"/>
              </a:rPr>
              <a:t>n</a:t>
            </a:r>
            <a:r>
              <a:rPr lang="en-US" altLang="ko-KR" i="1" dirty="0">
                <a:effectLst/>
                <a:latin typeface="Times New Roman" panose="02020603050405020304" pitchFamily="18" charset="0"/>
                <a:ea typeface="굴림" panose="020B0600000101010101" pitchFamily="34" charset="-127"/>
              </a:rPr>
              <a:t> = b</a:t>
            </a:r>
            <a:r>
              <a:rPr lang="en-US" altLang="ko-KR" i="1" baseline="-25000" dirty="0">
                <a:effectLst/>
                <a:latin typeface="Times New Roman" panose="02020603050405020304" pitchFamily="18" charset="0"/>
                <a:ea typeface="굴림" panose="020B0600000101010101" pitchFamily="34" charset="-127"/>
              </a:rPr>
              <a:t>1</a:t>
            </a:r>
          </a:p>
          <a:p>
            <a:pPr marL="92075" indent="0" algn="ctr">
              <a:buFont typeface="Wingdings" panose="05000000000000000000" pitchFamily="2" charset="2"/>
              <a:buNone/>
              <a:tabLst>
                <a:tab pos="0" algn="l"/>
              </a:tabLst>
            </a:pPr>
            <a:r>
              <a:rPr lang="ru-RU" altLang="ko-KR" i="1" dirty="0">
                <a:effectLst/>
                <a:latin typeface="Times New Roman" panose="02020603050405020304" pitchFamily="18" charset="0"/>
              </a:rPr>
              <a:t>а</a:t>
            </a:r>
            <a:r>
              <a:rPr lang="en-US" altLang="ko-KR" i="1" baseline="-25000" dirty="0">
                <a:effectLst/>
                <a:latin typeface="Times New Roman" panose="02020603050405020304" pitchFamily="18" charset="0"/>
                <a:ea typeface="굴림" panose="020B0600000101010101" pitchFamily="34" charset="-127"/>
              </a:rPr>
              <a:t>2</a:t>
            </a:r>
            <a:r>
              <a:rPr lang="ru-RU" altLang="ko-KR" i="1" baseline="-25000" dirty="0">
                <a:effectLst/>
                <a:latin typeface="Times New Roman" panose="02020603050405020304" pitchFamily="18" charset="0"/>
              </a:rPr>
              <a:t>1</a:t>
            </a:r>
            <a:r>
              <a:rPr lang="ru-RU" altLang="ko-KR" i="1" dirty="0">
                <a:effectLst/>
                <a:latin typeface="Times New Roman" panose="02020603050405020304" pitchFamily="18" charset="0"/>
              </a:rPr>
              <a:t> </a:t>
            </a:r>
            <a:r>
              <a:rPr lang="en-US" altLang="ko-KR" i="1" dirty="0">
                <a:effectLst/>
                <a:latin typeface="Times New Roman" panose="02020603050405020304" pitchFamily="18" charset="0"/>
                <a:ea typeface="굴림" panose="020B0600000101010101" pitchFamily="34" charset="-127"/>
              </a:rPr>
              <a:t>x</a:t>
            </a:r>
            <a:r>
              <a:rPr lang="ru-RU" altLang="ko-KR" i="1" baseline="-25000" dirty="0">
                <a:effectLst/>
                <a:latin typeface="Times New Roman" panose="02020603050405020304" pitchFamily="18" charset="0"/>
              </a:rPr>
              <a:t>1</a:t>
            </a:r>
            <a:r>
              <a:rPr lang="en-US" altLang="ko-KR" i="1" dirty="0">
                <a:effectLst/>
                <a:latin typeface="Times New Roman" panose="02020603050405020304" pitchFamily="18" charset="0"/>
                <a:ea typeface="굴림" panose="020B0600000101010101" pitchFamily="34" charset="-127"/>
              </a:rPr>
              <a:t>   + a</a:t>
            </a:r>
            <a:r>
              <a:rPr lang="en-US" altLang="ko-KR" i="1" baseline="-25000" dirty="0">
                <a:effectLst/>
                <a:latin typeface="Times New Roman" panose="02020603050405020304" pitchFamily="18" charset="0"/>
                <a:ea typeface="굴림" panose="020B0600000101010101" pitchFamily="34" charset="-127"/>
              </a:rPr>
              <a:t>2</a:t>
            </a:r>
            <a:r>
              <a:rPr lang="ru-RU" altLang="ko-KR" i="1" baseline="-25000" dirty="0">
                <a:effectLst/>
                <a:latin typeface="Times New Roman" panose="02020603050405020304" pitchFamily="18" charset="0"/>
              </a:rPr>
              <a:t>2</a:t>
            </a:r>
            <a:r>
              <a:rPr lang="ru-RU" altLang="ko-KR" dirty="0">
                <a:effectLst/>
                <a:latin typeface="Times New Roman" panose="02020603050405020304" pitchFamily="18" charset="0"/>
              </a:rPr>
              <a:t> </a:t>
            </a:r>
            <a:r>
              <a:rPr lang="en-US" altLang="ko-KR" i="1" dirty="0">
                <a:effectLst/>
                <a:latin typeface="Times New Roman" panose="02020603050405020304" pitchFamily="18" charset="0"/>
                <a:ea typeface="굴림" panose="020B0600000101010101" pitchFamily="34" charset="-127"/>
              </a:rPr>
              <a:t>x</a:t>
            </a:r>
            <a:r>
              <a:rPr lang="ru-RU" altLang="ko-KR" i="1" baseline="-25000" dirty="0">
                <a:effectLst/>
                <a:latin typeface="Times New Roman" panose="02020603050405020304" pitchFamily="18" charset="0"/>
              </a:rPr>
              <a:t>2</a:t>
            </a:r>
            <a:r>
              <a:rPr lang="en-US" altLang="ko-KR" i="1" dirty="0">
                <a:effectLst/>
                <a:latin typeface="Times New Roman" panose="02020603050405020304" pitchFamily="18" charset="0"/>
                <a:ea typeface="굴림" panose="020B0600000101010101" pitchFamily="34" charset="-127"/>
              </a:rPr>
              <a:t> + … + a</a:t>
            </a:r>
            <a:r>
              <a:rPr lang="en-US" altLang="ko-KR" i="1" baseline="-25000" dirty="0">
                <a:effectLst/>
                <a:latin typeface="Times New Roman" panose="02020603050405020304" pitchFamily="18" charset="0"/>
                <a:ea typeface="굴림" panose="020B0600000101010101" pitchFamily="34" charset="-127"/>
              </a:rPr>
              <a:t>2n</a:t>
            </a:r>
            <a:r>
              <a:rPr lang="ru-RU" altLang="ko-KR" dirty="0">
                <a:effectLst/>
                <a:latin typeface="Times New Roman" panose="02020603050405020304" pitchFamily="18" charset="0"/>
              </a:rPr>
              <a:t> </a:t>
            </a:r>
            <a:r>
              <a:rPr lang="en-US" altLang="ko-KR" i="1" dirty="0" err="1">
                <a:effectLst/>
                <a:latin typeface="Times New Roman" panose="02020603050405020304" pitchFamily="18" charset="0"/>
                <a:ea typeface="굴림" panose="020B0600000101010101" pitchFamily="34" charset="-127"/>
              </a:rPr>
              <a:t>x</a:t>
            </a:r>
            <a:r>
              <a:rPr lang="en-US" altLang="ko-KR" i="1" baseline="-25000" dirty="0" err="1">
                <a:effectLst/>
                <a:latin typeface="Times New Roman" panose="02020603050405020304" pitchFamily="18" charset="0"/>
                <a:ea typeface="굴림" panose="020B0600000101010101" pitchFamily="34" charset="-127"/>
              </a:rPr>
              <a:t>n</a:t>
            </a:r>
            <a:r>
              <a:rPr lang="en-US" altLang="ko-KR" i="1" dirty="0">
                <a:effectLst/>
                <a:latin typeface="Times New Roman" panose="02020603050405020304" pitchFamily="18" charset="0"/>
                <a:ea typeface="굴림" panose="020B0600000101010101" pitchFamily="34" charset="-127"/>
              </a:rPr>
              <a:t> = b</a:t>
            </a:r>
            <a:r>
              <a:rPr lang="en-US" altLang="ko-KR" i="1" baseline="-25000" dirty="0">
                <a:effectLst/>
                <a:latin typeface="Times New Roman" panose="02020603050405020304" pitchFamily="18" charset="0"/>
                <a:ea typeface="굴림" panose="020B0600000101010101" pitchFamily="34" charset="-127"/>
              </a:rPr>
              <a:t>2</a:t>
            </a:r>
            <a:endParaRPr lang="en-US" altLang="ko-KR" i="1" dirty="0">
              <a:effectLst/>
              <a:latin typeface="Times New Roman" panose="02020603050405020304" pitchFamily="18" charset="0"/>
              <a:ea typeface="굴림" panose="020B0600000101010101" pitchFamily="34" charset="-127"/>
            </a:endParaRPr>
          </a:p>
          <a:p>
            <a:pPr marL="92075" indent="0" algn="ctr">
              <a:buFont typeface="Wingdings" panose="05000000000000000000" pitchFamily="2" charset="2"/>
              <a:buNone/>
              <a:tabLst>
                <a:tab pos="0" algn="l"/>
              </a:tabLst>
            </a:pPr>
            <a:r>
              <a:rPr lang="en-US" altLang="ko-KR" i="1" dirty="0">
                <a:effectLst/>
                <a:latin typeface="Times New Roman" panose="02020603050405020304" pitchFamily="18" charset="0"/>
                <a:ea typeface="굴림" panose="020B0600000101010101" pitchFamily="34" charset="-127"/>
              </a:rPr>
              <a:t>……………………………………</a:t>
            </a:r>
          </a:p>
          <a:p>
            <a:pPr marL="92075" indent="0" algn="ctr">
              <a:buFont typeface="Wingdings" panose="05000000000000000000" pitchFamily="2" charset="2"/>
              <a:buNone/>
              <a:tabLst>
                <a:tab pos="0" algn="l"/>
              </a:tabLst>
            </a:pPr>
            <a:r>
              <a:rPr lang="ru-RU" altLang="ko-KR" i="1" dirty="0">
                <a:effectLst/>
                <a:latin typeface="Times New Roman" panose="02020603050405020304" pitchFamily="18" charset="0"/>
              </a:rPr>
              <a:t>а</a:t>
            </a:r>
            <a:r>
              <a:rPr lang="en-US" altLang="ko-KR" i="1" baseline="-25000" dirty="0">
                <a:effectLst/>
                <a:latin typeface="Times New Roman" panose="02020603050405020304" pitchFamily="18" charset="0"/>
                <a:ea typeface="굴림" panose="020B0600000101010101" pitchFamily="34" charset="-127"/>
              </a:rPr>
              <a:t>n</a:t>
            </a:r>
            <a:r>
              <a:rPr lang="ru-RU" altLang="ko-KR" i="1" baseline="-25000" dirty="0">
                <a:effectLst/>
                <a:latin typeface="Times New Roman" panose="02020603050405020304" pitchFamily="18" charset="0"/>
              </a:rPr>
              <a:t>1</a:t>
            </a:r>
            <a:r>
              <a:rPr lang="ru-RU" altLang="ko-KR" i="1" dirty="0">
                <a:effectLst/>
                <a:latin typeface="Times New Roman" panose="02020603050405020304" pitchFamily="18" charset="0"/>
              </a:rPr>
              <a:t> </a:t>
            </a:r>
            <a:r>
              <a:rPr lang="en-US" altLang="ko-KR" i="1" dirty="0">
                <a:effectLst/>
                <a:latin typeface="Times New Roman" panose="02020603050405020304" pitchFamily="18" charset="0"/>
                <a:ea typeface="굴림" panose="020B0600000101010101" pitchFamily="34" charset="-127"/>
              </a:rPr>
              <a:t>x</a:t>
            </a:r>
            <a:r>
              <a:rPr lang="ru-RU" altLang="ko-KR" i="1" baseline="-25000" dirty="0">
                <a:effectLst/>
                <a:latin typeface="Times New Roman" panose="02020603050405020304" pitchFamily="18" charset="0"/>
              </a:rPr>
              <a:t>1</a:t>
            </a:r>
            <a:r>
              <a:rPr lang="en-US" altLang="ko-KR" i="1" dirty="0">
                <a:effectLst/>
                <a:latin typeface="Times New Roman" panose="02020603050405020304" pitchFamily="18" charset="0"/>
                <a:ea typeface="굴림" panose="020B0600000101010101" pitchFamily="34" charset="-127"/>
              </a:rPr>
              <a:t>   + a</a:t>
            </a:r>
            <a:r>
              <a:rPr lang="en-US" altLang="ko-KR" i="1" baseline="-25000" dirty="0">
                <a:effectLst/>
                <a:latin typeface="Times New Roman" panose="02020603050405020304" pitchFamily="18" charset="0"/>
                <a:ea typeface="굴림" panose="020B0600000101010101" pitchFamily="34" charset="-127"/>
              </a:rPr>
              <a:t>n</a:t>
            </a:r>
            <a:r>
              <a:rPr lang="ru-RU" altLang="ko-KR" i="1" baseline="-25000" dirty="0">
                <a:effectLst/>
                <a:latin typeface="Times New Roman" panose="02020603050405020304" pitchFamily="18" charset="0"/>
              </a:rPr>
              <a:t>2</a:t>
            </a:r>
            <a:r>
              <a:rPr lang="ru-RU" altLang="ko-KR" dirty="0">
                <a:effectLst/>
                <a:latin typeface="Times New Roman" panose="02020603050405020304" pitchFamily="18" charset="0"/>
              </a:rPr>
              <a:t> </a:t>
            </a:r>
            <a:r>
              <a:rPr lang="en-US" altLang="ko-KR" i="1" dirty="0">
                <a:effectLst/>
                <a:latin typeface="Times New Roman" panose="02020603050405020304" pitchFamily="18" charset="0"/>
                <a:ea typeface="굴림" panose="020B0600000101010101" pitchFamily="34" charset="-127"/>
              </a:rPr>
              <a:t>x</a:t>
            </a:r>
            <a:r>
              <a:rPr lang="ru-RU" altLang="ko-KR" i="1" baseline="-25000" dirty="0">
                <a:effectLst/>
                <a:latin typeface="Times New Roman" panose="02020603050405020304" pitchFamily="18" charset="0"/>
              </a:rPr>
              <a:t>2</a:t>
            </a:r>
            <a:r>
              <a:rPr lang="en-US" altLang="ko-KR" i="1" dirty="0">
                <a:effectLst/>
                <a:latin typeface="Times New Roman" panose="02020603050405020304" pitchFamily="18" charset="0"/>
                <a:ea typeface="굴림" panose="020B0600000101010101" pitchFamily="34" charset="-127"/>
              </a:rPr>
              <a:t> + … + </a:t>
            </a:r>
            <a:r>
              <a:rPr lang="en-US" altLang="ko-KR" i="1" dirty="0" err="1">
                <a:effectLst/>
                <a:latin typeface="Times New Roman" panose="02020603050405020304" pitchFamily="18" charset="0"/>
                <a:ea typeface="굴림" panose="020B0600000101010101" pitchFamily="34" charset="-127"/>
              </a:rPr>
              <a:t>a</a:t>
            </a:r>
            <a:r>
              <a:rPr lang="en-US" altLang="ko-KR" i="1" baseline="-25000" dirty="0" err="1">
                <a:effectLst/>
                <a:latin typeface="Times New Roman" panose="02020603050405020304" pitchFamily="18" charset="0"/>
                <a:ea typeface="굴림" panose="020B0600000101010101" pitchFamily="34" charset="-127"/>
              </a:rPr>
              <a:t>nn</a:t>
            </a:r>
            <a:r>
              <a:rPr lang="ru-RU" altLang="ko-KR" dirty="0">
                <a:effectLst/>
                <a:latin typeface="Times New Roman" panose="02020603050405020304" pitchFamily="18" charset="0"/>
              </a:rPr>
              <a:t> </a:t>
            </a:r>
            <a:r>
              <a:rPr lang="en-US" altLang="ko-KR" i="1" dirty="0" err="1">
                <a:effectLst/>
                <a:latin typeface="Times New Roman" panose="02020603050405020304" pitchFamily="18" charset="0"/>
                <a:ea typeface="굴림" panose="020B0600000101010101" pitchFamily="34" charset="-127"/>
              </a:rPr>
              <a:t>x</a:t>
            </a:r>
            <a:r>
              <a:rPr lang="en-US" altLang="ko-KR" i="1" baseline="-25000" dirty="0" err="1">
                <a:effectLst/>
                <a:latin typeface="Times New Roman" panose="02020603050405020304" pitchFamily="18" charset="0"/>
                <a:ea typeface="굴림" panose="020B0600000101010101" pitchFamily="34" charset="-127"/>
              </a:rPr>
              <a:t>n</a:t>
            </a:r>
            <a:r>
              <a:rPr lang="en-US" altLang="ko-KR" i="1" dirty="0">
                <a:effectLst/>
                <a:latin typeface="Times New Roman" panose="02020603050405020304" pitchFamily="18" charset="0"/>
                <a:ea typeface="굴림" panose="020B0600000101010101" pitchFamily="34" charset="-127"/>
              </a:rPr>
              <a:t> = </a:t>
            </a:r>
            <a:r>
              <a:rPr lang="en-US" altLang="ko-KR" i="1" dirty="0" err="1">
                <a:effectLst/>
                <a:latin typeface="Times New Roman" panose="02020603050405020304" pitchFamily="18" charset="0"/>
                <a:ea typeface="굴림" panose="020B0600000101010101" pitchFamily="34" charset="-127"/>
              </a:rPr>
              <a:t>b</a:t>
            </a:r>
            <a:r>
              <a:rPr lang="en-US" altLang="ko-KR" i="1" baseline="-25000" dirty="0" err="1">
                <a:effectLst/>
                <a:latin typeface="Times New Roman" panose="02020603050405020304" pitchFamily="18" charset="0"/>
                <a:ea typeface="굴림" panose="020B0600000101010101" pitchFamily="34" charset="-127"/>
              </a:rPr>
              <a:t>n</a:t>
            </a:r>
            <a:endParaRPr lang="en-US" altLang="ko-KR" i="1" dirty="0">
              <a:effectLst/>
              <a:latin typeface="Times New Roman" panose="02020603050405020304" pitchFamily="18" charset="0"/>
              <a:ea typeface="굴림" panose="020B0600000101010101" pitchFamily="34" charset="-127"/>
            </a:endParaRPr>
          </a:p>
          <a:p>
            <a:pPr marL="92075" indent="0" algn="just">
              <a:buFont typeface="Wingdings" panose="05000000000000000000" pitchFamily="2" charset="2"/>
              <a:buNone/>
              <a:tabLst>
                <a:tab pos="0" algn="l"/>
              </a:tabLst>
            </a:pPr>
            <a:r>
              <a:rPr lang="ru-RU" altLang="ko-KR" i="1" dirty="0">
                <a:effectLst/>
                <a:latin typeface="Times New Roman" panose="02020603050405020304" pitchFamily="18" charset="0"/>
              </a:rPr>
              <a:t>а</a:t>
            </a:r>
            <a:r>
              <a:rPr lang="en-US" altLang="ko-KR" i="1" baseline="-25000" dirty="0" err="1">
                <a:effectLst/>
                <a:latin typeface="Times New Roman" panose="02020603050405020304" pitchFamily="18" charset="0"/>
              </a:rPr>
              <a:t>ij</a:t>
            </a:r>
            <a:r>
              <a:rPr lang="en-US" altLang="ko-KR" i="1" dirty="0">
                <a:effectLst/>
                <a:latin typeface="Times New Roman" panose="02020603050405020304" pitchFamily="18" charset="0"/>
              </a:rPr>
              <a:t> </a:t>
            </a:r>
            <a:r>
              <a:rPr lang="en-US" altLang="ko-KR" dirty="0">
                <a:effectLst/>
                <a:latin typeface="Times New Roman" panose="02020603050405020304" pitchFamily="18" charset="0"/>
              </a:rPr>
              <a:t>– </a:t>
            </a:r>
            <a:r>
              <a:rPr lang="ru-RU" altLang="ko-KR" dirty="0">
                <a:effectLst/>
                <a:latin typeface="Times New Roman" panose="02020603050405020304" pitchFamily="18" charset="0"/>
              </a:rPr>
              <a:t>числовые коэффициенты</a:t>
            </a:r>
            <a:r>
              <a:rPr lang="ru-RU" altLang="ko-KR" i="1" dirty="0">
                <a:effectLst/>
                <a:latin typeface="Times New Roman" panose="02020603050405020304" pitchFamily="18" charset="0"/>
              </a:rPr>
              <a:t>, </a:t>
            </a:r>
            <a:r>
              <a:rPr lang="en-US" altLang="ko-KR" i="1" dirty="0">
                <a:effectLst/>
                <a:latin typeface="Times New Roman" panose="02020603050405020304" pitchFamily="18" charset="0"/>
              </a:rPr>
              <a:t>b</a:t>
            </a:r>
            <a:r>
              <a:rPr lang="en-US" altLang="ko-KR" i="1" baseline="-25000" dirty="0">
                <a:effectLst/>
                <a:latin typeface="Times New Roman" panose="02020603050405020304" pitchFamily="18" charset="0"/>
              </a:rPr>
              <a:t>i</a:t>
            </a:r>
            <a:r>
              <a:rPr lang="ru-RU" altLang="ko-KR" i="1" dirty="0">
                <a:effectLst/>
                <a:latin typeface="Times New Roman" panose="02020603050405020304" pitchFamily="18" charset="0"/>
              </a:rPr>
              <a:t> </a:t>
            </a:r>
            <a:r>
              <a:rPr lang="en-US" altLang="ko-KR" dirty="0">
                <a:effectLst/>
                <a:latin typeface="Times New Roman" panose="02020603050405020304" pitchFamily="18" charset="0"/>
              </a:rPr>
              <a:t>–</a:t>
            </a:r>
            <a:r>
              <a:rPr lang="ru-RU" altLang="ko-KR" i="1" dirty="0">
                <a:effectLst/>
                <a:latin typeface="Times New Roman" panose="02020603050405020304" pitchFamily="18" charset="0"/>
              </a:rPr>
              <a:t> </a:t>
            </a:r>
            <a:r>
              <a:rPr lang="ru-RU" altLang="ko-KR" dirty="0">
                <a:effectLst/>
                <a:latin typeface="Times New Roman" panose="02020603050405020304" pitchFamily="18" charset="0"/>
              </a:rPr>
              <a:t>свободные члены.</a:t>
            </a:r>
          </a:p>
          <a:p>
            <a:pPr marL="92075" indent="0" algn="just">
              <a:buFont typeface="Wingdings" panose="05000000000000000000" pitchFamily="2" charset="2"/>
              <a:buNone/>
              <a:tabLst>
                <a:tab pos="0" algn="l"/>
              </a:tabLst>
            </a:pPr>
            <a:r>
              <a:rPr lang="ru-RU" b="1" i="1" dirty="0">
                <a:latin typeface="Times New Roman" panose="02020603050405020304" pitchFamily="18" charset="0"/>
              </a:rPr>
              <a:t>Решением </a:t>
            </a:r>
            <a:r>
              <a:rPr lang="ru-RU" dirty="0">
                <a:latin typeface="Times New Roman" panose="02020603050405020304" pitchFamily="18" charset="0"/>
              </a:rPr>
              <a:t>СЛАУ называется такой набор значений неизвестных </a:t>
            </a:r>
            <a:r>
              <a:rPr lang="en-US" sz="2400" i="1" dirty="0">
                <a:latin typeface="Times New Roman" panose="02020603050405020304" pitchFamily="18" charset="0"/>
              </a:rPr>
              <a:t>x</a:t>
            </a:r>
            <a:r>
              <a:rPr lang="en-US" baseline="-25000" dirty="0">
                <a:latin typeface="Times New Roman" panose="02020603050405020304" pitchFamily="18" charset="0"/>
              </a:rPr>
              <a:t>1</a:t>
            </a:r>
            <a:r>
              <a:rPr lang="en-US" baseline="30000" dirty="0">
                <a:latin typeface="Times New Roman" panose="02020603050405020304" pitchFamily="18" charset="0"/>
              </a:rPr>
              <a:t>0</a:t>
            </a:r>
            <a:r>
              <a:rPr lang="en-US" dirty="0">
                <a:latin typeface="Times New Roman" panose="02020603050405020304" pitchFamily="18" charset="0"/>
              </a:rPr>
              <a:t>,</a:t>
            </a:r>
            <a:r>
              <a:rPr lang="ru-RU" dirty="0">
                <a:latin typeface="Times New Roman" panose="02020603050405020304" pitchFamily="18" charset="0"/>
              </a:rPr>
              <a:t> </a:t>
            </a:r>
            <a:r>
              <a:rPr lang="en-US" sz="2400" i="1" dirty="0">
                <a:latin typeface="Times New Roman" panose="02020603050405020304" pitchFamily="18" charset="0"/>
              </a:rPr>
              <a:t>x</a:t>
            </a:r>
            <a:r>
              <a:rPr lang="en-US" sz="2400" i="1" baseline="-25000" dirty="0">
                <a:latin typeface="Times New Roman" panose="02020603050405020304" pitchFamily="18" charset="0"/>
              </a:rPr>
              <a:t>2</a:t>
            </a:r>
            <a:r>
              <a:rPr lang="en-US" baseline="30000" dirty="0">
                <a:latin typeface="Times New Roman" panose="02020603050405020304" pitchFamily="18" charset="0"/>
              </a:rPr>
              <a:t>0</a:t>
            </a:r>
            <a:r>
              <a:rPr lang="en-US" dirty="0">
                <a:latin typeface="Times New Roman" panose="02020603050405020304" pitchFamily="18" charset="0"/>
              </a:rPr>
              <a:t>,…, </a:t>
            </a:r>
            <a:r>
              <a:rPr lang="en-US" sz="2400" i="1" dirty="0">
                <a:latin typeface="Times New Roman" panose="02020603050405020304" pitchFamily="18" charset="0"/>
              </a:rPr>
              <a:t>x</a:t>
            </a:r>
            <a:r>
              <a:rPr lang="en-US" sz="2400" i="1" baseline="-25000" dirty="0">
                <a:latin typeface="Times New Roman" panose="02020603050405020304" pitchFamily="18" charset="0"/>
              </a:rPr>
              <a:t>n</a:t>
            </a:r>
            <a:r>
              <a:rPr lang="en-US" baseline="30000" dirty="0">
                <a:latin typeface="Times New Roman" panose="02020603050405020304" pitchFamily="18" charset="0"/>
              </a:rPr>
              <a:t>0</a:t>
            </a:r>
            <a:r>
              <a:rPr lang="ru-RU" dirty="0">
                <a:latin typeface="Times New Roman" panose="02020603050405020304" pitchFamily="18" charset="0"/>
              </a:rPr>
              <a:t>, который при подстановке их</a:t>
            </a:r>
            <a:r>
              <a:rPr lang="en-US" dirty="0">
                <a:latin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</a:rPr>
              <a:t>в каждое уравнение СЛАУ даёт тождество.</a:t>
            </a:r>
            <a:endParaRPr lang="en-US" altLang="ko-KR" dirty="0">
              <a:latin typeface="Times New Roman" panose="02020603050405020304" pitchFamily="18" charset="0"/>
            </a:endParaRPr>
          </a:p>
          <a:p>
            <a:pPr marL="92075" indent="0" algn="just">
              <a:buFont typeface="Wingdings" panose="05000000000000000000" pitchFamily="2" charset="2"/>
              <a:buNone/>
              <a:tabLst>
                <a:tab pos="0" algn="l"/>
              </a:tabLst>
            </a:pPr>
            <a:endParaRPr lang="en-US" altLang="ko-KR" i="1" dirty="0">
              <a:effectLst/>
              <a:latin typeface="Times New Roman" panose="02020603050405020304" pitchFamily="18" charset="0"/>
              <a:ea typeface="굴림" panose="020B0600000101010101" pitchFamily="34" charset="-127"/>
            </a:endParaRPr>
          </a:p>
        </p:txBody>
      </p:sp>
      <p:sp>
        <p:nvSpPr>
          <p:cNvPr id="2" name="Левая фигурная скобка 1"/>
          <p:cNvSpPr/>
          <p:nvPr/>
        </p:nvSpPr>
        <p:spPr>
          <a:xfrm>
            <a:off x="2021747" y="2055303"/>
            <a:ext cx="228005" cy="1882295"/>
          </a:xfrm>
          <a:prstGeom prst="leftBrace">
            <a:avLst>
              <a:gd name="adj1" fmla="val 8333"/>
              <a:gd name="adj2" fmla="val 48529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894F020-24FF-4590-9B8B-02C86A87D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7D8EA-FFCD-4294-8EEE-E3C0B3058240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1405344"/>
      </p:ext>
    </p:extLst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8740" y="260350"/>
            <a:ext cx="8170460" cy="6337300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ru-RU" altLang="ko-KR" sz="2600" dirty="0">
                <a:effectLst/>
                <a:latin typeface="Times New Roman" panose="02020603050405020304" pitchFamily="18" charset="0"/>
              </a:rPr>
              <a:t>Используя понятия основной матрицы системы:</a:t>
            </a:r>
            <a:endParaRPr lang="en-US" altLang="ko-KR" sz="2600" dirty="0">
              <a:effectLst/>
              <a:latin typeface="Times New Roman" panose="02020603050405020304" pitchFamily="18" charset="0"/>
              <a:ea typeface="굴림" panose="020B0600000101010101" pitchFamily="34" charset="-127"/>
            </a:endParaRPr>
          </a:p>
          <a:p>
            <a:pPr marL="0" indent="0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ko-KR" sz="2600" dirty="0">
              <a:effectLst/>
              <a:latin typeface="Times New Roman" panose="02020603050405020304" pitchFamily="18" charset="0"/>
              <a:ea typeface="굴림" panose="020B0600000101010101" pitchFamily="34" charset="-127"/>
            </a:endParaRPr>
          </a:p>
          <a:p>
            <a:pPr marL="0" indent="0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ko-KR" sz="2600" dirty="0">
              <a:effectLst/>
              <a:latin typeface="Times New Roman" panose="02020603050405020304" pitchFamily="18" charset="0"/>
              <a:ea typeface="굴림" panose="020B0600000101010101" pitchFamily="34" charset="-127"/>
            </a:endParaRPr>
          </a:p>
          <a:p>
            <a:pPr marL="0" indent="0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ko-KR" sz="2600" dirty="0">
              <a:effectLst/>
              <a:latin typeface="Times New Roman" panose="02020603050405020304" pitchFamily="18" charset="0"/>
              <a:ea typeface="굴림" panose="020B0600000101010101" pitchFamily="34" charset="-127"/>
            </a:endParaRPr>
          </a:p>
          <a:p>
            <a:pPr marL="0" indent="0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ko-KR" sz="2600" dirty="0">
              <a:effectLst/>
              <a:latin typeface="Times New Roman" panose="02020603050405020304" pitchFamily="18" charset="0"/>
              <a:ea typeface="굴림" panose="020B0600000101010101" pitchFamily="34" charset="-127"/>
            </a:endParaRPr>
          </a:p>
          <a:p>
            <a:pPr marL="0" indent="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ru-RU" altLang="ko-KR" sz="2600" dirty="0">
                <a:effectLst/>
                <a:latin typeface="Times New Roman" panose="02020603050405020304" pitchFamily="18" charset="0"/>
              </a:rPr>
              <a:t>и вектор-столбца:</a:t>
            </a:r>
            <a:endParaRPr lang="en-US" altLang="ko-KR" sz="2600" dirty="0">
              <a:effectLst/>
              <a:latin typeface="Times New Roman" panose="02020603050405020304" pitchFamily="18" charset="0"/>
              <a:ea typeface="굴림" panose="020B0600000101010101" pitchFamily="34" charset="-127"/>
            </a:endParaRPr>
          </a:p>
          <a:p>
            <a:pPr marL="0" indent="0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ko-KR" sz="2600" dirty="0">
              <a:effectLst/>
              <a:latin typeface="Times New Roman" panose="02020603050405020304" pitchFamily="18" charset="0"/>
              <a:ea typeface="굴림" panose="020B0600000101010101" pitchFamily="34" charset="-127"/>
            </a:endParaRPr>
          </a:p>
          <a:p>
            <a:pPr marL="0" indent="0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ko-KR" sz="2600" dirty="0">
              <a:effectLst/>
              <a:latin typeface="Times New Roman" panose="02020603050405020304" pitchFamily="18" charset="0"/>
              <a:ea typeface="굴림" panose="020B0600000101010101" pitchFamily="34" charset="-127"/>
            </a:endParaRPr>
          </a:p>
          <a:p>
            <a:pPr marL="0" indent="0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ko-KR" sz="2600" dirty="0">
              <a:effectLst/>
              <a:latin typeface="Times New Roman" panose="02020603050405020304" pitchFamily="18" charset="0"/>
              <a:ea typeface="굴림" panose="020B0600000101010101" pitchFamily="34" charset="-127"/>
            </a:endParaRPr>
          </a:p>
          <a:p>
            <a:pPr marL="0" indent="0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ko-KR" sz="2600" dirty="0">
              <a:effectLst/>
              <a:latin typeface="Times New Roman" panose="02020603050405020304" pitchFamily="18" charset="0"/>
              <a:ea typeface="굴림" panose="020B0600000101010101" pitchFamily="34" charset="-127"/>
            </a:endParaRPr>
          </a:p>
          <a:p>
            <a:pPr marL="0" indent="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ru-RU" altLang="ko-KR" sz="2600" dirty="0">
                <a:effectLst/>
                <a:latin typeface="Times New Roman" panose="02020603050405020304" pitchFamily="18" charset="0"/>
              </a:rPr>
              <a:t>систему уравнений можно переписать в матричном виде:</a:t>
            </a:r>
            <a:endParaRPr lang="ru-RU" altLang="ko-KR" sz="2600" i="1" dirty="0">
              <a:effectLst/>
              <a:latin typeface="Times New Roman" panose="02020603050405020304" pitchFamily="18" charset="0"/>
            </a:endParaRPr>
          </a:p>
          <a:p>
            <a:pPr marL="0" indent="0" algn="ctr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ru-RU" altLang="ko-KR" sz="3200" b="1" i="1" dirty="0">
                <a:effectLst/>
                <a:latin typeface="Times New Roman" panose="02020603050405020304" pitchFamily="18" charset="0"/>
              </a:rPr>
              <a:t>AX = B.</a:t>
            </a:r>
            <a:endParaRPr lang="en-US" altLang="ko-KR" sz="3200" b="1" dirty="0">
              <a:effectLst/>
              <a:latin typeface="Times New Roman" panose="02020603050405020304" pitchFamily="18" charset="0"/>
              <a:ea typeface="굴림" panose="020B0600000101010101" pitchFamily="34" charset="-127"/>
            </a:endParaRPr>
          </a:p>
          <a:p>
            <a:pPr marL="0" indent="0">
              <a:lnSpc>
                <a:spcPct val="90000"/>
              </a:lnSpc>
              <a:buFont typeface="Wingdings" panose="05000000000000000000" pitchFamily="2" charset="2"/>
              <a:buNone/>
            </a:pPr>
            <a:endParaRPr lang="ru-RU" altLang="ru-RU" sz="2200" dirty="0">
              <a:effectLst/>
              <a:latin typeface="Times New Roman" panose="02020603050405020304" pitchFamily="18" charset="0"/>
            </a:endParaRPr>
          </a:p>
        </p:txBody>
      </p:sp>
      <p:sp>
        <p:nvSpPr>
          <p:cNvPr id="111621" name="Rectangle 5"/>
          <p:cNvSpPr>
            <a:spLocks noChangeArrowheads="1"/>
          </p:cNvSpPr>
          <p:nvPr/>
        </p:nvSpPr>
        <p:spPr bwMode="auto">
          <a:xfrm>
            <a:off x="0" y="2933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1620" name="Object 4"/>
              <p:cNvSpPr txBox="1"/>
              <p:nvPr/>
            </p:nvSpPr>
            <p:spPr bwMode="auto">
              <a:xfrm>
                <a:off x="2169993" y="967516"/>
                <a:ext cx="4082225" cy="1582738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ru-RU" sz="2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ru-RU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ru-RU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ru-RU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ru-RU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  <m:e>
                                <m:m>
                                  <m:mPr>
                                    <m:plcHide m:val="on"/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ru-RU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ru-RU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...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ru-RU" sz="24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u-RU" sz="24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ru-RU" sz="24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  <m:r>
                                            <a:rPr lang="ru-RU" sz="24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r>
                                  <a:rPr lang="ru-RU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...</m:t>
                                </m:r>
                              </m:e>
                              <m:e>
                                <m:r>
                                  <a:rPr lang="ru-RU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...</m:t>
                                </m:r>
                              </m:e>
                              <m:e>
                                <m:m>
                                  <m:mPr>
                                    <m:plcHide m:val="on"/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ru-RU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ru-RU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...</m:t>
                                      </m:r>
                                    </m:e>
                                    <m:e>
                                      <m:r>
                                        <a:rPr lang="ru-RU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...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ru-RU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ru-RU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ru-RU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ru-RU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ru-RU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ru-RU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m>
                                  <m:mPr>
                                    <m:plcHide m:val="on"/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ru-RU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ru-RU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...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ru-RU" sz="24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u-RU" sz="24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ru-RU" sz="24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𝑛𝑛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11620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69993" y="967516"/>
                <a:ext cx="4082225" cy="158273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1623" name="Rectangle 7"/>
          <p:cNvSpPr>
            <a:spLocks noChangeArrowheads="1"/>
          </p:cNvSpPr>
          <p:nvPr/>
        </p:nvSpPr>
        <p:spPr bwMode="auto">
          <a:xfrm>
            <a:off x="0" y="29718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9993" y="3317147"/>
            <a:ext cx="1209675" cy="1400175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3707" y="3384550"/>
            <a:ext cx="1209675" cy="1400175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FB079BD-B6BE-46D4-A5EA-985A4B00E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7D8EA-FFCD-4294-8EEE-E3C0B3058240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5637708"/>
      </p:ext>
    </p:extLst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9821" y="910436"/>
            <a:ext cx="8484358" cy="5553220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ru-RU" altLang="ko-KR" sz="2600" dirty="0">
                <a:effectLst/>
                <a:latin typeface="Times New Roman" panose="02020603050405020304" pitchFamily="18" charset="0"/>
              </a:rPr>
              <a:t>Правило Крамера состоит в вычислении главного определителя матрицы А:</a:t>
            </a:r>
          </a:p>
          <a:p>
            <a:pPr marL="0" indent="0" algn="just">
              <a:lnSpc>
                <a:spcPct val="90000"/>
              </a:lnSpc>
              <a:buFont typeface="Wingdings" panose="05000000000000000000" pitchFamily="2" charset="2"/>
              <a:buNone/>
            </a:pPr>
            <a:endParaRPr lang="ru-RU" altLang="ko-KR" sz="2600" dirty="0">
              <a:effectLst/>
              <a:latin typeface="Times New Roman" panose="02020603050405020304" pitchFamily="18" charset="0"/>
            </a:endParaRPr>
          </a:p>
          <a:p>
            <a:pPr marL="0" indent="0" algn="just">
              <a:lnSpc>
                <a:spcPct val="90000"/>
              </a:lnSpc>
              <a:buFont typeface="Wingdings" panose="05000000000000000000" pitchFamily="2" charset="2"/>
              <a:buNone/>
            </a:pPr>
            <a:endParaRPr lang="ru-RU" altLang="ko-KR" sz="2600" dirty="0">
              <a:effectLst/>
              <a:latin typeface="Times New Roman" panose="02020603050405020304" pitchFamily="18" charset="0"/>
            </a:endParaRPr>
          </a:p>
          <a:p>
            <a:pPr marL="0" indent="0"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ru-RU" altLang="ko-KR" sz="2600" dirty="0">
                <a:effectLst/>
                <a:latin typeface="Times New Roman" panose="02020603050405020304" pitchFamily="18" charset="0"/>
              </a:rPr>
              <a:t>и побочных определителей:</a:t>
            </a:r>
          </a:p>
          <a:p>
            <a:pPr marL="0" indent="0" algn="just">
              <a:lnSpc>
                <a:spcPct val="90000"/>
              </a:lnSpc>
              <a:buFont typeface="Wingdings" panose="05000000000000000000" pitchFamily="2" charset="2"/>
              <a:buNone/>
            </a:pPr>
            <a:endParaRPr lang="ru-RU" altLang="ko-KR" sz="2600" dirty="0">
              <a:effectLst/>
              <a:latin typeface="Times New Roman" panose="02020603050405020304" pitchFamily="18" charset="0"/>
            </a:endParaRPr>
          </a:p>
          <a:p>
            <a:pPr marL="0" indent="0" algn="just">
              <a:lnSpc>
                <a:spcPct val="90000"/>
              </a:lnSpc>
              <a:buFont typeface="Wingdings" panose="05000000000000000000" pitchFamily="2" charset="2"/>
              <a:buNone/>
            </a:pPr>
            <a:endParaRPr lang="ru-RU" altLang="ko-KR" sz="2600" dirty="0">
              <a:effectLst/>
              <a:latin typeface="Times New Roman" panose="02020603050405020304" pitchFamily="18" charset="0"/>
            </a:endParaRPr>
          </a:p>
          <a:p>
            <a:pPr marL="0" indent="0"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ru-RU" altLang="ko-KR" sz="2600" dirty="0">
                <a:effectLst/>
                <a:latin typeface="Times New Roman" panose="02020603050405020304" pitchFamily="18" charset="0"/>
              </a:rPr>
              <a:t>И тогда вычисление решения имеет вид:</a:t>
            </a:r>
            <a:endParaRPr lang="en-US" altLang="ko-KR" sz="2600" i="1" dirty="0">
              <a:effectLst/>
              <a:latin typeface="Times New Roman" panose="02020603050405020304" pitchFamily="18" charset="0"/>
              <a:ea typeface="굴림" panose="020B0600000101010101" pitchFamily="34" charset="-127"/>
            </a:endParaRPr>
          </a:p>
          <a:p>
            <a:pPr marL="0" indent="0" algn="ctr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2600" i="1" dirty="0">
                <a:effectLst/>
                <a:latin typeface="Times New Roman" panose="02020603050405020304" pitchFamily="18" charset="0"/>
                <a:ea typeface="굴림" panose="020B0600000101010101" pitchFamily="34" charset="-127"/>
              </a:rPr>
              <a:t>x</a:t>
            </a:r>
            <a:r>
              <a:rPr lang="ru-RU" altLang="ko-KR" sz="2600" baseline="-25000" dirty="0">
                <a:effectLst/>
                <a:latin typeface="Times New Roman" panose="02020603050405020304" pitchFamily="18" charset="0"/>
              </a:rPr>
              <a:t>1</a:t>
            </a:r>
            <a:r>
              <a:rPr lang="en-US" altLang="ko-KR" sz="2600" i="1" dirty="0">
                <a:effectLst/>
                <a:latin typeface="Times New Roman" panose="02020603050405020304" pitchFamily="18" charset="0"/>
                <a:ea typeface="굴림" panose="020B0600000101010101" pitchFamily="34" charset="-127"/>
              </a:rPr>
              <a:t>  = D</a:t>
            </a:r>
            <a:r>
              <a:rPr lang="ru-RU" altLang="ko-KR" sz="2600" baseline="-25000" dirty="0">
                <a:effectLst/>
                <a:latin typeface="Times New Roman" panose="02020603050405020304" pitchFamily="18" charset="0"/>
              </a:rPr>
              <a:t>1</a:t>
            </a:r>
            <a:r>
              <a:rPr lang="en-US" altLang="ko-KR" sz="2600" dirty="0">
                <a:effectLst/>
                <a:latin typeface="Times New Roman" panose="02020603050405020304" pitchFamily="18" charset="0"/>
                <a:ea typeface="굴림" panose="020B0600000101010101" pitchFamily="34" charset="-127"/>
              </a:rPr>
              <a:t>/</a:t>
            </a:r>
            <a:r>
              <a:rPr lang="en-US" altLang="ko-KR" sz="2600" i="1" dirty="0">
                <a:effectLst/>
                <a:latin typeface="Times New Roman" panose="02020603050405020304" pitchFamily="18" charset="0"/>
                <a:ea typeface="굴림" panose="020B0600000101010101" pitchFamily="34" charset="-127"/>
              </a:rPr>
              <a:t>D</a:t>
            </a:r>
            <a:r>
              <a:rPr lang="en-US" altLang="ko-KR" sz="2600" dirty="0">
                <a:effectLst/>
                <a:latin typeface="Times New Roman" panose="02020603050405020304" pitchFamily="18" charset="0"/>
                <a:ea typeface="굴림" panose="020B0600000101010101" pitchFamily="34" charset="-127"/>
              </a:rPr>
              <a:t>,</a:t>
            </a:r>
            <a:r>
              <a:rPr lang="en-US" altLang="ko-KR" sz="2600" i="1" dirty="0">
                <a:effectLst/>
                <a:latin typeface="Times New Roman" panose="02020603050405020304" pitchFamily="18" charset="0"/>
                <a:ea typeface="굴림" panose="020B0600000101010101" pitchFamily="34" charset="-127"/>
              </a:rPr>
              <a:t>  x</a:t>
            </a:r>
            <a:r>
              <a:rPr lang="ru-RU" altLang="ko-KR" sz="2600" baseline="-25000" dirty="0">
                <a:effectLst/>
                <a:latin typeface="Times New Roman" panose="02020603050405020304" pitchFamily="18" charset="0"/>
              </a:rPr>
              <a:t>2</a:t>
            </a:r>
            <a:r>
              <a:rPr lang="en-US" altLang="ko-KR" sz="2600" i="1" dirty="0">
                <a:effectLst/>
                <a:latin typeface="Times New Roman" panose="02020603050405020304" pitchFamily="18" charset="0"/>
                <a:ea typeface="굴림" panose="020B0600000101010101" pitchFamily="34" charset="-127"/>
              </a:rPr>
              <a:t> = D</a:t>
            </a:r>
            <a:r>
              <a:rPr lang="ru-RU" altLang="ko-KR" sz="2600" i="1" baseline="-25000" dirty="0">
                <a:effectLst/>
                <a:latin typeface="Times New Roman" panose="02020603050405020304" pitchFamily="18" charset="0"/>
              </a:rPr>
              <a:t>2</a:t>
            </a:r>
            <a:r>
              <a:rPr lang="en-US" altLang="ko-KR" sz="2600" dirty="0">
                <a:effectLst/>
                <a:latin typeface="Times New Roman" panose="02020603050405020304" pitchFamily="18" charset="0"/>
                <a:ea typeface="굴림" panose="020B0600000101010101" pitchFamily="34" charset="-127"/>
              </a:rPr>
              <a:t>/</a:t>
            </a:r>
            <a:r>
              <a:rPr lang="en-US" altLang="ko-KR" sz="2600" i="1" dirty="0">
                <a:effectLst/>
                <a:latin typeface="Times New Roman" panose="02020603050405020304" pitchFamily="18" charset="0"/>
                <a:ea typeface="굴림" panose="020B0600000101010101" pitchFamily="34" charset="-127"/>
              </a:rPr>
              <a:t>D</a:t>
            </a:r>
            <a:r>
              <a:rPr lang="en-US" altLang="ko-KR" sz="2600" dirty="0">
                <a:effectLst/>
                <a:latin typeface="Times New Roman" panose="02020603050405020304" pitchFamily="18" charset="0"/>
                <a:ea typeface="굴림" panose="020B0600000101010101" pitchFamily="34" charset="-127"/>
              </a:rPr>
              <a:t>,</a:t>
            </a:r>
            <a:r>
              <a:rPr lang="en-US" altLang="ko-KR" sz="2600" i="1" dirty="0">
                <a:effectLst/>
                <a:latin typeface="Times New Roman" panose="02020603050405020304" pitchFamily="18" charset="0"/>
                <a:ea typeface="굴림" panose="020B0600000101010101" pitchFamily="34" charset="-127"/>
              </a:rPr>
              <a:t> …  </a:t>
            </a:r>
            <a:r>
              <a:rPr lang="en-US" altLang="ko-KR" sz="2600" i="1" dirty="0" err="1">
                <a:effectLst/>
                <a:latin typeface="Times New Roman" panose="02020603050405020304" pitchFamily="18" charset="0"/>
                <a:ea typeface="굴림" panose="020B0600000101010101" pitchFamily="34" charset="-127"/>
              </a:rPr>
              <a:t>x</a:t>
            </a:r>
            <a:r>
              <a:rPr lang="en-US" altLang="ko-KR" sz="2600" i="1" baseline="-25000" dirty="0" err="1">
                <a:effectLst/>
                <a:latin typeface="Times New Roman" panose="02020603050405020304" pitchFamily="18" charset="0"/>
                <a:ea typeface="굴림" panose="020B0600000101010101" pitchFamily="34" charset="-127"/>
              </a:rPr>
              <a:t>n</a:t>
            </a:r>
            <a:r>
              <a:rPr lang="en-US" altLang="ko-KR" sz="2600" i="1" dirty="0">
                <a:effectLst/>
                <a:latin typeface="Times New Roman" panose="02020603050405020304" pitchFamily="18" charset="0"/>
                <a:ea typeface="굴림" panose="020B0600000101010101" pitchFamily="34" charset="-127"/>
              </a:rPr>
              <a:t> = </a:t>
            </a:r>
            <a:r>
              <a:rPr lang="en-US" altLang="ko-KR" sz="2600" i="1" dirty="0" err="1">
                <a:effectLst/>
                <a:latin typeface="Times New Roman" panose="02020603050405020304" pitchFamily="18" charset="0"/>
                <a:ea typeface="굴림" panose="020B0600000101010101" pitchFamily="34" charset="-127"/>
              </a:rPr>
              <a:t>D</a:t>
            </a:r>
            <a:r>
              <a:rPr lang="en-US" altLang="ko-KR" sz="2600" i="1" baseline="-25000" dirty="0" err="1">
                <a:effectLst/>
                <a:latin typeface="Times New Roman" panose="02020603050405020304" pitchFamily="18" charset="0"/>
                <a:ea typeface="굴림" panose="020B0600000101010101" pitchFamily="34" charset="-127"/>
              </a:rPr>
              <a:t>n</a:t>
            </a:r>
            <a:r>
              <a:rPr lang="en-US" altLang="ko-KR" sz="2600" dirty="0">
                <a:effectLst/>
                <a:latin typeface="Times New Roman" panose="02020603050405020304" pitchFamily="18" charset="0"/>
                <a:ea typeface="굴림" panose="020B0600000101010101" pitchFamily="34" charset="-127"/>
              </a:rPr>
              <a:t>/</a:t>
            </a:r>
            <a:r>
              <a:rPr lang="en-US" altLang="ko-KR" sz="2600" i="1" dirty="0">
                <a:effectLst/>
                <a:latin typeface="Times New Roman" panose="02020603050405020304" pitchFamily="18" charset="0"/>
                <a:ea typeface="굴림" panose="020B0600000101010101" pitchFamily="34" charset="-127"/>
              </a:rPr>
              <a:t>D.</a:t>
            </a:r>
            <a:endParaRPr lang="ru-RU" altLang="ko-KR" sz="2600" dirty="0">
              <a:effectLst/>
              <a:latin typeface="Times New Roman" panose="02020603050405020304" pitchFamily="18" charset="0"/>
            </a:endParaRPr>
          </a:p>
          <a:p>
            <a:pPr marL="0" indent="0"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ru-RU" altLang="ko-KR" sz="2600" dirty="0">
                <a:effectLst/>
                <a:latin typeface="Times New Roman" panose="02020603050405020304" pitchFamily="18" charset="0"/>
              </a:rPr>
              <a:t>Число требуемых для вычисления определителей операций:                   </a:t>
            </a:r>
            <a:r>
              <a:rPr lang="ru-RU" altLang="ko-KR" sz="2600" i="1" dirty="0">
                <a:effectLst/>
                <a:latin typeface="Times New Roman" panose="02020603050405020304" pitchFamily="18" charset="0"/>
              </a:rPr>
              <a:t>N </a:t>
            </a:r>
            <a:r>
              <a:rPr lang="ru-RU" altLang="ko-KR" sz="2600" dirty="0">
                <a:effectLst/>
                <a:latin typeface="Times New Roman" panose="02020603050405020304" pitchFamily="18" charset="0"/>
                <a:sym typeface="Symbol" panose="05050102010706020507" pitchFamily="18" charset="2"/>
              </a:rPr>
              <a:t></a:t>
            </a:r>
            <a:r>
              <a:rPr lang="ru-RU" altLang="ko-KR" sz="2600" i="1" dirty="0">
                <a:effectLst/>
                <a:latin typeface="Times New Roman" panose="02020603050405020304" pitchFamily="18" charset="0"/>
              </a:rPr>
              <a:t> n</a:t>
            </a:r>
            <a:r>
              <a:rPr lang="ru-RU" altLang="ko-KR" sz="2600" dirty="0">
                <a:effectLst/>
                <a:latin typeface="Times New Roman" panose="02020603050405020304" pitchFamily="18" charset="0"/>
              </a:rPr>
              <a:t>(</a:t>
            </a:r>
            <a:r>
              <a:rPr lang="ru-RU" altLang="ko-KR" sz="2600" i="1" dirty="0">
                <a:effectLst/>
                <a:latin typeface="Times New Roman" panose="02020603050405020304" pitchFamily="18" charset="0"/>
              </a:rPr>
              <a:t>n! + </a:t>
            </a:r>
            <a:r>
              <a:rPr lang="ru-RU" altLang="ko-KR" sz="2600" dirty="0">
                <a:effectLst/>
                <a:latin typeface="Times New Roman" panose="02020603050405020304" pitchFamily="18" charset="0"/>
              </a:rPr>
              <a:t>1).</a:t>
            </a:r>
            <a:endParaRPr lang="ru-RU" altLang="ru-RU" sz="2600" dirty="0">
              <a:effectLst/>
              <a:latin typeface="Times New Roman" panose="02020603050405020304" pitchFamily="18" charset="0"/>
            </a:endParaRPr>
          </a:p>
        </p:txBody>
      </p:sp>
      <p:sp>
        <p:nvSpPr>
          <p:cNvPr id="112645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2644" name="Object 4"/>
              <p:cNvSpPr txBox="1"/>
              <p:nvPr/>
            </p:nvSpPr>
            <p:spPr bwMode="auto">
              <a:xfrm>
                <a:off x="2029946" y="1638393"/>
                <a:ext cx="3960813" cy="1198562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3"/>
                                <m:mcJc m:val="center"/>
                              </m:mcPr>
                            </m:mc>
                          </m:mcs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/>
                          <m:e>
                            <m:sSub>
                              <m:sSubPr>
                                <m:ctrlPr>
                                  <a:rPr lang="ru-RU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  <m:sub/>
                            </m:sSub>
                            <m:r>
                              <a:rPr lang="ru-RU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d>
                              <m:dPr>
                                <m:begChr m:val="|"/>
                                <m:endChr m:val="|"/>
                                <m:ctrlPr>
                                  <a:rPr lang="ru-RU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m>
                                  <m:mPr>
                                    <m:plcHide m:val="on"/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ru-RU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plcHide m:val="on"/>
                                          <m:mcs>
                                            <m:mc>
                                              <m:mcPr>
                                                <m:count m:val="2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ru-RU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ru-RU" i="1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ru-RU" i="1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𝑎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ru-RU" i="1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11</m:t>
                                                </m:r>
                                              </m:sub>
                                            </m:sSub>
                                          </m:e>
                                          <m:e/>
                                        </m:mr>
                                      </m:m>
                                      <m:sSub>
                                        <m:sSubPr>
                                          <m:ctrlPr>
                                            <a:rPr lang="ru-RU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u-RU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ru-RU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12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ru-RU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u-RU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ru-RU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13</m:t>
                                          </m:r>
                                        </m:sub>
                                      </m:sSub>
                                    </m:e>
                                    <m:e>
                                      <m:m>
                                        <m:mPr>
                                          <m:plcHide m:val="on"/>
                                          <m:mcs>
                                            <m:mc>
                                              <m:mcPr>
                                                <m:count m:val="2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ru-RU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a:rPr lang="ru-RU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...</m:t>
                                            </m:r>
                                          </m:e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ru-RU" i="1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ru-RU" i="1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𝑎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ru-RU" i="1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  <m:r>
                                                  <a:rPr lang="ru-RU" i="1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𝑛</m:t>
                                                </m:r>
                                              </m:sub>
                                            </m:sSub>
                                          </m:e>
                                        </m:mr>
                                      </m:m>
                                    </m:e>
                                  </m:mr>
                                  <m:mr>
                                    <m:e>
                                      <m:r>
                                        <a:rPr lang="ru-RU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...</m:t>
                                      </m:r>
                                    </m:e>
                                    <m:e>
                                      <m:r>
                                        <a:rPr lang="ru-RU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...</m:t>
                                      </m:r>
                                    </m:e>
                                    <m:e>
                                      <m:m>
                                        <m:mPr>
                                          <m:plcHide m:val="on"/>
                                          <m:mcs>
                                            <m:mc>
                                              <m:mcPr>
                                                <m:count m:val="2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ru-RU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a:rPr lang="ru-RU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...</m:t>
                                            </m:r>
                                          </m:e>
                                          <m:e>
                                            <m:r>
                                              <a:rPr lang="ru-RU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...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  <m:mr>
                                    <m:e>
                                      <m:m>
                                        <m:mPr>
                                          <m:plcHide m:val="on"/>
                                          <m:mcs>
                                            <m:mc>
                                              <m:mcPr>
                                                <m:count m:val="2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ru-RU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ru-RU" i="1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ru-RU" i="1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𝑎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ru-RU" i="1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𝑛</m:t>
                                                </m:r>
                                                <m:r>
                                                  <a:rPr lang="ru-RU" i="1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</m:sSub>
                                          </m:e>
                                          <m:e/>
                                        </m:mr>
                                      </m:m>
                                      <m:sSub>
                                        <m:sSubPr>
                                          <m:ctrlPr>
                                            <a:rPr lang="ru-RU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u-RU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ru-RU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ru-RU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ru-RU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u-RU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ru-RU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ru-RU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</m:e>
                                    <m:e>
                                      <m:m>
                                        <m:mPr>
                                          <m:plcHide m:val="on"/>
                                          <m:mcs>
                                            <m:mc>
                                              <m:mcPr>
                                                <m:count m:val="2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ru-RU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a:rPr lang="ru-RU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...</m:t>
                                            </m:r>
                                          </m:e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ru-RU" i="1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ru-RU" i="1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𝑎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ru-RU" i="1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𝑛𝑛</m:t>
                                                </m:r>
                                              </m:sub>
                                            </m:sSub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d>
                          </m:e>
                          <m:e/>
                        </m:mr>
                      </m:m>
                    </m:oMath>
                  </m:oMathPara>
                </a14:m>
                <a:endParaRPr lang="ru-RU"/>
              </a:p>
            </p:txBody>
          </p:sp>
        </mc:Choice>
        <mc:Fallback xmlns="">
          <p:sp>
            <p:nvSpPr>
              <p:cNvPr id="112644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29946" y="1638393"/>
                <a:ext cx="3960813" cy="119856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2647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2646" name="Object 6"/>
              <p:cNvSpPr txBox="1"/>
              <p:nvPr/>
            </p:nvSpPr>
            <p:spPr bwMode="auto">
              <a:xfrm>
                <a:off x="918407" y="3117637"/>
                <a:ext cx="7109857" cy="1259506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ru-RU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ru-RU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ru-RU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ru-RU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  <m:e>
                                <m:m>
                                  <m:mPr>
                                    <m:plcHide m:val="on"/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ru-RU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ru-RU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...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ru-RU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u-RU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ru-RU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  <m:r>
                                            <a:rPr lang="ru-RU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r>
                                  <a:rPr lang="ru-RU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...</m:t>
                                </m:r>
                              </m:e>
                              <m:e>
                                <m:r>
                                  <a:rPr lang="ru-RU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...</m:t>
                                </m:r>
                              </m:e>
                              <m:e>
                                <m:m>
                                  <m:mPr>
                                    <m:plcHide m:val="on"/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ru-RU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ru-RU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...</m:t>
                                      </m:r>
                                    </m:e>
                                    <m:e>
                                      <m:r>
                                        <a:rPr lang="ru-RU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...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ru-RU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ru-RU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ru-RU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ru-RU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ru-RU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m>
                                  <m:mPr>
                                    <m:plcHide m:val="on"/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ru-RU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ru-RU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...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ru-RU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u-RU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ru-RU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𝑛𝑛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m>
                        <m:mPr>
                          <m:plcHide m:val="on"/>
                          <m:mcs>
                            <m:mc>
                              <m:mcPr>
                                <m:count m:val="3"/>
                                <m:mcJc m:val="center"/>
                              </m:mcPr>
                            </m:mc>
                          </m:mcs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ru-RU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…,</m:t>
                            </m:r>
                          </m:e>
                          <m:e>
                            <m:sSub>
                              <m:sSubPr>
                                <m:ctrlPr>
                                  <a:rPr lang="ru-RU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ru-RU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d>
                              <m:dPr>
                                <m:begChr m:val="|"/>
                                <m:endChr m:val="|"/>
                                <m:ctrlPr>
                                  <a:rPr lang="ru-RU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m>
                                  <m:mPr>
                                    <m:plcHide m:val="on"/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ru-RU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plcHide m:val="on"/>
                                          <m:mcs>
                                            <m:mc>
                                              <m:mcPr>
                                                <m:count m:val="2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ru-RU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ru-RU" i="1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ru-RU" i="1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𝑎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ru-RU" i="1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11</m:t>
                                                </m:r>
                                              </m:sub>
                                            </m:sSub>
                                          </m:e>
                                          <m:e/>
                                        </m:mr>
                                      </m:m>
                                      <m:sSub>
                                        <m:sSubPr>
                                          <m:ctrlPr>
                                            <a:rPr lang="ru-RU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u-RU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ru-RU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12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ru-RU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u-RU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ru-RU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13</m:t>
                                          </m:r>
                                        </m:sub>
                                      </m:sSub>
                                    </m:e>
                                    <m:e>
                                      <m:m>
                                        <m:mPr>
                                          <m:plcHide m:val="on"/>
                                          <m:mcs>
                                            <m:mc>
                                              <m:mcPr>
                                                <m:count m:val="2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ru-RU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a:rPr lang="ru-RU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...</m:t>
                                            </m:r>
                                          </m:e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ru-RU" i="1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b="0" i="1" smtClean="0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𝑏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ru-RU" i="1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</m:sSub>
                                          </m:e>
                                        </m:mr>
                                      </m:m>
                                    </m:e>
                                  </m:mr>
                                  <m:mr>
                                    <m:e>
                                      <m:r>
                                        <a:rPr lang="ru-RU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...</m:t>
                                      </m:r>
                                    </m:e>
                                    <m:e>
                                      <m:r>
                                        <a:rPr lang="ru-RU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...</m:t>
                                      </m:r>
                                    </m:e>
                                    <m:e>
                                      <m:m>
                                        <m:mPr>
                                          <m:plcHide m:val="on"/>
                                          <m:mcs>
                                            <m:mc>
                                              <m:mcPr>
                                                <m:count m:val="2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ru-RU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a:rPr lang="ru-RU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...</m:t>
                                            </m:r>
                                          </m:e>
                                          <m:e>
                                            <m:r>
                                              <a:rPr lang="ru-RU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...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  <m:mr>
                                    <m:e>
                                      <m:m>
                                        <m:mPr>
                                          <m:plcHide m:val="on"/>
                                          <m:mcs>
                                            <m:mc>
                                              <m:mcPr>
                                                <m:count m:val="2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ru-RU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ru-RU" i="1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ru-RU" i="1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𝑎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ru-RU" i="1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𝑛</m:t>
                                                </m:r>
                                                <m:r>
                                                  <a:rPr lang="ru-RU" i="1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</m:sSub>
                                          </m:e>
                                          <m:e/>
                                        </m:mr>
                                      </m:m>
                                      <m:sSub>
                                        <m:sSubPr>
                                          <m:ctrlPr>
                                            <a:rPr lang="ru-RU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u-RU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ru-RU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ru-RU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u-RU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ru-RU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ru-RU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</m:e>
                                    <m:e>
                                      <m:m>
                                        <m:mPr>
                                          <m:plcHide m:val="on"/>
                                          <m:mcs>
                                            <m:mc>
                                              <m:mcPr>
                                                <m:count m:val="2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ru-RU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a:rPr lang="ru-RU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...</m:t>
                                            </m:r>
                                          </m:e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ru-RU" i="1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b="0" i="1" smtClean="0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𝑏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ru-RU" i="1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𝑛</m:t>
                                                </m:r>
                                              </m:sub>
                                            </m:sSub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d>
                          </m:e>
                          <m:e/>
                        </m:mr>
                      </m:m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12646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18407" y="3117637"/>
                <a:ext cx="7109857" cy="125950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2">
            <a:extLst>
              <a:ext uri="{FF2B5EF4-FFF2-40B4-BE49-F238E27FC236}">
                <a16:creationId xmlns:a16="http://schemas.microsoft.com/office/drawing/2014/main" id="{F5D59CEC-1D98-49BC-9460-2EE9E32279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15068" y="49036"/>
            <a:ext cx="8088573" cy="896938"/>
          </a:xfrm>
        </p:spPr>
        <p:txBody>
          <a:bodyPr/>
          <a:lstStyle/>
          <a:p>
            <a:pPr algn="ctr"/>
            <a:r>
              <a:rPr lang="ru-RU" altLang="ru-RU" dirty="0"/>
              <a:t> </a:t>
            </a:r>
            <a:r>
              <a:rPr lang="ru-RU" altLang="ru-RU" sz="3000" b="1" dirty="0">
                <a:effectLst/>
                <a:latin typeface="Times New Roman" panose="02020603050405020304" pitchFamily="18" charset="0"/>
              </a:rPr>
              <a:t>1. Правило Крамера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585B8331-4245-420A-A998-414939213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7D8EA-FFCD-4294-8EEE-E3C0B3058240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4936810"/>
      </p:ext>
    </p:extLst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/>
          <p:cNvSpPr>
            <a:spLocks noGrp="1" noChangeArrowheads="1"/>
          </p:cNvSpPr>
          <p:nvPr>
            <p:ph type="title"/>
          </p:nvPr>
        </p:nvSpPr>
        <p:spPr>
          <a:xfrm>
            <a:off x="750627" y="228600"/>
            <a:ext cx="8088573" cy="896938"/>
          </a:xfrm>
        </p:spPr>
        <p:txBody>
          <a:bodyPr/>
          <a:lstStyle/>
          <a:p>
            <a:pPr algn="ctr"/>
            <a:r>
              <a:rPr lang="ru-RU" altLang="ru-RU" dirty="0"/>
              <a:t> </a:t>
            </a:r>
            <a:r>
              <a:rPr lang="ru-RU" altLang="ru-RU" sz="3000" b="1" dirty="0">
                <a:effectLst/>
                <a:latin typeface="Times New Roman" panose="02020603050405020304" pitchFamily="18" charset="0"/>
              </a:rPr>
              <a:t>2. Метод обратной матрицы</a:t>
            </a:r>
          </a:p>
        </p:txBody>
      </p:sp>
      <p:sp>
        <p:nvSpPr>
          <p:cNvPr id="1136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2997" y="1125538"/>
            <a:ext cx="8498006" cy="4683125"/>
          </a:xfrm>
        </p:spPr>
        <p:txBody>
          <a:bodyPr/>
          <a:lstStyle/>
          <a:p>
            <a:pPr marL="0" indent="0" algn="just">
              <a:buFont typeface="Wingdings" panose="05000000000000000000" pitchFamily="2" charset="2"/>
              <a:buNone/>
            </a:pPr>
            <a:r>
              <a:rPr lang="ru-RU" altLang="ko-KR" sz="2600" dirty="0">
                <a:effectLst/>
                <a:latin typeface="Times New Roman" panose="02020603050405020304" pitchFamily="18" charset="0"/>
              </a:rPr>
              <a:t>Отталкиваясь от </a:t>
            </a:r>
            <a:r>
              <a:rPr lang="ru-RU" altLang="ko-KR" sz="2600" i="1" dirty="0">
                <a:effectLst/>
                <a:latin typeface="Times New Roman" panose="02020603050405020304" pitchFamily="18" charset="0"/>
              </a:rPr>
              <a:t>АХ = В</a:t>
            </a:r>
            <a:r>
              <a:rPr lang="ru-RU" altLang="ko-KR" sz="2600" dirty="0">
                <a:effectLst/>
                <a:latin typeface="Times New Roman" panose="02020603050405020304" pitchFamily="18" charset="0"/>
              </a:rPr>
              <a:t>, умножим обе части </a:t>
            </a:r>
            <a:r>
              <a:rPr lang="ru-RU" altLang="ko-KR" sz="2600" b="1" dirty="0">
                <a:effectLst/>
                <a:latin typeface="Times New Roman" panose="02020603050405020304" pitchFamily="18" charset="0"/>
              </a:rPr>
              <a:t>слева </a:t>
            </a:r>
            <a:br>
              <a:rPr lang="ru-RU" altLang="ko-KR" sz="2600" b="1" dirty="0">
                <a:effectLst/>
                <a:latin typeface="Times New Roman" panose="02020603050405020304" pitchFamily="18" charset="0"/>
              </a:rPr>
            </a:br>
            <a:r>
              <a:rPr lang="ru-RU" altLang="ko-KR" sz="2600" dirty="0">
                <a:effectLst/>
                <a:latin typeface="Times New Roman" panose="02020603050405020304" pitchFamily="18" charset="0"/>
              </a:rPr>
              <a:t>на обратную матрицу </a:t>
            </a:r>
            <a:r>
              <a:rPr lang="ru-RU" altLang="ko-KR" sz="2600" i="1" dirty="0">
                <a:effectLst/>
                <a:latin typeface="Times New Roman" panose="02020603050405020304" pitchFamily="18" charset="0"/>
              </a:rPr>
              <a:t>A</a:t>
            </a:r>
            <a:r>
              <a:rPr lang="ru-RU" altLang="ko-KR" sz="2600" i="1" baseline="30000" dirty="0">
                <a:effectLst/>
                <a:latin typeface="Times New Roman" panose="02020603050405020304" pitchFamily="18" charset="0"/>
              </a:rPr>
              <a:t>-1</a:t>
            </a:r>
            <a:r>
              <a:rPr lang="ru-RU" altLang="ko-KR" sz="2600" i="1" dirty="0">
                <a:effectLst/>
                <a:latin typeface="Times New Roman" panose="02020603050405020304" pitchFamily="18" charset="0"/>
              </a:rPr>
              <a:t> </a:t>
            </a:r>
            <a:r>
              <a:rPr lang="ru-RU" altLang="ko-KR" sz="2600" dirty="0">
                <a:effectLst/>
                <a:latin typeface="Times New Roman" panose="02020603050405020304" pitchFamily="18" charset="0"/>
              </a:rPr>
              <a:t>:</a:t>
            </a:r>
            <a:endParaRPr lang="ru-RU" altLang="ko-KR" sz="2600" i="1" dirty="0">
              <a:effectLst/>
              <a:latin typeface="Times New Roman" panose="02020603050405020304" pitchFamily="18" charset="0"/>
            </a:endParaRPr>
          </a:p>
          <a:p>
            <a:pPr marL="0" indent="0" algn="ctr">
              <a:buFont typeface="Wingdings" panose="05000000000000000000" pitchFamily="2" charset="2"/>
              <a:buNone/>
            </a:pPr>
            <a:r>
              <a:rPr lang="ru-RU" altLang="ko-KR" sz="2600" i="1" dirty="0">
                <a:effectLst/>
                <a:latin typeface="Times New Roman" panose="02020603050405020304" pitchFamily="18" charset="0"/>
              </a:rPr>
              <a:t>A</a:t>
            </a:r>
            <a:r>
              <a:rPr lang="ru-RU" altLang="ko-KR" sz="2600" i="1" baseline="30000" dirty="0">
                <a:effectLst/>
                <a:latin typeface="Times New Roman" panose="02020603050405020304" pitchFamily="18" charset="0"/>
              </a:rPr>
              <a:t>-1</a:t>
            </a:r>
            <a:r>
              <a:rPr lang="ru-RU" altLang="ko-KR" sz="2600" i="1" dirty="0">
                <a:effectLst/>
                <a:latin typeface="Times New Roman" panose="02020603050405020304" pitchFamily="18" charset="0"/>
              </a:rPr>
              <a:t>АХ = A</a:t>
            </a:r>
            <a:r>
              <a:rPr lang="ru-RU" altLang="ko-KR" sz="2600" i="1" baseline="30000" dirty="0">
                <a:effectLst/>
                <a:latin typeface="Times New Roman" panose="02020603050405020304" pitchFamily="18" charset="0"/>
              </a:rPr>
              <a:t>-1</a:t>
            </a:r>
            <a:r>
              <a:rPr lang="ru-RU" altLang="ko-KR" sz="2600" i="1" dirty="0">
                <a:effectLst/>
                <a:latin typeface="Times New Roman" panose="02020603050405020304" pitchFamily="18" charset="0"/>
              </a:rPr>
              <a:t>В</a:t>
            </a:r>
          </a:p>
          <a:p>
            <a:pPr marL="0" indent="0" algn="ctr">
              <a:buFont typeface="Wingdings" panose="05000000000000000000" pitchFamily="2" charset="2"/>
              <a:buNone/>
            </a:pPr>
            <a:r>
              <a:rPr lang="ru-RU" altLang="ko-KR" sz="2600" dirty="0">
                <a:effectLst/>
                <a:latin typeface="Times New Roman" panose="02020603050405020304" pitchFamily="18" charset="0"/>
              </a:rPr>
              <a:t>или</a:t>
            </a:r>
          </a:p>
          <a:p>
            <a:pPr marL="0" indent="0" algn="ctr">
              <a:buFont typeface="Wingdings" panose="05000000000000000000" pitchFamily="2" charset="2"/>
              <a:buNone/>
            </a:pPr>
            <a:r>
              <a:rPr lang="ru-RU" altLang="ko-KR" sz="2600" i="1" dirty="0">
                <a:effectLst/>
                <a:latin typeface="Times New Roman" panose="02020603050405020304" pitchFamily="18" charset="0"/>
              </a:rPr>
              <a:t>Х = A</a:t>
            </a:r>
            <a:r>
              <a:rPr lang="ru-RU" altLang="ko-KR" sz="2600" i="1" baseline="30000" dirty="0">
                <a:effectLst/>
                <a:latin typeface="Times New Roman" panose="02020603050405020304" pitchFamily="18" charset="0"/>
              </a:rPr>
              <a:t>-1</a:t>
            </a:r>
            <a:r>
              <a:rPr lang="ru-RU" altLang="ko-KR" sz="2600" i="1" dirty="0">
                <a:effectLst/>
                <a:latin typeface="Times New Roman" panose="02020603050405020304" pitchFamily="18" charset="0"/>
              </a:rPr>
              <a:t>В.</a:t>
            </a:r>
          </a:p>
          <a:p>
            <a:pPr marL="0" indent="0" algn="just">
              <a:buFont typeface="Wingdings" panose="05000000000000000000" pitchFamily="2" charset="2"/>
              <a:buNone/>
            </a:pPr>
            <a:r>
              <a:rPr lang="ru-RU" altLang="ko-KR" sz="2600" dirty="0">
                <a:effectLst/>
                <a:latin typeface="Times New Roman" panose="02020603050405020304" pitchFamily="18" charset="0"/>
              </a:rPr>
              <a:t>Таким образом, решение системы сводится к вычислению  </a:t>
            </a:r>
            <a:r>
              <a:rPr lang="ru-RU" altLang="ko-KR" sz="2600" i="1" dirty="0">
                <a:effectLst/>
                <a:latin typeface="Times New Roman" panose="02020603050405020304" pitchFamily="18" charset="0"/>
              </a:rPr>
              <a:t>A</a:t>
            </a:r>
            <a:r>
              <a:rPr lang="ru-RU" altLang="ko-KR" sz="2600" i="1" baseline="30000" dirty="0">
                <a:effectLst/>
                <a:latin typeface="Times New Roman" panose="02020603050405020304" pitchFamily="18" charset="0"/>
              </a:rPr>
              <a:t>-1</a:t>
            </a:r>
            <a:r>
              <a:rPr lang="ru-RU" altLang="ko-KR" sz="2600" dirty="0">
                <a:effectLst/>
                <a:latin typeface="Times New Roman" panose="02020603050405020304" pitchFamily="18" charset="0"/>
              </a:rPr>
              <a:t>, но её вычисление также трудоёмко:</a:t>
            </a:r>
            <a:endParaRPr lang="ru-RU" altLang="ru-RU" sz="2600" dirty="0">
              <a:effectLst/>
              <a:latin typeface="Times New Roman" panose="02020603050405020304" pitchFamily="18" charset="0"/>
            </a:endParaRPr>
          </a:p>
        </p:txBody>
      </p:sp>
      <p:pic>
        <p:nvPicPr>
          <p:cNvPr id="11266" name="Picture 2" descr="Обратная матрица онлайн">
            <a:extLst>
              <a:ext uri="{FF2B5EF4-FFF2-40B4-BE49-F238E27FC236}">
                <a16:creationId xmlns:a16="http://schemas.microsoft.com/office/drawing/2014/main" id="{2C91CE1A-AA89-42BA-96C2-BBE8A9B7A5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0886" y="4400593"/>
            <a:ext cx="5897923" cy="17737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797D25E2-6037-4BC4-A77B-4BB12A9F4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7D8EA-FFCD-4294-8EEE-E3C0B3058240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9889546"/>
      </p:ext>
    </p:extLst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8E41DD-71CF-478F-AAC3-30AAE6B05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477" y="113457"/>
            <a:ext cx="7886700" cy="498940"/>
          </a:xfrm>
        </p:spPr>
        <p:txBody>
          <a:bodyPr>
            <a:normAutofit/>
          </a:bodyPr>
          <a:lstStyle/>
          <a:p>
            <a:r>
              <a:rPr lang="ru-RU" sz="2800" b="1" dirty="0">
                <a:latin typeface="Times New Roman" panose="02020603050405020304" pitchFamily="18" charset="0"/>
              </a:rPr>
              <a:t>Поиск обратной матрицы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49390BE-65DB-4462-9F04-193D4254F8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978" y="625999"/>
            <a:ext cx="8733464" cy="6378808"/>
          </a:xfrm>
        </p:spPr>
        <p:txBody>
          <a:bodyPr>
            <a:normAutofit lnSpcReduction="10000"/>
          </a:bodyPr>
          <a:lstStyle/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 вычисления обратной матрицы с помощью алгебраических дополнений</a:t>
            </a:r>
          </a:p>
          <a:p>
            <a:pPr algn="just">
              <a:spcBef>
                <a:spcPts val="0"/>
              </a:spcBef>
              <a:buFont typeface="+mj-lt"/>
              <a:buAutoNum type="arabicPeriod"/>
            </a:pPr>
            <a:r>
              <a:rPr lang="ru-RU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Найти определитель </a:t>
            </a:r>
            <a:r>
              <a:rPr lang="ru-RU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матрицы А и убедиться, что 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ru-RU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| </a:t>
            </a:r>
            <a:r>
              <a:rPr lang="ru-RU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≠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0, т.е. что </a:t>
            </a:r>
            <a:r>
              <a:rPr lang="ru-RU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матрица А – невырожденная.</a:t>
            </a:r>
          </a:p>
          <a:p>
            <a:pPr algn="just">
              <a:spcBef>
                <a:spcPts val="0"/>
              </a:spcBef>
              <a:buFont typeface="+mj-lt"/>
              <a:buAutoNum type="arabicPeriod"/>
            </a:pPr>
            <a:r>
              <a:rPr lang="ru-RU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Составить алгебраические дополнения </a:t>
            </a:r>
            <a:r>
              <a:rPr lang="ru-RU" sz="1800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ru-RU" sz="1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ij</a:t>
            </a:r>
            <a:r>
              <a:rPr lang="ru-RU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 каждого элемента матрицы A и записать матрицу </a:t>
            </a:r>
            <a:r>
              <a:rPr lang="ru-RU" sz="1800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ru-RU" sz="1800" baseline="30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∗</a:t>
            </a:r>
            <a:r>
              <a:rPr lang="ru-RU" sz="1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lang="ru-RU" sz="1800" baseline="-25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×</a:t>
            </a:r>
            <a:r>
              <a:rPr lang="ru-RU" sz="1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lang="ru-RU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=(</a:t>
            </a:r>
            <a:r>
              <a:rPr lang="ru-RU" sz="1800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ru-RU" sz="1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ij</a:t>
            </a:r>
            <a:r>
              <a:rPr lang="ru-RU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) из найденных </a:t>
            </a:r>
            <a:r>
              <a:rPr lang="ru-RU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алгебраических дополнений.</a:t>
            </a:r>
          </a:p>
          <a:p>
            <a:pPr algn="just">
              <a:spcBef>
                <a:spcPts val="0"/>
              </a:spcBef>
              <a:buFont typeface="+mj-lt"/>
              <a:buAutoNum type="arabicPeriod"/>
            </a:pPr>
            <a:r>
              <a:rPr lang="ru-RU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Записать обратную матрицу с учётом формулы </a:t>
            </a:r>
            <a:endParaRPr lang="en-US" sz="1800" b="0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marL="0" indent="0" algn="just">
              <a:spcBef>
                <a:spcPts val="0"/>
              </a:spcBef>
              <a:buNone/>
            </a:pPr>
            <a:endParaRPr lang="en-US" sz="1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spcBef>
                <a:spcPts val="0"/>
              </a:spcBef>
              <a:buNone/>
            </a:pPr>
            <a:endParaRPr lang="en-US" sz="1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spcBef>
                <a:spcPts val="0"/>
              </a:spcBef>
              <a:buNone/>
            </a:pPr>
            <a:endParaRPr lang="en-US" sz="1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spcBef>
                <a:spcPts val="0"/>
              </a:spcBef>
              <a:buNone/>
            </a:pPr>
            <a:endParaRPr lang="en-US" sz="1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spcBef>
                <a:spcPts val="0"/>
              </a:spcBef>
              <a:buNone/>
            </a:pPr>
            <a:endParaRPr lang="en-US" sz="1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spcBef>
                <a:spcPts val="0"/>
              </a:spcBef>
              <a:buNone/>
            </a:pPr>
            <a:endParaRPr lang="en-US" sz="1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spcBef>
                <a:spcPts val="0"/>
              </a:spcBef>
              <a:buNone/>
            </a:pPr>
            <a:endParaRPr lang="en-US" sz="1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 элементарных преобразований (метод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присоединённой матрицы)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spcBef>
                <a:spcPts val="0"/>
              </a:spcBef>
              <a:buNone/>
            </a:pPr>
            <a:r>
              <a:rPr lang="ru-RU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Допишем справа к матрице </a:t>
            </a:r>
            <a:r>
              <a:rPr lang="ru-RU" sz="18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ru-RU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 единичную матрицу </a:t>
            </a:r>
            <a:r>
              <a:rPr lang="ru-RU" sz="18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E</a:t>
            </a:r>
            <a:r>
              <a:rPr lang="ru-RU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 </a:t>
            </a:r>
            <a:r>
              <a:rPr lang="ru-RU" sz="18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lang="ru-RU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-го порядка. После такого дописывания мы получим матрицу (</a:t>
            </a:r>
            <a:r>
              <a:rPr lang="ru-RU" sz="18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ru-RU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|</a:t>
            </a:r>
            <a:r>
              <a:rPr lang="ru-RU" sz="18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E</a:t>
            </a:r>
            <a:r>
              <a:rPr lang="ru-RU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). Со строками этой матрицы можно выполнять такие преобразования:</a:t>
            </a:r>
          </a:p>
          <a:p>
            <a:pPr algn="just">
              <a:spcBef>
                <a:spcPts val="0"/>
              </a:spcBef>
              <a:buFont typeface="+mj-lt"/>
              <a:buAutoNum type="arabicPeriod"/>
            </a:pPr>
            <a:r>
              <a:rPr lang="ru-RU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Смена мест двух строк.</a:t>
            </a:r>
          </a:p>
          <a:p>
            <a:pPr algn="just">
              <a:spcBef>
                <a:spcPts val="0"/>
              </a:spcBef>
              <a:buFont typeface="+mj-lt"/>
              <a:buAutoNum type="arabicPeriod"/>
            </a:pPr>
            <a:r>
              <a:rPr lang="ru-RU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Умножение всех элементов строки на некоторое число, не равное нулю.</a:t>
            </a:r>
          </a:p>
          <a:p>
            <a:pPr algn="just">
              <a:spcBef>
                <a:spcPts val="0"/>
              </a:spcBef>
              <a:buFont typeface="+mj-lt"/>
              <a:buAutoNum type="arabicPeriod"/>
            </a:pPr>
            <a:r>
              <a:rPr lang="ru-RU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Прибавление к элементам одной строки соответствующих элементов другой строки, умноженных на любой множитель.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ru-RU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Конечная цель указанных выше преобразований: привести матрицу (</a:t>
            </a:r>
            <a:r>
              <a:rPr lang="ru-RU" sz="18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ru-RU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|</a:t>
            </a:r>
            <a:r>
              <a:rPr lang="ru-RU" sz="18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E</a:t>
            </a:r>
            <a:r>
              <a:rPr lang="ru-RU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) к такому виду: (</a:t>
            </a:r>
            <a:r>
              <a:rPr lang="ru-RU" sz="18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E</a:t>
            </a:r>
            <a:r>
              <a:rPr lang="ru-RU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|</a:t>
            </a:r>
            <a:r>
              <a:rPr lang="ru-RU" sz="18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ru-RU" sz="1800" baseline="30000" dirty="0">
                <a:solidFill>
                  <a:srgbClr val="000000"/>
                </a:solidFill>
                <a:latin typeface="Times New Roman" panose="02020603050405020304" pitchFamily="18" charset="0"/>
              </a:rPr>
              <a:t>−1</a:t>
            </a:r>
            <a:r>
              <a:rPr lang="ru-RU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). Т.е. нужно сделать так, чтобы матрица до черты стала единичной, тогда после черты будет записана обратная матрица </a:t>
            </a:r>
            <a:r>
              <a:rPr lang="ru-RU" sz="18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ru-RU" sz="1800" baseline="30000" dirty="0">
                <a:solidFill>
                  <a:srgbClr val="000000"/>
                </a:solidFill>
                <a:latin typeface="Times New Roman" panose="02020603050405020304" pitchFamily="18" charset="0"/>
              </a:rPr>
              <a:t>−1</a:t>
            </a:r>
            <a:r>
              <a:rPr lang="ru-RU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  <a:endParaRPr lang="ru-RU" dirty="0"/>
          </a:p>
        </p:txBody>
      </p:sp>
      <p:pic>
        <p:nvPicPr>
          <p:cNvPr id="4" name="Picture 2" descr="Обратная матрица онлайн">
            <a:extLst>
              <a:ext uri="{FF2B5EF4-FFF2-40B4-BE49-F238E27FC236}">
                <a16:creationId xmlns:a16="http://schemas.microsoft.com/office/drawing/2014/main" id="{2383979A-ED0A-477A-816A-01CCC8BAF1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5398" y="2397244"/>
            <a:ext cx="4358312" cy="13106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FE6A080-D3FA-43DA-8047-47D268FC8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7D8EA-FFCD-4294-8EEE-E3C0B3058240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38039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A76ABE-AAC9-4265-B10C-C1C08FDAF3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532" y="130234"/>
            <a:ext cx="7886700" cy="473773"/>
          </a:xfrm>
        </p:spPr>
        <p:txBody>
          <a:bodyPr>
            <a:normAutofit fontScale="90000"/>
          </a:bodyPr>
          <a:lstStyle/>
          <a:p>
            <a:r>
              <a:rPr lang="ru-RU" sz="2800" b="1" dirty="0">
                <a:latin typeface="Times New Roman" panose="02020603050405020304" pitchFamily="18" charset="0"/>
              </a:rPr>
              <a:t>Примеры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0516866-4C34-460F-80E4-4062ADE978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532" y="604006"/>
            <a:ext cx="8926936" cy="61237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Найти матрицу, обратную матрице</a:t>
            </a:r>
          </a:p>
          <a:p>
            <a:pPr marL="0" indent="0">
              <a:buNone/>
            </a:pPr>
            <a:endParaRPr lang="ru-RU" sz="24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ru-RU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Вычислим определитель матрицы: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|</a:t>
            </a:r>
            <a:r>
              <a:rPr lang="en-US" sz="2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| = </a:t>
            </a:r>
            <a:endParaRPr lang="ru-RU" sz="24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2400" b="0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2. 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Составим алгебраические дополнения: </a:t>
            </a:r>
            <a:endParaRPr lang="ru-RU" sz="24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E1D9772-53A3-4D0D-A409-897DF39FEE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6919" y="197345"/>
            <a:ext cx="2627073" cy="1237463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DF4699D-7D25-4DC3-93AB-42BECF10A56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4843"/>
          <a:stretch/>
        </p:blipFill>
        <p:spPr>
          <a:xfrm>
            <a:off x="847836" y="1966735"/>
            <a:ext cx="4881843" cy="364005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5019EF0-291F-4657-BAEA-DD1208C9FCD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2586" b="665"/>
          <a:stretch/>
        </p:blipFill>
        <p:spPr>
          <a:xfrm>
            <a:off x="2786949" y="2339129"/>
            <a:ext cx="6248519" cy="364005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BEAD7C2A-35AC-4137-AE93-BB670FA8EE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2151" y="3423893"/>
            <a:ext cx="5286375" cy="1838325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4026D933-DF75-4058-B6CF-93D02BC965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35380" y="5421921"/>
            <a:ext cx="4381500" cy="933450"/>
          </a:xfrm>
          <a:prstGeom prst="rect">
            <a:avLst/>
          </a:prstGeom>
        </p:spPr>
      </p:pic>
      <p:sp>
        <p:nvSpPr>
          <p:cNvPr id="13" name="Номер слайда 12">
            <a:extLst>
              <a:ext uri="{FF2B5EF4-FFF2-40B4-BE49-F238E27FC236}">
                <a16:creationId xmlns:a16="http://schemas.microsoft.com/office/drawing/2014/main" id="{7BF4D721-F5C6-46B3-B073-3022FEA9B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7D8EA-FFCD-4294-8EEE-E3C0B3058240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1037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FB42C684-A647-41F3-B345-0A21F17EF3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7590" y="231716"/>
            <a:ext cx="8641184" cy="642075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Матрица из алгебраических дополнений:</a:t>
            </a:r>
          </a:p>
          <a:p>
            <a:pPr marL="0" indent="0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Присоединённая матрица:</a:t>
            </a:r>
          </a:p>
          <a:p>
            <a:pPr marL="0" indent="0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Обратная матрица</a:t>
            </a:r>
            <a:r>
              <a:rPr lang="ru-RU" dirty="0"/>
              <a:t>:</a:t>
            </a:r>
          </a:p>
          <a:p>
            <a:pPr marL="0" indent="0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Самостоятельно найти обратную матрицу с помощью присоединенной.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96FAAB5-19D5-4FEC-BF51-8D60C94A70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8830" y="859564"/>
            <a:ext cx="3850634" cy="1362532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17AA217-2B43-4685-8932-564FBC4D32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0844" y="2780502"/>
            <a:ext cx="3114675" cy="108585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E9FB49A-1A06-457A-B790-CE9BADA24B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590" y="4312640"/>
            <a:ext cx="8803228" cy="1362531"/>
          </a:xfrm>
          <a:prstGeom prst="rect">
            <a:avLst/>
          </a:prstGeom>
        </p:spPr>
      </p:pic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DDBEBF57-9172-4297-BCB8-A66A47C3E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7D8EA-FFCD-4294-8EEE-E3C0B3058240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0290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ChangeArrowheads="1"/>
          </p:cNvSpPr>
          <p:nvPr>
            <p:ph type="title"/>
          </p:nvPr>
        </p:nvSpPr>
        <p:spPr>
          <a:xfrm>
            <a:off x="1181089" y="140878"/>
            <a:ext cx="6400800" cy="896938"/>
          </a:xfrm>
        </p:spPr>
        <p:txBody>
          <a:bodyPr/>
          <a:lstStyle/>
          <a:p>
            <a:pPr algn="ctr"/>
            <a:r>
              <a:rPr lang="ru-RU" altLang="ru-RU" dirty="0">
                <a:effectLst/>
                <a:latin typeface="Times New Roman" panose="02020603050405020304" pitchFamily="18" charset="0"/>
              </a:rPr>
              <a:t> </a:t>
            </a:r>
            <a:r>
              <a:rPr lang="ru-RU" altLang="ru-RU" sz="3000" b="1" dirty="0">
                <a:effectLst/>
                <a:latin typeface="Times New Roman" panose="02020603050405020304" pitchFamily="18" charset="0"/>
              </a:rPr>
              <a:t>3. Метод Гаусса</a:t>
            </a:r>
          </a:p>
        </p:txBody>
      </p:sp>
      <p:sp>
        <p:nvSpPr>
          <p:cNvPr id="1146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8059" y="1037816"/>
            <a:ext cx="8347881" cy="5327650"/>
          </a:xfrm>
        </p:spPr>
        <p:txBody>
          <a:bodyPr/>
          <a:lstStyle/>
          <a:p>
            <a:pPr marL="0" indent="0" algn="just">
              <a:buFont typeface="Wingdings" panose="05000000000000000000" pitchFamily="2" charset="2"/>
              <a:buNone/>
            </a:pPr>
            <a:r>
              <a:rPr lang="ru-RU" altLang="ko-KR" sz="2600" dirty="0">
                <a:effectLst/>
                <a:latin typeface="Times New Roman" panose="02020603050405020304" pitchFamily="18" charset="0"/>
              </a:rPr>
              <a:t>Рассмотрим на примере системы трёх уравнений:</a:t>
            </a:r>
          </a:p>
          <a:p>
            <a:pPr marL="0" indent="0" algn="ctr">
              <a:buFont typeface="Wingdings" panose="05000000000000000000" pitchFamily="2" charset="2"/>
              <a:buNone/>
            </a:pPr>
            <a:endParaRPr lang="ru-RU" altLang="ko-KR" i="1" baseline="-25000" dirty="0">
              <a:effectLst/>
              <a:latin typeface="Times New Roman" panose="02020603050405020304" pitchFamily="18" charset="0"/>
            </a:endParaRPr>
          </a:p>
          <a:p>
            <a:pPr marL="0" indent="0" algn="just">
              <a:buFont typeface="Wingdings" panose="05000000000000000000" pitchFamily="2" charset="2"/>
              <a:buNone/>
            </a:pPr>
            <a:endParaRPr lang="ru-RU" altLang="ko-KR" sz="2600" i="1" dirty="0">
              <a:effectLst/>
              <a:latin typeface="Times New Roman" panose="02020603050405020304" pitchFamily="18" charset="0"/>
            </a:endParaRPr>
          </a:p>
          <a:p>
            <a:pPr marL="0" indent="0" algn="just">
              <a:buFont typeface="Wingdings" panose="05000000000000000000" pitchFamily="2" charset="2"/>
              <a:buNone/>
            </a:pPr>
            <a:endParaRPr lang="ru-RU" altLang="ko-KR" sz="2600" i="1" dirty="0">
              <a:latin typeface="Times New Roman" panose="02020603050405020304" pitchFamily="18" charset="0"/>
            </a:endParaRPr>
          </a:p>
          <a:p>
            <a:pPr marL="0" indent="0" algn="just">
              <a:buFont typeface="Wingdings" panose="05000000000000000000" pitchFamily="2" charset="2"/>
              <a:buNone/>
            </a:pPr>
            <a:r>
              <a:rPr lang="ru-RU" altLang="ko-KR" sz="2600" i="1" dirty="0">
                <a:effectLst/>
                <a:latin typeface="Times New Roman" panose="02020603050405020304" pitchFamily="18" charset="0"/>
              </a:rPr>
              <a:t>Прямой ход</a:t>
            </a:r>
            <a:r>
              <a:rPr lang="ru-RU" altLang="ko-KR" sz="2600" dirty="0">
                <a:effectLst/>
                <a:latin typeface="Times New Roman" panose="02020603050405020304" pitchFamily="18" charset="0"/>
              </a:rPr>
              <a:t> метода Гаусса состоит в следующем:</a:t>
            </a:r>
          </a:p>
          <a:p>
            <a:pPr marL="0" indent="0" algn="just">
              <a:buFont typeface="Wingdings" panose="05000000000000000000" pitchFamily="2" charset="2"/>
              <a:buNone/>
            </a:pPr>
            <a:r>
              <a:rPr lang="ru-RU" altLang="ko-KR" sz="2600" dirty="0">
                <a:effectLst/>
                <a:latin typeface="Times New Roman" panose="02020603050405020304" pitchFamily="18" charset="0"/>
              </a:rPr>
              <a:t>Умножим первое уравнение на –</a:t>
            </a:r>
            <a:r>
              <a:rPr lang="ru-RU" altLang="ko-KR" sz="2600" i="1" dirty="0">
                <a:effectLst/>
                <a:latin typeface="Times New Roman" panose="02020603050405020304" pitchFamily="18" charset="0"/>
              </a:rPr>
              <a:t>a</a:t>
            </a:r>
            <a:r>
              <a:rPr lang="ru-RU" altLang="ko-KR" sz="2600" i="1" baseline="-25000" dirty="0">
                <a:effectLst/>
                <a:latin typeface="Times New Roman" panose="02020603050405020304" pitchFamily="18" charset="0"/>
              </a:rPr>
              <a:t>21</a:t>
            </a:r>
            <a:r>
              <a:rPr lang="ru-RU" altLang="ko-KR" sz="2600" dirty="0">
                <a:effectLst/>
                <a:latin typeface="Times New Roman" panose="02020603050405020304" pitchFamily="18" charset="0"/>
              </a:rPr>
              <a:t>/</a:t>
            </a:r>
            <a:r>
              <a:rPr lang="ru-RU" altLang="ko-KR" sz="2600" i="1" dirty="0">
                <a:effectLst/>
                <a:latin typeface="Times New Roman" panose="02020603050405020304" pitchFamily="18" charset="0"/>
              </a:rPr>
              <a:t>a</a:t>
            </a:r>
            <a:r>
              <a:rPr lang="ru-RU" altLang="ko-KR" sz="2600" i="1" baseline="-25000" dirty="0">
                <a:effectLst/>
                <a:latin typeface="Times New Roman" panose="02020603050405020304" pitchFamily="18" charset="0"/>
              </a:rPr>
              <a:t>11</a:t>
            </a:r>
            <a:r>
              <a:rPr lang="ru-RU" altLang="ko-KR" sz="2600" i="1" dirty="0">
                <a:effectLst/>
                <a:latin typeface="Times New Roman" panose="02020603050405020304" pitchFamily="18" charset="0"/>
              </a:rPr>
              <a:t> </a:t>
            </a:r>
            <a:endParaRPr lang="ru-RU" altLang="ko-KR" sz="2600" i="1" dirty="0">
              <a:latin typeface="Times New Roman" panose="02020603050405020304" pitchFamily="18" charset="0"/>
            </a:endParaRPr>
          </a:p>
          <a:p>
            <a:pPr marL="0" indent="0" algn="just">
              <a:buFont typeface="Wingdings" panose="05000000000000000000" pitchFamily="2" charset="2"/>
              <a:buNone/>
            </a:pPr>
            <a:r>
              <a:rPr lang="ru-RU" altLang="ko-KR" sz="2600" dirty="0">
                <a:effectLst/>
                <a:latin typeface="Times New Roman" panose="02020603050405020304" pitchFamily="18" charset="0"/>
              </a:rPr>
              <a:t>и сложим со вторым:</a:t>
            </a:r>
          </a:p>
          <a:p>
            <a:pPr marL="0" indent="0" algn="just">
              <a:buFont typeface="Wingdings" panose="05000000000000000000" pitchFamily="2" charset="2"/>
              <a:buNone/>
            </a:pPr>
            <a:endParaRPr lang="ru-RU" altLang="ko-KR" sz="2600" dirty="0">
              <a:effectLst/>
              <a:latin typeface="Times New Roman" panose="02020603050405020304" pitchFamily="18" charset="0"/>
            </a:endParaRPr>
          </a:p>
          <a:p>
            <a:pPr marL="0" indent="0" algn="just">
              <a:buFont typeface="Wingdings" panose="05000000000000000000" pitchFamily="2" charset="2"/>
              <a:buNone/>
            </a:pPr>
            <a:endParaRPr lang="ru-RU" altLang="ko-KR" sz="2600" dirty="0">
              <a:latin typeface="Times New Roman" panose="02020603050405020304" pitchFamily="18" charset="0"/>
            </a:endParaRPr>
          </a:p>
          <a:p>
            <a:pPr marL="0" indent="0" algn="just">
              <a:buFont typeface="Wingdings" panose="05000000000000000000" pitchFamily="2" charset="2"/>
              <a:buNone/>
            </a:pPr>
            <a:endParaRPr lang="ru-RU" altLang="ko-KR" sz="2600" dirty="0">
              <a:latin typeface="Times New Roman" panose="02020603050405020304" pitchFamily="18" charset="0"/>
            </a:endParaRPr>
          </a:p>
          <a:p>
            <a:pPr marL="0" indent="0" algn="just">
              <a:buFont typeface="Wingdings" panose="05000000000000000000" pitchFamily="2" charset="2"/>
              <a:buNone/>
            </a:pPr>
            <a:endParaRPr lang="ru-RU" altLang="ru-RU" sz="2600" dirty="0">
              <a:latin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5"/>
              <p:cNvSpPr txBox="1"/>
              <p:nvPr/>
            </p:nvSpPr>
            <p:spPr bwMode="auto">
              <a:xfrm>
                <a:off x="2328065" y="1574989"/>
                <a:ext cx="5432310" cy="185401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13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23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33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5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28065" y="1574989"/>
                <a:ext cx="5432310" cy="185401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3646019-52C5-4217-93A7-5A01B3C1D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7D8EA-FFCD-4294-8EEE-E3C0B3058240}" type="slidenum">
              <a:rPr lang="ru-RU" smtClean="0"/>
              <a:t>10</a:t>
            </a:fld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4">
                <a:extLst>
                  <a:ext uri="{FF2B5EF4-FFF2-40B4-BE49-F238E27FC236}">
                    <a16:creationId xmlns:a16="http://schemas.microsoft.com/office/drawing/2014/main" id="{8C5DFA08-46E3-4CC2-AF39-5EAF8DCA265B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1305636" y="4340226"/>
                <a:ext cx="7209714" cy="20161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775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ru-RU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sSub>
                        <m:sSub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sSub>
                        <m:sSub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sSub>
                        <m:sSub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sSub>
                        <m:sSub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sSub>
                        <m:sSub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sSub>
                        <m:sSub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sSub>
                        <m:sSub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sSub>
                        <m:sSub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sSub>
                        <m:sSub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  <m:oMath xmlns:m="http://schemas.openxmlformats.org/officeDocument/2006/math">
                      <m:sSub>
                        <m:sSub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sSub>
                        <m:sSub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sSub>
                        <m:sSub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23</m:t>
                          </m:r>
                        </m:sub>
                      </m:sSub>
                      <m:sSub>
                        <m:sSub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  <m:oMath xmlns:m="http://schemas.openxmlformats.org/officeDocument/2006/math"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_______________________________________</m:t>
                      </m:r>
                    </m:oMath>
                    <m:oMath xmlns:m="http://schemas.openxmlformats.org/officeDocument/2006/math"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sSub>
                        <m:sSub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sSub>
                        <m:sSub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+(</m:t>
                      </m:r>
                      <m:sSub>
                        <m:sSub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23</m:t>
                          </m:r>
                        </m:sub>
                      </m:sSub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sSub>
                        <m:sSub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sSub>
                        <m:sSub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sSub>
                        <m:sSub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sSub>
                        <m:sSub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6" name="Object 4">
                <a:extLst>
                  <a:ext uri="{FF2B5EF4-FFF2-40B4-BE49-F238E27FC236}">
                    <a16:creationId xmlns:a16="http://schemas.microsoft.com/office/drawing/2014/main" id="{8C5DFA08-46E3-4CC2-AF39-5EAF8DCA26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05636" y="4340226"/>
                <a:ext cx="7209714" cy="201612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52423745"/>
      </p:ext>
    </p:extLst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00501" y="188913"/>
            <a:ext cx="8292674" cy="6408737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ko-KR" sz="2600" dirty="0">
              <a:latin typeface="Times New Roman" panose="02020603050405020304" pitchFamily="18" charset="0"/>
              <a:ea typeface="굴림" panose="020B0600000101010101" pitchFamily="34" charset="-127"/>
            </a:endParaRPr>
          </a:p>
          <a:p>
            <a:pPr marL="0" indent="0" algn="just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ru-RU" altLang="ko-KR" sz="2600" dirty="0">
                <a:effectLst/>
                <a:latin typeface="Times New Roman" panose="02020603050405020304" pitchFamily="18" charset="0"/>
              </a:rPr>
              <a:t>Если обозначить первую скобку за a</a:t>
            </a:r>
            <a:r>
              <a:rPr lang="en-US" altLang="ko-KR" sz="2600" baseline="30000" dirty="0">
                <a:effectLst/>
                <a:latin typeface="Times New Roman" panose="02020603050405020304" pitchFamily="18" charset="0"/>
                <a:ea typeface="굴림" panose="020B0600000101010101" pitchFamily="34" charset="-127"/>
              </a:rPr>
              <a:t>’</a:t>
            </a:r>
            <a:r>
              <a:rPr lang="ru-RU" altLang="ko-KR" sz="2600" baseline="-25000" dirty="0">
                <a:effectLst/>
                <a:latin typeface="Times New Roman" panose="02020603050405020304" pitchFamily="18" charset="0"/>
              </a:rPr>
              <a:t>22</a:t>
            </a:r>
            <a:r>
              <a:rPr lang="ru-RU" altLang="ko-KR" sz="2600" dirty="0">
                <a:effectLst/>
                <a:latin typeface="Times New Roman" panose="02020603050405020304" pitchFamily="18" charset="0"/>
              </a:rPr>
              <a:t> , а вторую за a</a:t>
            </a:r>
            <a:r>
              <a:rPr lang="en-US" altLang="ko-KR" sz="2600" dirty="0">
                <a:effectLst/>
                <a:latin typeface="Times New Roman" panose="02020603050405020304" pitchFamily="18" charset="0"/>
                <a:ea typeface="굴림" panose="020B0600000101010101" pitchFamily="34" charset="-127"/>
              </a:rPr>
              <a:t>’</a:t>
            </a:r>
            <a:r>
              <a:rPr lang="ru-RU" altLang="ko-KR" sz="2600" baseline="-25000" dirty="0">
                <a:effectLst/>
                <a:latin typeface="Times New Roman" panose="02020603050405020304" pitchFamily="18" charset="0"/>
              </a:rPr>
              <a:t>23</a:t>
            </a:r>
            <a:r>
              <a:rPr lang="ru-RU" altLang="ko-KR" sz="2600" dirty="0">
                <a:effectLst/>
                <a:latin typeface="Times New Roman" panose="02020603050405020304" pitchFamily="18" charset="0"/>
              </a:rPr>
              <a:t> и полученную правую часть за b</a:t>
            </a:r>
            <a:r>
              <a:rPr lang="en-US" altLang="ko-KR" sz="2600" baseline="30000" dirty="0">
                <a:effectLst/>
                <a:latin typeface="Times New Roman" panose="02020603050405020304" pitchFamily="18" charset="0"/>
                <a:ea typeface="굴림" panose="020B0600000101010101" pitchFamily="34" charset="-127"/>
              </a:rPr>
              <a:t>’</a:t>
            </a:r>
            <a:r>
              <a:rPr lang="en-US" altLang="ko-KR" sz="2600" baseline="-25000" dirty="0">
                <a:effectLst/>
                <a:latin typeface="Times New Roman" panose="02020603050405020304" pitchFamily="18" charset="0"/>
                <a:ea typeface="굴림" panose="020B0600000101010101" pitchFamily="34" charset="-127"/>
              </a:rPr>
              <a:t>2</a:t>
            </a:r>
            <a:r>
              <a:rPr lang="en-US" altLang="ko-KR" sz="2600" dirty="0">
                <a:effectLst/>
                <a:latin typeface="Times New Roman" panose="02020603050405020304" pitchFamily="18" charset="0"/>
                <a:ea typeface="굴림" panose="020B0600000101010101" pitchFamily="34" charset="-127"/>
              </a:rPr>
              <a:t> </a:t>
            </a:r>
            <a:r>
              <a:rPr lang="ru-RU" altLang="ko-KR" sz="2600" dirty="0">
                <a:effectLst/>
                <a:latin typeface="Times New Roman" panose="02020603050405020304" pitchFamily="18" charset="0"/>
              </a:rPr>
              <a:t>, то получим:</a:t>
            </a:r>
            <a:endParaRPr lang="en-US" altLang="ko-KR" sz="2600" dirty="0">
              <a:effectLst/>
              <a:latin typeface="Times New Roman" panose="02020603050405020304" pitchFamily="18" charset="0"/>
              <a:ea typeface="굴림" panose="020B0600000101010101" pitchFamily="34" charset="-127"/>
            </a:endParaRPr>
          </a:p>
          <a:p>
            <a:pPr marL="0" indent="0" algn="just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ko-KR" sz="2600" dirty="0">
              <a:effectLst/>
              <a:latin typeface="Times New Roman" panose="02020603050405020304" pitchFamily="18" charset="0"/>
              <a:ea typeface="굴림" panose="020B0600000101010101" pitchFamily="34" charset="-127"/>
            </a:endParaRPr>
          </a:p>
          <a:p>
            <a:pPr marL="0" indent="0" algn="just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ko-KR" sz="2600" dirty="0">
              <a:effectLst/>
              <a:latin typeface="Times New Roman" panose="02020603050405020304" pitchFamily="18" charset="0"/>
              <a:ea typeface="굴림" panose="020B0600000101010101" pitchFamily="34" charset="-127"/>
            </a:endParaRPr>
          </a:p>
          <a:p>
            <a:pPr marL="0" indent="0" algn="just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ko-KR" sz="2600" dirty="0">
              <a:effectLst/>
              <a:latin typeface="Times New Roman" panose="02020603050405020304" pitchFamily="18" charset="0"/>
              <a:ea typeface="굴림" panose="020B0600000101010101" pitchFamily="34" charset="-127"/>
            </a:endParaRPr>
          </a:p>
          <a:p>
            <a:pPr marL="0" indent="0" algn="just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ru-RU" altLang="ko-KR" sz="2600" dirty="0">
                <a:effectLst/>
                <a:latin typeface="Times New Roman" panose="02020603050405020304" pitchFamily="18" charset="0"/>
              </a:rPr>
              <a:t>Аналогично: умножим первое уравнение на –</a:t>
            </a:r>
            <a:r>
              <a:rPr lang="ru-RU" altLang="ko-KR" sz="2600" i="1" dirty="0">
                <a:effectLst/>
                <a:latin typeface="Times New Roman" panose="02020603050405020304" pitchFamily="18" charset="0"/>
              </a:rPr>
              <a:t>a</a:t>
            </a:r>
            <a:r>
              <a:rPr lang="en-US" altLang="ko-KR" sz="2600" i="1" baseline="-25000" dirty="0">
                <a:effectLst/>
                <a:latin typeface="Times New Roman" panose="02020603050405020304" pitchFamily="18" charset="0"/>
                <a:ea typeface="굴림" panose="020B0600000101010101" pitchFamily="34" charset="-127"/>
              </a:rPr>
              <a:t>31</a:t>
            </a:r>
            <a:r>
              <a:rPr lang="ru-RU" altLang="ko-KR" sz="2600" dirty="0">
                <a:effectLst/>
                <a:latin typeface="Times New Roman" panose="02020603050405020304" pitchFamily="18" charset="0"/>
              </a:rPr>
              <a:t>/</a:t>
            </a:r>
            <a:r>
              <a:rPr lang="ru-RU" altLang="ko-KR" sz="2600" i="1" dirty="0">
                <a:effectLst/>
                <a:latin typeface="Times New Roman" panose="02020603050405020304" pitchFamily="18" charset="0"/>
              </a:rPr>
              <a:t>a</a:t>
            </a:r>
            <a:r>
              <a:rPr lang="en-US" altLang="ko-KR" sz="2600" i="1" baseline="-25000" dirty="0">
                <a:effectLst/>
                <a:latin typeface="Times New Roman" panose="02020603050405020304" pitchFamily="18" charset="0"/>
                <a:ea typeface="굴림" panose="020B0600000101010101" pitchFamily="34" charset="-127"/>
              </a:rPr>
              <a:t>11 </a:t>
            </a:r>
            <a:r>
              <a:rPr lang="en-US" altLang="ko-KR" sz="2600" i="1" dirty="0">
                <a:effectLst/>
                <a:latin typeface="Times New Roman" panose="02020603050405020304" pitchFamily="18" charset="0"/>
                <a:ea typeface="굴림" panose="020B0600000101010101" pitchFamily="34" charset="-127"/>
              </a:rPr>
              <a:t>,</a:t>
            </a:r>
            <a:r>
              <a:rPr lang="ru-RU" altLang="ko-KR" sz="2600" dirty="0">
                <a:effectLst/>
                <a:latin typeface="Times New Roman" panose="02020603050405020304" pitchFamily="18" charset="0"/>
              </a:rPr>
              <a:t> сложим с третьим уравнением</a:t>
            </a:r>
            <a:r>
              <a:rPr lang="en-US" altLang="ko-KR" sz="2600" dirty="0">
                <a:effectLst/>
                <a:latin typeface="Times New Roman" panose="02020603050405020304" pitchFamily="18" charset="0"/>
              </a:rPr>
              <a:t> </a:t>
            </a:r>
            <a:r>
              <a:rPr lang="ru-RU" altLang="ko-KR" sz="2600" dirty="0">
                <a:effectLst/>
                <a:latin typeface="Times New Roman" panose="02020603050405020304" pitchFamily="18" charset="0"/>
              </a:rPr>
              <a:t>и обозначим полученное уравнение так:</a:t>
            </a:r>
            <a:endParaRPr lang="ru-RU" altLang="ko-KR" sz="2600" i="1" dirty="0">
              <a:effectLst/>
              <a:latin typeface="Times New Roman" panose="02020603050405020304" pitchFamily="18" charset="0"/>
            </a:endParaRPr>
          </a:p>
          <a:p>
            <a:pPr marL="0" indent="0" algn="ctr">
              <a:buFont typeface="Wingdings" panose="05000000000000000000" pitchFamily="2" charset="2"/>
              <a:buNone/>
            </a:pPr>
            <a:r>
              <a:rPr lang="en-US" altLang="ko-KR" sz="2400" i="1" dirty="0">
                <a:latin typeface="Times New Roman" panose="02020603050405020304" pitchFamily="18" charset="0"/>
                <a:ea typeface="굴림" panose="020B0600000101010101" pitchFamily="34" charset="-127"/>
              </a:rPr>
              <a:t> </a:t>
            </a:r>
            <a:r>
              <a:rPr lang="ru-RU" altLang="ko-KR" sz="2400" i="1" dirty="0">
                <a:latin typeface="Times New Roman" panose="02020603050405020304" pitchFamily="18" charset="0"/>
              </a:rPr>
              <a:t>a'</a:t>
            </a:r>
            <a:r>
              <a:rPr lang="en-US" altLang="ko-KR" sz="2400" i="1" baseline="-25000" dirty="0">
                <a:latin typeface="Times New Roman" panose="02020603050405020304" pitchFamily="18" charset="0"/>
                <a:ea typeface="굴림" panose="020B0600000101010101" pitchFamily="34" charset="-127"/>
              </a:rPr>
              <a:t>32</a:t>
            </a:r>
            <a:r>
              <a:rPr lang="en-US" altLang="ko-KR" sz="2400" dirty="0">
                <a:latin typeface="Times New Roman" panose="02020603050405020304" pitchFamily="18" charset="0"/>
                <a:ea typeface="굴림" panose="020B0600000101010101" pitchFamily="34" charset="-127"/>
              </a:rPr>
              <a:t> </a:t>
            </a:r>
            <a:r>
              <a:rPr lang="ru-RU" altLang="ko-KR" sz="2400" i="1" dirty="0">
                <a:latin typeface="Times New Roman" panose="02020603050405020304" pitchFamily="18" charset="0"/>
              </a:rPr>
              <a:t>x</a:t>
            </a:r>
            <a:r>
              <a:rPr lang="en-US" altLang="ko-KR" sz="2400" i="1" baseline="-25000" dirty="0">
                <a:latin typeface="Times New Roman" panose="02020603050405020304" pitchFamily="18" charset="0"/>
                <a:ea typeface="굴림" panose="020B0600000101010101" pitchFamily="34" charset="-127"/>
              </a:rPr>
              <a:t>2</a:t>
            </a:r>
            <a:r>
              <a:rPr lang="ru-RU" altLang="ko-KR" sz="2400" i="1" dirty="0">
                <a:latin typeface="Times New Roman" panose="02020603050405020304" pitchFamily="18" charset="0"/>
              </a:rPr>
              <a:t> + a'</a:t>
            </a:r>
            <a:r>
              <a:rPr lang="en-US" altLang="ko-KR" sz="2400" i="1" baseline="-25000" dirty="0">
                <a:latin typeface="Times New Roman" panose="02020603050405020304" pitchFamily="18" charset="0"/>
                <a:ea typeface="굴림" panose="020B0600000101010101" pitchFamily="34" charset="-127"/>
              </a:rPr>
              <a:t>33</a:t>
            </a:r>
            <a:r>
              <a:rPr lang="en-US" altLang="ko-KR" sz="2400" dirty="0">
                <a:latin typeface="Times New Roman" panose="02020603050405020304" pitchFamily="18" charset="0"/>
                <a:ea typeface="굴림" panose="020B0600000101010101" pitchFamily="34" charset="-127"/>
              </a:rPr>
              <a:t> </a:t>
            </a:r>
            <a:r>
              <a:rPr lang="ru-RU" altLang="ko-KR" sz="2400" i="1" dirty="0">
                <a:latin typeface="Times New Roman" panose="02020603050405020304" pitchFamily="18" charset="0"/>
              </a:rPr>
              <a:t>x</a:t>
            </a:r>
            <a:r>
              <a:rPr lang="en-US" altLang="ko-KR" sz="2400" i="1" baseline="-25000" dirty="0">
                <a:latin typeface="Times New Roman" panose="02020603050405020304" pitchFamily="18" charset="0"/>
                <a:ea typeface="굴림" panose="020B0600000101010101" pitchFamily="34" charset="-127"/>
              </a:rPr>
              <a:t>3</a:t>
            </a:r>
            <a:r>
              <a:rPr lang="ru-RU" altLang="ko-KR" sz="2400" i="1" dirty="0">
                <a:latin typeface="Times New Roman" panose="02020603050405020304" pitchFamily="18" charset="0"/>
              </a:rPr>
              <a:t> = b'</a:t>
            </a:r>
            <a:r>
              <a:rPr lang="en-US" altLang="ko-KR" sz="2400" i="1" baseline="-25000" dirty="0">
                <a:latin typeface="Times New Roman" panose="02020603050405020304" pitchFamily="18" charset="0"/>
                <a:ea typeface="굴림" panose="020B0600000101010101" pitchFamily="34" charset="-127"/>
              </a:rPr>
              <a:t>3</a:t>
            </a:r>
            <a:r>
              <a:rPr lang="en-US" altLang="ko-KR" sz="2400" i="1" dirty="0">
                <a:latin typeface="Times New Roman" panose="02020603050405020304" pitchFamily="18" charset="0"/>
                <a:ea typeface="굴림" panose="020B0600000101010101" pitchFamily="34" charset="-127"/>
              </a:rPr>
              <a:t> </a:t>
            </a:r>
            <a:r>
              <a:rPr lang="ru-RU" altLang="ko-KR" sz="2400" dirty="0">
                <a:latin typeface="Times New Roman" panose="02020603050405020304" pitchFamily="18" charset="0"/>
              </a:rPr>
              <a:t>.</a:t>
            </a:r>
          </a:p>
          <a:p>
            <a:pPr marL="0" indent="0" algn="just">
              <a:buFont typeface="Wingdings" panose="05000000000000000000" pitchFamily="2" charset="2"/>
              <a:buNone/>
            </a:pPr>
            <a:r>
              <a:rPr lang="ru-RU" altLang="ko-KR" sz="2400" dirty="0">
                <a:latin typeface="Times New Roman" panose="02020603050405020304" pitchFamily="18" charset="0"/>
              </a:rPr>
              <a:t>Обобщенная формула для «штриховых» коэффициентов:</a:t>
            </a:r>
            <a:endParaRPr lang="ru-RU" altLang="ko-KR" sz="2400" dirty="0"/>
          </a:p>
          <a:p>
            <a:pPr marL="0" indent="0" algn="just">
              <a:buFont typeface="Wingdings" panose="05000000000000000000" pitchFamily="2" charset="2"/>
              <a:buNone/>
            </a:pPr>
            <a:endParaRPr lang="ru-RU" altLang="ru-RU" sz="2400" dirty="0"/>
          </a:p>
          <a:p>
            <a:pPr marL="0" indent="0" algn="just">
              <a:buFont typeface="Wingdings" panose="05000000000000000000" pitchFamily="2" charset="2"/>
              <a:buNone/>
            </a:pPr>
            <a:endParaRPr lang="ru-RU" altLang="ru-RU" sz="2400" dirty="0"/>
          </a:p>
          <a:p>
            <a:pPr marL="0" indent="0" algn="just">
              <a:buFont typeface="Wingdings" panose="05000000000000000000" pitchFamily="2" charset="2"/>
              <a:buNone/>
            </a:pPr>
            <a:endParaRPr lang="ru-RU" altLang="ru-RU" sz="2400" dirty="0"/>
          </a:p>
          <a:p>
            <a:pPr marL="0" indent="0" algn="just">
              <a:buFont typeface="Wingdings" panose="05000000000000000000" pitchFamily="2" charset="2"/>
              <a:buNone/>
            </a:pPr>
            <a:r>
              <a:rPr lang="ru-RU" altLang="ko-KR" sz="2400" dirty="0">
                <a:latin typeface="Times New Roman" panose="02020603050405020304" pitchFamily="18" charset="0"/>
              </a:rPr>
              <a:t>Исключим теперь </a:t>
            </a:r>
            <a:r>
              <a:rPr lang="ru-RU" altLang="ko-KR" sz="2400" i="1" dirty="0">
                <a:latin typeface="Times New Roman" panose="02020603050405020304" pitchFamily="18" charset="0"/>
              </a:rPr>
              <a:t>x</a:t>
            </a:r>
            <a:r>
              <a:rPr lang="ru-RU" altLang="ko-KR" sz="2400" baseline="-25000" dirty="0">
                <a:latin typeface="Times New Roman" panose="02020603050405020304" pitchFamily="18" charset="0"/>
              </a:rPr>
              <a:t>2</a:t>
            </a:r>
            <a:r>
              <a:rPr lang="ru-RU" altLang="ko-KR" sz="2400" dirty="0">
                <a:latin typeface="Times New Roman" panose="02020603050405020304" pitchFamily="18" charset="0"/>
              </a:rPr>
              <a:t> из 3-го уравнения.</a:t>
            </a:r>
            <a:r>
              <a:rPr lang="ru-RU" altLang="ko-KR" sz="2400" dirty="0"/>
              <a:t> </a:t>
            </a:r>
            <a:endParaRPr lang="ru-RU" altLang="ko-KR" sz="2200" dirty="0">
              <a:effectLst/>
              <a:latin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5722" name="Object 10"/>
              <p:cNvSpPr txBox="1">
                <a:spLocks noGrp="1"/>
              </p:cNvSpPr>
              <p:nvPr>
                <p:ph sz="quarter" idx="3"/>
              </p:nvPr>
            </p:nvSpPr>
            <p:spPr bwMode="auto">
              <a:xfrm>
                <a:off x="2354215" y="1515522"/>
                <a:ext cx="4435570" cy="120313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sSub>
                        <m:sSub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sSub>
                        <m:sSub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  <m:sSub>
                        <m:sSub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br>
                  <a:rPr lang="ru-RU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:r>
                  <a:rPr lang="en-US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              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b>
                      <m:sup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sSub>
                      <m:sSubPr>
                        <m:ctrlP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sub>
                      <m:sup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sSub>
                      <m:sSubPr>
                        <m:ctrlP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115722" name="Object 10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3"/>
              </p:nvPr>
            </p:nvSpPr>
            <p:spPr bwMode="auto">
              <a:xfrm>
                <a:off x="2354215" y="1515522"/>
                <a:ext cx="4435570" cy="120313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5EC64BAE-9277-40C2-BFA4-30565CD9C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668DF-FBD4-4B5A-B8D4-84B3FDBCDBBE}" type="slidenum">
              <a:rPr lang="ru-RU" altLang="ru-RU" smtClean="0"/>
              <a:pPr/>
              <a:t>11</a:t>
            </a:fld>
            <a:endParaRPr lang="ru-RU" alt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4">
                <a:extLst>
                  <a:ext uri="{FF2B5EF4-FFF2-40B4-BE49-F238E27FC236}">
                    <a16:creationId xmlns:a16="http://schemas.microsoft.com/office/drawing/2014/main" id="{C20B0107-E6CC-4A94-9EA7-FEF9AF5098EE}"/>
                  </a:ext>
                </a:extLst>
              </p:cNvPr>
              <p:cNvSpPr txBox="1"/>
              <p:nvPr/>
            </p:nvSpPr>
            <p:spPr bwMode="auto">
              <a:xfrm>
                <a:off x="1363651" y="4882998"/>
                <a:ext cx="7019108" cy="1179085"/>
              </a:xfrm>
              <a:prstGeom prst="rect">
                <a:avLst/>
              </a:prstGeom>
              <a:noFill/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ru-RU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ru-RU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ru-RU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  <m:sup>
                          <m:r>
                            <a:rPr lang="ru-RU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ru-RU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ru-RU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ru-RU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ru-RU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ru-RU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ru-RU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ru-RU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ru-RU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ru-RU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ru-RU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ru-RU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ru-RU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sub>
                          </m:sSub>
                        </m:den>
                      </m:f>
                      <m:r>
                        <a:rPr lang="ru-RU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;</m:t>
                      </m:r>
                      <m:m>
                        <m:mPr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ru-RU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/>
                          <m:e>
                            <m:sSubSup>
                              <m:sSubSupPr>
                                <m:ctrlPr>
                                  <a:rPr lang="ru-RU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ru-RU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ru-RU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ru-RU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bSup>
                            <m:r>
                              <a:rPr lang="ru-RU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ru-RU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ru-RU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ru-RU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ru-RU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ru-RU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ru-RU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ru-RU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ru-RU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ru-RU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ru-RU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ru-RU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den>
                            </m:f>
                            <m:r>
                              <a:rPr lang="ru-RU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m>
                              <m:mPr>
                                <m:plcHide m:val="on"/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ru-RU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/>
                                <m:e>
                                  <m:r>
                                    <a:rPr lang="ru-RU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ru-RU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ru-RU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ru-RU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=2,3</m:t>
                                  </m:r>
                                </m:e>
                              </m:mr>
                            </m:m>
                          </m:e>
                        </m:mr>
                      </m:m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9" name="Object 4">
                <a:extLst>
                  <a:ext uri="{FF2B5EF4-FFF2-40B4-BE49-F238E27FC236}">
                    <a16:creationId xmlns:a16="http://schemas.microsoft.com/office/drawing/2014/main" id="{C20B0107-E6CC-4A94-9EA7-FEF9AF5098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63651" y="4882998"/>
                <a:ext cx="7019108" cy="117908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87181490"/>
      </p:ext>
    </p:extLst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09434" y="260350"/>
            <a:ext cx="8483742" cy="6337300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lang="ru-RU" altLang="ko-KR" sz="2600" dirty="0">
                <a:effectLst/>
                <a:latin typeface="Times New Roman" panose="02020603050405020304" pitchFamily="18" charset="0"/>
              </a:rPr>
              <a:t>Таким образом, система сведётся к ступенчатому виду: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ru-RU" altLang="ko-KR" sz="2600" i="1" dirty="0">
              <a:effectLst/>
              <a:latin typeface="Times New Roman" panose="02020603050405020304" pitchFamily="18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ru-RU" altLang="ko-KR" sz="2600" i="1" dirty="0">
              <a:effectLst/>
              <a:latin typeface="Times New Roman" panose="02020603050405020304" pitchFamily="18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ru-RU" altLang="ko-KR" sz="2600" i="1" dirty="0">
              <a:latin typeface="Times New Roman" panose="02020603050405020304" pitchFamily="18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ru-RU" altLang="ko-KR" sz="2600" i="1" dirty="0">
              <a:latin typeface="Times New Roman" panose="02020603050405020304" pitchFamily="18" charset="0"/>
              <a:ea typeface="굴림" panose="020B0600000101010101" pitchFamily="34" charset="-127"/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ru-RU" altLang="ko-KR" sz="2600" i="1" dirty="0">
              <a:latin typeface="Times New Roman" panose="02020603050405020304" pitchFamily="18" charset="0"/>
              <a:ea typeface="굴림" panose="020B0600000101010101" pitchFamily="34" charset="-127"/>
            </a:endParaRPr>
          </a:p>
          <a:p>
            <a:pPr marL="0" indent="0">
              <a:buNone/>
            </a:pPr>
            <a:r>
              <a:rPr lang="ru-RU" altLang="ko-KR" sz="2600" dirty="0">
                <a:latin typeface="Times New Roman" panose="02020603050405020304" pitchFamily="18" charset="0"/>
              </a:rPr>
              <a:t>Для «дважды штриховых» коэффициентов общие формулы имеют вид: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en-US" altLang="ko-KR" sz="2600" i="1" dirty="0">
              <a:latin typeface="Times New Roman" panose="02020603050405020304" pitchFamily="18" charset="0"/>
              <a:ea typeface="굴림" panose="020B0600000101010101" pitchFamily="34" charset="-127"/>
            </a:endParaRPr>
          </a:p>
        </p:txBody>
      </p:sp>
      <p:sp>
        <p:nvSpPr>
          <p:cNvPr id="119813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9814" name="Object 6"/>
              <p:cNvSpPr txBox="1">
                <a:spLocks noGrp="1"/>
              </p:cNvSpPr>
              <p:nvPr>
                <p:ph sz="half" idx="2"/>
              </p:nvPr>
            </p:nvSpPr>
            <p:spPr bwMode="auto">
              <a:xfrm>
                <a:off x="2333727" y="1098969"/>
                <a:ext cx="4476545" cy="204390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sSub>
                        <m:sSub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sSub>
                        <m:sSub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  <m:sSub>
                        <m:sSub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br>
                  <a:rPr lang="ru-RU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:r>
                  <a:rPr lang="en-US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               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b>
                      <m:sup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sSub>
                      <m:sSubPr>
                        <m:ctrlP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sub>
                      <m:sup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sSub>
                      <m:sSubPr>
                        <m:ctrlP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br>
                  <a:rPr lang="ru-RU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:r>
                  <a:rPr lang="en-US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		       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33</m:t>
                        </m:r>
                      </m:sub>
                      <m:sup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bSup>
                    <m:sSub>
                      <m:sSubPr>
                        <m:ctrlP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bSup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119814" name="Object 6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 bwMode="auto">
              <a:xfrm>
                <a:off x="2333727" y="1098969"/>
                <a:ext cx="4476545" cy="204390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F8B1B337-CB84-4A61-9DC7-E9A622882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D819B-597F-4C51-BCC6-67776FC76691}" type="slidenum">
              <a:rPr lang="ru-RU" altLang="ru-RU" smtClean="0"/>
              <a:pPr/>
              <a:t>12</a:t>
            </a:fld>
            <a:endParaRPr lang="ru-RU" altLang="ru-RU"/>
          </a:p>
        </p:txBody>
      </p:sp>
      <p:sp>
        <p:nvSpPr>
          <p:cNvPr id="7" name="Левая фигурная скобка 6">
            <a:extLst>
              <a:ext uri="{FF2B5EF4-FFF2-40B4-BE49-F238E27FC236}">
                <a16:creationId xmlns:a16="http://schemas.microsoft.com/office/drawing/2014/main" id="{986EE400-1A8B-48B4-B443-AA5325267DA0}"/>
              </a:ext>
            </a:extLst>
          </p:cNvPr>
          <p:cNvSpPr/>
          <p:nvPr/>
        </p:nvSpPr>
        <p:spPr>
          <a:xfrm>
            <a:off x="2204073" y="1199464"/>
            <a:ext cx="259307" cy="1182689"/>
          </a:xfrm>
          <a:prstGeom prst="leftBrace">
            <a:avLst>
              <a:gd name="adj1" fmla="val 8333"/>
              <a:gd name="adj2" fmla="val 48529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4">
                <a:extLst>
                  <a:ext uri="{FF2B5EF4-FFF2-40B4-BE49-F238E27FC236}">
                    <a16:creationId xmlns:a16="http://schemas.microsoft.com/office/drawing/2014/main" id="{BF436DBC-5F67-48F4-94D0-97EB7B22A5B4}"/>
                  </a:ext>
                </a:extLst>
              </p:cNvPr>
              <p:cNvSpPr txBox="1"/>
              <p:nvPr/>
            </p:nvSpPr>
            <p:spPr bwMode="auto">
              <a:xfrm>
                <a:off x="1563970" y="4152708"/>
                <a:ext cx="6917300" cy="1253409"/>
              </a:xfrm>
              <a:prstGeom prst="rect">
                <a:avLst/>
              </a:prstGeom>
              <a:noFill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  <m:sup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′′</m:t>
                          </m:r>
                        </m:sup>
                      </m:sSubSup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  <m:sub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p>
                                <m:sSupPr>
                                  <m:ctrlPr>
                                    <a:rPr lang="ru-RU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ru-RU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  <m:sub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p>
                                <m:sSupPr>
                                  <m:ctrlPr>
                                    <a:rPr lang="ru-RU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ru-RU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  <m:sub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p>
                                <m:sSupPr>
                                  <m:ctrlPr>
                                    <a:rPr lang="ru-RU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ru-RU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  <m:sub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22</m:t>
                              </m:r>
                            </m:sub>
                          </m:sSub>
                        </m:den>
                      </m:f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;</m:t>
                      </m:r>
                      <m:m>
                        <m:mPr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/>
                          <m:e>
                            <m:sSubSup>
                              <m:sSubSupPr>
                                <m:ctrlPr>
                                  <a:rPr lang="ru-RU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ru-RU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ru-RU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ru-RU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′′</m:t>
                                </m:r>
                              </m:sup>
                            </m:sSubSup>
                            <m:r>
                              <a:rPr lang="ru-RU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ru-RU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sSup>
                                  <m:sSupPr>
                                    <m:ctrlPr>
                                      <a:rPr lang="ru-RU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ru-RU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p>
                                    <m:r>
                                      <a:rPr lang="ru-RU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e>
                              <m:sub>
                                <m:r>
                                  <a:rPr lang="ru-RU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ru-RU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ru-RU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ru-RU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sSup>
                                      <m:sSupPr>
                                        <m:ctrlPr>
                                          <a:rPr lang="ru-RU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ru-RU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p>
                                        <m:r>
                                          <a:rPr lang="ru-RU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</m:e>
                                  <m:sub>
                                    <m:r>
                                      <a:rPr lang="ru-RU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ru-RU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ru-RU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sSup>
                                      <m:sSupPr>
                                        <m:ctrlPr>
                                          <a:rPr lang="ru-RU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ru-RU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p>
                                        <m:r>
                                          <a:rPr lang="ru-RU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</m:e>
                                  <m:sub>
                                    <m:r>
                                      <a:rPr lang="ru-RU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ru-RU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sSup>
                                      <m:sSupPr>
                                        <m:ctrlPr>
                                          <a:rPr lang="ru-RU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ru-RU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p>
                                        <m:r>
                                          <a:rPr lang="ru-RU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</m:e>
                                  <m:sub>
                                    <m:r>
                                      <a:rPr lang="ru-RU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den>
                            </m:f>
                            <m:r>
                              <a:rPr lang="ru-RU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m>
                              <m:mPr>
                                <m:plcHide m:val="on"/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ru-RU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/>
                                <m:e>
                                  <m:r>
                                    <a:rPr lang="ru-RU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ru-RU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ru-RU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ru-RU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=2,3</m:t>
                                  </m:r>
                                </m:e>
                              </m:mr>
                            </m:m>
                          </m:e>
                        </m:mr>
                      </m:m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8" name="Object 4">
                <a:extLst>
                  <a:ext uri="{FF2B5EF4-FFF2-40B4-BE49-F238E27FC236}">
                    <a16:creationId xmlns:a16="http://schemas.microsoft.com/office/drawing/2014/main" id="{BF436DBC-5F67-48F4-94D0-97EB7B22A5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63970" y="4152708"/>
                <a:ext cx="6917300" cy="125340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77131391"/>
      </p:ext>
    </p:extLst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2263" y="188913"/>
            <a:ext cx="8306937" cy="6408737"/>
          </a:xfrm>
        </p:spPr>
        <p:txBody>
          <a:bodyPr/>
          <a:lstStyle/>
          <a:p>
            <a:pPr marL="0" indent="0" algn="just">
              <a:buFont typeface="Wingdings" panose="05000000000000000000" pitchFamily="2" charset="2"/>
              <a:buNone/>
            </a:pPr>
            <a:endParaRPr lang="ru-RU" altLang="ru-RU" sz="2600" dirty="0">
              <a:effectLst/>
              <a:latin typeface="Times New Roman" panose="02020603050405020304" pitchFamily="18" charset="0"/>
            </a:endParaRPr>
          </a:p>
          <a:p>
            <a:pPr marL="0" indent="0" algn="just">
              <a:buFont typeface="Wingdings" panose="05000000000000000000" pitchFamily="2" charset="2"/>
              <a:buNone/>
            </a:pPr>
            <a:r>
              <a:rPr lang="ru-RU" altLang="ko-KR" sz="2600" i="1" dirty="0">
                <a:effectLst/>
                <a:latin typeface="Times New Roman" panose="02020603050405020304" pitchFamily="18" charset="0"/>
              </a:rPr>
              <a:t>Обратный ход</a:t>
            </a:r>
            <a:r>
              <a:rPr lang="ru-RU" altLang="ko-KR" sz="2600" dirty="0">
                <a:effectLst/>
                <a:latin typeface="Times New Roman" panose="02020603050405020304" pitchFamily="18" charset="0"/>
              </a:rPr>
              <a:t> метода Гаусса состоит в следующем: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ru-RU" altLang="ko-KR" sz="2600" dirty="0">
                <a:effectLst/>
                <a:latin typeface="Times New Roman" panose="02020603050405020304" pitchFamily="18" charset="0"/>
              </a:rPr>
              <a:t>Находим </a:t>
            </a:r>
            <a:r>
              <a:rPr lang="ru-RU" altLang="ko-KR" sz="2600" i="1" dirty="0">
                <a:effectLst/>
                <a:latin typeface="Times New Roman" panose="02020603050405020304" pitchFamily="18" charset="0"/>
              </a:rPr>
              <a:t>x</a:t>
            </a:r>
            <a:r>
              <a:rPr lang="ru-RU" altLang="ko-KR" sz="2600" baseline="-25000" dirty="0">
                <a:effectLst/>
                <a:latin typeface="Times New Roman" panose="02020603050405020304" pitchFamily="18" charset="0"/>
              </a:rPr>
              <a:t>3</a:t>
            </a:r>
            <a:r>
              <a:rPr lang="ru-RU" altLang="ko-KR" sz="2600" i="1" dirty="0">
                <a:effectLst/>
                <a:latin typeface="Times New Roman" panose="02020603050405020304" pitchFamily="18" charset="0"/>
              </a:rPr>
              <a:t> </a:t>
            </a:r>
            <a:r>
              <a:rPr lang="ru-RU" altLang="ko-KR" sz="2600" dirty="0">
                <a:effectLst/>
                <a:latin typeface="Times New Roman" panose="02020603050405020304" pitchFamily="18" charset="0"/>
              </a:rPr>
              <a:t>из 3-го уравнения: </a:t>
            </a:r>
          </a:p>
          <a:p>
            <a:pPr marL="0" indent="0" algn="ctr">
              <a:buFont typeface="Wingdings" panose="05000000000000000000" pitchFamily="2" charset="2"/>
              <a:buNone/>
            </a:pPr>
            <a:r>
              <a:rPr lang="ru-RU" altLang="ko-KR" i="1" dirty="0">
                <a:effectLst/>
                <a:latin typeface="Times New Roman" panose="02020603050405020304" pitchFamily="18" charset="0"/>
              </a:rPr>
              <a:t>x</a:t>
            </a:r>
            <a:r>
              <a:rPr lang="ru-RU" altLang="ko-KR" baseline="-25000" dirty="0">
                <a:effectLst/>
                <a:latin typeface="Times New Roman" panose="02020603050405020304" pitchFamily="18" charset="0"/>
              </a:rPr>
              <a:t>3</a:t>
            </a:r>
            <a:r>
              <a:rPr lang="ru-RU" altLang="ko-KR" i="1" dirty="0">
                <a:effectLst/>
                <a:latin typeface="Times New Roman" panose="02020603050405020304" pitchFamily="18" charset="0"/>
              </a:rPr>
              <a:t> = b''</a:t>
            </a:r>
            <a:r>
              <a:rPr lang="ru-RU" altLang="ko-KR" i="1" baseline="-25000" dirty="0">
                <a:effectLst/>
                <a:latin typeface="Times New Roman" panose="02020603050405020304" pitchFamily="18" charset="0"/>
              </a:rPr>
              <a:t>3</a:t>
            </a:r>
            <a:r>
              <a:rPr lang="ru-RU" altLang="ko-KR" i="1" dirty="0">
                <a:effectLst/>
                <a:latin typeface="Times New Roman" panose="02020603050405020304" pitchFamily="18" charset="0"/>
              </a:rPr>
              <a:t> </a:t>
            </a:r>
            <a:r>
              <a:rPr lang="ru-RU" altLang="ko-KR" dirty="0">
                <a:effectLst/>
                <a:latin typeface="Times New Roman" panose="02020603050405020304" pitchFamily="18" charset="0"/>
              </a:rPr>
              <a:t>/</a:t>
            </a:r>
            <a:r>
              <a:rPr lang="ru-RU" altLang="ko-KR" i="1" dirty="0">
                <a:effectLst/>
                <a:latin typeface="Times New Roman" panose="02020603050405020304" pitchFamily="18" charset="0"/>
              </a:rPr>
              <a:t>a''</a:t>
            </a:r>
            <a:r>
              <a:rPr lang="ru-RU" altLang="ko-KR" i="1" baseline="-25000" dirty="0">
                <a:effectLst/>
                <a:latin typeface="Times New Roman" panose="02020603050405020304" pitchFamily="18" charset="0"/>
              </a:rPr>
              <a:t>33</a:t>
            </a:r>
            <a:r>
              <a:rPr lang="ru-RU" altLang="ko-KR" dirty="0">
                <a:effectLst/>
                <a:latin typeface="Times New Roman" panose="02020603050405020304" pitchFamily="18" charset="0"/>
              </a:rPr>
              <a:t> 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ru-RU" altLang="ko-KR" sz="2600" dirty="0">
                <a:effectLst/>
                <a:latin typeface="Times New Roman" panose="02020603050405020304" pitchFamily="18" charset="0"/>
              </a:rPr>
              <a:t>Потом</a:t>
            </a:r>
            <a:r>
              <a:rPr lang="en-US" altLang="ko-KR" sz="2600" dirty="0">
                <a:effectLst/>
                <a:latin typeface="Times New Roman" panose="02020603050405020304" pitchFamily="18" charset="0"/>
                <a:ea typeface="굴림" panose="020B0600000101010101" pitchFamily="34" charset="-127"/>
              </a:rPr>
              <a:t> </a:t>
            </a:r>
            <a:r>
              <a:rPr lang="ru-RU" altLang="ko-KR" sz="2600" dirty="0">
                <a:effectLst/>
                <a:latin typeface="Times New Roman" panose="02020603050405020304" pitchFamily="18" charset="0"/>
              </a:rPr>
              <a:t>находим</a:t>
            </a:r>
            <a:r>
              <a:rPr lang="en-US" altLang="ko-KR" sz="2600" dirty="0">
                <a:effectLst/>
                <a:latin typeface="Times New Roman" panose="02020603050405020304" pitchFamily="18" charset="0"/>
                <a:ea typeface="굴림" panose="020B0600000101010101" pitchFamily="34" charset="-127"/>
              </a:rPr>
              <a:t> </a:t>
            </a:r>
            <a:endParaRPr lang="ru-RU" altLang="ko-KR" sz="2600" dirty="0">
              <a:effectLst/>
              <a:latin typeface="Times New Roman" panose="02020603050405020304" pitchFamily="18" charset="0"/>
              <a:ea typeface="굴림" panose="020B0600000101010101" pitchFamily="34" charset="-127"/>
            </a:endParaRPr>
          </a:p>
          <a:p>
            <a:pPr marL="0" indent="0" algn="just">
              <a:buFont typeface="Wingdings" panose="05000000000000000000" pitchFamily="2" charset="2"/>
              <a:buNone/>
            </a:pPr>
            <a:r>
              <a:rPr lang="en-US" altLang="ko-KR" i="1" dirty="0">
                <a:effectLst/>
                <a:latin typeface="Times New Roman" panose="02020603050405020304" pitchFamily="18" charset="0"/>
                <a:ea typeface="굴림" panose="020B0600000101010101" pitchFamily="34" charset="-127"/>
              </a:rPr>
              <a:t>x</a:t>
            </a:r>
            <a:r>
              <a:rPr lang="ru-RU" altLang="ko-KR" baseline="-25000" dirty="0">
                <a:effectLst/>
                <a:latin typeface="Times New Roman" panose="02020603050405020304" pitchFamily="18" charset="0"/>
              </a:rPr>
              <a:t>2</a:t>
            </a:r>
            <a:r>
              <a:rPr lang="en-US" altLang="ko-KR" i="1" dirty="0">
                <a:effectLst/>
                <a:latin typeface="Times New Roman" panose="02020603050405020304" pitchFamily="18" charset="0"/>
                <a:ea typeface="굴림" panose="020B0600000101010101" pitchFamily="34" charset="-127"/>
              </a:rPr>
              <a:t> = </a:t>
            </a:r>
            <a:r>
              <a:rPr lang="en-US" altLang="ko-KR" dirty="0">
                <a:effectLst/>
                <a:latin typeface="Times New Roman" panose="02020603050405020304" pitchFamily="18" charset="0"/>
                <a:ea typeface="굴림" panose="020B0600000101010101" pitchFamily="34" charset="-127"/>
              </a:rPr>
              <a:t>(</a:t>
            </a:r>
            <a:r>
              <a:rPr lang="en-US" altLang="ko-KR" i="1" dirty="0">
                <a:effectLst/>
                <a:latin typeface="Times New Roman" panose="02020603050405020304" pitchFamily="18" charset="0"/>
                <a:ea typeface="굴림" panose="020B0600000101010101" pitchFamily="34" charset="-127"/>
              </a:rPr>
              <a:t>b</a:t>
            </a:r>
            <a:r>
              <a:rPr lang="ru-RU" altLang="ko-KR" i="1" dirty="0">
                <a:effectLst/>
                <a:latin typeface="Times New Roman" panose="02020603050405020304" pitchFamily="18" charset="0"/>
              </a:rPr>
              <a:t>'</a:t>
            </a:r>
            <a:r>
              <a:rPr lang="ru-RU" altLang="ko-KR" baseline="-25000" dirty="0">
                <a:effectLst/>
                <a:latin typeface="Times New Roman" panose="02020603050405020304" pitchFamily="18" charset="0"/>
              </a:rPr>
              <a:t>2</a:t>
            </a:r>
            <a:r>
              <a:rPr lang="en-US" altLang="ko-KR" i="1" dirty="0">
                <a:effectLst/>
                <a:latin typeface="Times New Roman" panose="02020603050405020304" pitchFamily="18" charset="0"/>
                <a:ea typeface="굴림" panose="020B0600000101010101" pitchFamily="34" charset="-127"/>
              </a:rPr>
              <a:t> – a</a:t>
            </a:r>
            <a:r>
              <a:rPr lang="ru-RU" altLang="ko-KR" i="1" dirty="0">
                <a:effectLst/>
                <a:latin typeface="Times New Roman" panose="02020603050405020304" pitchFamily="18" charset="0"/>
              </a:rPr>
              <a:t>'</a:t>
            </a:r>
            <a:r>
              <a:rPr lang="ru-RU" altLang="ko-KR" i="1" baseline="-25000" dirty="0">
                <a:effectLst/>
                <a:latin typeface="Times New Roman" panose="02020603050405020304" pitchFamily="18" charset="0"/>
              </a:rPr>
              <a:t>23</a:t>
            </a:r>
            <a:r>
              <a:rPr lang="ru-RU" altLang="ko-KR" dirty="0">
                <a:effectLst/>
                <a:latin typeface="Times New Roman" panose="02020603050405020304" pitchFamily="18" charset="0"/>
              </a:rPr>
              <a:t> </a:t>
            </a:r>
            <a:r>
              <a:rPr lang="en-US" altLang="ko-KR" i="1" dirty="0">
                <a:effectLst/>
                <a:latin typeface="Times New Roman" panose="02020603050405020304" pitchFamily="18" charset="0"/>
                <a:ea typeface="굴림" panose="020B0600000101010101" pitchFamily="34" charset="-127"/>
              </a:rPr>
              <a:t>x</a:t>
            </a:r>
            <a:r>
              <a:rPr lang="ru-RU" altLang="ko-KR" i="1" baseline="-25000" dirty="0">
                <a:effectLst/>
                <a:latin typeface="Times New Roman" panose="02020603050405020304" pitchFamily="18" charset="0"/>
              </a:rPr>
              <a:t>3</a:t>
            </a:r>
            <a:r>
              <a:rPr lang="ru-RU" altLang="ko-KR" i="1" dirty="0">
                <a:effectLst/>
                <a:latin typeface="Times New Roman" panose="02020603050405020304" pitchFamily="18" charset="0"/>
              </a:rPr>
              <a:t> </a:t>
            </a:r>
            <a:r>
              <a:rPr lang="en-US" altLang="ko-KR" dirty="0">
                <a:effectLst/>
                <a:latin typeface="Times New Roman" panose="02020603050405020304" pitchFamily="18" charset="0"/>
                <a:ea typeface="굴림" panose="020B0600000101010101" pitchFamily="34" charset="-127"/>
              </a:rPr>
              <a:t>)/</a:t>
            </a:r>
            <a:r>
              <a:rPr lang="en-US" altLang="ko-KR" i="1" dirty="0">
                <a:effectLst/>
                <a:latin typeface="Times New Roman" panose="02020603050405020304" pitchFamily="18" charset="0"/>
                <a:ea typeface="굴림" panose="020B0600000101010101" pitchFamily="34" charset="-127"/>
              </a:rPr>
              <a:t>a</a:t>
            </a:r>
            <a:r>
              <a:rPr lang="ru-RU" altLang="ko-KR" i="1" dirty="0">
                <a:effectLst/>
                <a:latin typeface="Times New Roman" panose="02020603050405020304" pitchFamily="18" charset="0"/>
              </a:rPr>
              <a:t>'</a:t>
            </a:r>
            <a:r>
              <a:rPr lang="ru-RU" altLang="ko-KR" i="1" baseline="-25000" dirty="0">
                <a:effectLst/>
                <a:latin typeface="Times New Roman" panose="02020603050405020304" pitchFamily="18" charset="0"/>
              </a:rPr>
              <a:t>22</a:t>
            </a:r>
            <a:r>
              <a:rPr lang="ru-RU" altLang="ko-KR" i="1" dirty="0">
                <a:effectLst/>
                <a:latin typeface="Times New Roman" panose="02020603050405020304" pitchFamily="18" charset="0"/>
              </a:rPr>
              <a:t> </a:t>
            </a:r>
            <a:r>
              <a:rPr lang="en-US" altLang="ko-KR" dirty="0">
                <a:effectLst/>
                <a:latin typeface="Times New Roman" panose="02020603050405020304" pitchFamily="18" charset="0"/>
                <a:ea typeface="굴림" panose="020B0600000101010101" pitchFamily="34" charset="-127"/>
              </a:rPr>
              <a:t>, </a:t>
            </a:r>
            <a:endParaRPr lang="ru-RU" altLang="ko-KR" dirty="0">
              <a:effectLst/>
              <a:latin typeface="Times New Roman" panose="02020603050405020304" pitchFamily="18" charset="0"/>
            </a:endParaRPr>
          </a:p>
          <a:p>
            <a:pPr marL="0" indent="0" algn="just">
              <a:buFont typeface="Wingdings" panose="05000000000000000000" pitchFamily="2" charset="2"/>
              <a:buNone/>
            </a:pPr>
            <a:r>
              <a:rPr lang="en-US" altLang="ko-KR" i="1" dirty="0">
                <a:effectLst/>
                <a:latin typeface="Times New Roman" panose="02020603050405020304" pitchFamily="18" charset="0"/>
                <a:ea typeface="굴림" panose="020B0600000101010101" pitchFamily="34" charset="-127"/>
              </a:rPr>
              <a:t>x</a:t>
            </a:r>
            <a:r>
              <a:rPr lang="ru-RU" altLang="ko-KR" baseline="-25000" dirty="0">
                <a:effectLst/>
                <a:latin typeface="Times New Roman" panose="02020603050405020304" pitchFamily="18" charset="0"/>
              </a:rPr>
              <a:t>1</a:t>
            </a:r>
            <a:r>
              <a:rPr lang="en-US" altLang="ko-KR" i="1" dirty="0">
                <a:effectLst/>
                <a:latin typeface="Times New Roman" panose="02020603050405020304" pitchFamily="18" charset="0"/>
                <a:ea typeface="굴림" panose="020B0600000101010101" pitchFamily="34" charset="-127"/>
              </a:rPr>
              <a:t> = </a:t>
            </a:r>
            <a:r>
              <a:rPr lang="en-US" altLang="ko-KR" dirty="0">
                <a:effectLst/>
                <a:latin typeface="Times New Roman" panose="02020603050405020304" pitchFamily="18" charset="0"/>
                <a:ea typeface="굴림" panose="020B0600000101010101" pitchFamily="34" charset="-127"/>
              </a:rPr>
              <a:t>(</a:t>
            </a:r>
            <a:r>
              <a:rPr lang="en-US" altLang="ko-KR" i="1" dirty="0">
                <a:effectLst/>
                <a:latin typeface="Times New Roman" panose="02020603050405020304" pitchFamily="18" charset="0"/>
                <a:ea typeface="굴림" panose="020B0600000101010101" pitchFamily="34" charset="-127"/>
              </a:rPr>
              <a:t>b</a:t>
            </a:r>
            <a:r>
              <a:rPr lang="ru-RU" altLang="ko-KR" i="1" baseline="-25000" dirty="0">
                <a:effectLst/>
                <a:latin typeface="Times New Roman" panose="02020603050405020304" pitchFamily="18" charset="0"/>
              </a:rPr>
              <a:t>1</a:t>
            </a:r>
            <a:r>
              <a:rPr lang="en-US" altLang="ko-KR" i="1" dirty="0">
                <a:effectLst/>
                <a:latin typeface="Times New Roman" panose="02020603050405020304" pitchFamily="18" charset="0"/>
                <a:ea typeface="굴림" panose="020B0600000101010101" pitchFamily="34" charset="-127"/>
              </a:rPr>
              <a:t> – a</a:t>
            </a:r>
            <a:r>
              <a:rPr lang="ru-RU" altLang="ko-KR" i="1" baseline="-25000" dirty="0">
                <a:effectLst/>
                <a:latin typeface="Times New Roman" panose="02020603050405020304" pitchFamily="18" charset="0"/>
              </a:rPr>
              <a:t>12</a:t>
            </a:r>
            <a:r>
              <a:rPr lang="ru-RU" altLang="ko-KR" dirty="0">
                <a:effectLst/>
                <a:latin typeface="Times New Roman" panose="02020603050405020304" pitchFamily="18" charset="0"/>
              </a:rPr>
              <a:t> </a:t>
            </a:r>
            <a:r>
              <a:rPr lang="en-US" altLang="ko-KR" i="1" dirty="0">
                <a:effectLst/>
                <a:latin typeface="Times New Roman" panose="02020603050405020304" pitchFamily="18" charset="0"/>
                <a:ea typeface="굴림" panose="020B0600000101010101" pitchFamily="34" charset="-127"/>
              </a:rPr>
              <a:t>x</a:t>
            </a:r>
            <a:r>
              <a:rPr lang="ru-RU" altLang="ko-KR" baseline="-25000" dirty="0">
                <a:effectLst/>
                <a:latin typeface="Times New Roman" panose="02020603050405020304" pitchFamily="18" charset="0"/>
              </a:rPr>
              <a:t>2</a:t>
            </a:r>
            <a:r>
              <a:rPr lang="en-US" altLang="ko-KR" i="1" dirty="0">
                <a:effectLst/>
                <a:latin typeface="Times New Roman" panose="02020603050405020304" pitchFamily="18" charset="0"/>
                <a:ea typeface="굴림" panose="020B0600000101010101" pitchFamily="34" charset="-127"/>
              </a:rPr>
              <a:t> – a</a:t>
            </a:r>
            <a:r>
              <a:rPr lang="ru-RU" altLang="ko-KR" baseline="-25000" dirty="0">
                <a:effectLst/>
                <a:latin typeface="Times New Roman" panose="02020603050405020304" pitchFamily="18" charset="0"/>
              </a:rPr>
              <a:t>13</a:t>
            </a:r>
            <a:r>
              <a:rPr lang="en-US" altLang="ko-KR" i="1" dirty="0">
                <a:effectLst/>
                <a:latin typeface="Times New Roman" panose="02020603050405020304" pitchFamily="18" charset="0"/>
                <a:ea typeface="굴림" panose="020B0600000101010101" pitchFamily="34" charset="-127"/>
              </a:rPr>
              <a:t> x</a:t>
            </a:r>
            <a:r>
              <a:rPr lang="ru-RU" altLang="ko-KR" i="1" baseline="-25000" dirty="0">
                <a:effectLst/>
                <a:latin typeface="Times New Roman" panose="02020603050405020304" pitchFamily="18" charset="0"/>
              </a:rPr>
              <a:t>3</a:t>
            </a:r>
            <a:r>
              <a:rPr lang="ru-RU" altLang="ko-KR" i="1" dirty="0">
                <a:effectLst/>
                <a:latin typeface="Times New Roman" panose="02020603050405020304" pitchFamily="18" charset="0"/>
              </a:rPr>
              <a:t> </a:t>
            </a:r>
            <a:r>
              <a:rPr lang="en-US" altLang="ko-KR" dirty="0">
                <a:effectLst/>
                <a:latin typeface="Times New Roman" panose="02020603050405020304" pitchFamily="18" charset="0"/>
                <a:ea typeface="굴림" panose="020B0600000101010101" pitchFamily="34" charset="-127"/>
              </a:rPr>
              <a:t>)/</a:t>
            </a:r>
            <a:r>
              <a:rPr lang="en-US" altLang="ko-KR" i="1" dirty="0">
                <a:effectLst/>
                <a:latin typeface="Times New Roman" panose="02020603050405020304" pitchFamily="18" charset="0"/>
                <a:ea typeface="굴림" panose="020B0600000101010101" pitchFamily="34" charset="-127"/>
              </a:rPr>
              <a:t>a</a:t>
            </a:r>
            <a:r>
              <a:rPr lang="ru-RU" altLang="ko-KR" i="1" baseline="-25000" dirty="0">
                <a:effectLst/>
                <a:latin typeface="Times New Roman" panose="02020603050405020304" pitchFamily="18" charset="0"/>
              </a:rPr>
              <a:t>11</a:t>
            </a:r>
            <a:r>
              <a:rPr lang="ru-RU" altLang="ko-KR" i="1" dirty="0">
                <a:effectLst/>
                <a:latin typeface="Times New Roman" panose="02020603050405020304" pitchFamily="18" charset="0"/>
              </a:rPr>
              <a:t> </a:t>
            </a:r>
            <a:r>
              <a:rPr lang="en-US" altLang="ko-KR" dirty="0">
                <a:effectLst/>
                <a:latin typeface="Times New Roman" panose="02020603050405020304" pitchFamily="18" charset="0"/>
                <a:ea typeface="굴림" panose="020B0600000101010101" pitchFamily="34" charset="-127"/>
              </a:rPr>
              <a:t>.</a:t>
            </a:r>
            <a:endParaRPr lang="ru-RU" altLang="ko-KR" dirty="0">
              <a:effectLst/>
              <a:latin typeface="Times New Roman" panose="02020603050405020304" pitchFamily="18" charset="0"/>
              <a:ea typeface="굴림" panose="020B0600000101010101" pitchFamily="34" charset="-127"/>
            </a:endParaRPr>
          </a:p>
          <a:p>
            <a:pPr marL="0" indent="0" algn="just">
              <a:buNone/>
            </a:pPr>
            <a:r>
              <a:rPr lang="ru-RU" altLang="ko-KR" dirty="0">
                <a:latin typeface="Times New Roman" panose="02020603050405020304" pitchFamily="18" charset="0"/>
              </a:rPr>
              <a:t>Аналогично строится процесс метода Гаусса для системы из </a:t>
            </a:r>
            <a:r>
              <a:rPr lang="en-US" altLang="ko-KR" i="1" dirty="0">
                <a:latin typeface="Times New Roman" panose="02020603050405020304" pitchFamily="18" charset="0"/>
              </a:rPr>
              <a:t>n</a:t>
            </a:r>
            <a:r>
              <a:rPr lang="ru-RU" altLang="ko-KR" dirty="0">
                <a:latin typeface="Times New Roman" panose="02020603050405020304" pitchFamily="18" charset="0"/>
              </a:rPr>
              <a:t> уравнений. Обобщим формулы «штриховых» коэффициентов:</a:t>
            </a:r>
          </a:p>
          <a:p>
            <a:pPr marL="0" indent="0" algn="just">
              <a:buFont typeface="Wingdings" panose="05000000000000000000" pitchFamily="2" charset="2"/>
              <a:buNone/>
            </a:pPr>
            <a:endParaRPr lang="ru-RU" altLang="ru-RU" dirty="0">
              <a:effectLst/>
              <a:latin typeface="Times New Roman" panose="02020603050405020304" pitchFamily="18" charset="0"/>
            </a:endParaRPr>
          </a:p>
        </p:txBody>
      </p:sp>
      <p:sp>
        <p:nvSpPr>
          <p:cNvPr id="121861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F883C202-AD45-4D6A-94BB-1C0ED8F54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7D8EA-FFCD-4294-8EEE-E3C0B3058240}" type="slidenum">
              <a:rPr lang="ru-RU" smtClean="0"/>
              <a:t>13</a:t>
            </a:fld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5">
                <a:extLst>
                  <a:ext uri="{FF2B5EF4-FFF2-40B4-BE49-F238E27FC236}">
                    <a16:creationId xmlns:a16="http://schemas.microsoft.com/office/drawing/2014/main" id="{494F9B35-23F9-468C-8C31-E456137F301B}"/>
                  </a:ext>
                </a:extLst>
              </p:cNvPr>
              <p:cNvSpPr txBox="1"/>
              <p:nvPr/>
            </p:nvSpPr>
            <p:spPr bwMode="auto">
              <a:xfrm>
                <a:off x="948164" y="4945909"/>
                <a:ext cx="7999257" cy="1504106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  <m:sup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−1)</m:t>
                              </m:r>
                            </m:sup>
                          </m:sSup>
                        </m:e>
                        <m:sub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p>
                                <m:sSupPr>
                                  <m:ctrlP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−1)</m:t>
                                  </m:r>
                                </m:sup>
                              </m:sSup>
                            </m:e>
                            <m:sub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𝑖𝑘</m:t>
                              </m:r>
                            </m:sub>
                          </m:sSub>
                          <m:sSub>
                            <m:sSubPr>
                              <m:ctrlP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p>
                                <m:sSupPr>
                                  <m:ctrlP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−1)</m:t>
                                  </m:r>
                                </m:sup>
                              </m:sSup>
                            </m:e>
                            <m:sub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𝑘𝑗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p>
                                <m:sSupPr>
                                  <m:ctrlP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−1)</m:t>
                                  </m:r>
                                </m:sup>
                              </m:sSup>
                            </m:e>
                            <m:sub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𝑘𝑘</m:t>
                              </m:r>
                            </m:sub>
                          </m:sSub>
                        </m:den>
                      </m:f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;</m:t>
                      </m:r>
                      <m:m>
                        <m:mPr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/>
                          <m:e>
                            <m:sSubSup>
                              <m:sSubSupPr>
                                <m:ctrlPr>
                                  <a:rPr lang="ru-RU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ru-RU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ru-RU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ru-RU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ru-RU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ru-RU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bSup>
                            <m:r>
                              <a:rPr lang="ru-RU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ru-RU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sSup>
                                  <m:sSupPr>
                                    <m:ctrlPr>
                                      <a:rPr lang="ru-RU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ru-RU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p>
                                    <m:r>
                                      <a:rPr lang="ru-RU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ru-RU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ru-RU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−1)</m:t>
                                    </m:r>
                                  </m:sup>
                                </m:sSup>
                              </m:e>
                              <m:sub>
                                <m:r>
                                  <a:rPr lang="ru-RU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ru-RU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ru-RU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ru-RU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sSup>
                                      <m:sSupPr>
                                        <m:ctrlPr>
                                          <a:rPr lang="ru-RU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ru-RU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p>
                                        <m:r>
                                          <a:rPr lang="ru-RU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ru-RU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  <m:r>
                                          <a:rPr lang="ru-RU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−1)</m:t>
                                        </m:r>
                                      </m:sup>
                                    </m:sSup>
                                  </m:e>
                                  <m:sub>
                                    <m:r>
                                      <a:rPr lang="ru-RU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𝑖𝑘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ru-RU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sSup>
                                      <m:sSupPr>
                                        <m:ctrlPr>
                                          <a:rPr lang="ru-RU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ru-RU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p>
                                        <m:r>
                                          <a:rPr lang="ru-RU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ru-RU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  <m:r>
                                          <a:rPr lang="ru-RU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−1)</m:t>
                                        </m:r>
                                      </m:sup>
                                    </m:sSup>
                                  </m:e>
                                  <m:sub>
                                    <m:r>
                                      <a:rPr lang="ru-RU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ru-RU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sSup>
                                      <m:sSupPr>
                                        <m:ctrlPr>
                                          <a:rPr lang="ru-RU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ru-RU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p>
                                        <m:r>
                                          <a:rPr lang="ru-RU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ru-RU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  <m:r>
                                          <a:rPr lang="ru-RU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−1)</m:t>
                                        </m:r>
                                      </m:sup>
                                    </m:sSup>
                                  </m:e>
                                  <m:sub>
                                    <m:r>
                                      <a:rPr lang="ru-RU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𝑘𝑘</m:t>
                                    </m:r>
                                  </m:sub>
                                </m:sSub>
                              </m:den>
                            </m:f>
                            <m:r>
                              <a:rPr lang="ru-RU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</m:e>
                        </m:mr>
                      </m:m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6" name="Object 5">
                <a:extLst>
                  <a:ext uri="{FF2B5EF4-FFF2-40B4-BE49-F238E27FC236}">
                    <a16:creationId xmlns:a16="http://schemas.microsoft.com/office/drawing/2014/main" id="{494F9B35-23F9-468C-8C31-E456137F30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48164" y="4945909"/>
                <a:ext cx="7999257" cy="150410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7">
                <a:extLst>
                  <a:ext uri="{FF2B5EF4-FFF2-40B4-BE49-F238E27FC236}">
                    <a16:creationId xmlns:a16="http://schemas.microsoft.com/office/drawing/2014/main" id="{35E8C050-B299-42C8-ADAA-8224419419DA}"/>
                  </a:ext>
                </a:extLst>
              </p:cNvPr>
              <p:cNvSpPr txBox="1"/>
              <p:nvPr/>
            </p:nvSpPr>
            <p:spPr bwMode="auto">
              <a:xfrm>
                <a:off x="699742" y="5795241"/>
                <a:ext cx="8496100" cy="466654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/>
                          <m:e>
                            <m:m>
                              <m:mPr>
                                <m:plcHide m:val="on"/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ru-RU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/>
                                <m:e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=2,3,...,</m:t>
                                  </m:r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m>
                                    <m:mPr>
                                      <m:plcHide m:val="on"/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ru-RU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/>
                                      <m:e>
                                        <m:r>
                                          <a:rPr lang="ru-RU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lang="ru-RU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=</m:t>
                                        </m:r>
                                        <m:r>
                                          <a:rPr lang="ru-RU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ru-RU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−1,</m:t>
                                        </m:r>
                                        <m:r>
                                          <a:rPr lang="ru-RU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ru-RU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,...,</m:t>
                                        </m:r>
                                        <m:r>
                                          <a:rPr lang="ru-RU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  <m:r>
                                          <a:rPr lang="ru-RU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−1,</m:t>
                                        </m:r>
                                        <m:m>
                                          <m:mPr>
                                            <m:plcHide m:val="on"/>
                                            <m:mcs>
                                              <m:mc>
                                                <m:mcPr>
                                                  <m:count m:val="2"/>
                                                  <m:mcJc m:val="center"/>
                                                </m:mcPr>
                                              </m:mc>
                                            </m:mcs>
                                            <m:ctrlPr>
                                              <a:rPr lang="ru-RU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mPr>
                                          <m:mr>
                                            <m:e/>
                                            <m:e>
                                              <m:r>
                                                <a:rPr lang="ru-RU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  <m:r>
                                                <a:rPr lang="ru-RU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=</m:t>
                                              </m:r>
                                              <m:r>
                                                <a:rPr lang="ru-RU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  <m:r>
                                                <a:rPr lang="ru-RU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+1,</m:t>
                                              </m:r>
                                              <m:r>
                                                <a:rPr lang="ru-RU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  <m:r>
                                                <a:rPr lang="ru-RU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+2,...,</m:t>
                                              </m:r>
                                              <m:r>
                                                <a:rPr lang="ru-RU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</m:e>
                                          </m:mr>
                                        </m:m>
                                      </m:e>
                                    </m:mr>
                                  </m:m>
                                </m:e>
                              </m:mr>
                            </m:m>
                          </m:e>
                        </m:mr>
                      </m:m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7" name="Object 7">
                <a:extLst>
                  <a:ext uri="{FF2B5EF4-FFF2-40B4-BE49-F238E27FC236}">
                    <a16:creationId xmlns:a16="http://schemas.microsoft.com/office/drawing/2014/main" id="{35E8C050-B299-42C8-ADAA-8224419419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99742" y="5795241"/>
                <a:ext cx="8496100" cy="4666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77478734"/>
      </p:ext>
    </p:extLst>
  </p:cSld>
  <p:clrMapOvr>
    <a:masterClrMapping/>
  </p:clrMapOvr>
  <p:transition spd="slow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371853"/>
          </a:xfrm>
        </p:spPr>
        <p:txBody>
          <a:bodyPr>
            <a:normAutofit fontScale="90000"/>
          </a:bodyPr>
          <a:lstStyle/>
          <a:p>
            <a:r>
              <a:rPr lang="ru-RU" sz="3300" b="1" dirty="0">
                <a:latin typeface="Times New Roman" panose="02020603050405020304" pitchFamily="18" charset="0"/>
              </a:rPr>
              <a:t>Об оценке погрешности решения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9468" y="979464"/>
            <a:ext cx="8256042" cy="4351338"/>
          </a:xfrm>
        </p:spPr>
        <p:txBody>
          <a:bodyPr>
            <a:normAutofit lnSpcReduction="10000"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Существуют две величины, характеризующие степень отклонения полученного решения от точного: </a:t>
            </a:r>
          </a:p>
          <a:p>
            <a:pPr>
              <a:buFontTx/>
              <a:buChar char="-"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погрешность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ru-RU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равная норме разности этих значений: </a:t>
            </a:r>
          </a:p>
          <a:p>
            <a:pPr>
              <a:buFontTx/>
              <a:buChar char="-"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Char char="-"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невязка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равная разности между левой и правой частями уравнений при подстановке в них полученного решения: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4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4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Ax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r>
              <a:rPr lang="ru-RU" sz="4000" dirty="0">
                <a:latin typeface="Times New Roman" panose="02020603050405020304" pitchFamily="18" charset="0"/>
              </a:rPr>
              <a:t>–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  <a:p>
            <a:pPr marL="0" indent="0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Char char="-"/>
            </a:pPr>
            <a:endParaRPr lang="ru-RU" dirty="0"/>
          </a:p>
          <a:p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DD3E25A-D2BF-4C6E-8663-F70E5ABD0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7D8EA-FFCD-4294-8EEE-E3C0B3058240}" type="slidenum">
              <a:rPr lang="ru-RU" smtClean="0"/>
              <a:t>14</a:t>
            </a:fld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7">
                <a:extLst>
                  <a:ext uri="{FF2B5EF4-FFF2-40B4-BE49-F238E27FC236}">
                    <a16:creationId xmlns:a16="http://schemas.microsoft.com/office/drawing/2014/main" id="{43230CBD-E946-4CF3-ACEF-1F2EF8A9B283}"/>
                  </a:ext>
                </a:extLst>
              </p:cNvPr>
              <p:cNvSpPr txBox="1"/>
              <p:nvPr/>
            </p:nvSpPr>
            <p:spPr bwMode="auto">
              <a:xfrm>
                <a:off x="3021433" y="2813309"/>
                <a:ext cx="3101133" cy="785568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ru-RU" sz="26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/>
                          <m:e>
                            <m:r>
                              <a:rPr lang="ru-RU" sz="26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US" sz="2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≤</m:t>
                            </m:r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26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6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US" sz="26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6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sz="26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6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26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  <m:r>
                                  <a:rPr lang="en-US" sz="26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|</m:t>
                                </m:r>
                              </m:e>
                            </m:d>
                          </m:e>
                        </m:mr>
                      </m:m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6" name="Object 7">
                <a:extLst>
                  <a:ext uri="{FF2B5EF4-FFF2-40B4-BE49-F238E27FC236}">
                    <a16:creationId xmlns:a16="http://schemas.microsoft.com/office/drawing/2014/main" id="{43230CBD-E946-4CF3-ACEF-1F2EF8A9B2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21433" y="2813309"/>
                <a:ext cx="3101133" cy="78556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718826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4" name="Text Box 4"/>
          <p:cNvSpPr txBox="1">
            <a:spLocks noChangeArrowheads="1"/>
          </p:cNvSpPr>
          <p:nvPr/>
        </p:nvSpPr>
        <p:spPr bwMode="auto">
          <a:xfrm>
            <a:off x="423082" y="333375"/>
            <a:ext cx="8470094" cy="3493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>
              <a:spcBef>
                <a:spcPct val="50000"/>
              </a:spcBef>
            </a:pPr>
            <a:endParaRPr lang="ru-RU" altLang="ko-KR" sz="2600" dirty="0">
              <a:latin typeface="Times New Roman" panose="02020603050405020304" pitchFamily="18" charset="0"/>
            </a:endParaRPr>
          </a:p>
          <a:p>
            <a:pPr algn="just">
              <a:spcBef>
                <a:spcPct val="50000"/>
              </a:spcBef>
            </a:pPr>
            <a:endParaRPr lang="ru-RU" altLang="ko-KR" sz="2600" dirty="0">
              <a:latin typeface="Times New Roman" panose="02020603050405020304" pitchFamily="18" charset="0"/>
            </a:endParaRPr>
          </a:p>
          <a:p>
            <a:pPr algn="just">
              <a:spcBef>
                <a:spcPct val="50000"/>
              </a:spcBef>
            </a:pPr>
            <a:endParaRPr lang="ru-RU" altLang="ko-KR" sz="2600" dirty="0">
              <a:latin typeface="Times New Roman" panose="02020603050405020304" pitchFamily="18" charset="0"/>
            </a:endParaRPr>
          </a:p>
          <a:p>
            <a:pPr algn="just">
              <a:spcBef>
                <a:spcPct val="50000"/>
              </a:spcBef>
            </a:pPr>
            <a:endParaRPr lang="ru-RU" altLang="ko-KR" sz="2600" dirty="0">
              <a:latin typeface="Times New Roman" panose="02020603050405020304" pitchFamily="18" charset="0"/>
            </a:endParaRPr>
          </a:p>
          <a:p>
            <a:pPr algn="just">
              <a:spcBef>
                <a:spcPct val="50000"/>
              </a:spcBef>
            </a:pPr>
            <a:endParaRPr lang="ru-RU" altLang="ko-KR" sz="2600" dirty="0">
              <a:latin typeface="Times New Roman" panose="02020603050405020304" pitchFamily="18" charset="0"/>
            </a:endParaRPr>
          </a:p>
          <a:p>
            <a:pPr algn="just">
              <a:spcBef>
                <a:spcPct val="50000"/>
              </a:spcBef>
            </a:pPr>
            <a:endParaRPr lang="ru-RU" altLang="ru-RU" sz="2600" dirty="0">
              <a:latin typeface="Times New Roman" panose="02020603050405020304" pitchFamily="18" charset="0"/>
            </a:endParaRPr>
          </a:p>
        </p:txBody>
      </p:sp>
      <p:sp>
        <p:nvSpPr>
          <p:cNvPr id="12288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22888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22890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2195A4CC-110A-4941-BED4-1036BE201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7D8EA-FFCD-4294-8EEE-E3C0B3058240}" type="slidenum">
              <a:rPr lang="ru-RU" smtClean="0"/>
              <a:t>15</a:t>
            </a:fld>
            <a:endParaRPr lang="ru-RU"/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8D40C61D-F8AC-461A-ADBE-B72DC9E1C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147" y="123374"/>
            <a:ext cx="7886700" cy="557663"/>
          </a:xfrm>
        </p:spPr>
        <p:txBody>
          <a:bodyPr>
            <a:normAutofit/>
          </a:bodyPr>
          <a:lstStyle/>
          <a:p>
            <a:r>
              <a:rPr lang="ru-RU" sz="3000" b="1" dirty="0">
                <a:latin typeface="Times New Roman" panose="02020603050405020304" pitchFamily="18" charset="0"/>
              </a:rPr>
              <a:t>Пример 1:</a:t>
            </a:r>
            <a:r>
              <a:rPr lang="ru-RU" sz="3000" dirty="0">
                <a:latin typeface="Times New Roman" panose="02020603050405020304" pitchFamily="18" charset="0"/>
              </a:rPr>
              <a:t> Решить СЛАУ методом Гаусса</a:t>
            </a:r>
          </a:p>
        </p:txBody>
      </p:sp>
      <p:pic>
        <p:nvPicPr>
          <p:cNvPr id="1026" name="Picture 2" descr="http://mathprofi.ru/g/metod_gaussa_dlya_chainikov_clip_image056.gif">
            <a:extLst>
              <a:ext uri="{FF2B5EF4-FFF2-40B4-BE49-F238E27FC236}">
                <a16:creationId xmlns:a16="http://schemas.microsoft.com/office/drawing/2014/main" id="{8F4EA015-34CE-49E2-82A9-DAC955BC73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5152" y="681037"/>
            <a:ext cx="1756509" cy="1071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://mathprofi.ru/g/metod_gaussa_dlya_chainikov_clip_image088.gif">
            <a:extLst>
              <a:ext uri="{FF2B5EF4-FFF2-40B4-BE49-F238E27FC236}">
                <a16:creationId xmlns:a16="http://schemas.microsoft.com/office/drawing/2014/main" id="{4D52E02E-7471-43E0-A1D2-5A0E172CC1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966" y="4546571"/>
            <a:ext cx="1579662" cy="1173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5">
            <a:extLst>
              <a:ext uri="{FF2B5EF4-FFF2-40B4-BE49-F238E27FC236}">
                <a16:creationId xmlns:a16="http://schemas.microsoft.com/office/drawing/2014/main" id="{6CB00C37-141B-4D09-A049-AC102F8B9F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3082" y="5894686"/>
            <a:ext cx="361509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Ответ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 </a:t>
            </a:r>
            <a:r>
              <a:rPr kumimoji="0" lang="en-US" altLang="ru-RU" sz="24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kumimoji="0" lang="en-US" altLang="ru-RU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= 3, </a:t>
            </a:r>
            <a:r>
              <a:rPr kumimoji="0" lang="en-US" altLang="ru-RU" sz="24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kumimoji="0" lang="en-US" altLang="ru-RU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= 5, </a:t>
            </a:r>
            <a:r>
              <a:rPr kumimoji="0" lang="en-US" altLang="ru-RU" sz="24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kumimoji="0" lang="en-US" altLang="ru-RU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= 4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</p:txBody>
      </p:sp>
      <p:pic>
        <p:nvPicPr>
          <p:cNvPr id="1034" name="Picture 10" descr="http://mathprofi.ru/g/metod_gaussa_dlya_chainikov_clip_image086.gif">
            <a:extLst>
              <a:ext uri="{FF2B5EF4-FFF2-40B4-BE49-F238E27FC236}">
                <a16:creationId xmlns:a16="http://schemas.microsoft.com/office/drawing/2014/main" id="{6EEE4611-DD61-4272-A2B7-9367EC2823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755" y="2011830"/>
            <a:ext cx="7791092" cy="2269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6071588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388D87-2819-4BB8-BA85-63FBD6D13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147" y="123374"/>
            <a:ext cx="7886700" cy="557663"/>
          </a:xfrm>
        </p:spPr>
        <p:txBody>
          <a:bodyPr/>
          <a:lstStyle/>
          <a:p>
            <a:r>
              <a:rPr lang="ru-RU" sz="3000" b="1" dirty="0">
                <a:latin typeface="Times New Roman" panose="02020603050405020304" pitchFamily="18" charset="0"/>
              </a:rPr>
              <a:t>Метод Гаусса с выбором главного  элемента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9EDBD62-194E-4486-9199-AA3E5C1435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81" y="681037"/>
            <a:ext cx="8979799" cy="5814430"/>
          </a:xfrm>
        </p:spPr>
        <p:txBody>
          <a:bodyPr>
            <a:normAutofit fontScale="92500" lnSpcReduction="20000"/>
          </a:bodyPr>
          <a:lstStyle/>
          <a:p>
            <a:r>
              <a:rPr lang="ru-RU" dirty="0">
                <a:latin typeface="Times New Roman" panose="02020603050405020304" pitchFamily="18" charset="0"/>
              </a:rPr>
              <a:t>Анализ соотношений метода Гаусса показывает, что погрешности вычисления коэффициентов ведущего уравнения привносятся в соответствующие коэффициенты всех последующих уравнений в долях отношений этих коэффициентов к диагональному (главному) коэффициенту ведущего. </a:t>
            </a:r>
          </a:p>
          <a:p>
            <a:r>
              <a:rPr lang="ru-RU" dirty="0">
                <a:latin typeface="Times New Roman" panose="02020603050405020304" pitchFamily="18" charset="0"/>
              </a:rPr>
              <a:t>В связи с этим привносимая погрешность будет тем меньше, чем меньше доли этих отношений. </a:t>
            </a:r>
          </a:p>
          <a:p>
            <a:r>
              <a:rPr lang="ru-RU" dirty="0">
                <a:latin typeface="Times New Roman" panose="02020603050405020304" pitchFamily="18" charset="0"/>
              </a:rPr>
              <a:t>Поэтому в методе Гаусса с выбором главного элемента на каждом шаге исключения </a:t>
            </a:r>
            <a:r>
              <a:rPr lang="ru-RU" i="1" dirty="0">
                <a:latin typeface="Times New Roman" panose="02020603050405020304" pitchFamily="18" charset="0"/>
              </a:rPr>
              <a:t>i</a:t>
            </a:r>
            <a:r>
              <a:rPr lang="ru-RU" dirty="0">
                <a:latin typeface="Times New Roman" panose="02020603050405020304" pitchFamily="18" charset="0"/>
              </a:rPr>
              <a:t>-го неизвестного в качестве ведущего используется уравнение (с </a:t>
            </a:r>
            <a:r>
              <a:rPr lang="ru-RU" i="1" dirty="0">
                <a:latin typeface="Times New Roman" panose="02020603050405020304" pitchFamily="18" charset="0"/>
              </a:rPr>
              <a:t>i</a:t>
            </a:r>
            <a:r>
              <a:rPr lang="ru-RU" dirty="0">
                <a:latin typeface="Times New Roman" panose="02020603050405020304" pitchFamily="18" charset="0"/>
              </a:rPr>
              <a:t>-го по </a:t>
            </a:r>
            <a:r>
              <a:rPr lang="ru-RU" i="1" dirty="0">
                <a:latin typeface="Times New Roman" panose="02020603050405020304" pitchFamily="18" charset="0"/>
              </a:rPr>
              <a:t>n</a:t>
            </a:r>
            <a:r>
              <a:rPr lang="ru-RU" dirty="0">
                <a:latin typeface="Times New Roman" panose="02020603050405020304" pitchFamily="18" charset="0"/>
              </a:rPr>
              <a:t>-</a:t>
            </a:r>
            <a:r>
              <a:rPr lang="ru-RU" dirty="0" err="1">
                <a:latin typeface="Times New Roman" panose="02020603050405020304" pitchFamily="18" charset="0"/>
              </a:rPr>
              <a:t>ое</a:t>
            </a:r>
            <a:r>
              <a:rPr lang="ru-RU" dirty="0">
                <a:latin typeface="Times New Roman" panose="02020603050405020304" pitchFamily="18" charset="0"/>
              </a:rPr>
              <a:t>), содержащее </a:t>
            </a:r>
            <a:r>
              <a:rPr lang="ru-RU" b="1" dirty="0">
                <a:latin typeface="Times New Roman" panose="02020603050405020304" pitchFamily="18" charset="0"/>
              </a:rPr>
              <a:t>максимальный по модулю коэффициент </a:t>
            </a:r>
            <a:r>
              <a:rPr lang="ru-RU" dirty="0">
                <a:latin typeface="Times New Roman" panose="02020603050405020304" pitchFamily="18" charset="0"/>
              </a:rPr>
              <a:t>– </a:t>
            </a:r>
            <a:r>
              <a:rPr lang="ru-RU" b="1" i="1" dirty="0">
                <a:latin typeface="Times New Roman" panose="02020603050405020304" pitchFamily="18" charset="0"/>
              </a:rPr>
              <a:t>главный элемент</a:t>
            </a:r>
            <a:r>
              <a:rPr lang="ru-RU" dirty="0">
                <a:latin typeface="Times New Roman" panose="02020603050405020304" pitchFamily="18" charset="0"/>
              </a:rPr>
              <a:t>. </a:t>
            </a:r>
          </a:p>
          <a:p>
            <a:r>
              <a:rPr lang="ru-RU" dirty="0">
                <a:latin typeface="Times New Roman" panose="02020603050405020304" pitchFamily="18" charset="0"/>
              </a:rPr>
              <a:t>При этом в качестве него может использоваться один из коэффициентов </a:t>
            </a:r>
            <a:r>
              <a:rPr lang="ru-RU" i="1" dirty="0">
                <a:latin typeface="Times New Roman" panose="02020603050405020304" pitchFamily="18" charset="0"/>
              </a:rPr>
              <a:t>i</a:t>
            </a:r>
            <a:r>
              <a:rPr lang="ru-RU" dirty="0">
                <a:latin typeface="Times New Roman" panose="02020603050405020304" pitchFamily="18" charset="0"/>
              </a:rPr>
              <a:t>-го столбца, </a:t>
            </a:r>
            <a:r>
              <a:rPr lang="ru-RU" i="1" dirty="0">
                <a:latin typeface="Times New Roman" panose="02020603050405020304" pitchFamily="18" charset="0"/>
              </a:rPr>
              <a:t>i</a:t>
            </a:r>
            <a:r>
              <a:rPr lang="ru-RU" dirty="0">
                <a:latin typeface="Times New Roman" panose="02020603050405020304" pitchFamily="18" charset="0"/>
              </a:rPr>
              <a:t>-ой строки или всей непреобразованной части матрицы. </a:t>
            </a:r>
          </a:p>
          <a:p>
            <a:r>
              <a:rPr lang="ru-RU" dirty="0">
                <a:latin typeface="Times New Roman" panose="02020603050405020304" pitchFamily="18" charset="0"/>
              </a:rPr>
              <a:t>Первый подход называется выбором главного элемента по столбцу, второй – по строке, а третий – по всей матрице. 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0200B38-2B1E-4AE0-9B6E-7FF8E677A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7D8EA-FFCD-4294-8EEE-E3C0B3058240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1573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29CEE6-8171-41F6-9528-6BA74F9C9B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144000" cy="981512"/>
          </a:xfrm>
        </p:spPr>
        <p:txBody>
          <a:bodyPr>
            <a:normAutofit/>
          </a:bodyPr>
          <a:lstStyle/>
          <a:p>
            <a:r>
              <a:rPr lang="ru-RU" sz="3000" b="1" dirty="0">
                <a:latin typeface="Times New Roman" panose="02020603050405020304" pitchFamily="18" charset="0"/>
              </a:rPr>
              <a:t>Пример 2: </a:t>
            </a:r>
            <a:r>
              <a:rPr lang="ru-RU" sz="3000" dirty="0">
                <a:latin typeface="Times New Roman" panose="02020603050405020304" pitchFamily="18" charset="0"/>
              </a:rPr>
              <a:t>метод Гаусса с выбором главного элемента по всей матрице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6266054-C051-4DED-9424-860F2469B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7D8EA-FFCD-4294-8EEE-E3C0B3058240}" type="slidenum">
              <a:rPr lang="ru-RU" smtClean="0"/>
              <a:t>17</a:t>
            </a:fld>
            <a:endParaRPr lang="ru-RU"/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F949D604-1C47-4959-8C50-FF885CA590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201" y="981513"/>
            <a:ext cx="8979799" cy="5814430"/>
          </a:xfrm>
        </p:spPr>
        <p:txBody>
          <a:bodyPr>
            <a:normAutofit/>
          </a:bodyPr>
          <a:lstStyle/>
          <a:p>
            <a:r>
              <a:rPr lang="ru-RU" dirty="0">
                <a:latin typeface="Times New Roman" panose="02020603050405020304" pitchFamily="18" charset="0"/>
              </a:rPr>
              <a:t>Пусть дана система линейных уравнений:</a:t>
            </a:r>
          </a:p>
          <a:p>
            <a:endParaRPr lang="ru-RU" dirty="0">
              <a:latin typeface="Times New Roman" panose="02020603050405020304" pitchFamily="18" charset="0"/>
            </a:endParaRPr>
          </a:p>
          <a:p>
            <a:endParaRPr lang="ru-RU" dirty="0">
              <a:latin typeface="Times New Roman" panose="02020603050405020304" pitchFamily="18" charset="0"/>
            </a:endParaRPr>
          </a:p>
          <a:p>
            <a:endParaRPr lang="ru-RU" dirty="0">
              <a:latin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</a:rPr>
              <a:t>Выбираем максимальный по модулю коэффициент (1.2671). Меняем строки и столбцы и ставим его на место (1, 1) </a:t>
            </a:r>
          </a:p>
          <a:p>
            <a:r>
              <a:rPr lang="en-US" dirty="0">
                <a:latin typeface="Times New Roman" panose="02020603050405020304" pitchFamily="18" charset="0"/>
              </a:rPr>
              <a:t>k – </a:t>
            </a:r>
            <a:r>
              <a:rPr lang="ru-RU" dirty="0">
                <a:latin typeface="Times New Roman" panose="02020603050405020304" pitchFamily="18" charset="0"/>
              </a:rPr>
              <a:t>номер шага.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EDBF9C6-3E01-4887-BF88-FEFC4AD8F3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7829" y="1443125"/>
            <a:ext cx="6346805" cy="1568523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61D6314-D64A-43F8-A5ED-0212D91674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3308" y="4805509"/>
            <a:ext cx="6286500" cy="147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6753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3C472BE6-E945-4607-A933-411836F58A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314" y="273662"/>
            <a:ext cx="7886700" cy="4351338"/>
          </a:xfrm>
        </p:spPr>
        <p:txBody>
          <a:bodyPr>
            <a:normAutofit/>
          </a:bodyPr>
          <a:lstStyle/>
          <a:p>
            <a:r>
              <a:rPr lang="ru-RU" sz="2600" dirty="0">
                <a:latin typeface="Times New Roman" panose="02020603050405020304" pitchFamily="18" charset="0"/>
              </a:rPr>
              <a:t>Исключаем х</a:t>
            </a:r>
            <a:r>
              <a:rPr lang="ru-RU" sz="2600" baseline="-25000" dirty="0">
                <a:latin typeface="Times New Roman" panose="02020603050405020304" pitchFamily="18" charset="0"/>
              </a:rPr>
              <a:t>4</a:t>
            </a:r>
            <a:r>
              <a:rPr lang="ru-RU" sz="2600" dirty="0">
                <a:latin typeface="Times New Roman" panose="02020603050405020304" pitchFamily="18" charset="0"/>
              </a:rPr>
              <a:t> из 2-го, 3-го и 4-го уравнений: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5345A3D-81AD-46C0-985C-3C2DF3872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7D8EA-FFCD-4294-8EEE-E3C0B3058240}" type="slidenum">
              <a:rPr lang="ru-RU" smtClean="0"/>
              <a:t>18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706826B-65FF-45D9-A0E6-4593F8A972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357" y="780395"/>
            <a:ext cx="5838825" cy="1438275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755C242-0443-426C-B8CC-2F83EAA234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532" y="2449331"/>
            <a:ext cx="6343650" cy="156210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5A92ED2-7A72-4D65-AB91-7454A70617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368" y="4312583"/>
            <a:ext cx="6400800" cy="163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24321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53C7A376-76C1-4280-A4C8-D145B4F92D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704" y="4535910"/>
            <a:ext cx="7886700" cy="1009884"/>
          </a:xfrm>
        </p:spPr>
        <p:txBody>
          <a:bodyPr/>
          <a:lstStyle/>
          <a:p>
            <a:r>
              <a:rPr lang="ru-RU" sz="2600" dirty="0">
                <a:latin typeface="Times New Roman" panose="02020603050405020304" pitchFamily="18" charset="0"/>
              </a:rPr>
              <a:t>Обратным ходом находим все неизвестные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4045140-E0EB-441C-81E1-B0BD447F9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7D8EA-FFCD-4294-8EEE-E3C0B3058240}" type="slidenum">
              <a:rPr lang="ru-RU" smtClean="0"/>
              <a:t>19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8380728-7893-4962-8A9E-B243644266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704" y="417789"/>
            <a:ext cx="6515100" cy="3790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51925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/>
          <p:cNvSpPr>
            <a:spLocks noGrp="1" noChangeArrowheads="1"/>
          </p:cNvSpPr>
          <p:nvPr>
            <p:ph type="title"/>
          </p:nvPr>
        </p:nvSpPr>
        <p:spPr>
          <a:xfrm>
            <a:off x="232012" y="65088"/>
            <a:ext cx="8443415" cy="774581"/>
          </a:xfrm>
        </p:spPr>
        <p:txBody>
          <a:bodyPr>
            <a:normAutofit fontScale="90000"/>
          </a:bodyPr>
          <a:lstStyle/>
          <a:p>
            <a:pPr algn="ctr"/>
            <a:r>
              <a:rPr lang="ru-RU" altLang="ru-RU" sz="3000" b="1" dirty="0">
                <a:effectLst/>
                <a:latin typeface="Times New Roman" panose="02020603050405020304" pitchFamily="18" charset="0"/>
              </a:rPr>
              <a:t>4. Итерационны</a:t>
            </a:r>
            <a:r>
              <a:rPr lang="ru-RU" altLang="ru-RU" sz="3000" b="1" dirty="0">
                <a:latin typeface="Times New Roman" panose="02020603050405020304" pitchFamily="18" charset="0"/>
              </a:rPr>
              <a:t>е</a:t>
            </a:r>
            <a:r>
              <a:rPr lang="ru-RU" altLang="ru-RU" sz="3000" b="1" dirty="0">
                <a:effectLst/>
                <a:latin typeface="Times New Roman" panose="02020603050405020304" pitchFamily="18" charset="0"/>
              </a:rPr>
              <a:t> методы:  метод простой итерации</a:t>
            </a:r>
            <a:br>
              <a:rPr lang="ru-RU" altLang="ru-RU" sz="3000" b="1" dirty="0">
                <a:effectLst/>
                <a:latin typeface="Times New Roman" panose="02020603050405020304" pitchFamily="18" charset="0"/>
              </a:rPr>
            </a:br>
            <a:endParaRPr lang="ru-RU" altLang="ru-RU" sz="3000" b="1" dirty="0">
              <a:effectLst/>
              <a:latin typeface="Times New Roman" panose="02020603050405020304" pitchFamily="18" charset="0"/>
            </a:endParaRPr>
          </a:p>
        </p:txBody>
      </p:sp>
      <p:sp>
        <p:nvSpPr>
          <p:cNvPr id="124932" name="Text Box 4"/>
          <p:cNvSpPr txBox="1">
            <a:spLocks noChangeArrowheads="1"/>
          </p:cNvSpPr>
          <p:nvPr/>
        </p:nvSpPr>
        <p:spPr bwMode="auto">
          <a:xfrm>
            <a:off x="539749" y="839669"/>
            <a:ext cx="8344943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ru-RU" altLang="ko-KR" sz="2600" dirty="0">
                <a:latin typeface="Times New Roman" panose="02020603050405020304" pitchFamily="18" charset="0"/>
              </a:rPr>
              <a:t>Рассмотрим метод простой итерации на примере системы из трёх уравнений:</a:t>
            </a:r>
          </a:p>
          <a:p>
            <a:endParaRPr lang="ru-RU" altLang="ko-KR" sz="2600" dirty="0">
              <a:latin typeface="Times New Roman" panose="02020603050405020304" pitchFamily="18" charset="0"/>
            </a:endParaRPr>
          </a:p>
          <a:p>
            <a:endParaRPr lang="ru-RU" altLang="ko-KR" sz="2600" dirty="0">
              <a:latin typeface="Times New Roman" panose="02020603050405020304" pitchFamily="18" charset="0"/>
            </a:endParaRPr>
          </a:p>
          <a:p>
            <a:endParaRPr lang="ru-RU" altLang="ko-KR" sz="2600" dirty="0">
              <a:latin typeface="Times New Roman" panose="02020603050405020304" pitchFamily="18" charset="0"/>
            </a:endParaRPr>
          </a:p>
          <a:p>
            <a:r>
              <a:rPr lang="ru-RU" altLang="ko-KR" sz="2600" dirty="0">
                <a:latin typeface="Times New Roman" panose="02020603050405020304" pitchFamily="18" charset="0"/>
              </a:rPr>
              <a:t>Выразим </a:t>
            </a:r>
            <a:r>
              <a:rPr lang="ru-RU" altLang="ko-KR" sz="2600" i="1" dirty="0">
                <a:latin typeface="Times New Roman" panose="02020603050405020304" pitchFamily="18" charset="0"/>
              </a:rPr>
              <a:t>x</a:t>
            </a:r>
            <a:r>
              <a:rPr lang="ru-RU" altLang="ko-KR" sz="2600" i="1" baseline="-25000" dirty="0">
                <a:latin typeface="Times New Roman" panose="02020603050405020304" pitchFamily="18" charset="0"/>
              </a:rPr>
              <a:t>1</a:t>
            </a:r>
            <a:r>
              <a:rPr lang="ru-RU" altLang="ko-KR" sz="2600" dirty="0">
                <a:latin typeface="Times New Roman" panose="02020603050405020304" pitchFamily="18" charset="0"/>
              </a:rPr>
              <a:t>,</a:t>
            </a:r>
            <a:r>
              <a:rPr lang="ru-RU" altLang="ko-KR" sz="2600" i="1" dirty="0">
                <a:latin typeface="Times New Roman" panose="02020603050405020304" pitchFamily="18" charset="0"/>
              </a:rPr>
              <a:t> x</a:t>
            </a:r>
            <a:r>
              <a:rPr lang="ru-RU" altLang="ko-KR" sz="2600" i="1" baseline="-25000" dirty="0">
                <a:latin typeface="Times New Roman" panose="02020603050405020304" pitchFamily="18" charset="0"/>
              </a:rPr>
              <a:t>2</a:t>
            </a:r>
            <a:r>
              <a:rPr lang="ru-RU" altLang="ko-KR" sz="2600" i="1" dirty="0">
                <a:latin typeface="Times New Roman" panose="02020603050405020304" pitchFamily="18" charset="0"/>
              </a:rPr>
              <a:t> </a:t>
            </a:r>
            <a:r>
              <a:rPr lang="ru-RU" altLang="ko-KR" sz="2600" dirty="0">
                <a:latin typeface="Times New Roman" panose="02020603050405020304" pitchFamily="18" charset="0"/>
              </a:rPr>
              <a:t>и </a:t>
            </a:r>
            <a:r>
              <a:rPr lang="ru-RU" altLang="ko-KR" sz="2600" i="1" dirty="0">
                <a:latin typeface="Times New Roman" panose="02020603050405020304" pitchFamily="18" charset="0"/>
              </a:rPr>
              <a:t>x</a:t>
            </a:r>
            <a:r>
              <a:rPr lang="ru-RU" altLang="ko-KR" sz="2600" i="1" baseline="-25000" dirty="0">
                <a:latin typeface="Times New Roman" panose="02020603050405020304" pitchFamily="18" charset="0"/>
              </a:rPr>
              <a:t>3</a:t>
            </a:r>
            <a:r>
              <a:rPr lang="ru-RU" altLang="ko-KR" sz="2600" i="1" dirty="0">
                <a:latin typeface="Times New Roman" panose="02020603050405020304" pitchFamily="18" charset="0"/>
              </a:rPr>
              <a:t> </a:t>
            </a:r>
            <a:r>
              <a:rPr lang="ru-RU" altLang="ko-KR" sz="2600" dirty="0">
                <a:latin typeface="Times New Roman" panose="02020603050405020304" pitchFamily="18" charset="0"/>
              </a:rPr>
              <a:t>соответственно из 1-го, 2-го и 3-го уравнений:</a:t>
            </a:r>
          </a:p>
          <a:p>
            <a:endParaRPr lang="ru-RU" altLang="ko-KR" sz="2600" dirty="0">
              <a:latin typeface="Times New Roman" panose="02020603050405020304" pitchFamily="18" charset="0"/>
            </a:endParaRPr>
          </a:p>
          <a:p>
            <a:endParaRPr lang="ru-RU" altLang="ko-KR" sz="2600" dirty="0">
              <a:latin typeface="Times New Roman" panose="02020603050405020304" pitchFamily="18" charset="0"/>
            </a:endParaRPr>
          </a:p>
          <a:p>
            <a:r>
              <a:rPr lang="ru-RU" sz="2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Перепишем последнюю</a:t>
            </a:r>
            <a:r>
              <a:rPr lang="en-US" sz="2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систему в виде:</a:t>
            </a:r>
          </a:p>
          <a:p>
            <a:endParaRPr lang="ru-RU" altLang="ko-KR" sz="2600" dirty="0">
              <a:latin typeface="Times New Roman" panose="02020603050405020304" pitchFamily="18" charset="0"/>
            </a:endParaRPr>
          </a:p>
          <a:p>
            <a:endParaRPr lang="ru-RU" altLang="ru-RU" sz="2600" dirty="0">
              <a:latin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4933" name="Object 5"/>
              <p:cNvSpPr txBox="1">
                <a:spLocks noGrp="1"/>
              </p:cNvSpPr>
              <p:nvPr>
                <p:ph idx="1"/>
              </p:nvPr>
            </p:nvSpPr>
            <p:spPr bwMode="auto">
              <a:xfrm>
                <a:off x="2293131" y="1667112"/>
                <a:ext cx="4325383" cy="126686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92500"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13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23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33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24933" name="Object 5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auto">
              <a:xfrm>
                <a:off x="2293131" y="1667112"/>
                <a:ext cx="4325383" cy="126686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4941" name="Object 13"/>
              <p:cNvSpPr txBox="1"/>
              <p:nvPr/>
            </p:nvSpPr>
            <p:spPr bwMode="auto">
              <a:xfrm>
                <a:off x="2486854" y="3429000"/>
                <a:ext cx="6314184" cy="126686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type m:val="lin"/>
                                  <m:ctrlP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ru-RU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ru-RU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11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13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=1/</m:t>
                              </m:r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23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=1/</m:t>
                              </m:r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33</m:t>
                                  </m:r>
                                </m:sub>
                              </m:sSub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24941" name="Object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86854" y="3429000"/>
                <a:ext cx="6314184" cy="126686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8B424B49-5CA3-4251-B6CB-AB1486946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7D8EA-FFCD-4294-8EEE-E3C0B3058240}" type="slidenum">
              <a:rPr lang="ru-RU" smtClean="0"/>
              <a:t>20</a:t>
            </a:fld>
            <a:endParaRPr lang="ru-RU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FD7F007-326B-4017-A968-2D31F82B10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2A0B34B9-9282-4111-A441-81B757A6ABD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6818371"/>
              </p:ext>
            </p:extLst>
          </p:nvPr>
        </p:nvGraphicFramePr>
        <p:xfrm>
          <a:off x="2690949" y="4963886"/>
          <a:ext cx="3220954" cy="13924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5" r:id="rId5" imgW="2184400" imgH="939800" progId="Equation.3">
                  <p:embed/>
                </p:oleObj>
              </mc:Choice>
              <mc:Fallback>
                <p:oleObj r:id="rId5" imgW="2184400" imgH="9398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0949" y="4963886"/>
                        <a:ext cx="3220954" cy="139246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90190846"/>
      </p:ext>
    </p:extLst>
  </p:cSld>
  <p:clrMapOvr>
    <a:masterClrMapping/>
  </p:clrMapOvr>
  <p:transition spd="slow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AC5C4803-7B64-40A6-B9FA-8D2DA15A197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10638" y="292917"/>
                <a:ext cx="8802733" cy="5942420"/>
              </a:xfrm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ru-RU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Правая часть</a:t>
                </a:r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последней системы определяет отображение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𝐹</m:t>
                      </m:r>
                      <m:r>
                        <a:rPr lang="en-US" sz="2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:</m:t>
                      </m:r>
                      <m:sSub>
                        <m:sSubPr>
                          <m:ctrlPr>
                            <a:rPr lang="en-US" sz="2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sz="2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en-US" sz="2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2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 </m:t>
                      </m:r>
                      <m:r>
                        <a:rPr lang="en-US" sz="2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𝑖</m:t>
                      </m:r>
                      <m:r>
                        <a:rPr lang="en-US" sz="2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=1,2,…,</m:t>
                      </m:r>
                      <m:r>
                        <a:rPr lang="en-US" sz="2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𝑛</m:t>
                      </m:r>
                      <m:r>
                        <a:rPr lang="ru-RU" sz="2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</m:oMath>
                  </m:oMathPara>
                </a14:m>
                <a:endParaRPr lang="ru-RU" sz="2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ru-RU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преобразующее точку </a:t>
                </a:r>
                <a:r>
                  <a:rPr lang="en-US" sz="2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2600" i="1" dirty="0">
                    <a:latin typeface="Times New Roman" panose="02020603050405020304" pitchFamily="18" charset="0"/>
                  </a:rPr>
                  <a:t>x</a:t>
                </a:r>
                <a:r>
                  <a:rPr lang="en-US" sz="2600" baseline="-25000" dirty="0">
                    <a:latin typeface="Times New Roman" panose="02020603050405020304" pitchFamily="18" charset="0"/>
                  </a:rPr>
                  <a:t>1</a:t>
                </a:r>
                <a:r>
                  <a:rPr lang="en-US" sz="2600" dirty="0">
                    <a:latin typeface="Times New Roman" panose="02020603050405020304" pitchFamily="18" charset="0"/>
                  </a:rPr>
                  <a:t>,</a:t>
                </a:r>
                <a:r>
                  <a:rPr lang="ru-RU" sz="2600" dirty="0">
                    <a:latin typeface="Times New Roman" panose="02020603050405020304" pitchFamily="18" charset="0"/>
                  </a:rPr>
                  <a:t> </a:t>
                </a:r>
                <a:r>
                  <a:rPr lang="en-US" sz="2600" i="1" dirty="0">
                    <a:latin typeface="Times New Roman" panose="02020603050405020304" pitchFamily="18" charset="0"/>
                  </a:rPr>
                  <a:t>x</a:t>
                </a:r>
                <a:r>
                  <a:rPr lang="en-US" sz="2600" i="1" baseline="-25000" dirty="0">
                    <a:latin typeface="Times New Roman" panose="02020603050405020304" pitchFamily="18" charset="0"/>
                  </a:rPr>
                  <a:t>2</a:t>
                </a:r>
                <a:r>
                  <a:rPr lang="en-US" sz="2600" dirty="0">
                    <a:latin typeface="Times New Roman" panose="02020603050405020304" pitchFamily="18" charset="0"/>
                  </a:rPr>
                  <a:t>,…, </a:t>
                </a:r>
                <a:r>
                  <a:rPr lang="en-US" sz="2600" i="1" dirty="0" err="1">
                    <a:latin typeface="Times New Roman" panose="02020603050405020304" pitchFamily="18" charset="0"/>
                  </a:rPr>
                  <a:t>x</a:t>
                </a:r>
                <a:r>
                  <a:rPr lang="en-US" sz="2600" i="1" baseline="-25000" dirty="0" err="1">
                    <a:latin typeface="Times New Roman" panose="02020603050405020304" pitchFamily="18" charset="0"/>
                  </a:rPr>
                  <a:t>n</a:t>
                </a:r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ru-RU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ru-RU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-мерного векторного пространства в точку </a:t>
                </a:r>
                <a:r>
                  <a:rPr lang="en-US" sz="2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(</a:t>
                </a:r>
                <a:r>
                  <a:rPr lang="en-US" sz="2600" i="1" dirty="0">
                    <a:latin typeface="Times New Roman" panose="02020603050405020304" pitchFamily="18" charset="0"/>
                  </a:rPr>
                  <a:t>x</a:t>
                </a:r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</a:t>
                </a:r>
                <a:r>
                  <a:rPr lang="en-US" sz="2600" baseline="-25000" dirty="0">
                    <a:latin typeface="Times New Roman" panose="02020603050405020304" pitchFamily="18" charset="0"/>
                  </a:rPr>
                  <a:t>1</a:t>
                </a:r>
                <a:r>
                  <a:rPr lang="en-US" sz="2600" dirty="0">
                    <a:latin typeface="Times New Roman" panose="02020603050405020304" pitchFamily="18" charset="0"/>
                  </a:rPr>
                  <a:t>,</a:t>
                </a:r>
                <a:r>
                  <a:rPr lang="ru-RU" sz="2600" dirty="0">
                    <a:latin typeface="Times New Roman" panose="02020603050405020304" pitchFamily="18" charset="0"/>
                  </a:rPr>
                  <a:t> </a:t>
                </a:r>
                <a:r>
                  <a:rPr lang="en-US" sz="2600" i="1" dirty="0">
                    <a:latin typeface="Times New Roman" panose="02020603050405020304" pitchFamily="18" charset="0"/>
                  </a:rPr>
                  <a:t>x</a:t>
                </a:r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</a:t>
                </a:r>
                <a:r>
                  <a:rPr lang="en-US" sz="2600" i="1" baseline="-25000" dirty="0">
                    <a:latin typeface="Times New Roman" panose="02020603050405020304" pitchFamily="18" charset="0"/>
                  </a:rPr>
                  <a:t>2</a:t>
                </a:r>
                <a:r>
                  <a:rPr lang="en-US" sz="2600" dirty="0">
                    <a:latin typeface="Times New Roman" panose="02020603050405020304" pitchFamily="18" charset="0"/>
                  </a:rPr>
                  <a:t>,…, </a:t>
                </a:r>
                <a:r>
                  <a:rPr lang="en-US" sz="2600" i="1" dirty="0" err="1">
                    <a:latin typeface="Times New Roman" panose="02020603050405020304" pitchFamily="18" charset="0"/>
                  </a:rPr>
                  <a:t>x</a:t>
                </a:r>
                <a:r>
                  <a:rPr lang="en-US" sz="2600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</a:t>
                </a:r>
                <a:r>
                  <a:rPr lang="en-US" sz="2600" i="1" baseline="-25000" dirty="0" err="1">
                    <a:latin typeface="Times New Roman" panose="02020603050405020304" pitchFamily="18" charset="0"/>
                  </a:rPr>
                  <a:t>n</a:t>
                </a:r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r>
                  <a:rPr lang="ru-RU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того же</a:t>
                </a:r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пространства. </a:t>
                </a:r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AC5C4803-7B64-40A6-B9FA-8D2DA15A197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10638" y="292917"/>
                <a:ext cx="8802733" cy="5942420"/>
              </a:xfrm>
              <a:blipFill>
                <a:blip r:embed="rId2"/>
                <a:stretch>
                  <a:fillRect l="-1247" r="-173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39E1C7C-5A87-47C8-8DE2-F0FA007EE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7D8EA-FFCD-4294-8EEE-E3C0B3058240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31578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2" name="Text Box 4"/>
          <p:cNvSpPr txBox="1">
            <a:spLocks noChangeArrowheads="1"/>
          </p:cNvSpPr>
          <p:nvPr/>
        </p:nvSpPr>
        <p:spPr bwMode="auto">
          <a:xfrm>
            <a:off x="573206" y="260350"/>
            <a:ext cx="8319969" cy="62478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/>
            <a:r>
              <a:rPr lang="ru-RU" altLang="ko-KR" sz="2600" dirty="0">
                <a:latin typeface="Times New Roman" panose="02020603050405020304" pitchFamily="18" charset="0"/>
              </a:rPr>
              <a:t>Зададим </a:t>
            </a:r>
            <a:r>
              <a:rPr lang="ru-RU" altLang="ko-KR" sz="2600" b="1" dirty="0">
                <a:latin typeface="Times New Roman" panose="02020603050405020304" pitchFamily="18" charset="0"/>
              </a:rPr>
              <a:t>начальные (нулевые) приближения </a:t>
            </a:r>
            <a:r>
              <a:rPr lang="ru-RU" altLang="ko-KR" sz="2600" dirty="0">
                <a:latin typeface="Times New Roman" panose="02020603050405020304" pitchFamily="18" charset="0"/>
              </a:rPr>
              <a:t>для неизвестных:</a:t>
            </a:r>
          </a:p>
          <a:p>
            <a:endParaRPr lang="ru-RU" altLang="ko-KR" sz="2600" dirty="0">
              <a:latin typeface="Times New Roman" panose="02020603050405020304" pitchFamily="18" charset="0"/>
            </a:endParaRPr>
          </a:p>
          <a:p>
            <a:endParaRPr lang="ru-RU" altLang="ko-KR" dirty="0"/>
          </a:p>
          <a:p>
            <a:pPr algn="just"/>
            <a:r>
              <a:rPr lang="ru-RU" altLang="ko-KR" sz="2600" dirty="0">
                <a:latin typeface="Times New Roman" panose="02020603050405020304" pitchFamily="18" charset="0"/>
              </a:rPr>
              <a:t>И подставим их в правую часть соотношений, в результате последовательно получим первое приближение: </a:t>
            </a:r>
          </a:p>
          <a:p>
            <a:endParaRPr lang="ru-RU" altLang="ko-KR" sz="2600" dirty="0">
              <a:latin typeface="Times New Roman" panose="02020603050405020304" pitchFamily="18" charset="0"/>
            </a:endParaRPr>
          </a:p>
          <a:p>
            <a:endParaRPr lang="ru-RU" altLang="ko-KR" sz="2600" dirty="0">
              <a:latin typeface="Times New Roman" panose="02020603050405020304" pitchFamily="18" charset="0"/>
            </a:endParaRPr>
          </a:p>
          <a:p>
            <a:endParaRPr lang="ru-RU" altLang="ko-KR" sz="2600" dirty="0">
              <a:latin typeface="Times New Roman" panose="02020603050405020304" pitchFamily="18" charset="0"/>
            </a:endParaRPr>
          </a:p>
          <a:p>
            <a:endParaRPr lang="ru-RU" altLang="ko-KR" sz="2600" dirty="0">
              <a:latin typeface="Times New Roman" panose="02020603050405020304" pitchFamily="18" charset="0"/>
            </a:endParaRPr>
          </a:p>
          <a:p>
            <a:pPr algn="just"/>
            <a:endParaRPr lang="ru-RU" altLang="ko-KR" sz="2600" dirty="0">
              <a:latin typeface="Times New Roman" panose="02020603050405020304" pitchFamily="18" charset="0"/>
            </a:endParaRPr>
          </a:p>
          <a:p>
            <a:pPr algn="just"/>
            <a:r>
              <a:rPr lang="ru-RU" altLang="ko-KR" sz="2600" dirty="0">
                <a:latin typeface="Times New Roman" panose="02020603050405020304" pitchFamily="18" charset="0"/>
              </a:rPr>
              <a:t>Используя                  , также найдём вторые приближения и так далее.</a:t>
            </a:r>
          </a:p>
          <a:p>
            <a:pPr algn="just"/>
            <a:endParaRPr lang="ru-RU" altLang="ko-KR" sz="2600" dirty="0">
              <a:latin typeface="Times New Roman" panose="02020603050405020304" pitchFamily="18" charset="0"/>
            </a:endParaRPr>
          </a:p>
          <a:p>
            <a:endParaRPr lang="ru-RU" alt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0053" name="Object 5"/>
              <p:cNvSpPr txBox="1">
                <a:spLocks noGrp="1"/>
              </p:cNvSpPr>
              <p:nvPr>
                <p:ph sz="half" idx="1"/>
              </p:nvPr>
            </p:nvSpPr>
            <p:spPr bwMode="auto">
              <a:xfrm>
                <a:off x="3432665" y="1060695"/>
                <a:ext cx="1439862" cy="54768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70000" lnSpcReduction="20000"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ru-RU" sz="3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ru-RU" sz="3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ru-RU" sz="3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ru-RU" sz="3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bSup>
                      <m:r>
                        <a:rPr lang="ru-RU" sz="3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ru-RU" sz="3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ru-RU" sz="3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ru-RU" sz="3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ru-RU" sz="3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bSup>
                      <m:r>
                        <a:rPr lang="ru-RU" sz="3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ru-RU" sz="3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ru-RU" sz="3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ru-RU" sz="3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ru-RU" sz="3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bSup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30053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 bwMode="auto">
              <a:xfrm>
                <a:off x="3432665" y="1060695"/>
                <a:ext cx="1439862" cy="5476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0055" name="Object 7"/>
              <p:cNvSpPr txBox="1">
                <a:spLocks noGrp="1"/>
              </p:cNvSpPr>
              <p:nvPr>
                <p:ph sz="half" idx="2"/>
              </p:nvPr>
            </p:nvSpPr>
            <p:spPr bwMode="auto">
              <a:xfrm>
                <a:off x="1874837" y="3064333"/>
                <a:ext cx="4744077" cy="183606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70000" lnSpcReduction="20000"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ru-RU" sz="3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ru-RU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ru-RU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Sup>
                                <m:sSubSupPr>
                                  <m:ctrlPr>
                                    <a:rPr lang="ru-RU" sz="3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ru-RU" sz="3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3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ru-RU" sz="3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(1)</m:t>
                                  </m:r>
                                </m:sup>
                              </m:sSubSup>
                              <m:r>
                                <a:rPr lang="ru-RU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type m:val="lin"/>
                                  <m:ctrlPr>
                                    <a:rPr lang="ru-RU" sz="3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ru-RU" sz="3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ru-RU" sz="3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sz="3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ru-RU" sz="3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11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ru-RU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ru-RU" sz="3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3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ru-RU" sz="3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ru-RU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ru-RU" sz="3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3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ru-RU" sz="3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ru-RU" sz="3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ru-RU" sz="3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3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ru-RU" sz="3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(0)</m:t>
                                  </m:r>
                                </m:sup>
                              </m:sSubSup>
                              <m:r>
                                <a:rPr lang="ru-RU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ru-RU" sz="3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3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ru-RU" sz="3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13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ru-RU" sz="3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ru-RU" sz="3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3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ru-RU" sz="3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(0)</m:t>
                                  </m:r>
                                </m:sup>
                              </m:sSubSup>
                              <m:r>
                                <a:rPr lang="ru-RU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ru-RU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Sup>
                                <m:sSubSupPr>
                                  <m:ctrlPr>
                                    <a:rPr lang="ru-RU" sz="3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ru-RU" sz="3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3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ru-RU" sz="3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(1)</m:t>
                                  </m:r>
                                </m:sup>
                              </m:sSubSup>
                              <m:r>
                                <a:rPr lang="ru-RU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=1/</m:t>
                              </m:r>
                              <m:sSub>
                                <m:sSubPr>
                                  <m:ctrlPr>
                                    <a:rPr lang="ru-RU" sz="3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3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ru-RU" sz="3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  <m:r>
                                <a:rPr lang="ru-RU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ru-RU" sz="3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3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ru-RU" sz="3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ru-RU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ru-RU" sz="3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3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ru-RU" sz="3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21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ru-RU" sz="3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ru-RU" sz="3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3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ru-RU" sz="3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ru-RU" sz="32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ru-RU" sz="3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bSup>
                              <m:r>
                                <a:rPr lang="ru-RU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ru-RU" sz="3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3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ru-RU" sz="3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23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ru-RU" sz="3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ru-RU" sz="3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3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ru-RU" sz="3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(0)</m:t>
                                  </m:r>
                                </m:sup>
                              </m:sSubSup>
                              <m:r>
                                <a:rPr lang="ru-RU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ru-RU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Sup>
                                <m:sSubSupPr>
                                  <m:ctrlPr>
                                    <a:rPr lang="ru-RU" sz="3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ru-RU" sz="3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3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ru-RU" sz="3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(1)</m:t>
                                  </m:r>
                                </m:sup>
                              </m:sSubSup>
                              <m:r>
                                <a:rPr lang="ru-RU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=1/</m:t>
                              </m:r>
                              <m:sSub>
                                <m:sSubPr>
                                  <m:ctrlPr>
                                    <a:rPr lang="ru-RU" sz="3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3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ru-RU" sz="3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33</m:t>
                                  </m:r>
                                </m:sub>
                              </m:sSub>
                              <m:r>
                                <a:rPr lang="ru-RU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ru-RU" sz="3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3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ru-RU" sz="3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ru-RU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ru-RU" sz="3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3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ru-RU" sz="3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31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ru-RU" sz="3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ru-RU" sz="3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3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ru-RU" sz="3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ru-RU" sz="32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ru-RU" sz="3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bSup>
                              <m:r>
                                <a:rPr lang="ru-RU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ru-RU" sz="3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3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ru-RU" sz="3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32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ru-RU" sz="3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ru-RU" sz="3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3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ru-RU" sz="3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ru-RU" sz="32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ru-RU" sz="3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bSup>
                              <m:r>
                                <a:rPr lang="ru-RU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30055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 bwMode="auto">
              <a:xfrm>
                <a:off x="1874837" y="3064333"/>
                <a:ext cx="4744077" cy="1836067"/>
              </a:xfrm>
              <a:prstGeom prst="rect">
                <a:avLst/>
              </a:prstGeom>
              <a:blipFill>
                <a:blip r:embed="rId3"/>
                <a:stretch>
                  <a:fillRect t="-166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B6FAA568-C611-465E-89FB-A4DF6CCF9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7D8EA-FFCD-4294-8EEE-E3C0B3058240}" type="slidenum">
              <a:rPr lang="ru-RU" smtClean="0"/>
              <a:t>22</a:t>
            </a:fld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5">
                <a:extLst>
                  <a:ext uri="{FF2B5EF4-FFF2-40B4-BE49-F238E27FC236}">
                    <a16:creationId xmlns:a16="http://schemas.microsoft.com/office/drawing/2014/main" id="{57807B3D-FE50-4C30-91B7-547B6574B8C5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2355159" y="4968915"/>
                <a:ext cx="1439862" cy="54768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vert="horz" lIns="91440" tIns="45720" rIns="91440" bIns="45720" rtlCol="0">
                <a:normAutofit fontScale="85000"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buFont typeface="Arial" panose="020B0604020202020204" pitchFamily="34" charset="0"/>
                  <a:buNone/>
                </a:pPr>
                <a:r>
                  <a:rPr lang="ru-RU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ru-RU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ru-RU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ru-RU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10" name="Object 5">
                <a:extLst>
                  <a:ext uri="{FF2B5EF4-FFF2-40B4-BE49-F238E27FC236}">
                    <a16:creationId xmlns:a16="http://schemas.microsoft.com/office/drawing/2014/main" id="{57807B3D-FE50-4C30-91B7-547B6574B8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55159" y="4968915"/>
                <a:ext cx="1439862" cy="547687"/>
              </a:xfrm>
              <a:prstGeom prst="rect">
                <a:avLst/>
              </a:prstGeom>
              <a:blipFill>
                <a:blip r:embed="rId4"/>
                <a:stretch>
                  <a:fillRect t="-444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51735521"/>
      </p:ext>
    </p:extLst>
  </p:cSld>
  <p:clrMapOvr>
    <a:masterClrMapping/>
  </p:clrMapOvr>
  <p:transition spd="slow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5" name="Text Box 5"/>
          <p:cNvSpPr txBox="1">
            <a:spLocks noChangeArrowheads="1"/>
          </p:cNvSpPr>
          <p:nvPr/>
        </p:nvSpPr>
        <p:spPr bwMode="auto">
          <a:xfrm>
            <a:off x="3903663" y="784225"/>
            <a:ext cx="184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ru-RU" altLang="ru-RU"/>
          </a:p>
        </p:txBody>
      </p:sp>
      <p:sp>
        <p:nvSpPr>
          <p:cNvPr id="133128" name="Text Box 8"/>
          <p:cNvSpPr txBox="1">
            <a:spLocks noChangeArrowheads="1"/>
          </p:cNvSpPr>
          <p:nvPr/>
        </p:nvSpPr>
        <p:spPr bwMode="auto">
          <a:xfrm>
            <a:off x="368490" y="598845"/>
            <a:ext cx="8199603" cy="59708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/>
            <a:endParaRPr lang="ru-RU" altLang="ko-KR" sz="2600" dirty="0">
              <a:latin typeface="Times New Roman" panose="02020603050405020304" pitchFamily="18" charset="0"/>
            </a:endParaRPr>
          </a:p>
          <a:p>
            <a:pPr algn="just"/>
            <a:endParaRPr lang="ru-RU" altLang="ko-KR" sz="2600" dirty="0">
              <a:latin typeface="Times New Roman" panose="02020603050405020304" pitchFamily="18" charset="0"/>
            </a:endParaRPr>
          </a:p>
          <a:p>
            <a:pPr algn="just"/>
            <a:endParaRPr lang="ru-RU" altLang="ko-KR" sz="2600" dirty="0">
              <a:latin typeface="Times New Roman" panose="02020603050405020304" pitchFamily="18" charset="0"/>
            </a:endParaRPr>
          </a:p>
          <a:p>
            <a:pPr algn="just"/>
            <a:endParaRPr lang="ru-RU" altLang="ko-KR" sz="2600" dirty="0">
              <a:latin typeface="Times New Roman" panose="02020603050405020304" pitchFamily="18" charset="0"/>
            </a:endParaRPr>
          </a:p>
          <a:p>
            <a:pPr algn="just"/>
            <a:r>
              <a:rPr lang="ru-RU" altLang="ko-KR" sz="2600" dirty="0">
                <a:latin typeface="Times New Roman" panose="02020603050405020304" pitchFamily="18" charset="0"/>
              </a:rPr>
              <a:t>Итерационный процесс продолжаем, пока </a:t>
            </a:r>
            <a:r>
              <a:rPr lang="ru-RU" altLang="ko-KR" sz="2600" i="1" dirty="0">
                <a:latin typeface="Times New Roman" panose="02020603050405020304" pitchFamily="18" charset="0"/>
              </a:rPr>
              <a:t>    </a:t>
            </a:r>
            <a:r>
              <a:rPr lang="ru-RU" altLang="ko-KR" sz="2600" dirty="0">
                <a:latin typeface="Times New Roman" panose="02020603050405020304" pitchFamily="18" charset="0"/>
              </a:rPr>
              <a:t>не станут близки с заданной погрешностью к </a:t>
            </a:r>
            <a:r>
              <a:rPr lang="ru-RU" altLang="ko-KR" sz="2600" i="1" dirty="0">
                <a:latin typeface="Times New Roman" panose="02020603050405020304" pitchFamily="18" charset="0"/>
              </a:rPr>
              <a:t>         </a:t>
            </a:r>
            <a:r>
              <a:rPr lang="ru-RU" altLang="ko-KR" sz="2600" dirty="0">
                <a:latin typeface="Times New Roman" panose="02020603050405020304" pitchFamily="18" charset="0"/>
              </a:rPr>
              <a:t>.</a:t>
            </a:r>
          </a:p>
          <a:p>
            <a:pPr algn="just"/>
            <a:r>
              <a:rPr lang="ru-RU" altLang="ko-KR" sz="2600" dirty="0">
                <a:latin typeface="Times New Roman" panose="02020603050405020304" pitchFamily="18" charset="0"/>
              </a:rPr>
              <a:t>Достаточным (</a:t>
            </a:r>
            <a:r>
              <a:rPr lang="ru-RU" altLang="ko-KR" sz="2600" b="1" dirty="0">
                <a:latin typeface="Times New Roman" panose="02020603050405020304" pitchFamily="18" charset="0"/>
              </a:rPr>
              <a:t>но не необходимым!</a:t>
            </a:r>
            <a:r>
              <a:rPr lang="ru-RU" altLang="ko-KR" sz="2600" dirty="0">
                <a:latin typeface="Times New Roman" panose="02020603050405020304" pitchFamily="18" charset="0"/>
              </a:rPr>
              <a:t>) условием сходимости итерационного процесса в этом методе является</a:t>
            </a:r>
            <a:r>
              <a:rPr lang="en-US" altLang="ko-KR" sz="2600" dirty="0">
                <a:latin typeface="Times New Roman" panose="02020603050405020304" pitchFamily="18" charset="0"/>
              </a:rPr>
              <a:t> </a:t>
            </a:r>
            <a:r>
              <a:rPr lang="ru-RU" altLang="ko-KR" sz="2600" dirty="0">
                <a:latin typeface="Times New Roman" panose="02020603050405020304" pitchFamily="18" charset="0"/>
              </a:rPr>
              <a:t>преобладание диагональных элементов:</a:t>
            </a:r>
            <a:endParaRPr lang="en-US" altLang="ko-KR" sz="2600" dirty="0">
              <a:latin typeface="Times New Roman" panose="02020603050405020304" pitchFamily="18" charset="0"/>
            </a:endParaRPr>
          </a:p>
          <a:p>
            <a:pPr algn="just"/>
            <a:endParaRPr lang="en-US" altLang="ko-KR" sz="2600" dirty="0">
              <a:latin typeface="Times New Roman" panose="02020603050405020304" pitchFamily="18" charset="0"/>
            </a:endParaRPr>
          </a:p>
          <a:p>
            <a:pPr algn="just"/>
            <a:endParaRPr lang="en-US" altLang="ko-KR" sz="2600" dirty="0">
              <a:latin typeface="Times New Roman" panose="02020603050405020304" pitchFamily="18" charset="0"/>
            </a:endParaRPr>
          </a:p>
          <a:p>
            <a:endParaRPr lang="ru-RU" dirty="0"/>
          </a:p>
          <a:p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 этом хотя бы для одного уравнения неравенство должно выполняться строго.</a:t>
            </a:r>
            <a:r>
              <a:rPr lang="ru-RU" altLang="ko-KR" i="1" dirty="0"/>
              <a:t>				</a:t>
            </a:r>
            <a:endParaRPr lang="ru-RU" altLang="ko-KR" sz="2600" dirty="0">
              <a:latin typeface="Times New Roman" panose="02020603050405020304" pitchFamily="18" charset="0"/>
            </a:endParaRPr>
          </a:p>
          <a:p>
            <a:pPr algn="just"/>
            <a:endParaRPr lang="ru-RU" altLang="ru-RU" sz="2600" dirty="0">
              <a:latin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3132" name="Object 12"/>
              <p:cNvSpPr txBox="1">
                <a:spLocks noGrp="1"/>
              </p:cNvSpPr>
              <p:nvPr>
                <p:ph sz="half" idx="1"/>
              </p:nvPr>
            </p:nvSpPr>
            <p:spPr bwMode="auto">
              <a:xfrm>
                <a:off x="1877947" y="567352"/>
                <a:ext cx="4861115" cy="173086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70000" lnSpcReduction="20000"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ru-RU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Sup>
                                <m:sSubSupPr>
                                  <m:ctrlP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bSup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type m:val="lin"/>
                                  <m:ctrlP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ru-RU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ru-RU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11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−1)</m:t>
                                  </m:r>
                                </m:sup>
                              </m:sSubSup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13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−1)</m:t>
                                  </m:r>
                                </m:sup>
                              </m:sSubSup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Sup>
                                <m:sSubSupPr>
                                  <m:ctrlP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bSup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=1/</m:t>
                              </m:r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21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ru-RU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bSup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23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−1)</m:t>
                                  </m:r>
                                </m:sup>
                              </m:sSubSup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Sup>
                                <m:sSubSupPr>
                                  <m:ctrlP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bSup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=1/</m:t>
                              </m:r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33</m:t>
                                  </m:r>
                                </m:sub>
                              </m:sSub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31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ru-RU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bSup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32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ru-RU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bSup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33132" name="Object 12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 bwMode="auto">
              <a:xfrm>
                <a:off x="1877947" y="567352"/>
                <a:ext cx="4861115" cy="1730867"/>
              </a:xfrm>
              <a:prstGeom prst="rect">
                <a:avLst/>
              </a:prstGeom>
              <a:blipFill>
                <a:blip r:embed="rId2"/>
                <a:stretch>
                  <a:fillRect t="-176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3146" name="Object 26"/>
              <p:cNvSpPr txBox="1">
                <a:spLocks noGrp="1"/>
              </p:cNvSpPr>
              <p:nvPr>
                <p:ph sz="quarter" idx="2"/>
              </p:nvPr>
            </p:nvSpPr>
            <p:spPr bwMode="auto">
              <a:xfrm>
                <a:off x="5442850" y="2617788"/>
                <a:ext cx="719138" cy="5048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62500" lnSpcReduction="20000"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−1)</m:t>
                          </m:r>
                        </m:sup>
                      </m:sSubSup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33146" name="Object 26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 sz="quarter" idx="2"/>
              </p:nvPr>
            </p:nvSpPr>
            <p:spPr bwMode="auto">
              <a:xfrm>
                <a:off x="5442850" y="2617788"/>
                <a:ext cx="719138" cy="504825"/>
              </a:xfrm>
              <a:prstGeom prst="rect">
                <a:avLst/>
              </a:prstGeom>
              <a:blipFill>
                <a:blip r:embed="rId3"/>
                <a:stretch>
                  <a:fillRect r="-762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3137" name="Object 17"/>
              <p:cNvSpPr txBox="1"/>
              <p:nvPr/>
            </p:nvSpPr>
            <p:spPr bwMode="auto">
              <a:xfrm>
                <a:off x="6541128" y="2266726"/>
                <a:ext cx="823912" cy="54768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33137" name="Object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41128" y="2266726"/>
                <a:ext cx="823912" cy="5476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3149" name="Object 29"/>
              <p:cNvSpPr txBox="1">
                <a:spLocks noGrp="1"/>
              </p:cNvSpPr>
              <p:nvPr>
                <p:ph sz="quarter" idx="3"/>
              </p:nvPr>
            </p:nvSpPr>
            <p:spPr bwMode="auto">
              <a:xfrm>
                <a:off x="2516012" y="4317430"/>
                <a:ext cx="4025116" cy="94901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85000" lnSpcReduction="10000"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𝑖𝑖</m:t>
                              </m:r>
                            </m:sub>
                          </m:sSub>
                        </m:e>
                      </m:d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nary>
                        <m:naryPr>
                          <m:chr m:val="∑"/>
                          <m:supHide m:val="on"/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≠</m:t>
                          </m:r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e>
                          </m:d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=1,2,...,</m:t>
                          </m:r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</m:e>
                      </m:nary>
                    </m:oMath>
                  </m:oMathPara>
                </a14:m>
                <a:endParaRPr lang="ru-RU"/>
              </a:p>
            </p:txBody>
          </p:sp>
        </mc:Choice>
        <mc:Fallback xmlns="">
          <p:sp>
            <p:nvSpPr>
              <p:cNvPr id="133149" name="Object 29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 sz="quarter" idx="3"/>
              </p:nvPr>
            </p:nvSpPr>
            <p:spPr bwMode="auto">
              <a:xfrm>
                <a:off x="2516012" y="4317430"/>
                <a:ext cx="4025116" cy="94901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4FD17A77-66FA-4D5B-BDEF-3F9686895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412E0-DA5B-4395-8C4F-9E21DA2840A8}" type="slidenum">
              <a:rPr lang="ru-RU" altLang="ru-RU" smtClean="0"/>
              <a:pPr/>
              <a:t>23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975421014"/>
      </p:ext>
    </p:extLst>
  </p:cSld>
  <p:clrMapOvr>
    <a:masterClrMapping/>
  </p:clrMapOvr>
  <p:transition spd="slow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Объект 6"/>
          <p:cNvSpPr>
            <a:spLocks noGrp="1"/>
          </p:cNvSpPr>
          <p:nvPr>
            <p:ph idx="1"/>
          </p:nvPr>
        </p:nvSpPr>
        <p:spPr>
          <a:xfrm>
            <a:off x="505819" y="460848"/>
            <a:ext cx="8294231" cy="5895503"/>
          </a:xfrm>
        </p:spPr>
        <p:txBody>
          <a:bodyPr>
            <a:normAutofit/>
          </a:bodyPr>
          <a:lstStyle/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практике наличие сходимости и достижение требуемой точности обычно определяют приближённо: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 малом (с заданной допустимой погрешностью) изменении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Х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двух последовательных итерациях, т.е. при малом отличии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(k)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от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(k</a:t>
            </a:r>
            <a:r>
              <a:rPr lang="ru-RU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-1)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процесс прекращается, и происходит вывод значений неизвестных, полученных на последней итерации.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8E3D1612-16D0-4DFC-B204-8F1DB2148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7D8EA-FFCD-4294-8EEE-E3C0B3058240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89032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35226CA-0BF2-46EB-BCB7-6262F666C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7D8EA-FFCD-4294-8EEE-E3C0B3058240}" type="slidenum">
              <a:rPr lang="ru-RU" smtClean="0"/>
              <a:t>25</a:t>
            </a:fld>
            <a:endParaRPr lang="ru-RU"/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13968C30-3250-4C6D-9FA8-3588B007D2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164" y="4802706"/>
            <a:ext cx="8725500" cy="3837539"/>
          </a:xfrm>
        </p:spPr>
        <p:txBody>
          <a:bodyPr>
            <a:normAutofit/>
          </a:bodyPr>
          <a:lstStyle/>
          <a:p>
            <a:r>
              <a:rPr lang="ru-RU" sz="2400" dirty="0">
                <a:solidFill>
                  <a:srgbClr val="19191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Если система не является плохо обусловленной, то в качестве критерия окончания итерационного процесса можно использовать условие малости невязки: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5C32FBD-8988-4990-B914-E228D92F6F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7587" y="5930900"/>
            <a:ext cx="2028825" cy="7905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Объект 2">
                <a:extLst>
                  <a:ext uri="{FF2B5EF4-FFF2-40B4-BE49-F238E27FC236}">
                    <a16:creationId xmlns:a16="http://schemas.microsoft.com/office/drawing/2014/main" id="{99C50A0F-3D69-4028-87CB-F4D2E8CDF83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09250" y="0"/>
                <a:ext cx="8725500" cy="480270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925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ru-RU" sz="2400" b="1" dirty="0">
                    <a:solidFill>
                      <a:srgbClr val="191919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Достаточное условие сходимости итерационного процесса</a:t>
                </a:r>
              </a:p>
              <a:p>
                <a:r>
                  <a:rPr lang="ru-RU" sz="2400" dirty="0">
                    <a:solidFill>
                      <a:srgbClr val="191919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При практическом применении метода простой итерации удобно рассматривать систему линейных уравнений в пространстве </a:t>
                </a:r>
                <a:br>
                  <a:rPr lang="ru-RU" sz="2400" dirty="0">
                    <a:solidFill>
                      <a:srgbClr val="191919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ru-RU" sz="2400" dirty="0">
                    <a:solidFill>
                      <a:srgbClr val="191919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 одной из следующих трёх метрик: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400" i="1" smtClean="0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sz="2400" i="1" smtClean="0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ru-RU" sz="2400" b="0" i="1" smtClean="0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ru-RU" sz="2400" b="0" i="1" smtClean="0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𝑀</m:t>
                          </m:r>
                          <m:r>
                            <a:rPr lang="en-US" sz="2400" b="0" i="1" smtClean="0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 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solidFill>
                                    <a:srgbClr val="191919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solidFill>
                                    <a:srgbClr val="191919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𝑀</m:t>
                              </m:r>
                            </m:e>
                            <m:sup>
                              <m:r>
                                <a:rPr lang="en-US" sz="2400" b="0" i="1" smtClean="0">
                                  <a:solidFill>
                                    <a:srgbClr val="191919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sz="24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400" b="0" i="1" smtClean="0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400" b="0" i="1" smtClean="0">
                                  <a:solidFill>
                                    <a:srgbClr val="191919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solidFill>
                                    <a:srgbClr val="191919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sz="2400" b="0" i="1" smtClean="0">
                                  <a:solidFill>
                                    <a:srgbClr val="191919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  <m:r>
                                <a:rPr lang="en-US" sz="2400" b="0" i="1" smtClean="0">
                                  <a:solidFill>
                                    <a:srgbClr val="19191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≤</m:t>
                              </m:r>
                              <m:r>
                                <a:rPr lang="en-US" sz="2400" b="0" i="1" smtClean="0">
                                  <a:solidFill>
                                    <a:srgbClr val="19191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r>
                                <a:rPr lang="en-US" sz="2400" b="0" i="1" smtClean="0">
                                  <a:solidFill>
                                    <a:srgbClr val="19191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≤</m:t>
                              </m:r>
                              <m:r>
                                <a:rPr lang="en-US" sz="2400" b="0" i="1" smtClean="0">
                                  <a:solidFill>
                                    <a:srgbClr val="19191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lim>
                          </m:limLow>
                        </m:fName>
                        <m:e>
                          <m:r>
                            <a:rPr lang="en-US" sz="2400" b="0" i="1" smtClean="0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191919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191919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191919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400" b="0" i="1" smtClean="0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191919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rgbClr val="191919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solidFill>
                                    <a:srgbClr val="191919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′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rgbClr val="191919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400" b="0" i="1" smtClean="0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|</m:t>
                          </m:r>
                        </m:e>
                      </m:func>
                    </m:oMath>
                  </m:oMathPara>
                </a14:m>
                <a:endParaRPr lang="en-US" sz="2400" dirty="0">
                  <a:solidFill>
                    <a:srgbClr val="19191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2400" dirty="0">
                  <a:solidFill>
                    <a:srgbClr val="19191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400" i="1" smtClean="0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sz="2400" i="1" smtClean="0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ru-RU" sz="2400" b="0" i="1" smtClean="0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𝑀</m:t>
                          </m:r>
                          <m:r>
                            <a:rPr lang="en-US" sz="2400" b="0" i="1" smtClean="0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 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solidFill>
                                    <a:srgbClr val="191919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solidFill>
                                    <a:srgbClr val="191919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𝑀</m:t>
                              </m:r>
                            </m:e>
                            <m:sup>
                              <m:r>
                                <a:rPr lang="en-US" sz="2400" b="0" i="1" smtClean="0">
                                  <a:solidFill>
                                    <a:srgbClr val="191919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sz="24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400" i="1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sz="2400" i="1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191919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rgbClr val="191919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rgbClr val="191919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400" i="1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191919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rgbClr val="191919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  <m:r>
                                <a:rPr lang="en-US" sz="2400" i="1">
                                  <a:solidFill>
                                    <a:srgbClr val="191919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′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rgbClr val="191919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400" i="1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|</m:t>
                          </m:r>
                        </m:e>
                      </m:nary>
                    </m:oMath>
                  </m:oMathPara>
                </a14:m>
                <a:endParaRPr lang="en-US" sz="2400" dirty="0">
                  <a:solidFill>
                    <a:srgbClr val="19191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endParaRPr lang="en-US" sz="2400" dirty="0">
                  <a:solidFill>
                    <a:srgbClr val="19191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400" i="1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sz="2400" i="1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ru-RU" sz="2400" i="1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𝑀</m:t>
                          </m:r>
                          <m:r>
                            <a:rPr lang="en-US" sz="2400" i="1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 </m:t>
                          </m:r>
                          <m:sSup>
                            <m:sSupPr>
                              <m:ctrlPr>
                                <a:rPr lang="en-US" sz="2400" i="1">
                                  <a:solidFill>
                                    <a:srgbClr val="191919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solidFill>
                                    <a:srgbClr val="191919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𝑀</m:t>
                              </m:r>
                            </m:e>
                            <m:sup>
                              <m:r>
                                <a:rPr lang="en-US" sz="2400" i="1">
                                  <a:solidFill>
                                    <a:srgbClr val="191919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sz="2400" i="1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2400" b="0" i="1" smtClean="0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nary>
                            <m:naryPr>
                              <m:chr m:val="∑"/>
                              <m:ctrlPr>
                                <a:rPr lang="en-US" sz="2400" i="1">
                                  <a:solidFill>
                                    <a:srgbClr val="191919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400" b="0" i="1" smtClean="0">
                                  <a:solidFill>
                                    <a:srgbClr val="191919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r>
                                <a:rPr lang="en-US" sz="2400" b="0" i="1" smtClean="0">
                                  <a:solidFill>
                                    <a:srgbClr val="191919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400" b="0" i="1" smtClean="0">
                                  <a:solidFill>
                                    <a:srgbClr val="191919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sz="2400" i="1" smtClean="0">
                                      <a:solidFill>
                                        <a:srgbClr val="191919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sz="2400" b="0" i="1" smtClean="0">
                                      <a:solidFill>
                                        <a:srgbClr val="191919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sz="2400" i="1">
                                          <a:solidFill>
                                            <a:srgbClr val="191919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solidFill>
                                            <a:srgbClr val="191919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solidFill>
                                            <a:srgbClr val="191919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2400" i="1">
                                      <a:solidFill>
                                        <a:srgbClr val="191919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400" i="1">
                                          <a:solidFill>
                                            <a:srgbClr val="191919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solidFill>
                                            <a:srgbClr val="191919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sz="2400" i="1">
                                          <a:solidFill>
                                            <a:srgbClr val="191919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′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solidFill>
                                            <a:srgbClr val="191919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ru-RU" sz="2400" b="0" i="1" smtClean="0">
                                      <a:solidFill>
                                        <a:srgbClr val="191919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ru-RU" sz="2400" b="0" i="1" smtClean="0">
                                      <a:solidFill>
                                        <a:srgbClr val="191919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rad>
                    </m:oMath>
                  </m:oMathPara>
                </a14:m>
                <a:endParaRPr lang="ru-RU" sz="2400" dirty="0">
                  <a:solidFill>
                    <a:srgbClr val="19191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Объект 2">
                <a:extLst>
                  <a:ext uri="{FF2B5EF4-FFF2-40B4-BE49-F238E27FC236}">
                    <a16:creationId xmlns:a16="http://schemas.microsoft.com/office/drawing/2014/main" id="{99C50A0F-3D69-4028-87CB-F4D2E8CDF8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250" y="0"/>
                <a:ext cx="8725500" cy="4802706"/>
              </a:xfrm>
              <a:prstGeom prst="rect">
                <a:avLst/>
              </a:prstGeom>
              <a:blipFill>
                <a:blip r:embed="rId3"/>
                <a:stretch>
                  <a:fillRect l="-908" t="-152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068640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8D68BF2-5203-461B-B20F-4CFD0BC28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7D8EA-FFCD-4294-8EEE-E3C0B3058240}" type="slidenum">
              <a:rPr lang="ru-RU" smtClean="0"/>
              <a:t>26</a:t>
            </a:fld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495189-199E-4BF6-A653-9E48BDAB0EB2}"/>
              </a:ext>
            </a:extLst>
          </p:cNvPr>
          <p:cNvSpPr txBox="1"/>
          <p:nvPr/>
        </p:nvSpPr>
        <p:spPr>
          <a:xfrm>
            <a:off x="22695" y="37916"/>
            <a:ext cx="8678092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algn="just"/>
            <a:r>
              <a:rPr lang="ru-RU" sz="2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Для того чтобы отображение </a:t>
            </a:r>
            <a:r>
              <a:rPr lang="ru-RU" sz="26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</a:t>
            </a:r>
            <a:r>
              <a:rPr lang="ru-RU" sz="2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заданное в метрическом пространстве, заданное системой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57CA7920-C4FB-424F-ACD5-7B47F03AA3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8" name="Объект 7">
            <a:extLst>
              <a:ext uri="{FF2B5EF4-FFF2-40B4-BE49-F238E27FC236}">
                <a16:creationId xmlns:a16="http://schemas.microsoft.com/office/drawing/2014/main" id="{1D56A4FC-9229-43F8-80F5-0C482D8C0AA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60769"/>
              </p:ext>
            </p:extLst>
          </p:nvPr>
        </p:nvGraphicFramePr>
        <p:xfrm>
          <a:off x="2751909" y="968115"/>
          <a:ext cx="3219664" cy="13919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" r:id="rId3" imgW="2184400" imgH="939800" progId="Equation.3">
                  <p:embed/>
                </p:oleObj>
              </mc:Choice>
              <mc:Fallback>
                <p:oleObj r:id="rId3" imgW="2184400" imgH="9398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1909" y="968115"/>
                        <a:ext cx="3219664" cy="139190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3B2C22A-1FC5-4352-84F3-D8628789F9B0}"/>
                  </a:ext>
                </a:extLst>
              </p:cNvPr>
              <p:cNvSpPr txBox="1"/>
              <p:nvPr/>
            </p:nvSpPr>
            <p:spPr>
              <a:xfrm>
                <a:off x="165463" y="2290688"/>
                <a:ext cx="8813074" cy="31870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sz="2600" dirty="0">
                    <a:latin typeface="Times New Roman" panose="02020603050405020304" pitchFamily="18" charset="0"/>
                  </a:rPr>
                  <a:t>было сжимающим отображением, достаточно выполнения одного из следующих условий:</a:t>
                </a:r>
              </a:p>
              <a:p>
                <a:pPr marL="514350" indent="-514350">
                  <a:lnSpc>
                    <a:spcPct val="150000"/>
                  </a:lnSpc>
                  <a:buAutoNum type="arabicParenR"/>
                </a:pPr>
                <a:r>
                  <a:rPr lang="ru-RU" sz="2600" dirty="0">
                    <a:latin typeface="Times New Roman" panose="02020603050405020304" pitchFamily="18" charset="0"/>
                  </a:rPr>
                  <a:t>в пространстве с метрикой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800" i="1" smtClean="0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2800" i="1" smtClean="0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𝜌</m:t>
                        </m:r>
                      </m:e>
                      <m:sub>
                        <m:r>
                          <a:rPr lang="ru-RU" sz="2800" b="0" i="1" smtClean="0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sz="2600" dirty="0">
                    <a:latin typeface="Times New Roman" panose="02020603050405020304" pitchFamily="18" charset="0"/>
                  </a:rPr>
                  <a:t>:</a:t>
                </a:r>
              </a:p>
              <a:p>
                <a:pPr marL="514350" indent="-514350">
                  <a:lnSpc>
                    <a:spcPct val="150000"/>
                  </a:lnSpc>
                  <a:buFontTx/>
                  <a:buAutoNum type="arabicParenR"/>
                </a:pPr>
                <a:r>
                  <a:rPr lang="ru-RU" sz="2600" dirty="0">
                    <a:latin typeface="Times New Roman" panose="02020603050405020304" pitchFamily="18" charset="0"/>
                  </a:rPr>
                  <a:t>в пространстве с метрикой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800" i="1" smtClean="0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2800" i="1" smtClean="0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𝜌</m:t>
                        </m:r>
                      </m:e>
                      <m:sub>
                        <m:r>
                          <a:rPr lang="ru-RU" sz="2800" b="0" i="1" smtClean="0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ru-RU" sz="2400" dirty="0">
                    <a:latin typeface="Times New Roman" panose="02020603050405020304" pitchFamily="18" charset="0"/>
                  </a:rPr>
                  <a:t>:</a:t>
                </a:r>
              </a:p>
              <a:p>
                <a:pPr marL="514350" indent="-514350">
                  <a:lnSpc>
                    <a:spcPct val="150000"/>
                  </a:lnSpc>
                  <a:buFontTx/>
                  <a:buAutoNum type="arabicParenR"/>
                </a:pPr>
                <a:r>
                  <a:rPr lang="ru-RU" sz="2600" dirty="0">
                    <a:latin typeface="Times New Roman" panose="02020603050405020304" pitchFamily="18" charset="0"/>
                  </a:rPr>
                  <a:t>в пространстве с метрикой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800" i="1" smtClean="0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2800" i="1" smtClean="0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𝜌</m:t>
                        </m:r>
                      </m:e>
                      <m:sub>
                        <m:r>
                          <a:rPr lang="ru-RU" sz="2800" b="0" i="1" smtClean="0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ru-RU" sz="2400" dirty="0">
                    <a:latin typeface="Times New Roman" panose="02020603050405020304" pitchFamily="18" charset="0"/>
                  </a:rPr>
                  <a:t>:</a:t>
                </a:r>
              </a:p>
              <a:p>
                <a:pPr marL="514350" indent="-514350">
                  <a:buAutoNum type="arabicParenR"/>
                </a:pPr>
                <a:endParaRPr lang="ru-RU" sz="2600" dirty="0">
                  <a:latin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3B2C22A-1FC5-4352-84F3-D8628789F9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463" y="2290688"/>
                <a:ext cx="8813074" cy="3187026"/>
              </a:xfrm>
              <a:prstGeom prst="rect">
                <a:avLst/>
              </a:prstGeom>
              <a:blipFill>
                <a:blip r:embed="rId5"/>
                <a:stretch>
                  <a:fillRect l="-1245" t="-172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7">
            <a:extLst>
              <a:ext uri="{FF2B5EF4-FFF2-40B4-BE49-F238E27FC236}">
                <a16:creationId xmlns:a16="http://schemas.microsoft.com/office/drawing/2014/main" id="{DD18EB8B-4AC8-4D15-88E0-AB73AF1B8B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5785" y="3272567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15" name="Объект 14">
            <a:extLst>
              <a:ext uri="{FF2B5EF4-FFF2-40B4-BE49-F238E27FC236}">
                <a16:creationId xmlns:a16="http://schemas.microsoft.com/office/drawing/2014/main" id="{DF6F8242-77BB-46EA-BE91-2B1FAC8A66B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5566505"/>
              </p:ext>
            </p:extLst>
          </p:nvPr>
        </p:nvGraphicFramePr>
        <p:xfrm>
          <a:off x="5324825" y="3093083"/>
          <a:ext cx="1964244" cy="7505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" r:id="rId6" imgW="1167893" imgH="444307" progId="Equation.3">
                  <p:embed/>
                </p:oleObj>
              </mc:Choice>
              <mc:Fallback>
                <p:oleObj r:id="rId6" imgW="1167893" imgH="444307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24825" y="3093083"/>
                        <a:ext cx="1964244" cy="75056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C92073AC-3835-4852-AE93-A655B08EBF4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24825" y="3891248"/>
            <a:ext cx="1702992" cy="662275"/>
          </a:xfrm>
          <a:prstGeom prst="rect">
            <a:avLst/>
          </a:prstGeom>
        </p:spPr>
      </p:pic>
      <p:sp>
        <p:nvSpPr>
          <p:cNvPr id="17" name="Rectangle 9">
            <a:extLst>
              <a:ext uri="{FF2B5EF4-FFF2-40B4-BE49-F238E27FC236}">
                <a16:creationId xmlns:a16="http://schemas.microsoft.com/office/drawing/2014/main" id="{A28BB6A7-58FC-44F5-8261-5484FF1D52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0103" y="4720236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18" name="Объект 17">
            <a:extLst>
              <a:ext uri="{FF2B5EF4-FFF2-40B4-BE49-F238E27FC236}">
                <a16:creationId xmlns:a16="http://schemas.microsoft.com/office/drawing/2014/main" id="{060C7EA8-78DD-4D70-8264-4CDB904C612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1336474"/>
              </p:ext>
            </p:extLst>
          </p:nvPr>
        </p:nvGraphicFramePr>
        <p:xfrm>
          <a:off x="5324825" y="4595141"/>
          <a:ext cx="1855046" cy="7574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" r:id="rId9" imgW="1143000" imgH="469900" progId="Equation.3">
                  <p:embed/>
                </p:oleObj>
              </mc:Choice>
              <mc:Fallback>
                <p:oleObj r:id="rId9" imgW="1143000" imgH="4699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24825" y="4595141"/>
                        <a:ext cx="1855046" cy="75747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681559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8990C5F-0FA7-4B0C-BC4E-E4A6DCDB7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7D8EA-FFCD-4294-8EEE-E3C0B3058240}" type="slidenum">
              <a:rPr lang="ru-RU" smtClean="0"/>
              <a:t>27</a:t>
            </a:fld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1C7349-F241-4256-A218-FC5A12E565B7}"/>
              </a:ext>
            </a:extLst>
          </p:cNvPr>
          <p:cNvSpPr txBox="1"/>
          <p:nvPr/>
        </p:nvSpPr>
        <p:spPr>
          <a:xfrm>
            <a:off x="330927" y="692616"/>
            <a:ext cx="8813073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/>
            <a:r>
              <a:rPr lang="ru-RU" sz="2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Таким образом, получаем формулу, позволяющую установить момент прекращения итерационного процесса при достижении заданной точности результата </a:t>
            </a:r>
            <a:r>
              <a:rPr lang="ru-RU" sz="26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ε</a:t>
            </a:r>
            <a:r>
              <a:rPr lang="ru-RU" sz="2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</a:p>
        </p:txBody>
      </p:sp>
      <p:graphicFrame>
        <p:nvGraphicFramePr>
          <p:cNvPr id="7" name="Объект 6">
            <a:extLst>
              <a:ext uri="{FF2B5EF4-FFF2-40B4-BE49-F238E27FC236}">
                <a16:creationId xmlns:a16="http://schemas.microsoft.com/office/drawing/2014/main" id="{C903C2A3-8365-4A87-BA39-E32E380A3D1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6967737"/>
              </p:ext>
            </p:extLst>
          </p:nvPr>
        </p:nvGraphicFramePr>
        <p:xfrm>
          <a:off x="2734491" y="2037308"/>
          <a:ext cx="3176999" cy="7753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9" r:id="rId3" imgW="1600200" imgH="393700" progId="Equation.3">
                  <p:embed/>
                </p:oleObj>
              </mc:Choice>
              <mc:Fallback>
                <p:oleObj r:id="rId3" imgW="1600200" imgH="3937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4491" y="2037308"/>
                        <a:ext cx="3176999" cy="77533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4DF7FEDC-245C-4DF8-8D6A-A9A9CC8D1A65}"/>
              </a:ext>
            </a:extLst>
          </p:cNvPr>
          <p:cNvSpPr txBox="1"/>
          <p:nvPr/>
        </p:nvSpPr>
        <p:spPr>
          <a:xfrm>
            <a:off x="418011" y="2864677"/>
            <a:ext cx="8438606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600" dirty="0">
                <a:latin typeface="Times New Roman" panose="02020603050405020304" pitchFamily="18" charset="0"/>
              </a:rPr>
              <a:t>где </a:t>
            </a:r>
            <a:r>
              <a:rPr lang="ru-RU" sz="2600" i="1" dirty="0">
                <a:latin typeface="Times New Roman" panose="02020603050405020304" pitchFamily="18" charset="0"/>
                <a:sym typeface="Symbol" panose="05050102010706020507" pitchFamily="18" charset="2"/>
              </a:rPr>
              <a:t></a:t>
            </a:r>
            <a:r>
              <a:rPr lang="ru-RU" sz="2600" dirty="0">
                <a:latin typeface="Times New Roman" panose="02020603050405020304" pitchFamily="18" charset="0"/>
              </a:rPr>
              <a:t> – метрика, по которой была установлена сходимость и получено соответствующее значение </a:t>
            </a:r>
            <a:r>
              <a:rPr lang="ru-RU" sz="2600" i="1" dirty="0">
                <a:latin typeface="Times New Roman" panose="02020603050405020304" pitchFamily="18" charset="0"/>
              </a:rPr>
              <a:t>α</a:t>
            </a:r>
            <a:r>
              <a:rPr lang="ru-RU" sz="2600" dirty="0">
                <a:latin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327625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60F7218-EF9C-41D4-BB7A-58C4F2BDA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7D8EA-FFCD-4294-8EEE-E3C0B3058240}" type="slidenum">
              <a:rPr lang="ru-RU" smtClean="0"/>
              <a:t>28</a:t>
            </a:fld>
            <a:endParaRPr lang="ru-RU"/>
          </a:p>
        </p:txBody>
      </p:sp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6700BF09-DEE7-46DD-A32D-E6B318AFE7C5}"/>
              </a:ext>
            </a:extLst>
          </p:cNvPr>
          <p:cNvSpPr txBox="1">
            <a:spLocks/>
          </p:cNvSpPr>
          <p:nvPr/>
        </p:nvSpPr>
        <p:spPr>
          <a:xfrm>
            <a:off x="93251" y="141725"/>
            <a:ext cx="8887422" cy="5664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5800" b="1" dirty="0">
                <a:latin typeface="Times New Roman" panose="02020603050405020304" pitchFamily="18" charset="0"/>
              </a:rPr>
              <a:t>Пример 3: </a:t>
            </a:r>
            <a:r>
              <a:rPr lang="ru-RU" sz="5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Решить систему методом простой итерации с точностью </a:t>
            </a:r>
            <a:r>
              <a:rPr lang="ru-RU" sz="5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ε </a:t>
            </a:r>
            <a:r>
              <a:rPr lang="ru-RU" sz="5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= 10</a:t>
            </a:r>
            <a:r>
              <a:rPr lang="ru-RU" sz="5800" baseline="30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-4</a:t>
            </a:r>
            <a:r>
              <a:rPr lang="ru-RU" sz="5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endParaRPr lang="ru-RU" sz="2800" b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3" name="Объект 2">
            <a:extLst>
              <a:ext uri="{FF2B5EF4-FFF2-40B4-BE49-F238E27FC236}">
                <a16:creationId xmlns:a16="http://schemas.microsoft.com/office/drawing/2014/main" id="{B60AABEB-6600-4E0D-B7A9-720986F9D5D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4962730"/>
              </p:ext>
            </p:extLst>
          </p:nvPr>
        </p:nvGraphicFramePr>
        <p:xfrm>
          <a:off x="1885949" y="656355"/>
          <a:ext cx="2377123" cy="14377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0" r:id="rId3" imgW="1180588" imgH="710891" progId="Equation.3">
                  <p:embed/>
                </p:oleObj>
              </mc:Choice>
              <mc:Fallback>
                <p:oleObj r:id="rId3" imgW="1180588" imgH="710891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5949" y="656355"/>
                        <a:ext cx="2377123" cy="143777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Объект 5">
            <a:extLst>
              <a:ext uri="{FF2B5EF4-FFF2-40B4-BE49-F238E27FC236}">
                <a16:creationId xmlns:a16="http://schemas.microsoft.com/office/drawing/2014/main" id="{D72E2F06-8C19-4C90-8897-EE41BF1D905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0043852"/>
              </p:ext>
            </p:extLst>
          </p:nvPr>
        </p:nvGraphicFramePr>
        <p:xfrm>
          <a:off x="5412191" y="552247"/>
          <a:ext cx="2377122" cy="18931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1" r:id="rId5" imgW="1587500" imgH="1270000" progId="Equation.3">
                  <p:embed/>
                </p:oleObj>
              </mc:Choice>
              <mc:Fallback>
                <p:oleObj r:id="rId5" imgW="1587500" imgH="12700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2191" y="552247"/>
                        <a:ext cx="2377122" cy="189315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Стрелка: вправо 7">
            <a:extLst>
              <a:ext uri="{FF2B5EF4-FFF2-40B4-BE49-F238E27FC236}">
                <a16:creationId xmlns:a16="http://schemas.microsoft.com/office/drawing/2014/main" id="{4FD687BD-467E-496C-B15E-EB6A8F4B3824}"/>
              </a:ext>
            </a:extLst>
          </p:cNvPr>
          <p:cNvSpPr/>
          <p:nvPr/>
        </p:nvSpPr>
        <p:spPr>
          <a:xfrm>
            <a:off x="4493419" y="1286488"/>
            <a:ext cx="627017" cy="204615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151460D-F6D9-4D30-AA1E-A21230E777C9}"/>
                  </a:ext>
                </a:extLst>
              </p:cNvPr>
              <p:cNvSpPr txBox="1"/>
              <p:nvPr/>
            </p:nvSpPr>
            <p:spPr>
              <a:xfrm>
                <a:off x="243634" y="2952280"/>
                <a:ext cx="5373393" cy="30212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514350" indent="-514350">
                  <a:lnSpc>
                    <a:spcPct val="150000"/>
                  </a:lnSpc>
                  <a:buAutoNum type="arabicParenR"/>
                </a:pPr>
                <a:r>
                  <a:rPr lang="ru-RU" sz="2600" dirty="0">
                    <a:latin typeface="Times New Roman" panose="02020603050405020304" pitchFamily="18" charset="0"/>
                  </a:rPr>
                  <a:t>в пространстве с метрикой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600" i="1" smtClean="0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2600" i="1" smtClean="0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𝜌</m:t>
                        </m:r>
                      </m:e>
                      <m:sub>
                        <m:r>
                          <a:rPr lang="ru-RU" sz="2600" b="0" i="1" smtClean="0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sz="2600" dirty="0">
                    <a:latin typeface="Times New Roman" panose="02020603050405020304" pitchFamily="18" charset="0"/>
                  </a:rPr>
                  <a:t>:</a:t>
                </a:r>
                <a:br>
                  <a:rPr lang="ru-RU" sz="2600" dirty="0">
                    <a:latin typeface="Times New Roman" panose="02020603050405020304" pitchFamily="18" charset="0"/>
                  </a:rPr>
                </a:br>
                <a:endParaRPr lang="ru-RU" sz="2600" dirty="0">
                  <a:latin typeface="Times New Roman" panose="020206030504050203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Tx/>
                  <a:buAutoNum type="arabicParenR"/>
                </a:pPr>
                <a:r>
                  <a:rPr lang="ru-RU" sz="2600" dirty="0">
                    <a:latin typeface="Times New Roman" panose="02020603050405020304" pitchFamily="18" charset="0"/>
                  </a:rPr>
                  <a:t>в пространстве с метрикой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600" i="1" smtClean="0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2600" i="1" smtClean="0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𝜌</m:t>
                        </m:r>
                      </m:e>
                      <m:sub>
                        <m:r>
                          <a:rPr lang="ru-RU" sz="2600" b="0" i="1" smtClean="0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ru-RU" sz="2600" dirty="0">
                    <a:latin typeface="Times New Roman" panose="02020603050405020304" pitchFamily="18" charset="0"/>
                  </a:rPr>
                  <a:t>:</a:t>
                </a:r>
                <a:br>
                  <a:rPr lang="ru-RU" sz="2600" dirty="0">
                    <a:latin typeface="Times New Roman" panose="02020603050405020304" pitchFamily="18" charset="0"/>
                  </a:rPr>
                </a:br>
                <a:endParaRPr lang="ru-RU" sz="2600" dirty="0">
                  <a:latin typeface="Times New Roman" panose="020206030504050203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Tx/>
                  <a:buAutoNum type="arabicParenR"/>
                </a:pPr>
                <a:r>
                  <a:rPr lang="ru-RU" sz="2600" dirty="0">
                    <a:latin typeface="Times New Roman" panose="02020603050405020304" pitchFamily="18" charset="0"/>
                  </a:rPr>
                  <a:t>в пространстве с метрикой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600" i="1" smtClean="0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2600" i="1" smtClean="0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𝜌</m:t>
                        </m:r>
                      </m:e>
                      <m:sub>
                        <m:r>
                          <a:rPr lang="ru-RU" sz="2600" b="0" i="1" smtClean="0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ru-RU" sz="2600" dirty="0">
                    <a:latin typeface="Times New Roman" panose="02020603050405020304" pitchFamily="18" charset="0"/>
                  </a:rPr>
                  <a:t>: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151460D-F6D9-4D30-AA1E-A21230E777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634" y="2952280"/>
                <a:ext cx="5373393" cy="3021276"/>
              </a:xfrm>
              <a:prstGeom prst="rect">
                <a:avLst/>
              </a:prstGeom>
              <a:blipFill>
                <a:blip r:embed="rId7"/>
                <a:stretch>
                  <a:fillRect l="-1816" b="-423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1AEDB280-1412-490E-A6F4-B9A35E691A9B}"/>
              </a:ext>
            </a:extLst>
          </p:cNvPr>
          <p:cNvSpPr txBox="1"/>
          <p:nvPr/>
        </p:nvSpPr>
        <p:spPr>
          <a:xfrm>
            <a:off x="93251" y="2349252"/>
            <a:ext cx="8667572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 algn="just">
              <a:spcAft>
                <a:spcPts val="600"/>
              </a:spcAft>
            </a:pPr>
            <a:r>
              <a:rPr lang="ru-RU" sz="2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Проверим, является ли полученное отображение сжимающим:</a:t>
            </a:r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9774A125-6E19-4E77-A85D-B9E69AB9C1A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66291" y="3610931"/>
            <a:ext cx="5934075" cy="704850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F4DE9D6E-45F7-4E64-893D-430632DBB48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04391" y="4797006"/>
            <a:ext cx="5895975" cy="695325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3775FF9C-151B-4664-9A10-ED2E5AEFDAE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24836" y="5973556"/>
            <a:ext cx="5791200" cy="70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515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4BDE368-D2E0-4170-A6AB-E0D22E3F9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7D8EA-FFCD-4294-8EEE-E3C0B3058240}" type="slidenum">
              <a:rPr lang="ru-RU" smtClean="0"/>
              <a:t>29</a:t>
            </a:fld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409169-1E06-41AA-BEFE-5DAD45785F91}"/>
              </a:ext>
            </a:extLst>
          </p:cNvPr>
          <p:cNvSpPr txBox="1"/>
          <p:nvPr/>
        </p:nvSpPr>
        <p:spPr>
          <a:xfrm>
            <a:off x="228722" y="2837184"/>
            <a:ext cx="8410179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Примем в качестве начального приближения точку </a:t>
            </a:r>
            <a:br>
              <a:rPr lang="ru-RU" sz="2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2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 координатами </a:t>
            </a:r>
            <a:r>
              <a:rPr lang="en-US" sz="26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</a:t>
            </a:r>
            <a:r>
              <a:rPr lang="ru-RU" sz="2600" baseline="30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(0)</a:t>
            </a:r>
            <a:r>
              <a:rPr lang="ru-RU" sz="2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(0, 0, 0) и подставим е</a:t>
            </a:r>
            <a:r>
              <a:rPr lang="ru-RU" sz="2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ё</a:t>
            </a:r>
            <a:r>
              <a:rPr lang="ru-RU" sz="2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в полученную систему. </a:t>
            </a:r>
            <a:endParaRPr lang="ru-RU" sz="2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B3AA43-6B4A-4CB4-894D-711C9DFAA287}"/>
              </a:ext>
            </a:extLst>
          </p:cNvPr>
          <p:cNvSpPr txBox="1"/>
          <p:nvPr/>
        </p:nvSpPr>
        <p:spPr>
          <a:xfrm>
            <a:off x="228722" y="210571"/>
            <a:ext cx="8549517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600" dirty="0">
                <a:latin typeface="Times New Roman" panose="02020603050405020304" pitchFamily="18" charset="0"/>
              </a:rPr>
              <a:t>В данном случае можно взять любую из метрик. Возьмём, например, третью (</a:t>
            </a:r>
            <a:r>
              <a:rPr lang="ru-RU" sz="2600" i="1" dirty="0">
                <a:latin typeface="Times New Roman" panose="02020603050405020304" pitchFamily="18" charset="0"/>
              </a:rPr>
              <a:t>α = </a:t>
            </a:r>
            <a:r>
              <a:rPr lang="ru-RU" sz="2600" dirty="0">
                <a:latin typeface="Times New Roman" panose="02020603050405020304" pitchFamily="18" charset="0"/>
              </a:rPr>
              <a:t>0,1) и организуем итерационный процесс. Условием окончания этого процесса является выполнение неравенства:</a:t>
            </a:r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22CC6B23-4388-4330-8B74-8BBB1350FA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13" name="Объект 12">
            <a:extLst>
              <a:ext uri="{FF2B5EF4-FFF2-40B4-BE49-F238E27FC236}">
                <a16:creationId xmlns:a16="http://schemas.microsoft.com/office/drawing/2014/main" id="{7BF8148F-D461-473F-A5D5-604A610F3EE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7096098"/>
              </p:ext>
            </p:extLst>
          </p:nvPr>
        </p:nvGraphicFramePr>
        <p:xfrm>
          <a:off x="2574489" y="1903342"/>
          <a:ext cx="3718643" cy="8521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4" r:id="rId3" imgW="1828800" imgH="419100" progId="Equation.3">
                  <p:embed/>
                </p:oleObj>
              </mc:Choice>
              <mc:Fallback>
                <p:oleObj r:id="rId3" imgW="1828800" imgH="4191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4489" y="1903342"/>
                        <a:ext cx="3718643" cy="85218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00B5461B-ECFE-4A33-AB95-1FFDDB031F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7156" y="4129846"/>
            <a:ext cx="3776582" cy="263931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8F78398D-56B9-49DE-ACEF-BBB95A923CBF}"/>
              </a:ext>
            </a:extLst>
          </p:cNvPr>
          <p:cNvSpPr txBox="1"/>
          <p:nvPr/>
        </p:nvSpPr>
        <p:spPr>
          <a:xfrm>
            <a:off x="2857517" y="4129846"/>
            <a:ext cx="1157134" cy="26853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lang="ru-RU" sz="26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0</a:t>
            </a:r>
          </a:p>
          <a:p>
            <a:pPr>
              <a:spcAft>
                <a:spcPts val="300"/>
              </a:spcAft>
            </a:pPr>
            <a:r>
              <a:rPr lang="ru-RU" sz="2600" dirty="0">
                <a:solidFill>
                  <a:srgbClr val="00B050"/>
                </a:solidFill>
                <a:latin typeface="Times New Roman" panose="02020603050405020304" pitchFamily="18" charset="0"/>
              </a:rPr>
              <a:t>1</a:t>
            </a:r>
          </a:p>
          <a:p>
            <a:pPr>
              <a:spcAft>
                <a:spcPts val="300"/>
              </a:spcAft>
            </a:pPr>
            <a:r>
              <a:rPr lang="ru-RU" sz="2600" dirty="0">
                <a:solidFill>
                  <a:srgbClr val="00B050"/>
                </a:solidFill>
                <a:latin typeface="Times New Roman" panose="02020603050405020304" pitchFamily="18" charset="0"/>
              </a:rPr>
              <a:t>2</a:t>
            </a:r>
          </a:p>
          <a:p>
            <a:pPr>
              <a:spcAft>
                <a:spcPts val="300"/>
              </a:spcAft>
            </a:pPr>
            <a:r>
              <a:rPr lang="ru-RU" sz="2600" dirty="0">
                <a:solidFill>
                  <a:srgbClr val="00B050"/>
                </a:solidFill>
                <a:latin typeface="Times New Roman" panose="02020603050405020304" pitchFamily="18" charset="0"/>
              </a:rPr>
              <a:t>3</a:t>
            </a:r>
          </a:p>
          <a:p>
            <a:pPr>
              <a:spcAft>
                <a:spcPts val="300"/>
              </a:spcAft>
            </a:pPr>
            <a:r>
              <a:rPr lang="ru-RU" sz="2600" dirty="0">
                <a:solidFill>
                  <a:srgbClr val="00B050"/>
                </a:solidFill>
                <a:latin typeface="Times New Roman" panose="02020603050405020304" pitchFamily="18" charset="0"/>
              </a:rPr>
              <a:t>4</a:t>
            </a:r>
          </a:p>
          <a:p>
            <a:pPr>
              <a:spcAft>
                <a:spcPts val="300"/>
              </a:spcAft>
            </a:pPr>
            <a:r>
              <a:rPr lang="ru-RU" sz="2600" dirty="0">
                <a:solidFill>
                  <a:srgbClr val="00B050"/>
                </a:solidFill>
                <a:latin typeface="Times New Roman" panose="02020603050405020304" pitchFamily="18" charset="0"/>
              </a:rPr>
              <a:t>5</a:t>
            </a:r>
            <a:endParaRPr lang="ru-RU" sz="2600" dirty="0">
              <a:solidFill>
                <a:srgbClr val="00B05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5FD957B-F29C-428B-95E8-C8CA0F42FADF}"/>
              </a:ext>
            </a:extLst>
          </p:cNvPr>
          <p:cNvSpPr txBox="1"/>
          <p:nvPr/>
        </p:nvSpPr>
        <p:spPr>
          <a:xfrm>
            <a:off x="2406452" y="3842167"/>
            <a:ext cx="11785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Итерация</a:t>
            </a:r>
            <a:endParaRPr lang="ru-RU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97790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97786D29-C63D-4B73-BEC5-926AD04420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2011" y="818946"/>
            <a:ext cx="8517705" cy="3492996"/>
          </a:xfrm>
        </p:spPr>
        <p:txBody>
          <a:bodyPr/>
          <a:lstStyle/>
          <a:p>
            <a:r>
              <a:rPr lang="ru-RU" i="1" dirty="0">
                <a:solidFill>
                  <a:srgbClr val="191919"/>
                </a:solidFill>
                <a:effectLst/>
                <a:latin typeface="Georgia" panose="02040502050405020303" pitchFamily="18" charset="0"/>
              </a:rPr>
              <a:t>Метод Гаусса-Зейделя </a:t>
            </a:r>
            <a:r>
              <a:rPr lang="ru-RU" i="1" dirty="0">
                <a:solidFill>
                  <a:srgbClr val="191919"/>
                </a:solidFill>
                <a:latin typeface="Georgia" panose="02040502050405020303" pitchFamily="18" charset="0"/>
              </a:rPr>
              <a:t>(метод Зейделя, метод последовательных замещений) </a:t>
            </a:r>
            <a:r>
              <a:rPr lang="ru-RU" b="0" i="0" dirty="0">
                <a:solidFill>
                  <a:srgbClr val="191919"/>
                </a:solidFill>
                <a:effectLst/>
                <a:latin typeface="Georgia" panose="02040502050405020303" pitchFamily="18" charset="0"/>
              </a:rPr>
              <a:t>представляет собой некоторую модификацию метода простой итерации. </a:t>
            </a:r>
          </a:p>
          <a:p>
            <a:r>
              <a:rPr lang="ru-RU" b="0" i="0" dirty="0">
                <a:solidFill>
                  <a:srgbClr val="191919"/>
                </a:solidFill>
                <a:effectLst/>
                <a:latin typeface="Georgia" panose="02040502050405020303" pitchFamily="18" charset="0"/>
              </a:rPr>
              <a:t>Основная его идея заключается в том, что при вычислении (</a:t>
            </a:r>
            <a:r>
              <a:rPr lang="ru-RU" b="0" i="1" dirty="0">
                <a:solidFill>
                  <a:srgbClr val="191919"/>
                </a:solidFill>
                <a:effectLst/>
                <a:latin typeface="Georgia" panose="02040502050405020303" pitchFamily="18" charset="0"/>
              </a:rPr>
              <a:t>k</a:t>
            </a:r>
            <a:r>
              <a:rPr lang="ru-RU" b="0" i="0" dirty="0">
                <a:solidFill>
                  <a:srgbClr val="191919"/>
                </a:solidFill>
                <a:effectLst/>
                <a:latin typeface="Georgia" panose="02040502050405020303" pitchFamily="18" charset="0"/>
              </a:rPr>
              <a:t>+1)-го приближения неизвестной </a:t>
            </a:r>
            <a:r>
              <a:rPr lang="ru-RU" b="0" i="1" dirty="0" err="1">
                <a:solidFill>
                  <a:srgbClr val="191919"/>
                </a:solidFill>
                <a:effectLst/>
                <a:latin typeface="Georgia" panose="02040502050405020303" pitchFamily="18" charset="0"/>
              </a:rPr>
              <a:t>x</a:t>
            </a:r>
            <a:r>
              <a:rPr lang="ru-RU" b="0" i="1" baseline="-25000" dirty="0" err="1">
                <a:solidFill>
                  <a:srgbClr val="191919"/>
                </a:solidFill>
                <a:effectLst/>
                <a:latin typeface="Georgia" panose="02040502050405020303" pitchFamily="18" charset="0"/>
              </a:rPr>
              <a:t>i</a:t>
            </a:r>
            <a:r>
              <a:rPr lang="ru-RU" b="0" i="0" dirty="0">
                <a:solidFill>
                  <a:srgbClr val="191919"/>
                </a:solidFill>
                <a:effectLst/>
                <a:latin typeface="Georgia" panose="02040502050405020303" pitchFamily="18" charset="0"/>
              </a:rPr>
              <a:t> учитываются уже вычисленные ранее (</a:t>
            </a:r>
            <a:r>
              <a:rPr lang="ru-RU" b="0" i="1" dirty="0">
                <a:solidFill>
                  <a:srgbClr val="191919"/>
                </a:solidFill>
                <a:effectLst/>
                <a:latin typeface="Georgia" panose="02040502050405020303" pitchFamily="18" charset="0"/>
              </a:rPr>
              <a:t>k</a:t>
            </a:r>
            <a:r>
              <a:rPr lang="ru-RU" b="0" i="0" dirty="0">
                <a:solidFill>
                  <a:srgbClr val="191919"/>
                </a:solidFill>
                <a:effectLst/>
                <a:latin typeface="Georgia" panose="02040502050405020303" pitchFamily="18" charset="0"/>
              </a:rPr>
              <a:t>+1)</a:t>
            </a:r>
            <a:r>
              <a:rPr lang="en-US" b="0" i="0" dirty="0">
                <a:solidFill>
                  <a:srgbClr val="191919"/>
                </a:solidFill>
                <a:effectLst/>
                <a:latin typeface="Georgia" panose="02040502050405020303" pitchFamily="18" charset="0"/>
              </a:rPr>
              <a:t>-</a:t>
            </a:r>
            <a:r>
              <a:rPr lang="ru-RU" b="0" i="0" dirty="0">
                <a:solidFill>
                  <a:srgbClr val="191919"/>
                </a:solidFill>
                <a:effectLst/>
                <a:latin typeface="Georgia" panose="02040502050405020303" pitchFamily="18" charset="0"/>
              </a:rPr>
              <a:t>е приближения неизвестных </a:t>
            </a:r>
            <a:r>
              <a:rPr lang="ru-RU" b="0" i="1" dirty="0">
                <a:solidFill>
                  <a:srgbClr val="191919"/>
                </a:solidFill>
                <a:effectLst/>
                <a:latin typeface="Georgia" panose="02040502050405020303" pitchFamily="18" charset="0"/>
              </a:rPr>
              <a:t>x</a:t>
            </a:r>
            <a:r>
              <a:rPr lang="ru-RU" b="0" i="0" baseline="-25000" dirty="0">
                <a:solidFill>
                  <a:srgbClr val="191919"/>
                </a:solidFill>
                <a:effectLst/>
                <a:latin typeface="Georgia" panose="02040502050405020303" pitchFamily="18" charset="0"/>
              </a:rPr>
              <a:t>1</a:t>
            </a:r>
            <a:r>
              <a:rPr lang="ru-RU" b="0" i="0" dirty="0">
                <a:solidFill>
                  <a:srgbClr val="191919"/>
                </a:solidFill>
                <a:effectLst/>
                <a:latin typeface="Georgia" panose="02040502050405020303" pitchFamily="18" charset="0"/>
              </a:rPr>
              <a:t>, </a:t>
            </a:r>
            <a:r>
              <a:rPr lang="ru-RU" b="0" i="1" dirty="0">
                <a:solidFill>
                  <a:srgbClr val="191919"/>
                </a:solidFill>
                <a:effectLst/>
                <a:latin typeface="Georgia" panose="02040502050405020303" pitchFamily="18" charset="0"/>
              </a:rPr>
              <a:t>х</a:t>
            </a:r>
            <a:r>
              <a:rPr lang="ru-RU" b="0" i="0" baseline="-25000" dirty="0">
                <a:solidFill>
                  <a:srgbClr val="191919"/>
                </a:solidFill>
                <a:effectLst/>
                <a:latin typeface="Georgia" panose="02040502050405020303" pitchFamily="18" charset="0"/>
              </a:rPr>
              <a:t>2</a:t>
            </a:r>
            <a:r>
              <a:rPr lang="ru-RU" b="0" i="0" dirty="0">
                <a:solidFill>
                  <a:srgbClr val="191919"/>
                </a:solidFill>
                <a:effectLst/>
                <a:latin typeface="Georgia" panose="02040502050405020303" pitchFamily="18" charset="0"/>
              </a:rPr>
              <a:t>, ..., </a:t>
            </a:r>
            <a:r>
              <a:rPr lang="ru-RU" b="0" i="1" dirty="0">
                <a:solidFill>
                  <a:srgbClr val="191919"/>
                </a:solidFill>
                <a:effectLst/>
                <a:latin typeface="Georgia" panose="02040502050405020303" pitchFamily="18" charset="0"/>
              </a:rPr>
              <a:t>x</a:t>
            </a:r>
            <a:r>
              <a:rPr lang="ru-RU" b="0" i="1" baseline="-25000" dirty="0">
                <a:solidFill>
                  <a:srgbClr val="191919"/>
                </a:solidFill>
                <a:effectLst/>
                <a:latin typeface="Georgia" panose="02040502050405020303" pitchFamily="18" charset="0"/>
              </a:rPr>
              <a:t>i-</a:t>
            </a:r>
            <a:r>
              <a:rPr lang="ru-RU" b="0" baseline="-25000" dirty="0">
                <a:solidFill>
                  <a:srgbClr val="191919"/>
                </a:solidFill>
                <a:effectLst/>
                <a:latin typeface="Georgia" panose="02040502050405020303" pitchFamily="18" charset="0"/>
              </a:rPr>
              <a:t>1</a:t>
            </a:r>
            <a:r>
              <a:rPr lang="ru-RU" b="0" i="0" dirty="0">
                <a:solidFill>
                  <a:srgbClr val="191919"/>
                </a:solidFill>
                <a:effectLst/>
                <a:latin typeface="Georgia" panose="02040502050405020303" pitchFamily="18" charset="0"/>
              </a:rPr>
              <a:t> 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7028F7B-C7C5-4B1C-85C9-BC99C526E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7D8EA-FFCD-4294-8EEE-E3C0B3058240}" type="slidenum">
              <a:rPr lang="ru-RU" smtClean="0"/>
              <a:t>30</a:t>
            </a:fld>
            <a:endParaRPr lang="ru-RU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331941C-68CC-425A-8326-0E590C6BFED1}"/>
              </a:ext>
            </a:extLst>
          </p:cNvPr>
          <p:cNvSpPr txBox="1">
            <a:spLocks noChangeArrowheads="1"/>
          </p:cNvSpPr>
          <p:nvPr/>
        </p:nvSpPr>
        <p:spPr>
          <a:xfrm>
            <a:off x="232012" y="65089"/>
            <a:ext cx="8802931" cy="8828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altLang="ru-RU" sz="3000" b="1" dirty="0">
                <a:latin typeface="Times New Roman" panose="02020603050405020304" pitchFamily="18" charset="0"/>
              </a:rPr>
              <a:t>Итерационные методы:  метод Гаусса-Зейделя </a:t>
            </a:r>
            <a:br>
              <a:rPr lang="ru-RU" altLang="ru-RU" sz="3000" b="1" dirty="0">
                <a:latin typeface="Times New Roman" panose="02020603050405020304" pitchFamily="18" charset="0"/>
              </a:rPr>
            </a:br>
            <a:endParaRPr lang="ru-RU" altLang="ru-RU" sz="3000" b="1" dirty="0">
              <a:latin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12">
                <a:extLst>
                  <a:ext uri="{FF2B5EF4-FFF2-40B4-BE49-F238E27FC236}">
                    <a16:creationId xmlns:a16="http://schemas.microsoft.com/office/drawing/2014/main" id="{2102B768-AC90-4C2D-84FF-7AF6B193B6CE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1596835" y="4200365"/>
                <a:ext cx="5416361" cy="190682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vert="horz" lIns="91440" tIns="45720" rIns="91440" bIns="45720" rtlCol="0">
                <a:normAutofit fontScale="775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ru-RU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Sup>
                                <m:sSubSupPr>
                                  <m:ctrlP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bSup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type m:val="lin"/>
                                  <m:ctrlP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ru-RU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ru-RU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11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−1)</m:t>
                                  </m:r>
                                </m:sup>
                              </m:sSubSup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13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−1)</m:t>
                                  </m:r>
                                </m:sup>
                              </m:sSubSup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Sup>
                                <m:sSubSupPr>
                                  <m:ctrlP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bSup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=1/</m:t>
                              </m:r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21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ru-RU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ru-RU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ru-RU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ru-RU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ru-RU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bSup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23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−1)</m:t>
                                  </m:r>
                                </m:sup>
                              </m:sSubSup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Sup>
                                <m:sSubSupPr>
                                  <m:ctrlP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bSup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=1/</m:t>
                              </m:r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33</m:t>
                                  </m:r>
                                </m:sub>
                              </m:sSub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31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ru-RU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ru-RU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ru-RU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ru-RU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ru-RU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bSup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32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ru-RU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ru-RU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ru-RU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ru-RU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ru-RU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bSup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6" name="Object 12">
                <a:extLst>
                  <a:ext uri="{FF2B5EF4-FFF2-40B4-BE49-F238E27FC236}">
                    <a16:creationId xmlns:a16="http://schemas.microsoft.com/office/drawing/2014/main" id="{2102B768-AC90-4C2D-84FF-7AF6B193B6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96835" y="4200365"/>
                <a:ext cx="5416361" cy="1906820"/>
              </a:xfrm>
              <a:prstGeom prst="rect">
                <a:avLst/>
              </a:prstGeom>
              <a:blipFill>
                <a:blip r:embed="rId2"/>
                <a:stretch>
                  <a:fillRect t="-159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5385837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8EDD320-A3D0-49F7-BEE0-815352F92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62641"/>
            <a:ext cx="2057400" cy="365125"/>
          </a:xfrm>
        </p:spPr>
        <p:txBody>
          <a:bodyPr/>
          <a:lstStyle/>
          <a:p>
            <a:fld id="{DCD7D8EA-FFCD-4294-8EEE-E3C0B3058240}" type="slidenum">
              <a:rPr lang="ru-RU" smtClean="0"/>
              <a:t>31</a:t>
            </a:fld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9A9BA6B-D9B9-420B-9327-BE7191DA30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7350" y="599007"/>
            <a:ext cx="1896141" cy="1026482"/>
          </a:xfrm>
          <a:prstGeom prst="rect">
            <a:avLst/>
          </a:prstGeom>
        </p:spPr>
      </p:pic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272933D5-5811-4FC4-951B-FF85C8B41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532" y="130234"/>
            <a:ext cx="7886700" cy="473773"/>
          </a:xfrm>
        </p:spPr>
        <p:txBody>
          <a:bodyPr>
            <a:normAutofit fontScale="90000"/>
          </a:bodyPr>
          <a:lstStyle/>
          <a:p>
            <a:r>
              <a:rPr lang="ru-RU" sz="2800" b="1" dirty="0">
                <a:latin typeface="Times New Roman" panose="02020603050405020304" pitchFamily="18" charset="0"/>
              </a:rPr>
              <a:t>Пример 4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A82E03C0-5EB1-499F-AD2F-5A9A6311D5A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106" t="9116"/>
          <a:stretch/>
        </p:blipFill>
        <p:spPr>
          <a:xfrm>
            <a:off x="4792562" y="243281"/>
            <a:ext cx="2694088" cy="174958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4E2132D-92D7-4B98-932B-1D373E8A3487}"/>
              </a:ext>
            </a:extLst>
          </p:cNvPr>
          <p:cNvSpPr txBox="1"/>
          <p:nvPr/>
        </p:nvSpPr>
        <p:spPr>
          <a:xfrm>
            <a:off x="251740" y="2006227"/>
            <a:ext cx="78867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В качестве начальных приближений возьмем нули, т.е. примем </a:t>
            </a:r>
            <a:r>
              <a:rPr lang="ru-RU" sz="1800" b="1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x</a:t>
            </a:r>
            <a:r>
              <a:rPr lang="ru-RU" sz="1800" b="1" i="0" baseline="-250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2</a:t>
            </a:r>
            <a:r>
              <a:rPr lang="ru-RU" sz="1800" b="1" i="0" baseline="300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(0)</a:t>
            </a:r>
            <a:r>
              <a:rPr lang="ru-RU" sz="1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= </a:t>
            </a:r>
            <a:r>
              <a:rPr lang="ru-RU" sz="1800" b="1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x</a:t>
            </a:r>
            <a:r>
              <a:rPr lang="ru-RU" sz="1800" b="1" i="0" baseline="-250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3</a:t>
            </a:r>
            <a:r>
              <a:rPr lang="ru-RU" sz="1800" b="1" i="0" baseline="300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(0)</a:t>
            </a:r>
            <a:r>
              <a:rPr lang="ru-RU" sz="1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= 0.</a:t>
            </a:r>
            <a:endParaRPr lang="ru-RU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0990E2AE-5E23-454A-ADF5-5D3E7E1FF7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740" y="2318907"/>
            <a:ext cx="5060489" cy="1740808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53472010-D47D-47BB-B29E-1F54DC57D6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740" y="4016478"/>
            <a:ext cx="5643963" cy="1751076"/>
          </a:xfrm>
          <a:prstGeom prst="rect">
            <a:avLst/>
          </a:prstGeom>
        </p:spPr>
      </p:pic>
      <p:sp>
        <p:nvSpPr>
          <p:cNvPr id="17" name="Rectangle 3">
            <a:extLst>
              <a:ext uri="{FF2B5EF4-FFF2-40B4-BE49-F238E27FC236}">
                <a16:creationId xmlns:a16="http://schemas.microsoft.com/office/drawing/2014/main" id="{EA4356E9-B718-4165-BFB8-4061985C11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9471" y="5712103"/>
            <a:ext cx="4959601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809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kumimoji="0" lang="en-US" altLang="ru-RU" sz="2000" b="1" i="0" u="none" strike="noStrike" cap="none" normalizeH="0" baseline="-3000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0" lang="en-US" altLang="ru-RU" sz="2000" b="1" i="0" u="none" strike="noStrike" cap="none" normalizeH="0" baseline="3000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kumimoji="0" lang="en-US" altLang="ru-RU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=  0,984;  x</a:t>
            </a:r>
            <a:r>
              <a:rPr kumimoji="0" lang="en-US" altLang="ru-RU" sz="2000" b="1" i="0" u="none" strike="noStrike" cap="none" normalizeH="0" baseline="-3000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0" lang="en-US" altLang="ru-RU" sz="2000" b="1" i="0" u="none" strike="noStrike" cap="none" normalizeH="0" baseline="3000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kumimoji="0" lang="en-US" altLang="ru-RU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=  1,981;  x</a:t>
            </a:r>
            <a:r>
              <a:rPr kumimoji="0" lang="en-US" altLang="ru-RU" sz="2000" b="1" i="0" u="none" strike="noStrike" cap="none" normalizeH="0" baseline="-3000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kumimoji="0" lang="en-US" altLang="ru-RU" sz="2000" b="1" i="0" u="none" strike="noStrike" cap="none" normalizeH="0" baseline="3000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kumimoji="0" lang="en-US" altLang="ru-RU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=  2,953;</a:t>
            </a:r>
            <a:endParaRPr kumimoji="0" lang="en-US" altLang="ru-RU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kumimoji="0" lang="en-US" altLang="ru-RU" sz="2000" b="1" i="0" u="none" strike="noStrike" cap="none" normalizeH="0" baseline="-3000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0" lang="en-US" altLang="ru-RU" sz="2000" b="1" i="0" u="none" strike="noStrike" cap="none" normalizeH="0" baseline="3000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(4)</a:t>
            </a:r>
            <a:r>
              <a:rPr kumimoji="0" lang="en-US" altLang="ru-RU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=  1,015;  x</a:t>
            </a:r>
            <a:r>
              <a:rPr kumimoji="0" lang="en-US" altLang="ru-RU" sz="2000" b="1" i="0" u="none" strike="noStrike" cap="none" normalizeH="0" baseline="-3000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0" lang="en-US" altLang="ru-RU" sz="2000" b="1" i="0" u="none" strike="noStrike" cap="none" normalizeH="0" baseline="3000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(4)</a:t>
            </a:r>
            <a:r>
              <a:rPr kumimoji="0" lang="en-US" altLang="ru-RU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=  1,992;  x</a:t>
            </a:r>
            <a:r>
              <a:rPr kumimoji="0" lang="en-US" altLang="ru-RU" sz="2000" b="1" i="0" u="none" strike="noStrike" cap="none" normalizeH="0" baseline="-3000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kumimoji="0" lang="en-US" altLang="ru-RU" sz="2000" b="1" i="0" u="none" strike="noStrike" cap="none" normalizeH="0" baseline="3000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(4)</a:t>
            </a:r>
            <a:r>
              <a:rPr kumimoji="0" lang="en-US" altLang="ru-RU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=  2,988;</a:t>
            </a:r>
            <a:endParaRPr kumimoji="0" lang="en-US" altLang="ru-RU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kumimoji="0" lang="en-US" altLang="ru-RU" sz="2000" b="1" i="0" u="none" strike="noStrike" cap="none" normalizeH="0" baseline="-3000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0" lang="en-US" altLang="ru-RU" sz="2000" b="1" i="0" u="none" strike="noStrike" cap="none" normalizeH="0" baseline="3000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(5)</a:t>
            </a:r>
            <a:r>
              <a:rPr kumimoji="0" lang="en-US" altLang="ru-RU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=  0,999;  x</a:t>
            </a:r>
            <a:r>
              <a:rPr kumimoji="0" lang="en-US" altLang="ru-RU" sz="2000" b="1" i="0" u="none" strike="noStrike" cap="none" normalizeH="0" baseline="-3000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0" lang="en-US" altLang="ru-RU" sz="2000" b="1" i="0" u="none" strike="noStrike" cap="none" normalizeH="0" baseline="3000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(4)</a:t>
            </a:r>
            <a:r>
              <a:rPr kumimoji="0" lang="en-US" altLang="ru-RU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=  1,993;  x</a:t>
            </a:r>
            <a:r>
              <a:rPr kumimoji="0" lang="en-US" altLang="ru-RU" sz="2000" b="1" i="0" u="none" strike="noStrike" cap="none" normalizeH="0" baseline="-3000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kumimoji="0" lang="en-US" altLang="ru-RU" sz="2000" b="1" i="0" u="none" strike="noStrike" cap="none" normalizeH="0" baseline="3000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kumimoji="0" lang="en-US" altLang="ru-RU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=  2,997.</a:t>
            </a:r>
            <a:endParaRPr kumimoji="0" lang="en-US" altLang="ru-RU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Стрелка: вправо 9">
            <a:extLst>
              <a:ext uri="{FF2B5EF4-FFF2-40B4-BE49-F238E27FC236}">
                <a16:creationId xmlns:a16="http://schemas.microsoft.com/office/drawing/2014/main" id="{AEBA4369-0EE1-4DAE-94AF-3176727D28FA}"/>
              </a:ext>
            </a:extLst>
          </p:cNvPr>
          <p:cNvSpPr/>
          <p:nvPr/>
        </p:nvSpPr>
        <p:spPr>
          <a:xfrm>
            <a:off x="3944983" y="1009941"/>
            <a:ext cx="627017" cy="204615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9046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0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DB4FF4-0EAA-4CBF-8634-3AB4D94CC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88" y="18255"/>
            <a:ext cx="9001911" cy="728365"/>
          </a:xfrm>
        </p:spPr>
        <p:txBody>
          <a:bodyPr/>
          <a:lstStyle/>
          <a:p>
            <a:r>
              <a:rPr lang="ru-RU" sz="3000" b="1" dirty="0">
                <a:latin typeface="Times New Roman" panose="02020603050405020304" pitchFamily="18" charset="0"/>
              </a:rPr>
              <a:t>Рекомендации по выбору метода решения СЛАУ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D1B70B-9D1E-4E3A-BBD1-58D285E658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368" y="911224"/>
            <a:ext cx="8406294" cy="5674133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20000"/>
              </a:lnSpc>
            </a:pPr>
            <a:r>
              <a:rPr lang="ru-RU" dirty="0">
                <a:solidFill>
                  <a:srgbClr val="19191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Метод Гаусса удобно применять для систем маленькой и средней размерности (до порядка 10</a:t>
            </a:r>
            <a:r>
              <a:rPr lang="ru-RU" baseline="30000" dirty="0">
                <a:solidFill>
                  <a:srgbClr val="19191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ru-RU" dirty="0">
                <a:solidFill>
                  <a:srgbClr val="19191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 Для больших же размерностей или разреженных матриц более эффективными представляются итерационные методы.</a:t>
            </a:r>
          </a:p>
          <a:p>
            <a:pPr>
              <a:lnSpc>
                <a:spcPct val="120000"/>
              </a:lnSpc>
            </a:pPr>
            <a:r>
              <a:rPr lang="ru-RU" dirty="0">
                <a:solidFill>
                  <a:srgbClr val="19191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Рекомендуется использовать метод Гаусса с выбором главного элемента по столбцу, как более устойчивый к ошибкам, но при этом не требующий больших дополнительных затрат. </a:t>
            </a:r>
          </a:p>
          <a:p>
            <a:pPr>
              <a:lnSpc>
                <a:spcPct val="120000"/>
              </a:lnSpc>
            </a:pPr>
            <a:r>
              <a:rPr lang="ru-RU" dirty="0">
                <a:solidFill>
                  <a:srgbClr val="19191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 этом плане метод выбора главного элемента по строке и столбцу представляется менее эффективным, так как требует гораздо больше вычислительных затрат, но даёт небольшую прибавку в точности.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4BFC89F-732C-423C-B7BF-DFED4128C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7D8EA-FFCD-4294-8EEE-E3C0B3058240}" type="slidenum">
              <a:rPr lang="ru-RU" smtClean="0"/>
              <a:t>32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297717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242</TotalTime>
  <Words>1907</Words>
  <Application>Microsoft Office PowerPoint</Application>
  <PresentationFormat>Экран (4:3)</PresentationFormat>
  <Paragraphs>279</Paragraphs>
  <Slides>32</Slides>
  <Notes>0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32</vt:i4>
      </vt:variant>
    </vt:vector>
  </HeadingPairs>
  <TitlesOfParts>
    <vt:vector size="41" baseType="lpstr">
      <vt:lpstr>Arial</vt:lpstr>
      <vt:lpstr>Calibri</vt:lpstr>
      <vt:lpstr>Calibri Light</vt:lpstr>
      <vt:lpstr>Cambria Math</vt:lpstr>
      <vt:lpstr>Georgia</vt:lpstr>
      <vt:lpstr>Times New Roman</vt:lpstr>
      <vt:lpstr>Wingdings</vt:lpstr>
      <vt:lpstr>Тема Office</vt:lpstr>
      <vt:lpstr>Equation.3</vt:lpstr>
      <vt:lpstr>Решение систем линейных алгебраических уравнений</vt:lpstr>
      <vt:lpstr>Презентация PowerPoint</vt:lpstr>
      <vt:lpstr>Презентация PowerPoint</vt:lpstr>
      <vt:lpstr>Презентация PowerPoint</vt:lpstr>
      <vt:lpstr> 1. Правило Крамера</vt:lpstr>
      <vt:lpstr> 2. Метод обратной матрицы</vt:lpstr>
      <vt:lpstr>Поиск обратной матрицы</vt:lpstr>
      <vt:lpstr>Примеры</vt:lpstr>
      <vt:lpstr>Презентация PowerPoint</vt:lpstr>
      <vt:lpstr> 3. Метод Гаусса</vt:lpstr>
      <vt:lpstr>Презентация PowerPoint</vt:lpstr>
      <vt:lpstr>Презентация PowerPoint</vt:lpstr>
      <vt:lpstr>Презентация PowerPoint</vt:lpstr>
      <vt:lpstr>Об оценке погрешности решения</vt:lpstr>
      <vt:lpstr>Пример 1: Решить СЛАУ методом Гаусса</vt:lpstr>
      <vt:lpstr>Метод Гаусса с выбором главного  элемента</vt:lpstr>
      <vt:lpstr>Пример 2: метод Гаусса с выбором главного элемента по всей матрице</vt:lpstr>
      <vt:lpstr>Презентация PowerPoint</vt:lpstr>
      <vt:lpstr>Презентация PowerPoint</vt:lpstr>
      <vt:lpstr>4. Итерационные методы:  метод простой итерации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Пример 4</vt:lpstr>
      <vt:lpstr>Рекомендации по выбору метода решения СЛАУ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Решение систем линейных алгебраических уравнений</dc:title>
  <dc:creator>June</dc:creator>
  <cp:lastModifiedBy>Соколова Анна Николаевна</cp:lastModifiedBy>
  <cp:revision>40</cp:revision>
  <dcterms:created xsi:type="dcterms:W3CDTF">2021-09-23T19:13:41Z</dcterms:created>
  <dcterms:modified xsi:type="dcterms:W3CDTF">2023-10-02T12:24:52Z</dcterms:modified>
</cp:coreProperties>
</file>