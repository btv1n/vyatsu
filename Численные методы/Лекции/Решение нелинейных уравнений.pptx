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8" r:id="rId10"/>
    <p:sldId id="278" r:id="rId11"/>
    <p:sldId id="267" r:id="rId12"/>
    <p:sldId id="298" r:id="rId13"/>
    <p:sldId id="266" r:id="rId14"/>
    <p:sldId id="269" r:id="rId15"/>
    <p:sldId id="270" r:id="rId16"/>
    <p:sldId id="271" r:id="rId17"/>
    <p:sldId id="272" r:id="rId18"/>
    <p:sldId id="299" r:id="rId19"/>
    <p:sldId id="274" r:id="rId20"/>
    <p:sldId id="275" r:id="rId21"/>
    <p:sldId id="276" r:id="rId22"/>
    <p:sldId id="277" r:id="rId23"/>
    <p:sldId id="283" r:id="rId24"/>
    <p:sldId id="300" r:id="rId25"/>
    <p:sldId id="284" r:id="rId26"/>
    <p:sldId id="285" r:id="rId27"/>
    <p:sldId id="301" r:id="rId28"/>
    <p:sldId id="290" r:id="rId29"/>
    <p:sldId id="291" r:id="rId30"/>
    <p:sldId id="292" r:id="rId31"/>
    <p:sldId id="293" r:id="rId32"/>
    <p:sldId id="294" r:id="rId33"/>
    <p:sldId id="302" r:id="rId34"/>
    <p:sldId id="295" r:id="rId35"/>
  </p:sldIdLst>
  <p:sldSz cx="9144000" cy="6858000" type="screen4x3"/>
  <p:notesSz cx="7102475" cy="10233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4" Type="http://schemas.openxmlformats.org/officeDocument/2006/relationships/image" Target="../media/image7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1C9E2782-A981-4895-A197-48955ECBD70C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372DA662-92B0-4510-B040-A7112187F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80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838" indent="-30955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0B32A9-8991-4F52-BDF4-C606E2EB17B4}" type="slidenum">
              <a:rPr lang="ru-RU" altLang="ru-RU" smtClean="0"/>
              <a:pPr/>
              <a:t>2</a:t>
            </a:fld>
            <a:endParaRPr lang="ru-RU" altLang="ru-RU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53830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838" indent="-30955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64BDD7-122D-4E26-8741-998DA4EAAB14}" type="slidenum">
              <a:rPr lang="ru-RU" altLang="ru-RU" smtClean="0"/>
              <a:pPr/>
              <a:t>5</a:t>
            </a:fld>
            <a:endParaRPr lang="ru-RU" altLang="ru-RU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06308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17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45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45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22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19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119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610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04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94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97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092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DD0C3-F395-469F-86AE-4BADD8A21970}" type="datetimeFigureOut">
              <a:rPr lang="ru-RU" smtClean="0"/>
              <a:t>25.02.2024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2BE53-5DB7-4F57-995E-E241CA888F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27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hyperlink" Target="https://www.desmos.com/calculator/s60mqvyp85?lang=ca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thway.com/ru/Graph" TargetMode="External"/><Relationship Id="rId5" Type="http://schemas.openxmlformats.org/officeDocument/2006/relationships/hyperlink" Target="https://yotx.ru/" TargetMode="External"/><Relationship Id="rId4" Type="http://schemas.openxmlformats.org/officeDocument/2006/relationships/hyperlink" Target="https://www.wolframalpha.com/" TargetMode="External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hyperlink" Target="&#1057;&#1086;&#1074;&#1088;&#1077;&#1084;&#1077;&#1085;&#1085;&#1099;&#1077;%20&#1089;&#1080;&#1089;&#1090;&#1077;&#1084;&#1099;%20&#1082;&#1086;&#1084;&#1087;&#1100;&#1102;&#1090;&#1077;&#1088;&#1085;&#1086;&#1081;%20&#1072;&#1083;&#1075;&#1077;&#1073;&#1088;&#1099;.pp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2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12" Type="http://schemas.openxmlformats.org/officeDocument/2006/relationships/image" Target="../media/image46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emf"/><Relationship Id="rId11" Type="http://schemas.openxmlformats.org/officeDocument/2006/relationships/image" Target="../media/image45.emf"/><Relationship Id="rId5" Type="http://schemas.openxmlformats.org/officeDocument/2006/relationships/image" Target="../media/image39.emf"/><Relationship Id="rId10" Type="http://schemas.openxmlformats.org/officeDocument/2006/relationships/image" Target="../media/image44.emf"/><Relationship Id="rId4" Type="http://schemas.openxmlformats.org/officeDocument/2006/relationships/image" Target="../media/image38.emf"/><Relationship Id="rId9" Type="http://schemas.openxmlformats.org/officeDocument/2006/relationships/image" Target="../media/image43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image" Target="../media/image57.e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53.emf"/><Relationship Id="rId7" Type="http://schemas.openxmlformats.org/officeDocument/2006/relationships/image" Target="../media/image48.wmf"/><Relationship Id="rId12" Type="http://schemas.openxmlformats.org/officeDocument/2006/relationships/image" Target="../media/image50.wmf"/><Relationship Id="rId17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8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55.emf"/><Relationship Id="rId15" Type="http://schemas.openxmlformats.org/officeDocument/2006/relationships/image" Target="../media/image59.emf"/><Relationship Id="rId10" Type="http://schemas.openxmlformats.org/officeDocument/2006/relationships/image" Target="../media/image49.wmf"/><Relationship Id="rId19" Type="http://schemas.openxmlformats.org/officeDocument/2006/relationships/image" Target="../media/image52.w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58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63.emf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4.emf"/><Relationship Id="rId11" Type="http://schemas.openxmlformats.org/officeDocument/2006/relationships/image" Target="../media/image65.emf"/><Relationship Id="rId5" Type="http://schemas.openxmlformats.org/officeDocument/2006/relationships/image" Target="../media/image60.wmf"/><Relationship Id="rId10" Type="http://schemas.openxmlformats.org/officeDocument/2006/relationships/image" Target="../media/image62.wmf"/><Relationship Id="rId4" Type="http://schemas.openxmlformats.org/officeDocument/2006/relationships/oleObject" Target="../embeddings/oleObject23.bin"/><Relationship Id="rId9" Type="http://schemas.openxmlformats.org/officeDocument/2006/relationships/oleObject" Target="../embeddings/oleObject2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image" Target="../media/image67.emf"/><Relationship Id="rId7" Type="http://schemas.openxmlformats.org/officeDocument/2006/relationships/image" Target="../media/image71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image" Target="../media/image79.e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7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4.wmf"/><Relationship Id="rId11" Type="http://schemas.openxmlformats.org/officeDocument/2006/relationships/image" Target="../media/image77.e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29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350447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ru-RU" altLang="ru-RU" b="1" i="1" dirty="0">
                <a:latin typeface="Times New Roman" panose="02020603050405020304" pitchFamily="18" charset="0"/>
              </a:rPr>
              <a:t>Решение нелинейных уравнений с одним неизвестным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75057"/>
            <a:ext cx="7018361" cy="418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7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07166" y="175266"/>
            <a:ext cx="5995987" cy="719871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br>
              <a:rPr lang="ru-RU" altLang="ru-RU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</a:br>
            <a:r>
              <a:rPr lang="ru-RU" altLang="ru-RU" sz="3000" b="1" dirty="0">
                <a:effectLst/>
                <a:latin typeface="Times New Roman" panose="02020603050405020304" pitchFamily="18" charset="0"/>
              </a:rPr>
              <a:t>Постановка задачи</a:t>
            </a:r>
            <a:br>
              <a:rPr lang="ru-RU" altLang="ru-RU" sz="3000" b="1" dirty="0">
                <a:effectLst/>
                <a:latin typeface="Times New Roman" panose="02020603050405020304" pitchFamily="18" charset="0"/>
              </a:rPr>
            </a:br>
            <a:endParaRPr lang="ru-RU" altLang="ru-RU" sz="3000" b="1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048" y="895137"/>
            <a:ext cx="8204224" cy="5710379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Пусть дано уравнение </a:t>
            </a:r>
          </a:p>
          <a:p>
            <a:pPr algn="ctr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f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(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х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)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 = 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0,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где  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f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(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х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) — непрерывная функция. 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  <a:buClr>
                <a:schemeClr val="tx1"/>
              </a:buClr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Нелинейные уравнения делятся</a:t>
            </a:r>
            <a:r>
              <a:rPr lang="en-US" altLang="ru-RU" sz="2600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ru-RU" sz="2600" dirty="0">
                <a:latin typeface="Times New Roman" panose="02020603050405020304" pitchFamily="18" charset="0"/>
              </a:rPr>
              <a:t>на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алгебраические уравнения (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f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(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х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) — алгебраические функции);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трансцендентные уравнения (тригонометрические, показательные, логарифмические и др.).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991745"/>
              </p:ext>
            </p:extLst>
          </p:nvPr>
        </p:nvGraphicFramePr>
        <p:xfrm>
          <a:off x="1789871" y="5678036"/>
          <a:ext cx="219868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Формула" r:id="rId4" imgW="1016000" imgH="228600" progId="Equation.3">
                  <p:embed/>
                </p:oleObj>
              </mc:Choice>
              <mc:Fallback>
                <p:oleObj name="Формула" r:id="rId4" imgW="1016000" imgH="228600" progId="Equation.3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871" y="5678036"/>
                        <a:ext cx="2198687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08082"/>
              </p:ext>
            </p:extLst>
          </p:nvPr>
        </p:nvGraphicFramePr>
        <p:xfrm>
          <a:off x="4918075" y="5620886"/>
          <a:ext cx="25304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Формула" r:id="rId6" imgW="1180588" imgH="253890" progId="Equation.3">
                  <p:embed/>
                </p:oleObj>
              </mc:Choice>
              <mc:Fallback>
                <p:oleObj name="Формула" r:id="rId6" imgW="1180588" imgH="253890" progId="Equation.3">
                  <p:embed/>
                  <p:pic>
                    <p:nvPicPr>
                      <p:cNvPr id="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5" y="5620886"/>
                        <a:ext cx="253047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0154" y="4064261"/>
            <a:ext cx="3974544" cy="58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97062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478" y="188913"/>
            <a:ext cx="8702722" cy="5907087"/>
          </a:xfrm>
        </p:spPr>
        <p:txBody>
          <a:bodyPr>
            <a:normAutofit lnSpcReduction="10000"/>
          </a:bodyPr>
          <a:lstStyle/>
          <a:p>
            <a:pPr algn="ctr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ru-RU" altLang="ru-RU" dirty="0">
                <a:effectLst/>
                <a:latin typeface="Times New Roman" panose="02020603050405020304" pitchFamily="18" charset="0"/>
              </a:rPr>
              <a:t>  </a:t>
            </a:r>
            <a:r>
              <a:rPr lang="ru-RU" altLang="ru-RU" sz="3200" b="1" dirty="0">
                <a:effectLst/>
                <a:latin typeface="Times New Roman" panose="02020603050405020304" pitchFamily="18" charset="0"/>
              </a:rPr>
              <a:t>Методы решений нелинейных уравнений </a:t>
            </a:r>
            <a:br>
              <a:rPr lang="en-US" altLang="ru-RU" sz="3200" b="1" dirty="0">
                <a:effectLst/>
                <a:latin typeface="Times New Roman" panose="02020603050405020304" pitchFamily="18" charset="0"/>
              </a:rPr>
            </a:br>
            <a:r>
              <a:rPr lang="ru-RU" altLang="ru-RU" sz="3200" b="1" dirty="0">
                <a:effectLst/>
                <a:latin typeface="Times New Roman" panose="02020603050405020304" pitchFamily="18" charset="0"/>
              </a:rPr>
              <a:t>делят на: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прямые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 (когда корни получаются в виде конечной формулы) – имеются далеко не для всех видов уравнений;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ru-RU" altLang="ru-RU" sz="3200" i="1" dirty="0">
              <a:effectLst/>
              <a:latin typeface="Times New Roman" panose="02020603050405020304" pitchFamily="18" charset="0"/>
            </a:endParaRP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итерационные 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(методы последовательных приближений). В этих методах корень </a:t>
            </a:r>
            <a:r>
              <a:rPr lang="en-US" altLang="ru-RU" sz="3200" i="1" dirty="0">
                <a:effectLst/>
                <a:latin typeface="Times New Roman" panose="02020603050405020304" pitchFamily="18" charset="0"/>
              </a:rPr>
              <a:t>x</a:t>
            </a:r>
            <a:r>
              <a:rPr lang="en-US" altLang="ru-RU" sz="3200" dirty="0">
                <a:effectLst/>
                <a:latin typeface="Times New Roman" panose="02020603050405020304" pitchFamily="18" charset="0"/>
              </a:rPr>
              <a:t>* 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является пределом некоторой</a:t>
            </a:r>
            <a:r>
              <a:rPr lang="en-US" altLang="ru-RU" sz="3200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последовательности, и решение не может быть достигнуто</a:t>
            </a:r>
            <a:r>
              <a:rPr lang="en-US" altLang="ru-RU" sz="3200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за конечное число операций. Однако возможно найти корень приближенно с любой наперед заданной точностью   .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ru-RU" altLang="ru-RU" dirty="0">
              <a:effectLst/>
            </a:endParaRPr>
          </a:p>
        </p:txBody>
      </p:sp>
      <p:graphicFrame>
        <p:nvGraphicFramePr>
          <p:cNvPr id="3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263631"/>
              </p:ext>
            </p:extLst>
          </p:nvPr>
        </p:nvGraphicFramePr>
        <p:xfrm>
          <a:off x="6709178" y="5292393"/>
          <a:ext cx="3603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Формула" r:id="rId3" imgW="114201" imgH="139579" progId="Equation.3">
                  <p:embed/>
                </p:oleObj>
              </mc:Choice>
              <mc:Fallback>
                <p:oleObj name="Формула" r:id="rId3" imgW="114201" imgH="139579" progId="Equation.3">
                  <p:embed/>
                  <p:pic>
                    <p:nvPicPr>
                      <p:cNvPr id="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9178" y="5292393"/>
                        <a:ext cx="36036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8693275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39862" y="0"/>
            <a:ext cx="6264275" cy="1528549"/>
          </a:xfrm>
          <a:noFill/>
        </p:spPr>
        <p:txBody>
          <a:bodyPr/>
          <a:lstStyle/>
          <a:p>
            <a:pPr algn="ctr" eaLnBrk="1" hangingPunct="1"/>
            <a:r>
              <a:rPr lang="ru-RU" altLang="ru-RU" sz="3000" b="1" dirty="0">
                <a:effectLst/>
                <a:latin typeface="Times New Roman" panose="02020603050405020304" pitchFamily="18" charset="0"/>
              </a:rPr>
              <a:t>Скорость сходимости процесса</a:t>
            </a:r>
            <a:br>
              <a:rPr lang="ru-RU" altLang="ru-RU" sz="3000" b="1" dirty="0">
                <a:effectLst/>
                <a:latin typeface="Times New Roman" panose="02020603050405020304" pitchFamily="18" charset="0"/>
              </a:rPr>
            </a:br>
            <a:endParaRPr lang="ru-RU" altLang="ru-RU" sz="3000" b="1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5123" name="AutoShape 3"/>
          <p:cNvSpPr>
            <a:spLocks noGrp="1" noChangeAspect="1" noChangeArrowheads="1"/>
          </p:cNvSpPr>
          <p:nvPr>
            <p:ph type="body" idx="4294967295"/>
          </p:nvPr>
        </p:nvSpPr>
        <p:spPr>
          <a:xfrm>
            <a:off x="109182" y="574675"/>
            <a:ext cx="8745893" cy="57435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85000" lnSpcReduction="20000"/>
          </a:bodyPr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3000" dirty="0">
                <a:effectLst/>
                <a:latin typeface="Times New Roman" panose="02020603050405020304" pitchFamily="18" charset="0"/>
              </a:rPr>
              <a:t>Важной характеристикой итерационных методов является скорость сходимости процесса.</a:t>
            </a:r>
          </a:p>
          <a:p>
            <a:pPr marL="0" indent="0" algn="just" eaLnBrk="1" hangingPunct="1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3000" dirty="0">
                <a:effectLst/>
                <a:latin typeface="Times New Roman" panose="02020603050405020304" pitchFamily="18" charset="0"/>
              </a:rPr>
              <a:t>Говорят, что метод имеет </a:t>
            </a:r>
            <a:r>
              <a:rPr lang="en-US" altLang="ru-RU" sz="3000" b="1" i="1" dirty="0">
                <a:effectLst/>
                <a:latin typeface="Times New Roman" panose="02020603050405020304" pitchFamily="18" charset="0"/>
              </a:rPr>
              <a:t>n</a:t>
            </a:r>
            <a:r>
              <a:rPr lang="en-US" altLang="ru-RU" sz="3000" b="1" dirty="0">
                <a:effectLst/>
                <a:latin typeface="Times New Roman" panose="02020603050405020304" pitchFamily="18" charset="0"/>
              </a:rPr>
              <a:t>-</a:t>
            </a:r>
            <a:r>
              <a:rPr lang="ru-RU" altLang="ru-RU" sz="3000" b="1" dirty="0">
                <a:effectLst/>
                <a:latin typeface="Times New Roman" panose="02020603050405020304" pitchFamily="18" charset="0"/>
              </a:rPr>
              <a:t>й порядок сходимости</a:t>
            </a:r>
            <a:r>
              <a:rPr lang="ru-RU" altLang="ru-RU" sz="3000" dirty="0">
                <a:effectLst/>
                <a:latin typeface="Times New Roman" panose="02020603050405020304" pitchFamily="18" charset="0"/>
              </a:rPr>
              <a:t>, если</a:t>
            </a:r>
            <a:r>
              <a:rPr lang="en-US" altLang="ru-RU" sz="3000" dirty="0">
                <a:effectLst/>
                <a:latin typeface="Times New Roman" panose="02020603050405020304" pitchFamily="18" charset="0"/>
              </a:rPr>
              <a:t> </a:t>
            </a:r>
            <a:endParaRPr lang="ru-RU" altLang="ru-RU" sz="3000" dirty="0">
              <a:effectLst/>
              <a:latin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Clr>
                <a:schemeClr val="tx1"/>
              </a:buClr>
              <a:buNone/>
              <a:defRPr/>
            </a:pP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|x</a:t>
            </a:r>
            <a:r>
              <a:rPr lang="en-US" altLang="ru-RU" sz="3000" i="1" baseline="30000" dirty="0">
                <a:effectLst/>
                <a:latin typeface="Times New Roman" panose="02020603050405020304" pitchFamily="18" charset="0"/>
              </a:rPr>
              <a:t>(k+1)</a:t>
            </a: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ru-RU" sz="3000" dirty="0">
                <a:latin typeface="Times New Roman" panose="02020603050405020304" pitchFamily="18" charset="0"/>
              </a:rPr>
              <a:t>–</a:t>
            </a: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 x</a:t>
            </a:r>
            <a:r>
              <a:rPr lang="en-US" altLang="ru-RU" sz="3000" i="1" baseline="30000" dirty="0">
                <a:effectLst/>
                <a:latin typeface="Times New Roman" panose="02020603050405020304" pitchFamily="18" charset="0"/>
              </a:rPr>
              <a:t>*</a:t>
            </a: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| = </a:t>
            </a:r>
            <a:r>
              <a:rPr lang="en-US" altLang="ru-RU" sz="3000" i="1" dirty="0" err="1">
                <a:effectLst/>
                <a:latin typeface="Times New Roman" panose="02020603050405020304" pitchFamily="18" charset="0"/>
              </a:rPr>
              <a:t>C|x</a:t>
            </a:r>
            <a:r>
              <a:rPr lang="en-US" altLang="ru-RU" sz="3000" i="1" baseline="30000" dirty="0">
                <a:effectLst/>
                <a:latin typeface="Times New Roman" panose="02020603050405020304" pitchFamily="18" charset="0"/>
              </a:rPr>
              <a:t>(k)</a:t>
            </a: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 – x</a:t>
            </a:r>
            <a:r>
              <a:rPr lang="en-US" altLang="ru-RU" sz="3000" i="1" baseline="30000" dirty="0">
                <a:effectLst/>
                <a:latin typeface="Times New Roman" panose="02020603050405020304" pitchFamily="18" charset="0"/>
              </a:rPr>
              <a:t>*</a:t>
            </a: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|</a:t>
            </a:r>
            <a:r>
              <a:rPr lang="en-US" altLang="ru-RU" sz="3000" i="1" baseline="30000" dirty="0">
                <a:effectLst/>
                <a:latin typeface="Times New Roman" panose="02020603050405020304" pitchFamily="18" charset="0"/>
              </a:rPr>
              <a:t>n</a:t>
            </a: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ru-RU" sz="3000" i="1" dirty="0">
                <a:effectLst/>
                <a:latin typeface="Times New Roman" panose="02020603050405020304" pitchFamily="18" charset="0"/>
              </a:rPr>
              <a:t> </a:t>
            </a:r>
          </a:p>
          <a:p>
            <a:pPr marL="0" indent="0" algn="ctr" eaLnBrk="1" hangingPunct="1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3000" dirty="0">
                <a:effectLst/>
                <a:latin typeface="Times New Roman" panose="02020603050405020304" pitchFamily="18" charset="0"/>
              </a:rPr>
              <a:t>где </a:t>
            </a:r>
            <a:r>
              <a:rPr lang="ru-RU" altLang="ru-RU" sz="3000" i="1" dirty="0">
                <a:effectLst/>
                <a:latin typeface="Times New Roman" panose="02020603050405020304" pitchFamily="18" charset="0"/>
              </a:rPr>
              <a:t>С</a:t>
            </a:r>
            <a:r>
              <a:rPr lang="ru-RU" altLang="ru-RU" sz="3000" dirty="0">
                <a:effectLst/>
                <a:latin typeface="Times New Roman" panose="02020603050405020304" pitchFamily="18" charset="0"/>
              </a:rPr>
              <a:t> – постоянная, не зависящая от  </a:t>
            </a: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n</a:t>
            </a:r>
            <a:r>
              <a:rPr lang="ru-RU" altLang="ru-RU" sz="3000" dirty="0">
                <a:effectLst/>
                <a:latin typeface="Times New Roman" panose="02020603050405020304" pitchFamily="18" charset="0"/>
              </a:rPr>
              <a:t>. То есть </a:t>
            </a:r>
            <a:br>
              <a:rPr lang="en-US" altLang="ru-RU" sz="3000" dirty="0">
                <a:effectLst/>
                <a:latin typeface="Times New Roman" panose="02020603050405020304" pitchFamily="18" charset="0"/>
              </a:rPr>
            </a:b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E</a:t>
            </a:r>
            <a:r>
              <a:rPr lang="en-US" altLang="ru-RU" sz="3000" i="1" baseline="-25000" dirty="0">
                <a:effectLst/>
                <a:latin typeface="Times New Roman" panose="02020603050405020304" pitchFamily="18" charset="0"/>
              </a:rPr>
              <a:t>k+1</a:t>
            </a: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 = C(</a:t>
            </a:r>
            <a:r>
              <a:rPr lang="en-US" altLang="ru-RU" sz="3000" i="1" dirty="0" err="1">
                <a:effectLst/>
                <a:latin typeface="Times New Roman" panose="02020603050405020304" pitchFamily="18" charset="0"/>
              </a:rPr>
              <a:t>E</a:t>
            </a:r>
            <a:r>
              <a:rPr lang="en-US" altLang="ru-RU" sz="3000" i="1" baseline="-25000" dirty="0" err="1">
                <a:effectLst/>
                <a:latin typeface="Times New Roman" panose="02020603050405020304" pitchFamily="18" charset="0"/>
              </a:rPr>
              <a:t>k</a:t>
            </a:r>
            <a:r>
              <a:rPr lang="en-US" altLang="ru-RU" sz="3000" i="1" dirty="0">
                <a:effectLst/>
                <a:latin typeface="Times New Roman" panose="02020603050405020304" pitchFamily="18" charset="0"/>
              </a:rPr>
              <a:t>)</a:t>
            </a:r>
            <a:r>
              <a:rPr lang="en-US" altLang="ru-RU" sz="3000" i="1" baseline="30000" dirty="0">
                <a:effectLst/>
                <a:latin typeface="Times New Roman" panose="02020603050405020304" pitchFamily="18" charset="0"/>
              </a:rPr>
              <a:t>n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ru-RU" sz="3000" baseline="30000" dirty="0">
              <a:solidFill>
                <a:srgbClr val="3333CC"/>
              </a:solidFill>
              <a:effectLst/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700" baseline="30000" dirty="0">
              <a:solidFill>
                <a:srgbClr val="33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При </a:t>
            </a:r>
            <a:r>
              <a:rPr lang="en-US" altLang="ru-RU" sz="3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</a:t>
            </a:r>
            <a:r>
              <a:rPr lang="ru-RU" alt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= 1 имеет место сходимость 1 порядка, или </a:t>
            </a:r>
            <a:r>
              <a:rPr lang="ru-RU" altLang="ru-RU" sz="3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линейная сходимость</a:t>
            </a:r>
            <a:r>
              <a:rPr lang="ru-RU" alt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а при имеет </a:t>
            </a:r>
            <a:r>
              <a:rPr lang="en-US" altLang="ru-RU" sz="3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</a:t>
            </a:r>
            <a:r>
              <a:rPr lang="ru-RU" alt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= 2 – </a:t>
            </a:r>
            <a:r>
              <a:rPr lang="ru-RU" altLang="ru-RU" sz="3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квадратичная сходимость</a:t>
            </a:r>
            <a:r>
              <a:rPr lang="ru-RU" alt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30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3175" indent="-3175" algn="just" eaLnBrk="1" hangingPunct="1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Сравнение методов следует проводить по числу операций при реализации одной итерации и по скорости сходимости </a:t>
            </a:r>
            <a:endParaRPr lang="ru-RU" altLang="ru-RU" sz="12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0246" name="Rectangle 15"/>
          <p:cNvSpPr>
            <a:spLocks noChangeArrowheads="1"/>
          </p:cNvSpPr>
          <p:nvPr/>
        </p:nvSpPr>
        <p:spPr bwMode="auto">
          <a:xfrm>
            <a:off x="53975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901015128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0126" y="260350"/>
            <a:ext cx="8762100" cy="6597650"/>
          </a:xfrm>
        </p:spPr>
        <p:txBody>
          <a:bodyPr/>
          <a:lstStyle/>
          <a:p>
            <a:pPr indent="-250825" algn="ctr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6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indent="-250825" algn="ctr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3200" b="1" dirty="0">
                <a:effectLst/>
                <a:latin typeface="Times New Roman" panose="02020603050405020304" pitchFamily="18" charset="0"/>
              </a:rPr>
              <a:t>Два этапа поиска корня:</a:t>
            </a:r>
          </a:p>
          <a:p>
            <a:pPr indent="-250825"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600" b="1" dirty="0">
              <a:effectLst/>
              <a:latin typeface="Times New Roman" panose="02020603050405020304" pitchFamily="18" charset="0"/>
            </a:endParaRPr>
          </a:p>
          <a:p>
            <a:pPr indent="-250825"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3200" dirty="0">
                <a:effectLst/>
                <a:latin typeface="Times New Roman" panose="02020603050405020304" pitchFamily="18" charset="0"/>
              </a:rPr>
              <a:t>1) выбор отрезка [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а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, 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b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], на котором имеется корень: если  функция непрерывная и </a:t>
            </a:r>
            <a:br>
              <a:rPr lang="ru-RU" altLang="ru-RU" sz="3200" dirty="0">
                <a:effectLst/>
                <a:latin typeface="Times New Roman" panose="02020603050405020304" pitchFamily="18" charset="0"/>
              </a:rPr>
            </a:br>
            <a:r>
              <a:rPr lang="ru-RU" altLang="ru-RU" sz="3200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f 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(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а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) · 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f 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(</a:t>
            </a:r>
            <a:r>
              <a:rPr lang="en-US" altLang="ru-RU" sz="3200" i="1" dirty="0">
                <a:effectLst/>
                <a:latin typeface="Times New Roman" panose="02020603050405020304" pitchFamily="18" charset="0"/>
              </a:rPr>
              <a:t>b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) &lt; 0, то существует 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с </a:t>
            </a:r>
            <a:r>
              <a:rPr lang="ru-RU" altLang="ru-RU" sz="3200" i="1" dirty="0"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[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a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, 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b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] и 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f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(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c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)</a:t>
            </a:r>
            <a:r>
              <a:rPr lang="ru-RU" altLang="ru-RU" sz="3200" i="1" dirty="0">
                <a:effectLst/>
                <a:latin typeface="Times New Roman" panose="02020603050405020304" pitchFamily="18" charset="0"/>
              </a:rPr>
              <a:t> = 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0 (этот этап называют </a:t>
            </a:r>
            <a:r>
              <a:rPr lang="ru-RU" altLang="ru-RU" sz="3200" b="1" i="1" dirty="0">
                <a:effectLst/>
                <a:latin typeface="Times New Roman" panose="02020603050405020304" pitchFamily="18" charset="0"/>
              </a:rPr>
              <a:t>отделение корня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);</a:t>
            </a:r>
          </a:p>
          <a:p>
            <a:pPr indent="-250825"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3200" dirty="0">
              <a:effectLst/>
              <a:latin typeface="Times New Roman" panose="02020603050405020304" pitchFamily="18" charset="0"/>
            </a:endParaRPr>
          </a:p>
          <a:p>
            <a:pPr indent="-250825" algn="just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3200" dirty="0">
                <a:effectLst/>
                <a:latin typeface="Times New Roman" panose="02020603050405020304" pitchFamily="18" charset="0"/>
              </a:rPr>
              <a:t>2) построение процесса, позволяющего сузить границы выделенного отрезка, то есть позволяющего найти приближённые значения корня с любой заданной точностью (это </a:t>
            </a:r>
            <a:r>
              <a:rPr lang="ru-RU" altLang="ru-RU" sz="3200" b="1" i="1" dirty="0">
                <a:effectLst/>
                <a:latin typeface="Times New Roman" panose="02020603050405020304" pitchFamily="18" charset="0"/>
              </a:rPr>
              <a:t>уточнение корня</a:t>
            </a:r>
            <a:r>
              <a:rPr lang="ru-RU" altLang="ru-RU" sz="3200" dirty="0">
                <a:effectLst/>
                <a:latin typeface="Times New Roman" panose="02020603050405020304" pitchFamily="18" charset="0"/>
              </a:rPr>
              <a:t>).</a:t>
            </a:r>
          </a:p>
          <a:p>
            <a:pPr indent="-2508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2600" dirty="0">
              <a:effectLst/>
            </a:endParaRPr>
          </a:p>
          <a:p>
            <a:pPr indent="-2508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1300" dirty="0"/>
          </a:p>
          <a:p>
            <a:pPr indent="-2508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1300" dirty="0"/>
          </a:p>
          <a:p>
            <a:pPr indent="-2508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1300" dirty="0"/>
          </a:p>
          <a:p>
            <a:pPr indent="-2508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1300" dirty="0"/>
          </a:p>
          <a:p>
            <a:pPr indent="-250825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1300" dirty="0"/>
          </a:p>
        </p:txBody>
      </p:sp>
    </p:spTree>
    <p:extLst>
      <p:ext uri="{BB962C8B-B14F-4D97-AF65-F5344CB8AC3E}">
        <p14:creationId xmlns:p14="http://schemas.microsoft.com/office/powerpoint/2010/main" val="2739051192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39862" y="0"/>
            <a:ext cx="6264275" cy="832513"/>
          </a:xfrm>
          <a:noFill/>
        </p:spPr>
        <p:txBody>
          <a:bodyPr>
            <a:normAutofit/>
          </a:bodyPr>
          <a:lstStyle/>
          <a:p>
            <a:pPr algn="ctr" eaLnBrk="1" hangingPunct="1"/>
            <a:r>
              <a:rPr lang="ru-RU" altLang="ru-RU" sz="3600" b="1" dirty="0">
                <a:effectLst/>
                <a:latin typeface="Times New Roman" panose="02020603050405020304" pitchFamily="18" charset="0"/>
              </a:rPr>
              <a:t>Отделение корня</a:t>
            </a:r>
          </a:p>
        </p:txBody>
      </p:sp>
      <p:sp>
        <p:nvSpPr>
          <p:cNvPr id="5123" name="AutoShape 3"/>
          <p:cNvSpPr>
            <a:spLocks noGrp="1" noChangeAspect="1" noChangeArrowheads="1"/>
          </p:cNvSpPr>
          <p:nvPr>
            <p:ph type="body" idx="4294967295"/>
          </p:nvPr>
        </p:nvSpPr>
        <p:spPr>
          <a:xfrm>
            <a:off x="197892" y="832513"/>
            <a:ext cx="8557146" cy="577794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514350" indent="-51435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arenR"/>
              <a:defRPr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Аналитический метод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2400" dirty="0">
                <a:effectLst/>
                <a:latin typeface="Times New Roman" panose="02020603050405020304" pitchFamily="18" charset="0"/>
              </a:rPr>
              <a:t>Рассмотрим на примере:	</a:t>
            </a:r>
            <a:r>
              <a:rPr lang="ru-RU" altLang="ru-RU" i="1" dirty="0">
                <a:effectLst/>
                <a:latin typeface="Times New Roman" panose="02020603050405020304" pitchFamily="18" charset="0"/>
              </a:rPr>
              <a:t>x</a:t>
            </a:r>
            <a:r>
              <a:rPr lang="ru-RU" altLang="ru-RU" i="1" baseline="30000" dirty="0">
                <a:effectLst/>
                <a:latin typeface="Times New Roman" panose="02020603050405020304" pitchFamily="18" charset="0"/>
              </a:rPr>
              <a:t>3</a:t>
            </a:r>
            <a:r>
              <a:rPr lang="ru-RU" altLang="ru-RU" i="1" dirty="0">
                <a:effectLst/>
                <a:latin typeface="Times New Roman" panose="02020603050405020304" pitchFamily="18" charset="0"/>
              </a:rPr>
              <a:t> – x – </a:t>
            </a:r>
            <a:r>
              <a:rPr lang="ru-RU" altLang="ru-RU" dirty="0">
                <a:effectLst/>
                <a:latin typeface="Times New Roman" panose="02020603050405020304" pitchFamily="18" charset="0"/>
              </a:rPr>
              <a:t>1</a:t>
            </a:r>
            <a:r>
              <a:rPr lang="ru-RU" altLang="ru-RU" i="1" dirty="0">
                <a:effectLst/>
                <a:latin typeface="Times New Roman" panose="02020603050405020304" pitchFamily="18" charset="0"/>
              </a:rPr>
              <a:t> = </a:t>
            </a:r>
            <a:r>
              <a:rPr lang="ru-RU" altLang="ru-RU" dirty="0">
                <a:effectLst/>
                <a:latin typeface="Times New Roman" panose="02020603050405020304" pitchFamily="18" charset="0"/>
              </a:rPr>
              <a:t>0;</a:t>
            </a:r>
          </a:p>
          <a:p>
            <a:pPr marL="3175" indent="-3175">
              <a:lnSpc>
                <a:spcPct val="80000"/>
              </a:lnSpc>
              <a:buClr>
                <a:schemeClr val="tx1"/>
              </a:buClr>
              <a:buNone/>
              <a:defRPr/>
            </a:pPr>
            <a:r>
              <a:rPr lang="ru-RU" altLang="ru-RU" sz="2400" dirty="0">
                <a:effectLst/>
                <a:latin typeface="Times New Roman" panose="02020603050405020304" pitchFamily="18" charset="0"/>
              </a:rPr>
              <a:t>Построим таблицу значений функции на некотором отрезке, например, на отрезке </a:t>
            </a:r>
            <a:r>
              <a:rPr lang="en-US" altLang="ru-RU" sz="2400" dirty="0">
                <a:effectLst/>
                <a:latin typeface="Times New Roman" panose="02020603050405020304" pitchFamily="18" charset="0"/>
              </a:rPr>
              <a:t>[</a:t>
            </a:r>
            <a:r>
              <a:rPr lang="ru-RU" altLang="ru-RU" sz="2400" dirty="0">
                <a:latin typeface="Times New Roman" panose="02020603050405020304" pitchFamily="18" charset="0"/>
              </a:rPr>
              <a:t>–</a:t>
            </a:r>
            <a:r>
              <a:rPr lang="en-US" altLang="ru-RU" sz="2400" dirty="0">
                <a:effectLst/>
                <a:latin typeface="Times New Roman" panose="02020603050405020304" pitchFamily="18" charset="0"/>
              </a:rPr>
              <a:t>4, 4]</a:t>
            </a:r>
            <a:r>
              <a:rPr lang="ru-RU" altLang="ru-RU" sz="2400" dirty="0">
                <a:effectLst/>
                <a:latin typeface="Times New Roman" panose="02020603050405020304" pitchFamily="18" charset="0"/>
              </a:rPr>
              <a:t> с шагом 1</a:t>
            </a:r>
            <a:r>
              <a:rPr lang="en-US" altLang="ru-RU" sz="2400" dirty="0">
                <a:effectLst/>
                <a:latin typeface="Times New Roman" panose="02020603050405020304" pitchFamily="18" charset="0"/>
              </a:rPr>
              <a:t> </a:t>
            </a:r>
            <a:endParaRPr lang="ru-RU" altLang="ru-RU" sz="2400" dirty="0">
              <a:effectLst/>
              <a:latin typeface="Times New Roman" panose="02020603050405020304" pitchFamily="18" charset="0"/>
            </a:endParaRPr>
          </a:p>
          <a:p>
            <a:pPr marL="3175" indent="-3175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marL="3175" indent="-3175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ru-RU" sz="2600" dirty="0">
              <a:effectLst/>
              <a:latin typeface="Times New Roman" panose="02020603050405020304" pitchFamily="18" charset="0"/>
            </a:endParaRPr>
          </a:p>
          <a:p>
            <a:pPr marL="3175" indent="-3175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ru-RU" sz="2600" dirty="0">
              <a:effectLst/>
              <a:latin typeface="Times New Roman" panose="02020603050405020304" pitchFamily="18" charset="0"/>
            </a:endParaRPr>
          </a:p>
          <a:p>
            <a:pPr marL="3175" indent="-3175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ru-RU" sz="2600" dirty="0">
              <a:effectLst/>
              <a:latin typeface="Times New Roman" panose="02020603050405020304" pitchFamily="18" charset="0"/>
            </a:endParaRPr>
          </a:p>
          <a:p>
            <a:pPr marL="3175" indent="-3175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marL="3175" indent="-3175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marL="3175" indent="-3175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ru-RU" altLang="ru-RU" sz="2400" dirty="0">
                <a:effectLst/>
                <a:latin typeface="Times New Roman" panose="02020603050405020304" pitchFamily="18" charset="0"/>
              </a:rPr>
              <a:t>на отрезке [1, 2] происходит смена знака функции, значит, там есть корень</a:t>
            </a:r>
            <a:r>
              <a:rPr lang="ru-RU" altLang="ru-RU" dirty="0">
                <a:effectLst/>
                <a:latin typeface="Times New Roman" panose="02020603050405020304" pitchFamily="18" charset="0"/>
              </a:rPr>
              <a:t>.</a:t>
            </a: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2600" b="1" dirty="0">
                <a:effectLst/>
                <a:latin typeface="Times New Roman" panose="02020603050405020304" pitchFamily="18" charset="0"/>
              </a:rPr>
              <a:t>Проблема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: какой отрезок брать? Какой шаг брать? Как убедиться, что корень на отрезке единственный?</a:t>
            </a: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solidFill>
                <a:srgbClr val="33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  <a:p>
            <a:pPr marL="3175" indent="-3175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000" dirty="0">
              <a:latin typeface="Times New Roman" panose="02020603050405020304" pitchFamily="18" charset="0"/>
            </a:endParaRP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331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3318" name="Rectangle 15"/>
          <p:cNvSpPr>
            <a:spLocks noChangeArrowheads="1"/>
          </p:cNvSpPr>
          <p:nvPr/>
        </p:nvSpPr>
        <p:spPr bwMode="auto">
          <a:xfrm>
            <a:off x="53975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pic>
        <p:nvPicPr>
          <p:cNvPr id="13319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699" y="2408191"/>
            <a:ext cx="1835813" cy="27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694267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9307" y="938250"/>
            <a:ext cx="8884693" cy="4981500"/>
          </a:xfrm>
        </p:spPr>
        <p:txBody>
          <a:bodyPr>
            <a:normAutofit/>
          </a:bodyPr>
          <a:lstStyle/>
          <a:p>
            <a:pPr marL="0" indent="14288" eaLnBrk="1" hangingPunct="1">
              <a:buFont typeface="Wingdings" panose="05000000000000000000" pitchFamily="2" charset="2"/>
              <a:buNone/>
              <a:defRPr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2) Отделение корня можно производить  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графически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.</a:t>
            </a:r>
          </a:p>
          <a:p>
            <a:pPr marL="0" indent="14288" eaLnBrk="1" hangingPunct="1">
              <a:buFont typeface="Wingdings" panose="05000000000000000000" pitchFamily="2" charset="2"/>
              <a:buNone/>
              <a:defRPr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Для этого уравнение 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f 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(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х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)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 = 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0 сводят к уравнению:  </a:t>
            </a:r>
          </a:p>
          <a:p>
            <a:pPr marL="0" indent="14288" algn="ctr" eaLnBrk="1" hangingPunct="1">
              <a:buFont typeface="Wingdings" panose="05000000000000000000" pitchFamily="2" charset="2"/>
              <a:buNone/>
              <a:defRPr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φ</a:t>
            </a:r>
            <a:r>
              <a:rPr lang="ru-RU" altLang="ru-RU" sz="2600" baseline="-25000" dirty="0">
                <a:effectLst/>
                <a:latin typeface="Times New Roman" panose="02020603050405020304" pitchFamily="18" charset="0"/>
              </a:rPr>
              <a:t>1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(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x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)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 = 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φ</a:t>
            </a:r>
            <a:r>
              <a:rPr lang="ru-RU" altLang="ru-RU" sz="2600" baseline="-25000" dirty="0">
                <a:effectLst/>
                <a:latin typeface="Times New Roman" panose="02020603050405020304" pitchFamily="18" charset="0"/>
              </a:rPr>
              <a:t>2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(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x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).</a:t>
            </a:r>
          </a:p>
          <a:p>
            <a:pPr marL="0" indent="14288" eaLnBrk="1" hangingPunct="1">
              <a:buFont typeface="Wingdings" panose="05000000000000000000" pitchFamily="2" charset="2"/>
              <a:buNone/>
              <a:defRPr/>
            </a:pPr>
            <a:endParaRPr lang="ru-RU" altLang="ru-RU" sz="2000" i="1" dirty="0">
              <a:effectLst/>
              <a:latin typeface="Times New Roman" panose="02020603050405020304" pitchFamily="18" charset="0"/>
            </a:endParaRPr>
          </a:p>
          <a:p>
            <a:pPr marL="0" indent="14288" algn="just" eaLnBrk="1" hangingPunct="1">
              <a:buFont typeface="Wingdings" panose="05000000000000000000" pitchFamily="2" charset="2"/>
              <a:buNone/>
              <a:defRPr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Абсцисса точки их пересечения — есть корень. </a:t>
            </a:r>
          </a:p>
          <a:p>
            <a:pPr marL="0" indent="14288" algn="just" eaLnBrk="1" hangingPunct="1">
              <a:buFont typeface="Wingdings" panose="05000000000000000000" pitchFamily="2" charset="2"/>
              <a:buNone/>
              <a:defRPr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Если рассматривать пример уравнения </a:t>
            </a:r>
          </a:p>
          <a:p>
            <a:pPr marL="0" indent="14288" algn="ctr" eaLnBrk="1" hangingPunct="1">
              <a:buFont typeface="Wingdings" panose="05000000000000000000" pitchFamily="2" charset="2"/>
              <a:buNone/>
              <a:defRPr/>
            </a:pPr>
            <a:r>
              <a:rPr lang="ru-RU" altLang="ru-RU" sz="2600" i="1" dirty="0" err="1">
                <a:effectLst/>
                <a:latin typeface="Times New Roman" panose="02020603050405020304" pitchFamily="18" charset="0"/>
              </a:rPr>
              <a:t>cos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(x) = x</a:t>
            </a:r>
            <a:r>
              <a:rPr lang="ru-RU" altLang="ru-RU" sz="2600" i="1" baseline="30000" dirty="0">
                <a:effectLst/>
                <a:latin typeface="Times New Roman" panose="02020603050405020304" pitchFamily="18" charset="0"/>
              </a:rPr>
              <a:t>2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,</a:t>
            </a:r>
          </a:p>
          <a:p>
            <a:pPr marL="0" indent="14288" algn="just" eaLnBrk="1" hangingPunct="1">
              <a:buFont typeface="Wingdings" panose="05000000000000000000" pitchFamily="2" charset="2"/>
              <a:buNone/>
              <a:defRPr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 то получим график, привед</a:t>
            </a:r>
            <a:r>
              <a:rPr lang="ru-RU" altLang="ru-RU" sz="2600" dirty="0">
                <a:latin typeface="Times New Roman" panose="02020603050405020304" pitchFamily="18" charset="0"/>
              </a:rPr>
              <a:t>ё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нный на рис.1.</a:t>
            </a: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Данное уравнение имеет два корня: на отрезке         </a:t>
            </a:r>
            <a:r>
              <a:rPr lang="en-US" altLang="ru-RU" sz="2600" dirty="0">
                <a:effectLst/>
                <a:latin typeface="Times New Roman" panose="02020603050405020304" pitchFamily="18" charset="0"/>
              </a:rPr>
              <a:t>     </a:t>
            </a: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marL="0" indent="14288" algn="ctr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 [–</a:t>
            </a:r>
            <a:r>
              <a:rPr lang="en-US" altLang="ru-RU" sz="2600" dirty="0">
                <a:effectLst/>
                <a:latin typeface="Times New Roman" panose="02020603050405020304" pitchFamily="18" charset="0"/>
              </a:rPr>
              <a:t>1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, </a:t>
            </a:r>
            <a:r>
              <a:rPr lang="en-US" altLang="ru-RU" sz="2600" dirty="0">
                <a:effectLst/>
                <a:latin typeface="Times New Roman" panose="02020603050405020304" pitchFamily="18" charset="0"/>
              </a:rPr>
              <a:t>0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] и [</a:t>
            </a:r>
            <a:r>
              <a:rPr lang="en-US" altLang="ru-RU" sz="2600" dirty="0">
                <a:effectLst/>
                <a:latin typeface="Times New Roman" panose="02020603050405020304" pitchFamily="18" charset="0"/>
              </a:rPr>
              <a:t>0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, </a:t>
            </a:r>
            <a:r>
              <a:rPr lang="en-US" altLang="ru-RU" sz="2600" dirty="0">
                <a:effectLst/>
                <a:latin typeface="Times New Roman" panose="02020603050405020304" pitchFamily="18" charset="0"/>
              </a:rPr>
              <a:t>1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].</a:t>
            </a: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600" u="sng" dirty="0">
              <a:effectLst/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4000" dirty="0">
              <a:effectLst/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effectLst/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1200" dirty="0">
              <a:latin typeface="Times New Roman" panose="02020603050405020304" pitchFamily="18" charset="0"/>
            </a:endParaRPr>
          </a:p>
          <a:p>
            <a:pPr marL="0" indent="14288" algn="ctr" eaLnBrk="1" hangingPunct="1"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ctr" eaLnBrk="1" hangingPunct="1"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ctr" eaLnBrk="1" hangingPunct="1"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ctr" eaLnBrk="1" hangingPunct="1"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  <a:p>
            <a:pPr marL="0" indent="14288" algn="just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altLang="ru-RU" sz="2000" dirty="0">
              <a:latin typeface="Times New Roman" panose="02020603050405020304" pitchFamily="18" charset="0"/>
            </a:endParaRPr>
          </a:p>
        </p:txBody>
      </p:sp>
      <p:sp>
        <p:nvSpPr>
          <p:cNvPr id="1433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66701173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362965"/>
              </p:ext>
            </p:extLst>
          </p:nvPr>
        </p:nvGraphicFramePr>
        <p:xfrm>
          <a:off x="1886826" y="513995"/>
          <a:ext cx="6121400" cy="445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Рисунок" r:id="rId3" imgW="3194749" imgH="2351996" progId="Word.Picture.8">
                  <p:embed/>
                </p:oleObj>
              </mc:Choice>
              <mc:Fallback>
                <p:oleObj name="Рисунок" r:id="rId3" imgW="3194749" imgH="2351996" progId="Word.Picture.8">
                  <p:embed/>
                  <p:pic>
                    <p:nvPicPr>
                      <p:cNvPr id="153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826" y="513995"/>
                        <a:ext cx="6121400" cy="445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7"/>
          <p:cNvSpPr>
            <a:spLocks noChangeArrowheads="1"/>
          </p:cNvSpPr>
          <p:nvPr/>
        </p:nvSpPr>
        <p:spPr bwMode="auto">
          <a:xfrm>
            <a:off x="1292343" y="5092747"/>
            <a:ext cx="6715883" cy="1163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Рис. 1. Графическое отделение корня уравнения </a:t>
            </a:r>
            <a:r>
              <a:rPr lang="en-US" altLang="ru-RU" sz="2400" dirty="0">
                <a:latin typeface="Times New Roman" panose="02020603050405020304" pitchFamily="18" charset="0"/>
              </a:rPr>
              <a:t>       </a:t>
            </a:r>
            <a:br>
              <a:rPr lang="ru-RU" altLang="ru-RU" sz="2400" dirty="0">
                <a:latin typeface="Times New Roman" panose="02020603050405020304" pitchFamily="18" charset="0"/>
              </a:rPr>
            </a:br>
            <a:r>
              <a:rPr lang="ru-RU" altLang="ru-RU" sz="2400" dirty="0" err="1">
                <a:latin typeface="Times New Roman" panose="02020603050405020304" pitchFamily="18" charset="0"/>
              </a:rPr>
              <a:t>cos</a:t>
            </a:r>
            <a:r>
              <a:rPr lang="ru-RU" altLang="ru-RU" sz="2400" i="1" dirty="0">
                <a:latin typeface="Times New Roman" panose="02020603050405020304" pitchFamily="18" charset="0"/>
              </a:rPr>
              <a:t> x = x</a:t>
            </a:r>
            <a:r>
              <a:rPr lang="ru-RU" altLang="ru-RU" sz="2400" i="1" baseline="30000" dirty="0">
                <a:latin typeface="Times New Roman" panose="02020603050405020304" pitchFamily="18" charset="0"/>
              </a:rPr>
              <a:t>2</a:t>
            </a:r>
            <a:endParaRPr lang="ru-RU" altLang="ru-RU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ru-RU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54536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1103" y="447201"/>
            <a:ext cx="8556293" cy="6035485"/>
          </a:xfrm>
        </p:spPr>
        <p:txBody>
          <a:bodyPr>
            <a:normAutofit/>
          </a:bodyPr>
          <a:lstStyle/>
          <a:p>
            <a:pPr marL="0" indent="14288" algn="just">
              <a:buNone/>
              <a:defRPr/>
            </a:pPr>
            <a:r>
              <a:rPr lang="ru-RU" sz="2600" dirty="0">
                <a:latin typeface="Times New Roman" panose="02020603050405020304" pitchFamily="18" charset="0"/>
              </a:rPr>
              <a:t>Другой подход к графическому отделению корней – построить график функции </a:t>
            </a:r>
            <a:r>
              <a:rPr lang="en-US" sz="2600" i="1" dirty="0">
                <a:latin typeface="Times New Roman" panose="02020603050405020304" pitchFamily="18" charset="0"/>
              </a:rPr>
              <a:t>y</a:t>
            </a:r>
            <a:r>
              <a:rPr lang="ru-RU" sz="2600" i="1" dirty="0">
                <a:latin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</a:rPr>
              <a:t>=</a:t>
            </a:r>
            <a:r>
              <a:rPr lang="ru-RU" sz="2600" dirty="0">
                <a:latin typeface="Times New Roman" panose="02020603050405020304" pitchFamily="18" charset="0"/>
              </a:rPr>
              <a:t> </a:t>
            </a:r>
            <a:r>
              <a:rPr lang="en-US" sz="2600" i="1" dirty="0">
                <a:latin typeface="Times New Roman" panose="02020603050405020304" pitchFamily="18" charset="0"/>
              </a:rPr>
              <a:t>f</a:t>
            </a:r>
            <a:r>
              <a:rPr lang="en-US" sz="2600" dirty="0">
                <a:latin typeface="Times New Roman" panose="02020603050405020304" pitchFamily="18" charset="0"/>
              </a:rPr>
              <a:t>(</a:t>
            </a:r>
            <a:r>
              <a:rPr lang="en-US" sz="2600" i="1" dirty="0">
                <a:latin typeface="Times New Roman" panose="02020603050405020304" pitchFamily="18" charset="0"/>
              </a:rPr>
              <a:t>x</a:t>
            </a:r>
            <a:r>
              <a:rPr lang="en-US" sz="2600" dirty="0">
                <a:latin typeface="Times New Roman" panose="02020603050405020304" pitchFamily="18" charset="0"/>
              </a:rPr>
              <a:t>) </a:t>
            </a:r>
            <a:r>
              <a:rPr lang="ru-RU" sz="2600" dirty="0">
                <a:latin typeface="Times New Roman" panose="02020603050405020304" pitchFamily="18" charset="0"/>
              </a:rPr>
              <a:t>и найти отрезки, содержащие точки пересечения с осью </a:t>
            </a:r>
            <a:r>
              <a:rPr lang="en-US" sz="2600" i="1" dirty="0">
                <a:latin typeface="Times New Roman" panose="02020603050405020304" pitchFamily="18" charset="0"/>
              </a:rPr>
              <a:t>Ox</a:t>
            </a:r>
            <a:r>
              <a:rPr lang="ru-RU" sz="2600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441" y="1830292"/>
            <a:ext cx="4807615" cy="2714412"/>
          </a:xfrm>
          <a:prstGeom prst="rect">
            <a:avLst/>
          </a:prstGeom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292343" y="5092747"/>
            <a:ext cx="6715883" cy="1188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50000"/>
              </a:spcBef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Графическое отделение корня уравнения </a:t>
            </a:r>
            <a:r>
              <a:rPr lang="en-US" altLang="ru-RU" sz="2400" dirty="0">
                <a:latin typeface="Times New Roman" panose="02020603050405020304" pitchFamily="18" charset="0"/>
              </a:rPr>
              <a:t>       </a:t>
            </a:r>
            <a:br>
              <a:rPr lang="ru-RU" altLang="ru-RU" sz="2400" dirty="0">
                <a:latin typeface="Times New Roman" panose="02020603050405020304" pitchFamily="18" charset="0"/>
              </a:rPr>
            </a:br>
            <a:r>
              <a:rPr lang="ru-RU" altLang="ru-RU" sz="2400" dirty="0" err="1">
                <a:latin typeface="Times New Roman" panose="02020603050405020304" pitchFamily="18" charset="0"/>
              </a:rPr>
              <a:t>cos</a:t>
            </a:r>
            <a:r>
              <a:rPr lang="ru-RU" altLang="ru-RU" sz="2400" i="1" dirty="0">
                <a:latin typeface="Times New Roman" panose="02020603050405020304" pitchFamily="18" charset="0"/>
              </a:rPr>
              <a:t> x </a:t>
            </a:r>
            <a:r>
              <a:rPr lang="ru-RU" altLang="ru-RU" sz="2400" dirty="0">
                <a:latin typeface="Times New Roman" panose="02020603050405020304" pitchFamily="18" charset="0"/>
              </a:rPr>
              <a:t>–</a:t>
            </a:r>
            <a:r>
              <a:rPr lang="ru-RU" altLang="ru-RU" sz="2400" i="1" dirty="0">
                <a:latin typeface="Times New Roman" panose="02020603050405020304" pitchFamily="18" charset="0"/>
              </a:rPr>
              <a:t> x</a:t>
            </a:r>
            <a:r>
              <a:rPr lang="ru-RU" altLang="ru-RU" sz="2400" i="1" baseline="30000" dirty="0">
                <a:latin typeface="Times New Roman" panose="02020603050405020304" pitchFamily="18" charset="0"/>
              </a:rPr>
              <a:t>2</a:t>
            </a:r>
            <a:r>
              <a:rPr lang="en-US" altLang="ru-RU" sz="2400" i="1" baseline="30000" dirty="0">
                <a:latin typeface="Times New Roman" panose="02020603050405020304" pitchFamily="18" charset="0"/>
              </a:rPr>
              <a:t> </a:t>
            </a:r>
            <a:r>
              <a:rPr lang="en-US" altLang="ru-RU" sz="2400" i="1" dirty="0">
                <a:latin typeface="Times New Roman" panose="02020603050405020304" pitchFamily="18" charset="0"/>
              </a:rPr>
              <a:t>= 0</a:t>
            </a:r>
            <a:endParaRPr lang="ru-RU" altLang="ru-RU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ru-RU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021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8399" y="610974"/>
            <a:ext cx="8406167" cy="546228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</a:rPr>
              <a:t>Если уравнение </a:t>
            </a:r>
            <a:r>
              <a:rPr lang="en-US" i="1" dirty="0">
                <a:latin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</a:rPr>
              <a:t> = 0 имеет  несколько корней, то результатом этапа отделения корней будет набор отрезков, каждый их которых содержит единственный корень: </a:t>
            </a:r>
            <a:r>
              <a:rPr lang="ru-RU" dirty="0"/>
              <a:t>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642" y="2318662"/>
            <a:ext cx="6344642" cy="23898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438" y="4875235"/>
            <a:ext cx="2745997" cy="97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02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61266"/>
            <a:ext cx="7886700" cy="72669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ea typeface="+mn-ea"/>
                <a:cs typeface="+mn-cs"/>
              </a:rPr>
              <a:t>Инструменты для графического отделения корней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5569" y="1115941"/>
            <a:ext cx="8651828" cy="543498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 сервисы для построения графиков функций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85686"/>
            <a:ext cx="4475613" cy="52215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84" y="3246086"/>
            <a:ext cx="3355965" cy="1670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43DC50-B292-4B87-8C60-2664AC25E48A}"/>
              </a:ext>
            </a:extLst>
          </p:cNvPr>
          <p:cNvSpPr txBox="1"/>
          <p:nvPr/>
        </p:nvSpPr>
        <p:spPr>
          <a:xfrm>
            <a:off x="628650" y="2307841"/>
            <a:ext cx="4160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https://www.wolframalpha.com/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C2101B-C785-4EB1-A103-E37C1FEC6586}"/>
              </a:ext>
            </a:extLst>
          </p:cNvPr>
          <p:cNvSpPr txBox="1"/>
          <p:nvPr/>
        </p:nvSpPr>
        <p:spPr>
          <a:xfrm>
            <a:off x="863985" y="5024281"/>
            <a:ext cx="2002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https://yotx.ru/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BC58D-5752-452F-AF69-45DCA9DD524F}"/>
              </a:ext>
            </a:extLst>
          </p:cNvPr>
          <p:cNvSpPr txBox="1"/>
          <p:nvPr/>
        </p:nvSpPr>
        <p:spPr>
          <a:xfrm>
            <a:off x="4158481" y="3831768"/>
            <a:ext cx="46715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https://www.mathway.com/ru/Graph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3BDFA-F542-43D0-ADAB-5E7A913C5CB3}"/>
              </a:ext>
            </a:extLst>
          </p:cNvPr>
          <p:cNvSpPr txBox="1"/>
          <p:nvPr/>
        </p:nvSpPr>
        <p:spPr>
          <a:xfrm>
            <a:off x="1770635" y="5993036"/>
            <a:ext cx="73733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https://www.desmos.com/calculator/s60mqvyp85?lang=ca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4DAE8A-5A88-4F54-8817-7C17295ABC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2610" y="3365043"/>
            <a:ext cx="1762125" cy="4667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3D5094A-E981-4B2F-BBFD-58668BC23A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5310" y="5528996"/>
            <a:ext cx="12573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31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CCA4B58-756C-470C-8CC8-E02CE98D3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815" y="1514519"/>
            <a:ext cx="788670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pres?slideindex=1&amp;slidetitle="/>
              </a:rPr>
              <a:t>Системы компьютерной алгебры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3BCAE21-BA85-4AC1-90A2-66D41F2E0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895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ea typeface="+mn-ea"/>
                <a:cs typeface="+mn-cs"/>
              </a:rPr>
              <a:t>Инструменты для графического отделения корней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18A601-A4AF-4B2D-9A14-9CEA11B14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85" y="2979313"/>
            <a:ext cx="1677893" cy="10735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BE794C-809D-4490-8012-1F095AED2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31" y="2235510"/>
            <a:ext cx="743803" cy="743803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EAE6480-D6BD-4977-A613-539706960A00}"/>
              </a:ext>
            </a:extLst>
          </p:cNvPr>
          <p:cNvSpPr txBox="1">
            <a:spLocks/>
          </p:cNvSpPr>
          <p:nvPr/>
        </p:nvSpPr>
        <p:spPr>
          <a:xfrm>
            <a:off x="1029168" y="4177099"/>
            <a:ext cx="3258519" cy="971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ru-RU" b="1" dirty="0"/>
              <a:t>Mathematica</a:t>
            </a:r>
            <a:endParaRPr lang="ru-RU" altLang="ru-RU" dirty="0"/>
          </a:p>
        </p:txBody>
      </p:sp>
      <p:pic>
        <p:nvPicPr>
          <p:cNvPr id="9" name="Рисунок 1">
            <a:extLst>
              <a:ext uri="{FF2B5EF4-FFF2-40B4-BE49-F238E27FC236}">
                <a16:creationId xmlns:a16="http://schemas.microsoft.com/office/drawing/2014/main" id="{0328C7F8-69BC-4C84-9995-291FF4D902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855" y="3870120"/>
            <a:ext cx="1293813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Рисунок 1">
            <a:extLst>
              <a:ext uri="{FF2B5EF4-FFF2-40B4-BE49-F238E27FC236}">
                <a16:creationId xmlns:a16="http://schemas.microsoft.com/office/drawing/2014/main" id="{112CBBCE-9163-481D-A4E6-9A990F6A68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560" y="3329576"/>
            <a:ext cx="3095625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E492FBA4-4F8B-47AA-9296-5A729EA2D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615" y="2295966"/>
            <a:ext cx="2144397" cy="478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6D0481E0-9363-4916-A7E5-8E04DEB6D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933" y="4911681"/>
            <a:ext cx="8636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Рисунок 3">
            <a:extLst>
              <a:ext uri="{FF2B5EF4-FFF2-40B4-BE49-F238E27FC236}">
                <a16:creationId xmlns:a16="http://schemas.microsoft.com/office/drawing/2014/main" id="{E1CF7099-B5B3-45E6-A87D-80827549A4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855" y="5683177"/>
            <a:ext cx="2313876" cy="63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235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3081" y="188913"/>
            <a:ext cx="8720919" cy="6264275"/>
          </a:xfrm>
        </p:spPr>
        <p:txBody>
          <a:bodyPr/>
          <a:lstStyle/>
          <a:p>
            <a:pPr marL="0" indent="14288" algn="just" eaLnBrk="1" hangingPunct="1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Для отделения корня можно использовать собственные программы.</a:t>
            </a:r>
            <a:r>
              <a:rPr lang="ru-RU" altLang="ru-RU" sz="2600" dirty="0">
                <a:solidFill>
                  <a:schemeClr val="tx2"/>
                </a:solidFill>
                <a:effectLst/>
              </a:rPr>
              <a:t> </a:t>
            </a:r>
          </a:p>
          <a:p>
            <a:pPr marL="0" indent="14288" algn="just" eaLnBrk="1" hangingPunct="1">
              <a:buFont typeface="Wingdings" panose="05000000000000000000" pitchFamily="2" charset="2"/>
              <a:buNone/>
              <a:tabLst>
                <a:tab pos="0" algn="l"/>
              </a:tabLst>
            </a:pPr>
            <a:endParaRPr lang="ru-RU" altLang="ru-RU" sz="2600" dirty="0">
              <a:solidFill>
                <a:schemeClr val="tx2"/>
              </a:solidFill>
              <a:effectLst/>
            </a:endParaRPr>
          </a:p>
          <a:p>
            <a:pPr marL="0" indent="14288" algn="just" eaLnBrk="1" hangingPunct="1">
              <a:buFont typeface="Wingdings" panose="05000000000000000000" pitchFamily="2" charset="2"/>
              <a:buNone/>
              <a:tabLst>
                <a:tab pos="0" algn="l"/>
              </a:tabLst>
            </a:pPr>
            <a:endParaRPr lang="ru-RU" altLang="ru-RU" sz="2400" dirty="0">
              <a:effectLst/>
            </a:endParaRPr>
          </a:p>
        </p:txBody>
      </p:sp>
      <p:pic>
        <p:nvPicPr>
          <p:cNvPr id="163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8"/>
          <a:stretch>
            <a:fillRect/>
          </a:stretch>
        </p:blipFill>
        <p:spPr bwMode="auto">
          <a:xfrm>
            <a:off x="2263383" y="811213"/>
            <a:ext cx="5040313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1398989" y="6161088"/>
            <a:ext cx="676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Схема алгоритма отделения корней</a:t>
            </a:r>
          </a:p>
        </p:txBody>
      </p:sp>
    </p:spTree>
    <p:extLst>
      <p:ext uri="{BB962C8B-B14F-4D97-AF65-F5344CB8AC3E}">
        <p14:creationId xmlns:p14="http://schemas.microsoft.com/office/powerpoint/2010/main" val="1585260516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570" y="404812"/>
            <a:ext cx="8047630" cy="896938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br>
              <a:rPr lang="ru-RU" altLang="ru-RU" sz="3000" b="1" dirty="0"/>
            </a:br>
            <a:br>
              <a:rPr lang="ru-RU" altLang="ru-RU" sz="3000" b="1" dirty="0"/>
            </a:br>
            <a:r>
              <a:rPr lang="ru-RU" altLang="ru-RU" sz="3000" b="1" dirty="0">
                <a:effectLst/>
                <a:latin typeface="Times New Roman" panose="02020603050405020304" pitchFamily="18" charset="0"/>
              </a:rPr>
              <a:t>Уточнение корня. Метод деления отрезка пополам</a:t>
            </a:r>
            <a:br>
              <a:rPr lang="ru-RU" altLang="ru-RU" sz="3000" b="1" dirty="0">
                <a:effectLst/>
                <a:latin typeface="Times New Roman" panose="02020603050405020304" pitchFamily="18" charset="0"/>
              </a:rPr>
            </a:br>
            <a:br>
              <a:rPr lang="ru-RU" altLang="ru-RU" sz="3000" b="1" dirty="0"/>
            </a:br>
            <a:endParaRPr lang="ru-RU" altLang="ru-RU" sz="3000" b="1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547" y="1052513"/>
            <a:ext cx="8511654" cy="5400675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ru-RU" altLang="ru-RU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Уточнить корень </a:t>
            </a:r>
            <a:r>
              <a:rPr lang="ru-RU" altLang="ru-RU" sz="2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altLang="ru-RU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до точности </a:t>
            </a:r>
            <a:r>
              <a:rPr lang="ru-RU" altLang="ru-RU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ru-RU" altLang="ru-RU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</a:rPr>
              <a:t>–</a:t>
            </a:r>
            <a:r>
              <a:rPr lang="ru-RU" altLang="ru-RU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это значит найти такое приближенное значение корня, которое отличается от точного не более, чем на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.</a:t>
            </a:r>
            <a:endParaRPr lang="ru-RU" altLang="ru-RU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None/>
              <a:defRPr/>
            </a:pPr>
            <a:r>
              <a:rPr lang="ru-RU" alt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Методы:</a:t>
            </a:r>
          </a:p>
          <a:p>
            <a:pPr marL="0" indent="0" algn="just" eaLnBrk="1" hangingPunct="1">
              <a:buFont typeface="Wingdings" panose="05000000000000000000" pitchFamily="2" charset="2"/>
              <a:buChar char="ü"/>
              <a:defRPr/>
            </a:pPr>
            <a:r>
              <a:rPr lang="ru-RU" altLang="ru-RU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метод деления отрезка пополам, </a:t>
            </a:r>
          </a:p>
          <a:p>
            <a:pPr marL="0" indent="0" algn="just">
              <a:buFont typeface="Wingdings" panose="05000000000000000000" pitchFamily="2" charset="2"/>
              <a:buChar char="ü"/>
              <a:defRPr/>
            </a:pPr>
            <a:r>
              <a:rPr lang="ru-RU" altLang="ru-RU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хорд, </a:t>
            </a:r>
          </a:p>
          <a:p>
            <a:pPr marL="0" indent="0" algn="just">
              <a:buFont typeface="Wingdings" panose="05000000000000000000" pitchFamily="2" charset="2"/>
              <a:buChar char="ü"/>
              <a:defRPr/>
            </a:pPr>
            <a:r>
              <a:rPr lang="ru-RU" altLang="ru-RU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метод касательных, </a:t>
            </a:r>
          </a:p>
          <a:p>
            <a:pPr marL="0" indent="0" algn="just" eaLnBrk="1" hangingPunct="1">
              <a:buFont typeface="Wingdings" panose="05000000000000000000" pitchFamily="2" charset="2"/>
              <a:buChar char="ü"/>
              <a:defRPr/>
            </a:pPr>
            <a:r>
              <a:rPr lang="ru-RU" altLang="ru-RU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 простой итерации.</a:t>
            </a:r>
          </a:p>
          <a:p>
            <a:pPr marL="0" indent="0" algn="just" eaLnBrk="1" hangingPunct="1">
              <a:buFont typeface="Wingdings" panose="05000000000000000000" pitchFamily="2" charset="2"/>
              <a:buChar char="ü"/>
              <a:defRPr/>
            </a:pPr>
            <a:endParaRPr lang="ru-RU" altLang="ru-RU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82271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491" y="188913"/>
            <a:ext cx="8470710" cy="6335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3CC33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Пусть на интервале [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a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, 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b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] расположен один корень. 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600" b="1" dirty="0">
                <a:effectLst/>
                <a:latin typeface="Times New Roman" panose="02020603050405020304" pitchFamily="18" charset="0"/>
              </a:rPr>
              <a:t>Метод деления отрезка пополам (метод половинного деления) 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заключается в следующем. Имеем: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Определяем половину отрезка        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и вычисляем          . </a:t>
            </a:r>
          </a:p>
          <a:p>
            <a:pPr marL="0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Проверяем следующие условия:</a:t>
            </a:r>
          </a:p>
          <a:p>
            <a:pPr marL="0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ru-RU" sz="2600" i="1" dirty="0">
              <a:effectLst/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Если  </a:t>
            </a:r>
            <a:r>
              <a:rPr lang="en-US" altLang="ru-RU" sz="2600" dirty="0">
                <a:effectLst/>
                <a:latin typeface="Times New Roman" panose="02020603050405020304" pitchFamily="18" charset="0"/>
              </a:rPr>
              <a:t>|</a:t>
            </a:r>
            <a:r>
              <a:rPr lang="en-US" altLang="ru-RU" sz="2600" i="1" dirty="0">
                <a:effectLst/>
                <a:latin typeface="Times New Roman" panose="02020603050405020304" pitchFamily="18" charset="0"/>
              </a:rPr>
              <a:t>b</a:t>
            </a:r>
            <a:r>
              <a:rPr lang="ru-RU" altLang="ru-RU" sz="2400" dirty="0">
                <a:latin typeface="Times New Roman" panose="02020603050405020304" pitchFamily="18" charset="0"/>
              </a:rPr>
              <a:t> – </a:t>
            </a:r>
            <a:r>
              <a:rPr lang="en-US" altLang="ru-RU" sz="2600" i="1" dirty="0">
                <a:effectLst/>
                <a:latin typeface="Times New Roman" panose="02020603050405020304" pitchFamily="18" charset="0"/>
              </a:rPr>
              <a:t>a</a:t>
            </a:r>
            <a:r>
              <a:rPr lang="en-US" altLang="ru-RU" sz="2600" dirty="0">
                <a:effectLst/>
                <a:latin typeface="Times New Roman" panose="02020603050405020304" pitchFamily="18" charset="0"/>
              </a:rPr>
              <a:t>| &lt; </a:t>
            </a:r>
            <a:r>
              <a:rPr lang="en-US" altLang="ru-RU" sz="2600" dirty="0">
                <a:effectLst/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, то 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c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 – корень. Здесь </a:t>
            </a:r>
            <a:r>
              <a:rPr lang="en-US" altLang="ru-RU" sz="2600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Times New Roman" panose="02020603050405020304" pitchFamily="18" charset="0"/>
              </a:rPr>
              <a:t>–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 заданная точность.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Если                     , то корень лежит на отрезке         .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Если                      , то корень лежит на отрезке         .</a:t>
            </a:r>
          </a:p>
        </p:txBody>
      </p:sp>
      <p:sp>
        <p:nvSpPr>
          <p:cNvPr id="1843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48767"/>
              </p:ext>
            </p:extLst>
          </p:nvPr>
        </p:nvGraphicFramePr>
        <p:xfrm>
          <a:off x="4879927" y="1856960"/>
          <a:ext cx="15113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9" name="Формула" r:id="rId3" imgW="901309" imgH="444307" progId="Equation.3">
                  <p:embed/>
                </p:oleObj>
              </mc:Choice>
              <mc:Fallback>
                <p:oleObj name="Формула" r:id="rId3" imgW="901309" imgH="444307" progId="Equation.3">
                  <p:embed/>
                  <p:pic>
                    <p:nvPicPr>
                      <p:cNvPr id="18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27" y="1856960"/>
                        <a:ext cx="15113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300294"/>
              </p:ext>
            </p:extLst>
          </p:nvPr>
        </p:nvGraphicFramePr>
        <p:xfrm>
          <a:off x="2228922" y="2424114"/>
          <a:ext cx="7905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" name="Формула" r:id="rId5" imgW="355446" imgH="241195" progId="Equation.3">
                  <p:embed/>
                </p:oleObj>
              </mc:Choice>
              <mc:Fallback>
                <p:oleObj name="Формула" r:id="rId5" imgW="355446" imgH="241195" progId="Equation.3">
                  <p:embed/>
                  <p:pic>
                    <p:nvPicPr>
                      <p:cNvPr id="18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922" y="2424114"/>
                        <a:ext cx="7905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680074"/>
              </p:ext>
            </p:extLst>
          </p:nvPr>
        </p:nvGraphicFramePr>
        <p:xfrm>
          <a:off x="3457669" y="1507918"/>
          <a:ext cx="2057305" cy="509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" name="Формула" r:id="rId7" imgW="965200" imgH="241300" progId="Equation.3">
                  <p:embed/>
                </p:oleObj>
              </mc:Choice>
              <mc:Fallback>
                <p:oleObj name="Формула" r:id="rId7" imgW="965200" imgH="241300" progId="Equation.3">
                  <p:embed/>
                  <p:pic>
                    <p:nvPicPr>
                      <p:cNvPr id="184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669" y="1507918"/>
                        <a:ext cx="2057305" cy="509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844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8443" name="Rectangle 15"/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844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055066"/>
              </p:ext>
            </p:extLst>
          </p:nvPr>
        </p:nvGraphicFramePr>
        <p:xfrm>
          <a:off x="1188717" y="4422574"/>
          <a:ext cx="17287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2" name="Формула" r:id="rId9" imgW="825142" imgH="215806" progId="Equation.3">
                  <p:embed/>
                </p:oleObj>
              </mc:Choice>
              <mc:Fallback>
                <p:oleObj name="Формула" r:id="rId9" imgW="825142" imgH="215806" progId="Equation.3">
                  <p:embed/>
                  <p:pic>
                    <p:nvPicPr>
                      <p:cNvPr id="1844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8717" y="4422574"/>
                        <a:ext cx="17287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844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041756"/>
              </p:ext>
            </p:extLst>
          </p:nvPr>
        </p:nvGraphicFramePr>
        <p:xfrm>
          <a:off x="6927708" y="4444317"/>
          <a:ext cx="7207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" name="Формула" r:id="rId11" imgW="380835" imgH="215806" progId="Equation.3">
                  <p:embed/>
                </p:oleObj>
              </mc:Choice>
              <mc:Fallback>
                <p:oleObj name="Формула" r:id="rId11" imgW="380835" imgH="215806" progId="Equation.3">
                  <p:embed/>
                  <p:pic>
                    <p:nvPicPr>
                      <p:cNvPr id="1844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7708" y="4444317"/>
                        <a:ext cx="72072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7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844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112102"/>
              </p:ext>
            </p:extLst>
          </p:nvPr>
        </p:nvGraphicFramePr>
        <p:xfrm>
          <a:off x="1216013" y="4926809"/>
          <a:ext cx="17287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4" name="Формула" r:id="rId13" imgW="952087" imgH="241195" progId="Equation.3">
                  <p:embed/>
                </p:oleObj>
              </mc:Choice>
              <mc:Fallback>
                <p:oleObj name="Формула" r:id="rId13" imgW="952087" imgH="241195" progId="Equation.3">
                  <p:embed/>
                  <p:pic>
                    <p:nvPicPr>
                      <p:cNvPr id="1844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13" y="4926809"/>
                        <a:ext cx="172878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845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280304"/>
              </p:ext>
            </p:extLst>
          </p:nvPr>
        </p:nvGraphicFramePr>
        <p:xfrm>
          <a:off x="7086718" y="4911524"/>
          <a:ext cx="64928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" name="Формула" r:id="rId15" imgW="380835" imgH="215806" progId="Equation.3">
                  <p:embed/>
                </p:oleObj>
              </mc:Choice>
              <mc:Fallback>
                <p:oleObj name="Формула" r:id="rId15" imgW="380835" imgH="215806" progId="Equation.3">
                  <p:embed/>
                  <p:pic>
                    <p:nvPicPr>
                      <p:cNvPr id="1845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718" y="4911524"/>
                        <a:ext cx="64928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2273507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182" y="333375"/>
            <a:ext cx="8730018" cy="5762625"/>
          </a:xfrm>
        </p:spPr>
        <p:txBody>
          <a:bodyPr/>
          <a:lstStyle/>
          <a:p>
            <a:pPr indent="22225" algn="just" eaLnBrk="1" hangingPunct="1"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Через </a:t>
            </a:r>
            <a:r>
              <a:rPr lang="ru-RU" altLang="ru-RU" sz="2600" i="1" dirty="0">
                <a:effectLst/>
                <a:latin typeface="Times New Roman" panose="02020603050405020304" pitchFamily="18" charset="0"/>
              </a:rPr>
              <a:t>n</a:t>
            </a:r>
            <a:r>
              <a:rPr lang="ru-RU" altLang="ru-RU" sz="2600" dirty="0">
                <a:effectLst/>
                <a:latin typeface="Times New Roman" panose="02020603050405020304" pitchFamily="18" charset="0"/>
              </a:rPr>
              <a:t> итераций интервал будет равен</a:t>
            </a:r>
          </a:p>
          <a:p>
            <a:pPr indent="22225" algn="just" eaLnBrk="1" hangingPunct="1"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indent="22225" algn="just" eaLnBrk="1" hangingPunct="1"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indent="22225" algn="just" eaLnBrk="1" hangingPunct="1"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Если выполняется условие </a:t>
            </a:r>
          </a:p>
          <a:p>
            <a:pPr indent="22225" algn="just" eaLnBrk="1" hangingPunct="1"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indent="22225" algn="just" eaLnBrk="1" hangingPunct="1"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  <a:p>
            <a:pPr indent="22225" algn="just" eaLnBrk="1" hangingPunct="1">
              <a:buFont typeface="Wingdings" panose="05000000000000000000" pitchFamily="2" charset="2"/>
              <a:buNone/>
            </a:pPr>
            <a:r>
              <a:rPr lang="ru-RU" altLang="ru-RU" sz="2600" dirty="0">
                <a:effectLst/>
                <a:latin typeface="Times New Roman" panose="02020603050405020304" pitchFamily="18" charset="0"/>
              </a:rPr>
              <a:t>то процесс поиска заканчивается и корень уравнения будет</a:t>
            </a:r>
          </a:p>
          <a:p>
            <a:pPr indent="22225" algn="just" eaLnBrk="1" hangingPunct="1">
              <a:buFont typeface="Wingdings" panose="05000000000000000000" pitchFamily="2" charset="2"/>
              <a:buNone/>
            </a:pPr>
            <a:endParaRPr lang="ru-RU" altLang="ru-RU" sz="260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728515"/>
              </p:ext>
            </p:extLst>
          </p:nvPr>
        </p:nvGraphicFramePr>
        <p:xfrm>
          <a:off x="2601734" y="919956"/>
          <a:ext cx="37449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name="Формула" r:id="rId3" imgW="1435100" imgH="469900" progId="Equation.3">
                  <p:embed/>
                </p:oleObj>
              </mc:Choice>
              <mc:Fallback>
                <p:oleObj name="Формула" r:id="rId3" imgW="1435100" imgH="469900" progId="Equation.3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734" y="919956"/>
                        <a:ext cx="374491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440630"/>
              </p:ext>
            </p:extLst>
          </p:nvPr>
        </p:nvGraphicFramePr>
        <p:xfrm>
          <a:off x="3383756" y="2338387"/>
          <a:ext cx="23764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5" name="Формула" r:id="rId5" imgW="1117600" imgH="241300" progId="Equation.3">
                  <p:embed/>
                </p:oleObj>
              </mc:Choice>
              <mc:Fallback>
                <p:oleObj name="Формула" r:id="rId5" imgW="1117600" imgH="241300" progId="Equation.3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756" y="2338387"/>
                        <a:ext cx="23764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194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298131"/>
              </p:ext>
            </p:extLst>
          </p:nvPr>
        </p:nvGraphicFramePr>
        <p:xfrm>
          <a:off x="3096419" y="3636169"/>
          <a:ext cx="295116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6" name="Формула" r:id="rId7" imgW="1091726" imgH="444307" progId="Equation.3">
                  <p:embed/>
                </p:oleObj>
              </mc:Choice>
              <mc:Fallback>
                <p:oleObj name="Формула" r:id="rId7" imgW="1091726" imgH="444307" progId="Equation.3">
                  <p:embed/>
                  <p:pic>
                    <p:nvPicPr>
                      <p:cNvPr id="194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6419" y="3636169"/>
                        <a:ext cx="2951162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TextBox 1"/>
          <p:cNvSpPr txBox="1">
            <a:spLocks noChangeArrowheads="1"/>
          </p:cNvSpPr>
          <p:nvPr/>
        </p:nvSpPr>
        <p:spPr bwMode="auto">
          <a:xfrm>
            <a:off x="495122" y="4802188"/>
            <a:ext cx="81666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 - какова скорость сходимости этого метода?</a:t>
            </a:r>
          </a:p>
        </p:txBody>
      </p:sp>
      <p:sp>
        <p:nvSpPr>
          <p:cNvPr id="19466" name="TextBox 2"/>
          <p:cNvSpPr txBox="1">
            <a:spLocks noChangeArrowheads="1"/>
          </p:cNvSpPr>
          <p:nvPr/>
        </p:nvSpPr>
        <p:spPr bwMode="auto">
          <a:xfrm>
            <a:off x="482274" y="5243970"/>
            <a:ext cx="817945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увеличением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погрешность стремится к 0 не медленнее геометрической прогрессии со знаменателем ½</a:t>
            </a:r>
            <a:r>
              <a:rPr lang="en-US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1165324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491" y="260350"/>
            <a:ext cx="8470710" cy="5835650"/>
          </a:xfrm>
        </p:spPr>
        <p:txBody>
          <a:bodyPr>
            <a:normAutofit/>
          </a:bodyPr>
          <a:lstStyle/>
          <a:p>
            <a:pPr marL="0" indent="0" algn="just" eaLnBrk="1" hangingPunct="1">
              <a:buFont typeface="Wingdings" panose="05000000000000000000" pitchFamily="2" charset="2"/>
              <a:buNone/>
              <a:tabLst>
                <a:tab pos="0" algn="l"/>
              </a:tabLst>
            </a:pPr>
            <a:r>
              <a:rPr lang="ru-RU" altLang="ru-RU" dirty="0">
                <a:effectLst/>
                <a:latin typeface="Times New Roman" panose="02020603050405020304" pitchFamily="18" charset="0"/>
              </a:rPr>
              <a:t>Графически метод половинного деления выглядит следующим образом</a:t>
            </a:r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5" t="-2850" r="-11584" b="2850"/>
          <a:stretch>
            <a:fillRect/>
          </a:stretch>
        </p:blipFill>
        <p:spPr bwMode="auto">
          <a:xfrm>
            <a:off x="2185988" y="1078707"/>
            <a:ext cx="5443111" cy="3031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0485" name="Rectangle 8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2048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620428"/>
              </p:ext>
            </p:extLst>
          </p:nvPr>
        </p:nvGraphicFramePr>
        <p:xfrm>
          <a:off x="2206625" y="3913519"/>
          <a:ext cx="14414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Формула" r:id="rId4" imgW="952087" imgH="241195" progId="Equation.3">
                  <p:embed/>
                </p:oleObj>
              </mc:Choice>
              <mc:Fallback>
                <p:oleObj name="Формула" r:id="rId4" imgW="952087" imgH="241195" progId="Equation.3">
                  <p:embed/>
                  <p:pic>
                    <p:nvPicPr>
                      <p:cNvPr id="2048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3913519"/>
                        <a:ext cx="14414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0"/>
          <p:cNvSpPr>
            <a:spLocks noChangeArrowheads="1"/>
          </p:cNvSpPr>
          <p:nvPr/>
        </p:nvSpPr>
        <p:spPr bwMode="auto">
          <a:xfrm>
            <a:off x="0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graphicFrame>
        <p:nvGraphicFramePr>
          <p:cNvPr id="2048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668525"/>
              </p:ext>
            </p:extLst>
          </p:nvPr>
        </p:nvGraphicFramePr>
        <p:xfrm>
          <a:off x="4918656" y="3900180"/>
          <a:ext cx="143986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5" name="Формула" r:id="rId6" imgW="939392" imgH="241195" progId="Equation.3">
                  <p:embed/>
                </p:oleObj>
              </mc:Choice>
              <mc:Fallback>
                <p:oleObj name="Формула" r:id="rId6" imgW="939392" imgH="241195" progId="Equation.3">
                  <p:embed/>
                  <p:pic>
                    <p:nvPicPr>
                      <p:cNvPr id="2048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656" y="3900180"/>
                        <a:ext cx="1439862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Text Box 11"/>
          <p:cNvSpPr txBox="1">
            <a:spLocks noChangeArrowheads="1"/>
          </p:cNvSpPr>
          <p:nvPr/>
        </p:nvSpPr>
        <p:spPr bwMode="auto">
          <a:xfrm>
            <a:off x="1725093" y="4599003"/>
            <a:ext cx="60115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Иллюстрация метода половинного деления </a:t>
            </a:r>
          </a:p>
        </p:txBody>
      </p:sp>
    </p:spTree>
    <p:extLst>
      <p:ext uri="{BB962C8B-B14F-4D97-AF65-F5344CB8AC3E}">
        <p14:creationId xmlns:p14="http://schemas.microsoft.com/office/powerpoint/2010/main" val="41180270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4033" y="6189518"/>
            <a:ext cx="6400800" cy="478969"/>
          </a:xfrm>
        </p:spPr>
        <p:txBody>
          <a:bodyPr>
            <a:normAutofit fontScale="92500"/>
          </a:bodyPr>
          <a:lstStyle/>
          <a:p>
            <a:pPr marL="0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ru-RU" altLang="ru-RU" sz="2400" dirty="0">
                <a:latin typeface="Times New Roman" panose="02020603050405020304" pitchFamily="18" charset="0"/>
              </a:rPr>
              <a:t>С</a:t>
            </a:r>
            <a:r>
              <a:rPr lang="ru-RU" altLang="ru-RU" sz="2400" dirty="0">
                <a:effectLst/>
                <a:latin typeface="Times New Roman" panose="02020603050405020304" pitchFamily="18" charset="0"/>
              </a:rPr>
              <a:t>хема алгоритма метода деления отрезка пополам</a:t>
            </a:r>
          </a:p>
        </p:txBody>
      </p:sp>
      <p:sp>
        <p:nvSpPr>
          <p:cNvPr id="2" name="Блок-схема: знак завершения 1">
            <a:extLst>
              <a:ext uri="{FF2B5EF4-FFF2-40B4-BE49-F238E27FC236}">
                <a16:creationId xmlns:a16="http://schemas.microsoft.com/office/drawing/2014/main" id="{2DDE1032-D237-4951-A7BA-CFF2879EF96A}"/>
              </a:ext>
            </a:extLst>
          </p:cNvPr>
          <p:cNvSpPr/>
          <p:nvPr/>
        </p:nvSpPr>
        <p:spPr>
          <a:xfrm>
            <a:off x="3696789" y="206930"/>
            <a:ext cx="1750422" cy="38317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</a:t>
            </a:r>
          </a:p>
        </p:txBody>
      </p:sp>
      <p:sp>
        <p:nvSpPr>
          <p:cNvPr id="6" name="Блок-схема: знак завершения 5">
            <a:extLst>
              <a:ext uri="{FF2B5EF4-FFF2-40B4-BE49-F238E27FC236}">
                <a16:creationId xmlns:a16="http://schemas.microsoft.com/office/drawing/2014/main" id="{65E593C6-7E12-4F74-9603-D1CA8A432633}"/>
              </a:ext>
            </a:extLst>
          </p:cNvPr>
          <p:cNvSpPr/>
          <p:nvPr/>
        </p:nvSpPr>
        <p:spPr>
          <a:xfrm>
            <a:off x="3618412" y="5749631"/>
            <a:ext cx="1750422" cy="38317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</a:t>
            </a:r>
          </a:p>
        </p:txBody>
      </p:sp>
      <p:sp>
        <p:nvSpPr>
          <p:cNvPr id="3" name="Блок-схема: данные 2">
            <a:extLst>
              <a:ext uri="{FF2B5EF4-FFF2-40B4-BE49-F238E27FC236}">
                <a16:creationId xmlns:a16="http://schemas.microsoft.com/office/drawing/2014/main" id="{6D11D727-4A7A-485F-9178-8EDCED12DCAE}"/>
              </a:ext>
            </a:extLst>
          </p:cNvPr>
          <p:cNvSpPr/>
          <p:nvPr/>
        </p:nvSpPr>
        <p:spPr>
          <a:xfrm>
            <a:off x="3381103" y="797035"/>
            <a:ext cx="2381794" cy="38317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941EB05C-8E63-433B-9239-8004A1A84C1B}"/>
              </a:ext>
            </a:extLst>
          </p:cNvPr>
          <p:cNvCxnSpPr>
            <a:stCxn id="2" idx="2"/>
            <a:endCxn id="3" idx="1"/>
          </p:cNvCxnSpPr>
          <p:nvPr/>
        </p:nvCxnSpPr>
        <p:spPr>
          <a:xfrm>
            <a:off x="4572000" y="590106"/>
            <a:ext cx="0" cy="206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5CD2EAB-3DB3-43E9-8467-E774864F2FB5}"/>
              </a:ext>
            </a:extLst>
          </p:cNvPr>
          <p:cNvGrpSpPr/>
          <p:nvPr/>
        </p:nvGrpSpPr>
        <p:grpSpPr>
          <a:xfrm>
            <a:off x="3583577" y="1597134"/>
            <a:ext cx="1976846" cy="827313"/>
            <a:chOff x="3953691" y="3178629"/>
            <a:chExt cx="1976846" cy="827313"/>
          </a:xfrm>
        </p:grpSpPr>
        <p:sp>
          <p:nvSpPr>
            <p:cNvPr id="9" name="Блок-схема: процесс 8">
              <a:extLst>
                <a:ext uri="{FF2B5EF4-FFF2-40B4-BE49-F238E27FC236}">
                  <a16:creationId xmlns:a16="http://schemas.microsoft.com/office/drawing/2014/main" id="{5FFABF79-F7A7-4CC1-9389-630A65673C94}"/>
                </a:ext>
              </a:extLst>
            </p:cNvPr>
            <p:cNvSpPr/>
            <p:nvPr/>
          </p:nvSpPr>
          <p:spPr>
            <a:xfrm>
              <a:off x="3953691" y="3178629"/>
              <a:ext cx="1976846" cy="827313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12" name="Object 4">
              <a:extLst>
                <a:ext uri="{FF2B5EF4-FFF2-40B4-BE49-F238E27FC236}">
                  <a16:creationId xmlns:a16="http://schemas.microsoft.com/office/drawing/2014/main" id="{9166BDD9-0453-411C-A321-576ACE0BC3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86464" y="3212902"/>
            <a:ext cx="1511300" cy="695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0" name="Формула" r:id="rId3" imgW="901309" imgH="444307" progId="Equation.3">
                    <p:embed/>
                  </p:oleObj>
                </mc:Choice>
                <mc:Fallback>
                  <p:oleObj name="Формула" r:id="rId3" imgW="901309" imgH="444307" progId="Equation.3">
                    <p:embed/>
                    <p:pic>
                      <p:nvPicPr>
                        <p:cNvPr id="12" name="Object 4">
                          <a:extLst>
                            <a:ext uri="{FF2B5EF4-FFF2-40B4-BE49-F238E27FC236}">
                              <a16:creationId xmlns:a16="http://schemas.microsoft.com/office/drawing/2014/main" id="{9166BDD9-0453-411C-A321-576ACE0BC3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464" y="3212902"/>
                          <a:ext cx="1511300" cy="695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051735F8-4BD6-401A-A276-E79801156B50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>
            <a:off x="4572000" y="1180210"/>
            <a:ext cx="0" cy="416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Блок-схема: решение 14">
            <a:extLst>
              <a:ext uri="{FF2B5EF4-FFF2-40B4-BE49-F238E27FC236}">
                <a16:creationId xmlns:a16="http://schemas.microsoft.com/office/drawing/2014/main" id="{46ACC0C9-0DC4-4FD7-99CB-77FA1CBBF098}"/>
              </a:ext>
            </a:extLst>
          </p:cNvPr>
          <p:cNvSpPr/>
          <p:nvPr/>
        </p:nvSpPr>
        <p:spPr>
          <a:xfrm>
            <a:off x="3313611" y="2737263"/>
            <a:ext cx="2516777" cy="73369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sz="1800" i="1" dirty="0">
                <a:latin typeface="Times New Roman" panose="02020603050405020304" pitchFamily="18" charset="0"/>
              </a:rPr>
              <a:t>f</a:t>
            </a:r>
            <a:r>
              <a:rPr lang="en-US" altLang="ru-RU" sz="1800" dirty="0">
                <a:latin typeface="Times New Roman" panose="02020603050405020304" pitchFamily="18" charset="0"/>
              </a:rPr>
              <a:t>(</a:t>
            </a:r>
            <a:r>
              <a:rPr lang="en-US" altLang="ru-RU" sz="1800" i="1" dirty="0">
                <a:latin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</a:rPr>
              <a:t>)</a:t>
            </a:r>
            <a:r>
              <a:rPr lang="en-US" altLang="ru-RU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ru-RU" sz="1800" i="1" dirty="0">
                <a:latin typeface="Times New Roman" panose="02020603050405020304" pitchFamily="18" charset="0"/>
              </a:rPr>
              <a:t>f</a:t>
            </a:r>
            <a:r>
              <a:rPr lang="en-US" altLang="ru-RU" sz="1800" dirty="0">
                <a:latin typeface="Times New Roman" panose="02020603050405020304" pitchFamily="18" charset="0"/>
              </a:rPr>
              <a:t>(</a:t>
            </a:r>
            <a:r>
              <a:rPr lang="en-US" altLang="ru-RU" sz="1800" i="1" dirty="0">
                <a:latin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</a:rPr>
              <a:t>) &lt; 0</a:t>
            </a:r>
            <a:endParaRPr lang="ru-RU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C8533F78-157D-40ED-8E6C-6951E8F593EE}"/>
              </a:ext>
            </a:extLst>
          </p:cNvPr>
          <p:cNvCxnSpPr>
            <a:stCxn id="9" idx="2"/>
            <a:endCxn id="15" idx="0"/>
          </p:cNvCxnSpPr>
          <p:nvPr/>
        </p:nvCxnSpPr>
        <p:spPr>
          <a:xfrm>
            <a:off x="4572000" y="2424447"/>
            <a:ext cx="0" cy="312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Блок-схема: процесс 17">
            <a:extLst>
              <a:ext uri="{FF2B5EF4-FFF2-40B4-BE49-F238E27FC236}">
                <a16:creationId xmlns:a16="http://schemas.microsoft.com/office/drawing/2014/main" id="{EBD2EFB1-CB8B-4250-90DF-FF4E9B0FF681}"/>
              </a:ext>
            </a:extLst>
          </p:cNvPr>
          <p:cNvSpPr/>
          <p:nvPr/>
        </p:nvSpPr>
        <p:spPr>
          <a:xfrm>
            <a:off x="6119843" y="3429000"/>
            <a:ext cx="1201783" cy="38534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Блок-схема: процесс 21">
            <a:extLst>
              <a:ext uri="{FF2B5EF4-FFF2-40B4-BE49-F238E27FC236}">
                <a16:creationId xmlns:a16="http://schemas.microsoft.com/office/drawing/2014/main" id="{AC9885BF-458A-4B2E-990C-A0D0C3EB1965}"/>
              </a:ext>
            </a:extLst>
          </p:cNvPr>
          <p:cNvSpPr/>
          <p:nvPr/>
        </p:nvSpPr>
        <p:spPr>
          <a:xfrm>
            <a:off x="1919828" y="3429000"/>
            <a:ext cx="1201783" cy="38534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254BEDB2-93F6-4A29-8C80-9BEDB154DA72}"/>
              </a:ext>
            </a:extLst>
          </p:cNvPr>
          <p:cNvCxnSpPr>
            <a:stCxn id="15" idx="1"/>
            <a:endCxn id="22" idx="0"/>
          </p:cNvCxnSpPr>
          <p:nvPr/>
        </p:nvCxnSpPr>
        <p:spPr>
          <a:xfrm rot="10800000" flipV="1">
            <a:off x="2520721" y="3104112"/>
            <a:ext cx="792891" cy="3248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2C36AB40-8FD4-4AF2-8548-A316A9C40624}"/>
              </a:ext>
            </a:extLst>
          </p:cNvPr>
          <p:cNvCxnSpPr>
            <a:stCxn id="15" idx="3"/>
            <a:endCxn id="18" idx="0"/>
          </p:cNvCxnSpPr>
          <p:nvPr/>
        </p:nvCxnSpPr>
        <p:spPr>
          <a:xfrm>
            <a:off x="5830388" y="3104113"/>
            <a:ext cx="890347" cy="3248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Блок-схема: решение 26">
            <a:extLst>
              <a:ext uri="{FF2B5EF4-FFF2-40B4-BE49-F238E27FC236}">
                <a16:creationId xmlns:a16="http://schemas.microsoft.com/office/drawing/2014/main" id="{9AB8BAE7-2351-4CB5-AF92-0FDE8B1EEEA5}"/>
              </a:ext>
            </a:extLst>
          </p:cNvPr>
          <p:cNvSpPr/>
          <p:nvPr/>
        </p:nvSpPr>
        <p:spPr>
          <a:xfrm>
            <a:off x="3313610" y="4195195"/>
            <a:ext cx="2516777" cy="73369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dirty="0">
                <a:latin typeface="Times New Roman" panose="02020603050405020304" pitchFamily="18" charset="0"/>
              </a:rPr>
              <a:t>|</a:t>
            </a:r>
            <a:r>
              <a:rPr lang="en-US" altLang="ru-RU" i="1" dirty="0">
                <a:latin typeface="Times New Roman" panose="02020603050405020304" pitchFamily="18" charset="0"/>
              </a:rPr>
              <a:t>b</a:t>
            </a:r>
            <a:r>
              <a:rPr lang="en-US" altLang="ru-RU" dirty="0">
                <a:latin typeface="Times New Roman" panose="02020603050405020304" pitchFamily="18" charset="0"/>
              </a:rPr>
              <a:t> – </a:t>
            </a:r>
            <a:r>
              <a:rPr lang="en-US" altLang="ru-RU" sz="1800" i="1" dirty="0">
                <a:latin typeface="Times New Roman" panose="02020603050405020304" pitchFamily="18" charset="0"/>
              </a:rPr>
              <a:t>a|</a:t>
            </a:r>
            <a:r>
              <a:rPr lang="en-US" altLang="ru-RU" sz="1800" dirty="0">
                <a:latin typeface="Times New Roman" panose="02020603050405020304" pitchFamily="18" charset="0"/>
              </a:rPr>
              <a:t> &lt;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ru-RU" dirty="0"/>
          </a:p>
        </p:txBody>
      </p:sp>
      <p:sp>
        <p:nvSpPr>
          <p:cNvPr id="28" name="Блок-схема: данные 27">
            <a:extLst>
              <a:ext uri="{FF2B5EF4-FFF2-40B4-BE49-F238E27FC236}">
                <a16:creationId xmlns:a16="http://schemas.microsoft.com/office/drawing/2014/main" id="{C7945BBC-4740-43F8-A3C5-0552F9C18F63}"/>
              </a:ext>
            </a:extLst>
          </p:cNvPr>
          <p:cNvSpPr/>
          <p:nvPr/>
        </p:nvSpPr>
        <p:spPr>
          <a:xfrm>
            <a:off x="5368834" y="4951415"/>
            <a:ext cx="2381794" cy="38317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f(c)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Соединитель: уступ 24">
            <a:extLst>
              <a:ext uri="{FF2B5EF4-FFF2-40B4-BE49-F238E27FC236}">
                <a16:creationId xmlns:a16="http://schemas.microsoft.com/office/drawing/2014/main" id="{CD1D9D50-1FE1-44CF-8897-EC6895EEA24D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5830387" y="4562045"/>
            <a:ext cx="729344" cy="3893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4F52B480-1985-4516-BBD1-942DC2F05913}"/>
              </a:ext>
            </a:extLst>
          </p:cNvPr>
          <p:cNvCxnSpPr>
            <a:stCxn id="27" idx="1"/>
            <a:endCxn id="9" idx="0"/>
          </p:cNvCxnSpPr>
          <p:nvPr/>
        </p:nvCxnSpPr>
        <p:spPr>
          <a:xfrm rot="10800000" flipH="1">
            <a:off x="3313610" y="1597135"/>
            <a:ext cx="1258390" cy="2964911"/>
          </a:xfrm>
          <a:prstGeom prst="bentConnector4">
            <a:avLst>
              <a:gd name="adj1" fmla="val -144447"/>
              <a:gd name="adj2" fmla="val 10771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Соединитель: уступ 31">
            <a:extLst>
              <a:ext uri="{FF2B5EF4-FFF2-40B4-BE49-F238E27FC236}">
                <a16:creationId xmlns:a16="http://schemas.microsoft.com/office/drawing/2014/main" id="{D7B859DD-956B-4088-BD98-0E291FEFCEF5}"/>
              </a:ext>
            </a:extLst>
          </p:cNvPr>
          <p:cNvCxnSpPr>
            <a:stCxn id="22" idx="2"/>
            <a:endCxn id="27" idx="0"/>
          </p:cNvCxnSpPr>
          <p:nvPr/>
        </p:nvCxnSpPr>
        <p:spPr>
          <a:xfrm rot="16200000" flipH="1">
            <a:off x="3355934" y="2979129"/>
            <a:ext cx="380851" cy="20512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Соединитель: уступ 33">
            <a:extLst>
              <a:ext uri="{FF2B5EF4-FFF2-40B4-BE49-F238E27FC236}">
                <a16:creationId xmlns:a16="http://schemas.microsoft.com/office/drawing/2014/main" id="{2EDB0662-F9D5-47AF-A76B-4003D964C7F1}"/>
              </a:ext>
            </a:extLst>
          </p:cNvPr>
          <p:cNvCxnSpPr>
            <a:stCxn id="18" idx="2"/>
            <a:endCxn id="27" idx="0"/>
          </p:cNvCxnSpPr>
          <p:nvPr/>
        </p:nvCxnSpPr>
        <p:spPr>
          <a:xfrm rot="5400000">
            <a:off x="5455942" y="2930401"/>
            <a:ext cx="380851" cy="21487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D01DE220-D4F7-4AE4-9B89-313F5085874F}"/>
              </a:ext>
            </a:extLst>
          </p:cNvPr>
          <p:cNvCxnSpPr>
            <a:cxnSpLocks/>
            <a:stCxn id="28" idx="4"/>
            <a:endCxn id="6" idx="0"/>
          </p:cNvCxnSpPr>
          <p:nvPr/>
        </p:nvCxnSpPr>
        <p:spPr>
          <a:xfrm rot="5400000">
            <a:off x="5319157" y="4509056"/>
            <a:ext cx="415041" cy="20661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 Box 11">
            <a:extLst>
              <a:ext uri="{FF2B5EF4-FFF2-40B4-BE49-F238E27FC236}">
                <a16:creationId xmlns:a16="http://schemas.microsoft.com/office/drawing/2014/main" id="{B5FE09D0-A511-4CB4-89DB-4228EBF5C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185" y="2689072"/>
            <a:ext cx="521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Да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44" name="Text Box 11">
            <a:extLst>
              <a:ext uri="{FF2B5EF4-FFF2-40B4-BE49-F238E27FC236}">
                <a16:creationId xmlns:a16="http://schemas.microsoft.com/office/drawing/2014/main" id="{0E81CB91-2B69-40DB-B298-1EF89059E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762" y="4101060"/>
            <a:ext cx="521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Да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45" name="Text Box 11">
            <a:extLst>
              <a:ext uri="{FF2B5EF4-FFF2-40B4-BE49-F238E27FC236}">
                <a16:creationId xmlns:a16="http://schemas.microsoft.com/office/drawing/2014/main" id="{10A626FA-030F-4A00-81DA-2CE800BDA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659" y="4100379"/>
            <a:ext cx="631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Нет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46" name="Text Box 11">
            <a:extLst>
              <a:ext uri="{FF2B5EF4-FFF2-40B4-BE49-F238E27FC236}">
                <a16:creationId xmlns:a16="http://schemas.microsoft.com/office/drawing/2014/main" id="{47160CDD-0A1D-42E3-96A8-AB31D2A25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581" y="2680608"/>
            <a:ext cx="631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Нет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672654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11"/>
          <a:stretch>
            <a:fillRect/>
          </a:stretch>
        </p:blipFill>
        <p:spPr bwMode="auto">
          <a:xfrm>
            <a:off x="327547" y="612588"/>
            <a:ext cx="58674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1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89"/>
          <a:stretch>
            <a:fillRect/>
          </a:stretch>
        </p:blipFill>
        <p:spPr bwMode="auto">
          <a:xfrm>
            <a:off x="341195" y="1108829"/>
            <a:ext cx="625792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82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89"/>
          <a:stretch>
            <a:fillRect/>
          </a:stretch>
        </p:blipFill>
        <p:spPr bwMode="auto">
          <a:xfrm>
            <a:off x="327547" y="1600201"/>
            <a:ext cx="6257925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90" name="Picture 1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11"/>
          <a:stretch>
            <a:fillRect/>
          </a:stretch>
        </p:blipFill>
        <p:spPr bwMode="auto">
          <a:xfrm>
            <a:off x="341195" y="2028412"/>
            <a:ext cx="5919787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91" name="Picture 1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66"/>
          <a:stretch>
            <a:fillRect/>
          </a:stretch>
        </p:blipFill>
        <p:spPr bwMode="auto">
          <a:xfrm>
            <a:off x="341195" y="2488027"/>
            <a:ext cx="6646862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92" name="Picture 20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" r="58970" b="-1135"/>
          <a:stretch/>
        </p:blipFill>
        <p:spPr bwMode="auto">
          <a:xfrm>
            <a:off x="341195" y="2949575"/>
            <a:ext cx="5281683" cy="899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93" name="Picture 2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66"/>
          <a:stretch>
            <a:fillRect/>
          </a:stretch>
        </p:blipFill>
        <p:spPr bwMode="auto">
          <a:xfrm>
            <a:off x="350719" y="3812511"/>
            <a:ext cx="6637338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98" name="Picture 2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75"/>
          <a:stretch>
            <a:fillRect/>
          </a:stretch>
        </p:blipFill>
        <p:spPr bwMode="auto">
          <a:xfrm>
            <a:off x="220781" y="4525275"/>
            <a:ext cx="8281988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99" name="Picture 27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66"/>
          <a:stretch>
            <a:fillRect/>
          </a:stretch>
        </p:blipFill>
        <p:spPr bwMode="auto">
          <a:xfrm>
            <a:off x="227605" y="4971363"/>
            <a:ext cx="8358188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700" name="Picture 28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66"/>
          <a:stretch>
            <a:fillRect/>
          </a:stretch>
        </p:blipFill>
        <p:spPr bwMode="auto">
          <a:xfrm>
            <a:off x="266132" y="5443004"/>
            <a:ext cx="8358187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327547" y="69850"/>
            <a:ext cx="8557692" cy="8969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3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Уточнение корня. Метод хорд</a:t>
            </a:r>
            <a:br>
              <a:rPr lang="ru-RU" altLang="ru-RU" sz="3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</a:br>
            <a:br>
              <a:rPr lang="ru-RU" altLang="ru-RU" sz="3000" b="1" dirty="0">
                <a:solidFill>
                  <a:schemeClr val="tx1"/>
                </a:solidFill>
              </a:rPr>
            </a:br>
            <a:endParaRPr lang="ru-RU" altLang="ru-RU" sz="3000" b="1" dirty="0">
              <a:solidFill>
                <a:schemeClr val="tx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5469" y="3010919"/>
            <a:ext cx="5143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80975" y="406400"/>
            <a:ext cx="450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b="1"/>
              <a:t>1.</a:t>
            </a:r>
            <a:endParaRPr lang="ru-RU" altLang="ru-RU" b="1"/>
          </a:p>
        </p:txBody>
      </p:sp>
      <p:grpSp>
        <p:nvGrpSpPr>
          <p:cNvPr id="32774" name="Group 6"/>
          <p:cNvGrpSpPr>
            <a:grpSpLocks/>
          </p:cNvGrpSpPr>
          <p:nvPr/>
        </p:nvGrpSpPr>
        <p:grpSpPr bwMode="auto">
          <a:xfrm>
            <a:off x="684213" y="590550"/>
            <a:ext cx="3384550" cy="4248150"/>
            <a:chOff x="249" y="618"/>
            <a:chExt cx="2132" cy="2676"/>
          </a:xfrm>
        </p:grpSpPr>
        <p:sp>
          <p:nvSpPr>
            <p:cNvPr id="23608" name="Text Box 7"/>
            <p:cNvSpPr txBox="1">
              <a:spLocks noChangeArrowheads="1"/>
            </p:cNvSpPr>
            <p:nvPr/>
          </p:nvSpPr>
          <p:spPr bwMode="auto">
            <a:xfrm>
              <a:off x="612" y="2144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x</a:t>
              </a:r>
              <a:r>
                <a:rPr lang="en-US" altLang="ru-RU" sz="2400" i="1" baseline="30000"/>
                <a:t>*</a:t>
              </a:r>
              <a:endParaRPr lang="ru-RU" altLang="ru-RU" sz="2400" i="1"/>
            </a:p>
          </p:txBody>
        </p:sp>
        <p:sp>
          <p:nvSpPr>
            <p:cNvPr id="23609" name="Text Box 8"/>
            <p:cNvSpPr txBox="1">
              <a:spLocks noChangeArrowheads="1"/>
            </p:cNvSpPr>
            <p:nvPr/>
          </p:nvSpPr>
          <p:spPr bwMode="auto">
            <a:xfrm>
              <a:off x="385" y="21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a</a:t>
              </a:r>
              <a:endParaRPr lang="ru-RU" altLang="ru-RU" sz="2400" i="1"/>
            </a:p>
          </p:txBody>
        </p:sp>
        <p:sp>
          <p:nvSpPr>
            <p:cNvPr id="23610" name="Text Box 9"/>
            <p:cNvSpPr txBox="1">
              <a:spLocks noChangeArrowheads="1"/>
            </p:cNvSpPr>
            <p:nvPr/>
          </p:nvSpPr>
          <p:spPr bwMode="auto">
            <a:xfrm>
              <a:off x="2018" y="191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b</a:t>
              </a:r>
              <a:endParaRPr lang="ru-RU" altLang="ru-RU" sz="2400" i="1"/>
            </a:p>
          </p:txBody>
        </p:sp>
        <p:sp>
          <p:nvSpPr>
            <p:cNvPr id="23611" name="Line 10"/>
            <p:cNvSpPr>
              <a:spLocks noChangeShapeType="1"/>
            </p:cNvSpPr>
            <p:nvPr/>
          </p:nvSpPr>
          <p:spPr bwMode="auto">
            <a:xfrm>
              <a:off x="385" y="618"/>
              <a:ext cx="0" cy="26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612" name="Line 11"/>
            <p:cNvSpPr>
              <a:spLocks noChangeShapeType="1"/>
            </p:cNvSpPr>
            <p:nvPr/>
          </p:nvSpPr>
          <p:spPr bwMode="auto">
            <a:xfrm>
              <a:off x="249" y="2160"/>
              <a:ext cx="21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613" name="Freeform 12"/>
            <p:cNvSpPr>
              <a:spLocks/>
            </p:cNvSpPr>
            <p:nvPr/>
          </p:nvSpPr>
          <p:spPr bwMode="auto">
            <a:xfrm>
              <a:off x="612" y="754"/>
              <a:ext cx="1586" cy="2470"/>
            </a:xfrm>
            <a:custGeom>
              <a:avLst/>
              <a:gdLst>
                <a:gd name="T0" fmla="*/ 0 w 1586"/>
                <a:gd name="T1" fmla="*/ 0 h 2470"/>
                <a:gd name="T2" fmla="*/ 225 w 1586"/>
                <a:gd name="T3" fmla="*/ 1403 h 2470"/>
                <a:gd name="T4" fmla="*/ 512 w 1586"/>
                <a:gd name="T5" fmla="*/ 2056 h 2470"/>
                <a:gd name="T6" fmla="*/ 904 w 1586"/>
                <a:gd name="T7" fmla="*/ 2360 h 2470"/>
                <a:gd name="T8" fmla="*/ 1586 w 1586"/>
                <a:gd name="T9" fmla="*/ 2470 h 24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6" h="2470">
                  <a:moveTo>
                    <a:pt x="0" y="0"/>
                  </a:moveTo>
                  <a:cubicBezTo>
                    <a:pt x="37" y="234"/>
                    <a:pt x="140" y="1060"/>
                    <a:pt x="225" y="1403"/>
                  </a:cubicBezTo>
                  <a:cubicBezTo>
                    <a:pt x="310" y="1746"/>
                    <a:pt x="399" y="1897"/>
                    <a:pt x="512" y="2056"/>
                  </a:cubicBezTo>
                  <a:cubicBezTo>
                    <a:pt x="625" y="2215"/>
                    <a:pt x="725" y="2291"/>
                    <a:pt x="904" y="2360"/>
                  </a:cubicBezTo>
                  <a:cubicBezTo>
                    <a:pt x="1083" y="2429"/>
                    <a:pt x="1444" y="2447"/>
                    <a:pt x="1586" y="24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614" name="Line 13"/>
            <p:cNvSpPr>
              <a:spLocks noChangeShapeType="1"/>
            </p:cNvSpPr>
            <p:nvPr/>
          </p:nvSpPr>
          <p:spPr bwMode="auto">
            <a:xfrm flipV="1">
              <a:off x="612" y="754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615" name="Line 14"/>
            <p:cNvSpPr>
              <a:spLocks noChangeShapeType="1"/>
            </p:cNvSpPr>
            <p:nvPr/>
          </p:nvSpPr>
          <p:spPr bwMode="auto">
            <a:xfrm flipV="1">
              <a:off x="2200" y="2160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616" name="Line 15"/>
            <p:cNvSpPr>
              <a:spLocks noChangeShapeType="1"/>
            </p:cNvSpPr>
            <p:nvPr/>
          </p:nvSpPr>
          <p:spPr bwMode="auto">
            <a:xfrm>
              <a:off x="612" y="216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2784" name="Line 16"/>
          <p:cNvSpPr>
            <a:spLocks noChangeShapeType="1"/>
          </p:cNvSpPr>
          <p:nvPr/>
        </p:nvSpPr>
        <p:spPr bwMode="auto">
          <a:xfrm>
            <a:off x="1260475" y="806450"/>
            <a:ext cx="2520950" cy="3887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32785" name="Group 17"/>
          <p:cNvGrpSpPr>
            <a:grpSpLocks/>
          </p:cNvGrpSpPr>
          <p:nvPr/>
        </p:nvGrpSpPr>
        <p:grpSpPr bwMode="auto">
          <a:xfrm>
            <a:off x="1260475" y="2606675"/>
            <a:ext cx="1789113" cy="457200"/>
            <a:chOff x="612" y="1888"/>
            <a:chExt cx="1127" cy="288"/>
          </a:xfrm>
        </p:grpSpPr>
        <p:sp>
          <p:nvSpPr>
            <p:cNvPr id="23606" name="Line 18"/>
            <p:cNvSpPr>
              <a:spLocks noChangeShapeType="1"/>
            </p:cNvSpPr>
            <p:nvPr/>
          </p:nvSpPr>
          <p:spPr bwMode="auto">
            <a:xfrm>
              <a:off x="612" y="2160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607" name="Text Box 19"/>
            <p:cNvSpPr txBox="1">
              <a:spLocks noChangeArrowheads="1"/>
            </p:cNvSpPr>
            <p:nvPr/>
          </p:nvSpPr>
          <p:spPr bwMode="auto">
            <a:xfrm>
              <a:off x="1474" y="1888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x</a:t>
              </a:r>
              <a:r>
                <a:rPr lang="en-US" altLang="ru-RU" sz="2400" baseline="-25000"/>
                <a:t>1</a:t>
              </a:r>
              <a:endParaRPr lang="ru-RU" altLang="ru-RU" sz="2400"/>
            </a:p>
          </p:txBody>
        </p:sp>
      </p:grpSp>
      <p:grpSp>
        <p:nvGrpSpPr>
          <p:cNvPr id="32788" name="Group 20"/>
          <p:cNvGrpSpPr>
            <a:grpSpLocks/>
          </p:cNvGrpSpPr>
          <p:nvPr/>
        </p:nvGrpSpPr>
        <p:grpSpPr bwMode="auto">
          <a:xfrm>
            <a:off x="1357313" y="493713"/>
            <a:ext cx="3143250" cy="4441825"/>
            <a:chOff x="673" y="557"/>
            <a:chExt cx="1980" cy="2798"/>
          </a:xfrm>
        </p:grpSpPr>
        <p:sp>
          <p:nvSpPr>
            <p:cNvPr id="23603" name="Text Box 21"/>
            <p:cNvSpPr txBox="1">
              <a:spLocks noChangeArrowheads="1"/>
            </p:cNvSpPr>
            <p:nvPr/>
          </p:nvSpPr>
          <p:spPr bwMode="auto">
            <a:xfrm>
              <a:off x="2154" y="1917"/>
              <a:ext cx="3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/>
                <a:t>=</a:t>
              </a:r>
              <a:r>
                <a:rPr lang="en-US" altLang="ru-RU" sz="2400"/>
                <a:t> </a:t>
              </a:r>
              <a:r>
                <a:rPr lang="en-US" altLang="ru-RU" sz="2400" i="1"/>
                <a:t>x</a:t>
              </a:r>
              <a:r>
                <a:rPr lang="en-US" altLang="ru-RU" sz="2400" baseline="-25000"/>
                <a:t>0</a:t>
              </a:r>
              <a:endParaRPr lang="ru-RU" altLang="ru-RU" sz="2400"/>
            </a:p>
          </p:txBody>
        </p:sp>
        <p:sp>
          <p:nvSpPr>
            <p:cNvPr id="23604" name="Text Box 22"/>
            <p:cNvSpPr txBox="1">
              <a:spLocks noChangeArrowheads="1"/>
            </p:cNvSpPr>
            <p:nvPr/>
          </p:nvSpPr>
          <p:spPr bwMode="auto">
            <a:xfrm>
              <a:off x="673" y="557"/>
              <a:ext cx="3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f</a:t>
              </a:r>
              <a:r>
                <a:rPr lang="en-US" altLang="ru-RU" sz="2400"/>
                <a:t>(</a:t>
              </a:r>
              <a:r>
                <a:rPr lang="en-US" altLang="ru-RU" sz="2400" i="1"/>
                <a:t>a</a:t>
              </a:r>
              <a:r>
                <a:rPr lang="en-US" altLang="ru-RU" sz="2400"/>
                <a:t>)</a:t>
              </a:r>
              <a:endParaRPr lang="ru-RU" altLang="ru-RU" sz="2400" i="1"/>
            </a:p>
          </p:txBody>
        </p:sp>
        <p:sp>
          <p:nvSpPr>
            <p:cNvPr id="23605" name="Text Box 23"/>
            <p:cNvSpPr txBox="1">
              <a:spLocks noChangeArrowheads="1"/>
            </p:cNvSpPr>
            <p:nvPr/>
          </p:nvSpPr>
          <p:spPr bwMode="auto">
            <a:xfrm>
              <a:off x="2207" y="3067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f</a:t>
              </a:r>
              <a:r>
                <a:rPr lang="en-US" altLang="ru-RU" sz="2400"/>
                <a:t>(</a:t>
              </a:r>
              <a:r>
                <a:rPr lang="en-US" altLang="ru-RU" sz="2400" i="1"/>
                <a:t>x</a:t>
              </a:r>
              <a:r>
                <a:rPr lang="en-US" altLang="ru-RU" sz="2400" baseline="-25000"/>
                <a:t>0</a:t>
              </a:r>
              <a:r>
                <a:rPr lang="en-US" altLang="ru-RU" sz="2400"/>
                <a:t>)</a:t>
              </a:r>
              <a:endParaRPr lang="ru-RU" altLang="ru-RU" sz="2400" i="1"/>
            </a:p>
          </p:txBody>
        </p:sp>
      </p:grpSp>
      <p:grpSp>
        <p:nvGrpSpPr>
          <p:cNvPr id="32792" name="Group 24"/>
          <p:cNvGrpSpPr>
            <a:grpSpLocks/>
          </p:cNvGrpSpPr>
          <p:nvPr/>
        </p:nvGrpSpPr>
        <p:grpSpPr bwMode="auto">
          <a:xfrm>
            <a:off x="2065338" y="3038475"/>
            <a:ext cx="708025" cy="1871663"/>
            <a:chOff x="1119" y="2160"/>
            <a:chExt cx="446" cy="1179"/>
          </a:xfrm>
        </p:grpSpPr>
        <p:sp>
          <p:nvSpPr>
            <p:cNvPr id="23601" name="Line 25"/>
            <p:cNvSpPr>
              <a:spLocks noChangeShapeType="1"/>
            </p:cNvSpPr>
            <p:nvPr/>
          </p:nvSpPr>
          <p:spPr bwMode="auto">
            <a:xfrm>
              <a:off x="1519" y="2160"/>
              <a:ext cx="0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602" name="Text Box 26"/>
            <p:cNvSpPr txBox="1">
              <a:spLocks noChangeArrowheads="1"/>
            </p:cNvSpPr>
            <p:nvPr/>
          </p:nvSpPr>
          <p:spPr bwMode="auto">
            <a:xfrm>
              <a:off x="1119" y="3051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f</a:t>
              </a:r>
              <a:r>
                <a:rPr lang="en-US" altLang="ru-RU" sz="2400"/>
                <a:t>(</a:t>
              </a:r>
              <a:r>
                <a:rPr lang="en-US" altLang="ru-RU" sz="2400" i="1"/>
                <a:t>x</a:t>
              </a:r>
              <a:r>
                <a:rPr lang="en-US" altLang="ru-RU" sz="2400" baseline="-25000"/>
                <a:t>1</a:t>
              </a:r>
              <a:r>
                <a:rPr lang="en-US" altLang="ru-RU" sz="2400"/>
                <a:t>)</a:t>
              </a:r>
              <a:endParaRPr lang="ru-RU" altLang="ru-RU" sz="2400"/>
            </a:p>
          </p:txBody>
        </p:sp>
      </p:grpSp>
      <p:grpSp>
        <p:nvGrpSpPr>
          <p:cNvPr id="32795" name="Group 27"/>
          <p:cNvGrpSpPr>
            <a:grpSpLocks/>
          </p:cNvGrpSpPr>
          <p:nvPr/>
        </p:nvGrpSpPr>
        <p:grpSpPr bwMode="auto">
          <a:xfrm>
            <a:off x="1260475" y="806450"/>
            <a:ext cx="1439863" cy="3744913"/>
            <a:chOff x="612" y="754"/>
            <a:chExt cx="907" cy="2359"/>
          </a:xfrm>
        </p:grpSpPr>
        <p:sp>
          <p:nvSpPr>
            <p:cNvPr id="23599" name="Line 28"/>
            <p:cNvSpPr>
              <a:spLocks noChangeShapeType="1"/>
            </p:cNvSpPr>
            <p:nvPr/>
          </p:nvSpPr>
          <p:spPr bwMode="auto">
            <a:xfrm>
              <a:off x="612" y="754"/>
              <a:ext cx="907" cy="23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600" name="Line 29"/>
            <p:cNvSpPr>
              <a:spLocks noChangeShapeType="1"/>
            </p:cNvSpPr>
            <p:nvPr/>
          </p:nvSpPr>
          <p:spPr bwMode="auto">
            <a:xfrm>
              <a:off x="839" y="216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2798" name="Text Box 30"/>
          <p:cNvSpPr txBox="1">
            <a:spLocks noChangeArrowheads="1"/>
          </p:cNvSpPr>
          <p:nvPr/>
        </p:nvSpPr>
        <p:spPr bwMode="auto">
          <a:xfrm>
            <a:off x="2052638" y="2606675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2400" i="1"/>
              <a:t>x</a:t>
            </a:r>
            <a:r>
              <a:rPr lang="en-US" altLang="ru-RU" sz="2400" baseline="-25000"/>
              <a:t>2</a:t>
            </a:r>
            <a:endParaRPr lang="ru-RU" altLang="ru-RU" sz="2400" i="1"/>
          </a:p>
        </p:txBody>
      </p:sp>
      <p:sp>
        <p:nvSpPr>
          <p:cNvPr id="32799" name="Text Box 31"/>
          <p:cNvSpPr txBox="1">
            <a:spLocks noChangeArrowheads="1"/>
          </p:cNvSpPr>
          <p:nvPr/>
        </p:nvSpPr>
        <p:spPr bwMode="auto">
          <a:xfrm>
            <a:off x="1765300" y="2606675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2400" i="1"/>
              <a:t>x</a:t>
            </a:r>
            <a:r>
              <a:rPr lang="en-US" altLang="ru-RU" sz="2400" baseline="-25000"/>
              <a:t>3</a:t>
            </a:r>
            <a:endParaRPr lang="ru-RU" altLang="ru-RU" sz="2400" i="1"/>
          </a:p>
        </p:txBody>
      </p:sp>
      <p:sp>
        <p:nvSpPr>
          <p:cNvPr id="32800" name="Line 32"/>
          <p:cNvSpPr>
            <a:spLocks noChangeShapeType="1"/>
          </p:cNvSpPr>
          <p:nvPr/>
        </p:nvSpPr>
        <p:spPr bwMode="auto">
          <a:xfrm>
            <a:off x="2124075" y="3038475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32801" name="Group 33"/>
          <p:cNvGrpSpPr>
            <a:grpSpLocks/>
          </p:cNvGrpSpPr>
          <p:nvPr/>
        </p:nvGrpSpPr>
        <p:grpSpPr bwMode="auto">
          <a:xfrm>
            <a:off x="1260475" y="806450"/>
            <a:ext cx="863600" cy="3311525"/>
            <a:chOff x="612" y="754"/>
            <a:chExt cx="544" cy="2086"/>
          </a:xfrm>
        </p:grpSpPr>
        <p:sp>
          <p:nvSpPr>
            <p:cNvPr id="23597" name="Line 34"/>
            <p:cNvSpPr>
              <a:spLocks noChangeShapeType="1"/>
            </p:cNvSpPr>
            <p:nvPr/>
          </p:nvSpPr>
          <p:spPr bwMode="auto">
            <a:xfrm>
              <a:off x="612" y="754"/>
              <a:ext cx="544" cy="20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98" name="Line 35"/>
            <p:cNvSpPr>
              <a:spLocks noChangeShapeType="1"/>
            </p:cNvSpPr>
            <p:nvPr/>
          </p:nvSpPr>
          <p:spPr bwMode="auto">
            <a:xfrm>
              <a:off x="839" y="21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32804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97"/>
          <a:stretch>
            <a:fillRect/>
          </a:stretch>
        </p:blipFill>
        <p:spPr bwMode="auto">
          <a:xfrm>
            <a:off x="395288" y="5284788"/>
            <a:ext cx="781526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25438" y="5862638"/>
            <a:ext cx="2878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 1: 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4862513" y="5862638"/>
            <a:ext cx="2878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 2: 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07" name="Text Box 39"/>
          <p:cNvSpPr txBox="1">
            <a:spLocks noChangeArrowheads="1"/>
          </p:cNvSpPr>
          <p:nvPr/>
        </p:nvSpPr>
        <p:spPr bwMode="auto">
          <a:xfrm>
            <a:off x="4427538" y="406400"/>
            <a:ext cx="450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b="1"/>
              <a:t>2.</a:t>
            </a:r>
          </a:p>
        </p:txBody>
      </p:sp>
      <p:grpSp>
        <p:nvGrpSpPr>
          <p:cNvPr id="32808" name="Group 40"/>
          <p:cNvGrpSpPr>
            <a:grpSpLocks/>
          </p:cNvGrpSpPr>
          <p:nvPr/>
        </p:nvGrpSpPr>
        <p:grpSpPr bwMode="auto">
          <a:xfrm>
            <a:off x="5075238" y="549275"/>
            <a:ext cx="3671887" cy="4248150"/>
            <a:chOff x="703" y="663"/>
            <a:chExt cx="2313" cy="2676"/>
          </a:xfrm>
        </p:grpSpPr>
        <p:sp>
          <p:nvSpPr>
            <p:cNvPr id="23588" name="Text Box 41"/>
            <p:cNvSpPr txBox="1">
              <a:spLocks noChangeArrowheads="1"/>
            </p:cNvSpPr>
            <p:nvPr/>
          </p:nvSpPr>
          <p:spPr bwMode="auto">
            <a:xfrm flipH="1">
              <a:off x="2336" y="2160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x</a:t>
              </a:r>
              <a:r>
                <a:rPr lang="en-US" altLang="ru-RU" sz="2400" i="1" baseline="30000"/>
                <a:t>*</a:t>
              </a:r>
              <a:endParaRPr lang="ru-RU" altLang="ru-RU" sz="2400" i="1"/>
            </a:p>
          </p:txBody>
        </p:sp>
        <p:sp>
          <p:nvSpPr>
            <p:cNvPr id="23589" name="Text Box 42"/>
            <p:cNvSpPr txBox="1">
              <a:spLocks noChangeArrowheads="1"/>
            </p:cNvSpPr>
            <p:nvPr/>
          </p:nvSpPr>
          <p:spPr bwMode="auto">
            <a:xfrm flipH="1">
              <a:off x="884" y="18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a</a:t>
              </a:r>
              <a:endParaRPr lang="ru-RU" altLang="ru-RU" sz="2400" i="1"/>
            </a:p>
          </p:txBody>
        </p:sp>
        <p:sp>
          <p:nvSpPr>
            <p:cNvPr id="23590" name="Text Box 43"/>
            <p:cNvSpPr txBox="1">
              <a:spLocks noChangeArrowheads="1"/>
            </p:cNvSpPr>
            <p:nvPr/>
          </p:nvSpPr>
          <p:spPr bwMode="auto">
            <a:xfrm flipH="1">
              <a:off x="2562" y="21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b</a:t>
              </a:r>
              <a:endParaRPr lang="ru-RU" altLang="ru-RU" sz="2400" i="1"/>
            </a:p>
          </p:txBody>
        </p:sp>
        <p:sp>
          <p:nvSpPr>
            <p:cNvPr id="23591" name="Line 44"/>
            <p:cNvSpPr>
              <a:spLocks noChangeShapeType="1"/>
            </p:cNvSpPr>
            <p:nvPr/>
          </p:nvSpPr>
          <p:spPr bwMode="auto">
            <a:xfrm flipH="1">
              <a:off x="884" y="663"/>
              <a:ext cx="0" cy="26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92" name="Line 45"/>
            <p:cNvSpPr>
              <a:spLocks noChangeShapeType="1"/>
            </p:cNvSpPr>
            <p:nvPr/>
          </p:nvSpPr>
          <p:spPr bwMode="auto">
            <a:xfrm>
              <a:off x="703" y="2160"/>
              <a:ext cx="2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93" name="Freeform 46"/>
            <p:cNvSpPr>
              <a:spLocks/>
            </p:cNvSpPr>
            <p:nvPr/>
          </p:nvSpPr>
          <p:spPr bwMode="auto">
            <a:xfrm flipH="1">
              <a:off x="1055" y="754"/>
              <a:ext cx="1553" cy="2470"/>
            </a:xfrm>
            <a:custGeom>
              <a:avLst/>
              <a:gdLst>
                <a:gd name="T0" fmla="*/ 0 w 1586"/>
                <a:gd name="T1" fmla="*/ 0 h 2470"/>
                <a:gd name="T2" fmla="*/ 220 w 1586"/>
                <a:gd name="T3" fmla="*/ 1403 h 2470"/>
                <a:gd name="T4" fmla="*/ 501 w 1586"/>
                <a:gd name="T5" fmla="*/ 2056 h 2470"/>
                <a:gd name="T6" fmla="*/ 885 w 1586"/>
                <a:gd name="T7" fmla="*/ 2360 h 2470"/>
                <a:gd name="T8" fmla="*/ 1553 w 1586"/>
                <a:gd name="T9" fmla="*/ 2470 h 24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6" h="2470">
                  <a:moveTo>
                    <a:pt x="0" y="0"/>
                  </a:moveTo>
                  <a:cubicBezTo>
                    <a:pt x="37" y="234"/>
                    <a:pt x="140" y="1060"/>
                    <a:pt x="225" y="1403"/>
                  </a:cubicBezTo>
                  <a:cubicBezTo>
                    <a:pt x="310" y="1746"/>
                    <a:pt x="399" y="1897"/>
                    <a:pt x="512" y="2056"/>
                  </a:cubicBezTo>
                  <a:cubicBezTo>
                    <a:pt x="625" y="2215"/>
                    <a:pt x="725" y="2291"/>
                    <a:pt x="904" y="2360"/>
                  </a:cubicBezTo>
                  <a:cubicBezTo>
                    <a:pt x="1083" y="2429"/>
                    <a:pt x="1444" y="2447"/>
                    <a:pt x="1586" y="24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94" name="Line 47"/>
            <p:cNvSpPr>
              <a:spLocks noChangeShapeType="1"/>
            </p:cNvSpPr>
            <p:nvPr/>
          </p:nvSpPr>
          <p:spPr bwMode="auto">
            <a:xfrm flipH="1" flipV="1">
              <a:off x="2608" y="754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95" name="Line 48"/>
            <p:cNvSpPr>
              <a:spLocks noChangeShapeType="1"/>
            </p:cNvSpPr>
            <p:nvPr/>
          </p:nvSpPr>
          <p:spPr bwMode="auto">
            <a:xfrm flipH="1" flipV="1">
              <a:off x="1066" y="2160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96" name="Line 49"/>
            <p:cNvSpPr>
              <a:spLocks noChangeShapeType="1"/>
            </p:cNvSpPr>
            <p:nvPr/>
          </p:nvSpPr>
          <p:spPr bwMode="auto">
            <a:xfrm flipH="1">
              <a:off x="2381" y="2160"/>
              <a:ext cx="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2818" name="Group 50"/>
          <p:cNvGrpSpPr>
            <a:grpSpLocks/>
          </p:cNvGrpSpPr>
          <p:nvPr/>
        </p:nvGrpSpPr>
        <p:grpSpPr bwMode="auto">
          <a:xfrm>
            <a:off x="5632450" y="693738"/>
            <a:ext cx="2466975" cy="3887787"/>
            <a:chOff x="1054" y="754"/>
            <a:chExt cx="1554" cy="2449"/>
          </a:xfrm>
        </p:grpSpPr>
        <p:sp>
          <p:nvSpPr>
            <p:cNvPr id="23586" name="Line 51"/>
            <p:cNvSpPr>
              <a:spLocks noChangeShapeType="1"/>
            </p:cNvSpPr>
            <p:nvPr/>
          </p:nvSpPr>
          <p:spPr bwMode="auto">
            <a:xfrm flipH="1">
              <a:off x="1054" y="754"/>
              <a:ext cx="1554" cy="2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87" name="Line 52"/>
            <p:cNvSpPr>
              <a:spLocks noChangeShapeType="1"/>
            </p:cNvSpPr>
            <p:nvPr/>
          </p:nvSpPr>
          <p:spPr bwMode="auto">
            <a:xfrm flipH="1">
              <a:off x="1720" y="2160"/>
              <a:ext cx="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2821" name="Text Box 53"/>
          <p:cNvSpPr txBox="1">
            <a:spLocks noChangeArrowheads="1"/>
          </p:cNvSpPr>
          <p:nvPr/>
        </p:nvSpPr>
        <p:spPr bwMode="auto">
          <a:xfrm flipH="1">
            <a:off x="6299200" y="2493963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2400" i="1"/>
              <a:t>x</a:t>
            </a:r>
            <a:r>
              <a:rPr lang="en-US" altLang="ru-RU" sz="2400" baseline="-25000"/>
              <a:t>1</a:t>
            </a:r>
            <a:endParaRPr lang="ru-RU" altLang="ru-RU" sz="2400"/>
          </a:p>
        </p:txBody>
      </p:sp>
      <p:grpSp>
        <p:nvGrpSpPr>
          <p:cNvPr id="32822" name="Group 54"/>
          <p:cNvGrpSpPr>
            <a:grpSpLocks/>
          </p:cNvGrpSpPr>
          <p:nvPr/>
        </p:nvGrpSpPr>
        <p:grpSpPr bwMode="auto">
          <a:xfrm>
            <a:off x="5362575" y="477838"/>
            <a:ext cx="3360738" cy="4535487"/>
            <a:chOff x="884" y="618"/>
            <a:chExt cx="2117" cy="2857"/>
          </a:xfrm>
        </p:grpSpPr>
        <p:sp>
          <p:nvSpPr>
            <p:cNvPr id="23583" name="Text Box 55"/>
            <p:cNvSpPr txBox="1">
              <a:spLocks noChangeArrowheads="1"/>
            </p:cNvSpPr>
            <p:nvPr/>
          </p:nvSpPr>
          <p:spPr bwMode="auto">
            <a:xfrm flipH="1">
              <a:off x="1020" y="1888"/>
              <a:ext cx="3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/>
                <a:t>=</a:t>
              </a:r>
              <a:r>
                <a:rPr lang="en-US" altLang="ru-RU" sz="2400"/>
                <a:t> </a:t>
              </a:r>
              <a:r>
                <a:rPr lang="en-US" altLang="ru-RU" sz="2400" i="1"/>
                <a:t>x</a:t>
              </a:r>
              <a:r>
                <a:rPr lang="en-US" altLang="ru-RU" sz="2400" baseline="-25000"/>
                <a:t>0</a:t>
              </a:r>
              <a:endParaRPr lang="ru-RU" altLang="ru-RU" sz="2400"/>
            </a:p>
          </p:txBody>
        </p:sp>
        <p:sp>
          <p:nvSpPr>
            <p:cNvPr id="23584" name="Text Box 56"/>
            <p:cNvSpPr txBox="1">
              <a:spLocks noChangeArrowheads="1"/>
            </p:cNvSpPr>
            <p:nvPr/>
          </p:nvSpPr>
          <p:spPr bwMode="auto">
            <a:xfrm flipH="1">
              <a:off x="2608" y="618"/>
              <a:ext cx="3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f</a:t>
              </a:r>
              <a:r>
                <a:rPr lang="en-US" altLang="ru-RU" sz="2400"/>
                <a:t>(</a:t>
              </a:r>
              <a:r>
                <a:rPr lang="en-US" altLang="ru-RU" sz="2400" i="1"/>
                <a:t>b</a:t>
              </a:r>
              <a:r>
                <a:rPr lang="en-US" altLang="ru-RU" sz="2400"/>
                <a:t>)</a:t>
              </a:r>
              <a:endParaRPr lang="ru-RU" altLang="ru-RU" sz="2400" i="1"/>
            </a:p>
          </p:txBody>
        </p:sp>
        <p:sp>
          <p:nvSpPr>
            <p:cNvPr id="23585" name="Text Box 57"/>
            <p:cNvSpPr txBox="1">
              <a:spLocks noChangeArrowheads="1"/>
            </p:cNvSpPr>
            <p:nvPr/>
          </p:nvSpPr>
          <p:spPr bwMode="auto">
            <a:xfrm flipH="1">
              <a:off x="884" y="3187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f</a:t>
              </a:r>
              <a:r>
                <a:rPr lang="en-US" altLang="ru-RU" sz="2400"/>
                <a:t>(</a:t>
              </a:r>
              <a:r>
                <a:rPr lang="en-US" altLang="ru-RU" sz="2400" i="1"/>
                <a:t>x</a:t>
              </a:r>
              <a:r>
                <a:rPr lang="en-US" altLang="ru-RU" sz="2400" baseline="-25000"/>
                <a:t>0</a:t>
              </a:r>
              <a:r>
                <a:rPr lang="en-US" altLang="ru-RU" sz="2400"/>
                <a:t>)</a:t>
              </a:r>
              <a:endParaRPr lang="ru-RU" altLang="ru-RU" sz="2400" i="1"/>
            </a:p>
          </p:txBody>
        </p:sp>
      </p:grpSp>
      <p:sp>
        <p:nvSpPr>
          <p:cNvPr id="32826" name="Line 58"/>
          <p:cNvSpPr>
            <a:spLocks noChangeShapeType="1"/>
          </p:cNvSpPr>
          <p:nvPr/>
        </p:nvSpPr>
        <p:spPr bwMode="auto">
          <a:xfrm flipH="1">
            <a:off x="6659563" y="2925763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32827" name="Group 59"/>
          <p:cNvGrpSpPr>
            <a:grpSpLocks/>
          </p:cNvGrpSpPr>
          <p:nvPr/>
        </p:nvGrpSpPr>
        <p:grpSpPr bwMode="auto">
          <a:xfrm>
            <a:off x="6659563" y="693738"/>
            <a:ext cx="1439862" cy="3744912"/>
            <a:chOff x="1701" y="754"/>
            <a:chExt cx="907" cy="2359"/>
          </a:xfrm>
        </p:grpSpPr>
        <p:sp>
          <p:nvSpPr>
            <p:cNvPr id="23581" name="Line 60"/>
            <p:cNvSpPr>
              <a:spLocks noChangeShapeType="1"/>
            </p:cNvSpPr>
            <p:nvPr/>
          </p:nvSpPr>
          <p:spPr bwMode="auto">
            <a:xfrm flipH="1">
              <a:off x="1701" y="754"/>
              <a:ext cx="907" cy="23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82" name="Line 61"/>
            <p:cNvSpPr>
              <a:spLocks noChangeShapeType="1"/>
            </p:cNvSpPr>
            <p:nvPr/>
          </p:nvSpPr>
          <p:spPr bwMode="auto">
            <a:xfrm flipH="1">
              <a:off x="2064" y="2160"/>
              <a:ext cx="3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2830" name="Text Box 62"/>
          <p:cNvSpPr txBox="1">
            <a:spLocks noChangeArrowheads="1"/>
          </p:cNvSpPr>
          <p:nvPr/>
        </p:nvSpPr>
        <p:spPr bwMode="auto">
          <a:xfrm flipH="1">
            <a:off x="6875463" y="2493963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2400" i="1"/>
              <a:t>x</a:t>
            </a:r>
            <a:r>
              <a:rPr lang="en-US" altLang="ru-RU" sz="2400" baseline="-25000"/>
              <a:t>2</a:t>
            </a:r>
            <a:endParaRPr lang="ru-RU" altLang="ru-RU" sz="2400" i="1"/>
          </a:p>
        </p:txBody>
      </p:sp>
      <p:sp>
        <p:nvSpPr>
          <p:cNvPr id="32831" name="Text Box 63"/>
          <p:cNvSpPr txBox="1">
            <a:spLocks noChangeArrowheads="1"/>
          </p:cNvSpPr>
          <p:nvPr/>
        </p:nvSpPr>
        <p:spPr bwMode="auto">
          <a:xfrm flipH="1">
            <a:off x="7235825" y="2493963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2400" i="1"/>
              <a:t>x</a:t>
            </a:r>
            <a:r>
              <a:rPr lang="en-US" altLang="ru-RU" sz="2400" baseline="-25000"/>
              <a:t>3</a:t>
            </a:r>
            <a:endParaRPr lang="ru-RU" altLang="ru-RU" sz="2400" i="1"/>
          </a:p>
        </p:txBody>
      </p:sp>
      <p:sp>
        <p:nvSpPr>
          <p:cNvPr id="32832" name="Line 64"/>
          <p:cNvSpPr>
            <a:spLocks noChangeShapeType="1"/>
          </p:cNvSpPr>
          <p:nvPr/>
        </p:nvSpPr>
        <p:spPr bwMode="auto">
          <a:xfrm flipH="1">
            <a:off x="7235825" y="2925763"/>
            <a:ext cx="1588" cy="1152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32833" name="Group 65"/>
          <p:cNvGrpSpPr>
            <a:grpSpLocks/>
          </p:cNvGrpSpPr>
          <p:nvPr/>
        </p:nvGrpSpPr>
        <p:grpSpPr bwMode="auto">
          <a:xfrm>
            <a:off x="7235825" y="765175"/>
            <a:ext cx="846138" cy="3311525"/>
            <a:chOff x="2064" y="799"/>
            <a:chExt cx="533" cy="2086"/>
          </a:xfrm>
        </p:grpSpPr>
        <p:sp>
          <p:nvSpPr>
            <p:cNvPr id="23579" name="Line 66"/>
            <p:cNvSpPr>
              <a:spLocks noChangeShapeType="1"/>
            </p:cNvSpPr>
            <p:nvPr/>
          </p:nvSpPr>
          <p:spPr bwMode="auto">
            <a:xfrm flipH="1">
              <a:off x="2064" y="799"/>
              <a:ext cx="533" cy="20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3580" name="Line 67"/>
            <p:cNvSpPr>
              <a:spLocks noChangeShapeType="1"/>
            </p:cNvSpPr>
            <p:nvPr/>
          </p:nvSpPr>
          <p:spPr bwMode="auto">
            <a:xfrm flipH="1">
              <a:off x="2245" y="2160"/>
              <a:ext cx="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07574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8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1000"/>
                                        <p:tgtEl>
                                          <p:spTgt spid="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3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3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3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3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3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4" dur="500"/>
                                        <p:tgtEl>
                                          <p:spTgt spid="3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3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/>
      <p:bldP spid="32798" grpId="0"/>
      <p:bldP spid="32799" grpId="0"/>
      <p:bldP spid="2" grpId="0"/>
      <p:bldP spid="3" grpId="0"/>
      <p:bldP spid="32807" grpId="0"/>
      <p:bldP spid="32821" grpId="0"/>
      <p:bldP spid="32830" grpId="0"/>
      <p:bldP spid="328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11" name="Group 15"/>
          <p:cNvGrpSpPr>
            <a:grpSpLocks/>
          </p:cNvGrpSpPr>
          <p:nvPr/>
        </p:nvGrpSpPr>
        <p:grpSpPr bwMode="auto">
          <a:xfrm>
            <a:off x="107950" y="163513"/>
            <a:ext cx="3384550" cy="4248150"/>
            <a:chOff x="249" y="618"/>
            <a:chExt cx="2132" cy="2676"/>
          </a:xfrm>
        </p:grpSpPr>
        <p:sp>
          <p:nvSpPr>
            <p:cNvPr id="24618" name="Text Box 12"/>
            <p:cNvSpPr txBox="1">
              <a:spLocks noChangeArrowheads="1"/>
            </p:cNvSpPr>
            <p:nvPr/>
          </p:nvSpPr>
          <p:spPr bwMode="auto">
            <a:xfrm>
              <a:off x="612" y="2144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x</a:t>
              </a:r>
              <a:r>
                <a:rPr lang="en-US" altLang="ru-RU" sz="2400" i="1" baseline="30000"/>
                <a:t>*</a:t>
              </a:r>
              <a:endParaRPr lang="ru-RU" altLang="ru-RU" sz="2400" i="1"/>
            </a:p>
          </p:txBody>
        </p:sp>
        <p:sp>
          <p:nvSpPr>
            <p:cNvPr id="24619" name="Text Box 10"/>
            <p:cNvSpPr txBox="1">
              <a:spLocks noChangeArrowheads="1"/>
            </p:cNvSpPr>
            <p:nvPr/>
          </p:nvSpPr>
          <p:spPr bwMode="auto">
            <a:xfrm>
              <a:off x="385" y="21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a</a:t>
              </a:r>
              <a:endParaRPr lang="ru-RU" altLang="ru-RU" sz="2400" i="1"/>
            </a:p>
          </p:txBody>
        </p:sp>
        <p:sp>
          <p:nvSpPr>
            <p:cNvPr id="24620" name="Text Box 11"/>
            <p:cNvSpPr txBox="1">
              <a:spLocks noChangeArrowheads="1"/>
            </p:cNvSpPr>
            <p:nvPr/>
          </p:nvSpPr>
          <p:spPr bwMode="auto">
            <a:xfrm>
              <a:off x="2018" y="191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b</a:t>
              </a:r>
              <a:endParaRPr lang="ru-RU" altLang="ru-RU" sz="2400" i="1"/>
            </a:p>
          </p:txBody>
        </p:sp>
        <p:sp>
          <p:nvSpPr>
            <p:cNvPr id="24621" name="Line 4"/>
            <p:cNvSpPr>
              <a:spLocks noChangeShapeType="1"/>
            </p:cNvSpPr>
            <p:nvPr/>
          </p:nvSpPr>
          <p:spPr bwMode="auto">
            <a:xfrm>
              <a:off x="385" y="618"/>
              <a:ext cx="0" cy="26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622" name="Line 5"/>
            <p:cNvSpPr>
              <a:spLocks noChangeShapeType="1"/>
            </p:cNvSpPr>
            <p:nvPr/>
          </p:nvSpPr>
          <p:spPr bwMode="auto">
            <a:xfrm>
              <a:off x="249" y="2160"/>
              <a:ext cx="21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623" name="Freeform 6"/>
            <p:cNvSpPr>
              <a:spLocks/>
            </p:cNvSpPr>
            <p:nvPr/>
          </p:nvSpPr>
          <p:spPr bwMode="auto">
            <a:xfrm>
              <a:off x="612" y="754"/>
              <a:ext cx="1586" cy="2470"/>
            </a:xfrm>
            <a:custGeom>
              <a:avLst/>
              <a:gdLst>
                <a:gd name="T0" fmla="*/ 0 w 1586"/>
                <a:gd name="T1" fmla="*/ 0 h 2470"/>
                <a:gd name="T2" fmla="*/ 225 w 1586"/>
                <a:gd name="T3" fmla="*/ 1403 h 2470"/>
                <a:gd name="T4" fmla="*/ 512 w 1586"/>
                <a:gd name="T5" fmla="*/ 2056 h 2470"/>
                <a:gd name="T6" fmla="*/ 904 w 1586"/>
                <a:gd name="T7" fmla="*/ 2360 h 2470"/>
                <a:gd name="T8" fmla="*/ 1586 w 1586"/>
                <a:gd name="T9" fmla="*/ 2470 h 24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6" h="2470">
                  <a:moveTo>
                    <a:pt x="0" y="0"/>
                  </a:moveTo>
                  <a:cubicBezTo>
                    <a:pt x="37" y="234"/>
                    <a:pt x="140" y="1060"/>
                    <a:pt x="225" y="1403"/>
                  </a:cubicBezTo>
                  <a:cubicBezTo>
                    <a:pt x="310" y="1746"/>
                    <a:pt x="399" y="1897"/>
                    <a:pt x="512" y="2056"/>
                  </a:cubicBezTo>
                  <a:cubicBezTo>
                    <a:pt x="625" y="2215"/>
                    <a:pt x="725" y="2291"/>
                    <a:pt x="904" y="2360"/>
                  </a:cubicBezTo>
                  <a:cubicBezTo>
                    <a:pt x="1083" y="2429"/>
                    <a:pt x="1444" y="2447"/>
                    <a:pt x="1586" y="247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624" name="Line 8"/>
            <p:cNvSpPr>
              <a:spLocks noChangeShapeType="1"/>
            </p:cNvSpPr>
            <p:nvPr/>
          </p:nvSpPr>
          <p:spPr bwMode="auto">
            <a:xfrm flipV="1">
              <a:off x="612" y="754"/>
              <a:ext cx="0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625" name="Line 9"/>
            <p:cNvSpPr>
              <a:spLocks noChangeShapeType="1"/>
            </p:cNvSpPr>
            <p:nvPr/>
          </p:nvSpPr>
          <p:spPr bwMode="auto">
            <a:xfrm flipV="1">
              <a:off x="2200" y="2160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626" name="Line 14"/>
            <p:cNvSpPr>
              <a:spLocks noChangeShapeType="1"/>
            </p:cNvSpPr>
            <p:nvPr/>
          </p:nvSpPr>
          <p:spPr bwMode="auto">
            <a:xfrm>
              <a:off x="612" y="216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9713" name="Line 17"/>
          <p:cNvSpPr>
            <a:spLocks noChangeShapeType="1"/>
          </p:cNvSpPr>
          <p:nvPr/>
        </p:nvSpPr>
        <p:spPr bwMode="auto">
          <a:xfrm>
            <a:off x="684213" y="379413"/>
            <a:ext cx="2520950" cy="3887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9716" name="Group 20"/>
          <p:cNvGrpSpPr>
            <a:grpSpLocks/>
          </p:cNvGrpSpPr>
          <p:nvPr/>
        </p:nvGrpSpPr>
        <p:grpSpPr bwMode="auto">
          <a:xfrm>
            <a:off x="684213" y="2179638"/>
            <a:ext cx="1789112" cy="457200"/>
            <a:chOff x="612" y="1888"/>
            <a:chExt cx="1127" cy="288"/>
          </a:xfrm>
        </p:grpSpPr>
        <p:sp>
          <p:nvSpPr>
            <p:cNvPr id="24616" name="Line 18"/>
            <p:cNvSpPr>
              <a:spLocks noChangeShapeType="1"/>
            </p:cNvSpPr>
            <p:nvPr/>
          </p:nvSpPr>
          <p:spPr bwMode="auto">
            <a:xfrm>
              <a:off x="612" y="2160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617" name="Text Box 19"/>
            <p:cNvSpPr txBox="1">
              <a:spLocks noChangeArrowheads="1"/>
            </p:cNvSpPr>
            <p:nvPr/>
          </p:nvSpPr>
          <p:spPr bwMode="auto">
            <a:xfrm>
              <a:off x="1474" y="1888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x</a:t>
              </a:r>
              <a:r>
                <a:rPr lang="en-US" altLang="ru-RU" sz="2400" baseline="-25000"/>
                <a:t>1</a:t>
              </a:r>
              <a:endParaRPr lang="ru-RU" altLang="ru-RU" sz="2400"/>
            </a:p>
          </p:txBody>
        </p:sp>
      </p:grpSp>
      <p:grpSp>
        <p:nvGrpSpPr>
          <p:cNvPr id="29721" name="Group 25"/>
          <p:cNvGrpSpPr>
            <a:grpSpLocks/>
          </p:cNvGrpSpPr>
          <p:nvPr/>
        </p:nvGrpSpPr>
        <p:grpSpPr bwMode="auto">
          <a:xfrm>
            <a:off x="781050" y="66675"/>
            <a:ext cx="3143250" cy="4441825"/>
            <a:chOff x="673" y="557"/>
            <a:chExt cx="1980" cy="2798"/>
          </a:xfrm>
        </p:grpSpPr>
        <p:sp>
          <p:nvSpPr>
            <p:cNvPr id="24613" name="Text Box 21"/>
            <p:cNvSpPr txBox="1">
              <a:spLocks noChangeArrowheads="1"/>
            </p:cNvSpPr>
            <p:nvPr/>
          </p:nvSpPr>
          <p:spPr bwMode="auto">
            <a:xfrm>
              <a:off x="2154" y="1917"/>
              <a:ext cx="3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/>
                <a:t>=</a:t>
              </a:r>
              <a:r>
                <a:rPr lang="en-US" altLang="ru-RU" sz="2400"/>
                <a:t> </a:t>
              </a:r>
              <a:r>
                <a:rPr lang="en-US" altLang="ru-RU" sz="2400" i="1"/>
                <a:t>x</a:t>
              </a:r>
              <a:r>
                <a:rPr lang="en-US" altLang="ru-RU" sz="2400" baseline="-25000"/>
                <a:t>0</a:t>
              </a:r>
              <a:endParaRPr lang="ru-RU" altLang="ru-RU" sz="2400"/>
            </a:p>
          </p:txBody>
        </p:sp>
        <p:sp>
          <p:nvSpPr>
            <p:cNvPr id="24614" name="Text Box 23"/>
            <p:cNvSpPr txBox="1">
              <a:spLocks noChangeArrowheads="1"/>
            </p:cNvSpPr>
            <p:nvPr/>
          </p:nvSpPr>
          <p:spPr bwMode="auto">
            <a:xfrm>
              <a:off x="673" y="557"/>
              <a:ext cx="3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f</a:t>
              </a:r>
              <a:r>
                <a:rPr lang="en-US" altLang="ru-RU" sz="2400"/>
                <a:t>(</a:t>
              </a:r>
              <a:r>
                <a:rPr lang="en-US" altLang="ru-RU" sz="2400" i="1"/>
                <a:t>a</a:t>
              </a:r>
              <a:r>
                <a:rPr lang="en-US" altLang="ru-RU" sz="2400"/>
                <a:t>)</a:t>
              </a:r>
              <a:endParaRPr lang="ru-RU" altLang="ru-RU" sz="2400" i="1"/>
            </a:p>
          </p:txBody>
        </p:sp>
        <p:sp>
          <p:nvSpPr>
            <p:cNvPr id="24615" name="Text Box 24"/>
            <p:cNvSpPr txBox="1">
              <a:spLocks noChangeArrowheads="1"/>
            </p:cNvSpPr>
            <p:nvPr/>
          </p:nvSpPr>
          <p:spPr bwMode="auto">
            <a:xfrm>
              <a:off x="2207" y="3067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f</a:t>
              </a:r>
              <a:r>
                <a:rPr lang="en-US" altLang="ru-RU" sz="2400"/>
                <a:t>(</a:t>
              </a:r>
              <a:r>
                <a:rPr lang="en-US" altLang="ru-RU" sz="2400" i="1"/>
                <a:t>x</a:t>
              </a:r>
              <a:r>
                <a:rPr lang="en-US" altLang="ru-RU" sz="2400" baseline="-25000"/>
                <a:t>0</a:t>
              </a:r>
              <a:r>
                <a:rPr lang="en-US" altLang="ru-RU" sz="2400"/>
                <a:t>)</a:t>
              </a:r>
              <a:endParaRPr lang="ru-RU" altLang="ru-RU" sz="2400" i="1"/>
            </a:p>
          </p:txBody>
        </p:sp>
      </p:grpSp>
      <p:grpSp>
        <p:nvGrpSpPr>
          <p:cNvPr id="29724" name="Group 28"/>
          <p:cNvGrpSpPr>
            <a:grpSpLocks/>
          </p:cNvGrpSpPr>
          <p:nvPr/>
        </p:nvGrpSpPr>
        <p:grpSpPr bwMode="auto">
          <a:xfrm>
            <a:off x="1489075" y="2611438"/>
            <a:ext cx="708025" cy="1871662"/>
            <a:chOff x="1119" y="2160"/>
            <a:chExt cx="446" cy="1179"/>
          </a:xfrm>
        </p:grpSpPr>
        <p:sp>
          <p:nvSpPr>
            <p:cNvPr id="24611" name="Line 26"/>
            <p:cNvSpPr>
              <a:spLocks noChangeShapeType="1"/>
            </p:cNvSpPr>
            <p:nvPr/>
          </p:nvSpPr>
          <p:spPr bwMode="auto">
            <a:xfrm>
              <a:off x="1519" y="2160"/>
              <a:ext cx="0" cy="9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612" name="Text Box 27"/>
            <p:cNvSpPr txBox="1">
              <a:spLocks noChangeArrowheads="1"/>
            </p:cNvSpPr>
            <p:nvPr/>
          </p:nvSpPr>
          <p:spPr bwMode="auto">
            <a:xfrm>
              <a:off x="1119" y="3051"/>
              <a:ext cx="4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ru-RU" sz="2400" i="1"/>
                <a:t>f</a:t>
              </a:r>
              <a:r>
                <a:rPr lang="en-US" altLang="ru-RU" sz="2400"/>
                <a:t>(</a:t>
              </a:r>
              <a:r>
                <a:rPr lang="en-US" altLang="ru-RU" sz="2400" i="1"/>
                <a:t>x</a:t>
              </a:r>
              <a:r>
                <a:rPr lang="en-US" altLang="ru-RU" sz="2400" baseline="-25000"/>
                <a:t>1</a:t>
              </a:r>
              <a:r>
                <a:rPr lang="en-US" altLang="ru-RU" sz="2400"/>
                <a:t>)</a:t>
              </a:r>
              <a:endParaRPr lang="ru-RU" altLang="ru-RU" sz="2400"/>
            </a:p>
          </p:txBody>
        </p:sp>
      </p:grpSp>
      <p:grpSp>
        <p:nvGrpSpPr>
          <p:cNvPr id="29727" name="Group 31"/>
          <p:cNvGrpSpPr>
            <a:grpSpLocks/>
          </p:cNvGrpSpPr>
          <p:nvPr/>
        </p:nvGrpSpPr>
        <p:grpSpPr bwMode="auto">
          <a:xfrm>
            <a:off x="684213" y="379413"/>
            <a:ext cx="1439862" cy="3744912"/>
            <a:chOff x="612" y="754"/>
            <a:chExt cx="907" cy="2359"/>
          </a:xfrm>
        </p:grpSpPr>
        <p:sp>
          <p:nvSpPr>
            <p:cNvPr id="24609" name="Line 29"/>
            <p:cNvSpPr>
              <a:spLocks noChangeShapeType="1"/>
            </p:cNvSpPr>
            <p:nvPr/>
          </p:nvSpPr>
          <p:spPr bwMode="auto">
            <a:xfrm>
              <a:off x="612" y="754"/>
              <a:ext cx="907" cy="23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610" name="Line 30"/>
            <p:cNvSpPr>
              <a:spLocks noChangeShapeType="1"/>
            </p:cNvSpPr>
            <p:nvPr/>
          </p:nvSpPr>
          <p:spPr bwMode="auto">
            <a:xfrm>
              <a:off x="839" y="216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9728" name="Text Box 32"/>
          <p:cNvSpPr txBox="1">
            <a:spLocks noChangeArrowheads="1"/>
          </p:cNvSpPr>
          <p:nvPr/>
        </p:nvSpPr>
        <p:spPr bwMode="auto">
          <a:xfrm>
            <a:off x="1476375" y="2179638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2400" i="1"/>
              <a:t>x</a:t>
            </a:r>
            <a:r>
              <a:rPr lang="en-US" altLang="ru-RU" sz="2400" baseline="-25000"/>
              <a:t>2</a:t>
            </a:r>
            <a:endParaRPr lang="ru-RU" altLang="ru-RU" sz="2400" i="1"/>
          </a:p>
        </p:txBody>
      </p:sp>
      <p:sp>
        <p:nvSpPr>
          <p:cNvPr id="29729" name="Text Box 33"/>
          <p:cNvSpPr txBox="1">
            <a:spLocks noChangeArrowheads="1"/>
          </p:cNvSpPr>
          <p:nvPr/>
        </p:nvSpPr>
        <p:spPr bwMode="auto">
          <a:xfrm>
            <a:off x="1189038" y="2179638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2400" i="1"/>
              <a:t>x</a:t>
            </a:r>
            <a:r>
              <a:rPr lang="en-US" altLang="ru-RU" sz="2400" baseline="-25000"/>
              <a:t>3</a:t>
            </a:r>
            <a:endParaRPr lang="ru-RU" altLang="ru-RU" sz="2400" i="1"/>
          </a:p>
        </p:txBody>
      </p:sp>
      <p:sp>
        <p:nvSpPr>
          <p:cNvPr id="29730" name="Line 34"/>
          <p:cNvSpPr>
            <a:spLocks noChangeShapeType="1"/>
          </p:cNvSpPr>
          <p:nvPr/>
        </p:nvSpPr>
        <p:spPr bwMode="auto">
          <a:xfrm>
            <a:off x="1547813" y="2611438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29733" name="Group 37"/>
          <p:cNvGrpSpPr>
            <a:grpSpLocks/>
          </p:cNvGrpSpPr>
          <p:nvPr/>
        </p:nvGrpSpPr>
        <p:grpSpPr bwMode="auto">
          <a:xfrm>
            <a:off x="684213" y="379413"/>
            <a:ext cx="863600" cy="3311525"/>
            <a:chOff x="612" y="754"/>
            <a:chExt cx="544" cy="2086"/>
          </a:xfrm>
        </p:grpSpPr>
        <p:sp>
          <p:nvSpPr>
            <p:cNvPr id="24607" name="Line 35"/>
            <p:cNvSpPr>
              <a:spLocks noChangeShapeType="1"/>
            </p:cNvSpPr>
            <p:nvPr/>
          </p:nvSpPr>
          <p:spPr bwMode="auto">
            <a:xfrm>
              <a:off x="612" y="754"/>
              <a:ext cx="544" cy="20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4608" name="Line 36"/>
            <p:cNvSpPr>
              <a:spLocks noChangeShapeType="1"/>
            </p:cNvSpPr>
            <p:nvPr/>
          </p:nvSpPr>
          <p:spPr bwMode="auto">
            <a:xfrm>
              <a:off x="839" y="21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9734" name="Picture 3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595"/>
          <a:stretch>
            <a:fillRect/>
          </a:stretch>
        </p:blipFill>
        <p:spPr bwMode="auto">
          <a:xfrm>
            <a:off x="3462338" y="127000"/>
            <a:ext cx="2544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35" name="Picture 3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81"/>
          <a:stretch>
            <a:fillRect/>
          </a:stretch>
        </p:blipFill>
        <p:spPr bwMode="auto">
          <a:xfrm>
            <a:off x="3419475" y="452438"/>
            <a:ext cx="4357688" cy="96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36" name="Picture 4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618"/>
          <a:stretch>
            <a:fillRect/>
          </a:stretch>
        </p:blipFill>
        <p:spPr bwMode="auto">
          <a:xfrm>
            <a:off x="6337300" y="981075"/>
            <a:ext cx="2195513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91" name="Rectangle 42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29737" name="Object 41"/>
          <p:cNvGraphicFramePr>
            <a:graphicFrameLocks noChangeAspect="1"/>
          </p:cNvGraphicFramePr>
          <p:nvPr/>
        </p:nvGraphicFramePr>
        <p:xfrm>
          <a:off x="4427538" y="1341438"/>
          <a:ext cx="28971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" name="Формула" r:id="rId6" imgW="1435100" imgH="431800" progId="Equation.3">
                  <p:embed/>
                </p:oleObj>
              </mc:Choice>
              <mc:Fallback>
                <p:oleObj name="Формула" r:id="rId6" imgW="1435100" imgH="431800" progId="Equation.3">
                  <p:embed/>
                  <p:pic>
                    <p:nvPicPr>
                      <p:cNvPr id="29737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341438"/>
                        <a:ext cx="28971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41" name="Picture 4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81"/>
          <a:stretch>
            <a:fillRect/>
          </a:stretch>
        </p:blipFill>
        <p:spPr bwMode="auto">
          <a:xfrm>
            <a:off x="4476750" y="2060575"/>
            <a:ext cx="4337050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94" name="Rectangle 4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29742" name="Object 46"/>
          <p:cNvGraphicFramePr>
            <a:graphicFrameLocks noChangeAspect="1"/>
          </p:cNvGraphicFramePr>
          <p:nvPr/>
        </p:nvGraphicFramePr>
        <p:xfrm>
          <a:off x="4427538" y="2565400"/>
          <a:ext cx="2997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" name="Формула" r:id="rId9" imgW="1485900" imgH="431800" progId="Equation.3">
                  <p:embed/>
                </p:oleObj>
              </mc:Choice>
              <mc:Fallback>
                <p:oleObj name="Формула" r:id="rId9" imgW="1485900" imgH="431800" progId="Equation.3">
                  <p:embed/>
                  <p:pic>
                    <p:nvPicPr>
                      <p:cNvPr id="29742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565400"/>
                        <a:ext cx="29972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44" name="Picture 4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733"/>
          <a:stretch>
            <a:fillRect/>
          </a:stretch>
        </p:blipFill>
        <p:spPr bwMode="auto">
          <a:xfrm>
            <a:off x="7564438" y="2781300"/>
            <a:ext cx="392112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97" name="Rectangle 50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29745" name="Object 49"/>
          <p:cNvGraphicFramePr>
            <a:graphicFrameLocks noChangeAspect="1"/>
          </p:cNvGraphicFramePr>
          <p:nvPr/>
        </p:nvGraphicFramePr>
        <p:xfrm>
          <a:off x="4500563" y="3502025"/>
          <a:ext cx="3911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1" name="Формула" r:id="rId11" imgW="1943100" imgH="431800" progId="Equation.3">
                  <p:embed/>
                </p:oleObj>
              </mc:Choice>
              <mc:Fallback>
                <p:oleObj name="Формула" r:id="rId11" imgW="1943100" imgH="431800" progId="Equation.3">
                  <p:embed/>
                  <p:pic>
                    <p:nvPicPr>
                      <p:cNvPr id="29745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502025"/>
                        <a:ext cx="3911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55" name="Picture 59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52"/>
          <a:stretch>
            <a:fillRect/>
          </a:stretch>
        </p:blipFill>
        <p:spPr bwMode="auto">
          <a:xfrm>
            <a:off x="654050" y="4581525"/>
            <a:ext cx="79502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56" name="Picture 6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58"/>
          <a:stretch>
            <a:fillRect/>
          </a:stretch>
        </p:blipFill>
        <p:spPr bwMode="auto">
          <a:xfrm>
            <a:off x="676275" y="4941888"/>
            <a:ext cx="4710113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57" name="Picture 61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595"/>
          <a:stretch>
            <a:fillRect/>
          </a:stretch>
        </p:blipFill>
        <p:spPr bwMode="auto">
          <a:xfrm>
            <a:off x="5480050" y="4941888"/>
            <a:ext cx="25463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602" name="Rectangle 6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29758" name="Object 62"/>
          <p:cNvGraphicFramePr>
            <a:graphicFrameLocks noChangeAspect="1"/>
          </p:cNvGraphicFramePr>
          <p:nvPr/>
        </p:nvGraphicFramePr>
        <p:xfrm>
          <a:off x="654050" y="5803900"/>
          <a:ext cx="29876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2" name="Формула" r:id="rId16" imgW="1473200" imgH="431800" progId="Equation.3">
                  <p:embed/>
                </p:oleObj>
              </mc:Choice>
              <mc:Fallback>
                <p:oleObj name="Формула" r:id="rId16" imgW="1473200" imgH="431800" progId="Equation.3">
                  <p:embed/>
                  <p:pic>
                    <p:nvPicPr>
                      <p:cNvPr id="29758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5803900"/>
                        <a:ext cx="29876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60" name="Picture 6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733"/>
          <a:stretch>
            <a:fillRect/>
          </a:stretch>
        </p:blipFill>
        <p:spPr bwMode="auto">
          <a:xfrm>
            <a:off x="3822700" y="6021388"/>
            <a:ext cx="392113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605" name="Rectangle 6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29761" name="Object 65"/>
          <p:cNvGraphicFramePr>
            <a:graphicFrameLocks noChangeAspect="1"/>
          </p:cNvGraphicFramePr>
          <p:nvPr/>
        </p:nvGraphicFramePr>
        <p:xfrm>
          <a:off x="4727575" y="5802313"/>
          <a:ext cx="387667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" name="Формула" r:id="rId18" imgW="1917700" imgH="431800" progId="Equation.3">
                  <p:embed/>
                </p:oleObj>
              </mc:Choice>
              <mc:Fallback>
                <p:oleObj name="Формула" r:id="rId18" imgW="1917700" imgH="431800" progId="Equation.3">
                  <p:embed/>
                  <p:pic>
                    <p:nvPicPr>
                      <p:cNvPr id="29761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5802313"/>
                        <a:ext cx="3876675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823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2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1000"/>
                                        <p:tgtEl>
                                          <p:spTgt spid="2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97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9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1000"/>
                                        <p:tgtEl>
                                          <p:spTgt spid="2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1000"/>
                                        <p:tgtEl>
                                          <p:spTgt spid="2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1000"/>
                                        <p:tgtEl>
                                          <p:spTgt spid="2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2000" fill="hold"/>
                                        <p:tgtEl>
                                          <p:spTgt spid="297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0" dur="2000" fill="hold"/>
                                        <p:tgtEl>
                                          <p:spTgt spid="297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20"/>
          <a:stretch>
            <a:fillRect/>
          </a:stretch>
        </p:blipFill>
        <p:spPr bwMode="auto">
          <a:xfrm>
            <a:off x="331788" y="342900"/>
            <a:ext cx="7408862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3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111096"/>
              </p:ext>
            </p:extLst>
          </p:nvPr>
        </p:nvGraphicFramePr>
        <p:xfrm>
          <a:off x="2268538" y="765175"/>
          <a:ext cx="459581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0" name="Формула" r:id="rId4" imgW="2108200" imgH="431800" progId="Equation.3">
                  <p:embed/>
                </p:oleObj>
              </mc:Choice>
              <mc:Fallback>
                <p:oleObj name="Формула" r:id="rId4" imgW="2108200" imgH="431800" progId="Equation.3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765175"/>
                        <a:ext cx="4595812" cy="9350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799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595"/>
          <a:stretch>
            <a:fillRect/>
          </a:stretch>
        </p:blipFill>
        <p:spPr bwMode="auto">
          <a:xfrm>
            <a:off x="242390" y="1868762"/>
            <a:ext cx="3219990" cy="577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6" name="Rectangle 9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656752"/>
              </p:ext>
            </p:extLst>
          </p:nvPr>
        </p:nvGraphicFramePr>
        <p:xfrm>
          <a:off x="2268538" y="2493963"/>
          <a:ext cx="45529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1" name="Формула" r:id="rId7" imgW="2082800" imgH="431800" progId="Equation.3">
                  <p:embed/>
                </p:oleObj>
              </mc:Choice>
              <mc:Fallback>
                <p:oleObj name="Формула" r:id="rId7" imgW="2082800" imgH="431800" progId="Equation.3">
                  <p:embed/>
                  <p:pic>
                    <p:nvPicPr>
                      <p:cNvPr id="33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493963"/>
                        <a:ext cx="4552950" cy="9350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Text Box 11"/>
          <p:cNvSpPr txBox="1">
            <a:spLocks noChangeArrowheads="1"/>
          </p:cNvSpPr>
          <p:nvPr/>
        </p:nvSpPr>
        <p:spPr bwMode="auto">
          <a:xfrm>
            <a:off x="250825" y="3789363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34975" y="3909739"/>
            <a:ext cx="48958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Погрешность данных формул:</a:t>
            </a:r>
          </a:p>
        </p:txBody>
      </p:sp>
      <p:sp>
        <p:nvSpPr>
          <p:cNvPr id="25610" name="Rectangle 14"/>
          <p:cNvSpPr>
            <a:spLocks noChangeArrowheads="1"/>
          </p:cNvSpPr>
          <p:nvPr/>
        </p:nvSpPr>
        <p:spPr bwMode="auto">
          <a:xfrm>
            <a:off x="0" y="3141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ru-RU" altLang="ru-RU"/>
          </a:p>
        </p:txBody>
      </p:sp>
      <p:graphicFrame>
        <p:nvGraphicFramePr>
          <p:cNvPr id="33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787091"/>
              </p:ext>
            </p:extLst>
          </p:nvPr>
        </p:nvGraphicFramePr>
        <p:xfrm>
          <a:off x="2216150" y="4611688"/>
          <a:ext cx="426402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Формула" r:id="rId9" imgW="1955800" imgH="393700" progId="Equation.3">
                  <p:embed/>
                </p:oleObj>
              </mc:Choice>
              <mc:Fallback>
                <p:oleObj name="Формула" r:id="rId9" imgW="1955800" imgH="393700" progId="Equation.3">
                  <p:embed/>
                  <p:pic>
                    <p:nvPicPr>
                      <p:cNvPr id="338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4611688"/>
                        <a:ext cx="4264025" cy="852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6445250" y="4781550"/>
            <a:ext cx="10064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</a:p>
        </p:txBody>
      </p:sp>
      <p:pic>
        <p:nvPicPr>
          <p:cNvPr id="33808" name="Picture 16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58"/>
          <a:stretch>
            <a:fillRect/>
          </a:stretch>
        </p:blipFill>
        <p:spPr bwMode="auto">
          <a:xfrm>
            <a:off x="2195513" y="5661025"/>
            <a:ext cx="5081587" cy="71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154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23850" y="404813"/>
            <a:ext cx="194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Замечания.</a:t>
            </a:r>
          </a:p>
        </p:txBody>
      </p:sp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11"/>
          <a:stretch>
            <a:fillRect/>
          </a:stretch>
        </p:blipFill>
        <p:spPr bwMode="auto">
          <a:xfrm>
            <a:off x="395288" y="1052513"/>
            <a:ext cx="5884862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66"/>
          <a:stretch>
            <a:fillRect/>
          </a:stretch>
        </p:blipFill>
        <p:spPr bwMode="auto">
          <a:xfrm>
            <a:off x="395288" y="2049463"/>
            <a:ext cx="66468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595"/>
          <a:stretch>
            <a:fillRect/>
          </a:stretch>
        </p:blipFill>
        <p:spPr bwMode="auto">
          <a:xfrm>
            <a:off x="4140200" y="2492375"/>
            <a:ext cx="2759075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5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99"/>
          <a:stretch>
            <a:fillRect/>
          </a:stretch>
        </p:blipFill>
        <p:spPr bwMode="auto">
          <a:xfrm>
            <a:off x="684213" y="3141663"/>
            <a:ext cx="6100762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6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49"/>
          <a:stretch>
            <a:fillRect/>
          </a:stretch>
        </p:blipFill>
        <p:spPr bwMode="auto">
          <a:xfrm>
            <a:off x="4140200" y="3573463"/>
            <a:ext cx="3536950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7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58"/>
          <a:stretch>
            <a:fillRect/>
          </a:stretch>
        </p:blipFill>
        <p:spPr bwMode="auto">
          <a:xfrm>
            <a:off x="419100" y="4365625"/>
            <a:ext cx="508952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8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618"/>
          <a:stretch>
            <a:fillRect/>
          </a:stretch>
        </p:blipFill>
        <p:spPr bwMode="auto">
          <a:xfrm>
            <a:off x="4067175" y="4797425"/>
            <a:ext cx="2366963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0957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4033" y="6189518"/>
            <a:ext cx="6400800" cy="478969"/>
          </a:xfrm>
        </p:spPr>
        <p:txBody>
          <a:bodyPr>
            <a:normAutofit/>
          </a:bodyPr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ru-RU" altLang="ru-RU" sz="2400" dirty="0">
                <a:latin typeface="Times New Roman" panose="02020603050405020304" pitchFamily="18" charset="0"/>
              </a:rPr>
              <a:t>Схема алгоритма метода хорд</a:t>
            </a:r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2" name="Блок-схема: знак завершения 1">
            <a:extLst>
              <a:ext uri="{FF2B5EF4-FFF2-40B4-BE49-F238E27FC236}">
                <a16:creationId xmlns:a16="http://schemas.microsoft.com/office/drawing/2014/main" id="{2DDE1032-D237-4951-A7BA-CFF2879EF96A}"/>
              </a:ext>
            </a:extLst>
          </p:cNvPr>
          <p:cNvSpPr/>
          <p:nvPr/>
        </p:nvSpPr>
        <p:spPr>
          <a:xfrm>
            <a:off x="3696789" y="206930"/>
            <a:ext cx="1750422" cy="38317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</a:t>
            </a:r>
          </a:p>
        </p:txBody>
      </p:sp>
      <p:sp>
        <p:nvSpPr>
          <p:cNvPr id="6" name="Блок-схема: знак завершения 5">
            <a:extLst>
              <a:ext uri="{FF2B5EF4-FFF2-40B4-BE49-F238E27FC236}">
                <a16:creationId xmlns:a16="http://schemas.microsoft.com/office/drawing/2014/main" id="{65E593C6-7E12-4F74-9603-D1CA8A432633}"/>
              </a:ext>
            </a:extLst>
          </p:cNvPr>
          <p:cNvSpPr/>
          <p:nvPr/>
        </p:nvSpPr>
        <p:spPr>
          <a:xfrm>
            <a:off x="3618412" y="5749631"/>
            <a:ext cx="1750422" cy="38317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</a:t>
            </a:r>
          </a:p>
        </p:txBody>
      </p:sp>
      <p:sp>
        <p:nvSpPr>
          <p:cNvPr id="3" name="Блок-схема: данные 2">
            <a:extLst>
              <a:ext uri="{FF2B5EF4-FFF2-40B4-BE49-F238E27FC236}">
                <a16:creationId xmlns:a16="http://schemas.microsoft.com/office/drawing/2014/main" id="{6D11D727-4A7A-485F-9178-8EDCED12DCAE}"/>
              </a:ext>
            </a:extLst>
          </p:cNvPr>
          <p:cNvSpPr/>
          <p:nvPr/>
        </p:nvSpPr>
        <p:spPr>
          <a:xfrm>
            <a:off x="3381103" y="797035"/>
            <a:ext cx="2381794" cy="38317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941EB05C-8E63-433B-9239-8004A1A84C1B}"/>
              </a:ext>
            </a:extLst>
          </p:cNvPr>
          <p:cNvCxnSpPr>
            <a:stCxn id="2" idx="2"/>
            <a:endCxn id="3" idx="1"/>
          </p:cNvCxnSpPr>
          <p:nvPr/>
        </p:nvCxnSpPr>
        <p:spPr>
          <a:xfrm>
            <a:off x="4572000" y="590106"/>
            <a:ext cx="0" cy="206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Блок-схема: решение 14">
            <a:extLst>
              <a:ext uri="{FF2B5EF4-FFF2-40B4-BE49-F238E27FC236}">
                <a16:creationId xmlns:a16="http://schemas.microsoft.com/office/drawing/2014/main" id="{46ACC0C9-0DC4-4FD7-99CB-77FA1CBBF098}"/>
              </a:ext>
            </a:extLst>
          </p:cNvPr>
          <p:cNvSpPr/>
          <p:nvPr/>
        </p:nvSpPr>
        <p:spPr>
          <a:xfrm>
            <a:off x="3033061" y="1354365"/>
            <a:ext cx="3077873" cy="73369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sz="1800" i="1" dirty="0">
                <a:latin typeface="Times New Roman" panose="02020603050405020304" pitchFamily="18" charset="0"/>
              </a:rPr>
              <a:t>f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ru-RU" sz="1800" i="1" dirty="0">
                <a:latin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</a:rPr>
              <a:t>(</a:t>
            </a:r>
            <a:r>
              <a:rPr lang="en-US" altLang="ru-RU" sz="1800" i="1" dirty="0" err="1">
                <a:latin typeface="Times New Roman" panose="02020603050405020304" pitchFamily="18" charset="0"/>
              </a:rPr>
              <a:t>a+b</a:t>
            </a:r>
            <a:r>
              <a:rPr lang="en-US" altLang="ru-RU" sz="1800" dirty="0">
                <a:latin typeface="Times New Roman" panose="02020603050405020304" pitchFamily="18" charset="0"/>
              </a:rPr>
              <a:t>)/</a:t>
            </a:r>
            <a:r>
              <a:rPr lang="en-US" altLang="ru-RU" sz="1800" i="1" dirty="0">
                <a:latin typeface="Times New Roman" panose="02020603050405020304" pitchFamily="18" charset="0"/>
              </a:rPr>
              <a:t>2</a:t>
            </a:r>
            <a:r>
              <a:rPr lang="en-US" altLang="ru-RU" sz="1800" dirty="0">
                <a:latin typeface="Times New Roman" panose="02020603050405020304" pitchFamily="18" charset="0"/>
              </a:rPr>
              <a:t>) &lt; 0</a:t>
            </a:r>
            <a:endParaRPr lang="ru-RU" dirty="0"/>
          </a:p>
        </p:txBody>
      </p:sp>
      <p:sp>
        <p:nvSpPr>
          <p:cNvPr id="22" name="Блок-схема: процесс 21">
            <a:extLst>
              <a:ext uri="{FF2B5EF4-FFF2-40B4-BE49-F238E27FC236}">
                <a16:creationId xmlns:a16="http://schemas.microsoft.com/office/drawing/2014/main" id="{AC9885BF-458A-4B2E-990C-A0D0C3EB1965}"/>
              </a:ext>
            </a:extLst>
          </p:cNvPr>
          <p:cNvSpPr/>
          <p:nvPr/>
        </p:nvSpPr>
        <p:spPr>
          <a:xfrm>
            <a:off x="1381394" y="1830756"/>
            <a:ext cx="1231177" cy="62064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</a:t>
            </a:r>
          </a:p>
          <a:p>
            <a:pPr algn="ctr"/>
            <a:r>
              <a:rPr lang="en-US" altLang="ru-RU" i="1" dirty="0" err="1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 err="1">
                <a:latin typeface="Times New Roman" panose="02020603050405020304" pitchFamily="18" charset="0"/>
              </a:rPr>
              <a:t>new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Блок-схема: решение 26">
            <a:extLst>
              <a:ext uri="{FF2B5EF4-FFF2-40B4-BE49-F238E27FC236}">
                <a16:creationId xmlns:a16="http://schemas.microsoft.com/office/drawing/2014/main" id="{9AB8BAE7-2351-4CB5-AF92-0FDE8B1EEEA5}"/>
              </a:ext>
            </a:extLst>
          </p:cNvPr>
          <p:cNvSpPr/>
          <p:nvPr/>
        </p:nvSpPr>
        <p:spPr>
          <a:xfrm>
            <a:off x="3365858" y="4103430"/>
            <a:ext cx="2721430" cy="73369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dirty="0">
                <a:latin typeface="Times New Roman" panose="02020603050405020304" pitchFamily="18" charset="0"/>
              </a:rPr>
              <a:t>|</a:t>
            </a:r>
            <a:r>
              <a:rPr lang="en-US" altLang="ru-RU" i="1" dirty="0" err="1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 err="1">
                <a:latin typeface="Times New Roman" panose="02020603050405020304" pitchFamily="18" charset="0"/>
              </a:rPr>
              <a:t>new</a:t>
            </a:r>
            <a:r>
              <a:rPr lang="en-US" altLang="ru-RU" dirty="0">
                <a:latin typeface="Times New Roman" panose="02020603050405020304" pitchFamily="18" charset="0"/>
              </a:rPr>
              <a:t> – </a:t>
            </a:r>
            <a:r>
              <a:rPr lang="en-US" altLang="ru-RU" sz="1800" i="1" dirty="0">
                <a:latin typeface="Times New Roman" panose="02020603050405020304" pitchFamily="18" charset="0"/>
              </a:rPr>
              <a:t>x|</a:t>
            </a:r>
            <a:r>
              <a:rPr lang="en-US" altLang="ru-RU" sz="1800" dirty="0">
                <a:latin typeface="Times New Roman" panose="02020603050405020304" pitchFamily="18" charset="0"/>
              </a:rPr>
              <a:t> &lt;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ru-RU" dirty="0"/>
          </a:p>
        </p:txBody>
      </p:sp>
      <p:sp>
        <p:nvSpPr>
          <p:cNvPr id="28" name="Блок-схема: данные 27">
            <a:extLst>
              <a:ext uri="{FF2B5EF4-FFF2-40B4-BE49-F238E27FC236}">
                <a16:creationId xmlns:a16="http://schemas.microsoft.com/office/drawing/2014/main" id="{C7945BBC-4740-43F8-A3C5-0552F9C18F63}"/>
              </a:ext>
            </a:extLst>
          </p:cNvPr>
          <p:cNvSpPr/>
          <p:nvPr/>
        </p:nvSpPr>
        <p:spPr>
          <a:xfrm>
            <a:off x="5368833" y="4951415"/>
            <a:ext cx="2307773" cy="38317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</a:t>
            </a:r>
            <a:r>
              <a:rPr lang="en-US" altLang="ru-RU" i="1" dirty="0" err="1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 err="1">
                <a:latin typeface="Times New Roman" panose="02020603050405020304" pitchFamily="18" charset="0"/>
              </a:rPr>
              <a:t>new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Соединитель: уступ 24">
            <a:extLst>
              <a:ext uri="{FF2B5EF4-FFF2-40B4-BE49-F238E27FC236}">
                <a16:creationId xmlns:a16="http://schemas.microsoft.com/office/drawing/2014/main" id="{CD1D9D50-1FE1-44CF-8897-EC6895EEA24D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6087288" y="4470280"/>
            <a:ext cx="435432" cy="4811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D01DE220-D4F7-4AE4-9B89-313F5085874F}"/>
              </a:ext>
            </a:extLst>
          </p:cNvPr>
          <p:cNvCxnSpPr>
            <a:cxnSpLocks/>
            <a:stCxn id="28" idx="4"/>
            <a:endCxn id="6" idx="0"/>
          </p:cNvCxnSpPr>
          <p:nvPr/>
        </p:nvCxnSpPr>
        <p:spPr>
          <a:xfrm rot="5400000">
            <a:off x="5300652" y="4527562"/>
            <a:ext cx="415041" cy="20290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 Box 11">
            <a:extLst>
              <a:ext uri="{FF2B5EF4-FFF2-40B4-BE49-F238E27FC236}">
                <a16:creationId xmlns:a16="http://schemas.microsoft.com/office/drawing/2014/main" id="{B5FE09D0-A511-4CB4-89DB-4228EBF5C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455" y="1216006"/>
            <a:ext cx="521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Да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45" name="Text Box 11">
            <a:extLst>
              <a:ext uri="{FF2B5EF4-FFF2-40B4-BE49-F238E27FC236}">
                <a16:creationId xmlns:a16="http://schemas.microsoft.com/office/drawing/2014/main" id="{10A626FA-030F-4A00-81DA-2CE800BDA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6174" y="4019015"/>
            <a:ext cx="631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Нет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46" name="Text Box 11">
            <a:extLst>
              <a:ext uri="{FF2B5EF4-FFF2-40B4-BE49-F238E27FC236}">
                <a16:creationId xmlns:a16="http://schemas.microsoft.com/office/drawing/2014/main" id="{47160CDD-0A1D-42E3-96A8-AB31D2A25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157" y="1279016"/>
            <a:ext cx="631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Нет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C06AAFB-BF8F-4A62-95C6-367225BCE30D}"/>
              </a:ext>
            </a:extLst>
          </p:cNvPr>
          <p:cNvCxnSpPr>
            <a:stCxn id="3" idx="4"/>
            <a:endCxn id="15" idx="0"/>
          </p:cNvCxnSpPr>
          <p:nvPr/>
        </p:nvCxnSpPr>
        <p:spPr>
          <a:xfrm flipH="1">
            <a:off x="4571998" y="1180210"/>
            <a:ext cx="2" cy="174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Блок-схема: процесс 34">
            <a:extLst>
              <a:ext uri="{FF2B5EF4-FFF2-40B4-BE49-F238E27FC236}">
                <a16:creationId xmlns:a16="http://schemas.microsoft.com/office/drawing/2014/main" id="{2BA55BF1-0C77-4559-999F-7E78BA95147C}"/>
              </a:ext>
            </a:extLst>
          </p:cNvPr>
          <p:cNvSpPr/>
          <p:nvPr/>
        </p:nvSpPr>
        <p:spPr>
          <a:xfrm>
            <a:off x="6445429" y="1830756"/>
            <a:ext cx="1231177" cy="70184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b</a:t>
            </a:r>
          </a:p>
          <a:p>
            <a:pPr algn="ctr"/>
            <a:r>
              <a:rPr lang="en-US" altLang="ru-RU" i="1" dirty="0" err="1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 err="1">
                <a:latin typeface="Times New Roman" panose="02020603050405020304" pitchFamily="18" charset="0"/>
              </a:rPr>
              <a:t>new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Box 11">
            <a:extLst>
              <a:ext uri="{FF2B5EF4-FFF2-40B4-BE49-F238E27FC236}">
                <a16:creationId xmlns:a16="http://schemas.microsoft.com/office/drawing/2014/main" id="{7B679567-DBAA-4A56-853A-B817D0D17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844" y="4076402"/>
            <a:ext cx="521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Да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cxnSp>
        <p:nvCxnSpPr>
          <p:cNvPr id="31" name="Соединитель: уступ 30">
            <a:extLst>
              <a:ext uri="{FF2B5EF4-FFF2-40B4-BE49-F238E27FC236}">
                <a16:creationId xmlns:a16="http://schemas.microsoft.com/office/drawing/2014/main" id="{A5D7F976-435F-4BA9-AEF2-3E8B45E3553A}"/>
              </a:ext>
            </a:extLst>
          </p:cNvPr>
          <p:cNvCxnSpPr>
            <a:cxnSpLocks/>
            <a:stCxn id="15" idx="1"/>
            <a:endCxn id="22" idx="0"/>
          </p:cNvCxnSpPr>
          <p:nvPr/>
        </p:nvCxnSpPr>
        <p:spPr>
          <a:xfrm rot="10800000" flipV="1">
            <a:off x="1996983" y="1721214"/>
            <a:ext cx="1036078" cy="1095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F1ED9C57-3992-4ADC-BBA8-A5C8FCECED78}"/>
              </a:ext>
            </a:extLst>
          </p:cNvPr>
          <p:cNvCxnSpPr>
            <a:cxnSpLocks/>
            <a:stCxn id="15" idx="3"/>
            <a:endCxn id="35" idx="0"/>
          </p:cNvCxnSpPr>
          <p:nvPr/>
        </p:nvCxnSpPr>
        <p:spPr>
          <a:xfrm>
            <a:off x="6110934" y="1721215"/>
            <a:ext cx="950084" cy="1095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86883766-529D-4F93-AB44-1CC263F39637}"/>
              </a:ext>
            </a:extLst>
          </p:cNvPr>
          <p:cNvGrpSpPr/>
          <p:nvPr/>
        </p:nvGrpSpPr>
        <p:grpSpPr>
          <a:xfrm>
            <a:off x="3349053" y="2973010"/>
            <a:ext cx="2742591" cy="939323"/>
            <a:chOff x="3239748" y="2503105"/>
            <a:chExt cx="2742591" cy="939323"/>
          </a:xfrm>
        </p:grpSpPr>
        <p:sp>
          <p:nvSpPr>
            <p:cNvPr id="18" name="Блок-схема: процесс 17">
              <a:extLst>
                <a:ext uri="{FF2B5EF4-FFF2-40B4-BE49-F238E27FC236}">
                  <a16:creationId xmlns:a16="http://schemas.microsoft.com/office/drawing/2014/main" id="{EBD2EFB1-CB8B-4250-90DF-FF4E9B0FF681}"/>
                </a:ext>
              </a:extLst>
            </p:cNvPr>
            <p:cNvSpPr/>
            <p:nvPr/>
          </p:nvSpPr>
          <p:spPr>
            <a:xfrm>
              <a:off x="3239748" y="2503105"/>
              <a:ext cx="2742591" cy="939323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ru-RU" i="1" dirty="0" err="1">
                  <a:latin typeface="Times New Roman" panose="02020603050405020304" pitchFamily="18" charset="0"/>
                </a:rPr>
                <a:t>x</a:t>
              </a:r>
              <a:r>
                <a:rPr lang="en-US" altLang="ru-RU" i="1" baseline="-25000" dirty="0" err="1">
                  <a:latin typeface="Times New Roman" panose="02020603050405020304" pitchFamily="18" charset="0"/>
                </a:rPr>
                <a:t>new</a:t>
              </a:r>
              <a:endParaRPr lang="ru-RU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F48AD16-A357-4496-A267-25EF363BC3B1}"/>
                    </a:ext>
                  </a:extLst>
                </p:cNvPr>
                <p:cNvSpPr txBox="1"/>
                <p:nvPr/>
              </p:nvSpPr>
              <p:spPr>
                <a:xfrm>
                  <a:off x="3334763" y="2876939"/>
                  <a:ext cx="2544776" cy="4563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ru-RU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lit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F48AD16-A357-4496-A267-25EF363BC3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4763" y="2876939"/>
                  <a:ext cx="2544776" cy="456343"/>
                </a:xfrm>
                <a:prstGeom prst="rect">
                  <a:avLst/>
                </a:prstGeom>
                <a:blipFill>
                  <a:blip r:embed="rId2"/>
                  <a:stretch>
                    <a:fillRect t="-1333" r="-240" b="-1600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5" name="Соединитель: уступ 54">
            <a:extLst>
              <a:ext uri="{FF2B5EF4-FFF2-40B4-BE49-F238E27FC236}">
                <a16:creationId xmlns:a16="http://schemas.microsoft.com/office/drawing/2014/main" id="{36C73AEB-AFF9-4EA9-8DC7-A4F11482C5B8}"/>
              </a:ext>
            </a:extLst>
          </p:cNvPr>
          <p:cNvCxnSpPr>
            <a:stCxn id="22" idx="2"/>
            <a:endCxn id="18" idx="0"/>
          </p:cNvCxnSpPr>
          <p:nvPr/>
        </p:nvCxnSpPr>
        <p:spPr>
          <a:xfrm rot="16200000" flipH="1">
            <a:off x="3097862" y="1350522"/>
            <a:ext cx="521609" cy="2723366"/>
          </a:xfrm>
          <a:prstGeom prst="bentConnector3">
            <a:avLst>
              <a:gd name="adj1" fmla="val 2161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395923DD-5EBF-4A4B-A6FE-00C4635877D7}"/>
              </a:ext>
            </a:extLst>
          </p:cNvPr>
          <p:cNvCxnSpPr>
            <a:stCxn id="35" idx="2"/>
            <a:endCxn id="18" idx="0"/>
          </p:cNvCxnSpPr>
          <p:nvPr/>
        </p:nvCxnSpPr>
        <p:spPr>
          <a:xfrm rot="5400000">
            <a:off x="5670479" y="1582470"/>
            <a:ext cx="440411" cy="2340669"/>
          </a:xfrm>
          <a:prstGeom prst="bentConnector3">
            <a:avLst>
              <a:gd name="adj1" fmla="val 649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BCEB8031-CC39-426A-946D-348E43B0197C}"/>
              </a:ext>
            </a:extLst>
          </p:cNvPr>
          <p:cNvCxnSpPr>
            <a:stCxn id="18" idx="2"/>
            <a:endCxn id="27" idx="0"/>
          </p:cNvCxnSpPr>
          <p:nvPr/>
        </p:nvCxnSpPr>
        <p:spPr>
          <a:xfrm>
            <a:off x="4720349" y="3912333"/>
            <a:ext cx="6224" cy="191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04" name="Соединитель: уступ 21503">
            <a:extLst>
              <a:ext uri="{FF2B5EF4-FFF2-40B4-BE49-F238E27FC236}">
                <a16:creationId xmlns:a16="http://schemas.microsoft.com/office/drawing/2014/main" id="{80804A51-E8C8-475C-BF0D-A8CCC303D630}"/>
              </a:ext>
            </a:extLst>
          </p:cNvPr>
          <p:cNvCxnSpPr>
            <a:cxnSpLocks/>
            <a:stCxn id="27" idx="1"/>
            <a:endCxn id="18" idx="0"/>
          </p:cNvCxnSpPr>
          <p:nvPr/>
        </p:nvCxnSpPr>
        <p:spPr>
          <a:xfrm rot="10800000" flipH="1">
            <a:off x="3365857" y="2973010"/>
            <a:ext cx="1354491" cy="1497270"/>
          </a:xfrm>
          <a:prstGeom prst="bentConnector4">
            <a:avLst>
              <a:gd name="adj1" fmla="val -101057"/>
              <a:gd name="adj2" fmla="val 11236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495774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66725" y="765175"/>
            <a:ext cx="3527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               .</a:t>
            </a:r>
          </a:p>
        </p:txBody>
      </p:sp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1835150" y="173038"/>
            <a:ext cx="540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касательных (Ньютона)</a:t>
            </a:r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11"/>
          <a:stretch>
            <a:fillRect/>
          </a:stretch>
        </p:blipFill>
        <p:spPr bwMode="auto">
          <a:xfrm>
            <a:off x="538163" y="1412875"/>
            <a:ext cx="58674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89"/>
          <a:stretch>
            <a:fillRect/>
          </a:stretch>
        </p:blipFill>
        <p:spPr bwMode="auto">
          <a:xfrm>
            <a:off x="538163" y="2036763"/>
            <a:ext cx="625792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7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89"/>
          <a:stretch>
            <a:fillRect/>
          </a:stretch>
        </p:blipFill>
        <p:spPr bwMode="auto">
          <a:xfrm>
            <a:off x="538163" y="2493963"/>
            <a:ext cx="6257925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8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11"/>
          <a:stretch>
            <a:fillRect/>
          </a:stretch>
        </p:blipFill>
        <p:spPr bwMode="auto">
          <a:xfrm>
            <a:off x="538163" y="2998788"/>
            <a:ext cx="5919787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411413" y="78105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ru-RU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0</a:t>
            </a:r>
            <a:endParaRPr lang="ru-RU" altLang="ru-R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861" name="Group 21"/>
          <p:cNvGrpSpPr>
            <a:grpSpLocks/>
          </p:cNvGrpSpPr>
          <p:nvPr/>
        </p:nvGrpSpPr>
        <p:grpSpPr bwMode="auto">
          <a:xfrm>
            <a:off x="2268538" y="3860800"/>
            <a:ext cx="4679950" cy="2257425"/>
            <a:chOff x="295" y="2523"/>
            <a:chExt cx="2948" cy="1422"/>
          </a:xfrm>
        </p:grpSpPr>
        <p:sp>
          <p:nvSpPr>
            <p:cNvPr id="8216" name="Line 11"/>
            <p:cNvSpPr>
              <a:spLocks noChangeShapeType="1"/>
            </p:cNvSpPr>
            <p:nvPr/>
          </p:nvSpPr>
          <p:spPr bwMode="auto">
            <a:xfrm>
              <a:off x="521" y="2523"/>
              <a:ext cx="0" cy="13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217" name="Line 12"/>
            <p:cNvSpPr>
              <a:spLocks noChangeShapeType="1"/>
            </p:cNvSpPr>
            <p:nvPr/>
          </p:nvSpPr>
          <p:spPr bwMode="auto">
            <a:xfrm>
              <a:off x="295" y="3702"/>
              <a:ext cx="29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218" name="Freeform 13"/>
            <p:cNvSpPr>
              <a:spLocks/>
            </p:cNvSpPr>
            <p:nvPr/>
          </p:nvSpPr>
          <p:spPr bwMode="auto">
            <a:xfrm>
              <a:off x="612" y="2616"/>
              <a:ext cx="1905" cy="1177"/>
            </a:xfrm>
            <a:custGeom>
              <a:avLst/>
              <a:gdLst>
                <a:gd name="T0" fmla="*/ 1905 w 1905"/>
                <a:gd name="T1" fmla="*/ 0 h 1177"/>
                <a:gd name="T2" fmla="*/ 1752 w 1905"/>
                <a:gd name="T3" fmla="*/ 426 h 1177"/>
                <a:gd name="T4" fmla="*/ 1452 w 1905"/>
                <a:gd name="T5" fmla="*/ 816 h 1177"/>
                <a:gd name="T6" fmla="*/ 969 w 1905"/>
                <a:gd name="T7" fmla="*/ 1017 h 1177"/>
                <a:gd name="T8" fmla="*/ 435 w 1905"/>
                <a:gd name="T9" fmla="*/ 1134 h 1177"/>
                <a:gd name="T10" fmla="*/ 0 w 1905"/>
                <a:gd name="T11" fmla="*/ 1177 h 11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05" h="1177">
                  <a:moveTo>
                    <a:pt x="1905" y="0"/>
                  </a:moveTo>
                  <a:cubicBezTo>
                    <a:pt x="1880" y="71"/>
                    <a:pt x="1828" y="290"/>
                    <a:pt x="1752" y="426"/>
                  </a:cubicBezTo>
                  <a:cubicBezTo>
                    <a:pt x="1676" y="562"/>
                    <a:pt x="1582" y="718"/>
                    <a:pt x="1452" y="816"/>
                  </a:cubicBezTo>
                  <a:cubicBezTo>
                    <a:pt x="1322" y="914"/>
                    <a:pt x="1138" y="964"/>
                    <a:pt x="969" y="1017"/>
                  </a:cubicBezTo>
                  <a:cubicBezTo>
                    <a:pt x="800" y="1070"/>
                    <a:pt x="596" y="1107"/>
                    <a:pt x="435" y="1134"/>
                  </a:cubicBezTo>
                  <a:cubicBezTo>
                    <a:pt x="274" y="1161"/>
                    <a:pt x="91" y="1168"/>
                    <a:pt x="0" y="117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219" name="Line 14"/>
            <p:cNvSpPr>
              <a:spLocks noChangeShapeType="1"/>
            </p:cNvSpPr>
            <p:nvPr/>
          </p:nvSpPr>
          <p:spPr bwMode="auto">
            <a:xfrm flipV="1">
              <a:off x="612" y="370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220" name="Line 15"/>
            <p:cNvSpPr>
              <a:spLocks noChangeShapeType="1"/>
            </p:cNvSpPr>
            <p:nvPr/>
          </p:nvSpPr>
          <p:spPr bwMode="auto">
            <a:xfrm>
              <a:off x="2517" y="2614"/>
              <a:ext cx="0" cy="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221" name="Text Box 16"/>
            <p:cNvSpPr txBox="1">
              <a:spLocks noChangeArrowheads="1"/>
            </p:cNvSpPr>
            <p:nvPr/>
          </p:nvSpPr>
          <p:spPr bwMode="auto">
            <a:xfrm>
              <a:off x="521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 dirty="0">
                  <a:latin typeface="Times New Roman" panose="02020603050405020304" pitchFamily="18" charset="0"/>
                </a:rPr>
                <a:t>a</a:t>
              </a:r>
              <a:endParaRPr lang="ru-RU" altLang="ru-RU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8222" name="Text Box 17"/>
            <p:cNvSpPr txBox="1">
              <a:spLocks noChangeArrowheads="1"/>
            </p:cNvSpPr>
            <p:nvPr/>
          </p:nvSpPr>
          <p:spPr bwMode="auto">
            <a:xfrm>
              <a:off x="2426" y="365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anose="02020603050405020304" pitchFamily="18" charset="0"/>
                </a:rPr>
                <a:t>b</a:t>
              </a:r>
              <a:endParaRPr lang="ru-RU" altLang="ru-RU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8223" name="Text Box 18"/>
            <p:cNvSpPr txBox="1">
              <a:spLocks noChangeArrowheads="1"/>
            </p:cNvSpPr>
            <p:nvPr/>
          </p:nvSpPr>
          <p:spPr bwMode="auto">
            <a:xfrm>
              <a:off x="1209" y="3430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anose="02020603050405020304" pitchFamily="18" charset="0"/>
                </a:rPr>
                <a:t>x</a:t>
              </a:r>
              <a:r>
                <a:rPr lang="en-US" altLang="ru-RU" sz="2400" baseline="30000">
                  <a:latin typeface="Times New Roman" panose="02020603050405020304" pitchFamily="18" charset="0"/>
                </a:rPr>
                <a:t>*</a:t>
              </a:r>
              <a:endParaRPr lang="ru-RU" altLang="ru-RU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8224" name="Freeform 20"/>
            <p:cNvSpPr>
              <a:spLocks/>
            </p:cNvSpPr>
            <p:nvPr/>
          </p:nvSpPr>
          <p:spPr bwMode="auto">
            <a:xfrm>
              <a:off x="612" y="3699"/>
              <a:ext cx="693" cy="3"/>
            </a:xfrm>
            <a:custGeom>
              <a:avLst/>
              <a:gdLst>
                <a:gd name="T0" fmla="*/ 0 w 693"/>
                <a:gd name="T1" fmla="*/ 3 h 3"/>
                <a:gd name="T2" fmla="*/ 693 w 69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93" h="3">
                  <a:moveTo>
                    <a:pt x="0" y="3"/>
                  </a:moveTo>
                  <a:lnTo>
                    <a:pt x="69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5867400" y="5661025"/>
            <a:ext cx="66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latin typeface="Times New Roman" panose="02020603050405020304" pitchFamily="18" charset="0"/>
              </a:rPr>
              <a:t>= </a:t>
            </a:r>
            <a:r>
              <a:rPr lang="en-US" altLang="ru-RU" sz="2400" i="1">
                <a:latin typeface="Times New Roman" panose="02020603050405020304" pitchFamily="18" charset="0"/>
              </a:rPr>
              <a:t>x</a:t>
            </a:r>
            <a:r>
              <a:rPr lang="en-US" altLang="ru-RU" sz="2400" baseline="-25000">
                <a:latin typeface="Times New Roman" panose="02020603050405020304" pitchFamily="18" charset="0"/>
              </a:rPr>
              <a:t>0</a:t>
            </a:r>
            <a:endParaRPr lang="ru-RU" altLang="ru-RU" sz="2400">
              <a:latin typeface="Times New Roman" panose="02020603050405020304" pitchFamily="18" charset="0"/>
            </a:endParaRPr>
          </a:p>
        </p:txBody>
      </p:sp>
      <p:sp>
        <p:nvSpPr>
          <p:cNvPr id="35863" name="Line 23"/>
          <p:cNvSpPr>
            <a:spLocks noChangeShapeType="1"/>
          </p:cNvSpPr>
          <p:nvPr/>
        </p:nvSpPr>
        <p:spPr bwMode="auto">
          <a:xfrm flipH="1">
            <a:off x="5292725" y="4005263"/>
            <a:ext cx="503238" cy="172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865" name="Text Box 25"/>
          <p:cNvSpPr txBox="1">
            <a:spLocks noChangeArrowheads="1"/>
          </p:cNvSpPr>
          <p:nvPr/>
        </p:nvSpPr>
        <p:spPr bwMode="auto">
          <a:xfrm>
            <a:off x="4511675" y="5635625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i="1">
                <a:latin typeface="Times New Roman" panose="02020603050405020304" pitchFamily="18" charset="0"/>
              </a:rPr>
              <a:t>x</a:t>
            </a:r>
            <a:r>
              <a:rPr lang="en-US" altLang="ru-RU" sz="2400" baseline="-25000">
                <a:latin typeface="Times New Roman" panose="02020603050405020304" pitchFamily="18" charset="0"/>
              </a:rPr>
              <a:t>2</a:t>
            </a:r>
            <a:endParaRPr lang="ru-RU" altLang="ru-RU" sz="2400">
              <a:latin typeface="Times New Roman" panose="02020603050405020304" pitchFamily="18" charset="0"/>
            </a:endParaRP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3935413" y="5635625"/>
            <a:ext cx="420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i="1">
                <a:latin typeface="Times New Roman" panose="02020603050405020304" pitchFamily="18" charset="0"/>
              </a:rPr>
              <a:t>x</a:t>
            </a:r>
            <a:r>
              <a:rPr lang="en-US" altLang="ru-RU" sz="2400" baseline="-25000">
                <a:latin typeface="Times New Roman" panose="02020603050405020304" pitchFamily="18" charset="0"/>
              </a:rPr>
              <a:t>3</a:t>
            </a:r>
            <a:endParaRPr lang="ru-RU" altLang="ru-RU" sz="2400">
              <a:latin typeface="Times New Roman" panose="02020603050405020304" pitchFamily="18" charset="0"/>
            </a:endParaRPr>
          </a:p>
        </p:txBody>
      </p:sp>
      <p:grpSp>
        <p:nvGrpSpPr>
          <p:cNvPr id="35868" name="Group 28"/>
          <p:cNvGrpSpPr>
            <a:grpSpLocks/>
          </p:cNvGrpSpPr>
          <p:nvPr/>
        </p:nvGrpSpPr>
        <p:grpSpPr bwMode="auto">
          <a:xfrm>
            <a:off x="5087938" y="5635625"/>
            <a:ext cx="708025" cy="457200"/>
            <a:chOff x="2071" y="3641"/>
            <a:chExt cx="446" cy="288"/>
          </a:xfrm>
        </p:grpSpPr>
        <p:sp>
          <p:nvSpPr>
            <p:cNvPr id="8214" name="Text Box 24"/>
            <p:cNvSpPr txBox="1">
              <a:spLocks noChangeArrowheads="1"/>
            </p:cNvSpPr>
            <p:nvPr/>
          </p:nvSpPr>
          <p:spPr bwMode="auto">
            <a:xfrm>
              <a:off x="2071" y="3641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ru-RU" sz="2400" i="1">
                  <a:latin typeface="Times New Roman" panose="02020603050405020304" pitchFamily="18" charset="0"/>
                </a:rPr>
                <a:t>x</a:t>
              </a:r>
              <a:r>
                <a:rPr lang="en-US" altLang="ru-RU" sz="2400" baseline="-25000">
                  <a:latin typeface="Times New Roman" panose="02020603050405020304" pitchFamily="18" charset="0"/>
                </a:rPr>
                <a:t>1</a:t>
              </a: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8215" name="Line 27"/>
            <p:cNvSpPr>
              <a:spLocks noChangeShapeType="1"/>
            </p:cNvSpPr>
            <p:nvPr/>
          </p:nvSpPr>
          <p:spPr bwMode="auto">
            <a:xfrm>
              <a:off x="2200" y="370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5869" name="Line 29"/>
          <p:cNvSpPr>
            <a:spLocks noChangeShapeType="1"/>
          </p:cNvSpPr>
          <p:nvPr/>
        </p:nvSpPr>
        <p:spPr bwMode="auto">
          <a:xfrm flipV="1">
            <a:off x="5292725" y="5084763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35872" name="Group 32"/>
          <p:cNvGrpSpPr>
            <a:grpSpLocks/>
          </p:cNvGrpSpPr>
          <p:nvPr/>
        </p:nvGrpSpPr>
        <p:grpSpPr bwMode="auto">
          <a:xfrm>
            <a:off x="3851275" y="5084763"/>
            <a:ext cx="1441450" cy="647700"/>
            <a:chOff x="1292" y="3294"/>
            <a:chExt cx="908" cy="408"/>
          </a:xfrm>
        </p:grpSpPr>
        <p:sp>
          <p:nvSpPr>
            <p:cNvPr id="8212" name="Line 30"/>
            <p:cNvSpPr>
              <a:spLocks noChangeShapeType="1"/>
            </p:cNvSpPr>
            <p:nvPr/>
          </p:nvSpPr>
          <p:spPr bwMode="auto">
            <a:xfrm flipH="1">
              <a:off x="1837" y="3294"/>
              <a:ext cx="363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213" name="Line 31"/>
            <p:cNvSpPr>
              <a:spLocks noChangeShapeType="1"/>
            </p:cNvSpPr>
            <p:nvPr/>
          </p:nvSpPr>
          <p:spPr bwMode="auto">
            <a:xfrm>
              <a:off x="1292" y="3702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5873" name="Line 33"/>
          <p:cNvSpPr>
            <a:spLocks noChangeShapeType="1"/>
          </p:cNvSpPr>
          <p:nvPr/>
        </p:nvSpPr>
        <p:spPr bwMode="auto">
          <a:xfrm flipV="1">
            <a:off x="4716463" y="55165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875" name="Line 35"/>
          <p:cNvSpPr>
            <a:spLocks noChangeShapeType="1"/>
          </p:cNvSpPr>
          <p:nvPr/>
        </p:nvSpPr>
        <p:spPr bwMode="auto">
          <a:xfrm flipH="1">
            <a:off x="4140200" y="5516563"/>
            <a:ext cx="5048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876" name="Line 36"/>
          <p:cNvSpPr>
            <a:spLocks noChangeShapeType="1"/>
          </p:cNvSpPr>
          <p:nvPr/>
        </p:nvSpPr>
        <p:spPr bwMode="auto">
          <a:xfrm flipH="1">
            <a:off x="4140200" y="5732463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3" name="Text Box 16"/>
          <p:cNvSpPr txBox="1">
            <a:spLocks noChangeArrowheads="1"/>
          </p:cNvSpPr>
          <p:nvPr/>
        </p:nvSpPr>
        <p:spPr bwMode="auto">
          <a:xfrm>
            <a:off x="2287465" y="3849836"/>
            <a:ext cx="3209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i="1" dirty="0">
                <a:latin typeface="Times New Roman" panose="02020603050405020304" pitchFamily="18" charset="0"/>
              </a:rPr>
              <a:t>y</a:t>
            </a:r>
            <a:endParaRPr lang="ru-RU" altLang="ru-RU" sz="2400" i="1" dirty="0">
              <a:latin typeface="Times New Roman" panose="02020603050405020304" pitchFamily="18" charset="0"/>
            </a:endParaRPr>
          </a:p>
        </p:txBody>
      </p:sp>
      <p:sp>
        <p:nvSpPr>
          <p:cNvPr id="34" name="Text Box 16"/>
          <p:cNvSpPr txBox="1">
            <a:spLocks noChangeArrowheads="1"/>
          </p:cNvSpPr>
          <p:nvPr/>
        </p:nvSpPr>
        <p:spPr bwMode="auto">
          <a:xfrm>
            <a:off x="6591176" y="5646093"/>
            <a:ext cx="3209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i="1" dirty="0">
                <a:latin typeface="Times New Roman" panose="02020603050405020304" pitchFamily="18" charset="0"/>
              </a:rPr>
              <a:t>x</a:t>
            </a:r>
            <a:endParaRPr lang="ru-RU" altLang="ru-RU" sz="2400" i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65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2" grpId="0"/>
      <p:bldP spid="35865" grpId="0"/>
      <p:bldP spid="35866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2800">
              <a:latin typeface="Times New Roman" panose="02020603050405020304" pitchFamily="18" charset="0"/>
            </a:endParaRPr>
          </a:p>
        </p:txBody>
      </p:sp>
      <p:graphicFrame>
        <p:nvGraphicFramePr>
          <p:cNvPr id="36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454351"/>
              </p:ext>
            </p:extLst>
          </p:nvPr>
        </p:nvGraphicFramePr>
        <p:xfrm>
          <a:off x="4926104" y="692151"/>
          <a:ext cx="2641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3" name="Формула" r:id="rId3" imgW="1206500" imgH="431800" progId="Equation.3">
                  <p:embed/>
                </p:oleObj>
              </mc:Choice>
              <mc:Fallback>
                <p:oleObj name="Формула" r:id="rId3" imgW="1206500" imgH="431800" progId="Equation.3">
                  <p:embed/>
                  <p:pic>
                    <p:nvPicPr>
                      <p:cNvPr id="368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104" y="692151"/>
                        <a:ext cx="2641600" cy="936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50825" y="1844675"/>
            <a:ext cx="3817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Погрешность формулы:</a:t>
            </a:r>
          </a:p>
        </p:txBody>
      </p:sp>
      <p:sp>
        <p:nvSpPr>
          <p:cNvPr id="9222" name="Rectangle 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2800">
              <a:latin typeface="Times New Roman" panose="02020603050405020304" pitchFamily="18" charset="0"/>
            </a:endParaRPr>
          </a:p>
        </p:txBody>
      </p:sp>
      <p:graphicFrame>
        <p:nvGraphicFramePr>
          <p:cNvPr id="368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953190"/>
              </p:ext>
            </p:extLst>
          </p:nvPr>
        </p:nvGraphicFramePr>
        <p:xfrm>
          <a:off x="4140200" y="1700213"/>
          <a:ext cx="40163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4" name="Формула" r:id="rId5" imgW="1841500" imgH="393700" progId="Equation.3">
                  <p:embed/>
                </p:oleObj>
              </mc:Choice>
              <mc:Fallback>
                <p:oleObj name="Формула" r:id="rId5" imgW="1841500" imgH="393700" progId="Equation.3">
                  <p:embed/>
                  <p:pic>
                    <p:nvPicPr>
                      <p:cNvPr id="368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1700213"/>
                        <a:ext cx="4016375" cy="852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8020714" y="1912963"/>
            <a:ext cx="1006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где</a:t>
            </a: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23850" y="3486150"/>
            <a:ext cx="1944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Замечания.</a:t>
            </a:r>
          </a:p>
        </p:txBody>
      </p:sp>
      <p:sp>
        <p:nvSpPr>
          <p:cNvPr id="9226" name="Rectangle 13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2800">
              <a:latin typeface="Times New Roman" panose="02020603050405020304" pitchFamily="18" charset="0"/>
            </a:endParaRPr>
          </a:p>
        </p:txBody>
      </p:sp>
      <p:graphicFrame>
        <p:nvGraphicFramePr>
          <p:cNvPr id="36876" name="Object 12"/>
          <p:cNvGraphicFramePr>
            <a:graphicFrameLocks noChangeAspect="1"/>
          </p:cNvGraphicFramePr>
          <p:nvPr/>
        </p:nvGraphicFramePr>
        <p:xfrm>
          <a:off x="4140200" y="2644775"/>
          <a:ext cx="23431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5" name="Формула" r:id="rId7" imgW="1091726" imgH="330057" progId="Equation.3">
                  <p:embed/>
                </p:oleObj>
              </mc:Choice>
              <mc:Fallback>
                <p:oleObj name="Формула" r:id="rId7" imgW="1091726" imgH="330057" progId="Equation.3">
                  <p:embed/>
                  <p:pic>
                    <p:nvPicPr>
                      <p:cNvPr id="368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644775"/>
                        <a:ext cx="23431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Rectangle 15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2800">
              <a:latin typeface="Times New Roman" panose="02020603050405020304" pitchFamily="18" charset="0"/>
            </a:endParaRPr>
          </a:p>
        </p:txBody>
      </p:sp>
      <p:graphicFrame>
        <p:nvGraphicFramePr>
          <p:cNvPr id="36878" name="Object 14"/>
          <p:cNvGraphicFramePr>
            <a:graphicFrameLocks noChangeAspect="1"/>
          </p:cNvGraphicFramePr>
          <p:nvPr/>
        </p:nvGraphicFramePr>
        <p:xfrm>
          <a:off x="6877050" y="2636838"/>
          <a:ext cx="201612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6" name="Формула" r:id="rId9" imgW="939392" imgH="330057" progId="Equation.3">
                  <p:embed/>
                </p:oleObj>
              </mc:Choice>
              <mc:Fallback>
                <p:oleObj name="Формула" r:id="rId9" imgW="939392" imgH="330057" progId="Equation.3">
                  <p:embed/>
                  <p:pic>
                    <p:nvPicPr>
                      <p:cNvPr id="368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2636838"/>
                        <a:ext cx="2016125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85" name="Picture 2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66"/>
          <a:stretch>
            <a:fillRect/>
          </a:stretch>
        </p:blipFill>
        <p:spPr bwMode="auto">
          <a:xfrm>
            <a:off x="395288" y="3933825"/>
            <a:ext cx="7374706" cy="792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86" name="Picture 2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58"/>
          <a:stretch>
            <a:fillRect/>
          </a:stretch>
        </p:blipFill>
        <p:spPr bwMode="auto">
          <a:xfrm>
            <a:off x="430213" y="4868863"/>
            <a:ext cx="5078412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87" name="Picture 2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58"/>
          <a:stretch>
            <a:fillRect/>
          </a:stretch>
        </p:blipFill>
        <p:spPr bwMode="auto">
          <a:xfrm>
            <a:off x="755650" y="5445125"/>
            <a:ext cx="5078413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D70027C-F4B0-47B9-8DF4-10717181C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58" y="869346"/>
            <a:ext cx="47200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получить формулу:</a:t>
            </a:r>
          </a:p>
        </p:txBody>
      </p:sp>
    </p:spTree>
    <p:extLst>
      <p:ext uri="{BB962C8B-B14F-4D97-AF65-F5344CB8AC3E}">
        <p14:creationId xmlns:p14="http://schemas.microsoft.com/office/powerpoint/2010/main" val="2222330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371600" y="785273"/>
            <a:ext cx="6400800" cy="56416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 algn="ctr">
              <a:buFont typeface="Wingdings" panose="05000000000000000000" pitchFamily="2" charset="2"/>
              <a:buNone/>
              <a:defRPr/>
            </a:pPr>
            <a:endParaRPr lang="en-US" altLang="ru-RU" sz="2400" dirty="0">
              <a:latin typeface="Times New Roman" panose="02020603050405020304" pitchFamily="18" charset="0"/>
            </a:endParaRP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ru-RU" altLang="ru-RU" sz="2400" dirty="0">
                <a:latin typeface="Times New Roman" panose="02020603050405020304" pitchFamily="18" charset="0"/>
              </a:rPr>
              <a:t>Схема алгоритма метода касательных</a:t>
            </a:r>
          </a:p>
        </p:txBody>
      </p:sp>
      <p:sp>
        <p:nvSpPr>
          <p:cNvPr id="4" name="Блок-схема: знак завершения 3">
            <a:extLst>
              <a:ext uri="{FF2B5EF4-FFF2-40B4-BE49-F238E27FC236}">
                <a16:creationId xmlns:a16="http://schemas.microsoft.com/office/drawing/2014/main" id="{18DCD702-098A-44DF-A2D0-A3383FA4E67B}"/>
              </a:ext>
            </a:extLst>
          </p:cNvPr>
          <p:cNvSpPr/>
          <p:nvPr/>
        </p:nvSpPr>
        <p:spPr>
          <a:xfrm>
            <a:off x="3696789" y="206930"/>
            <a:ext cx="1750422" cy="38317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</a:t>
            </a:r>
          </a:p>
        </p:txBody>
      </p:sp>
      <p:sp>
        <p:nvSpPr>
          <p:cNvPr id="5" name="Блок-схема: знак завершения 4">
            <a:extLst>
              <a:ext uri="{FF2B5EF4-FFF2-40B4-BE49-F238E27FC236}">
                <a16:creationId xmlns:a16="http://schemas.microsoft.com/office/drawing/2014/main" id="{B6D1C413-0D29-4E35-98F4-AD74F3590C98}"/>
              </a:ext>
            </a:extLst>
          </p:cNvPr>
          <p:cNvSpPr/>
          <p:nvPr/>
        </p:nvSpPr>
        <p:spPr>
          <a:xfrm>
            <a:off x="3746856" y="5420254"/>
            <a:ext cx="1750422" cy="38317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</a:t>
            </a:r>
          </a:p>
        </p:txBody>
      </p:sp>
      <p:sp>
        <p:nvSpPr>
          <p:cNvPr id="6" name="Блок-схема: данные 5">
            <a:extLst>
              <a:ext uri="{FF2B5EF4-FFF2-40B4-BE49-F238E27FC236}">
                <a16:creationId xmlns:a16="http://schemas.microsoft.com/office/drawing/2014/main" id="{04DEC05A-0F74-49E4-B077-287F4CEAB0D8}"/>
              </a:ext>
            </a:extLst>
          </p:cNvPr>
          <p:cNvSpPr/>
          <p:nvPr/>
        </p:nvSpPr>
        <p:spPr>
          <a:xfrm>
            <a:off x="3381103" y="797035"/>
            <a:ext cx="2381794" cy="38317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CA70F13-55F5-4643-8322-BA3F2409DB60}"/>
              </a:ext>
            </a:extLst>
          </p:cNvPr>
          <p:cNvCxnSpPr>
            <a:stCxn id="4" idx="2"/>
            <a:endCxn id="6" idx="1"/>
          </p:cNvCxnSpPr>
          <p:nvPr/>
        </p:nvCxnSpPr>
        <p:spPr>
          <a:xfrm>
            <a:off x="4572000" y="590106"/>
            <a:ext cx="0" cy="206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Блок-схема: процесс 8">
            <a:extLst>
              <a:ext uri="{FF2B5EF4-FFF2-40B4-BE49-F238E27FC236}">
                <a16:creationId xmlns:a16="http://schemas.microsoft.com/office/drawing/2014/main" id="{B77B0988-247C-4E48-9173-172439EEA9BC}"/>
              </a:ext>
            </a:extLst>
          </p:cNvPr>
          <p:cNvSpPr/>
          <p:nvPr/>
        </p:nvSpPr>
        <p:spPr>
          <a:xfrm>
            <a:off x="3886771" y="2869468"/>
            <a:ext cx="1634993" cy="66211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Блок-схема: решение 11">
            <a:extLst>
              <a:ext uri="{FF2B5EF4-FFF2-40B4-BE49-F238E27FC236}">
                <a16:creationId xmlns:a16="http://schemas.microsoft.com/office/drawing/2014/main" id="{DCB8614B-E0D0-4888-B49C-946ED9E0838F}"/>
              </a:ext>
            </a:extLst>
          </p:cNvPr>
          <p:cNvSpPr/>
          <p:nvPr/>
        </p:nvSpPr>
        <p:spPr>
          <a:xfrm>
            <a:off x="3075744" y="1344073"/>
            <a:ext cx="2965269" cy="73369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sz="1800" i="1" dirty="0">
                <a:latin typeface="Times New Roman" panose="02020603050405020304" pitchFamily="18" charset="0"/>
              </a:rPr>
              <a:t>f </a:t>
            </a:r>
            <a:r>
              <a:rPr lang="en-US" altLang="ru-RU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</a:t>
            </a:r>
            <a:r>
              <a:rPr lang="en-US" altLang="ru-RU" sz="1800" dirty="0">
                <a:latin typeface="Times New Roman" panose="02020603050405020304" pitchFamily="18" charset="0"/>
              </a:rPr>
              <a:t>(</a:t>
            </a:r>
            <a:r>
              <a:rPr lang="en-US" altLang="ru-RU" sz="1800" i="1" dirty="0">
                <a:latin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</a:rPr>
              <a:t>)</a:t>
            </a:r>
            <a:r>
              <a:rPr lang="en-US" altLang="ru-RU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ru-RU" sz="1800" i="1" dirty="0">
                <a:latin typeface="Times New Roman" panose="02020603050405020304" pitchFamily="18" charset="0"/>
              </a:rPr>
              <a:t>f</a:t>
            </a:r>
            <a:r>
              <a:rPr lang="en-US" altLang="ru-RU" sz="1800" dirty="0">
                <a:latin typeface="Times New Roman" panose="02020603050405020304" pitchFamily="18" charset="0"/>
              </a:rPr>
              <a:t>(</a:t>
            </a:r>
            <a:r>
              <a:rPr lang="en-US" altLang="ru-RU" sz="1800" i="1" dirty="0">
                <a:latin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</a:rPr>
              <a:t>) &gt; 0</a:t>
            </a:r>
            <a:endParaRPr lang="ru-RU" dirty="0"/>
          </a:p>
        </p:txBody>
      </p:sp>
      <p:sp>
        <p:nvSpPr>
          <p:cNvPr id="14" name="Блок-схема: процесс 13">
            <a:extLst>
              <a:ext uri="{FF2B5EF4-FFF2-40B4-BE49-F238E27FC236}">
                <a16:creationId xmlns:a16="http://schemas.microsoft.com/office/drawing/2014/main" id="{6CFE744D-671B-456E-A731-E9036194905D}"/>
              </a:ext>
            </a:extLst>
          </p:cNvPr>
          <p:cNvSpPr/>
          <p:nvPr/>
        </p:nvSpPr>
        <p:spPr>
          <a:xfrm>
            <a:off x="6257899" y="1882921"/>
            <a:ext cx="1201783" cy="38534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0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Блок-схема: процесс 14">
            <a:extLst>
              <a:ext uri="{FF2B5EF4-FFF2-40B4-BE49-F238E27FC236}">
                <a16:creationId xmlns:a16="http://schemas.microsoft.com/office/drawing/2014/main" id="{376FD26A-046F-49AD-96D8-5501D8A99257}"/>
              </a:ext>
            </a:extLst>
          </p:cNvPr>
          <p:cNvSpPr/>
          <p:nvPr/>
        </p:nvSpPr>
        <p:spPr>
          <a:xfrm>
            <a:off x="1684318" y="1885100"/>
            <a:ext cx="1201783" cy="38534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0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EC7707FE-E158-4D1C-9592-EEB31A4AB118}"/>
              </a:ext>
            </a:extLst>
          </p:cNvPr>
          <p:cNvCxnSpPr>
            <a:cxnSpLocks/>
            <a:stCxn id="12" idx="1"/>
            <a:endCxn id="15" idx="0"/>
          </p:cNvCxnSpPr>
          <p:nvPr/>
        </p:nvCxnSpPr>
        <p:spPr>
          <a:xfrm rot="10800000" flipV="1">
            <a:off x="2285210" y="1710922"/>
            <a:ext cx="790534" cy="1741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41F3AD3A-5EE7-4C02-BF34-4023D7BEB060}"/>
              </a:ext>
            </a:extLst>
          </p:cNvPr>
          <p:cNvCxnSpPr>
            <a:cxnSpLocks/>
            <a:stCxn id="12" idx="3"/>
            <a:endCxn id="14" idx="0"/>
          </p:cNvCxnSpPr>
          <p:nvPr/>
        </p:nvCxnSpPr>
        <p:spPr>
          <a:xfrm>
            <a:off x="6041013" y="1710923"/>
            <a:ext cx="817778" cy="1719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Блок-схема: решение 17">
            <a:extLst>
              <a:ext uri="{FF2B5EF4-FFF2-40B4-BE49-F238E27FC236}">
                <a16:creationId xmlns:a16="http://schemas.microsoft.com/office/drawing/2014/main" id="{3EC54406-E59A-44DB-A40C-B08F36F09EE1}"/>
              </a:ext>
            </a:extLst>
          </p:cNvPr>
          <p:cNvSpPr/>
          <p:nvPr/>
        </p:nvSpPr>
        <p:spPr>
          <a:xfrm>
            <a:off x="3449530" y="3852286"/>
            <a:ext cx="2516777" cy="73369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dirty="0">
                <a:latin typeface="Times New Roman" panose="02020603050405020304" pitchFamily="18" charset="0"/>
              </a:rPr>
              <a:t>|</a:t>
            </a:r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dirty="0">
                <a:latin typeface="Times New Roman" panose="02020603050405020304" pitchFamily="18" charset="0"/>
              </a:rPr>
              <a:t> – </a:t>
            </a:r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0</a:t>
            </a:r>
            <a:r>
              <a:rPr lang="en-US" altLang="ru-RU" sz="1800" i="1" dirty="0">
                <a:latin typeface="Times New Roman" panose="02020603050405020304" pitchFamily="18" charset="0"/>
              </a:rPr>
              <a:t>|</a:t>
            </a:r>
            <a:r>
              <a:rPr lang="en-US" altLang="ru-RU" sz="1800" dirty="0">
                <a:latin typeface="Times New Roman" panose="02020603050405020304" pitchFamily="18" charset="0"/>
              </a:rPr>
              <a:t> &lt;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ru-RU" dirty="0"/>
          </a:p>
        </p:txBody>
      </p:sp>
      <p:sp>
        <p:nvSpPr>
          <p:cNvPr id="19" name="Блок-схема: данные 18">
            <a:extLst>
              <a:ext uri="{FF2B5EF4-FFF2-40B4-BE49-F238E27FC236}">
                <a16:creationId xmlns:a16="http://schemas.microsoft.com/office/drawing/2014/main" id="{FC1C70F4-EE36-455C-8305-C96403E4B2EC}"/>
              </a:ext>
            </a:extLst>
          </p:cNvPr>
          <p:cNvSpPr/>
          <p:nvPr/>
        </p:nvSpPr>
        <p:spPr>
          <a:xfrm>
            <a:off x="5504754" y="4608506"/>
            <a:ext cx="2381794" cy="38317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f(x)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4240AE5D-4D7E-4290-B328-541D24C7C40C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966307" y="4219136"/>
            <a:ext cx="729344" cy="3893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5C8AC4CE-EAD5-4371-8DF8-DE042EF81B4E}"/>
              </a:ext>
            </a:extLst>
          </p:cNvPr>
          <p:cNvCxnSpPr>
            <a:cxnSpLocks/>
            <a:stCxn id="19" idx="4"/>
          </p:cNvCxnSpPr>
          <p:nvPr/>
        </p:nvCxnSpPr>
        <p:spPr>
          <a:xfrm rot="5400000">
            <a:off x="5455077" y="4166147"/>
            <a:ext cx="415041" cy="20661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 Box 11">
            <a:extLst>
              <a:ext uri="{FF2B5EF4-FFF2-40B4-BE49-F238E27FC236}">
                <a16:creationId xmlns:a16="http://schemas.microsoft.com/office/drawing/2014/main" id="{A4AC68DD-8BFD-438B-BF43-3F48262B1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2434" y="1254689"/>
            <a:ext cx="521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Да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26" name="Text Box 11">
            <a:extLst>
              <a:ext uri="{FF2B5EF4-FFF2-40B4-BE49-F238E27FC236}">
                <a16:creationId xmlns:a16="http://schemas.microsoft.com/office/drawing/2014/main" id="{B4127F05-336D-45D4-BEE2-11A8E3ED2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9682" y="3758151"/>
            <a:ext cx="521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Да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27" name="Text Box 11">
            <a:extLst>
              <a:ext uri="{FF2B5EF4-FFF2-40B4-BE49-F238E27FC236}">
                <a16:creationId xmlns:a16="http://schemas.microsoft.com/office/drawing/2014/main" id="{16AD5212-EE3D-4BB0-A038-7EB4965B6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579" y="3757470"/>
            <a:ext cx="631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Нет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EE94F61C-CA94-4094-AC66-5D1BE8A62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144" y="1295672"/>
            <a:ext cx="631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Нет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168F3BF-351C-4AA4-9BCA-CC7F50185135}"/>
                  </a:ext>
                </a:extLst>
              </p:cNvPr>
              <p:cNvSpPr txBox="1"/>
              <p:nvPr/>
            </p:nvSpPr>
            <p:spPr>
              <a:xfrm>
                <a:off x="3927924" y="2873546"/>
                <a:ext cx="1528526" cy="586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ru-RU" i="1" dirty="0">
                          <a:latin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ru-RU" i="1" baseline="-25000" dirty="0">
                          <a:latin typeface="Times New Roman" panose="020206030504050203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ru-RU" i="1" dirty="0">
                                  <a:latin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ru-RU" i="1" baseline="-25000" dirty="0">
                                  <a:latin typeface="Times New Roman" panose="020206030504050203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m:rPr>
                              <m:nor/>
                            </m:rPr>
                            <a:rPr lang="en-US" altLang="ru-RU" i="1" dirty="0">
                              <a:latin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ru-RU" i="1" baseline="-25000" dirty="0">
                              <a:latin typeface="Times New Roman" panose="02020603050405020304" pitchFamily="18" charset="0"/>
                            </a:rPr>
                            <m:t>0</m:t>
                          </m:r>
                          <m:r>
                            <m:rPr>
                              <m:lit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168F3BF-351C-4AA4-9BCA-CC7F50185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924" y="2873546"/>
                <a:ext cx="152852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4F4DC76F-26B6-45A3-B667-E36D5D39DDCB}"/>
              </a:ext>
            </a:extLst>
          </p:cNvPr>
          <p:cNvCxnSpPr>
            <a:stCxn id="15" idx="2"/>
            <a:endCxn id="37" idx="0"/>
          </p:cNvCxnSpPr>
          <p:nvPr/>
        </p:nvCxnSpPr>
        <p:spPr>
          <a:xfrm rot="16200000" flipH="1">
            <a:off x="3187147" y="1368506"/>
            <a:ext cx="603102" cy="2406977"/>
          </a:xfrm>
          <a:prstGeom prst="bentConnector3">
            <a:avLst>
              <a:gd name="adj1" fmla="val 2689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Соединитель: уступ 42">
            <a:extLst>
              <a:ext uri="{FF2B5EF4-FFF2-40B4-BE49-F238E27FC236}">
                <a16:creationId xmlns:a16="http://schemas.microsoft.com/office/drawing/2014/main" id="{549D037A-E43C-4DFE-9BF3-2B3BFD3DFCD5}"/>
              </a:ext>
            </a:extLst>
          </p:cNvPr>
          <p:cNvCxnSpPr>
            <a:stCxn id="14" idx="2"/>
            <a:endCxn id="37" idx="0"/>
          </p:cNvCxnSpPr>
          <p:nvPr/>
        </p:nvCxnSpPr>
        <p:spPr>
          <a:xfrm rot="5400000">
            <a:off x="5472849" y="1487603"/>
            <a:ext cx="605281" cy="2166604"/>
          </a:xfrm>
          <a:prstGeom prst="bentConnector3">
            <a:avLst>
              <a:gd name="adj1" fmla="val 2841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Блок-схема: процесс 45">
            <a:extLst>
              <a:ext uri="{FF2B5EF4-FFF2-40B4-BE49-F238E27FC236}">
                <a16:creationId xmlns:a16="http://schemas.microsoft.com/office/drawing/2014/main" id="{8322F669-585C-4587-BA23-4C03DF5B62C2}"/>
              </a:ext>
            </a:extLst>
          </p:cNvPr>
          <p:cNvSpPr/>
          <p:nvPr/>
        </p:nvSpPr>
        <p:spPr>
          <a:xfrm>
            <a:off x="2540503" y="4629215"/>
            <a:ext cx="1201783" cy="38534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0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Соединитель: уступ 47">
            <a:extLst>
              <a:ext uri="{FF2B5EF4-FFF2-40B4-BE49-F238E27FC236}">
                <a16:creationId xmlns:a16="http://schemas.microsoft.com/office/drawing/2014/main" id="{9C2BAA06-2C27-4BBE-A505-E63E3DEEC691}"/>
              </a:ext>
            </a:extLst>
          </p:cNvPr>
          <p:cNvCxnSpPr>
            <a:stCxn id="18" idx="1"/>
            <a:endCxn id="46" idx="0"/>
          </p:cNvCxnSpPr>
          <p:nvPr/>
        </p:nvCxnSpPr>
        <p:spPr>
          <a:xfrm rot="10800000" flipV="1">
            <a:off x="3141396" y="4219135"/>
            <a:ext cx="308135" cy="4100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Соединитель: уступ 49">
            <a:extLst>
              <a:ext uri="{FF2B5EF4-FFF2-40B4-BE49-F238E27FC236}">
                <a16:creationId xmlns:a16="http://schemas.microsoft.com/office/drawing/2014/main" id="{C16F2F1D-68BB-464C-B5E5-A48FD0885260}"/>
              </a:ext>
            </a:extLst>
          </p:cNvPr>
          <p:cNvCxnSpPr>
            <a:stCxn id="46" idx="2"/>
            <a:endCxn id="37" idx="0"/>
          </p:cNvCxnSpPr>
          <p:nvPr/>
        </p:nvCxnSpPr>
        <p:spPr>
          <a:xfrm rot="5400000" flipH="1" flipV="1">
            <a:off x="2846284" y="3168657"/>
            <a:ext cx="2141013" cy="1550792"/>
          </a:xfrm>
          <a:prstGeom prst="bentConnector5">
            <a:avLst>
              <a:gd name="adj1" fmla="val -10677"/>
              <a:gd name="adj2" fmla="val -55224"/>
              <a:gd name="adj3" fmla="val 11067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C9C662C8-C180-462F-9408-F865846A6388}"/>
              </a:ext>
            </a:extLst>
          </p:cNvPr>
          <p:cNvCxnSpPr>
            <a:stCxn id="9" idx="2"/>
            <a:endCxn id="18" idx="0"/>
          </p:cNvCxnSpPr>
          <p:nvPr/>
        </p:nvCxnSpPr>
        <p:spPr>
          <a:xfrm>
            <a:off x="4704268" y="3531587"/>
            <a:ext cx="3651" cy="320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6E2FDBE3-1074-4F79-9069-3B54AB128527}"/>
              </a:ext>
            </a:extLst>
          </p:cNvPr>
          <p:cNvCxnSpPr>
            <a:stCxn id="6" idx="4"/>
            <a:endCxn id="12" idx="0"/>
          </p:cNvCxnSpPr>
          <p:nvPr/>
        </p:nvCxnSpPr>
        <p:spPr>
          <a:xfrm flipH="1">
            <a:off x="4558379" y="1180210"/>
            <a:ext cx="13621" cy="163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574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3575" y="1206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u-RU" altLang="ru-RU" sz="2800" b="1" dirty="0">
                <a:latin typeface="Times New Roman" panose="02020603050405020304" pitchFamily="18" charset="0"/>
              </a:rPr>
              <a:t>Метод простых итераций и сжимающие отображения. Идея</a:t>
            </a:r>
            <a:endParaRPr lang="ru-RU" sz="2800" b="1" i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7380288" y="3141663"/>
            <a:ext cx="647700" cy="3587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7499350" y="3224213"/>
            <a:ext cx="647700" cy="3603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7499350" y="2881313"/>
            <a:ext cx="574675" cy="3730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68313" y="1593850"/>
            <a:ext cx="8424862" cy="4525963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Times New Roman" panose="02020603050405020304" pitchFamily="18" charset="0"/>
              </a:rPr>
              <a:t>Для нахождения корней уравнения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lang="ru-RU" dirty="0">
                <a:latin typeface="Times New Roman" panose="02020603050405020304" pitchFamily="18" charset="0"/>
              </a:rPr>
              <a:t>заменим его эквивалентным уравнением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ru-RU" dirty="0"/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r>
              <a:rPr 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Затем</a:t>
            </a:r>
            <a:r>
              <a:rPr lang="ru-RU" altLang="ru-RU" dirty="0">
                <a:latin typeface="Times New Roman" panose="02020603050405020304" pitchFamily="18" charset="0"/>
              </a:rPr>
              <a:t> построим последовательность  </a:t>
            </a:r>
            <a:endParaRPr lang="ru-RU" altLang="ru-RU" i="1" dirty="0">
              <a:latin typeface="Times New Roman" panose="02020603050405020304" pitchFamily="18" charset="0"/>
            </a:endParaRPr>
          </a:p>
          <a:p>
            <a:pPr marL="0" indent="0"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n+1</a:t>
            </a:r>
            <a:r>
              <a:rPr lang="ru-RU" altLang="ru-RU" i="1" dirty="0">
                <a:latin typeface="Times New Roman" panose="02020603050405020304" pitchFamily="18" charset="0"/>
              </a:rPr>
              <a:t> = 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dirty="0">
                <a:latin typeface="Times New Roman" panose="02020603050405020304" pitchFamily="18" charset="0"/>
              </a:rPr>
              <a:t>(</a:t>
            </a:r>
            <a:r>
              <a:rPr lang="ru-RU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n</a:t>
            </a:r>
            <a:r>
              <a:rPr lang="ru-RU" altLang="ru-RU" dirty="0">
                <a:latin typeface="Times New Roman" panose="02020603050405020304" pitchFamily="18" charset="0"/>
              </a:rPr>
              <a:t>)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ru-RU" altLang="ru-RU" dirty="0">
                <a:latin typeface="Times New Roman" panose="02020603050405020304" pitchFamily="18" charset="0"/>
              </a:rPr>
              <a:t>которая при </a:t>
            </a:r>
            <a:r>
              <a:rPr lang="ru-RU" altLang="ru-RU" i="1" dirty="0">
                <a:latin typeface="Times New Roman" panose="02020603050405020304" pitchFamily="18" charset="0"/>
              </a:rPr>
              <a:t>n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</a:t>
            </a:r>
            <a:r>
              <a:rPr lang="ru-RU" altLang="ru-RU" dirty="0">
                <a:latin typeface="Times New Roman" panose="02020603050405020304" pitchFamily="18" charset="0"/>
              </a:rPr>
              <a:t> может быть сходящейся, а может быть расходящейся. Легко заметить, что предел этой последовательности равен точному значению корня.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ru-RU" altLang="ru-RU" dirty="0">
                <a:latin typeface="Times New Roman" panose="02020603050405020304" pitchFamily="18" charset="0"/>
              </a:rPr>
              <a:t>Вопрос: как гарантировать сходимость?</a:t>
            </a:r>
            <a:endParaRPr lang="en-US" altLang="ru-RU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3585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3575" y="11747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u-RU" altLang="ru-RU" sz="2800" b="1" dirty="0">
                <a:latin typeface="Times New Roman" panose="02020603050405020304" pitchFamily="18" charset="0"/>
              </a:rPr>
              <a:t>Метод простых итераций и сжимающие отображения. Идея</a:t>
            </a:r>
            <a:endParaRPr lang="ru-RU" sz="2800" b="1" i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7380288" y="3141663"/>
            <a:ext cx="647700" cy="3587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7499350" y="3224213"/>
            <a:ext cx="647700" cy="3603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7499350" y="2881313"/>
            <a:ext cx="574675" cy="3730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342" name="Объект 3"/>
          <p:cNvSpPr>
            <a:spLocks noGrp="1"/>
          </p:cNvSpPr>
          <p:nvPr>
            <p:ph idx="1"/>
          </p:nvPr>
        </p:nvSpPr>
        <p:spPr>
          <a:xfrm>
            <a:off x="250825" y="1593850"/>
            <a:ext cx="864235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Вопрос: как гарантировать сходимость?</a:t>
            </a:r>
            <a:endParaRPr lang="en-US" altLang="ru-RU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Итерационная последовательность </a:t>
            </a:r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n+1</a:t>
            </a:r>
            <a:r>
              <a:rPr lang="ru-RU" altLang="ru-RU" i="1" dirty="0">
                <a:latin typeface="Times New Roman" panose="02020603050405020304" pitchFamily="18" charset="0"/>
              </a:rPr>
              <a:t> = 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dirty="0">
                <a:latin typeface="Times New Roman" panose="02020603050405020304" pitchFamily="18" charset="0"/>
              </a:rPr>
              <a:t>(</a:t>
            </a:r>
            <a:r>
              <a:rPr lang="ru-RU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n</a:t>
            </a:r>
            <a:r>
              <a:rPr lang="ru-RU" altLang="ru-RU" dirty="0">
                <a:latin typeface="Times New Roman" panose="02020603050405020304" pitchFamily="18" charset="0"/>
              </a:rPr>
              <a:t>) будет сходиться, если отображение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будет сжимающим, т.е. </a:t>
            </a:r>
            <a:endParaRPr lang="en-US" altLang="ru-RU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Tx/>
              <a:buNone/>
            </a:pP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(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(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)|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≤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l-GR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α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|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| –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условие Липшица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0 &lt; </a:t>
            </a:r>
            <a:r>
              <a:rPr lang="el-GR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α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&lt; 1</a:t>
            </a:r>
            <a:endParaRPr lang="ru-RU" altLang="ru-RU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Tx/>
              <a:buNone/>
            </a:pP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7101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206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u-RU" altLang="ru-RU" sz="2800" b="1" dirty="0">
                <a:latin typeface="Times New Roman" panose="02020603050405020304" pitchFamily="18" charset="0"/>
              </a:rPr>
              <a:t>Метод простых итераций и сжимающие отображения. Идея</a:t>
            </a:r>
            <a:endParaRPr lang="ru-RU" sz="2800" b="1" i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7380288" y="3141663"/>
            <a:ext cx="647700" cy="3587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7499350" y="3224213"/>
            <a:ext cx="647700" cy="3603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7499350" y="2881313"/>
            <a:ext cx="574675" cy="3730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366" name="Объект 3"/>
          <p:cNvSpPr>
            <a:spLocks noGrp="1"/>
          </p:cNvSpPr>
          <p:nvPr>
            <p:ph idx="1"/>
          </p:nvPr>
        </p:nvSpPr>
        <p:spPr>
          <a:xfrm>
            <a:off x="250825" y="1593850"/>
            <a:ext cx="8642350" cy="4525963"/>
          </a:xfrm>
          <a:solidFill>
            <a:schemeClr val="bg1"/>
          </a:solidFill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По теореме Лагранжа если функция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(</a:t>
            </a:r>
            <a:r>
              <a:rPr lang="ru-RU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х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 дифференцируема, то (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(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 = 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'(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для некоторой точки с из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отрезка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Если для любой точки </a:t>
            </a:r>
            <a:r>
              <a:rPr lang="ru-RU" altLang="ru-RU" i="1" dirty="0">
                <a:latin typeface="Times New Roman" panose="02020603050405020304" pitchFamily="18" charset="0"/>
              </a:rPr>
              <a:t>х</a:t>
            </a:r>
            <a:r>
              <a:rPr lang="ru-RU" altLang="ru-RU" dirty="0">
                <a:latin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из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выполняется </a:t>
            </a:r>
          </a:p>
          <a:p>
            <a:pPr marL="0" indent="0">
              <a:buFontTx/>
              <a:buNone/>
            </a:pP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ru-RU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'(</a:t>
            </a:r>
            <a:r>
              <a:rPr lang="en-US" altLang="ru-RU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)|</a:t>
            </a:r>
            <a:r>
              <a:rPr lang="ru-RU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 ≤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ru-RU" altLang="ru-RU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ru-RU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marL="0" indent="0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то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(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(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'(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)||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≤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·|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где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l-GR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α</a:t>
            </a:r>
            <a:r>
              <a:rPr lang="ru-RU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– отображение будет сжимающим</a:t>
            </a:r>
          </a:p>
          <a:p>
            <a:pPr marL="0" indent="0">
              <a:buFontTx/>
              <a:buNone/>
            </a:pPr>
            <a:endParaRPr lang="ru-RU" altLang="ru-RU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ru-RU" altLang="ru-RU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410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0825" y="45085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u-RU" altLang="ru-RU" sz="2800" b="1" dirty="0">
                <a:latin typeface="Times New Roman" panose="02020603050405020304" pitchFamily="18" charset="0"/>
              </a:rPr>
              <a:t>Метод простых итераций и сжимающие отображения. Идея</a:t>
            </a:r>
            <a:endParaRPr lang="ru-RU" sz="2800" b="1" i="1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7380288" y="3141663"/>
            <a:ext cx="647700" cy="3587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7499350" y="3224213"/>
            <a:ext cx="647700" cy="3603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7499350" y="2881313"/>
            <a:ext cx="574675" cy="3730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6390" name="Объект 3"/>
          <p:cNvSpPr>
            <a:spLocks noGrp="1"/>
          </p:cNvSpPr>
          <p:nvPr>
            <p:ph idx="1"/>
          </p:nvPr>
        </p:nvSpPr>
        <p:spPr>
          <a:xfrm>
            <a:off x="250825" y="1593850"/>
            <a:ext cx="8642350" cy="4525963"/>
          </a:xfrm>
          <a:solidFill>
            <a:schemeClr val="bg1"/>
          </a:solidFill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i="1" dirty="0">
                <a:latin typeface="Times New Roman" panose="02020603050405020304" pitchFamily="18" charset="0"/>
              </a:rPr>
              <a:t>Вывод</a:t>
            </a:r>
            <a:r>
              <a:rPr lang="ru-RU" altLang="ru-RU" dirty="0">
                <a:latin typeface="Times New Roman" panose="02020603050405020304" pitchFamily="18" charset="0"/>
              </a:rPr>
              <a:t>: если для любого </a:t>
            </a:r>
            <a:r>
              <a:rPr lang="ru-RU" altLang="ru-RU" i="1" dirty="0">
                <a:latin typeface="Times New Roman" panose="02020603050405020304" pitchFamily="18" charset="0"/>
              </a:rPr>
              <a:t>х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a,</a:t>
            </a:r>
            <a:r>
              <a:rPr lang="ru-RU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0" indent="0"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</a:rPr>
              <a:t> </a:t>
            </a:r>
            <a:r>
              <a:rPr lang="ru-RU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и 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ru-RU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'(</a:t>
            </a:r>
            <a:r>
              <a:rPr lang="en-US" altLang="ru-RU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)|</a:t>
            </a:r>
            <a:r>
              <a:rPr lang="ru-RU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 ≤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ru-RU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ru-RU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ru-RU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то итерационная последовательность </a:t>
            </a:r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n+1</a:t>
            </a:r>
            <a:r>
              <a:rPr lang="ru-RU" altLang="ru-RU" i="1" dirty="0">
                <a:latin typeface="Times New Roman" panose="02020603050405020304" pitchFamily="18" charset="0"/>
              </a:rPr>
              <a:t> = 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dirty="0">
                <a:latin typeface="Times New Roman" panose="02020603050405020304" pitchFamily="18" charset="0"/>
              </a:rPr>
              <a:t>(</a:t>
            </a:r>
            <a:r>
              <a:rPr lang="ru-RU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n</a:t>
            </a:r>
            <a:r>
              <a:rPr lang="ru-RU" altLang="ru-RU" dirty="0">
                <a:latin typeface="Times New Roman" panose="02020603050405020304" pitchFamily="18" charset="0"/>
              </a:rPr>
              <a:t>)</a:t>
            </a:r>
          </a:p>
          <a:p>
            <a:pPr marL="0" indent="0" algn="just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будет сходиться независимо от выбора начального приближения </a:t>
            </a:r>
            <a:r>
              <a:rPr lang="ru-RU" altLang="ru-RU" i="1" dirty="0">
                <a:latin typeface="Times New Roman" panose="02020603050405020304" pitchFamily="18" charset="0"/>
              </a:rPr>
              <a:t>х</a:t>
            </a:r>
            <a:r>
              <a:rPr lang="ru-RU" altLang="ru-RU" baseline="-25000" dirty="0">
                <a:latin typeface="Times New Roman" panose="02020603050405020304" pitchFamily="18" charset="0"/>
              </a:rPr>
              <a:t>0</a:t>
            </a:r>
            <a:r>
              <a:rPr lang="en-US" altLang="ru-RU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marL="0" indent="0" algn="just">
              <a:buFontTx/>
              <a:buNone/>
            </a:pPr>
            <a:endParaRPr lang="ru-RU" altLang="ru-RU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algn="just">
              <a:buFontTx/>
              <a:buNone/>
            </a:pPr>
            <a:endParaRPr lang="ru-RU" altLang="ru-RU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ru-RU" altLang="ru-RU" dirty="0"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ru-RU" altLang="ru-RU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445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228600"/>
            <a:ext cx="7867650" cy="6080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3000" b="1">
                <a:latin typeface="Times New Roman" panose="02020603050405020304" pitchFamily="18" charset="0"/>
              </a:rPr>
              <a:t>Метод простых итераций. Алгоритм</a:t>
            </a:r>
            <a:br>
              <a:rPr lang="ru-RU" altLang="ru-RU" sz="3000" b="1">
                <a:latin typeface="Times New Roman" panose="02020603050405020304" pitchFamily="18" charset="0"/>
              </a:rPr>
            </a:br>
            <a:endParaRPr lang="ru-RU" altLang="ru-RU" sz="3000" b="1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7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79463" y="611188"/>
                <a:ext cx="8056562" cy="5753100"/>
              </a:xfrm>
            </p:spPr>
            <p:txBody>
              <a:bodyPr>
                <a:normAutofit/>
              </a:bodyPr>
              <a:lstStyle/>
              <a:p>
                <a:pPr marL="514350" indent="-514350" algn="just" eaLnBrk="1" hangingPunct="1">
                  <a:buFont typeface="Wingdings" panose="05000000000000000000" pitchFamily="2" charset="2"/>
                  <a:buAutoNum type="arabicPeriod"/>
                  <a:defRPr/>
                </a:pPr>
                <a:r>
                  <a:rPr lang="ru-RU" altLang="ru-RU" sz="2400" dirty="0">
                    <a:latin typeface="Times New Roman" panose="02020603050405020304" pitchFamily="18" charset="0"/>
                  </a:rPr>
                  <a:t>Отделить корень.</a:t>
                </a:r>
              </a:p>
              <a:p>
                <a:pPr marL="514350" indent="-514350" algn="just" eaLnBrk="1" hangingPunct="1">
                  <a:buFont typeface="Wingdings" panose="05000000000000000000" pitchFamily="2" charset="2"/>
                  <a:buAutoNum type="arabicPeriod"/>
                  <a:defRPr/>
                </a:pPr>
                <a:r>
                  <a:rPr lang="ru-RU" altLang="ru-RU" sz="2400" dirty="0">
                    <a:latin typeface="Times New Roman" panose="02020603050405020304" pitchFamily="18" charset="0"/>
                  </a:rPr>
                  <a:t>Заменить исходное уравнение </a:t>
                </a:r>
                <a:r>
                  <a:rPr lang="ru-RU" altLang="ru-RU" sz="2400" i="1" dirty="0">
                    <a:latin typeface="Times New Roman" panose="02020603050405020304" pitchFamily="18" charset="0"/>
                  </a:rPr>
                  <a:t>f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(</a:t>
                </a:r>
                <a:r>
                  <a:rPr lang="ru-RU" altLang="ru-RU" sz="2400" i="1" dirty="0">
                    <a:latin typeface="Times New Roman" panose="02020603050405020304" pitchFamily="18" charset="0"/>
                  </a:rPr>
                  <a:t>x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) </a:t>
                </a:r>
                <a:r>
                  <a:rPr lang="ru-RU" altLang="ru-RU" sz="2400" i="1" dirty="0">
                    <a:latin typeface="Times New Roman" panose="02020603050405020304" pitchFamily="18" charset="0"/>
                  </a:rPr>
                  <a:t>= 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0 эквивалентным ему уравнением </a:t>
                </a:r>
                <a:r>
                  <a:rPr lang="ru-RU" altLang="ru-RU" sz="2400" i="1" dirty="0">
                    <a:latin typeface="Times New Roman" panose="02020603050405020304" pitchFamily="18" charset="0"/>
                  </a:rPr>
                  <a:t>x = 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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(</a:t>
                </a:r>
                <a:r>
                  <a:rPr lang="ru-RU" altLang="ru-RU" sz="2400" i="1" dirty="0">
                    <a:latin typeface="Times New Roman" panose="02020603050405020304" pitchFamily="18" charset="0"/>
                  </a:rPr>
                  <a:t>x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).</a:t>
                </a:r>
              </a:p>
              <a:p>
                <a:pPr marL="514350" indent="-514350" algn="just" eaLnBrk="1" hangingPunct="1">
                  <a:buFont typeface="Wingdings" panose="05000000000000000000" pitchFamily="2" charset="2"/>
                  <a:buAutoNum type="arabicPeriod"/>
                  <a:defRPr/>
                </a:pPr>
                <a:r>
                  <a:rPr lang="ru-RU" altLang="ru-RU" sz="2400" dirty="0">
                    <a:latin typeface="Times New Roman" panose="02020603050405020304" pitchFamily="18" charset="0"/>
                  </a:rPr>
                  <a:t>Найти </a:t>
                </a:r>
                <a:r>
                  <a:rPr lang="en-US" altLang="ru-RU" sz="2400" i="1" dirty="0">
                    <a:latin typeface="Times New Roman" panose="02020603050405020304" pitchFamily="18" charset="0"/>
                  </a:rPr>
                  <a:t>q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2400" dirty="0">
                    <a:latin typeface="Times New Roman" panose="02020603050405020304" pitchFamily="18" charset="0"/>
                  </a:rPr>
                  <a:t>=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2400" dirty="0">
                    <a:latin typeface="Times New Roman" panose="02020603050405020304" pitchFamily="18" charset="0"/>
                  </a:rPr>
                  <a:t>max|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</a:t>
                </a:r>
                <a:r>
                  <a:rPr lang="en-US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'(</a:t>
                </a:r>
                <a:r>
                  <a:rPr lang="en-US" altLang="ru-RU" sz="24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)| 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на отрезке </a:t>
                </a:r>
                <a:r>
                  <a:rPr lang="en-US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ru-RU" sz="24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ru-RU" altLang="ru-RU" sz="24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ru-RU" sz="24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]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pPr marL="514350" indent="-514350" algn="just">
                  <a:buFont typeface="Wingdings" panose="05000000000000000000" pitchFamily="2" charset="2"/>
                  <a:buAutoNum type="arabicPeriod"/>
                  <a:defRPr/>
                </a:pP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Если </a:t>
                </a:r>
                <a:r>
                  <a:rPr lang="en-US" altLang="ru-RU" sz="24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q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≥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1 – 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вернуться к п.2 и выполнить замену по-другому. В противном случае запросить точность  и выбрать произвольно </a:t>
                </a:r>
                <a:r>
                  <a:rPr lang="ru-RU" altLang="ru-RU" sz="2400" i="1" dirty="0">
                    <a:latin typeface="Times New Roman" panose="02020603050405020304" pitchFamily="18" charset="0"/>
                  </a:rPr>
                  <a:t>х</a:t>
                </a:r>
                <a:r>
                  <a:rPr lang="ru-RU" altLang="ru-RU" sz="2400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ru-RU" sz="24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[</a:t>
                </a:r>
                <a:r>
                  <a:rPr lang="en-US" altLang="ru-RU" sz="24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a,</a:t>
                </a:r>
                <a:r>
                  <a:rPr lang="ru-RU" altLang="ru-RU" sz="24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ru-RU" sz="24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]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</a:p>
              <a:p>
                <a:pPr marL="514350" indent="-514350" algn="just" eaLnBrk="1" hangingPunct="1">
                  <a:buFont typeface="Wingdings" panose="05000000000000000000" pitchFamily="2" charset="2"/>
                  <a:buAutoNum type="arabicPeriod"/>
                  <a:defRPr/>
                </a:pP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Вычислить очередной член последовательности по формуле </a:t>
                </a:r>
                <a:r>
                  <a:rPr lang="en-US" altLang="ru-RU" sz="2400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ru-RU" sz="2400" i="1" baseline="-25000" dirty="0">
                    <a:latin typeface="Times New Roman" panose="02020603050405020304" pitchFamily="18" charset="0"/>
                  </a:rPr>
                  <a:t>n+1</a:t>
                </a:r>
                <a:r>
                  <a:rPr lang="ru-RU" altLang="ru-RU" sz="2400" i="1" dirty="0">
                    <a:latin typeface="Times New Roman" panose="02020603050405020304" pitchFamily="18" charset="0"/>
                  </a:rPr>
                  <a:t> = 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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(</a:t>
                </a:r>
                <a:r>
                  <a:rPr lang="ru-RU" altLang="ru-RU" sz="2400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ru-RU" sz="2400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)</a:t>
                </a:r>
                <a:r>
                  <a:rPr lang="en-US" altLang="ru-RU" sz="2400" dirty="0">
                    <a:latin typeface="Times New Roman" panose="02020603050405020304" pitchFamily="18" charset="0"/>
                  </a:rPr>
                  <a:t>.</a:t>
                </a:r>
                <a:endParaRPr lang="ru-RU" altLang="ru-RU" sz="2400" dirty="0">
                  <a:latin typeface="Times New Roman" panose="02020603050405020304" pitchFamily="18" charset="0"/>
                </a:endParaRPr>
              </a:p>
              <a:p>
                <a:pPr marL="514350" indent="-514350" algn="just" eaLnBrk="1" hangingPunct="1">
                  <a:buFont typeface="Wingdings" panose="05000000000000000000" pitchFamily="2" charset="2"/>
                  <a:buAutoNum type="arabicPeriod"/>
                  <a:defRPr/>
                </a:pPr>
                <a:r>
                  <a:rPr lang="ru-RU" altLang="ru-RU" sz="2400" dirty="0">
                    <a:latin typeface="Times New Roman" panose="02020603050405020304" pitchFamily="18" charset="0"/>
                  </a:rPr>
                  <a:t>Проверить условие прекращения вычислений. Если выполняется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ru-R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ru-R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ru-RU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ru-R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ru-R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ru-R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ru-RU" sz="24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ru-R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alt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ru-RU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a:rPr lang="en-US" altLang="ru-RU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altLang="ru-RU" sz="2400" dirty="0">
                    <a:latin typeface="Times New Roman" panose="02020603050405020304" pitchFamily="18" charset="0"/>
                  </a:rPr>
                  <a:t>то </a:t>
                </a:r>
                <a:r>
                  <a:rPr lang="en-US" altLang="ru-RU" sz="2400" i="1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ru-RU" sz="2400" i="1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ru-RU" sz="2400" baseline="-25000" dirty="0">
                    <a:latin typeface="Times New Roman" panose="02020603050405020304" pitchFamily="18" charset="0"/>
                  </a:rPr>
                  <a:t>+1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 – приближённое значение корня уравнения с точностью </a:t>
                </a:r>
                <a:r>
                  <a:rPr lang="ru-RU" altLang="ru-RU" sz="24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  <a:r>
                  <a:rPr lang="ru-RU" altLang="ru-RU" sz="2400" dirty="0">
                    <a:latin typeface="Times New Roman" panose="02020603050405020304" pitchFamily="18" charset="0"/>
                  </a:rPr>
                  <a:t>. </a:t>
                </a:r>
                <a:br>
                  <a:rPr lang="ru-RU" altLang="ru-RU" sz="2400" dirty="0">
                    <a:latin typeface="Times New Roman" panose="02020603050405020304" pitchFamily="18" charset="0"/>
                  </a:rPr>
                </a:br>
                <a:r>
                  <a:rPr lang="ru-RU" altLang="ru-RU" sz="2400" dirty="0">
                    <a:latin typeface="Times New Roman" panose="02020603050405020304" pitchFamily="18" charset="0"/>
                  </a:rPr>
                  <a:t>В противном случае перейти к шагу 5. </a:t>
                </a:r>
              </a:p>
              <a:p>
                <a:pPr marL="0" indent="0" algn="ctr" eaLnBrk="1" hangingPunct="1">
                  <a:buFont typeface="Wingdings" panose="05000000000000000000" pitchFamily="2" charset="2"/>
                  <a:buNone/>
                  <a:defRPr/>
                </a:pPr>
                <a:endParaRPr lang="en-US" altLang="ru-RU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7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79463" y="611188"/>
                <a:ext cx="8056562" cy="5753100"/>
              </a:xfrm>
              <a:blipFill>
                <a:blip r:embed="rId2"/>
                <a:stretch>
                  <a:fillRect l="-1060" t="-1483" r="-11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7567983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знак завершения 3">
            <a:extLst>
              <a:ext uri="{FF2B5EF4-FFF2-40B4-BE49-F238E27FC236}">
                <a16:creationId xmlns:a16="http://schemas.microsoft.com/office/drawing/2014/main" id="{AE8D401F-19F3-4AA7-B208-0329B6ABB9B6}"/>
              </a:ext>
            </a:extLst>
          </p:cNvPr>
          <p:cNvSpPr/>
          <p:nvPr/>
        </p:nvSpPr>
        <p:spPr>
          <a:xfrm>
            <a:off x="3698507" y="953790"/>
            <a:ext cx="1591293" cy="38317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</a:t>
            </a:r>
          </a:p>
        </p:txBody>
      </p:sp>
      <p:sp>
        <p:nvSpPr>
          <p:cNvPr id="5" name="Блок-схема: знак завершения 4">
            <a:extLst>
              <a:ext uri="{FF2B5EF4-FFF2-40B4-BE49-F238E27FC236}">
                <a16:creationId xmlns:a16="http://schemas.microsoft.com/office/drawing/2014/main" id="{E262B294-D742-4951-AA3D-DE44EF6A0CB2}"/>
              </a:ext>
            </a:extLst>
          </p:cNvPr>
          <p:cNvSpPr/>
          <p:nvPr/>
        </p:nvSpPr>
        <p:spPr>
          <a:xfrm>
            <a:off x="3548292" y="5035680"/>
            <a:ext cx="1750422" cy="38317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</a:t>
            </a:r>
          </a:p>
        </p:txBody>
      </p:sp>
      <p:sp>
        <p:nvSpPr>
          <p:cNvPr id="6" name="Блок-схема: данные 5">
            <a:extLst>
              <a:ext uri="{FF2B5EF4-FFF2-40B4-BE49-F238E27FC236}">
                <a16:creationId xmlns:a16="http://schemas.microsoft.com/office/drawing/2014/main" id="{31726F54-A86E-4936-84CF-0ED5E69D1F2A}"/>
              </a:ext>
            </a:extLst>
          </p:cNvPr>
          <p:cNvSpPr/>
          <p:nvPr/>
        </p:nvSpPr>
        <p:spPr>
          <a:xfrm>
            <a:off x="3080435" y="1554681"/>
            <a:ext cx="2824913" cy="38317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, </a:t>
            </a:r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0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D8EF010-7D88-49B0-8516-677D4077207D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flipH="1">
            <a:off x="4492892" y="1336966"/>
            <a:ext cx="1262" cy="217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Блок-схема: процесс 7">
            <a:extLst>
              <a:ext uri="{FF2B5EF4-FFF2-40B4-BE49-F238E27FC236}">
                <a16:creationId xmlns:a16="http://schemas.microsoft.com/office/drawing/2014/main" id="{AC2BBC7D-D5FC-47D5-BB93-56F8C2162280}"/>
              </a:ext>
            </a:extLst>
          </p:cNvPr>
          <p:cNvSpPr/>
          <p:nvPr/>
        </p:nvSpPr>
        <p:spPr>
          <a:xfrm>
            <a:off x="3675395" y="2458855"/>
            <a:ext cx="1634993" cy="38317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лок-схема: решение 13">
            <a:extLst>
              <a:ext uri="{FF2B5EF4-FFF2-40B4-BE49-F238E27FC236}">
                <a16:creationId xmlns:a16="http://schemas.microsoft.com/office/drawing/2014/main" id="{47261870-2543-405B-9610-A32CF8EBB5F8}"/>
              </a:ext>
            </a:extLst>
          </p:cNvPr>
          <p:cNvSpPr/>
          <p:nvPr/>
        </p:nvSpPr>
        <p:spPr>
          <a:xfrm>
            <a:off x="3242257" y="3102042"/>
            <a:ext cx="2516777" cy="109937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Блок-схема: данные 14">
            <a:extLst>
              <a:ext uri="{FF2B5EF4-FFF2-40B4-BE49-F238E27FC236}">
                <a16:creationId xmlns:a16="http://schemas.microsoft.com/office/drawing/2014/main" id="{A56192BB-E77D-42F7-A312-07614FD4BBB4}"/>
              </a:ext>
            </a:extLst>
          </p:cNvPr>
          <p:cNvSpPr/>
          <p:nvPr/>
        </p:nvSpPr>
        <p:spPr>
          <a:xfrm>
            <a:off x="5306190" y="4223932"/>
            <a:ext cx="2381794" cy="38317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217CB1DF-0F9D-4C6E-9BFE-0389241BBF2D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5759034" y="3651727"/>
            <a:ext cx="738053" cy="572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4963C235-5D06-442F-85CC-593D72980A2D}"/>
              </a:ext>
            </a:extLst>
          </p:cNvPr>
          <p:cNvCxnSpPr>
            <a:cxnSpLocks/>
            <a:stCxn id="15" idx="4"/>
          </p:cNvCxnSpPr>
          <p:nvPr/>
        </p:nvCxnSpPr>
        <p:spPr>
          <a:xfrm rot="5400000">
            <a:off x="5256513" y="3781573"/>
            <a:ext cx="415041" cy="20661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11">
            <a:extLst>
              <a:ext uri="{FF2B5EF4-FFF2-40B4-BE49-F238E27FC236}">
                <a16:creationId xmlns:a16="http://schemas.microsoft.com/office/drawing/2014/main" id="{6BA90C2C-42B0-45CA-86A5-D31080939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581" y="3213624"/>
            <a:ext cx="521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Да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F3C42EE7-48F8-4719-AB82-6D5FE061D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4483" y="3190061"/>
            <a:ext cx="631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Нет</a:t>
            </a:r>
            <a:endParaRPr lang="ru-RU" altLang="ru-RU" sz="24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BD4E4F-0AAE-4661-9AEF-CAF418371675}"/>
                  </a:ext>
                </a:extLst>
              </p:cNvPr>
              <p:cNvSpPr txBox="1"/>
              <p:nvPr/>
            </p:nvSpPr>
            <p:spPr>
              <a:xfrm>
                <a:off x="3997441" y="2515154"/>
                <a:ext cx="1132876" cy="2831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ru-RU" i="1" dirty="0">
                        <a:latin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ru-RU" i="1" baseline="-25000" dirty="0">
                        <a:latin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dirty="0"/>
                  <a:t>)</a:t>
                </a:r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BD4E4F-0AAE-4661-9AEF-CAF418371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441" y="2515154"/>
                <a:ext cx="1132876" cy="283153"/>
              </a:xfrm>
              <a:prstGeom prst="rect">
                <a:avLst/>
              </a:prstGeom>
              <a:blipFill>
                <a:blip r:embed="rId2"/>
                <a:stretch>
                  <a:fillRect l="-5376" t="-28261" b="-4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Блок-схема: процесс 24">
            <a:extLst>
              <a:ext uri="{FF2B5EF4-FFF2-40B4-BE49-F238E27FC236}">
                <a16:creationId xmlns:a16="http://schemas.microsoft.com/office/drawing/2014/main" id="{B4934665-2AFC-4410-BE85-B7558CEEED60}"/>
              </a:ext>
            </a:extLst>
          </p:cNvPr>
          <p:cNvSpPr/>
          <p:nvPr/>
        </p:nvSpPr>
        <p:spPr>
          <a:xfrm>
            <a:off x="2341939" y="4244641"/>
            <a:ext cx="1201783" cy="38534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ru-RU" i="1" dirty="0">
                <a:latin typeface="Times New Roman" panose="02020603050405020304" pitchFamily="18" charset="0"/>
              </a:rPr>
              <a:t>x</a:t>
            </a:r>
            <a:r>
              <a:rPr lang="en-US" altLang="ru-RU" i="1" baseline="-25000" dirty="0">
                <a:latin typeface="Times New Roman" panose="02020603050405020304" pitchFamily="18" charset="0"/>
              </a:rPr>
              <a:t>0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1F7D099A-99D4-47FC-BE6C-9AD72196DF93}"/>
              </a:ext>
            </a:extLst>
          </p:cNvPr>
          <p:cNvCxnSpPr>
            <a:cxnSpLocks/>
            <a:stCxn id="14" idx="1"/>
            <a:endCxn id="25" idx="0"/>
          </p:cNvCxnSpPr>
          <p:nvPr/>
        </p:nvCxnSpPr>
        <p:spPr>
          <a:xfrm rot="10800000" flipV="1">
            <a:off x="2942831" y="3651727"/>
            <a:ext cx="299426" cy="5929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Соединитель: уступ 26">
            <a:extLst>
              <a:ext uri="{FF2B5EF4-FFF2-40B4-BE49-F238E27FC236}">
                <a16:creationId xmlns:a16="http://schemas.microsoft.com/office/drawing/2014/main" id="{641808D9-031A-417D-ACB4-C26C173C193E}"/>
              </a:ext>
            </a:extLst>
          </p:cNvPr>
          <p:cNvCxnSpPr>
            <a:cxnSpLocks/>
            <a:stCxn id="25" idx="2"/>
            <a:endCxn id="8" idx="0"/>
          </p:cNvCxnSpPr>
          <p:nvPr/>
        </p:nvCxnSpPr>
        <p:spPr>
          <a:xfrm rot="5400000" flipH="1" flipV="1">
            <a:off x="2632296" y="2769389"/>
            <a:ext cx="2171130" cy="1550061"/>
          </a:xfrm>
          <a:prstGeom prst="bentConnector5">
            <a:avLst>
              <a:gd name="adj1" fmla="val -10529"/>
              <a:gd name="adj2" fmla="val -48564"/>
              <a:gd name="adj3" fmla="val 11052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70A5B034-3129-4435-9455-DA7551654DDA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4492892" y="2842031"/>
            <a:ext cx="7754" cy="260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DE7D8E7C-F553-42E2-AB3A-737881AD9AF4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4492892" y="1937856"/>
            <a:ext cx="0" cy="520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B2C287C-EAF2-4C49-8DCA-3F630A91A285}"/>
                  </a:ext>
                </a:extLst>
              </p:cNvPr>
              <p:cNvSpPr txBox="1"/>
              <p:nvPr/>
            </p:nvSpPr>
            <p:spPr>
              <a:xfrm>
                <a:off x="3366516" y="3381712"/>
                <a:ext cx="2146859" cy="5105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B2C287C-EAF2-4C49-8DCA-3F630A91A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516" y="3381712"/>
                <a:ext cx="2146859" cy="510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3">
            <a:extLst>
              <a:ext uri="{FF2B5EF4-FFF2-40B4-BE49-F238E27FC236}">
                <a16:creationId xmlns:a16="http://schemas.microsoft.com/office/drawing/2014/main" id="{152B000C-B716-4B19-8B8A-0C6D21739C2C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0" y="785273"/>
            <a:ext cx="6400800" cy="56416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ru-RU" altLang="ru-RU" dirty="0"/>
          </a:p>
          <a:p>
            <a:pPr marL="0" indent="0" algn="ctr">
              <a:buFont typeface="Wingdings" panose="05000000000000000000" pitchFamily="2" charset="2"/>
              <a:buNone/>
              <a:defRPr/>
            </a:pPr>
            <a:endParaRPr lang="en-US" altLang="ru-RU" sz="2400" dirty="0">
              <a:latin typeface="Times New Roman" panose="02020603050405020304" pitchFamily="18" charset="0"/>
            </a:endParaRP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ru-RU" altLang="ru-RU" sz="2400" dirty="0">
                <a:latin typeface="Times New Roman" panose="02020603050405020304" pitchFamily="18" charset="0"/>
              </a:rPr>
              <a:t>Блок-схема метода итераций</a:t>
            </a:r>
          </a:p>
        </p:txBody>
      </p:sp>
    </p:spTree>
    <p:extLst>
      <p:ext uri="{BB962C8B-B14F-4D97-AF65-F5344CB8AC3E}">
        <p14:creationId xmlns:p14="http://schemas.microsoft.com/office/powerpoint/2010/main" val="1690687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9307" y="188913"/>
            <a:ext cx="8579893" cy="6408737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600" dirty="0">
                <a:latin typeface="Times New Roman" panose="02020603050405020304" pitchFamily="18" charset="0"/>
              </a:rPr>
              <a:t>В качестве </a:t>
            </a:r>
            <a:r>
              <a:rPr lang="ru-RU" altLang="ru-RU" sz="2600" i="1" dirty="0">
                <a:latin typeface="Times New Roman" panose="02020603050405020304" pitchFamily="18" charset="0"/>
              </a:rPr>
              <a:t>x</a:t>
            </a:r>
            <a:r>
              <a:rPr lang="en-US" altLang="ru-RU" sz="2600" i="1" baseline="-25000" dirty="0">
                <a:latin typeface="Times New Roman" panose="02020603050405020304" pitchFamily="18" charset="0"/>
              </a:rPr>
              <a:t>0</a:t>
            </a:r>
            <a:r>
              <a:rPr lang="ru-RU" altLang="ru-RU" sz="2600" dirty="0">
                <a:latin typeface="Times New Roman" panose="02020603050405020304" pitchFamily="18" charset="0"/>
              </a:rPr>
              <a:t> берут обычно один из концов отрезка   [</a:t>
            </a:r>
            <a:r>
              <a:rPr lang="ru-RU" altLang="ru-RU" sz="2600" i="1" dirty="0">
                <a:latin typeface="Times New Roman" panose="02020603050405020304" pitchFamily="18" charset="0"/>
              </a:rPr>
              <a:t>а</a:t>
            </a:r>
            <a:r>
              <a:rPr lang="ru-RU" altLang="ru-RU" sz="2600" dirty="0">
                <a:latin typeface="Times New Roman" panose="02020603050405020304" pitchFamily="18" charset="0"/>
              </a:rPr>
              <a:t>,</a:t>
            </a:r>
            <a:r>
              <a:rPr lang="ru-RU" altLang="ru-RU" sz="2600" i="1" dirty="0">
                <a:latin typeface="Times New Roman" panose="02020603050405020304" pitchFamily="18" charset="0"/>
              </a:rPr>
              <a:t> b</a:t>
            </a:r>
            <a:r>
              <a:rPr lang="ru-RU" altLang="ru-RU" sz="2600" dirty="0">
                <a:latin typeface="Times New Roman" panose="02020603050405020304" pitchFamily="18" charset="0"/>
              </a:rPr>
              <a:t>]; 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6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6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6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600" dirty="0">
              <a:latin typeface="Times New Roman" panose="02020603050405020304" pitchFamily="18" charset="0"/>
            </a:endParaRPr>
          </a:p>
          <a:p>
            <a:pPr marL="0" indent="0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Графическая интерпретация метода итераций    </a:t>
            </a:r>
          </a:p>
          <a:p>
            <a:pPr marL="0" indent="0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400" dirty="0">
                <a:latin typeface="Times New Roman" panose="02020603050405020304" pitchFamily="18" charset="0"/>
              </a:rPr>
              <a:t>(случай </a:t>
            </a:r>
            <a:r>
              <a:rPr lang="ru-RU" altLang="ru-RU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sz="2400" dirty="0">
                <a:latin typeface="Times New Roman" panose="02020603050405020304" pitchFamily="18" charset="0"/>
              </a:rPr>
              <a:t>(</a:t>
            </a:r>
            <a:r>
              <a:rPr lang="ru-RU" altLang="ru-RU" sz="2400" i="1" dirty="0">
                <a:latin typeface="Times New Roman" panose="02020603050405020304" pitchFamily="18" charset="0"/>
              </a:rPr>
              <a:t>x</a:t>
            </a:r>
            <a:r>
              <a:rPr lang="ru-RU" altLang="ru-RU" sz="2400" dirty="0">
                <a:latin typeface="Times New Roman" panose="02020603050405020304" pitchFamily="18" charset="0"/>
              </a:rPr>
              <a:t>)</a:t>
            </a:r>
            <a:r>
              <a:rPr lang="ru-RU" altLang="ru-RU" sz="2400" i="1" dirty="0">
                <a:latin typeface="Times New Roman" panose="02020603050405020304" pitchFamily="18" charset="0"/>
              </a:rPr>
              <a:t> — </a:t>
            </a:r>
            <a:r>
              <a:rPr lang="ru-RU" altLang="ru-RU" sz="2400" dirty="0">
                <a:latin typeface="Times New Roman" panose="02020603050405020304" pitchFamily="18" charset="0"/>
              </a:rPr>
              <a:t>убывает)</a:t>
            </a:r>
          </a:p>
        </p:txBody>
      </p:sp>
      <p:sp>
        <p:nvSpPr>
          <p:cNvPr id="1843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24239"/>
              </p:ext>
            </p:extLst>
          </p:nvPr>
        </p:nvGraphicFramePr>
        <p:xfrm>
          <a:off x="2179993" y="952429"/>
          <a:ext cx="5184775" cy="315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Точечный рисунок" r:id="rId3" imgW="3266667" imgH="2324424" progId="Paint.Picture">
                  <p:embed/>
                </p:oleObj>
              </mc:Choice>
              <mc:Fallback>
                <p:oleObj name="Точечный рисунок" r:id="rId3" imgW="3266667" imgH="2324424" progId="Paint.Picture">
                  <p:embed/>
                  <p:pic>
                    <p:nvPicPr>
                      <p:cNvPr id="18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993" y="952429"/>
                        <a:ext cx="5184775" cy="315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9423133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1617</Words>
  <Application>Microsoft Office PowerPoint</Application>
  <PresentationFormat>Экран (4:3)</PresentationFormat>
  <Paragraphs>329</Paragraphs>
  <Slides>34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34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Times New Roman</vt:lpstr>
      <vt:lpstr>Wingdings</vt:lpstr>
      <vt:lpstr>Тема Office</vt:lpstr>
      <vt:lpstr>Формула</vt:lpstr>
      <vt:lpstr>Рисунок</vt:lpstr>
      <vt:lpstr>Точечный рисунок</vt:lpstr>
      <vt:lpstr>Решение нелинейных уравнений с одним неизвестным</vt:lpstr>
      <vt:lpstr> Постановка задачи </vt:lpstr>
      <vt:lpstr>Презентация PowerPoint</vt:lpstr>
      <vt:lpstr>Скорость сходимости процесса </vt:lpstr>
      <vt:lpstr>Презентация PowerPoint</vt:lpstr>
      <vt:lpstr>Отделение корня</vt:lpstr>
      <vt:lpstr>Презентация PowerPoint</vt:lpstr>
      <vt:lpstr>Презентация PowerPoint</vt:lpstr>
      <vt:lpstr>Презентация PowerPoint</vt:lpstr>
      <vt:lpstr>Презентация PowerPoint</vt:lpstr>
      <vt:lpstr>Инструменты для графического отделения корней</vt:lpstr>
      <vt:lpstr>Инструменты для графического отделения корней</vt:lpstr>
      <vt:lpstr>Презентация PowerPoint</vt:lpstr>
      <vt:lpstr>  Уточнение корня. Метод деления отрезка пополам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Метод простых итераций и сжимающие отображения. Идея</vt:lpstr>
      <vt:lpstr>Метод простых итераций и сжимающие отображения. Идея</vt:lpstr>
      <vt:lpstr>Метод простых итераций и сжимающие отображения. Идея</vt:lpstr>
      <vt:lpstr>Метод простых итераций и сжимающие отображения. Идея</vt:lpstr>
      <vt:lpstr>Метод простых итераций. Алгоритм 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нелинейных уравнений с одним неизвестным</dc:title>
  <dc:creator>June</dc:creator>
  <cp:lastModifiedBy>Соколова Анна Николаевна</cp:lastModifiedBy>
  <cp:revision>29</cp:revision>
  <cp:lastPrinted>2021-10-01T19:04:53Z</cp:lastPrinted>
  <dcterms:created xsi:type="dcterms:W3CDTF">2021-09-27T19:22:24Z</dcterms:created>
  <dcterms:modified xsi:type="dcterms:W3CDTF">2024-02-25T14:53:56Z</dcterms:modified>
</cp:coreProperties>
</file>