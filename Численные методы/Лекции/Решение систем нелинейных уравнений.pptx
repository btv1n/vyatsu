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63" r:id="rId6"/>
    <p:sldId id="264" r:id="rId7"/>
    <p:sldId id="265" r:id="rId8"/>
    <p:sldId id="259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62" r:id="rId18"/>
    <p:sldId id="289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462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55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27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33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7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45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07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3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01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94261-219D-4A29-89AD-A2925937079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1E5F0-49B0-4A0F-BB0D-6E17A69B5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40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2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3096" y="781169"/>
            <a:ext cx="7772400" cy="2387600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b="1" i="1" dirty="0"/>
              <a:t>Решение систем нелинейных уравнений </a:t>
            </a:r>
            <a:endParaRPr lang="ru-RU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657" y="3582099"/>
            <a:ext cx="2613096" cy="226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8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116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864" y="1115941"/>
            <a:ext cx="8665476" cy="4351338"/>
          </a:xfrm>
        </p:spPr>
        <p:txBody>
          <a:bodyPr/>
          <a:lstStyle/>
          <a:p>
            <a:endParaRPr lang="ru-RU" dirty="0"/>
          </a:p>
          <a:p>
            <a:pPr marL="0" indent="0">
              <a:spcBef>
                <a:spcPct val="0"/>
              </a:spcBef>
              <a:buNone/>
            </a:pP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Пусть для вычисления неизвестных </a:t>
            </a:r>
            <a:r>
              <a:rPr lang="ru-RU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ru-RU" sz="32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ru-RU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ru-RU" sz="32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,.., </a:t>
            </a:r>
            <a:r>
              <a:rPr lang="ru-RU" sz="3200" i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ru-RU" sz="3200" i="1" baseline="-25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требуется решить систему </a:t>
            </a:r>
            <a:r>
              <a:rPr lang="ru-RU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нелинейных уравнений: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r="28325"/>
          <a:stretch/>
        </p:blipFill>
        <p:spPr>
          <a:xfrm>
            <a:off x="2170491" y="3147302"/>
            <a:ext cx="4134775" cy="220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8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6638" y="501792"/>
            <a:ext cx="8378872" cy="6008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 векторной форме нелинейную систему можно записать как: </a:t>
            </a:r>
          </a:p>
          <a:p>
            <a:pPr marL="0" indent="0" algn="ctr">
              <a:buNone/>
            </a:pPr>
            <a:r>
              <a:rPr lang="en-US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= 0, 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где</a:t>
            </a: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Требуется найти такой вектор </a:t>
            </a: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который при подстановке в систему обращает каждое уравнение в верное числовое равенство.</a:t>
            </a: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40" y="2113056"/>
            <a:ext cx="7203867" cy="49366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23" y="3238582"/>
            <a:ext cx="3465058" cy="5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3934" y="720157"/>
            <a:ext cx="8365224" cy="5175676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систем нелинейных уравнений обычно используются </a:t>
            </a:r>
            <a:r>
              <a:rPr 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итерационные методы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например, 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метод простой итерации, 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метод Зейделя, 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метод Ньютона.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529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1172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 Проблема решения</a:t>
            </a: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нелинейной системы возникает при решении многих прикладных задач, например, </a:t>
            </a:r>
          </a:p>
          <a:p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поиска безусловного экстремума функций многих переменных с помощью необходимых условий, </a:t>
            </a:r>
          </a:p>
          <a:p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 применении неявных методов интегрирования обыкновенных дифференциальных уравнений и т.д.</a:t>
            </a:r>
          </a:p>
        </p:txBody>
      </p:sp>
    </p:spTree>
    <p:extLst>
      <p:ext uri="{BB962C8B-B14F-4D97-AF65-F5344CB8AC3E}">
        <p14:creationId xmlns:p14="http://schemas.microsoft.com/office/powerpoint/2010/main" val="354894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484495" y="491025"/>
                <a:ext cx="8222776" cy="5277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нахождения комплексных корней уравнения </a:t>
                </a:r>
                <a:r>
                  <a:rPr lang="ru-RU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 может быть сведена к проблеме решения двух уравнений с двумя неизвестными. Для этого следует положить </a:t>
                </a:r>
                <a:b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ru-RU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ru-RU" sz="3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iy</a:t>
                </a:r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выделить действительную и мнимую части функции:</a:t>
                </a:r>
                <a:r>
                  <a:rPr lang="ru-RU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</m:d>
                    <m:r>
                      <a:rPr 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Отсюда получаем систему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которая может быть решена одним из рассматриваемых методов.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95" y="491025"/>
                <a:ext cx="8222776" cy="5277150"/>
              </a:xfrm>
              <a:prstGeom prst="rect">
                <a:avLst/>
              </a:prstGeom>
              <a:blipFill>
                <a:blip r:embed="rId2"/>
                <a:stretch>
                  <a:fillRect l="-1705" t="-1503" r="-593" b="-27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32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6763" y="47449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всех рассматриваемых далее методов требуется находить начальное приближение </a:t>
            </a:r>
            <a:r>
              <a:rPr lang="ru-RU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случае </a:t>
            </a:r>
            <a:r>
              <a:rPr lang="ru-RU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это можно сделать графически, определив координаты точки пересечения кривых, описываемых уравнениями 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3" y="2650166"/>
            <a:ext cx="1787748" cy="32504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537" y="2603139"/>
            <a:ext cx="1815935" cy="3301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/>
          <a:srcRect b="12738"/>
          <a:stretch/>
        </p:blipFill>
        <p:spPr>
          <a:xfrm>
            <a:off x="3557320" y="2988985"/>
            <a:ext cx="5218962" cy="36736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63" y="4032274"/>
            <a:ext cx="3010557" cy="6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1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42298" y="720155"/>
                <a:ext cx="7886700" cy="53667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Исходную систему уравнений представим </a:t>
                </a:r>
                <a:br>
                  <a:rPr lang="en-US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</a:b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в виде: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или в векторной форме</a:t>
                </a:r>
                <a:endParaRPr lang="en-US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где</a:t>
                </a:r>
              </a:p>
              <a:p>
                <a:pPr marL="0" indent="0">
                  <a:buNone/>
                </a:pP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Функции </a:t>
                </a: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r>
                  <a:rPr lang="en-US" sz="3200" i="1" baseline="-25000" dirty="0" err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(</a:t>
                </a:r>
                <a:r>
                  <a:rPr lang="ru-RU" sz="32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) определены и непрерывны в окрестности изолированного решения </a:t>
                </a:r>
                <a:r>
                  <a:rPr lang="ru-RU" sz="32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*</a:t>
                </a: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системы.</a:t>
                </a:r>
              </a:p>
              <a:p>
                <a:pPr marL="0" indent="0">
                  <a:buNone/>
                </a:pPr>
                <a:endParaRPr lang="ru-RU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98" y="720155"/>
                <a:ext cx="7886700" cy="5366745"/>
              </a:xfrm>
              <a:blipFill>
                <a:blip r:embed="rId2"/>
                <a:stretch>
                  <a:fillRect l="-1932" t="-2497" r="-696" b="-19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518" y="3526357"/>
            <a:ext cx="1674055" cy="43328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354" y="4052295"/>
            <a:ext cx="7042327" cy="45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8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40343"/>
          </a:xfrm>
        </p:spPr>
        <p:txBody>
          <a:bodyPr/>
          <a:lstStyle/>
          <a:p>
            <a:r>
              <a:rPr lang="ru-RU" b="1" dirty="0"/>
              <a:t>Метод простых итераций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10285" y="1443488"/>
                <a:ext cx="8474407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Значения неизвестных на </a:t>
                </a:r>
                <a:r>
                  <a:rPr lang="ru-RU" sz="32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k</a:t>
                </a:r>
                <a:r>
                  <a:rPr lang="ru-RU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-ой итерации будут найдены с использованием их значений на предыдущей итерации</a:t>
                </a:r>
                <a:r>
                  <a:rPr lang="en-US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:</a:t>
                </a:r>
                <a:endParaRPr lang="ru-RU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285" y="1443488"/>
                <a:ext cx="8474407" cy="4351338"/>
              </a:xfrm>
              <a:blipFill>
                <a:blip r:embed="rId2"/>
                <a:stretch>
                  <a:fillRect l="-17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1053" y="3647696"/>
                <a:ext cx="7792870" cy="6448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53" y="3647696"/>
                <a:ext cx="7792870" cy="644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12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779" y="160409"/>
            <a:ext cx="8584441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 достаточном условии сходимости метода простых итераций)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9779" y="1537387"/>
            <a:ext cx="8482084" cy="5122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функции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непрерывны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причём выполнено неравенство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(где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некоторая постоянная)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последовательные приближения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0,1,2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не выходят из области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процесс последовательных приближений сходится: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вектор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в области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единственным решением системы.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82" y="2761113"/>
            <a:ext cx="4414498" cy="99202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95" y="4581383"/>
            <a:ext cx="1892825" cy="5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1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82991" y="870280"/>
                <a:ext cx="8460758" cy="56260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Вместо приведённого условия можно также использовать равносильное:</a:t>
                </a: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Эти условия выполняются, если для любого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справедливы неравенства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&lt;1,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соответственно, где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991" y="870280"/>
                <a:ext cx="8460758" cy="5626053"/>
              </a:xfrm>
              <a:blipFill>
                <a:blip r:embed="rId2"/>
                <a:stretch>
                  <a:fillRect l="-1513" t="-19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28650" y="174058"/>
            <a:ext cx="7886700" cy="56292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Замечания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887" y="1738170"/>
            <a:ext cx="4388131" cy="9367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2BC32E-755C-48B8-9488-565F42321CA4}"/>
                  </a:ext>
                </a:extLst>
              </p:cNvPr>
              <p:cNvSpPr txBox="1"/>
              <p:nvPr/>
            </p:nvSpPr>
            <p:spPr>
              <a:xfrm>
                <a:off x="1828913" y="4392340"/>
                <a:ext cx="5174780" cy="2195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2BC32E-755C-48B8-9488-565F42321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913" y="4392340"/>
                <a:ext cx="5174780" cy="21950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21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70346" y="91424"/>
            <a:ext cx="6945004" cy="1325563"/>
          </a:xfrm>
        </p:spPr>
        <p:txBody>
          <a:bodyPr/>
          <a:lstStyle/>
          <a:p>
            <a:r>
              <a:rPr lang="ru-RU" dirty="0"/>
              <a:t>Справочная информация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Нормы матриц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00" y="2383711"/>
            <a:ext cx="4542999" cy="323516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26956" t="18347" r="24772" b="35889"/>
          <a:stretch/>
        </p:blipFill>
        <p:spPr>
          <a:xfrm>
            <a:off x="103210" y="164638"/>
            <a:ext cx="1261566" cy="11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84616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3808" y="846160"/>
            <a:ext cx="8665476" cy="580029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корни нелинейной системы уравнений, 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расположенные в первом квадранте, методом простых итераций с точностью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0,001.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Преобразуем систему так, чтобы выполнялось условие сходимости: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Для выбора начального приближения найдём координаты точек пересечения кривых, соответствующих первому и второму уравнениям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16" y="2176179"/>
            <a:ext cx="4464709" cy="9218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08" y="4172163"/>
            <a:ext cx="8526447" cy="7723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259" y="6256603"/>
            <a:ext cx="2795518" cy="47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5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8399" y="256133"/>
            <a:ext cx="8515350" cy="6444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Найдём частные производные: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Проверим выполнение условий сходимости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Будем рассматривать окрестность найденной точки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18" y="669661"/>
            <a:ext cx="7306318" cy="222366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92" y="3747305"/>
            <a:ext cx="5955075" cy="3743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93" y="4413273"/>
            <a:ext cx="8787176" cy="1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4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285" y="297075"/>
            <a:ext cx="8474407" cy="6294794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Считаем норму: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Выполним расчёты по формулам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389" y="813534"/>
            <a:ext cx="6057118" cy="15325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16" y="2862517"/>
            <a:ext cx="8639301" cy="8087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09" y="3671248"/>
            <a:ext cx="7650077" cy="22382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60" y="6154619"/>
            <a:ext cx="3368444" cy="4372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373" y="6236690"/>
            <a:ext cx="5053229" cy="3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75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2173" y="195881"/>
            <a:ext cx="7886700" cy="753990"/>
          </a:xfrm>
        </p:spPr>
        <p:txBody>
          <a:bodyPr/>
          <a:lstStyle/>
          <a:p>
            <a:r>
              <a:rPr lang="ru-RU" b="1" dirty="0"/>
              <a:t>Метод Зейделя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6512" y="949870"/>
            <a:ext cx="8679123" cy="5908129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Этот метод является модификацией метода простых итераций, где после задания начального приближения </a:t>
            </a:r>
            <a:r>
              <a:rPr lang="ru-RU" sz="32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ru-RU" sz="32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(0)</a:t>
            </a:r>
            <a:r>
              <a:rPr lang="ru-RU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вместо параллельного итерирования производится последовательное итерирование, причём на каждой итерации в каждое последующее уравнение подставляются значения неизвестных, полученных из предыдущих уравнений.</a:t>
            </a:r>
          </a:p>
        </p:txBody>
      </p:sp>
    </p:spTree>
    <p:extLst>
      <p:ext uri="{BB962C8B-B14F-4D97-AF65-F5344CB8AC3E}">
        <p14:creationId xmlns:p14="http://schemas.microsoft.com/office/powerpoint/2010/main" val="2718455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3933" y="692859"/>
            <a:ext cx="8324282" cy="4643415"/>
          </a:xfrm>
        </p:spPr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находится из 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уравнения системы с использованием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уже вычисленных на текущей итерации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значений неизвестных: 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736" y="683098"/>
            <a:ext cx="552450" cy="476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9639" y="3014566"/>
                <a:ext cx="7792870" cy="1075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39" y="3014566"/>
                <a:ext cx="7792870" cy="1075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92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3ACA4-8998-4FE8-A287-8C444A4D2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05" y="95160"/>
            <a:ext cx="7886700" cy="1325563"/>
          </a:xfrm>
        </p:spPr>
        <p:txBody>
          <a:bodyPr/>
          <a:lstStyle/>
          <a:p>
            <a:r>
              <a:rPr lang="ru-RU" b="1" dirty="0"/>
              <a:t>Метод Ньютона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00234C-5FD0-4470-9C14-2C65A594F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01" y="1337945"/>
            <a:ext cx="7886700" cy="4351338"/>
          </a:xfrm>
        </p:spPr>
        <p:txBody>
          <a:bodyPr/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для нахождения решения системы нелинейных уравнений является естественным обобщением формулы для решения одного уравнения:</a:t>
            </a:r>
          </a:p>
          <a:p>
            <a:endParaRPr lang="ru-RU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E6052810-9767-4DEB-A08B-8814EF1D9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656790"/>
              </p:ext>
            </p:extLst>
          </p:nvPr>
        </p:nvGraphicFramePr>
        <p:xfrm>
          <a:off x="2644176" y="2961005"/>
          <a:ext cx="3350550" cy="1187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Формула" r:id="rId3" imgW="1206500" imgH="431800" progId="Equation.3">
                  <p:embed/>
                </p:oleObj>
              </mc:Choice>
              <mc:Fallback>
                <p:oleObj name="Формула" r:id="rId3" imgW="1206500" imgH="431800" progId="Equation.3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176" y="2961005"/>
                        <a:ext cx="3350550" cy="11879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4748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4752" y="283427"/>
            <a:ext cx="8474406" cy="5121085"/>
          </a:xfrm>
        </p:spPr>
        <p:txBody>
          <a:bodyPr>
            <a:normAutofit/>
          </a:bodyPr>
          <a:lstStyle/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системы формула имеет вид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					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матрица Якоби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09" y="1568120"/>
            <a:ext cx="7796381" cy="5088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77" y="2681995"/>
            <a:ext cx="4580400" cy="211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4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8398" y="392609"/>
            <a:ext cx="8569941" cy="6267497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процесс вычисления обратной матрицы является трудоёмким, преобразуем следующим образом: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- поправка к текущему приближению</a:t>
            </a:r>
          </a:p>
          <a:p>
            <a:pPr marL="0" indent="0" algn="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получена система линейных алгебраических уравнений относительно поправки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её определения вычисляется следующее приближение: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48" y="1678675"/>
            <a:ext cx="7685240" cy="5560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53" y="2234743"/>
            <a:ext cx="3641037" cy="44255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r="19281" b="-14752"/>
          <a:stretch/>
        </p:blipFill>
        <p:spPr>
          <a:xfrm>
            <a:off x="328398" y="3233368"/>
            <a:ext cx="8569941" cy="4957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/>
          <a:srcRect l="80168" t="12368"/>
          <a:stretch/>
        </p:blipFill>
        <p:spPr>
          <a:xfrm>
            <a:off x="6288617" y="3812020"/>
            <a:ext cx="2262905" cy="40685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965" y="4511785"/>
            <a:ext cx="745580" cy="34996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348" y="5518059"/>
            <a:ext cx="4084238" cy="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42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21" y="0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метода Ньютона для решения нелинейных систем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20" y="1443487"/>
            <a:ext cx="8720067" cy="524391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Задать начальное приближение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малое положительное число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(точность). Положить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Решить систему линейных алгебраических уравнений относительно поправки 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Вычислить следующее приближение: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                                                 процесс закончить и положить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Иначе – положить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перейти к пункту 2.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58" y="2737576"/>
            <a:ext cx="745580" cy="34996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07" y="3115792"/>
            <a:ext cx="3765949" cy="40628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780" y="4015832"/>
            <a:ext cx="3568201" cy="4337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24" y="4665001"/>
            <a:ext cx="4287407" cy="6011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9727" y="5176397"/>
            <a:ext cx="1752022" cy="4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35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22" y="0"/>
            <a:ext cx="8842896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Достаточные условия сходимости метода Ньютона для нелинейных систем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21" y="1325562"/>
            <a:ext cx="8679123" cy="5293601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 достаточных условиях сходимости метода Ньютона). Пусть функция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непрерывно дифференцируема в открытом выпуклом множестве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Предположим, что существуют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такие, что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F(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существует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причём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W(x)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непрерывна по Липшицу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существует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такое, что для всех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порождаемая формулой метода Ньютона, сходится к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и удовлетворяет неравенству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66" y="3255346"/>
            <a:ext cx="2614361" cy="48414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04" y="6003895"/>
            <a:ext cx="8564540" cy="50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0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330" y="351665"/>
            <a:ext cx="8733715" cy="6335737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теореме использованы следующие обозначения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r)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открытая окрестность радиуса 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центром в точке 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х: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Говорят, что функция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 по Липшицу, если существует такое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 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ru-RU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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называют константой Липшица.</a:t>
            </a:r>
            <a:r>
              <a:rPr lang="en-US" sz="3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6943" t="-8627"/>
          <a:stretch/>
        </p:blipFill>
        <p:spPr>
          <a:xfrm>
            <a:off x="3739485" y="1910688"/>
            <a:ext cx="4269935" cy="3821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1" y="3519533"/>
            <a:ext cx="8605705" cy="4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047" y="146762"/>
            <a:ext cx="7886700" cy="822229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273" y="968991"/>
            <a:ext cx="8638181" cy="56911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говорит 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локальной квадратичной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сходимости метода Ньютона.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недостаткам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метода Ньютона следует отнести: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необходимость задавать достаточно хорошее начальное приближение;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отсутствие глобальной сходимости для многих задач;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необходимость вычисления матрицы Якоби на каждой итерации;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необходимость решения на каждой итерации системы линейных уравнений, которая может быть плохо обусловленной.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Достоинством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метода является квадратичная сходимость из хорошего начального приближения при условии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невырожденности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матрицы Якоби.</a:t>
            </a:r>
          </a:p>
        </p:txBody>
      </p:sp>
    </p:spTree>
    <p:extLst>
      <p:ext uri="{BB962C8B-B14F-4D97-AF65-F5344CB8AC3E}">
        <p14:creationId xmlns:p14="http://schemas.microsoft.com/office/powerpoint/2010/main" val="3231995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8399" y="1"/>
            <a:ext cx="7886700" cy="102358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8399" y="1023583"/>
            <a:ext cx="8651828" cy="566382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корни нелинейной системы, расположенные в первом квадранте, с точностью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 координат начального приближения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09" y="129013"/>
            <a:ext cx="4332525" cy="89457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24" y="2421837"/>
            <a:ext cx="5921204" cy="99010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990" y="4070638"/>
            <a:ext cx="2795518" cy="47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7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2047" y="228836"/>
            <a:ext cx="8624532" cy="6526805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Составляем матрицу Якоби:</a:t>
            </a:r>
          </a:p>
          <a:p>
            <a:pPr marL="514350" indent="-514350">
              <a:buAutoNum type="arabicParenR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Составляем систему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1" r="42235" b="-2589"/>
          <a:stretch/>
        </p:blipFill>
        <p:spPr>
          <a:xfrm>
            <a:off x="342047" y="910938"/>
            <a:ext cx="4086652" cy="178904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57723"/>
          <a:stretch/>
        </p:blipFill>
        <p:spPr>
          <a:xfrm>
            <a:off x="4428699" y="611087"/>
            <a:ext cx="3964674" cy="2311707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458053" y="3305045"/>
            <a:ext cx="5205768" cy="1209614"/>
            <a:chOff x="458053" y="3305045"/>
            <a:chExt cx="5205768" cy="1209614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053" y="3494744"/>
              <a:ext cx="1470194" cy="822044"/>
            </a:xfrm>
            <a:prstGeom prst="rect">
              <a:avLst/>
            </a:prstGeom>
          </p:spPr>
        </p:pic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247" y="3305045"/>
              <a:ext cx="3735574" cy="1209614"/>
            </a:xfrm>
            <a:prstGeom prst="rect">
              <a:avLst/>
            </a:prstGeom>
          </p:spPr>
        </p:pic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53" y="5442091"/>
            <a:ext cx="6733017" cy="80858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731" y="5442091"/>
            <a:ext cx="1939854" cy="749185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8699" y="2763959"/>
            <a:ext cx="2795518" cy="47174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271" y="5816683"/>
            <a:ext cx="2000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3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931" y="396411"/>
            <a:ext cx="5251255" cy="10502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6" y="397661"/>
            <a:ext cx="2670184" cy="1049001"/>
          </a:xfrm>
          <a:prstGeom prst="rect">
            <a:avLst/>
          </a:prstGeom>
        </p:spPr>
      </p:pic>
      <p:sp>
        <p:nvSpPr>
          <p:cNvPr id="8" name="Объект 2"/>
          <p:cNvSpPr txBox="1">
            <a:spLocks/>
          </p:cNvSpPr>
          <p:nvPr/>
        </p:nvSpPr>
        <p:spPr>
          <a:xfrm>
            <a:off x="342047" y="1651379"/>
            <a:ext cx="8624532" cy="4640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Получили линейную систему относительно поправки.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Решать её можно любым методом. 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Вычислим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078" y="2831236"/>
            <a:ext cx="4574469" cy="9703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r="68459" b="7824"/>
          <a:stretch/>
        </p:blipFill>
        <p:spPr>
          <a:xfrm>
            <a:off x="2620370" y="4128146"/>
            <a:ext cx="2885398" cy="69208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26941" t="-4809"/>
          <a:stretch/>
        </p:blipFill>
        <p:spPr>
          <a:xfrm>
            <a:off x="668949" y="4981435"/>
            <a:ext cx="7881739" cy="92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285" y="419906"/>
            <a:ext cx="8460759" cy="6212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Проверяем условие остановки итерационного процесса: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Снова составляем систему: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5" y="1444316"/>
            <a:ext cx="8534667" cy="45272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82" y="3100577"/>
            <a:ext cx="8747362" cy="70381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56892"/>
          <a:stretch/>
        </p:blipFill>
        <p:spPr>
          <a:xfrm>
            <a:off x="3043451" y="4983235"/>
            <a:ext cx="2292824" cy="79217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690439-F418-4CB7-8D7F-113C4548B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300" y="3757537"/>
            <a:ext cx="4048125" cy="828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AAA8BF-2084-4664-83DA-644181DED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" y="5977166"/>
            <a:ext cx="89820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6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2" y="384625"/>
            <a:ext cx="8703032" cy="2686121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6196083" y="2183642"/>
            <a:ext cx="2727231" cy="88710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00752" y="37121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>
          <a:xfrm>
            <a:off x="382586" y="3245258"/>
            <a:ext cx="8460759" cy="3249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сравнения: по методу простых итераций точность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0,001 достигается за четыре итерации, а методом Ньютона точность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достигнута всего </a:t>
            </a:r>
            <a:r>
              <a:rPr lang="ru-RU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три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приближения.</a:t>
            </a:r>
          </a:p>
        </p:txBody>
      </p:sp>
    </p:spTree>
    <p:extLst>
      <p:ext uri="{BB962C8B-B14F-4D97-AF65-F5344CB8AC3E}">
        <p14:creationId xmlns:p14="http://schemas.microsoft.com/office/powerpoint/2010/main" val="231935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217" y="0"/>
            <a:ext cx="78867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Упрощённый метод Ньютона для нелинейных систем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9217" y="1417921"/>
            <a:ext cx="8733714" cy="525583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методе, в отличие от метода Ньютона, обратная матрица ищется только один раз в начальной точке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Очевидно, сходимость упрощённого метода Ньютона в общем случае хуже по сравнению со сходимостью классического метода Ньютона для систем.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17" y="2805799"/>
            <a:ext cx="8735658" cy="5161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27" y="3780913"/>
            <a:ext cx="7089094" cy="52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6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4894" y="1134493"/>
            <a:ext cx="8761009" cy="558020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Найти положительное решение системы упрощённым методом Ньютона с точностью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Выберем начальное приближение.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64627" y="0"/>
            <a:ext cx="78867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945" y="198899"/>
            <a:ext cx="3084425" cy="8383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10050"/>
          <a:stretch/>
        </p:blipFill>
        <p:spPr>
          <a:xfrm>
            <a:off x="305155" y="2973401"/>
            <a:ext cx="6013758" cy="38385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704" y="4187516"/>
            <a:ext cx="2648988" cy="4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9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129" y="319136"/>
            <a:ext cx="7847034" cy="10319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6" y="1586695"/>
            <a:ext cx="9065179" cy="168876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75" y="3719512"/>
            <a:ext cx="8189186" cy="244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9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9" y="289020"/>
            <a:ext cx="8639994" cy="5025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9" y="1085495"/>
            <a:ext cx="8598242" cy="221726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308" y="3460206"/>
            <a:ext cx="3579051" cy="5112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29" y="4128946"/>
            <a:ext cx="8605598" cy="21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27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799" y="239190"/>
            <a:ext cx="3388980" cy="4841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0" y="912195"/>
            <a:ext cx="8362150" cy="21721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129" y="3273259"/>
            <a:ext cx="5137784" cy="4704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320" y="3932617"/>
            <a:ext cx="1612938" cy="47561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6"/>
          <a:srcRect l="3162" t="1" r="6697" b="3006"/>
          <a:stretch/>
        </p:blipFill>
        <p:spPr>
          <a:xfrm>
            <a:off x="3250276" y="3309536"/>
            <a:ext cx="1828800" cy="43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65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1135</Words>
  <PresentationFormat>Экран (4:3)</PresentationFormat>
  <Paragraphs>157</Paragraphs>
  <Slides>34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 Решение систем нелинейных уравнений </vt:lpstr>
      <vt:lpstr>Постановка задачи</vt:lpstr>
      <vt:lpstr>Презентация PowerPoint</vt:lpstr>
      <vt:lpstr>Презентация PowerPoint</vt:lpstr>
      <vt:lpstr>Замечания</vt:lpstr>
      <vt:lpstr>Презентация PowerPoint</vt:lpstr>
      <vt:lpstr>Презентация PowerPoint</vt:lpstr>
      <vt:lpstr>Презентация PowerPoint</vt:lpstr>
      <vt:lpstr>Метод простых итераций </vt:lpstr>
      <vt:lpstr>Теорема (о достаточном условии сходимости метода простых итераций)</vt:lpstr>
      <vt:lpstr>Замечания</vt:lpstr>
      <vt:lpstr>Справочная информация</vt:lpstr>
      <vt:lpstr>Пример</vt:lpstr>
      <vt:lpstr>Презентация PowerPoint</vt:lpstr>
      <vt:lpstr>Презентация PowerPoint</vt:lpstr>
      <vt:lpstr>Метод Зейделя </vt:lpstr>
      <vt:lpstr>Презентация PowerPoint</vt:lpstr>
      <vt:lpstr>Метод Ньютона</vt:lpstr>
      <vt:lpstr>Презентация PowerPoint</vt:lpstr>
      <vt:lpstr>Презентация PowerPoint</vt:lpstr>
      <vt:lpstr>Алгоритм метода Ньютона для решения нелинейных систем</vt:lpstr>
      <vt:lpstr>Достаточные условия сходимости метода Ньютона для нелинейных систем</vt:lpstr>
      <vt:lpstr>Презентация PowerPoint</vt:lpstr>
      <vt:lpstr>Замечания</vt:lpstr>
      <vt:lpstr>Пример.</vt:lpstr>
      <vt:lpstr>Презентация PowerPoint</vt:lpstr>
      <vt:lpstr>Презентация PowerPoint</vt:lpstr>
      <vt:lpstr>Презентация PowerPoint</vt:lpstr>
      <vt:lpstr>Презентация PowerPoint</vt:lpstr>
      <vt:lpstr>Упрощённый метод Ньютона для нелинейных систем</vt:lpstr>
      <vt:lpstr>Пример.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2021-10-10T19:26:06Z</dcterms:created>
  <dcterms:modified xsi:type="dcterms:W3CDTF">2024-10-29T08:17:49Z</dcterms:modified>
</cp:coreProperties>
</file>