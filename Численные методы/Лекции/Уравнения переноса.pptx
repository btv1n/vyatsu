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1" r:id="rId16"/>
    <p:sldId id="270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0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-90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56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08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3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29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41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81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40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4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01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78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60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E3147-87B0-49CB-8581-4218249B54D8}" type="datetimeFigureOut">
              <a:rPr lang="ru-RU" smtClean="0"/>
              <a:t>17.05.2022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F1F05-C52F-4B44-A05C-580D37C8F3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28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360A6B-708C-4071-BF69-B470070F6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803633"/>
          </a:xfrm>
        </p:spPr>
        <p:txBody>
          <a:bodyPr>
            <a:normAutofit/>
          </a:bodyPr>
          <a:lstStyle/>
          <a:p>
            <a:r>
              <a:rPr lang="ru-RU" b="1" dirty="0"/>
              <a:t>Уравнение переноса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D8E5477-7F7C-4696-A34F-BF3C08AC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01707"/>
            <a:ext cx="6858000" cy="1655762"/>
          </a:xfrm>
        </p:spPr>
        <p:txBody>
          <a:bodyPr>
            <a:normAutofit/>
          </a:bodyPr>
          <a:lstStyle/>
          <a:p>
            <a:r>
              <a:rPr lang="ru-RU" sz="2800" dirty="0"/>
              <a:t>Схемы «бегущего» счёта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57DA631E-A2C5-4601-8F70-D1A4FE098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35" y="2829588"/>
            <a:ext cx="4265846" cy="36762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0AC5BB7-B273-4182-8E14-E3DE89A3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52" y="2634012"/>
            <a:ext cx="1048774" cy="372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6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0B2CAB2-9405-45FF-A918-8E4E02AB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492"/>
            <a:ext cx="8892330" cy="6504644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Рассмотрим простейший пример </a:t>
            </a:r>
            <a:r>
              <a:rPr lang="ru-RU" sz="2400" b="0" dirty="0">
                <a:solidFill>
                  <a:srgbClr val="000000"/>
                </a:solidFill>
                <a:effectLst/>
                <a:latin typeface="lucida grande"/>
              </a:rPr>
              <a:t>уравнени</a:t>
            </a:r>
            <a:r>
              <a:rPr lang="ru-RU" sz="2400" dirty="0">
                <a:solidFill>
                  <a:srgbClr val="000000"/>
                </a:solidFill>
                <a:latin typeface="lucida grande"/>
              </a:rPr>
              <a:t>я</a:t>
            </a:r>
            <a:r>
              <a:rPr lang="ru-RU" sz="2400" b="0" dirty="0">
                <a:solidFill>
                  <a:srgbClr val="000000"/>
                </a:solidFill>
                <a:effectLst/>
                <a:latin typeface="lucida grande"/>
              </a:rPr>
              <a:t> в частных производных – ДУ первого порядка. 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Пусть в некотором объёме движущейся жидкости находится пассивная примесь, т.е. такая, наличие которой не меняет принципиально характер движения. 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Например, это может быть маркер — краска, чернила или мелкие частицы, которые специально добавлены в жидкость для визуализации течений. 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Тогда изменение концентрации примеси </a:t>
            </a:r>
            <a:r>
              <a:rPr lang="en-US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 в любом сколь угодно малом объёме равно потоку примеси через границы объёма в единицу времени (закон сохранения массы), можно записать, устремляя рассматриваемый объём к нулю.</a:t>
            </a:r>
          </a:p>
          <a:p>
            <a:r>
              <a:rPr lang="ru-RU" sz="2400" dirty="0">
                <a:solidFill>
                  <a:srgbClr val="000000"/>
                </a:solidFill>
                <a:latin typeface="lucida grande"/>
              </a:rPr>
              <a:t>Получаем уравнение переноса: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lucida grande"/>
              </a:rPr>
              <a:t>				- однородное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latin typeface="lucida grande"/>
              </a:rPr>
              <a:t>				</a:t>
            </a:r>
            <a:r>
              <a:rPr lang="ru-RU" sz="2400" dirty="0">
                <a:solidFill>
                  <a:srgbClr val="000000"/>
                </a:solidFill>
                <a:latin typeface="lucida grande"/>
              </a:rPr>
              <a:t>- неоднородное</a:t>
            </a:r>
            <a:r>
              <a:rPr lang="en-US" sz="2400" dirty="0">
                <a:solidFill>
                  <a:srgbClr val="000000"/>
                </a:solidFill>
                <a:latin typeface="lucida grande"/>
              </a:rPr>
              <a:t>, </a:t>
            </a: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2400" dirty="0">
                <a:solidFill>
                  <a:srgbClr val="000000"/>
                </a:solidFill>
                <a:latin typeface="lucida grande"/>
              </a:rPr>
              <a:t> — заданная функция, играющая роль источника (стока).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AF7888B4-F471-4AF5-B7B4-DD695F64B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13" y="5265794"/>
            <a:ext cx="1657089" cy="39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58F242B-95DA-42E4-97EF-B0598937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082" y="5736693"/>
            <a:ext cx="1683388" cy="39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C2A2C47-2891-4751-8633-B0408BBA2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57" y="340774"/>
            <a:ext cx="8607628" cy="5128848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Неоднородным уравнением переноса описываются системы, в которых пассивная примесь может вступать, например, в химические реакции. 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Если уравнения переноса описывают распространение планктона, то в правой части будет стоять 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lucida grande"/>
              </a:rPr>
              <a:t>функция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lucida grande"/>
              </a:rPr>
              <a:t>, описывающая размножение планктона и его пассивную утечку (например, за счёт его поедания рыбами).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091D819-B42F-468F-ACFF-FA890EBB2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67" y="3093950"/>
            <a:ext cx="5018733" cy="37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0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CAD1121-A5BD-43F1-BFE0-551C18C9F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99" y="181382"/>
            <a:ext cx="8867689" cy="6487865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effectLst/>
                <a:latin typeface="lucida grande"/>
              </a:rPr>
              <a:t>Будем рассматривать </a:t>
            </a:r>
            <a:r>
              <a:rPr lang="ru-RU" u="sng" dirty="0">
                <a:solidFill>
                  <a:srgbClr val="000000"/>
                </a:solidFill>
                <a:effectLst/>
                <a:latin typeface="lucida grande"/>
              </a:rPr>
              <a:t>неоднородные</a:t>
            </a:r>
            <a:r>
              <a:rPr lang="ru-RU" dirty="0">
                <a:solidFill>
                  <a:srgbClr val="000000"/>
                </a:solidFill>
                <a:effectLst/>
                <a:latin typeface="lucida grande"/>
              </a:rPr>
              <a:t> линейные модели.</a:t>
            </a:r>
          </a:p>
          <a:p>
            <a:endParaRPr lang="ru-RU" dirty="0">
              <a:solidFill>
                <a:srgbClr val="000000"/>
              </a:solidFill>
              <a:latin typeface="lucida grande"/>
            </a:endParaRPr>
          </a:p>
          <a:p>
            <a:pPr marL="0" indent="0">
              <a:buNone/>
            </a:pPr>
            <a:r>
              <a:rPr lang="ru-RU" dirty="0"/>
              <a:t>где функция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 представляет собой скорость переноса, а функция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/>
              <a:t>описывает источники и стоки.</a:t>
            </a:r>
          </a:p>
          <a:p>
            <a:r>
              <a:rPr lang="ru-RU" dirty="0"/>
              <a:t>Рассмотрим разностные схемы для уравнения переноса на равномерной сетке с шагом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 по переменной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 и шагом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/>
              <a:t> по переменной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Будем аппроксимировать дифференциальный оператор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7004D1D-4715-45AE-A278-6C75A475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360" y="882548"/>
            <a:ext cx="2623976" cy="6945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236CA69-A18D-4389-811C-EAC87DA9E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84"/>
          <a:stretch/>
        </p:blipFill>
        <p:spPr>
          <a:xfrm>
            <a:off x="2870162" y="4729685"/>
            <a:ext cx="1772881" cy="6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6B8F1A-FC70-48A7-BF44-A2013216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9" y="76979"/>
            <a:ext cx="5059087" cy="937408"/>
          </a:xfrm>
        </p:spPr>
        <p:txBody>
          <a:bodyPr>
            <a:noAutofit/>
          </a:bodyPr>
          <a:lstStyle/>
          <a:p>
            <a:pPr algn="ctr"/>
            <a:r>
              <a:rPr lang="ru-RU" sz="2800" dirty="0"/>
              <a:t>Основные шаблоны </a:t>
            </a:r>
            <a:br>
              <a:rPr lang="ru-RU" sz="2800" dirty="0"/>
            </a:br>
            <a:r>
              <a:rPr lang="ru-RU" sz="2800" dirty="0"/>
              <a:t>в схемах бегущего счёта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1D14D41-367F-4A4C-AF09-11D8005A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8" y="1216229"/>
            <a:ext cx="4821710" cy="42664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15BB2FA3-CE12-4B14-8B8E-BD9D033B6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923" y="1096618"/>
            <a:ext cx="2878608" cy="617727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8B5CDE9D-28C0-4F21-A8E3-5D767F06EA02}"/>
              </a:ext>
            </a:extLst>
          </p:cNvPr>
          <p:cNvSpPr txBox="1">
            <a:spLocks/>
          </p:cNvSpPr>
          <p:nvPr/>
        </p:nvSpPr>
        <p:spPr>
          <a:xfrm>
            <a:off x="5086416" y="76979"/>
            <a:ext cx="4156636" cy="937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/>
              <a:t>Разностные схемы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2880B90B-BB53-4E2D-8015-66FBA628D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923" y="1813664"/>
            <a:ext cx="2976321" cy="617727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24364636-FDDA-489D-A3DF-1D22ED50F04C}"/>
              </a:ext>
            </a:extLst>
          </p:cNvPr>
          <p:cNvSpPr txBox="1">
            <a:spLocks/>
          </p:cNvSpPr>
          <p:nvPr/>
        </p:nvSpPr>
        <p:spPr>
          <a:xfrm>
            <a:off x="5263042" y="1328336"/>
            <a:ext cx="735086" cy="39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i="1" dirty="0">
                <a:solidFill>
                  <a:srgbClr val="002060"/>
                </a:solidFill>
              </a:rPr>
              <a:t>а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xmlns="" id="{42414F27-A80C-42A0-8F2B-C1AD3C0C6F05}"/>
              </a:ext>
            </a:extLst>
          </p:cNvPr>
          <p:cNvSpPr txBox="1">
            <a:spLocks/>
          </p:cNvSpPr>
          <p:nvPr/>
        </p:nvSpPr>
        <p:spPr>
          <a:xfrm>
            <a:off x="5263042" y="2630028"/>
            <a:ext cx="735086" cy="39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i="1" dirty="0">
                <a:solidFill>
                  <a:srgbClr val="002060"/>
                </a:solidFill>
              </a:rPr>
              <a:t>б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8E9EC211-9D3A-4FC0-BB50-C1E38CB11D42}"/>
              </a:ext>
            </a:extLst>
          </p:cNvPr>
          <p:cNvSpPr txBox="1">
            <a:spLocks/>
          </p:cNvSpPr>
          <p:nvPr/>
        </p:nvSpPr>
        <p:spPr>
          <a:xfrm>
            <a:off x="5294856" y="3731822"/>
            <a:ext cx="735086" cy="39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i="1" dirty="0">
                <a:solidFill>
                  <a:srgbClr val="002060"/>
                </a:solidFill>
              </a:rPr>
              <a:t>в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AD28F465-6C24-4B62-9C46-75359EE2F8E6}"/>
              </a:ext>
            </a:extLst>
          </p:cNvPr>
          <p:cNvSpPr txBox="1">
            <a:spLocks/>
          </p:cNvSpPr>
          <p:nvPr/>
        </p:nvSpPr>
        <p:spPr>
          <a:xfrm>
            <a:off x="614778" y="5672983"/>
            <a:ext cx="735086" cy="39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i="1" dirty="0">
                <a:solidFill>
                  <a:srgbClr val="002060"/>
                </a:solidFill>
              </a:rPr>
              <a:t>г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B4704A73-3307-4DAA-A677-4A1E784EF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284" y="2513622"/>
            <a:ext cx="3193597" cy="58065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42D93AAC-FBCB-4A88-AD7D-DE49F669A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923" y="3621876"/>
            <a:ext cx="3119135" cy="50974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752571F1-F4B5-457D-A1E1-AFEA2B563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191" y="5482712"/>
            <a:ext cx="7775868" cy="71908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6E757BA9-4436-4337-8C18-10C382DFD5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000" y="3160238"/>
            <a:ext cx="841395" cy="33655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xmlns="" id="{ACC822B0-BD18-4C62-99FA-640AF9FCD7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000" y="4238078"/>
            <a:ext cx="841395" cy="33655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979759C9-FC73-48E3-BD3D-CDA6D7306B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5064" y="6254781"/>
            <a:ext cx="30480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7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96BEC6E-C4DF-45F4-9CF3-4AAABDFE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32" y="755009"/>
            <a:ext cx="8741853" cy="5855516"/>
          </a:xfrm>
        </p:spPr>
        <p:txBody>
          <a:bodyPr/>
          <a:lstStyle/>
          <a:p>
            <a:r>
              <a:rPr lang="ru-RU" dirty="0"/>
              <a:t>Разностные схемы для уравнения переноса, в которых для аппроксимации дифференциального оператора используется один из шаблонов, приведённых на рисунке, называются </a:t>
            </a:r>
            <a:r>
              <a:rPr lang="ru-RU" b="1" dirty="0"/>
              <a:t>схемами бегущего счёта.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9FA20E1-FA0C-4B9F-856F-6B8C8C2A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84" y="2624623"/>
            <a:ext cx="3931031" cy="347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1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B8F408-0C2A-4EC2-8138-FE3A6269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Устойчивость схем бегущего счета </a:t>
            </a:r>
            <a:br>
              <a:rPr lang="ru-RU" sz="4000" dirty="0"/>
            </a:br>
            <a:r>
              <a:rPr lang="ru-RU" sz="4000" dirty="0"/>
              <a:t>по начальным данным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EC7CD90-5CC4-4EEB-8042-14E90EF4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33" y="1253331"/>
            <a:ext cx="8775409" cy="5508196"/>
          </a:xfrm>
        </p:spPr>
        <p:txBody>
          <a:bodyPr/>
          <a:lstStyle/>
          <a:p>
            <a:r>
              <a:rPr lang="ru-RU" dirty="0"/>
              <a:t>Исследуем устойчивость приведенных выше схем бегущего счета по начальным данным </a:t>
            </a:r>
            <a:r>
              <a:rPr lang="ru-RU" b="1" dirty="0"/>
              <a:t>методом гармоник</a:t>
            </a:r>
            <a:r>
              <a:rPr lang="ru-RU" dirty="0"/>
              <a:t>. </a:t>
            </a:r>
          </a:p>
          <a:p>
            <a:r>
              <a:rPr lang="ru-RU" dirty="0"/>
              <a:t>Для этого рассмотрим соответствующие разностные схемы для задачи Коши на прямой в частном случае, когда скорость переноса c постоянная: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Введём равномерную сетку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BB9C4AE-B0D6-43D7-90C3-A9132017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827" y="3825276"/>
            <a:ext cx="4338346" cy="12458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36A0AF55-98BE-4A9C-8EEC-02D085F9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297" y="5938435"/>
            <a:ext cx="5819406" cy="38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0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56144FB-9F5E-42AB-B71E-44878FA9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7886700" cy="602530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Схема 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C69363F-9785-425D-9247-C3D764D8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28" y="623392"/>
            <a:ext cx="8976744" cy="6047444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Аппроксимируем разностный оператор уравнения в задаче с помощью шаблона а) получим разностную схему: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2400" dirty="0"/>
              <a:t>Погрешность          решения этой разностной схемы, обусловленная погрешностью начальных данных, будет удовлетворять уравнению</a:t>
            </a:r>
          </a:p>
          <a:p>
            <a:endParaRPr lang="ru-RU" sz="2400" dirty="0"/>
          </a:p>
          <a:p>
            <a:r>
              <a:rPr lang="ru-RU" sz="2400" dirty="0"/>
              <a:t>Разложим сеточную функцию  	 в ряд по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2400" dirty="0"/>
              <a:t>Так как схема является линейной двухслойной схемой с постоянными коэффициентами, то на слое j + 1 погрешность будет иметь вид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где                             — множители роста.          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F6FE25E-C90C-40D4-985C-BB5A2B3B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80" y="1255097"/>
            <a:ext cx="6096240" cy="10782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02A68A3-382C-4C5E-A5D1-58BF99206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78" y="3000561"/>
            <a:ext cx="2769647" cy="5138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BE44B898-1B83-42D5-9E70-CB2B9E208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261" y="2333344"/>
            <a:ext cx="511991" cy="4095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5586F036-79BD-45FF-8E76-E51BB4FCD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007" y="3458367"/>
            <a:ext cx="511991" cy="40959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6F4DAA6E-F7C0-4599-8EB0-530612612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8" y="3511925"/>
            <a:ext cx="634145" cy="37120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60E5BA77-C04D-456A-8EF7-74A30CE53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927" y="4038619"/>
            <a:ext cx="2884939" cy="60219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94FF1D68-C0CC-4DE9-8911-48F12B3D00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6605" y="5573235"/>
            <a:ext cx="2902585" cy="60219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8E23F181-FE59-46E2-97F0-B11A3A128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40" y="6018268"/>
            <a:ext cx="1678409" cy="4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2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C66AA33-3344-42AB-AB54-D918D31F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68" y="549683"/>
            <a:ext cx="8629663" cy="345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6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9D05C5D-D4A6-429D-B775-B46D65B6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87" y="139438"/>
            <a:ext cx="8750243" cy="671856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Спектр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/>
              <a:t>оператора перехода со слоя на слой в рассматриваемой задаче представляет собой окружность на комплексной плоскости с центром в точке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1 −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dirty="0"/>
              <a:t>и радиусом 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/>
              <a:t>|. </a:t>
            </a:r>
          </a:p>
          <a:p>
            <a:r>
              <a:rPr lang="ru-RU" dirty="0"/>
              <a:t>Так как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ru-RU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/>
              <a:t>не зависит от τ явным образом, то спектральное условие устойчивости схемы принимает вид</a:t>
            </a:r>
          </a:p>
          <a:p>
            <a:r>
              <a:rPr lang="ru-RU" dirty="0"/>
              <a:t>Следовательно, для того чтобы схема (а) была устойчивой по начальным данным, необходимо и достаточно, чтобы спектр оператора перехода со слоя на слой содержался в круге единичного радиуса с центром в нуле на комплексной плоскости. </a:t>
            </a:r>
          </a:p>
          <a:p>
            <a:r>
              <a:rPr lang="ru-RU" dirty="0"/>
              <a:t>Так как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 , то в случае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r>
              <a:rPr lang="ru-RU" dirty="0"/>
              <a:t> (перенос в положительном направлении оси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) параметр </a:t>
            </a:r>
            <a:r>
              <a:rPr lang="ru-RU" i="1" dirty="0"/>
              <a:t>r</a:t>
            </a:r>
            <a:r>
              <a:rPr lang="ru-RU" dirty="0"/>
              <a:t> также положителен, а при </a:t>
            </a:r>
            <a:br>
              <a:rPr lang="ru-RU" dirty="0"/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</a:t>
            </a:r>
            <a:r>
              <a:rPr lang="ru-RU" dirty="0"/>
              <a:t>(перенос против оси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) параметр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/>
              <a:t> отрицателен. </a:t>
            </a:r>
          </a:p>
          <a:p>
            <a:r>
              <a:rPr lang="ru-RU" dirty="0"/>
              <a:t>Очевидно, что в случае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</a:t>
            </a:r>
            <a:r>
              <a:rPr lang="ru-RU" dirty="0"/>
              <a:t> условие выполнено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1 </a:t>
            </a:r>
            <a:r>
              <a:rPr lang="ru-RU" dirty="0"/>
              <a:t>или, что то же самое, при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cτ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. </a:t>
            </a:r>
          </a:p>
          <a:p>
            <a:r>
              <a:rPr lang="ru-RU" dirty="0"/>
              <a:t>В случае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 </a:t>
            </a:r>
            <a:r>
              <a:rPr lang="ru-RU" dirty="0"/>
              <a:t>спектр оператора перехода со слоя на слой лежит вне единичной окружности при любом соотношении шагов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, то есть схема (а) неустойчива. </a:t>
            </a:r>
          </a:p>
          <a:p>
            <a:r>
              <a:rPr lang="ru-RU" dirty="0"/>
              <a:t>Итак,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</a:t>
            </a:r>
            <a:r>
              <a:rPr lang="ru-RU" dirty="0"/>
              <a:t>схема (а) </a:t>
            </a:r>
            <a:r>
              <a:rPr lang="ru-RU" b="1" dirty="0"/>
              <a:t>условно устойчива</a:t>
            </a:r>
            <a:r>
              <a:rPr lang="ru-RU" dirty="0"/>
              <a:t>. Условие её устойчивости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называется </a:t>
            </a:r>
            <a:r>
              <a:rPr lang="ru-RU" b="1" dirty="0"/>
              <a:t>условием Куранта</a:t>
            </a:r>
            <a:r>
              <a:rPr lang="ru-RU" dirty="0"/>
              <a:t>. </a:t>
            </a:r>
          </a:p>
          <a:p>
            <a:r>
              <a:rPr lang="ru-RU" b="1" dirty="0">
                <a:solidFill>
                  <a:srgbClr val="FF0000"/>
                </a:solidFill>
              </a:rPr>
              <a:t>При c &lt; 0 схема (а) неустойчива, и пользоваться ею нельзя!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2FC27E7-01B2-4EA7-BAD2-79DDD7D7B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524" b="17994"/>
          <a:stretch/>
        </p:blipFill>
        <p:spPr>
          <a:xfrm>
            <a:off x="6415875" y="1350628"/>
            <a:ext cx="1538460" cy="3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2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87C5D76-BAC7-4F92-A90D-3BFD5A79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3" y="18256"/>
            <a:ext cx="8699908" cy="552196"/>
          </a:xfrm>
        </p:spPr>
        <p:txBody>
          <a:bodyPr>
            <a:noAutofit/>
          </a:bodyPr>
          <a:lstStyle/>
          <a:p>
            <a:r>
              <a:rPr lang="ru-RU" sz="3200" dirty="0"/>
              <a:t>Спектральное условие устойчивости схемы а)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6846928-9ABE-4EE3-925A-698AEBBFC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037" y="810557"/>
            <a:ext cx="4023569" cy="4351338"/>
          </a:xfrm>
        </p:spPr>
        <p:txBody>
          <a:bodyPr/>
          <a:lstStyle/>
          <a:p>
            <a:r>
              <a:rPr lang="ru-RU" dirty="0"/>
              <a:t>Спектр оператора перехода со слоя на слой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0, 0 &lt;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1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815E38EF-7B27-459A-A573-AF802C3E9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1429" y="919614"/>
            <a:ext cx="3886200" cy="4351338"/>
          </a:xfrm>
        </p:spPr>
        <p:txBody>
          <a:bodyPr/>
          <a:lstStyle/>
          <a:p>
            <a:r>
              <a:rPr lang="ru-RU" dirty="0"/>
              <a:t>Спектр оператора перехода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2AE9CFE-190F-43F1-B66A-3E4767138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1" y="2139920"/>
            <a:ext cx="3171563" cy="29264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7346E35-707B-49D1-906A-F8F2B546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88" y="2291024"/>
            <a:ext cx="3886145" cy="249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2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94D7973-07A0-48D8-BDF4-01C344EC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604007"/>
          </a:xfrm>
        </p:spPr>
        <p:txBody>
          <a:bodyPr>
            <a:noAutofit/>
          </a:bodyPr>
          <a:lstStyle/>
          <a:p>
            <a:r>
              <a:rPr lang="ru-RU" sz="3200" u="sng" dirty="0"/>
              <a:t>Замечание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60DFC27-1050-4331-BF66-076CFDAE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52" y="604007"/>
            <a:ext cx="8557295" cy="6056852"/>
          </a:xfrm>
        </p:spPr>
        <p:txBody>
          <a:bodyPr/>
          <a:lstStyle/>
          <a:p>
            <a:r>
              <a:rPr lang="ru-RU" dirty="0"/>
              <a:t>В случае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 </a:t>
            </a:r>
            <a:r>
              <a:rPr lang="ru-RU" dirty="0"/>
              <a:t>можно построить аналог схемы (а), если вместо шаблона а) использовать его зеркальное отображение относительно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(см. рис.). Соответствующая разностная схема имеет вид: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Эта схема будет устойчива при выполнении условия Куранта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8FF6BB4-CE3B-4357-B11E-5FB37DE98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47" y="2393091"/>
            <a:ext cx="2219325" cy="16859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C118D81-19F8-4A95-8641-9C3732FEF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8" y="2257338"/>
            <a:ext cx="6414849" cy="11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E2E693E-F722-46D6-ADF8-FD3BF0A0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88" y="114985"/>
            <a:ext cx="7886700" cy="566052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Схемы б) и в)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F0A3850-38D3-4740-98C4-3D07ED08C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8" y="728195"/>
            <a:ext cx="8892854" cy="6014819"/>
          </a:xfrm>
        </p:spPr>
        <p:txBody>
          <a:bodyPr/>
          <a:lstStyle/>
          <a:p>
            <a:r>
              <a:rPr lang="ru-RU" dirty="0"/>
              <a:t>Так как шаблоны б) и в) являются зеркально симметричными относительно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/>
              <a:t>, то достаточно исследовать на устойчивость схему с одним из этих шаблонов. </a:t>
            </a:r>
          </a:p>
          <a:p>
            <a:r>
              <a:rPr lang="ru-RU" dirty="0"/>
              <a:t>Для схемы со вторым шаблоном условие устойчивости будет получаться из условия устойчивости первой при замене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/>
              <a:t> на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−c</a:t>
            </a:r>
            <a:r>
              <a:rPr lang="ru-RU" dirty="0"/>
              <a:t>. </a:t>
            </a:r>
          </a:p>
          <a:p>
            <a:r>
              <a:rPr lang="ru-RU" dirty="0"/>
              <a:t>Рассмотрим разностную схему б):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C7F0E8D-2C3C-43A5-9ED3-AFC013F5B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37" y="4290707"/>
            <a:ext cx="7060883" cy="123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7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97F651F-7E4A-4D49-B5CF-7164378C0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33" y="147827"/>
            <a:ext cx="8859298" cy="647947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Пользуясь теми же рассуждениями, что и в случае схемы а), приходим к уравнению для множителей роста: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откуда получаем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Очевидно, что условие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≤ 1 </a:t>
            </a:r>
            <a:r>
              <a:rPr lang="ru-RU" dirty="0"/>
              <a:t>выполняется, если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&gt; 1</a:t>
            </a:r>
            <a:r>
              <a:rPr lang="ru-RU" dirty="0"/>
              <a:t>.</a:t>
            </a:r>
          </a:p>
          <a:p>
            <a:r>
              <a:rPr lang="ru-RU" dirty="0"/>
              <a:t>При изменении параметра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/>
              <a:t> от минус до плюс бесконечности значения функции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 пробегают окружность радиуса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dirty="0"/>
              <a:t> с центром в точке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на комплексной плоскости. </a:t>
            </a:r>
          </a:p>
          <a:p>
            <a:r>
              <a:rPr lang="ru-RU" dirty="0"/>
              <a:t>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</a:t>
            </a:r>
            <a:r>
              <a:rPr lang="ru-RU" dirty="0"/>
              <a:t>параметр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/>
              <a:t> также положителен. Следовательно, окружность, заполняемая значениями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/>
              <a:t>, расположена вне единичного круга с центром в начале координат и касается единичной окружности в точке 1. </a:t>
            </a:r>
          </a:p>
          <a:p>
            <a:r>
              <a:rPr lang="ru-RU" dirty="0"/>
              <a:t>Это означает, что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&gt; 1 </a:t>
            </a:r>
            <a:r>
              <a:rPr lang="ru-RU" dirty="0"/>
              <a:t>при любом соотношении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/>
              <a:t> 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, то есть при положительном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/>
              <a:t> схема (б) безусловно устойчива по начальным данным.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76325E6-5770-4687-9429-0BB75FF8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115" y="869397"/>
            <a:ext cx="2475451" cy="6155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30F2898A-D545-4304-927B-7812BE8B7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858" y="1484915"/>
            <a:ext cx="5840582" cy="6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4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EA063EF-64E5-46F1-9785-261877981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6" y="89104"/>
            <a:ext cx="8657962" cy="4351338"/>
          </a:xfrm>
        </p:spPr>
        <p:txBody>
          <a:bodyPr/>
          <a:lstStyle/>
          <a:p>
            <a:r>
              <a:rPr lang="ru-RU" dirty="0"/>
              <a:t>Если скорость переноса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/>
              <a:t> отрицательна, то и параметр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/>
              <a:t> отрицателен, и условие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&gt; 1 </a:t>
            </a:r>
            <a:r>
              <a:rPr lang="ru-RU" dirty="0"/>
              <a:t>устойчивости схемы (б) будет выполнено при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&gt; 1 </a:t>
            </a:r>
            <a:r>
              <a:rPr lang="ru-RU" dirty="0"/>
              <a:t>(см. рис.). Следовательно,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 </a:t>
            </a:r>
            <a:r>
              <a:rPr lang="ru-RU" dirty="0"/>
              <a:t>схема (б) является условно устойчивой по начальным данным, и условие её устойчивости имеет вид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31A626B-9737-4DE3-B9DE-E08626A1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82" y="2531019"/>
            <a:ext cx="3873709" cy="25946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340A4150-18F6-47CF-8D81-5C308F5E6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711" y="2531018"/>
            <a:ext cx="3151554" cy="25946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A2E27AE1-7E53-43F5-902B-7B9A9483B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09" y="5663618"/>
            <a:ext cx="2847975" cy="2286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AF8434A2-9F15-4862-A5C2-660EA37D2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080" y="5569635"/>
            <a:ext cx="28194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3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6FD6834-622E-4427-AF2F-B3AA4EBBF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035" y="491775"/>
            <a:ext cx="8366619" cy="4351338"/>
          </a:xfrm>
        </p:spPr>
        <p:txBody>
          <a:bodyPr/>
          <a:lstStyle/>
          <a:p>
            <a:r>
              <a:rPr lang="ru-RU" dirty="0"/>
              <a:t>Схема в) является аналогом схемы б), если знак параметра c поменять на противоположный.</a:t>
            </a:r>
          </a:p>
          <a:p>
            <a:r>
              <a:rPr lang="ru-RU" dirty="0"/>
              <a:t> Следовательно, схема в) безусловно устойчива при c &lt; 0 и условно устойчива при c &gt; 0. </a:t>
            </a:r>
          </a:p>
          <a:p>
            <a:r>
              <a:rPr lang="ru-RU" dirty="0"/>
              <a:t>Условие её устойчивости при c &gt; 0 имеет вид </a:t>
            </a:r>
            <a:r>
              <a:rPr lang="ru-RU" dirty="0" err="1"/>
              <a:t>cτ</a:t>
            </a:r>
            <a:r>
              <a:rPr lang="ru-RU" dirty="0"/>
              <a:t> &gt; h.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C9BA23B-A8CF-4423-8534-5F42B3DB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19" y="2960091"/>
            <a:ext cx="1866900" cy="16192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364B7FAB-9CFB-4182-986E-6D35501A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16" y="2960091"/>
            <a:ext cx="1704975" cy="1600200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EC6C655A-7C1E-44B2-9118-F0AE21FD7763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333618" y="3760191"/>
            <a:ext cx="1512000" cy="95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3C942B9-8322-4EC3-B3C5-B7BFD8D8F9A7}"/>
              </a:ext>
            </a:extLst>
          </p:cNvPr>
          <p:cNvSpPr txBox="1"/>
          <p:nvPr/>
        </p:nvSpPr>
        <p:spPr>
          <a:xfrm>
            <a:off x="3917928" y="3298526"/>
            <a:ext cx="481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ym typeface="Symbol" panose="05050102010706020507" pitchFamily="18" charset="2"/>
              </a:rPr>
              <a:t></a:t>
            </a:r>
            <a:r>
              <a:rPr lang="ru-RU" sz="2400" b="1" dirty="0"/>
              <a:t>с</a:t>
            </a:r>
          </a:p>
        </p:txBody>
      </p:sp>
    </p:spTree>
    <p:extLst>
      <p:ext uri="{BB962C8B-B14F-4D97-AF65-F5344CB8AC3E}">
        <p14:creationId xmlns:p14="http://schemas.microsoft.com/office/powerpoint/2010/main" val="354674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F3E9583-10AF-4E6B-8FD2-50CBF78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7886700" cy="527029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Схема г)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BD9FB4D-8B41-449B-AA06-45C88ACFF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11" y="827334"/>
            <a:ext cx="8490183" cy="5506353"/>
          </a:xfrm>
        </p:spPr>
        <p:txBody>
          <a:bodyPr/>
          <a:lstStyle/>
          <a:p>
            <a:r>
              <a:rPr lang="ru-RU" dirty="0"/>
              <a:t>С помощью метода гармоник можно показать, что схема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безусловно устойчива при любом знаке параметра c.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A330A83-E7BB-4569-BBB7-05081A421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87" y="1665170"/>
            <a:ext cx="7515157" cy="9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1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E196D9F-B573-4F59-B3CC-6DEBF78D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7" y="79901"/>
            <a:ext cx="7886700" cy="700276"/>
          </a:xfrm>
        </p:spPr>
        <p:txBody>
          <a:bodyPr>
            <a:normAutofit fontScale="90000"/>
          </a:bodyPr>
          <a:lstStyle/>
          <a:p>
            <a:r>
              <a:rPr lang="ru-RU" dirty="0"/>
              <a:t>О применимости метода гармоник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439832D-2C8A-45F8-86E0-D5279D287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6" y="902836"/>
            <a:ext cx="8901245" cy="574963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Метод гармоник применим </a:t>
            </a:r>
            <a:r>
              <a:rPr lang="ru-RU" b="1" dirty="0"/>
              <a:t>только для схем </a:t>
            </a:r>
            <a:br>
              <a:rPr lang="ru-RU" b="1" dirty="0"/>
            </a:br>
            <a:r>
              <a:rPr lang="ru-RU" b="1" dirty="0"/>
              <a:t>с постоянными коэффициентами</a:t>
            </a:r>
            <a:r>
              <a:rPr lang="ru-RU" dirty="0"/>
              <a:t>. </a:t>
            </a:r>
          </a:p>
          <a:p>
            <a:r>
              <a:rPr lang="ru-RU" dirty="0"/>
              <a:t>Для исследования на устойчивость разностных схем для уравнений с переменными коэффициентами широко используют приём «замораживания» коэффициентов уравнения. </a:t>
            </a:r>
          </a:p>
          <a:p>
            <a:r>
              <a:rPr lang="ru-RU" dirty="0"/>
              <a:t>При этом на устойчивость исследуется схема с постоянными коэффициентами, равными своим значениям в какой-то фиксированной точке. </a:t>
            </a:r>
          </a:p>
          <a:p>
            <a:r>
              <a:rPr lang="ru-RU" dirty="0"/>
              <a:t>Схему с переменными коэффициентами считают устойчивой, если условие устойчивости выполняется для соответствующей схемы с постоянными коэффициентами независимо от того, в какой точке были «заморожены» коэффициенты.</a:t>
            </a:r>
          </a:p>
        </p:txBody>
      </p:sp>
    </p:spTree>
    <p:extLst>
      <p:ext uri="{BB962C8B-B14F-4D97-AF65-F5344CB8AC3E}">
        <p14:creationId xmlns:p14="http://schemas.microsoft.com/office/powerpoint/2010/main" val="209720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50404E-8C88-47EC-8DA1-12142BC2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7" y="0"/>
            <a:ext cx="8951053" cy="897622"/>
          </a:xfrm>
        </p:spPr>
        <p:txBody>
          <a:bodyPr>
            <a:noAutofit/>
          </a:bodyPr>
          <a:lstStyle/>
          <a:p>
            <a:r>
              <a:rPr lang="ru-RU" sz="2800" dirty="0"/>
              <a:t>Реализация схем бегущего счёта для начально-краевой задачи для линейного уравнения переноса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427E2BB-57E0-45EA-97C6-2B600B543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33" y="897622"/>
            <a:ext cx="8767020" cy="5112071"/>
          </a:xfrm>
        </p:spPr>
        <p:txBody>
          <a:bodyPr/>
          <a:lstStyle/>
          <a:p>
            <a:r>
              <a:rPr lang="ru-RU" u="sng" dirty="0"/>
              <a:t>Пример</a:t>
            </a:r>
            <a:r>
              <a:rPr lang="ru-RU" dirty="0"/>
              <a:t>. Рассмотрим начально-краевую задачу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Она допускает аналитическое решение, которое можно получить методом характеристик. Уравнение характеристик имеет вид:</a:t>
            </a:r>
          </a:p>
          <a:p>
            <a:r>
              <a:rPr lang="ru-RU" dirty="0"/>
              <a:t>Интегрируя его, получаем однопараметрическое семейство характеристик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/>
              <a:t>, где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/>
              <a:t> — произвольное число. </a:t>
            </a:r>
          </a:p>
          <a:p>
            <a:r>
              <a:rPr lang="ru-RU" dirty="0"/>
              <a:t>Введём вдоль характеристики параметр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/>
              <a:t> :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22E421F-BC3C-410C-A008-6580B9E2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65" y="1351370"/>
            <a:ext cx="3677917" cy="10831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AA147253-AB01-4EEB-841D-49CB591842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89" b="15887"/>
          <a:stretch/>
        </p:blipFill>
        <p:spPr>
          <a:xfrm>
            <a:off x="4567542" y="3193598"/>
            <a:ext cx="1036303" cy="6057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8D4DD9C6-3531-4D71-BB7F-AC61DCCDC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27" y="5402015"/>
            <a:ext cx="1770183" cy="69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7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B3875BE-A5A2-48B5-A4C3-B09221DB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714"/>
            <a:ext cx="8842520" cy="6672424"/>
          </a:xfrm>
        </p:spPr>
        <p:txBody>
          <a:bodyPr/>
          <a:lstStyle/>
          <a:p>
            <a:r>
              <a:rPr lang="ru-RU" dirty="0"/>
              <a:t>На каждой характеристике начало отсчёта параметра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/>
              <a:t> выберем так, чтобы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/>
              <a:t> обращалось в ноль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ru-RU" dirty="0"/>
              <a:t>. Тогда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/>
              <a:t>. </a:t>
            </a:r>
          </a:p>
          <a:p>
            <a:r>
              <a:rPr lang="ru-RU" dirty="0"/>
              <a:t>Перейдём от переменных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 к переменным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: </a:t>
            </a:r>
          </a:p>
          <a:p>
            <a:endParaRPr lang="ru-RU" dirty="0"/>
          </a:p>
          <a:p>
            <a:r>
              <a:rPr lang="ru-RU" dirty="0"/>
              <a:t>Наша задача в новых переменных принимает вид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ru-RU" dirty="0"/>
              <a:t>. </a:t>
            </a:r>
          </a:p>
          <a:p>
            <a:r>
              <a:rPr lang="ru-RU" dirty="0"/>
              <a:t>Общим решением уравнения будет</a:t>
            </a:r>
          </a:p>
          <a:p>
            <a:r>
              <a:rPr lang="ru-RU" dirty="0"/>
              <a:t>Найдём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 из дополнительных условий задачи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FC48807-888A-4BB2-9EE2-AE76B744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563" y="1733900"/>
            <a:ext cx="1195213" cy="6962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BC3F247-16B7-4ACD-8CCA-31F72B230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12594"/>
            <a:ext cx="2570002" cy="12086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80AFE8F4-6F73-4478-B93C-4C46F2DA7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390" y="4345498"/>
            <a:ext cx="2858623" cy="6368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3A9952DA-8E53-46A5-9920-6867CC395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77" y="5505517"/>
            <a:ext cx="7034797" cy="9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8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D5D2695-E057-43CA-AC04-62C200B18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11" y="172993"/>
            <a:ext cx="8783798" cy="6538199"/>
          </a:xfrm>
        </p:spPr>
        <p:txBody>
          <a:bodyPr>
            <a:normAutofit/>
          </a:bodyPr>
          <a:lstStyle/>
          <a:p>
            <a:r>
              <a:rPr lang="ru-RU" sz="2400" dirty="0"/>
              <a:t>Следовательно,</a:t>
            </a:r>
          </a:p>
          <a:p>
            <a:endParaRPr lang="ru-RU" sz="2400" dirty="0"/>
          </a:p>
          <a:p>
            <a:r>
              <a:rPr lang="ru-RU" sz="2400" dirty="0"/>
              <a:t>Возвращаясь к исходным переменным, получаем аналитическое решение задачи </a:t>
            </a:r>
          </a:p>
          <a:p>
            <a:endParaRPr lang="ru-RU" sz="2400" dirty="0"/>
          </a:p>
          <a:p>
            <a:r>
              <a:rPr lang="ru-RU" sz="2400" dirty="0"/>
              <a:t>График аналитического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15E3F38-F45B-4901-8CC5-105BEC821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784" y="85987"/>
            <a:ext cx="4057028" cy="10884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47203E2-CC58-40C3-A39C-ACBA12FD4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740" y="1456800"/>
            <a:ext cx="4402260" cy="10884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BED65C6C-3AA3-4877-94AF-2F931AEAB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801" y="2782359"/>
            <a:ext cx="5443344" cy="399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8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6A53F26-103A-4817-9249-5228E84A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5" y="130234"/>
            <a:ext cx="7886700" cy="315911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Разностные схемы для примера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7027863-3CF8-40B4-B4D3-CC104AB6E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4" y="634388"/>
            <a:ext cx="9060635" cy="6152306"/>
          </a:xfrm>
        </p:spPr>
        <p:txBody>
          <a:bodyPr/>
          <a:lstStyle/>
          <a:p>
            <a:r>
              <a:rPr lang="ru-RU" dirty="0"/>
              <a:t>Введём в расчетной области равномерную сетку </a:t>
            </a:r>
          </a:p>
          <a:p>
            <a:endParaRPr lang="ru-RU" dirty="0"/>
          </a:p>
          <a:p>
            <a:r>
              <a:rPr lang="ru-RU" b="1" dirty="0"/>
              <a:t>Схема а) </a:t>
            </a:r>
            <a:r>
              <a:rPr lang="ru-RU" dirty="0"/>
              <a:t>для задачи из примера имеет вид: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Схема (а) устойчива при выполнении условия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/>
              <a:t>, или, что то же самое,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2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/>
              <a:t>. Так как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</a:t>
            </a:r>
            <a:r>
              <a:rPr lang="ru-RU" dirty="0"/>
              <a:t>и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</a:t>
            </a:r>
            <a:r>
              <a:rPr lang="ru-RU" dirty="0"/>
              <a:t>сеточная функция 	известна из граничных и начальных условий соответственно, то при каждом </a:t>
            </a:r>
            <a:br>
              <a:rPr lang="ru-RU" dirty="0"/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...,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 </a:t>
            </a:r>
            <a:r>
              <a:rPr lang="ru-RU" dirty="0"/>
              <a:t>и каждом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1, ...,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 </a:t>
            </a:r>
            <a:r>
              <a:rPr lang="ru-RU" dirty="0"/>
              <a:t>неизвестным является значение        , которое легко выражается из уравнения.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2E3004C-F302-486D-9707-7EBF04557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70" y="1132427"/>
            <a:ext cx="8261632" cy="4195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98B84B4-BD85-4654-BA2A-4E0AE0FA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733" y="2118395"/>
            <a:ext cx="5769012" cy="16650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08468F17-E541-49BD-93E0-BFFE16D7D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554" y="4439318"/>
            <a:ext cx="350547" cy="53504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40FC81D9-C7EB-420C-960D-E2F81473E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8282" y="5630246"/>
            <a:ext cx="480121" cy="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6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D8B9F44-6A2B-41CA-B285-738DE92B0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9" y="282051"/>
            <a:ext cx="8758631" cy="636203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График численного решения по схеме а) в случае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График погрешности численного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3580626-BFCD-41D0-9C63-F0FD6D7B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649" y="738668"/>
            <a:ext cx="3409950" cy="25812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BC770FD-53F3-4D42-BD50-B6027CC02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546" y="3874882"/>
            <a:ext cx="3759142" cy="286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9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68E9336-DBC7-463C-AD4B-24556A11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11" y="256884"/>
            <a:ext cx="8767020" cy="646269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График погрешности решения в случае, когда условие устойчивости схемы (а) не выполнено. </a:t>
            </a:r>
          </a:p>
          <a:p>
            <a:r>
              <a:rPr lang="ru-RU" dirty="0"/>
              <a:t>В этом случае схема расходится.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87EF5647-9CE0-46D7-8C5B-B8AC79721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67" y="1813682"/>
            <a:ext cx="6074066" cy="449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6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4335BCD-89E0-4C27-BA69-A7E8657A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44" y="231716"/>
            <a:ext cx="8850910" cy="6626283"/>
          </a:xfrm>
        </p:spPr>
        <p:txBody>
          <a:bodyPr/>
          <a:lstStyle/>
          <a:p>
            <a:r>
              <a:rPr lang="ru-RU" b="1" dirty="0"/>
              <a:t>Схема б)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 данном случае 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&gt; 0</a:t>
            </a:r>
            <a:r>
              <a:rPr lang="ru-RU" dirty="0"/>
              <a:t>) схема (б) безусловно устойчива. </a:t>
            </a:r>
          </a:p>
          <a:p>
            <a:r>
              <a:rPr lang="ru-RU" dirty="0"/>
              <a:t>Как и в предыдущем случае, при каждом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2, ...,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 1, ...,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 </a:t>
            </a:r>
            <a:r>
              <a:rPr lang="ru-RU" dirty="0"/>
              <a:t>неизвестным является значение       , которое находится из соответствующего уравнения.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86A6588-B82F-4A9E-8517-27E1D1568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55" y="655258"/>
            <a:ext cx="7852911" cy="20040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F69E699-3668-46FD-AD1D-15598B77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835" y="4029670"/>
            <a:ext cx="480121" cy="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5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D8B9F44-6A2B-41CA-B285-738DE92B0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8" y="282051"/>
            <a:ext cx="9018691" cy="636203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График численного решения по схеме б) при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График погрешности численного решения при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36FF283-F434-47AC-B0B7-0F46D11F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28" y="798877"/>
            <a:ext cx="3583674" cy="26301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0BF7F97-26BE-419F-B99B-4DC966B4D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05" y="3878714"/>
            <a:ext cx="3843776" cy="277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81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D57B879-2B94-41DD-AF38-1A0CE01E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87" y="315607"/>
            <a:ext cx="8825743" cy="3113393"/>
          </a:xfrm>
        </p:spPr>
        <p:txBody>
          <a:bodyPr/>
          <a:lstStyle/>
          <a:p>
            <a:r>
              <a:rPr lang="ru-RU" b="1" dirty="0"/>
              <a:t>Схема в) </a:t>
            </a:r>
            <a:r>
              <a:rPr lang="ru-RU" dirty="0"/>
              <a:t>в данном случае имеет вид: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Она устойчива, если шаги τ и h удовлетворяют условию 2τ &gt; h, или, что то же самое, J ≤ 2N.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DD103BD-ADB3-448D-822A-F26E4B536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214" y="826446"/>
            <a:ext cx="6585572" cy="15224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60F551D-4C30-470B-AE44-AD84991DA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75" y="3204159"/>
            <a:ext cx="3970176" cy="26875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753FF4F-42A0-478F-9A25-92B484BD5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581" y="3204159"/>
            <a:ext cx="3715799" cy="2738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AF6801D-7E5B-4033-9D34-4C4FC6F432E4}"/>
              </a:ext>
            </a:extLst>
          </p:cNvPr>
          <p:cNvSpPr txBox="1"/>
          <p:nvPr/>
        </p:nvSpPr>
        <p:spPr>
          <a:xfrm>
            <a:off x="615305" y="5997868"/>
            <a:ext cx="3255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Погрешность численного решения </a:t>
            </a:r>
          </a:p>
          <a:p>
            <a:r>
              <a:rPr lang="ru-RU" sz="1600" dirty="0"/>
              <a:t>(условие устойчивости выполнено)</a:t>
            </a:r>
            <a:endParaRPr lang="ru-RU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A4CA050-372B-4B6F-B44C-F8F1154BD65C}"/>
              </a:ext>
            </a:extLst>
          </p:cNvPr>
          <p:cNvSpPr txBox="1"/>
          <p:nvPr/>
        </p:nvSpPr>
        <p:spPr>
          <a:xfrm>
            <a:off x="5087825" y="6031554"/>
            <a:ext cx="40561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Погрешность численного решения </a:t>
            </a:r>
          </a:p>
          <a:p>
            <a:r>
              <a:rPr lang="ru-RU" sz="1600" dirty="0"/>
              <a:t>(условие устойчивости </a:t>
            </a:r>
            <a:r>
              <a:rPr lang="en-US" sz="1600" dirty="0"/>
              <a:t>J ≤ 2N</a:t>
            </a:r>
            <a:r>
              <a:rPr lang="ru-RU" sz="1600" dirty="0"/>
              <a:t> не выполнено)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3371693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3860560-78EB-4596-94CC-4482FDB3C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6" y="156215"/>
            <a:ext cx="8892854" cy="6545571"/>
          </a:xfrm>
        </p:spPr>
        <p:txBody>
          <a:bodyPr/>
          <a:lstStyle/>
          <a:p>
            <a:r>
              <a:rPr lang="ru-RU" b="1" dirty="0"/>
              <a:t>Схема г)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Эта схема безусловно устойчива.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2400" dirty="0"/>
              <a:t>График погрешности численного решения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D719BDE-0EEF-4A17-BE26-411BEDAE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027" y="156214"/>
            <a:ext cx="6044448" cy="21088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830B30C-C926-4424-8B8B-6B20A04D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688" y="2778416"/>
            <a:ext cx="4026060" cy="294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88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F4CA9EF-97C3-4C7A-91BF-CA2BF3DE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66" y="382718"/>
            <a:ext cx="8909634" cy="6286529"/>
          </a:xfrm>
        </p:spPr>
        <p:txBody>
          <a:bodyPr>
            <a:normAutofit/>
          </a:bodyPr>
          <a:lstStyle/>
          <a:p>
            <a:r>
              <a:rPr lang="ru-RU" dirty="0"/>
              <a:t>Волнообразный характер погрешности решения, полученного по схеме (г), есть следствие её немонотонности. </a:t>
            </a:r>
          </a:p>
          <a:p>
            <a:r>
              <a:rPr lang="ru-RU" dirty="0"/>
              <a:t>Если для линейного однородного уравнения переноса поставлена задача Коши на прямой с монотонными начальными данными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/>
              <a:t>, то при любом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 </a:t>
            </a:r>
            <a:r>
              <a:rPr lang="ru-RU" dirty="0"/>
              <a:t>профиль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/>
              <a:t>решения тоже будет оставаться монотонным. </a:t>
            </a:r>
          </a:p>
          <a:p>
            <a:r>
              <a:rPr lang="ru-RU" dirty="0"/>
              <a:t>Разностные схемы, сохраняющие это свойство для численного решения, называются </a:t>
            </a:r>
            <a:r>
              <a:rPr lang="ru-RU" b="1" dirty="0"/>
              <a:t>монотонными</a:t>
            </a:r>
            <a:r>
              <a:rPr lang="ru-RU" dirty="0"/>
              <a:t>.</a:t>
            </a:r>
          </a:p>
          <a:p>
            <a:r>
              <a:rPr lang="ru-RU" dirty="0"/>
              <a:t>Двухслойная линейная монотонная схема для уравнения переноса </a:t>
            </a:r>
            <a:r>
              <a:rPr lang="ru-RU" b="1" dirty="0"/>
              <a:t>не может иметь порядок точности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2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4839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1167</Words>
  <PresentationFormat>Экран (4:3)</PresentationFormat>
  <Paragraphs>165</Paragraphs>
  <Slides>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Уравнение переноса </vt:lpstr>
      <vt:lpstr>Презентация PowerPoint</vt:lpstr>
      <vt:lpstr>Презентация PowerPoint</vt:lpstr>
      <vt:lpstr>Презентация PowerPoint</vt:lpstr>
      <vt:lpstr>Основные шаблоны  в схемах бегущего счёта</vt:lpstr>
      <vt:lpstr>Презентация PowerPoint</vt:lpstr>
      <vt:lpstr>Устойчивость схем бегущего счета  по начальным данным</vt:lpstr>
      <vt:lpstr>Схема а)</vt:lpstr>
      <vt:lpstr>Презентация PowerPoint</vt:lpstr>
      <vt:lpstr>Презентация PowerPoint</vt:lpstr>
      <vt:lpstr>Спектральное условие устойчивости схемы а)</vt:lpstr>
      <vt:lpstr>Замечание</vt:lpstr>
      <vt:lpstr>Схемы б) и в)</vt:lpstr>
      <vt:lpstr>Презентация PowerPoint</vt:lpstr>
      <vt:lpstr>Презентация PowerPoint</vt:lpstr>
      <vt:lpstr>Презентация PowerPoint</vt:lpstr>
      <vt:lpstr>Схема г)</vt:lpstr>
      <vt:lpstr>О применимости метода гармоник</vt:lpstr>
      <vt:lpstr>Реализация схем бегущего счёта для начально-краевой задачи для линейного уравнения переноса </vt:lpstr>
      <vt:lpstr>Презентация PowerPoint</vt:lpstr>
      <vt:lpstr>Презентация PowerPoint</vt:lpstr>
      <vt:lpstr>Разностные схемы для примера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2022-05-15T14:32:45Z</dcterms:created>
  <dcterms:modified xsi:type="dcterms:W3CDTF">2022-05-17T12:16:45Z</dcterms:modified>
</cp:coreProperties>
</file>