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61" r:id="rId3"/>
    <p:sldId id="257" r:id="rId4"/>
    <p:sldId id="258" r:id="rId5"/>
    <p:sldId id="259" r:id="rId6"/>
    <p:sldId id="262" r:id="rId7"/>
    <p:sldId id="263" r:id="rId8"/>
    <p:sldId id="264" r:id="rId9"/>
    <p:sldId id="260" r:id="rId10"/>
    <p:sldId id="266" r:id="rId11"/>
    <p:sldId id="267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-91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C8719-2D91-4D82-864D-F84104F366FF}" type="datetimeFigureOut">
              <a:rPr lang="ru-RU" smtClean="0"/>
              <a:t>03.05.2022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EAA43-B848-420C-A817-34F254C03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221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03386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43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69245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48059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29235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94704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50321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66C7-61F6-4C98-B59F-310B43406A41}" type="datetimeFigureOut">
              <a:rPr lang="ru-RU" smtClean="0"/>
              <a:t>03.05.2022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FFC5-88D4-4BFD-A7A7-19E068007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978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66C7-61F6-4C98-B59F-310B43406A41}" type="datetimeFigureOut">
              <a:rPr lang="ru-RU" smtClean="0"/>
              <a:t>03.05.2022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FFC5-88D4-4BFD-A7A7-19E068007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020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66C7-61F6-4C98-B59F-310B43406A41}" type="datetimeFigureOut">
              <a:rPr lang="ru-RU" smtClean="0"/>
              <a:t>03.05.2022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FFC5-88D4-4BFD-A7A7-19E068007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252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66C7-61F6-4C98-B59F-310B43406A41}" type="datetimeFigureOut">
              <a:rPr lang="ru-RU" smtClean="0"/>
              <a:t>03.05.2022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FFC5-88D4-4BFD-A7A7-19E068007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51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66C7-61F6-4C98-B59F-310B43406A41}" type="datetimeFigureOut">
              <a:rPr lang="ru-RU" smtClean="0"/>
              <a:t>03.05.2022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FFC5-88D4-4BFD-A7A7-19E068007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526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66C7-61F6-4C98-B59F-310B43406A41}" type="datetimeFigureOut">
              <a:rPr lang="ru-RU" smtClean="0"/>
              <a:t>03.05.2022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FFC5-88D4-4BFD-A7A7-19E068007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17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66C7-61F6-4C98-B59F-310B43406A41}" type="datetimeFigureOut">
              <a:rPr lang="ru-RU" smtClean="0"/>
              <a:t>03.05.2022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FFC5-88D4-4BFD-A7A7-19E068007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90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66C7-61F6-4C98-B59F-310B43406A41}" type="datetimeFigureOut">
              <a:rPr lang="ru-RU" smtClean="0"/>
              <a:t>03.05.2022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FFC5-88D4-4BFD-A7A7-19E068007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579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66C7-61F6-4C98-B59F-310B43406A41}" type="datetimeFigureOut">
              <a:rPr lang="ru-RU" smtClean="0"/>
              <a:t>03.05.2022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FFC5-88D4-4BFD-A7A7-19E068007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11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66C7-61F6-4C98-B59F-310B43406A41}" type="datetimeFigureOut">
              <a:rPr lang="ru-RU" smtClean="0"/>
              <a:t>03.05.2022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FFC5-88D4-4BFD-A7A7-19E068007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562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66C7-61F6-4C98-B59F-310B43406A41}" type="datetimeFigureOut">
              <a:rPr lang="ru-RU" smtClean="0"/>
              <a:t>03.05.2022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FFC5-88D4-4BFD-A7A7-19E068007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848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966C7-61F6-4C98-B59F-310B43406A41}" type="datetimeFigureOut">
              <a:rPr lang="ru-RU" smtClean="0"/>
              <a:t>03.05.2022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0FFC5-88D4-4BFD-A7A7-19E068007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64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955998F-6711-42E0-9F86-9AB1D3DD7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895964"/>
          </a:xfrm>
        </p:spPr>
        <p:txBody>
          <a:bodyPr>
            <a:noAutofit/>
          </a:bodyPr>
          <a:lstStyle/>
          <a:p>
            <a:r>
              <a:rPr lang="ru-RU" sz="4000" b="1" dirty="0"/>
              <a:t>Численные методы решения дифференциальных уравнений </a:t>
            </a:r>
            <a:br>
              <a:rPr lang="ru-RU" sz="4000" b="1" dirty="0"/>
            </a:br>
            <a:r>
              <a:rPr lang="ru-RU" sz="4000" b="1" dirty="0"/>
              <a:t>в частных производных </a:t>
            </a:r>
            <a:br>
              <a:rPr lang="ru-RU" sz="4000" b="1" dirty="0"/>
            </a:br>
            <a:r>
              <a:rPr lang="ru-RU" sz="4000" b="1" dirty="0"/>
              <a:t>(уравнений математической физики</a:t>
            </a:r>
            <a:r>
              <a:rPr lang="en-US" sz="4000" b="1" dirty="0"/>
              <a:t>)</a:t>
            </a:r>
            <a:endParaRPr lang="ru-RU" sz="40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872D52A3-308D-411C-9CD5-493CAF6A56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186572"/>
            <a:ext cx="6858000" cy="1122028"/>
          </a:xfrm>
        </p:spPr>
        <p:txBody>
          <a:bodyPr>
            <a:normAutofit/>
          </a:bodyPr>
          <a:lstStyle/>
          <a:p>
            <a:pPr>
              <a:spcBef>
                <a:spcPts val="863"/>
              </a:spcBef>
              <a:buClrTx/>
              <a:buSzPct val="75000"/>
              <a:buFontTx/>
              <a:buNone/>
            </a:pPr>
            <a:r>
              <a:rPr lang="ru-RU" altLang="ru-RU" sz="2800" dirty="0"/>
              <a:t>Основные определения</a:t>
            </a:r>
          </a:p>
          <a:p>
            <a:pPr>
              <a:spcBef>
                <a:spcPts val="863"/>
              </a:spcBef>
              <a:buClrTx/>
              <a:buSzPct val="75000"/>
              <a:buFontTx/>
              <a:buNone/>
            </a:pPr>
            <a:r>
              <a:rPr lang="ru-RU" altLang="ru-RU" sz="2800" dirty="0"/>
              <a:t>Аппроксимация разностной схемой</a:t>
            </a:r>
          </a:p>
        </p:txBody>
      </p:sp>
    </p:spTree>
    <p:extLst>
      <p:ext uri="{BB962C8B-B14F-4D97-AF65-F5344CB8AC3E}">
        <p14:creationId xmlns:p14="http://schemas.microsoft.com/office/powerpoint/2010/main" val="241797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/>
          <p:cNvSpPr txBox="1">
            <a:spLocks noChangeArrowheads="1"/>
          </p:cNvSpPr>
          <p:nvPr/>
        </p:nvSpPr>
        <p:spPr bwMode="auto">
          <a:xfrm>
            <a:off x="460375" y="160338"/>
            <a:ext cx="8229600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sz="3600" dirty="0"/>
              <a:t>Уравнения математической физики</a:t>
            </a:r>
          </a:p>
        </p:txBody>
      </p:sp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07975" y="1044576"/>
            <a:ext cx="8229600" cy="445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>
              <a:spcBef>
                <a:spcPts val="813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"/>
            </a:pPr>
            <a:r>
              <a:rPr lang="ru-RU" alt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 термином «</a:t>
            </a:r>
            <a:r>
              <a:rPr lang="ru-RU" alt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Уравнения математической физики</a:t>
            </a:r>
            <a:r>
              <a:rPr lang="ru-RU" alt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обычно понимают линейные дифференциальные уравнения второго порядка с частными производными, к которым приводит моделирование определённых физических задач. </a:t>
            </a: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406" y="4546307"/>
            <a:ext cx="6363494" cy="190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1CD3062-22FD-438F-95F6-0F9CA092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50" y="131763"/>
            <a:ext cx="7886700" cy="54927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 постановках задач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A2E44FD-C333-4269-BA6F-4B5194293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50" y="784224"/>
            <a:ext cx="8515350" cy="5438776"/>
          </a:xfrm>
        </p:spPr>
        <p:txBody>
          <a:bodyPr/>
          <a:lstStyle/>
          <a:p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уравнениям в частных производных приводят следующие математические модели: задачи газодинамики, теплопроводности, переноса излучения, распространения нейтронов, теории упругости, электромагнитных полей, процесса переноса в газах, квантовой механики и др.</a:t>
            </a:r>
          </a:p>
          <a:p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Независимыми переменными в физических задачах обычно являются: время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координаты (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бывают и другие переменные, например, скорости частиц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задачах переноса.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5370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4D08C9B8-C1B4-4386-B2BE-8092E1C673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3350" y="276224"/>
                <a:ext cx="8794750" cy="6581776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ru-RU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Решение требуется найти в некоторой области изменения переменных </a:t>
                </a:r>
              </a:p>
              <a:p>
                <a:endParaRPr lang="ru-RU" sz="5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Решением будет являться </a:t>
                </a:r>
                <a:r>
                  <a:rPr lang="ru-RU" sz="6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некоторая функция </a:t>
                </a:r>
                <a14:m>
                  <m:oMath xmlns:m="http://schemas.openxmlformats.org/officeDocument/2006/math">
                    <m:r>
                      <a:rPr lang="en-US" sz="67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ru-RU" sz="67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ru-RU" sz="67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sz="67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67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ru-RU" sz="67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67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67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67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удовлетворяющая уравнению и имеющимся</a:t>
                </a:r>
                <a:r>
                  <a:rPr lang="en-US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дополнительным условиям.</a:t>
                </a:r>
              </a:p>
              <a:p>
                <a:r>
                  <a:rPr lang="ru-RU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Дополнительные условия, заданные при </a:t>
                </a:r>
                <a:r>
                  <a:rPr lang="en-US" sz="6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6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67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ru-RU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называют </a:t>
                </a:r>
                <a:r>
                  <a:rPr lang="ru-RU" sz="6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начальными</a:t>
                </a:r>
                <a:r>
                  <a:rPr lang="ru-RU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ru-RU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Условия, заданные на границе области </a:t>
                </a:r>
                <a14:m>
                  <m:oMath xmlns:m="http://schemas.openxmlformats.org/officeDocument/2006/math">
                    <m:r>
                      <a:rPr lang="en-US" sz="6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a:rPr lang="en-US" sz="6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6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ru-RU" sz="72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6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граничными</a:t>
                </a:r>
                <a:r>
                  <a:rPr lang="ru-RU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или </a:t>
                </a:r>
                <a:r>
                  <a:rPr lang="ru-RU" sz="6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краевыми</a:t>
                </a:r>
                <a:r>
                  <a:rPr lang="ru-RU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ru-RU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Задачу, у которой имеются только начальные условия, называют </a:t>
                </a:r>
                <a:r>
                  <a:rPr lang="ru-RU" sz="6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задачей Коши</a:t>
                </a:r>
                <a:r>
                  <a:rPr lang="ru-RU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67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Пример</a:t>
                </a:r>
                <a:r>
                  <a:rPr lang="ru-RU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для уравнения теплопроводности </a:t>
                </a:r>
                <a:br>
                  <a:rPr lang="ru-RU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неограниченном пространстве можно поставить задачу с начальными условиями: </a:t>
                </a:r>
              </a:p>
              <a:p>
                <a:pPr marL="0" indent="0" algn="ctr">
                  <a:buNone/>
                </a:pPr>
                <a:r>
                  <a:rPr lang="en-US" sz="6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6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6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6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67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6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sz="67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(</a:t>
                </a:r>
                <a:r>
                  <a:rPr lang="en-US" sz="67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sz="67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sz="67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y</a:t>
                </a:r>
                <a:r>
                  <a:rPr lang="en-US" sz="67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D08C9B8-C1B4-4386-B2BE-8092E1C673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350" y="276224"/>
                <a:ext cx="8794750" cy="6581776"/>
              </a:xfrm>
              <a:blipFill>
                <a:blip r:embed="rId2"/>
                <a:stretch>
                  <a:fillRect l="-1802" t="-3333" b="-3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B1107F56-7629-485A-9BB9-2FE510699B00}"/>
                  </a:ext>
                </a:extLst>
              </p:cNvPr>
              <p:cNvSpPr txBox="1"/>
              <p:nvPr/>
            </p:nvSpPr>
            <p:spPr>
              <a:xfrm>
                <a:off x="579285" y="990102"/>
                <a:ext cx="7680629" cy="432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d>
                            <m:dPr>
                              <m:ctrlP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acc>
                            <m:accPr>
                              <m:chr m:val="̅"/>
                              <m:ctrlP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</m:acc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lang="ru-RU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ru-RU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ru-RU" sz="28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ru-RU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ru-RU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107F56-7629-485A-9BB9-2FE510699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85" y="990102"/>
                <a:ext cx="7680629" cy="4322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075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5F65AF99-21A1-42B9-8435-1AE6410D22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4324" y="284162"/>
                <a:ext cx="8728076" cy="6573838"/>
              </a:xfrm>
            </p:spPr>
            <p:txBody>
              <a:bodyPr>
                <a:normAutofit/>
              </a:bodyPr>
              <a:lstStyle/>
              <a:p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Задачу с начальными и граничными условиями называют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смешанной краевой задачей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или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нестационарной краевой задачей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Например, дополнительные условия такой задачи могут иметь вид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1" dirty="0">
                          <a:latin typeface="Cambria Math" panose="02040503050406030204" pitchFamily="18" charset="0"/>
                        </a:rPr>
                        <m:t>u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</m:t>
                      </m:r>
                      <m:d>
                        <m:dPr>
                          <m:ctrlPr>
                            <a:rPr lang="ru-RU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nor/>
                        </m:rPr>
                        <a:rPr lang="ru-RU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</m:t>
                      </m:r>
                      <m:r>
                        <m:rPr>
                          <m:nor/>
                        </m:rPr>
                        <a:rPr lang="ru-RU" b="0" i="0" dirty="0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d>
                        <m:dPr>
                          <m:ctrlPr>
                            <a:rPr lang="ru-RU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𝜖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nor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nor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 smtClean="0">
                                  <a:latin typeface="Cambria Math"/>
                                </a:rPr>
                                <m:t> </m:t>
                              </m:r>
                            </m:e>
                          </m:d>
                        </m:e>
                        <m:sub>
                          <m:r>
                            <a:rPr lang="en-US" i="1" dirty="0" smtClean="0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b="0" i="1" dirty="0" smtClean="0">
                              <a:latin typeface="Cambria Math"/>
                              <a:ea typeface="Cambria Math"/>
                            </a:rPr>
                            <m:t>𝐺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ψ</m:t>
                      </m:r>
                      <m:d>
                        <m:dPr>
                          <m:ctrlPr>
                            <a:rPr lang="ru-RU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Встречаются задачи, в которых область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имеет другой вид. Примером является задача с условиями </a:t>
                </a:r>
                <a:b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характеристиках, возникающая при изучении процессов сушки, сорбции газов и др.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исследовании устоявшихся состояний или стационарных (не зависящих от времени) процессов </a:t>
                </a:r>
                <a:b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сплошной среде мат. модели не зависят от переменной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Такие задачи называют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краевыми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F65AF99-21A1-42B9-8435-1AE6410D22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324" y="284162"/>
                <a:ext cx="8728076" cy="6573838"/>
              </a:xfrm>
              <a:blipFill rotWithShape="1">
                <a:blip r:embed="rId2"/>
                <a:stretch>
                  <a:fillRect l="-1258" t="-1577" b="-11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8213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9427CA20-2C24-48AF-B2AC-FDABA16090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8125" y="200025"/>
                <a:ext cx="8667750" cy="6657975"/>
              </a:xfrm>
            </p:spPr>
            <p:txBody>
              <a:bodyPr/>
              <a:lstStyle/>
              <a:p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Будем рассматривать </a:t>
                </a:r>
                <a:r>
                  <a:rPr lang="ru-RU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корректно поставленные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задачи, когда для некоторого класса начальных и граничных условий решение (в заданном классе функций) существует, единственно и непрерывно зависит от этих данных.</a:t>
                </a:r>
              </a:p>
              <a:p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Также будем полагать, что решение непрерывно зависит от всех коэффициентов уравнения.</a:t>
                </a:r>
              </a:p>
              <a:p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Будем рассматривать уравнения в частных производных для случая двух переменных:</a:t>
                </a:r>
                <a:b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относительно функции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i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m:rPr>
                        <m:nor/>
                      </m:rPr>
                      <a:rPr lang="en-US" sz="32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nor/>
                      </m:rPr>
                      <a: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или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u</m:t>
                    </m:r>
                    <m:r>
                      <m:rPr>
                        <m:nor/>
                      </m:rPr>
                      <a: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ru-RU" sz="32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3200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427CA20-2C24-48AF-B2AC-FDABA16090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125" y="200025"/>
                <a:ext cx="8667750" cy="6657975"/>
              </a:xfrm>
              <a:blipFill>
                <a:blip r:embed="rId2"/>
                <a:stretch>
                  <a:fillRect l="-1617" t="-20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22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5" name="Text Box 1"/>
              <p:cNvSpPr txBox="1">
                <a:spLocks noChangeArrowheads="1"/>
              </p:cNvSpPr>
              <p:nvPr/>
            </p:nvSpPr>
            <p:spPr bwMode="auto">
              <a:xfrm>
                <a:off x="251396" y="305334"/>
                <a:ext cx="8641208" cy="3886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1pPr>
                <a:lvl2pPr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2pPr>
                <a:lvl3pPr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3pPr>
                <a:lvl4pPr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4pPr>
                <a:lvl5pPr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5pPr>
                <a:lvl6pPr marL="2514600" indent="-228600" defTabSz="449263" fontAlgn="base">
                  <a:spcBef>
                    <a:spcPts val="13"/>
                  </a:spcBef>
                  <a:spcAft>
                    <a:spcPts val="13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6pPr>
                <a:lvl7pPr marL="2971800" indent="-228600" defTabSz="449263" fontAlgn="base">
                  <a:spcBef>
                    <a:spcPts val="13"/>
                  </a:spcBef>
                  <a:spcAft>
                    <a:spcPts val="13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7pPr>
                <a:lvl8pPr marL="3429000" indent="-228600" defTabSz="449263" fontAlgn="base">
                  <a:spcBef>
                    <a:spcPts val="13"/>
                  </a:spcBef>
                  <a:spcAft>
                    <a:spcPts val="13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8pPr>
                <a:lvl9pPr marL="3886200" indent="-228600" defTabSz="449263" fontAlgn="base">
                  <a:spcBef>
                    <a:spcPts val="13"/>
                  </a:spcBef>
                  <a:spcAft>
                    <a:spcPts val="13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9pPr>
              </a:lstStyle>
              <a:p>
                <a:pPr>
                  <a:spcBef>
                    <a:spcPts val="813"/>
                  </a:spcBef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"/>
                </a:pPr>
                <a:r>
                  <a:rPr lang="ru-RU" altLang="ru-RU" sz="3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Общий вид ДУ с частными производными:</a:t>
                </a:r>
              </a:p>
              <a:p>
                <a:pPr marL="0" indent="0">
                  <a:spcBef>
                    <a:spcPts val="813"/>
                  </a:spcBef>
                  <a:buClr>
                    <a:srgbClr val="00007D"/>
                  </a:buClr>
                  <a:buSzPct val="7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ru-RU" sz="2800" i="1">
                          <a:latin typeface="Cambria Math" panose="02040503050406030204" pitchFamily="18" charset="0"/>
                        </a:rPr>
                        <m:t>A</m:t>
                      </m:r>
                      <m:f>
                        <m:fPr>
                          <m:ctrlPr>
                            <a:rPr lang="en-US" altLang="ru-RU" sz="280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ru-RU" sz="28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ru-RU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ru-RU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altLang="ru-R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ru-RU" sz="280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ru-RU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ru-RU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ru-RU" sz="2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ru-RU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ru-RU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f>
                        <m:fPr>
                          <m:ctrlPr>
                            <a:rPr lang="en-US" altLang="ru-RU" sz="280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ru-RU" sz="28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ru-RU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ru-RU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altLang="ru-R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ru-RU" sz="2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ru-RU" sz="2800" i="1" smtClean="0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altLang="ru-RU" sz="280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ru-RU" sz="28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ru-RU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ru-RU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altLang="ru-R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ru-RU" sz="280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ru-RU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ru-RU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ru-RU" sz="2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ru-RU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en-US" altLang="ru-RU" sz="28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ru-R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ru-RU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f>
                        <m:fPr>
                          <m:ctrlPr>
                            <a:rPr lang="en-US" altLang="ru-RU" sz="28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ru-R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ru-RU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ru-RU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altLang="ru-RU" sz="2800" dirty="0"/>
              </a:p>
            </p:txBody>
          </p:sp>
        </mc:Choice>
        <mc:Fallback xmlns="">
          <p:sp>
            <p:nvSpPr>
              <p:cNvPr id="6145" name="Text 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396" y="305334"/>
                <a:ext cx="8641208" cy="3886200"/>
              </a:xfrm>
              <a:prstGeom prst="rect">
                <a:avLst/>
              </a:prstGeom>
              <a:blipFill>
                <a:blip r:embed="rId3"/>
                <a:stretch>
                  <a:fillRect l="-917" t="-219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ChangeArrowheads="1"/>
              </p:cNvSpPr>
              <p:nvPr/>
            </p:nvSpPr>
            <p:spPr bwMode="auto">
              <a:xfrm>
                <a:off x="251396" y="1857158"/>
                <a:ext cx="8641208" cy="956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1pPr>
                <a:lvl2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5pPr>
                <a:lvl6pPr marL="2514600" indent="-228600" defTabSz="449263" fontAlgn="base">
                  <a:spcBef>
                    <a:spcPts val="13"/>
                  </a:spcBef>
                  <a:spcAft>
                    <a:spcPts val="13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6pPr>
                <a:lvl7pPr marL="2971800" indent="-228600" defTabSz="449263" fontAlgn="base">
                  <a:spcBef>
                    <a:spcPts val="13"/>
                  </a:spcBef>
                  <a:spcAft>
                    <a:spcPts val="13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7pPr>
                <a:lvl8pPr marL="3429000" indent="-228600" defTabSz="449263" fontAlgn="base">
                  <a:spcBef>
                    <a:spcPts val="13"/>
                  </a:spcBef>
                  <a:spcAft>
                    <a:spcPts val="13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8pPr>
                <a:lvl9pPr marL="3886200" indent="-228600" defTabSz="449263" fontAlgn="base">
                  <a:spcBef>
                    <a:spcPts val="13"/>
                  </a:spcBef>
                  <a:spcAft>
                    <a:spcPts val="13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>
                    <a:solidFill>
                      <a:srgbClr val="000000"/>
                    </a:solidFill>
                    <a:latin typeface="Arial" panose="020B0604020202020204" pitchFamily="34" charset="0"/>
                    <a:ea typeface="Noto Sans" charset="0"/>
                    <a:cs typeface="Noto Sans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ru-RU" alt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Коэффициенты </a:t>
                </a:r>
                <a:r>
                  <a:rPr lang="en-US" alt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ru-RU" alt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D, E, F</a:t>
                </a:r>
                <a:r>
                  <a:rPr lang="ru-RU" alt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alt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вообще говоря, некоторые функции переменных </a:t>
                </a:r>
                <a:r>
                  <a:rPr lang="en-US" alt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alt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ru-RU" alt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alt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:r>
                  <a:rPr lang="en-US" alt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ru-RU" alt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147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396" y="1857158"/>
                <a:ext cx="8641208" cy="956288"/>
              </a:xfrm>
              <a:prstGeom prst="rect">
                <a:avLst/>
              </a:prstGeom>
              <a:blipFill>
                <a:blip r:embed="rId4"/>
                <a:stretch>
                  <a:fillRect l="-1410" t="-7006" b="-1656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FA54849-64C1-4735-8FE4-A4873C292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23946"/>
            <a:ext cx="9144000" cy="403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marL="457200" indent="-457200">
              <a:buClrTx/>
              <a:buFont typeface="Arial" panose="020B0604020202020204" pitchFamily="34" charset="0"/>
              <a:buChar char="•"/>
            </a:pP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коэффициенты не зависят от переменных, то это </a:t>
            </a: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линейное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уравнение с постоянными коэффициентами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ClrTx/>
              <a:buFont typeface="Arial" panose="020B0604020202020204" pitchFamily="34" charset="0"/>
              <a:buChar char="•"/>
            </a:pP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en-US" altLang="ru-RU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линейно зависит от </a:t>
            </a:r>
            <a:r>
              <a:rPr lang="en-US" altLang="ru-RU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остальные коэффициенты от </a:t>
            </a:r>
            <a:r>
              <a:rPr lang="en-US" altLang="ru-RU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зависят, то это </a:t>
            </a: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линейное уравнение с переменными коэффициентами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ClrTx/>
              <a:buFont typeface="Arial" panose="020B0604020202020204" pitchFamily="34" charset="0"/>
              <a:buChar char="•"/>
            </a:pP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коэффициенты зависят от </a:t>
            </a:r>
            <a:r>
              <a:rPr lang="en-US" altLang="ru-RU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уравнение называется </a:t>
            </a:r>
            <a:r>
              <a:rPr lang="ru-RU" alt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квазилинейным</a:t>
            </a: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98CC0422-62E5-4651-A743-4E7F4321C7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1950" y="1508125"/>
                <a:ext cx="8782050" cy="5184108"/>
              </a:xfrm>
            </p:spPr>
            <p:txBody>
              <a:bodyPr/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ru-RU" sz="280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ru-R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ru-R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ru-R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ru-R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altLang="ru-R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≡0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уравнение имеет первый порядок и называется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уравнением переноса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хотя бы один из коэффициентов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или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 равен нулю, то уравнение имеет второй порядок.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Уравнения второго порядка классифицируются по знаку дискриминанта: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8CC0422-62E5-4651-A743-4E7F4321C7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950" y="1508125"/>
                <a:ext cx="8782050" cy="5184108"/>
              </a:xfrm>
              <a:blipFill>
                <a:blip r:embed="rId2"/>
                <a:stretch>
                  <a:fillRect l="-1249" t="-19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B92D4F3D-1B7D-4347-A307-9D121FB60549}"/>
                  </a:ext>
                </a:extLst>
              </p:cNvPr>
              <p:cNvSpPr txBox="1"/>
              <p:nvPr/>
            </p:nvSpPr>
            <p:spPr>
              <a:xfrm>
                <a:off x="628650" y="165767"/>
                <a:ext cx="8089900" cy="1030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spcBef>
                    <a:spcPts val="813"/>
                  </a:spcBef>
                  <a:buClr>
                    <a:srgbClr val="00007D"/>
                  </a:buClr>
                  <a:buSzPct val="7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ru-RU" sz="2800" i="1" smtClean="0">
                          <a:latin typeface="Cambria Math" panose="02040503050406030204" pitchFamily="18" charset="0"/>
                        </a:rPr>
                        <m:t>A</m:t>
                      </m:r>
                      <m:f>
                        <m:fPr>
                          <m:ctrlPr>
                            <a:rPr lang="en-US" altLang="ru-RU" sz="280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ru-RU" sz="28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ru-RU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ru-RU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altLang="ru-R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ru-RU" sz="280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ru-RU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ru-RU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ru-RU" sz="2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ru-RU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ru-RU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f>
                        <m:fPr>
                          <m:ctrlPr>
                            <a:rPr lang="en-US" altLang="ru-RU" sz="280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ru-RU" sz="28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ru-RU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ru-RU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altLang="ru-R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ru-RU" sz="2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ru-RU" sz="2800" i="1" smtClean="0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altLang="ru-RU" sz="280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ru-RU" sz="28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ru-RU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ru-RU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altLang="ru-R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ru-RU" sz="280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ru-RU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ru-RU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ru-RU" sz="2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ru-RU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en-US" altLang="ru-RU" sz="28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ru-R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ru-RU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f>
                        <m:fPr>
                          <m:ctrlPr>
                            <a:rPr lang="en-US" altLang="ru-RU" sz="28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ru-R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ru-R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ru-RU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ru-RU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altLang="ru-RU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2D4F3D-1B7D-4347-A307-9D121FB60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5767"/>
                <a:ext cx="8089900" cy="10305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2">
            <a:extLst>
              <a:ext uri="{FF2B5EF4-FFF2-40B4-BE49-F238E27FC236}">
                <a16:creationId xmlns:a16="http://schemas.microsoft.com/office/drawing/2014/main" xmlns="" id="{81F89443-880C-4759-98AC-B69294B33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1900" y="4902034"/>
            <a:ext cx="6680200" cy="1712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>
              <a:spcBef>
                <a:spcPts val="813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"/>
            </a:pP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Гиперболического типа: </a:t>
            </a:r>
            <a:r>
              <a:rPr lang="ru-RU" altLang="ru-RU" sz="3200" dirty="0"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</a:t>
            </a:r>
            <a:r>
              <a:rPr lang="en-US" altLang="ru-RU" sz="3200" dirty="0"/>
              <a:t> &gt; 0</a:t>
            </a:r>
          </a:p>
          <a:p>
            <a:pPr>
              <a:spcBef>
                <a:spcPts val="813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"/>
            </a:pP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Эллиптического типа:</a:t>
            </a:r>
            <a:r>
              <a:rPr lang="en-US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3200" dirty="0"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</a:t>
            </a:r>
            <a:r>
              <a:rPr lang="en-US" altLang="ru-RU" sz="3200" dirty="0"/>
              <a:t> &lt; 0</a:t>
            </a:r>
          </a:p>
          <a:p>
            <a:pPr>
              <a:spcBef>
                <a:spcPts val="813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"/>
            </a:pPr>
            <a:r>
              <a:rPr lang="ru-RU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Параболического типа:</a:t>
            </a:r>
            <a:r>
              <a:rPr lang="en-US" alt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3200" dirty="0"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</a:t>
            </a:r>
            <a:r>
              <a:rPr lang="en-US" altLang="ru-RU" sz="3200" dirty="0"/>
              <a:t>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99944D7E-72A0-4F40-9DBE-070C28090AF9}"/>
                  </a:ext>
                </a:extLst>
              </p:cNvPr>
              <p:cNvSpPr txBox="1"/>
              <p:nvPr/>
            </p:nvSpPr>
            <p:spPr>
              <a:xfrm>
                <a:off x="2614960" y="4208526"/>
                <a:ext cx="280057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𝐴𝐶</m:t>
                      </m:r>
                    </m:oMath>
                  </m:oMathPara>
                </a14:m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944D7E-72A0-4F40-9DBE-070C28090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960" y="4208526"/>
                <a:ext cx="2800575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074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515937" y="142081"/>
            <a:ext cx="8229600" cy="110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sz="4400" dirty="0"/>
              <a:t>Волновое уравнение</a:t>
            </a: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204788" y="1610520"/>
            <a:ext cx="8229600" cy="76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>
              <a:spcBef>
                <a:spcPts val="813"/>
              </a:spcBef>
              <a:buClrTx/>
              <a:buSzPct val="75000"/>
              <a:buFontTx/>
              <a:buNone/>
            </a:pPr>
            <a: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Гиперболического типа</a:t>
            </a:r>
          </a:p>
        </p:txBody>
      </p:sp>
      <p:grpSp>
        <p:nvGrpSpPr>
          <p:cNvPr id="8195" name="Group 3"/>
          <p:cNvGrpSpPr>
            <a:grpSpLocks/>
          </p:cNvGrpSpPr>
          <p:nvPr/>
        </p:nvGrpSpPr>
        <p:grpSpPr bwMode="auto">
          <a:xfrm>
            <a:off x="138113" y="4614863"/>
            <a:ext cx="5310187" cy="1952625"/>
            <a:chOff x="87" y="2907"/>
            <a:chExt cx="3345" cy="1230"/>
          </a:xfrm>
        </p:grpSpPr>
        <p:sp>
          <p:nvSpPr>
            <p:cNvPr id="8196" name="Freeform 4"/>
            <p:cNvSpPr>
              <a:spLocks noChangeArrowheads="1"/>
            </p:cNvSpPr>
            <p:nvPr/>
          </p:nvSpPr>
          <p:spPr bwMode="auto">
            <a:xfrm flipV="1">
              <a:off x="341" y="3761"/>
              <a:ext cx="2531" cy="359"/>
            </a:xfrm>
            <a:custGeom>
              <a:avLst/>
              <a:gdLst>
                <a:gd name="G0" fmla="+- 7207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*/ 1 0 65535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+- 1 0 0"/>
                <a:gd name="G18" fmla="+- 1 0 0"/>
                <a:gd name="G19" fmla="+- 1 0 0"/>
                <a:gd name="G20" fmla="+- 1 0 0"/>
                <a:gd name="T0" fmla="*/ 0 w 4019340"/>
                <a:gd name="T1" fmla="*/ 571500 h 597040"/>
                <a:gd name="T2" fmla="*/ 266295 w 4019340"/>
                <a:gd name="T3" fmla="*/ 335846 h 597040"/>
                <a:gd name="T4" fmla="*/ 587859 w 4019340"/>
                <a:gd name="T5" fmla="*/ 143476 h 597040"/>
                <a:gd name="T6" fmla="*/ 919472 w 4019340"/>
                <a:gd name="T7" fmla="*/ 37672 h 597040"/>
                <a:gd name="T8" fmla="*/ 1391769 w 4019340"/>
                <a:gd name="T9" fmla="*/ 23245 h 597040"/>
                <a:gd name="T10" fmla="*/ 2215777 w 4019340"/>
                <a:gd name="T11" fmla="*/ 177142 h 597040"/>
                <a:gd name="T12" fmla="*/ 3009638 w 4019340"/>
                <a:gd name="T13" fmla="*/ 345465 h 597040"/>
                <a:gd name="T14" fmla="*/ 4019550 w 4019340"/>
                <a:gd name="T15" fmla="*/ 571500 h 597040"/>
                <a:gd name="T16" fmla="*/ 4019550 w 4019340"/>
                <a:gd name="T17" fmla="*/ 571500 h 5970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19340" h="597040">
                  <a:moveTo>
                    <a:pt x="0" y="597040"/>
                  </a:moveTo>
                  <a:cubicBezTo>
                    <a:pt x="84155" y="511210"/>
                    <a:pt x="168310" y="425380"/>
                    <a:pt x="266281" y="350855"/>
                  </a:cubicBezTo>
                  <a:cubicBezTo>
                    <a:pt x="364252" y="276330"/>
                    <a:pt x="478971" y="201804"/>
                    <a:pt x="587828" y="149888"/>
                  </a:cubicBezTo>
                  <a:cubicBezTo>
                    <a:pt x="696685" y="97972"/>
                    <a:pt x="785446" y="60290"/>
                    <a:pt x="919424" y="39356"/>
                  </a:cubicBezTo>
                  <a:cubicBezTo>
                    <a:pt x="1053402" y="18422"/>
                    <a:pt x="1175657" y="0"/>
                    <a:pt x="1391696" y="24284"/>
                  </a:cubicBezTo>
                  <a:cubicBezTo>
                    <a:pt x="1607735" y="48568"/>
                    <a:pt x="1946030" y="128955"/>
                    <a:pt x="2215661" y="185058"/>
                  </a:cubicBezTo>
                  <a:cubicBezTo>
                    <a:pt x="2485292" y="241161"/>
                    <a:pt x="3009481" y="360904"/>
                    <a:pt x="3009481" y="360904"/>
                  </a:cubicBezTo>
                  <a:lnTo>
                    <a:pt x="4019340" y="597040"/>
                  </a:lnTo>
                </a:path>
              </a:pathLst>
            </a:custGeom>
            <a:noFill/>
            <a:ln w="12600" cap="flat">
              <a:solidFill>
                <a:srgbClr val="000000"/>
              </a:solidFill>
              <a:prstDash val="dash"/>
              <a:round/>
              <a:headEnd/>
              <a:tailEnd/>
            </a:ln>
            <a:effectLst>
              <a:outerShdw dist="38184" dir="18900000" algn="ctr" rotWithShape="0">
                <a:srgbClr val="000000">
                  <a:alpha val="40033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197" name="Line 5"/>
            <p:cNvSpPr>
              <a:spLocks noChangeShapeType="1"/>
            </p:cNvSpPr>
            <p:nvPr/>
          </p:nvSpPr>
          <p:spPr bwMode="auto">
            <a:xfrm>
              <a:off x="353" y="3762"/>
              <a:ext cx="2924" cy="0"/>
            </a:xfrm>
            <a:prstGeom prst="line">
              <a:avLst/>
            </a:prstGeom>
            <a:noFill/>
            <a:ln w="12600" cap="flat">
              <a:solidFill>
                <a:srgbClr val="000000"/>
              </a:solidFill>
              <a:miter lim="800000"/>
              <a:headEnd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pic>
          <p:nvPicPr>
            <p:cNvPr id="8198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" y="3686"/>
              <a:ext cx="2599" cy="1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199" name="Freeform 7"/>
            <p:cNvSpPr>
              <a:spLocks noChangeArrowheads="1"/>
            </p:cNvSpPr>
            <p:nvPr/>
          </p:nvSpPr>
          <p:spPr bwMode="auto">
            <a:xfrm>
              <a:off x="348" y="3385"/>
              <a:ext cx="2531" cy="375"/>
            </a:xfrm>
            <a:custGeom>
              <a:avLst/>
              <a:gdLst>
                <a:gd name="G0" fmla="+- 7207 0 0"/>
                <a:gd name="G1" fmla="+- 1 0 0"/>
                <a:gd name="G2" fmla="+- 1 0 0"/>
                <a:gd name="G3" fmla="+- 1 0 0"/>
                <a:gd name="G4" fmla="+- 1 0 0"/>
                <a:gd name="G5" fmla="+- 1 0 0"/>
                <a:gd name="G6" fmla="+- 1 0 0"/>
                <a:gd name="G7" fmla="+- 1 0 0"/>
                <a:gd name="G8" fmla="+- 1 0 0"/>
                <a:gd name="G9" fmla="*/ 1 0 65535"/>
                <a:gd name="G10" fmla="+- 1 0 0"/>
                <a:gd name="G11" fmla="+- 1 0 0"/>
                <a:gd name="G12" fmla="+- 1 0 0"/>
                <a:gd name="G13" fmla="+- 1 0 0"/>
                <a:gd name="G14" fmla="+- 1 0 0"/>
                <a:gd name="G15" fmla="+- 1 0 0"/>
                <a:gd name="G16" fmla="+- 1 0 0"/>
                <a:gd name="G17" fmla="+- 1 0 0"/>
                <a:gd name="G18" fmla="+- 1 0 0"/>
                <a:gd name="G19" fmla="+- 1 0 0"/>
                <a:gd name="G20" fmla="+- 1 0 0"/>
                <a:gd name="T0" fmla="*/ 0 w 4019340"/>
                <a:gd name="T1" fmla="*/ 596900 h 597040"/>
                <a:gd name="T2" fmla="*/ 266295 w 4019340"/>
                <a:gd name="T3" fmla="*/ 350773 h 597040"/>
                <a:gd name="T4" fmla="*/ 587859 w 4019340"/>
                <a:gd name="T5" fmla="*/ 149853 h 597040"/>
                <a:gd name="T6" fmla="*/ 919472 w 4019340"/>
                <a:gd name="T7" fmla="*/ 39347 h 597040"/>
                <a:gd name="T8" fmla="*/ 1391769 w 4019340"/>
                <a:gd name="T9" fmla="*/ 24278 h 597040"/>
                <a:gd name="T10" fmla="*/ 2215777 w 4019340"/>
                <a:gd name="T11" fmla="*/ 185015 h 597040"/>
                <a:gd name="T12" fmla="*/ 3009638 w 4019340"/>
                <a:gd name="T13" fmla="*/ 360819 h 597040"/>
                <a:gd name="T14" fmla="*/ 4019550 w 4019340"/>
                <a:gd name="T15" fmla="*/ 596900 h 597040"/>
                <a:gd name="T16" fmla="*/ 4019550 w 4019340"/>
                <a:gd name="T17" fmla="*/ 596900 h 5970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19340" h="597040">
                  <a:moveTo>
                    <a:pt x="0" y="597040"/>
                  </a:moveTo>
                  <a:cubicBezTo>
                    <a:pt x="84155" y="511210"/>
                    <a:pt x="168310" y="425380"/>
                    <a:pt x="266281" y="350855"/>
                  </a:cubicBezTo>
                  <a:cubicBezTo>
                    <a:pt x="364252" y="276330"/>
                    <a:pt x="478971" y="201804"/>
                    <a:pt x="587828" y="149888"/>
                  </a:cubicBezTo>
                  <a:cubicBezTo>
                    <a:pt x="696685" y="97972"/>
                    <a:pt x="785446" y="60290"/>
                    <a:pt x="919424" y="39356"/>
                  </a:cubicBezTo>
                  <a:cubicBezTo>
                    <a:pt x="1053402" y="18422"/>
                    <a:pt x="1175657" y="0"/>
                    <a:pt x="1391696" y="24284"/>
                  </a:cubicBezTo>
                  <a:cubicBezTo>
                    <a:pt x="1607735" y="48568"/>
                    <a:pt x="1946030" y="128955"/>
                    <a:pt x="2215661" y="185058"/>
                  </a:cubicBezTo>
                  <a:cubicBezTo>
                    <a:pt x="2485292" y="241161"/>
                    <a:pt x="3009481" y="360904"/>
                    <a:pt x="3009481" y="360904"/>
                  </a:cubicBezTo>
                  <a:lnTo>
                    <a:pt x="4019340" y="597040"/>
                  </a:lnTo>
                </a:path>
              </a:pathLst>
            </a:custGeom>
            <a:noFill/>
            <a:ln w="12600" cap="flat">
              <a:solidFill>
                <a:srgbClr val="000000"/>
              </a:solidFill>
              <a:round/>
              <a:headEnd/>
              <a:tailEnd/>
            </a:ln>
            <a:effectLst>
              <a:outerShdw dist="38184" dir="18900000" algn="ctr" rotWithShape="0">
                <a:srgbClr val="000000">
                  <a:alpha val="40033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200" name="Line 8"/>
            <p:cNvSpPr>
              <a:spLocks noChangeShapeType="1"/>
            </p:cNvSpPr>
            <p:nvPr/>
          </p:nvSpPr>
          <p:spPr bwMode="auto">
            <a:xfrm flipH="1" flipV="1">
              <a:off x="347" y="2960"/>
              <a:ext cx="6" cy="1178"/>
            </a:xfrm>
            <a:prstGeom prst="line">
              <a:avLst/>
            </a:prstGeom>
            <a:noFill/>
            <a:ln w="19080" cap="flat">
              <a:solidFill>
                <a:srgbClr val="000000"/>
              </a:solidFill>
              <a:miter lim="800000"/>
              <a:headEnd/>
              <a:tailEnd type="arrow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8201" name="Rectangle 9"/>
            <p:cNvSpPr>
              <a:spLocks noChangeArrowheads="1"/>
            </p:cNvSpPr>
            <p:nvPr/>
          </p:nvSpPr>
          <p:spPr bwMode="auto">
            <a:xfrm>
              <a:off x="129" y="3574"/>
              <a:ext cx="1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5pPr>
              <a:lvl6pPr marL="25146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6pPr>
              <a:lvl7pPr marL="29718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7pPr>
              <a:lvl8pPr marL="34290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8pPr>
              <a:lvl9pPr marL="38862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ru-RU" b="1" i="1">
                  <a:latin typeface="Comic Sans MS" panose="030F0702030302020204" pitchFamily="66" charset="0"/>
                </a:rPr>
                <a:t>o</a:t>
              </a:r>
            </a:p>
          </p:txBody>
        </p:sp>
        <p:sp>
          <p:nvSpPr>
            <p:cNvPr id="8202" name="Oval 10"/>
            <p:cNvSpPr>
              <a:spLocks noChangeArrowheads="1"/>
            </p:cNvSpPr>
            <p:nvPr/>
          </p:nvSpPr>
          <p:spPr bwMode="auto">
            <a:xfrm>
              <a:off x="301" y="3720"/>
              <a:ext cx="89" cy="89"/>
            </a:xfrm>
            <a:prstGeom prst="ellipse">
              <a:avLst/>
            </a:prstGeom>
            <a:gradFill rotWithShape="0">
              <a:gsLst>
                <a:gs pos="0">
                  <a:srgbClr val="4D0808"/>
                </a:gs>
                <a:gs pos="100000">
                  <a:srgbClr val="FFF200"/>
                </a:gs>
              </a:gsLst>
              <a:lin ang="135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203" name="Oval 11"/>
            <p:cNvSpPr>
              <a:spLocks noChangeArrowheads="1"/>
            </p:cNvSpPr>
            <p:nvPr/>
          </p:nvSpPr>
          <p:spPr bwMode="auto">
            <a:xfrm>
              <a:off x="2828" y="3717"/>
              <a:ext cx="89" cy="89"/>
            </a:xfrm>
            <a:prstGeom prst="ellipse">
              <a:avLst/>
            </a:prstGeom>
            <a:gradFill rotWithShape="0">
              <a:gsLst>
                <a:gs pos="0">
                  <a:srgbClr val="4D0808"/>
                </a:gs>
                <a:gs pos="100000">
                  <a:srgbClr val="FFF200"/>
                </a:gs>
              </a:gsLst>
              <a:lin ang="135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204" name="Rectangle 12"/>
            <p:cNvSpPr>
              <a:spLocks noChangeArrowheads="1"/>
            </p:cNvSpPr>
            <p:nvPr/>
          </p:nvSpPr>
          <p:spPr bwMode="auto">
            <a:xfrm>
              <a:off x="3234" y="3717"/>
              <a:ext cx="19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5pPr>
              <a:lvl6pPr marL="25146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6pPr>
              <a:lvl7pPr marL="29718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7pPr>
              <a:lvl8pPr marL="34290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8pPr>
              <a:lvl9pPr marL="38862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ru-RU" b="1" i="1">
                  <a:latin typeface="Comic Sans MS" panose="030F0702030302020204" pitchFamily="66" charset="0"/>
                </a:rPr>
                <a:t>x</a:t>
              </a:r>
            </a:p>
          </p:txBody>
        </p:sp>
        <p:sp>
          <p:nvSpPr>
            <p:cNvPr id="8205" name="Rectangle 13"/>
            <p:cNvSpPr>
              <a:spLocks noChangeArrowheads="1"/>
            </p:cNvSpPr>
            <p:nvPr/>
          </p:nvSpPr>
          <p:spPr bwMode="auto">
            <a:xfrm>
              <a:off x="87" y="2907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5pPr>
              <a:lvl6pPr marL="25146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6pPr>
              <a:lvl7pPr marL="29718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7pPr>
              <a:lvl8pPr marL="34290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8pPr>
              <a:lvl9pPr marL="38862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ru-RU" b="1" i="1">
                  <a:latin typeface="Comic Sans MS" panose="030F0702030302020204" pitchFamily="66" charset="0"/>
                </a:rPr>
                <a:t>u</a:t>
              </a:r>
            </a:p>
          </p:txBody>
        </p:sp>
        <p:sp>
          <p:nvSpPr>
            <p:cNvPr id="8206" name="Rectangle 14"/>
            <p:cNvSpPr>
              <a:spLocks noChangeArrowheads="1"/>
            </p:cNvSpPr>
            <p:nvPr/>
          </p:nvSpPr>
          <p:spPr bwMode="auto">
            <a:xfrm>
              <a:off x="2874" y="3537"/>
              <a:ext cx="1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5pPr>
              <a:lvl6pPr marL="25146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6pPr>
              <a:lvl7pPr marL="29718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7pPr>
              <a:lvl8pPr marL="34290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8pPr>
              <a:lvl9pPr marL="38862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ru-RU" b="1" i="1">
                  <a:latin typeface="Comic Sans MS" panose="030F0702030302020204" pitchFamily="66" charset="0"/>
                </a:rPr>
                <a:t>L</a:t>
              </a:r>
            </a:p>
          </p:txBody>
        </p:sp>
        <p:sp>
          <p:nvSpPr>
            <p:cNvPr id="8207" name="AutoShape 15"/>
            <p:cNvSpPr>
              <a:spLocks noChangeArrowheads="1"/>
            </p:cNvSpPr>
            <p:nvPr/>
          </p:nvSpPr>
          <p:spPr bwMode="auto">
            <a:xfrm>
              <a:off x="1005" y="3447"/>
              <a:ext cx="224" cy="629"/>
            </a:xfrm>
            <a:prstGeom prst="upDownArrow">
              <a:avLst>
                <a:gd name="adj1" fmla="val 50000"/>
                <a:gd name="adj2" fmla="val 61634"/>
              </a:avLst>
            </a:prstGeom>
            <a:gradFill rotWithShape="0">
              <a:gsLst>
                <a:gs pos="0">
                  <a:srgbClr val="4D0808"/>
                </a:gs>
                <a:gs pos="100000">
                  <a:srgbClr val="FF7A00"/>
                </a:gs>
              </a:gsLst>
              <a:lin ang="5400000" scaled="1"/>
            </a:gradFill>
            <a:ln>
              <a:noFill/>
            </a:ln>
            <a:effectLst>
              <a:outerShdw dist="38184" dir="18900000" algn="ctr" rotWithShape="0">
                <a:srgbClr val="000000">
                  <a:alpha val="40033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pic>
        <p:nvPicPr>
          <p:cNvPr id="8208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975" y="1289050"/>
            <a:ext cx="3114675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376238" y="3024188"/>
            <a:ext cx="8229600" cy="76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2900" indent="-342900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>
              <a:spcBef>
                <a:spcPts val="813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"/>
            </a:pPr>
            <a: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Поперечные колебания струны</a:t>
            </a:r>
          </a:p>
        </p:txBody>
      </p:sp>
      <p:sp>
        <p:nvSpPr>
          <p:cNvPr id="8210" name="Text Box 18"/>
          <p:cNvSpPr txBox="1">
            <a:spLocks noChangeArrowheads="1"/>
          </p:cNvSpPr>
          <p:nvPr/>
        </p:nvSpPr>
        <p:spPr bwMode="auto">
          <a:xfrm>
            <a:off x="1042988" y="3656013"/>
            <a:ext cx="7999412" cy="76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2900" indent="-342900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>
              <a:spcBef>
                <a:spcPts val="813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"/>
            </a:pPr>
            <a: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Электрические колебания в проводах</a:t>
            </a:r>
          </a:p>
        </p:txBody>
      </p:sp>
      <p:sp>
        <p:nvSpPr>
          <p:cNvPr id="8211" name="Text Box 19"/>
          <p:cNvSpPr txBox="1">
            <a:spLocks noChangeArrowheads="1"/>
          </p:cNvSpPr>
          <p:nvPr/>
        </p:nvSpPr>
        <p:spPr bwMode="auto">
          <a:xfrm>
            <a:off x="2140744" y="4341813"/>
            <a:ext cx="5148262" cy="763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2900" indent="-342900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>
              <a:spcBef>
                <a:spcPts val="813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"/>
            </a:pPr>
            <a: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Колебания газа и др.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457200" y="230188"/>
            <a:ext cx="8229600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sz="4400" dirty="0"/>
              <a:t>Уравнение теплопроводности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457200" y="2636838"/>
            <a:ext cx="8496300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>
              <a:spcBef>
                <a:spcPts val="813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"/>
            </a:pPr>
            <a: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Распространение тепла в среде</a:t>
            </a:r>
          </a:p>
          <a:p>
            <a:pPr>
              <a:spcBef>
                <a:spcPts val="813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"/>
            </a:pPr>
            <a: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фильтрации жидкости или газа в пористой среде (нефть, природный газ в песчаниках)</a:t>
            </a:r>
          </a:p>
        </p:txBody>
      </p:sp>
      <p:grpSp>
        <p:nvGrpSpPr>
          <p:cNvPr id="9219" name="Group 3"/>
          <p:cNvGrpSpPr>
            <a:grpSpLocks/>
          </p:cNvGrpSpPr>
          <p:nvPr/>
        </p:nvGrpSpPr>
        <p:grpSpPr bwMode="auto">
          <a:xfrm>
            <a:off x="1905000" y="4868863"/>
            <a:ext cx="5618163" cy="1470025"/>
            <a:chOff x="1200" y="3067"/>
            <a:chExt cx="3539" cy="926"/>
          </a:xfrm>
        </p:grpSpPr>
        <p:sp>
          <p:nvSpPr>
            <p:cNvPr id="9220" name="Line 4"/>
            <p:cNvSpPr>
              <a:spLocks noChangeShapeType="1"/>
            </p:cNvSpPr>
            <p:nvPr/>
          </p:nvSpPr>
          <p:spPr bwMode="auto">
            <a:xfrm>
              <a:off x="1310" y="3663"/>
              <a:ext cx="3429" cy="0"/>
            </a:xfrm>
            <a:prstGeom prst="line">
              <a:avLst/>
            </a:prstGeom>
            <a:noFill/>
            <a:ln w="19080" cap="flat">
              <a:solidFill>
                <a:srgbClr val="000000"/>
              </a:solidFill>
              <a:miter lim="800000"/>
              <a:headEnd/>
              <a:tailEnd type="arrow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grpSp>
          <p:nvGrpSpPr>
            <p:cNvPr id="9221" name="Group 5"/>
            <p:cNvGrpSpPr>
              <a:grpSpLocks/>
            </p:cNvGrpSpPr>
            <p:nvPr/>
          </p:nvGrpSpPr>
          <p:grpSpPr bwMode="auto">
            <a:xfrm>
              <a:off x="1286" y="3352"/>
              <a:ext cx="2733" cy="640"/>
              <a:chOff x="1286" y="3352"/>
              <a:chExt cx="2733" cy="640"/>
            </a:xfrm>
          </p:grpSpPr>
          <p:pic>
            <p:nvPicPr>
              <p:cNvPr id="9222" name="Picture 6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86" y="3352"/>
                <a:ext cx="2733" cy="6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/>
                      <a:srcRect/>
                      <a:stretch>
                        <a:fillRect/>
                      </a:stretch>
                    </a:blip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9223" name="Text Box 7"/>
              <p:cNvSpPr txBox="1">
                <a:spLocks noChangeArrowheads="1"/>
              </p:cNvSpPr>
              <p:nvPr/>
            </p:nvSpPr>
            <p:spPr bwMode="auto">
              <a:xfrm>
                <a:off x="1689" y="3448"/>
                <a:ext cx="1924" cy="4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</p:grpSp>
        <p:grpSp>
          <p:nvGrpSpPr>
            <p:cNvPr id="9224" name="Group 8"/>
            <p:cNvGrpSpPr>
              <a:grpSpLocks/>
            </p:cNvGrpSpPr>
            <p:nvPr/>
          </p:nvGrpSpPr>
          <p:grpSpPr bwMode="auto">
            <a:xfrm>
              <a:off x="2926" y="3375"/>
              <a:ext cx="321" cy="586"/>
              <a:chOff x="2926" y="3375"/>
              <a:chExt cx="321" cy="586"/>
            </a:xfrm>
          </p:grpSpPr>
          <p:pic>
            <p:nvPicPr>
              <p:cNvPr id="9225" name="Picture 9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6" y="3375"/>
                <a:ext cx="321" cy="5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/>
                      <a:srcRect/>
                      <a:stretch>
                        <a:fillRect/>
                      </a:stretch>
                    </a:blip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9226" name="Text Box 10"/>
              <p:cNvSpPr txBox="1">
                <a:spLocks noChangeArrowheads="1"/>
              </p:cNvSpPr>
              <p:nvPr/>
            </p:nvSpPr>
            <p:spPr bwMode="auto">
              <a:xfrm>
                <a:off x="2972" y="3462"/>
                <a:ext cx="228" cy="4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</p:grpSp>
        <p:sp>
          <p:nvSpPr>
            <p:cNvPr id="9227" name="Rectangle 11"/>
            <p:cNvSpPr>
              <a:spLocks noChangeArrowheads="1"/>
            </p:cNvSpPr>
            <p:nvPr/>
          </p:nvSpPr>
          <p:spPr bwMode="auto">
            <a:xfrm>
              <a:off x="1200" y="3710"/>
              <a:ext cx="18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5pPr>
              <a:lvl6pPr marL="25146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6pPr>
              <a:lvl7pPr marL="29718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7pPr>
              <a:lvl8pPr marL="34290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8pPr>
              <a:lvl9pPr marL="38862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ru-RU" b="1" i="1">
                  <a:latin typeface="Comic Sans MS" panose="030F0702030302020204" pitchFamily="66" charset="0"/>
                </a:rPr>
                <a:t>o</a:t>
              </a:r>
            </a:p>
          </p:txBody>
        </p:sp>
        <p:sp>
          <p:nvSpPr>
            <p:cNvPr id="9228" name="Oval 12"/>
            <p:cNvSpPr>
              <a:spLocks noChangeArrowheads="1"/>
            </p:cNvSpPr>
            <p:nvPr/>
          </p:nvSpPr>
          <p:spPr bwMode="auto">
            <a:xfrm>
              <a:off x="2730" y="3372"/>
              <a:ext cx="338" cy="599"/>
            </a:xfrm>
            <a:prstGeom prst="ellipse">
              <a:avLst/>
            </a:prstGeom>
            <a:solidFill>
              <a:srgbClr val="FF0000">
                <a:alpha val="51999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9229" name="Rectangle 13"/>
            <p:cNvSpPr>
              <a:spLocks noChangeArrowheads="1"/>
            </p:cNvSpPr>
            <p:nvPr/>
          </p:nvSpPr>
          <p:spPr bwMode="auto">
            <a:xfrm>
              <a:off x="2695" y="3067"/>
              <a:ext cx="40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5pPr>
              <a:lvl6pPr marL="25146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6pPr>
              <a:lvl7pPr marL="29718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7pPr>
              <a:lvl8pPr marL="34290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8pPr>
              <a:lvl9pPr marL="38862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ru-RU" b="1" i="1">
                  <a:latin typeface="Comic Sans MS" panose="030F0702030302020204" pitchFamily="66" charset="0"/>
                </a:rPr>
                <a:t>A(x)</a:t>
              </a:r>
            </a:p>
          </p:txBody>
        </p:sp>
        <p:sp>
          <p:nvSpPr>
            <p:cNvPr id="9230" name="Rectangle 14"/>
            <p:cNvSpPr>
              <a:spLocks noChangeArrowheads="1"/>
            </p:cNvSpPr>
            <p:nvPr/>
          </p:nvSpPr>
          <p:spPr bwMode="auto">
            <a:xfrm>
              <a:off x="2776" y="3639"/>
              <a:ext cx="19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5pPr>
              <a:lvl6pPr marL="25146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6pPr>
              <a:lvl7pPr marL="29718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7pPr>
              <a:lvl8pPr marL="34290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8pPr>
              <a:lvl9pPr marL="38862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ru-RU" b="1" i="1">
                  <a:solidFill>
                    <a:srgbClr val="FFFF00"/>
                  </a:solidFill>
                  <a:latin typeface="Comic Sans MS" panose="030F0702030302020204" pitchFamily="66" charset="0"/>
                </a:rPr>
                <a:t>x</a:t>
              </a:r>
            </a:p>
          </p:txBody>
        </p:sp>
        <p:sp>
          <p:nvSpPr>
            <p:cNvPr id="9231" name="Rectangle 15"/>
            <p:cNvSpPr>
              <a:spLocks noChangeArrowheads="1"/>
            </p:cNvSpPr>
            <p:nvPr/>
          </p:nvSpPr>
          <p:spPr bwMode="auto">
            <a:xfrm>
              <a:off x="2297" y="3347"/>
              <a:ext cx="4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5pPr>
              <a:lvl6pPr marL="25146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6pPr>
              <a:lvl7pPr marL="29718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7pPr>
              <a:lvl8pPr marL="34290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8pPr>
              <a:lvl9pPr marL="3886200" indent="-228600" defTabSz="449263" fontAlgn="base">
                <a:spcBef>
                  <a:spcPts val="13"/>
                </a:spcBef>
                <a:spcAft>
                  <a:spcPts val="1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Noto Sans" charset="0"/>
                  <a:cs typeface="Noto Sans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ru-RU" b="1" i="1">
                  <a:latin typeface="Comic Sans MS" panose="030F0702030302020204" pitchFamily="66" charset="0"/>
                </a:rPr>
                <a:t>T(x)</a:t>
              </a:r>
            </a:p>
          </p:txBody>
        </p:sp>
        <p:sp>
          <p:nvSpPr>
            <p:cNvPr id="9232" name="Oval 16"/>
            <p:cNvSpPr>
              <a:spLocks noChangeArrowheads="1"/>
            </p:cNvSpPr>
            <p:nvPr/>
          </p:nvSpPr>
          <p:spPr bwMode="auto">
            <a:xfrm>
              <a:off x="2846" y="3586"/>
              <a:ext cx="128" cy="140"/>
            </a:xfrm>
            <a:prstGeom prst="ellipse">
              <a:avLst/>
            </a:prstGeom>
            <a:gradFill rotWithShape="0">
              <a:gsLst>
                <a:gs pos="0">
                  <a:srgbClr val="4D0808"/>
                </a:gs>
                <a:gs pos="100000">
                  <a:srgbClr val="FFF200"/>
                </a:gs>
              </a:gsLst>
              <a:lin ang="135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pic>
        <p:nvPicPr>
          <p:cNvPr id="9233" name="Picture 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4613" y="1093788"/>
            <a:ext cx="2962275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234" name="Text Box 18"/>
          <p:cNvSpPr txBox="1">
            <a:spLocks noChangeArrowheads="1"/>
          </p:cNvSpPr>
          <p:nvPr/>
        </p:nvSpPr>
        <p:spPr bwMode="auto">
          <a:xfrm>
            <a:off x="294481" y="1177924"/>
            <a:ext cx="4773613" cy="76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>
              <a:spcBef>
                <a:spcPts val="813"/>
              </a:spcBef>
              <a:buClrTx/>
              <a:buSzPct val="75000"/>
              <a:buFontTx/>
              <a:buNone/>
            </a:pPr>
            <a: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Параболического типа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471488" y="180974"/>
            <a:ext cx="8229600" cy="811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>
              <a:buClrTx/>
              <a:buFontTx/>
              <a:buNone/>
            </a:pPr>
            <a:r>
              <a:rPr lang="ru-RU" altLang="ru-RU" sz="4400"/>
              <a:t>Уравнение Лапласа</a:t>
            </a:r>
          </a:p>
        </p:txBody>
      </p:sp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73038" y="2725738"/>
            <a:ext cx="9136062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>
              <a:spcBef>
                <a:spcPts val="813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"/>
            </a:pPr>
            <a:r>
              <a:rPr lang="ru-RU" altLang="ru-RU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об электрических и магнитных полях</a:t>
            </a:r>
          </a:p>
          <a:p>
            <a:pPr>
              <a:spcBef>
                <a:spcPts val="813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"/>
            </a:pPr>
            <a:r>
              <a:rPr lang="ru-RU" altLang="ru-RU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Стационарное тепловое состояние</a:t>
            </a:r>
          </a:p>
          <a:p>
            <a:pPr>
              <a:spcBef>
                <a:spcPts val="813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"/>
            </a:pPr>
            <a:r>
              <a:rPr lang="ru-RU" altLang="ru-RU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гидро- и аэродинамики и др.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681538"/>
            <a:ext cx="2114550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288" y="1338263"/>
            <a:ext cx="3657600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273050" y="1198563"/>
            <a:ext cx="4773613" cy="76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>
              <a:spcBef>
                <a:spcPts val="813"/>
              </a:spcBef>
              <a:buClrTx/>
              <a:buSzPct val="75000"/>
              <a:buFontTx/>
              <a:buNone/>
            </a:pPr>
            <a:r>
              <a:rPr lang="ru-RU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Эллиптического типа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8517652-8DFE-4C02-8454-6BF6560AF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0"/>
            <a:ext cx="7886700" cy="813786"/>
          </a:xfrm>
        </p:spPr>
        <p:txBody>
          <a:bodyPr/>
          <a:lstStyle/>
          <a:p>
            <a:r>
              <a:rPr lang="ru-RU" b="1" dirty="0"/>
              <a:t>Точные методы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2F8A6A4-EA4A-4306-993B-0E804FA49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791765"/>
            <a:ext cx="9042400" cy="5274469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точным методам относят: метод распространяющихся волн, метод разделения переменных,  метод функций источника и др.</a:t>
            </a:r>
          </a:p>
          <a:p>
            <a:pPr marL="0" indent="0">
              <a:buNone/>
            </a:pP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простейшая задача теплопроводности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функция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(</a:t>
            </a:r>
            <a:r>
              <a:rPr lang="en-US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– кусочно-непрерывная.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Методом разделения переменных решение представляется в виде ряда: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DBE14279-8FA0-4574-8E28-0477A36E6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659256"/>
            <a:ext cx="8271710" cy="12777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091D645A-CAA3-4F59-80F8-47D51A003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44" y="5495322"/>
            <a:ext cx="4760705" cy="104140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06DD9D51-7D52-46D8-BC39-A535158A9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249" y="5378540"/>
            <a:ext cx="3833251" cy="104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59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6F6060A-4BCB-4A0A-8E38-B08C8B67E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352424"/>
            <a:ext cx="8756650" cy="6505575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Подставим коэффициенты в решение, поменяем порядок интегрирования и суммирования, выразим решение через начальные данные и функцию источника: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где функция источника равна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задачи Коши на бесконечной прямой выражение для функции источника имеет вид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C3580E92-B172-4096-BB5E-FBC0EAC9B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5" y="1649412"/>
            <a:ext cx="3867150" cy="8667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749A4409-C248-4EC9-8380-40EC16A19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099" y="2947987"/>
            <a:ext cx="6488823" cy="107791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B21ACB54-B4B1-4A68-891E-EE964C320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574" y="5078412"/>
            <a:ext cx="4518252" cy="72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147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39D7616-4266-44F9-A9FD-97A004C9B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314324"/>
            <a:ext cx="8769350" cy="5895975"/>
          </a:xfrm>
        </p:spPr>
        <p:txBody>
          <a:bodyPr>
            <a:normAutofit lnSpcReduction="10000"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Точные методы позволяют получить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явное выражение решения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начальные данные, что облегчает дальнейшие действия с полученной функцией.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Точные методы очень полезны, однако они применимы в основном к линейным задачам 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областях простой формы (прямоугольник, круг и т.п.), когда дифференциальное уравнение и краевые условия линейны относительно 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её производных.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этом выкладки удаётся довести до конца обычно лишь для уравнений с постоянными или кусочно-постоянными коэффициентами.</a:t>
            </a:r>
          </a:p>
        </p:txBody>
      </p:sp>
    </p:spTree>
    <p:extLst>
      <p:ext uri="{BB962C8B-B14F-4D97-AF65-F5344CB8AC3E}">
        <p14:creationId xmlns:p14="http://schemas.microsoft.com/office/powerpoint/2010/main" val="39096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0A46DF8-ADB3-4688-8795-2A72CD5F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0" y="212727"/>
            <a:ext cx="7886700" cy="815974"/>
          </a:xfrm>
        </p:spPr>
        <p:txBody>
          <a:bodyPr/>
          <a:lstStyle/>
          <a:p>
            <a:r>
              <a:rPr lang="ru-RU" b="1" dirty="0" err="1"/>
              <a:t>Автомодельность</a:t>
            </a:r>
            <a:r>
              <a:rPr lang="ru-RU" b="1" dirty="0"/>
              <a:t> и подобие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E151BB5-03BF-41D9-8A5E-ABC97BD4B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50" y="1127125"/>
            <a:ext cx="8870950" cy="435133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уравнений в частных производных существуют такие частные решения, когда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функцией одной переменной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роль которой играет некоторая комбинация независимых переменных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Такие решения называют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автомодельными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Рассмотрим одномерное уравнение теплопроводности, в котором коэффициент теплопроводности зависит от температуры по степенному закону: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C5B3DB5B-E3A4-4A68-9AA3-5FBD66716F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428"/>
          <a:stretch/>
        </p:blipFill>
        <p:spPr>
          <a:xfrm>
            <a:off x="2129234" y="4916090"/>
            <a:ext cx="4396352" cy="75326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402BD7B4-1D49-410E-9099-0269A6D04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603" y="5730875"/>
            <a:ext cx="3861594" cy="44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173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54716B5-55D9-4E63-8D22-24C62AF03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550" y="339724"/>
            <a:ext cx="8528050" cy="6403975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Будем искать частное решение уравнения, имеющее вид бегущей волны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подстановке такого решения уравнение преобразуется в ОДУ относительно переменной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функции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однократного интегрирования имеем: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обращается в нуль хотя бы в одной точке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константа справа равна нулю и можно проинтегрировать ещё раз: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3FE56BF5-4E68-4CBD-A1D7-6756D76F9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824" y="1335882"/>
            <a:ext cx="3637194" cy="47148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79BB3967-B920-4A61-826C-83A9AA897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424" y="2683667"/>
            <a:ext cx="4335288" cy="92551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3F921ED5-1C86-46A7-8F3C-BFF0046A3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6262" y="3930997"/>
            <a:ext cx="4511475" cy="73624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AB023645-C9F8-4909-AAC2-091625FABD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8556" y="5779286"/>
            <a:ext cx="5428016" cy="73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808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9634E3C-F509-4DC9-B220-C61525729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161924"/>
            <a:ext cx="8820150" cy="6581775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Доопределим решение при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&gt;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ru-RU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полагая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 что удовлетворяет исходному уравнению.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Искомое автомодельное решение: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это решение могло существовать, начальные и граничные условия должны быть с ним согласованы.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если уравнение рассматриваем при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полупрямой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 следует задать условия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176A7CCB-444D-44B8-BABB-A4BDF3916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364" y="1498601"/>
            <a:ext cx="6137237" cy="10668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D34FB7F3-C997-45A3-A646-21F46CCC9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432" y="4514849"/>
            <a:ext cx="4191068" cy="109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53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C36E5FDA-8926-4A4C-9767-461E6F2BF3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9250" y="403224"/>
                <a:ext cx="8794750" cy="6454775"/>
              </a:xfrm>
            </p:spPr>
            <p:txBody>
              <a:bodyPr/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Полученное автомодельное решение представляет собой температурную волну, бегущую с постоянной скоростью по нулевому фону температуры.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Скорость движения волны с определяется скоростью роста температуры на границе.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Точка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𝑐𝑡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является фронтом волны.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Профиль температуры всюду непрерывен, но на фронте он имеет вертикальную касательную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ru-RU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num>
                      <m:den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и производная в этой точке терпит разрыв.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36E5FDA-8926-4A4C-9767-461E6F2BF3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9250" y="403224"/>
                <a:ext cx="8794750" cy="6454775"/>
              </a:xfrm>
              <a:blipFill>
                <a:blip r:embed="rId2"/>
                <a:stretch>
                  <a:fillRect l="-1247" t="-1605" r="-4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F433190C-8F15-4F07-BEE8-BB2560BA8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839" y="4473743"/>
            <a:ext cx="2980321" cy="238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6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E2F5911-4A0A-451A-BA3A-DC7D15E7F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68" y="109260"/>
            <a:ext cx="8960432" cy="6647140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Автомодельные решения довольно часто удаётся найти для линейных и квазилинейных уравнений или систем уравнений, коэффициенты которых зависят от переменных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решения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степенным законам.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построения решения надо «угадать» подходящую комбинацию независимых переменных и свести уравнение в частных производных к ОДУ.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Выразить решение ОДУ через элементарные функции удаётся далеко не всегда, но найти это решение численным интегрированием проще, чем численно решать исходное уравнение в частных производных.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уравнение в частных производных описывает сложный физический процесс, то автомодельные решения дают отдельные режимы протекания процесса и позволяют исследовать многие его особенности, поэтому широко используются в современной физике.</a:t>
            </a:r>
          </a:p>
        </p:txBody>
      </p:sp>
    </p:spTree>
    <p:extLst>
      <p:ext uri="{BB962C8B-B14F-4D97-AF65-F5344CB8AC3E}">
        <p14:creationId xmlns:p14="http://schemas.microsoft.com/office/powerpoint/2010/main" val="2463034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4D5B1C8-6B91-489E-9873-AA27B03E9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" y="136524"/>
            <a:ext cx="8832850" cy="6619875"/>
          </a:xfrm>
        </p:spPr>
        <p:txBody>
          <a:bodyPr>
            <a:normAutofit fontScale="92500" lnSpcReduction="10000"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Автомодельность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частным случаем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подобия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теории подобия при помощи анализа физических размерностей коэффициентов уравнения ищутся такие преобразования всех переменных и функций, относительного которых уравнение инвариантно.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для уравнения известно преобразование подобия, то, найдя каким-либо способом одно частное решение, мы с помощью этого преобразования получим целое семейство решений.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особенно ценно, если задача настолько сложна, что частные решения удаётся находить только трудоёмкими численными методами.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Автомодельные решения или преобразования подобия существуют далеко не для всех классов уравнений, и лишь при некоторых видах коэффициентов и начальных и граничных условиях.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Однако многие важные физические задачи точно или приближённо удовлетворяют этим соотношениям.   </a:t>
            </a:r>
          </a:p>
        </p:txBody>
      </p:sp>
    </p:spTree>
    <p:extLst>
      <p:ext uri="{BB962C8B-B14F-4D97-AF65-F5344CB8AC3E}">
        <p14:creationId xmlns:p14="http://schemas.microsoft.com/office/powerpoint/2010/main" val="39848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183C736-1472-49AB-B3FF-6BFA3D4E5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0"/>
            <a:ext cx="8743950" cy="1019174"/>
          </a:xfrm>
        </p:spPr>
        <p:txBody>
          <a:bodyPr/>
          <a:lstStyle/>
          <a:p>
            <a:r>
              <a:rPr lang="ru-RU" b="1" dirty="0"/>
              <a:t>Численные методы решения УМФ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645BAA7-DC2E-45D4-8241-AF405D49E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5498"/>
            <a:ext cx="9144000" cy="5930902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для нелинейных уравнений в частных производных с коэффициентами общего вида или даже линейные задачи, но в областях сложной формы, редко удаётся решить классическими методами.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Основным способом решения таких задач являются численные методы, среди которых чаще всего применяются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разностные методы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благодаря их универсальности и наличию хорошо разработанной теории.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применения разностного метода в области изменения переменных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вводят некоторую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сетку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производные, входящие в уравнение и краевые условия, заменяют разностями (или другими алгебраическими комбинациями) значений функции в узлах сетки. Полученные уравнения называют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разностной схемой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Решая алгебраическую систему уравнений, находим приближённое (разностное) решение в узлах сетки. </a:t>
            </a:r>
          </a:p>
        </p:txBody>
      </p:sp>
    </p:spTree>
    <p:extLst>
      <p:ext uri="{BB962C8B-B14F-4D97-AF65-F5344CB8AC3E}">
        <p14:creationId xmlns:p14="http://schemas.microsoft.com/office/powerpoint/2010/main" val="720152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4C17B1D-CE99-43B2-AF1E-348E67CBD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" y="0"/>
            <a:ext cx="9023350" cy="1511299"/>
          </a:xfrm>
        </p:spPr>
        <p:txBody>
          <a:bodyPr>
            <a:noAutofit/>
          </a:bodyPr>
          <a:lstStyle/>
          <a:p>
            <a:r>
              <a:rPr lang="ru-RU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Составим простейшие разностные схемы для одномерной задачи линейной теплопроводности на ограниченном отрезке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AA812095-AA9E-4F60-B266-AA80356117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0650" y="1660524"/>
                <a:ext cx="9023350" cy="47402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alt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поставлена н</a:t>
                </a:r>
                <a:r>
                  <a:rPr lang="ru-RU" alt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ачально-краевая задача для уравнения теплопроводности:</a:t>
                </a:r>
              </a:p>
              <a:p>
                <a:pPr marL="0" indent="0">
                  <a:buNone/>
                </a:pPr>
                <a:r>
                  <a:rPr lang="en-US" alt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&lt; </a:t>
                </a:r>
                <a:r>
                  <a:rPr lang="en-US" alt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alt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L, 0</a:t>
                </a:r>
                <a:r>
                  <a:rPr lang="en-US" alt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alt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alt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</a:p>
              <a:p>
                <a:pPr marL="0" indent="0">
                  <a:buNone/>
                </a:pPr>
                <a:r>
                  <a:rPr lang="ru-RU" alt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</a:t>
                </a:r>
                <a:r>
                  <a:rPr lang="ru-RU" alt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 границе заданы значения искомой функции в виде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altLang="ru-RU" sz="2800" i="1" smtClean="0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altLang="ru-RU" sz="2800" i="1" smtClean="0"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en-US" altLang="ru-RU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lang="en-US" altLang="ru-RU" sz="28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ru-RU" sz="28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ru-RU" sz="28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ru-RU" sz="28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ru-RU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ru-RU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lang="en-US" altLang="ru-RU" sz="28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ru-RU" sz="28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ru-RU" sz="28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ru-RU" sz="28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ru-RU" sz="28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alt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ru-RU" alt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alt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начальные условия вида </a:t>
                </a:r>
                <a:r>
                  <a:rPr lang="en-US" alt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u(x,0) = </a:t>
                </a:r>
                <a:r>
                  <a:rPr lang="en-US" altLang="ru-RU" sz="2800" i="1" dirty="0">
                    <a:latin typeface="Times New Roman" panose="02020603050405020304" pitchFamily="18" charset="0"/>
                    <a:ea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</a:t>
                </a:r>
                <a:r>
                  <a:rPr lang="en-US" altLang="ru-RU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(x),</a:t>
                </a:r>
              </a:p>
              <a:p>
                <a:pPr marL="0" indent="0">
                  <a:buNone/>
                </a:pPr>
                <a:r>
                  <a:rPr lang="ru-RU" alt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Решение ищется в области </a:t>
                </a:r>
                <a14:m>
                  <m:oMath xmlns:m="http://schemas.openxmlformats.org/officeDocument/2006/math">
                    <m:r>
                      <a:rPr lang="en-US" altLang="ru-RU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ru-RU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ru-RU" sz="2800" b="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ru-RU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ru-R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US" altLang="ru-R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ru-R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US" altLang="ru-R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</m:d>
                    <m:r>
                      <a:rPr lang="en-US" altLang="ru-R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×[0≤</m:t>
                    </m:r>
                    <m:r>
                      <a:rPr lang="en-US" altLang="ru-R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ru-R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ru-R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ru-R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endParaRPr lang="ru-RU" alt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Введём в области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прямоугольную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сетку (равномерную) с шагом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 переменой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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по переменной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A812095-AA9E-4F60-B266-AA80356117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0650" y="1660524"/>
                <a:ext cx="9023350" cy="4740275"/>
              </a:xfrm>
              <a:blipFill>
                <a:blip r:embed="rId2"/>
                <a:stretch>
                  <a:fillRect l="-1419" t="-3085" r="-14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421BD04-AF6A-40AF-8454-60EDA38E1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2033686"/>
            <a:ext cx="1825625" cy="950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222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BB2B290E-AF02-45B2-8C55-B9301A3EDE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22800" y="123239"/>
                <a:ext cx="4152900" cy="535046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0 ≤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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≤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Значения функции в узлах сетки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 smtClean="0"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Возьмём конфигурацию узлов, как на рисунке.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Заменим операторы дифференцирования на конечные разности: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p>
                          </m:sSub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𝜏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B2B290E-AF02-45B2-8C55-B9301A3EDE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22800" y="123239"/>
                <a:ext cx="4152900" cy="5350461"/>
              </a:xfrm>
              <a:blipFill>
                <a:blip r:embed="rId2"/>
                <a:stretch>
                  <a:fillRect l="-2933" t="-19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4FBD3FB7-C478-488F-82EC-E71625994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406400"/>
            <a:ext cx="4231640" cy="3022600"/>
          </a:xfrm>
          <a:prstGeom prst="rect">
            <a:avLst/>
          </a:prstGeom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xmlns="" id="{AD9C6BBB-DE74-4AC5-9C76-DDAC53FB4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1917700"/>
            <a:ext cx="576262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ru-RU" sz="3200" b="1" i="1" dirty="0">
                <a:solidFill>
                  <a:srgbClr val="0000E5"/>
                </a:solidFill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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xmlns="" id="{2D0B61D0-D9C7-40B4-A576-4100A6327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092" y="2993504"/>
            <a:ext cx="57626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ru-RU" sz="3200" b="1" i="1" dirty="0">
                <a:solidFill>
                  <a:srgbClr val="0000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xmlns="" id="{5CB54894-5F92-4BF8-BC7E-3B8F62BC6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0992" y="3084721"/>
            <a:ext cx="576263" cy="5869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ru-RU"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xmlns="" id="{638B15F3-2F82-4819-9D66-9308BAEB8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646" y="394536"/>
            <a:ext cx="602208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ru-RU"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xmlns="" id="{F18C9C1A-732D-4CB6-9AB2-D9B588883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9700" y="3489325"/>
            <a:ext cx="51308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Конечно-разностная сетка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0BF73377-671B-41F3-BEF6-4B515F0F8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076" y="4216818"/>
            <a:ext cx="1942901" cy="1348957"/>
          </a:xfrm>
          <a:prstGeom prst="rect">
            <a:avLst/>
          </a:prstGeom>
        </p:spPr>
      </p:pic>
      <p:sp>
        <p:nvSpPr>
          <p:cNvPr id="14" name="Text Box 5">
            <a:extLst>
              <a:ext uri="{FF2B5EF4-FFF2-40B4-BE49-F238E27FC236}">
                <a16:creationId xmlns:a16="http://schemas.microsoft.com/office/drawing/2014/main" xmlns="" id="{6216DC3F-8A7B-4A10-A71B-C5EA914E3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5485" y="5594411"/>
            <a:ext cx="4142740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Конфигурация узлов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2BA0C11B-3E40-4570-97B6-45C9CC8D21C7}"/>
                  </a:ext>
                </a:extLst>
              </p:cNvPr>
              <p:cNvSpPr txBox="1"/>
              <p:nvPr/>
            </p:nvSpPr>
            <p:spPr>
              <a:xfrm>
                <a:off x="4216355" y="5366397"/>
                <a:ext cx="4965790" cy="8391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 smtClean="0"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400" i="1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ru-R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ru-RU" sz="2400" i="1" smtClean="0">
                                  <a:latin typeface="Cambria Math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sz="2400" i="1"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b="0" i="1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A0C11B-3E40-4570-97B6-45C9CC8D2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355" y="5366397"/>
                <a:ext cx="4965790" cy="8391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017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2F310B75-832A-4A25-93E2-88A4311208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4150" y="200024"/>
                <a:ext cx="8705850" cy="62388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Тогда дифференциальное уравнение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аппроксимируется разностной схемой: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Здесь число уравнений меньше числа неизвестных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bSup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недостающие уравнение выводятся из начальных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ru-RU" i="1" dirty="0">
                    <a:latin typeface="Times New Roman" panose="02020603050405020304" pitchFamily="18" charset="0"/>
                    <a:ea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</a:t>
                </a:r>
                <a:r>
                  <a:rPr lang="en-US" alt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ru-RU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ru-RU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граничных условий: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altLang="ru-RU" sz="2800" i="1" smtClean="0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altLang="ru-RU" sz="2800" i="1" smtClean="0">
                                <a:latin typeface="Cambria Math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p>
                            </m:sSubSup>
                            <m:r>
                              <a:rPr lang="en-US" altLang="ru-RU" sz="28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ru-RU" sz="28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ru-RU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ru-RU" sz="28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ru-RU" sz="2800" b="0" i="1" smtClean="0">
                                <a:latin typeface="Cambria Math" panose="02040503050406030204" pitchFamily="18" charset="0"/>
                              </a:rPr>
                              <m:t>),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p>
                            </m:sSubSup>
                            <m:r>
                              <a:rPr lang="en-US" altLang="ru-RU" sz="28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ru-RU" sz="28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altLang="ru-RU" sz="28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ru-R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ru-RU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ru-RU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ru-RU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altLang="ru-RU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ru-RU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ru-RU" sz="28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Конфигурацию узлов, используемую для составления разностной схемы, называют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шаблоном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F310B75-832A-4A25-93E2-88A4311208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150" y="200024"/>
                <a:ext cx="8705850" cy="6238875"/>
              </a:xfrm>
              <a:blipFill>
                <a:blip r:embed="rId2"/>
                <a:stretch>
                  <a:fillRect l="-1401" t="-1760" r="-10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70C90716-0B58-4482-BF47-A596E1CB97C4}"/>
                  </a:ext>
                </a:extLst>
              </p:cNvPr>
              <p:cNvSpPr txBox="1"/>
              <p:nvPr/>
            </p:nvSpPr>
            <p:spPr>
              <a:xfrm>
                <a:off x="254000" y="1108921"/>
                <a:ext cx="8705850" cy="969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36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en-US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36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</m:sSubSup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den>
                    </m:f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3600" b="0" dirty="0"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sz="3600" b="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3600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en-US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36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</m:sSubSup>
                        <m:r>
                          <a:rPr lang="en-US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36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sz="3600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3600" dirty="0"/>
                  <a:t>,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3200" dirty="0"/>
                  <a:t> </a:t>
                </a:r>
                <a:endParaRPr lang="ru-RU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C90716-0B58-4482-BF47-A596E1CB9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1108921"/>
                <a:ext cx="8705850" cy="969368"/>
              </a:xfrm>
              <a:prstGeom prst="rect">
                <a:avLst/>
              </a:prstGeom>
              <a:blipFill>
                <a:blip r:embed="rId3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11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224B6D7-6A4A-4555-8EAE-5E583868F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0" y="415924"/>
            <a:ext cx="8528050" cy="5972175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одной и той же задачи можно составить много разностных схем.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примера если выбрать другой шаблон, то получим другую схему: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FE09F00E-091D-4899-8B7C-B92B6B7FB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24" y="2333625"/>
            <a:ext cx="2062199" cy="15525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E78F7852-BC22-47DD-8DBF-09BBF79BD7DA}"/>
                  </a:ext>
                </a:extLst>
              </p:cNvPr>
              <p:cNvSpPr txBox="1"/>
              <p:nvPr/>
            </p:nvSpPr>
            <p:spPr>
              <a:xfrm>
                <a:off x="438150" y="2333625"/>
                <a:ext cx="8705850" cy="14550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36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p>
                        </m:sSubSup>
                        <m:r>
                          <a:rPr lang="en-US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36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</m:sSubSup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den>
                    </m:f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3600" b="0" dirty="0"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sz="3600" b="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3600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</m:sSubSup>
                        <m:r>
                          <a:rPr lang="en-US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36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</m:sSubSup>
                        <m:r>
                          <a:rPr lang="en-US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3600" i="1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sz="3600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3600" dirty="0"/>
                  <a:t>,</a:t>
                </a:r>
                <a:endParaRPr lang="ru-RU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3200" dirty="0"/>
                  <a:t> </a:t>
                </a:r>
                <a:endParaRPr lang="ru-RU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8F7852-BC22-47DD-8DBF-09BBF79BD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50" y="2333625"/>
                <a:ext cx="8705850" cy="14550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539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952500"/>
            <a:ext cx="49530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692275" y="5905500"/>
            <a:ext cx="57626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2344738" y="5805488"/>
            <a:ext cx="855662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ru-RU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32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2947988" y="5830888"/>
            <a:ext cx="855662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ru-RU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32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3635375" y="5837238"/>
            <a:ext cx="855663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ru-RU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32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4818063" y="5848350"/>
            <a:ext cx="855662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ru-RU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32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6688138" y="5804622"/>
            <a:ext cx="1316038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ru-RU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32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32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1312863" y="2551113"/>
            <a:ext cx="855662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ru-RU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ru-RU" sz="32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1273175" y="4868863"/>
            <a:ext cx="85566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ru-RU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ru-RU" sz="32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1312863" y="660400"/>
            <a:ext cx="855662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ru-RU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ru-RU" sz="32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1312863" y="4284663"/>
            <a:ext cx="855662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ru-RU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ru-RU" sz="32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1323975" y="3735388"/>
            <a:ext cx="85566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ru-RU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ru-RU" sz="32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373" name="Oval 13"/>
          <p:cNvSpPr>
            <a:spLocks noChangeArrowheads="1"/>
          </p:cNvSpPr>
          <p:nvPr/>
        </p:nvSpPr>
        <p:spPr bwMode="auto">
          <a:xfrm>
            <a:off x="2009775" y="5702300"/>
            <a:ext cx="287338" cy="292100"/>
          </a:xfrm>
          <a:prstGeom prst="ellipse">
            <a:avLst/>
          </a:prstGeom>
          <a:solidFill>
            <a:srgbClr val="00B05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74" name="Oval 14"/>
          <p:cNvSpPr>
            <a:spLocks noChangeArrowheads="1"/>
          </p:cNvSpPr>
          <p:nvPr/>
        </p:nvSpPr>
        <p:spPr bwMode="auto">
          <a:xfrm>
            <a:off x="2657475" y="5708650"/>
            <a:ext cx="288925" cy="292100"/>
          </a:xfrm>
          <a:prstGeom prst="ellipse">
            <a:avLst/>
          </a:prstGeom>
          <a:solidFill>
            <a:srgbClr val="00B05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75" name="Oval 15"/>
          <p:cNvSpPr>
            <a:spLocks noChangeArrowheads="1"/>
          </p:cNvSpPr>
          <p:nvPr/>
        </p:nvSpPr>
        <p:spPr bwMode="auto">
          <a:xfrm>
            <a:off x="3200400" y="5708650"/>
            <a:ext cx="287338" cy="292100"/>
          </a:xfrm>
          <a:prstGeom prst="ellipse">
            <a:avLst/>
          </a:prstGeom>
          <a:solidFill>
            <a:srgbClr val="00B05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76" name="Oval 16"/>
          <p:cNvSpPr>
            <a:spLocks noChangeArrowheads="1"/>
          </p:cNvSpPr>
          <p:nvPr/>
        </p:nvSpPr>
        <p:spPr bwMode="auto">
          <a:xfrm>
            <a:off x="3798888" y="5708650"/>
            <a:ext cx="288925" cy="292100"/>
          </a:xfrm>
          <a:prstGeom prst="ellipse">
            <a:avLst/>
          </a:prstGeom>
          <a:solidFill>
            <a:srgbClr val="00B05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77" name="Oval 17"/>
          <p:cNvSpPr>
            <a:spLocks noChangeArrowheads="1"/>
          </p:cNvSpPr>
          <p:nvPr/>
        </p:nvSpPr>
        <p:spPr bwMode="auto">
          <a:xfrm>
            <a:off x="4398963" y="5713413"/>
            <a:ext cx="287337" cy="292100"/>
          </a:xfrm>
          <a:prstGeom prst="ellipse">
            <a:avLst/>
          </a:prstGeom>
          <a:solidFill>
            <a:srgbClr val="00B05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78" name="Oval 18"/>
          <p:cNvSpPr>
            <a:spLocks noChangeArrowheads="1"/>
          </p:cNvSpPr>
          <p:nvPr/>
        </p:nvSpPr>
        <p:spPr bwMode="auto">
          <a:xfrm>
            <a:off x="4975225" y="5702300"/>
            <a:ext cx="287338" cy="292100"/>
          </a:xfrm>
          <a:prstGeom prst="ellipse">
            <a:avLst/>
          </a:prstGeom>
          <a:solidFill>
            <a:srgbClr val="00B05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79" name="Oval 19"/>
          <p:cNvSpPr>
            <a:spLocks noChangeArrowheads="1"/>
          </p:cNvSpPr>
          <p:nvPr/>
        </p:nvSpPr>
        <p:spPr bwMode="auto">
          <a:xfrm>
            <a:off x="5673725" y="5702300"/>
            <a:ext cx="287338" cy="292100"/>
          </a:xfrm>
          <a:prstGeom prst="ellipse">
            <a:avLst/>
          </a:prstGeom>
          <a:solidFill>
            <a:srgbClr val="00B05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80" name="Oval 20"/>
          <p:cNvSpPr>
            <a:spLocks noChangeArrowheads="1"/>
          </p:cNvSpPr>
          <p:nvPr/>
        </p:nvSpPr>
        <p:spPr bwMode="auto">
          <a:xfrm>
            <a:off x="6245225" y="5702300"/>
            <a:ext cx="288925" cy="292100"/>
          </a:xfrm>
          <a:prstGeom prst="ellipse">
            <a:avLst/>
          </a:prstGeom>
          <a:solidFill>
            <a:srgbClr val="00B05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81" name="Oval 21"/>
          <p:cNvSpPr>
            <a:spLocks noChangeArrowheads="1"/>
          </p:cNvSpPr>
          <p:nvPr/>
        </p:nvSpPr>
        <p:spPr bwMode="auto">
          <a:xfrm>
            <a:off x="6875463" y="5699125"/>
            <a:ext cx="288925" cy="292100"/>
          </a:xfrm>
          <a:prstGeom prst="ellipse">
            <a:avLst/>
          </a:prstGeom>
          <a:solidFill>
            <a:srgbClr val="00B05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83" name="Oval 23"/>
          <p:cNvSpPr>
            <a:spLocks noChangeArrowheads="1"/>
          </p:cNvSpPr>
          <p:nvPr/>
        </p:nvSpPr>
        <p:spPr bwMode="auto">
          <a:xfrm>
            <a:off x="1979613" y="5148263"/>
            <a:ext cx="288925" cy="292100"/>
          </a:xfrm>
          <a:prstGeom prst="ellipse">
            <a:avLst/>
          </a:prstGeom>
          <a:solidFill>
            <a:srgbClr val="1818FF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84" name="Oval 24"/>
          <p:cNvSpPr>
            <a:spLocks noChangeArrowheads="1"/>
          </p:cNvSpPr>
          <p:nvPr/>
        </p:nvSpPr>
        <p:spPr bwMode="auto">
          <a:xfrm>
            <a:off x="1979613" y="4462463"/>
            <a:ext cx="288925" cy="292100"/>
          </a:xfrm>
          <a:prstGeom prst="ellipse">
            <a:avLst/>
          </a:prstGeom>
          <a:solidFill>
            <a:srgbClr val="1818FF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85" name="Oval 25"/>
          <p:cNvSpPr>
            <a:spLocks noChangeArrowheads="1"/>
          </p:cNvSpPr>
          <p:nvPr/>
        </p:nvSpPr>
        <p:spPr bwMode="auto">
          <a:xfrm>
            <a:off x="1984375" y="3881438"/>
            <a:ext cx="288925" cy="293687"/>
          </a:xfrm>
          <a:prstGeom prst="ellipse">
            <a:avLst/>
          </a:prstGeom>
          <a:solidFill>
            <a:srgbClr val="1818FF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86" name="Oval 26"/>
          <p:cNvSpPr>
            <a:spLocks noChangeArrowheads="1"/>
          </p:cNvSpPr>
          <p:nvPr/>
        </p:nvSpPr>
        <p:spPr bwMode="auto">
          <a:xfrm>
            <a:off x="1979613" y="3282950"/>
            <a:ext cx="288925" cy="292100"/>
          </a:xfrm>
          <a:prstGeom prst="ellipse">
            <a:avLst/>
          </a:prstGeom>
          <a:solidFill>
            <a:srgbClr val="1818FF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87" name="Oval 27"/>
          <p:cNvSpPr>
            <a:spLocks noChangeArrowheads="1"/>
          </p:cNvSpPr>
          <p:nvPr/>
        </p:nvSpPr>
        <p:spPr bwMode="auto">
          <a:xfrm>
            <a:off x="1960563" y="2698750"/>
            <a:ext cx="287337" cy="292100"/>
          </a:xfrm>
          <a:prstGeom prst="ellipse">
            <a:avLst/>
          </a:prstGeom>
          <a:solidFill>
            <a:srgbClr val="1818FF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88" name="Oval 28"/>
          <p:cNvSpPr>
            <a:spLocks noChangeArrowheads="1"/>
          </p:cNvSpPr>
          <p:nvPr/>
        </p:nvSpPr>
        <p:spPr bwMode="auto">
          <a:xfrm>
            <a:off x="1984375" y="2060575"/>
            <a:ext cx="288925" cy="292100"/>
          </a:xfrm>
          <a:prstGeom prst="ellipse">
            <a:avLst/>
          </a:prstGeom>
          <a:solidFill>
            <a:srgbClr val="1818FF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89" name="Oval 29"/>
          <p:cNvSpPr>
            <a:spLocks noChangeArrowheads="1"/>
          </p:cNvSpPr>
          <p:nvPr/>
        </p:nvSpPr>
        <p:spPr bwMode="auto">
          <a:xfrm>
            <a:off x="1979613" y="1484313"/>
            <a:ext cx="288925" cy="292100"/>
          </a:xfrm>
          <a:prstGeom prst="ellipse">
            <a:avLst/>
          </a:prstGeom>
          <a:solidFill>
            <a:srgbClr val="1818FF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90" name="Oval 30"/>
          <p:cNvSpPr>
            <a:spLocks noChangeArrowheads="1"/>
          </p:cNvSpPr>
          <p:nvPr/>
        </p:nvSpPr>
        <p:spPr bwMode="auto">
          <a:xfrm>
            <a:off x="1979613" y="806450"/>
            <a:ext cx="287337" cy="292100"/>
          </a:xfrm>
          <a:prstGeom prst="ellipse">
            <a:avLst/>
          </a:prstGeom>
          <a:solidFill>
            <a:srgbClr val="1818FF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92" name="AutoShape 32"/>
          <p:cNvSpPr>
            <a:spLocks noChangeArrowheads="1"/>
          </p:cNvSpPr>
          <p:nvPr/>
        </p:nvSpPr>
        <p:spPr bwMode="auto">
          <a:xfrm rot="19140000">
            <a:off x="2570163" y="5010150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93" name="AutoShape 33"/>
          <p:cNvSpPr>
            <a:spLocks noChangeArrowheads="1"/>
          </p:cNvSpPr>
          <p:nvPr/>
        </p:nvSpPr>
        <p:spPr bwMode="auto">
          <a:xfrm rot="19140000">
            <a:off x="3173413" y="5008563"/>
            <a:ext cx="401637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94" name="AutoShape 34"/>
          <p:cNvSpPr>
            <a:spLocks noChangeArrowheads="1"/>
          </p:cNvSpPr>
          <p:nvPr/>
        </p:nvSpPr>
        <p:spPr bwMode="auto">
          <a:xfrm rot="19140000">
            <a:off x="3765550" y="5008563"/>
            <a:ext cx="401638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95" name="AutoShape 35"/>
          <p:cNvSpPr>
            <a:spLocks noChangeArrowheads="1"/>
          </p:cNvSpPr>
          <p:nvPr/>
        </p:nvSpPr>
        <p:spPr bwMode="auto">
          <a:xfrm rot="19140000">
            <a:off x="4356100" y="5010150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96" name="AutoShape 36"/>
          <p:cNvSpPr>
            <a:spLocks noChangeArrowheads="1"/>
          </p:cNvSpPr>
          <p:nvPr/>
        </p:nvSpPr>
        <p:spPr bwMode="auto">
          <a:xfrm rot="19140000">
            <a:off x="4948238" y="5022850"/>
            <a:ext cx="401637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97" name="AutoShape 37"/>
          <p:cNvSpPr>
            <a:spLocks noChangeArrowheads="1"/>
          </p:cNvSpPr>
          <p:nvPr/>
        </p:nvSpPr>
        <p:spPr bwMode="auto">
          <a:xfrm rot="19140000">
            <a:off x="5616575" y="5008563"/>
            <a:ext cx="401638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398" name="AutoShape 38"/>
          <p:cNvSpPr>
            <a:spLocks noChangeArrowheads="1"/>
          </p:cNvSpPr>
          <p:nvPr/>
        </p:nvSpPr>
        <p:spPr bwMode="auto">
          <a:xfrm rot="19140000">
            <a:off x="6175375" y="5008563"/>
            <a:ext cx="403225" cy="439737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00" name="AutoShape 40"/>
          <p:cNvSpPr>
            <a:spLocks noChangeArrowheads="1"/>
          </p:cNvSpPr>
          <p:nvPr/>
        </p:nvSpPr>
        <p:spPr bwMode="auto">
          <a:xfrm rot="19140000">
            <a:off x="2535238" y="4413250"/>
            <a:ext cx="401637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01" name="AutoShape 41"/>
          <p:cNvSpPr>
            <a:spLocks noChangeArrowheads="1"/>
          </p:cNvSpPr>
          <p:nvPr/>
        </p:nvSpPr>
        <p:spPr bwMode="auto">
          <a:xfrm rot="19140000">
            <a:off x="3138488" y="4414838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02" name="AutoShape 42"/>
          <p:cNvSpPr>
            <a:spLocks noChangeArrowheads="1"/>
          </p:cNvSpPr>
          <p:nvPr/>
        </p:nvSpPr>
        <p:spPr bwMode="auto">
          <a:xfrm rot="19140000">
            <a:off x="3730625" y="4413250"/>
            <a:ext cx="401638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03" name="AutoShape 43"/>
          <p:cNvSpPr>
            <a:spLocks noChangeArrowheads="1"/>
          </p:cNvSpPr>
          <p:nvPr/>
        </p:nvSpPr>
        <p:spPr bwMode="auto">
          <a:xfrm rot="19140000">
            <a:off x="4321175" y="4413250"/>
            <a:ext cx="401638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04" name="AutoShape 44"/>
          <p:cNvSpPr>
            <a:spLocks noChangeArrowheads="1"/>
          </p:cNvSpPr>
          <p:nvPr/>
        </p:nvSpPr>
        <p:spPr bwMode="auto">
          <a:xfrm rot="19140000">
            <a:off x="4910138" y="4429125"/>
            <a:ext cx="403225" cy="439738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05" name="AutoShape 45"/>
          <p:cNvSpPr>
            <a:spLocks noChangeArrowheads="1"/>
          </p:cNvSpPr>
          <p:nvPr/>
        </p:nvSpPr>
        <p:spPr bwMode="auto">
          <a:xfrm rot="19140000">
            <a:off x="5580063" y="4414838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06" name="AutoShape 46"/>
          <p:cNvSpPr>
            <a:spLocks noChangeArrowheads="1"/>
          </p:cNvSpPr>
          <p:nvPr/>
        </p:nvSpPr>
        <p:spPr bwMode="auto">
          <a:xfrm rot="19140000">
            <a:off x="6142038" y="4414838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08" name="AutoShape 48"/>
          <p:cNvSpPr>
            <a:spLocks noChangeArrowheads="1"/>
          </p:cNvSpPr>
          <p:nvPr/>
        </p:nvSpPr>
        <p:spPr bwMode="auto">
          <a:xfrm rot="19140000">
            <a:off x="2570163" y="3783013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09" name="AutoShape 49"/>
          <p:cNvSpPr>
            <a:spLocks noChangeArrowheads="1"/>
          </p:cNvSpPr>
          <p:nvPr/>
        </p:nvSpPr>
        <p:spPr bwMode="auto">
          <a:xfrm rot="19140000">
            <a:off x="3173413" y="3783013"/>
            <a:ext cx="401637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10" name="AutoShape 50"/>
          <p:cNvSpPr>
            <a:spLocks noChangeArrowheads="1"/>
          </p:cNvSpPr>
          <p:nvPr/>
        </p:nvSpPr>
        <p:spPr bwMode="auto">
          <a:xfrm rot="19140000">
            <a:off x="3765550" y="3783013"/>
            <a:ext cx="401638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11" name="AutoShape 51"/>
          <p:cNvSpPr>
            <a:spLocks noChangeArrowheads="1"/>
          </p:cNvSpPr>
          <p:nvPr/>
        </p:nvSpPr>
        <p:spPr bwMode="auto">
          <a:xfrm rot="19140000">
            <a:off x="4356100" y="3783013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12" name="AutoShape 52"/>
          <p:cNvSpPr>
            <a:spLocks noChangeArrowheads="1"/>
          </p:cNvSpPr>
          <p:nvPr/>
        </p:nvSpPr>
        <p:spPr bwMode="auto">
          <a:xfrm rot="19140000">
            <a:off x="4946650" y="3797300"/>
            <a:ext cx="401638" cy="439738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13" name="AutoShape 53"/>
          <p:cNvSpPr>
            <a:spLocks noChangeArrowheads="1"/>
          </p:cNvSpPr>
          <p:nvPr/>
        </p:nvSpPr>
        <p:spPr bwMode="auto">
          <a:xfrm rot="19140000">
            <a:off x="5616575" y="3783013"/>
            <a:ext cx="401638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14" name="AutoShape 54"/>
          <p:cNvSpPr>
            <a:spLocks noChangeArrowheads="1"/>
          </p:cNvSpPr>
          <p:nvPr/>
        </p:nvSpPr>
        <p:spPr bwMode="auto">
          <a:xfrm rot="19140000">
            <a:off x="6176963" y="3783013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16" name="AutoShape 56"/>
          <p:cNvSpPr>
            <a:spLocks noChangeArrowheads="1"/>
          </p:cNvSpPr>
          <p:nvPr/>
        </p:nvSpPr>
        <p:spPr bwMode="auto">
          <a:xfrm rot="19140000">
            <a:off x="2570163" y="3216275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17" name="AutoShape 57"/>
          <p:cNvSpPr>
            <a:spLocks noChangeArrowheads="1"/>
          </p:cNvSpPr>
          <p:nvPr/>
        </p:nvSpPr>
        <p:spPr bwMode="auto">
          <a:xfrm rot="19140000">
            <a:off x="3173413" y="3214688"/>
            <a:ext cx="401637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18" name="AutoShape 58"/>
          <p:cNvSpPr>
            <a:spLocks noChangeArrowheads="1"/>
          </p:cNvSpPr>
          <p:nvPr/>
        </p:nvSpPr>
        <p:spPr bwMode="auto">
          <a:xfrm rot="19140000">
            <a:off x="3765550" y="3214688"/>
            <a:ext cx="401638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19" name="AutoShape 59"/>
          <p:cNvSpPr>
            <a:spLocks noChangeArrowheads="1"/>
          </p:cNvSpPr>
          <p:nvPr/>
        </p:nvSpPr>
        <p:spPr bwMode="auto">
          <a:xfrm rot="19140000">
            <a:off x="4356100" y="3216275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20" name="AutoShape 60"/>
          <p:cNvSpPr>
            <a:spLocks noChangeArrowheads="1"/>
          </p:cNvSpPr>
          <p:nvPr/>
        </p:nvSpPr>
        <p:spPr bwMode="auto">
          <a:xfrm rot="19140000">
            <a:off x="4948238" y="3230563"/>
            <a:ext cx="401637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21" name="AutoShape 61"/>
          <p:cNvSpPr>
            <a:spLocks noChangeArrowheads="1"/>
          </p:cNvSpPr>
          <p:nvPr/>
        </p:nvSpPr>
        <p:spPr bwMode="auto">
          <a:xfrm rot="19140000">
            <a:off x="5616575" y="3214688"/>
            <a:ext cx="401638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5422" name="AutoShape 62"/>
          <p:cNvSpPr>
            <a:spLocks noChangeArrowheads="1"/>
          </p:cNvSpPr>
          <p:nvPr/>
        </p:nvSpPr>
        <p:spPr bwMode="auto">
          <a:xfrm rot="19140000">
            <a:off x="6176963" y="3216275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77948" y="5573068"/>
            <a:ext cx="18453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ru-RU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u(x,0) = </a:t>
            </a:r>
            <a:r>
              <a:rPr lang="en-US" altLang="ru-RU" sz="2400" b="1" i="1" dirty="0">
                <a:solidFill>
                  <a:schemeClr val="tx1"/>
                </a:solidFill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</a:t>
            </a:r>
            <a:r>
              <a:rPr lang="en-US" altLang="ru-RU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  <a:endParaRPr lang="ru-RU" sz="2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7076695" y="782823"/>
                <a:ext cx="2156121" cy="8475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altLang="ru-RU" sz="22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altLang="ru-RU" sz="220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altLang="ru-RU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altLang="ru-RU" sz="2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ru-RU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altLang="ru-RU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ru-RU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ru-RU" sz="2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ru-RU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ru-RU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ru-RU" sz="2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ru-RU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ru-RU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ru-RU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altLang="ru-RU" sz="2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ru-RU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ru-RU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ru-RU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ru-RU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ru-RU" sz="2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ru-RU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ru-RU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ru-RU" sz="2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altLang="ru-RU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ru-RU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200" dirty="0"/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695" y="782823"/>
                <a:ext cx="2156121" cy="84754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Oval 23"/>
          <p:cNvSpPr>
            <a:spLocks noChangeArrowheads="1"/>
          </p:cNvSpPr>
          <p:nvPr/>
        </p:nvSpPr>
        <p:spPr bwMode="auto">
          <a:xfrm>
            <a:off x="6893806" y="5132207"/>
            <a:ext cx="288925" cy="292100"/>
          </a:xfrm>
          <a:prstGeom prst="ellipse">
            <a:avLst/>
          </a:prstGeom>
          <a:solidFill>
            <a:srgbClr val="1818FF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8" name="Oval 24"/>
          <p:cNvSpPr>
            <a:spLocks noChangeArrowheads="1"/>
          </p:cNvSpPr>
          <p:nvPr/>
        </p:nvSpPr>
        <p:spPr bwMode="auto">
          <a:xfrm>
            <a:off x="6893806" y="4446407"/>
            <a:ext cx="288925" cy="292100"/>
          </a:xfrm>
          <a:prstGeom prst="ellipse">
            <a:avLst/>
          </a:prstGeom>
          <a:solidFill>
            <a:srgbClr val="1818FF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9" name="Oval 25"/>
          <p:cNvSpPr>
            <a:spLocks noChangeArrowheads="1"/>
          </p:cNvSpPr>
          <p:nvPr/>
        </p:nvSpPr>
        <p:spPr bwMode="auto">
          <a:xfrm>
            <a:off x="6898568" y="3865382"/>
            <a:ext cx="288925" cy="293687"/>
          </a:xfrm>
          <a:prstGeom prst="ellipse">
            <a:avLst/>
          </a:prstGeom>
          <a:solidFill>
            <a:srgbClr val="1818FF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0" name="Oval 26"/>
          <p:cNvSpPr>
            <a:spLocks noChangeArrowheads="1"/>
          </p:cNvSpPr>
          <p:nvPr/>
        </p:nvSpPr>
        <p:spPr bwMode="auto">
          <a:xfrm>
            <a:off x="6893806" y="3266894"/>
            <a:ext cx="288925" cy="292100"/>
          </a:xfrm>
          <a:prstGeom prst="ellipse">
            <a:avLst/>
          </a:prstGeom>
          <a:solidFill>
            <a:srgbClr val="1818FF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1" name="Oval 27"/>
          <p:cNvSpPr>
            <a:spLocks noChangeArrowheads="1"/>
          </p:cNvSpPr>
          <p:nvPr/>
        </p:nvSpPr>
        <p:spPr bwMode="auto">
          <a:xfrm>
            <a:off x="6874756" y="2682694"/>
            <a:ext cx="287337" cy="292100"/>
          </a:xfrm>
          <a:prstGeom prst="ellipse">
            <a:avLst/>
          </a:prstGeom>
          <a:solidFill>
            <a:srgbClr val="1818FF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2" name="Oval 28"/>
          <p:cNvSpPr>
            <a:spLocks noChangeArrowheads="1"/>
          </p:cNvSpPr>
          <p:nvPr/>
        </p:nvSpPr>
        <p:spPr bwMode="auto">
          <a:xfrm>
            <a:off x="6898568" y="2044519"/>
            <a:ext cx="288925" cy="292100"/>
          </a:xfrm>
          <a:prstGeom prst="ellipse">
            <a:avLst/>
          </a:prstGeom>
          <a:solidFill>
            <a:srgbClr val="1818FF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3" name="Oval 29"/>
          <p:cNvSpPr>
            <a:spLocks noChangeArrowheads="1"/>
          </p:cNvSpPr>
          <p:nvPr/>
        </p:nvSpPr>
        <p:spPr bwMode="auto">
          <a:xfrm>
            <a:off x="6893806" y="1468257"/>
            <a:ext cx="288925" cy="292100"/>
          </a:xfrm>
          <a:prstGeom prst="ellipse">
            <a:avLst/>
          </a:prstGeom>
          <a:solidFill>
            <a:srgbClr val="1818FF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4" name="Oval 30"/>
          <p:cNvSpPr>
            <a:spLocks noChangeArrowheads="1"/>
          </p:cNvSpPr>
          <p:nvPr/>
        </p:nvSpPr>
        <p:spPr bwMode="auto">
          <a:xfrm>
            <a:off x="6893806" y="790394"/>
            <a:ext cx="287337" cy="292100"/>
          </a:xfrm>
          <a:prstGeom prst="ellipse">
            <a:avLst/>
          </a:prstGeom>
          <a:solidFill>
            <a:srgbClr val="1818FF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91" name="AutoShape 56"/>
          <p:cNvSpPr>
            <a:spLocks noChangeArrowheads="1"/>
          </p:cNvSpPr>
          <p:nvPr/>
        </p:nvSpPr>
        <p:spPr bwMode="auto">
          <a:xfrm rot="19140000">
            <a:off x="2583769" y="2619473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92" name="AutoShape 57"/>
          <p:cNvSpPr>
            <a:spLocks noChangeArrowheads="1"/>
          </p:cNvSpPr>
          <p:nvPr/>
        </p:nvSpPr>
        <p:spPr bwMode="auto">
          <a:xfrm rot="19140000">
            <a:off x="3187019" y="2617886"/>
            <a:ext cx="401637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93" name="AutoShape 58"/>
          <p:cNvSpPr>
            <a:spLocks noChangeArrowheads="1"/>
          </p:cNvSpPr>
          <p:nvPr/>
        </p:nvSpPr>
        <p:spPr bwMode="auto">
          <a:xfrm rot="19140000">
            <a:off x="3779156" y="2617886"/>
            <a:ext cx="401638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94" name="AutoShape 59"/>
          <p:cNvSpPr>
            <a:spLocks noChangeArrowheads="1"/>
          </p:cNvSpPr>
          <p:nvPr/>
        </p:nvSpPr>
        <p:spPr bwMode="auto">
          <a:xfrm rot="19140000">
            <a:off x="4369706" y="2619473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95" name="AutoShape 60"/>
          <p:cNvSpPr>
            <a:spLocks noChangeArrowheads="1"/>
          </p:cNvSpPr>
          <p:nvPr/>
        </p:nvSpPr>
        <p:spPr bwMode="auto">
          <a:xfrm rot="19140000">
            <a:off x="4961844" y="2633761"/>
            <a:ext cx="401637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96" name="AutoShape 61"/>
          <p:cNvSpPr>
            <a:spLocks noChangeArrowheads="1"/>
          </p:cNvSpPr>
          <p:nvPr/>
        </p:nvSpPr>
        <p:spPr bwMode="auto">
          <a:xfrm rot="19140000">
            <a:off x="5630181" y="2617886"/>
            <a:ext cx="401638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97" name="AutoShape 62"/>
          <p:cNvSpPr>
            <a:spLocks noChangeArrowheads="1"/>
          </p:cNvSpPr>
          <p:nvPr/>
        </p:nvSpPr>
        <p:spPr bwMode="auto">
          <a:xfrm rot="19140000">
            <a:off x="6190569" y="2619473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98" name="AutoShape 56"/>
          <p:cNvSpPr>
            <a:spLocks noChangeArrowheads="1"/>
          </p:cNvSpPr>
          <p:nvPr/>
        </p:nvSpPr>
        <p:spPr bwMode="auto">
          <a:xfrm rot="19140000">
            <a:off x="2567393" y="1982676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99" name="AutoShape 57"/>
          <p:cNvSpPr>
            <a:spLocks noChangeArrowheads="1"/>
          </p:cNvSpPr>
          <p:nvPr/>
        </p:nvSpPr>
        <p:spPr bwMode="auto">
          <a:xfrm rot="19140000">
            <a:off x="3170643" y="1981089"/>
            <a:ext cx="401637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0" name="AutoShape 58"/>
          <p:cNvSpPr>
            <a:spLocks noChangeArrowheads="1"/>
          </p:cNvSpPr>
          <p:nvPr/>
        </p:nvSpPr>
        <p:spPr bwMode="auto">
          <a:xfrm rot="19140000">
            <a:off x="3762780" y="1981089"/>
            <a:ext cx="401638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1" name="AutoShape 59"/>
          <p:cNvSpPr>
            <a:spLocks noChangeArrowheads="1"/>
          </p:cNvSpPr>
          <p:nvPr/>
        </p:nvSpPr>
        <p:spPr bwMode="auto">
          <a:xfrm rot="19140000">
            <a:off x="4353330" y="1982676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2" name="AutoShape 60"/>
          <p:cNvSpPr>
            <a:spLocks noChangeArrowheads="1"/>
          </p:cNvSpPr>
          <p:nvPr/>
        </p:nvSpPr>
        <p:spPr bwMode="auto">
          <a:xfrm rot="19140000">
            <a:off x="4945468" y="1996964"/>
            <a:ext cx="401637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3" name="AutoShape 61"/>
          <p:cNvSpPr>
            <a:spLocks noChangeArrowheads="1"/>
          </p:cNvSpPr>
          <p:nvPr/>
        </p:nvSpPr>
        <p:spPr bwMode="auto">
          <a:xfrm rot="19140000">
            <a:off x="5613805" y="1981089"/>
            <a:ext cx="401638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4" name="AutoShape 62"/>
          <p:cNvSpPr>
            <a:spLocks noChangeArrowheads="1"/>
          </p:cNvSpPr>
          <p:nvPr/>
        </p:nvSpPr>
        <p:spPr bwMode="auto">
          <a:xfrm rot="19140000">
            <a:off x="6174193" y="1982676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5" name="AutoShape 56"/>
          <p:cNvSpPr>
            <a:spLocks noChangeArrowheads="1"/>
          </p:cNvSpPr>
          <p:nvPr/>
        </p:nvSpPr>
        <p:spPr bwMode="auto">
          <a:xfrm rot="19140000">
            <a:off x="2567222" y="1392174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6" name="AutoShape 57"/>
          <p:cNvSpPr>
            <a:spLocks noChangeArrowheads="1"/>
          </p:cNvSpPr>
          <p:nvPr/>
        </p:nvSpPr>
        <p:spPr bwMode="auto">
          <a:xfrm rot="19140000">
            <a:off x="3170472" y="1390587"/>
            <a:ext cx="401637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7" name="AutoShape 58"/>
          <p:cNvSpPr>
            <a:spLocks noChangeArrowheads="1"/>
          </p:cNvSpPr>
          <p:nvPr/>
        </p:nvSpPr>
        <p:spPr bwMode="auto">
          <a:xfrm rot="19140000">
            <a:off x="3762609" y="1390587"/>
            <a:ext cx="401638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8" name="AutoShape 59"/>
          <p:cNvSpPr>
            <a:spLocks noChangeArrowheads="1"/>
          </p:cNvSpPr>
          <p:nvPr/>
        </p:nvSpPr>
        <p:spPr bwMode="auto">
          <a:xfrm rot="19140000">
            <a:off x="4353159" y="1392174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9" name="AutoShape 60"/>
          <p:cNvSpPr>
            <a:spLocks noChangeArrowheads="1"/>
          </p:cNvSpPr>
          <p:nvPr/>
        </p:nvSpPr>
        <p:spPr bwMode="auto">
          <a:xfrm rot="19140000">
            <a:off x="4945297" y="1406462"/>
            <a:ext cx="401637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0" name="AutoShape 61"/>
          <p:cNvSpPr>
            <a:spLocks noChangeArrowheads="1"/>
          </p:cNvSpPr>
          <p:nvPr/>
        </p:nvSpPr>
        <p:spPr bwMode="auto">
          <a:xfrm rot="19140000">
            <a:off x="5613634" y="1390587"/>
            <a:ext cx="401638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1" name="AutoShape 62"/>
          <p:cNvSpPr>
            <a:spLocks noChangeArrowheads="1"/>
          </p:cNvSpPr>
          <p:nvPr/>
        </p:nvSpPr>
        <p:spPr bwMode="auto">
          <a:xfrm rot="19140000">
            <a:off x="6174022" y="1392174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2" name="AutoShape 56"/>
          <p:cNvSpPr>
            <a:spLocks noChangeArrowheads="1"/>
          </p:cNvSpPr>
          <p:nvPr/>
        </p:nvSpPr>
        <p:spPr bwMode="auto">
          <a:xfrm rot="19140000">
            <a:off x="2577781" y="807925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3" name="AutoShape 57"/>
          <p:cNvSpPr>
            <a:spLocks noChangeArrowheads="1"/>
          </p:cNvSpPr>
          <p:nvPr/>
        </p:nvSpPr>
        <p:spPr bwMode="auto">
          <a:xfrm rot="19140000">
            <a:off x="3181031" y="806338"/>
            <a:ext cx="401637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4" name="AutoShape 58"/>
          <p:cNvSpPr>
            <a:spLocks noChangeArrowheads="1"/>
          </p:cNvSpPr>
          <p:nvPr/>
        </p:nvSpPr>
        <p:spPr bwMode="auto">
          <a:xfrm rot="19140000">
            <a:off x="3773168" y="806338"/>
            <a:ext cx="401638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5" name="AutoShape 59"/>
          <p:cNvSpPr>
            <a:spLocks noChangeArrowheads="1"/>
          </p:cNvSpPr>
          <p:nvPr/>
        </p:nvSpPr>
        <p:spPr bwMode="auto">
          <a:xfrm rot="19140000">
            <a:off x="4363718" y="807925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6" name="AutoShape 60"/>
          <p:cNvSpPr>
            <a:spLocks noChangeArrowheads="1"/>
          </p:cNvSpPr>
          <p:nvPr/>
        </p:nvSpPr>
        <p:spPr bwMode="auto">
          <a:xfrm rot="19140000">
            <a:off x="4955856" y="822213"/>
            <a:ext cx="401637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7" name="AutoShape 61"/>
          <p:cNvSpPr>
            <a:spLocks noChangeArrowheads="1"/>
          </p:cNvSpPr>
          <p:nvPr/>
        </p:nvSpPr>
        <p:spPr bwMode="auto">
          <a:xfrm rot="19140000">
            <a:off x="5624193" y="806338"/>
            <a:ext cx="401638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8" name="AutoShape 62"/>
          <p:cNvSpPr>
            <a:spLocks noChangeArrowheads="1"/>
          </p:cNvSpPr>
          <p:nvPr/>
        </p:nvSpPr>
        <p:spPr bwMode="auto">
          <a:xfrm rot="19140000">
            <a:off x="6184581" y="807925"/>
            <a:ext cx="403225" cy="438150"/>
          </a:xfrm>
          <a:prstGeom prst="star4">
            <a:avLst>
              <a:gd name="adj" fmla="val 12500"/>
            </a:avLst>
          </a:prstGeom>
          <a:solidFill>
            <a:srgbClr val="C00000"/>
          </a:solidFill>
          <a:ln w="25560" cap="flat">
            <a:solidFill>
              <a:srgbClr val="6F6F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19" name="Text Box 5">
            <a:extLst>
              <a:ext uri="{FF2B5EF4-FFF2-40B4-BE49-F238E27FC236}">
                <a16:creationId xmlns:a16="http://schemas.microsoft.com/office/drawing/2014/main" xmlns="" id="{E346DF9C-7D99-4623-8996-F6EBECF72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4" y="-41275"/>
            <a:ext cx="9118126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5pPr>
            <a:lvl6pPr marL="25146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6pPr>
            <a:lvl7pPr marL="29718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7pPr>
            <a:lvl8pPr marL="34290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8pPr>
            <a:lvl9pPr marL="3886200" indent="-228600" defTabSz="449263" fontAlgn="base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Noto Sans" charset="0"/>
                <a:cs typeface="Noto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Последовательность вычислений для первой схемы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3" grpId="0" animBg="1"/>
      <p:bldP spid="15374" grpId="0" animBg="1"/>
      <p:bldP spid="15375" grpId="0" animBg="1"/>
      <p:bldP spid="15376" grpId="0" animBg="1"/>
      <p:bldP spid="15377" grpId="0" animBg="1"/>
      <p:bldP spid="15378" grpId="0" animBg="1"/>
      <p:bldP spid="15379" grpId="0" animBg="1"/>
      <p:bldP spid="15380" grpId="0" animBg="1"/>
      <p:bldP spid="15381" grpId="0" animBg="1"/>
      <p:bldP spid="15383" grpId="0" animBg="1"/>
      <p:bldP spid="15384" grpId="0" animBg="1"/>
      <p:bldP spid="15385" grpId="0" animBg="1"/>
      <p:bldP spid="15386" grpId="0" animBg="1"/>
      <p:bldP spid="15387" grpId="0" animBg="1"/>
      <p:bldP spid="15388" grpId="0" animBg="1"/>
      <p:bldP spid="15389" grpId="0" animBg="1"/>
      <p:bldP spid="15390" grpId="0" animBg="1"/>
      <p:bldP spid="15392" grpId="0" animBg="1"/>
      <p:bldP spid="15393" grpId="0" animBg="1"/>
      <p:bldP spid="15394" grpId="0" animBg="1"/>
      <p:bldP spid="15395" grpId="0" animBg="1"/>
      <p:bldP spid="15396" grpId="0" animBg="1"/>
      <p:bldP spid="15397" grpId="0" animBg="1"/>
      <p:bldP spid="15398" grpId="0" animBg="1"/>
      <p:bldP spid="15400" grpId="0" animBg="1"/>
      <p:bldP spid="15401" grpId="0" animBg="1"/>
      <p:bldP spid="15402" grpId="0" animBg="1"/>
      <p:bldP spid="15403" grpId="0" animBg="1"/>
      <p:bldP spid="15404" grpId="0" animBg="1"/>
      <p:bldP spid="15405" grpId="0" animBg="1"/>
      <p:bldP spid="15406" grpId="0" animBg="1"/>
      <p:bldP spid="15408" grpId="0" animBg="1"/>
      <p:bldP spid="15409" grpId="0" animBg="1"/>
      <p:bldP spid="15410" grpId="0" animBg="1"/>
      <p:bldP spid="15411" grpId="0" animBg="1"/>
      <p:bldP spid="15412" grpId="0" animBg="1"/>
      <p:bldP spid="15413" grpId="0" animBg="1"/>
      <p:bldP spid="15414" grpId="0" animBg="1"/>
      <p:bldP spid="15416" grpId="0" animBg="1"/>
      <p:bldP spid="15417" grpId="0" animBg="1"/>
      <p:bldP spid="15418" grpId="0" animBg="1"/>
      <p:bldP spid="15419" grpId="0" animBg="1"/>
      <p:bldP spid="15420" grpId="0" animBg="1"/>
      <p:bldP spid="15421" grpId="0" animBg="1"/>
      <p:bldP spid="15422" grpId="0" animBg="1"/>
      <p:bldP spid="2" grpId="0"/>
      <p:bldP spid="3" grpId="0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345</TotalTime>
  <Words>1900</Words>
  <PresentationFormat>Экран (4:3)</PresentationFormat>
  <Paragraphs>161</Paragraphs>
  <Slides>26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7" baseType="lpstr">
      <vt:lpstr>Тема Office</vt:lpstr>
      <vt:lpstr>Численные методы решения дифференциальных уравнений  в частных производных  (уравнений математической физики)</vt:lpstr>
      <vt:lpstr>Презентация PowerPoint</vt:lpstr>
      <vt:lpstr>О постановках задач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Точные методы решения</vt:lpstr>
      <vt:lpstr>Презентация PowerPoint</vt:lpstr>
      <vt:lpstr>Презентация PowerPoint</vt:lpstr>
      <vt:lpstr>Автомодельность и подобие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Численные методы решения УМФ</vt:lpstr>
      <vt:lpstr>Пример. Составим простейшие разностные схемы для одномерной задачи линейной теплопроводности на ограниченном отрезке 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2022-05-01T12:06:51Z</dcterms:created>
  <dcterms:modified xsi:type="dcterms:W3CDTF">2022-05-03T12:18:49Z</dcterms:modified>
</cp:coreProperties>
</file>