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Raleway" panose="020B0604020202020204" charset="-52"/>
      <p:regular r:id="rId15"/>
    </p:embeddedFont>
    <p:embeddedFont>
      <p:font typeface="Roboto" panose="020B0604020202020204" charset="0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13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7828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7429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Внешние Факторы, Влияющие на Поведение Потребителей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0793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этой презентации мы рассмотрим ключевые внешние факторы, которые оказывают влияние на поведение потребителей. Мы начнем с анализа культурных факторов, затем перейдем к социальным факторам, и в конце рассмотрим, как эти факторы взаимодействуют, формируя потребительские решения.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70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Культура: Формирующая Сила Потребительского Поведения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44240"/>
            <a:ext cx="32225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Определение Культуры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25384"/>
            <a:ext cx="62447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Культура - это совокупность устойчивых форм социального взаимодействия, закрепленных в нормах и ценностях, средствах коммуникации, часто передаваемых от поколения к поколению. Она проявляется в существовании устойчивых форм и моделей потребления.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444240"/>
            <a:ext cx="44455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Влияние Культуры на Маркетинг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025384"/>
            <a:ext cx="62447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Маркетологи анализируют тенденции изменений в культуре, чтобы разрабатывать новые товары. Например, мода на здоровый образ жизни привела к широкому распространению фитнес-центров и спортклубов, повышению спроса на спортивную одежду, обувь и инвентарь, а также к изменениям в ресторанных меню и ассортименте продуктов в супермаркетах.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4D709A9-F0F3-4121-9855-DE4F3B523563}"/>
              </a:ext>
            </a:extLst>
          </p:cNvPr>
          <p:cNvSpPr/>
          <p:nvPr/>
        </p:nvSpPr>
        <p:spPr>
          <a:xfrm>
            <a:off x="12735499" y="7700790"/>
            <a:ext cx="1894901" cy="52881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6441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Культура Потребления: Объективный и Субъективный Аспекты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6860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4771073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4686062"/>
            <a:ext cx="28561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Объективный Аспект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176480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Характеристики товара, условия его покупки и продажи.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46860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1916" y="4771073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46860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Субъективный Аспект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5530810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Восприятие и отношение к товару и его свойствам.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57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222" y="2900243"/>
            <a:ext cx="7358777" cy="564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0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Динамика Культуры Потребления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32222" y="5805845"/>
            <a:ext cx="13365956" cy="22860"/>
          </a:xfrm>
          <a:prstGeom prst="roundRect">
            <a:avLst>
              <a:gd name="adj" fmla="val 331886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3916918" y="5173682"/>
            <a:ext cx="22860" cy="632222"/>
          </a:xfrm>
          <a:prstGeom prst="roundRect">
            <a:avLst>
              <a:gd name="adj" fmla="val 331886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3725228" y="5602665"/>
            <a:ext cx="406360" cy="40636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70365" y="5670292"/>
            <a:ext cx="115967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758083" y="3735586"/>
            <a:ext cx="234076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Смена Предпочтений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12840" y="4126111"/>
            <a:ext cx="6231374" cy="866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Культура потребления - неустойчивое явление, постоянно меняющееся под влиянием моды, потребительской корзины, формы подачи и интерпретации.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03532" y="5805785"/>
            <a:ext cx="22860" cy="632222"/>
          </a:xfrm>
          <a:prstGeom prst="roundRect">
            <a:avLst>
              <a:gd name="adj" fmla="val 331886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7111841" y="5602665"/>
            <a:ext cx="406360" cy="40636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44358" y="5670292"/>
            <a:ext cx="141208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186130" y="6618684"/>
            <a:ext cx="2257901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Быстрая Мода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199453" y="7009209"/>
            <a:ext cx="6231374" cy="577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Престижные вещи быстро становятся старомодными, что приводит к постоянному обновлению потребительских предпочтений.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690265" y="5173682"/>
            <a:ext cx="22860" cy="632222"/>
          </a:xfrm>
          <a:prstGeom prst="roundRect">
            <a:avLst>
              <a:gd name="adj" fmla="val 331886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98574" y="5602665"/>
            <a:ext cx="406360" cy="40636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29424" y="5670292"/>
            <a:ext cx="144661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9572863" y="4024551"/>
            <a:ext cx="2257901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Влияние Тенденций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7586067" y="4415076"/>
            <a:ext cx="6231493" cy="577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Маркетологи должны быть в курсе изменений в культуре потребления, чтобы адаптировать свои стратегии и продукты.</a:t>
            </a:r>
            <a:endParaRPr lang="en-US" sz="14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5BEB7AA-3638-4462-BF79-F41D835C3D49}"/>
              </a:ext>
            </a:extLst>
          </p:cNvPr>
          <p:cNvSpPr/>
          <p:nvPr/>
        </p:nvSpPr>
        <p:spPr>
          <a:xfrm>
            <a:off x="12735499" y="7700790"/>
            <a:ext cx="1894901" cy="52881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163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Элементы Культуры Потребления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69356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7037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Нормы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19420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Правила и образцы поведения, продиктованные человеку преобладающей в его обществе культурой.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469356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27037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Идеалы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19420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Желаемые нормы, вызывающие восхищение, но недоступные в настоящее и ближайшее время.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07067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341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Образцы Поведения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831919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Рекомендации покупателю о наиболее желательном поведении.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4685467" y="5107067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901" y="5341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Право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19901" y="583191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Совокупность норм и образцов поведения, закрепленная в законодательных актах.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058"/>
            <a:ext cx="104879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Исследование Культуры Потребления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31171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Методы Исследования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Наблюдение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контент-анализ</a:t>
            </a:r>
            <a:r>
              <a:rPr lang="ru-RU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полевые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исследования</a:t>
            </a:r>
            <a:r>
              <a:rPr lang="ru-RU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другие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452813"/>
            <a:ext cx="51517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Анализ Потребительского Поведения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033957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Маркетологи анализируют причины высокого или низкого потребления тех или иных товаров, отслеживают изменения в культуре потребления и потребительских ценностях, а также динамику культурных ценностей и самой культуры потребления.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7E1133C-7132-482D-9C8C-DD29CF9CFE78}"/>
              </a:ext>
            </a:extLst>
          </p:cNvPr>
          <p:cNvSpPr/>
          <p:nvPr/>
        </p:nvSpPr>
        <p:spPr>
          <a:xfrm>
            <a:off x="12735499" y="7700790"/>
            <a:ext cx="1894901" cy="52881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5658" y="706517"/>
            <a:ext cx="7685484" cy="130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100"/>
              </a:lnSpc>
              <a:buNone/>
            </a:pPr>
            <a:r>
              <a:rPr lang="en-US" sz="4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Влияние Культуры на Потребительское Поведение</a:t>
            </a:r>
            <a:endParaRPr lang="en-US" sz="4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658" y="2321600"/>
            <a:ext cx="1041916" cy="16669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70113" y="2529959"/>
            <a:ext cx="419445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Обучение и Привитие Ценностей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570113" y="2980611"/>
            <a:ext cx="633102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Культурные ценности прививаются человеку с рождения.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658" y="3988594"/>
            <a:ext cx="1041916" cy="16669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70113" y="4196953"/>
            <a:ext cx="354032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Ограничение Потребностей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7570113" y="4647605"/>
            <a:ext cx="633102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Культурные ценности, традиции и обычаи могут ограничивать потребности и пути их удовлетворения.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658" y="5655588"/>
            <a:ext cx="1041916" cy="186749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70113" y="5863947"/>
            <a:ext cx="3417927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Неполное Удовлетворение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570113" y="6314599"/>
            <a:ext cx="6331029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Люди часто вынуждены оставлять свои потребности не полностью удовлетворенными под влиянием культурных ценностей.</a:t>
            </a:r>
            <a:endParaRPr lang="en-US" sz="16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C480ECF-C2AC-47DD-B496-1CDE7E508542}"/>
              </a:ext>
            </a:extLst>
          </p:cNvPr>
          <p:cNvSpPr/>
          <p:nvPr/>
        </p:nvSpPr>
        <p:spPr>
          <a:xfrm>
            <a:off x="12735499" y="7700790"/>
            <a:ext cx="1894901" cy="52881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945" y="584597"/>
            <a:ext cx="7656909" cy="132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Субкультура: Влияние Групповых Ценностей</a:t>
            </a:r>
            <a:endParaRPr lang="en-US" sz="4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945" y="2230993"/>
            <a:ext cx="531138" cy="5311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29945" y="2974538"/>
            <a:ext cx="3669149" cy="66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Этническая Принадлежность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6229945" y="3765828"/>
            <a:ext cx="3669149" cy="101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Различия в этнической принадлежности могут влиять на потребительские предпочтения.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7706" y="2230993"/>
            <a:ext cx="531138" cy="5311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17706" y="2974538"/>
            <a:ext cx="3575090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Религиозные Предпочтения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10217706" y="3433882"/>
            <a:ext cx="3669149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Религиозные ценности могут влиять на выбор товаров и услуг.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945" y="5422583"/>
            <a:ext cx="531138" cy="5311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29945" y="6166128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Род Занятий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6229945" y="6625471"/>
            <a:ext cx="3669149" cy="101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Профессия может влиять на потребительские привычки и стиль жизни.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7706" y="5422583"/>
            <a:ext cx="531138" cy="5311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17706" y="6166128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Регион Проживания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10217706" y="6625471"/>
            <a:ext cx="3669149" cy="101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Географическое положение может влиять на доступность товаров и услуг.</a:t>
            </a:r>
            <a:endParaRPr lang="en-US" sz="16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183B9D3-AF30-4A3E-B2A1-080684EBF619}"/>
              </a:ext>
            </a:extLst>
          </p:cNvPr>
          <p:cNvSpPr/>
          <p:nvPr/>
        </p:nvSpPr>
        <p:spPr>
          <a:xfrm>
            <a:off x="12735499" y="7700790"/>
            <a:ext cx="1894901" cy="52881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451</Words>
  <Application>Microsoft Office PowerPoint</Application>
  <PresentationFormat>Произвольный</PresentationFormat>
  <Paragraphs>62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Raleway</vt:lpstr>
      <vt:lpstr>Calibri</vt:lpstr>
      <vt:lpstr>Roboto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Anny Lutoshkina</cp:lastModifiedBy>
  <cp:revision>2</cp:revision>
  <dcterms:created xsi:type="dcterms:W3CDTF">2025-02-04T18:59:54Z</dcterms:created>
  <dcterms:modified xsi:type="dcterms:W3CDTF">2025-02-04T20:06:23Z</dcterms:modified>
</cp:coreProperties>
</file>