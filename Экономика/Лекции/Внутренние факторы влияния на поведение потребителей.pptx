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aleway" panose="020B0604020202020204" charset="-52"/>
      <p:regular r:id="rId17"/>
    </p:embeddedFont>
    <p:embeddedFont>
      <p:font typeface="Roboto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1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54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9284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Внутренние Факторы Влияния на Поведение Потребителей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59342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Внутренние факторы играют ключевую роль в формировании потребительского поведения. Они отражают индивидуальные особенности человека, его потребности, ценности и восприятие мира. Понимание этих факторов позволяет маркетологам создавать эффективные стратегии, направленные на удовлетворение потребностей целевой аудитории.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0BF4BD3-D017-469C-8F3E-7D85DBB49704}"/>
              </a:ext>
            </a:extLst>
          </p:cNvPr>
          <p:cNvSpPr/>
          <p:nvPr/>
        </p:nvSpPr>
        <p:spPr>
          <a:xfrm>
            <a:off x="12449060" y="7557571"/>
            <a:ext cx="2181340" cy="67202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2704"/>
            <a:ext cx="85358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Факторы Личностного Порядка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8459"/>
            <a:ext cx="56864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Возраст и Этап Жизненного Цикла Семьи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89603"/>
            <a:ext cx="62447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 возрастом меняются потребности и предпочтения людей. Молодые люди склонны к покупке модной одежды, гаджетов и развлечений, в то время как пожилые люди предпочитают товары для комфорта и здоровья. Этап жизненного цикла семьи также влияет на выбор товаров и услуг. Например, молодые семьи с детьми нуждаются в детских товарах, а пожилые пары - в товарах для отдыха и путешествий.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908459"/>
            <a:ext cx="3816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Экономическое Положение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489603"/>
            <a:ext cx="62447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Экономическое положение человека оказывает значительное влияние на его покупательские решения. Люди с высоким доходом могут позволить себе более дорогие товары и услуги, в то время как люди с низким доходом вынуждены экономить. Маркетологи должны учитывать этот фактор при определении цены и позиционирования своих товаров.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2C3E0B-3E10-489F-83F5-09D68D568A8F}"/>
              </a:ext>
            </a:extLst>
          </p:cNvPr>
          <p:cNvSpPr/>
          <p:nvPr/>
        </p:nvSpPr>
        <p:spPr>
          <a:xfrm>
            <a:off x="12449060" y="7557571"/>
            <a:ext cx="2181340" cy="67202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177" y="1204079"/>
            <a:ext cx="7837646" cy="1166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Тип Личности и Представление о Самом Себе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53177" y="2650331"/>
            <a:ext cx="3825597" cy="4375071"/>
          </a:xfrm>
          <a:prstGeom prst="roundRect">
            <a:avLst>
              <a:gd name="adj" fmla="val 20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7368" y="2844522"/>
            <a:ext cx="2332911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Тип Личности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7368" y="3247906"/>
            <a:ext cx="3437215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 личности - это совокупность психологических характеристик, определяющих поведение человека. Например, сангвиник - это человек активный, общительный и оптимистичный, а меланхолик - это человек чувствительный, склонный к переживаниям и интроверсии. Понимание типа личности позволяет маркетологам создавать рекламные кампании, которые будут резонировать с целевой аудиторией.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65345" y="2650331"/>
            <a:ext cx="3825597" cy="4375071"/>
          </a:xfrm>
          <a:prstGeom prst="roundRect">
            <a:avLst>
              <a:gd name="adj" fmla="val 20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59536" y="2844522"/>
            <a:ext cx="2815828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Образ Собственного «Я»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859536" y="3247906"/>
            <a:ext cx="3437215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Образ собственного «Я» - это представление человека о себе, его ценности, идеалы и стремления. Маркетологи должны создавать образ марки, который будет соответствовать образу собственного «Я» целевой аудитории. Например, если целевая аудитория - это молодые люди, стремящиеся к самовыражению, то образ марки должен быть ярким, стильным и современным.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945" y="590193"/>
            <a:ext cx="8665488" cy="627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Психологические Факторы Влияния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2945" y="1845231"/>
            <a:ext cx="451842" cy="451842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4394" y="1920478"/>
            <a:ext cx="12894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1355527" y="1845231"/>
            <a:ext cx="2510552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Мотивация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55527" y="2279571"/>
            <a:ext cx="5859304" cy="224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Мотивация - это внутреннее побуждение к действию, которое возникает из-за потребности. Потребность - это состояние нужды в чем-то, что лежит вне человека и составляет необходимое условие его нормального функционирования. Маркетологи должны выявлять и удовлетворять потребности потребителей, чтобы стимулировать их к покупке.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5570" y="1845231"/>
            <a:ext cx="451842" cy="451842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62969" y="1920478"/>
            <a:ext cx="15692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8068151" y="1845231"/>
            <a:ext cx="2510552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Восприятие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68151" y="2279571"/>
            <a:ext cx="5859304" cy="224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Восприятие - это процесс, посредством которого человек отбирает, организует и интерпретирует информацию для создания значимой картины окружающего мира. Восприятие зависит от индивидуальных особенностей человека, его опыта, ценностей и убеждений. Маркетологи должны создавать рекламные сообщения, которые будут легко восприниматься и запоминаться целевой аудиторией.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02945" y="4955619"/>
            <a:ext cx="451842" cy="451842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439" y="5030867"/>
            <a:ext cx="16085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1355527" y="4955619"/>
            <a:ext cx="2510552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Усвоение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55527" y="5389959"/>
            <a:ext cx="5859304" cy="224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Усвоение - это процесс, посредством которого человек приобретает знания, навыки и ценности. Усвоение происходит под влиянием опыта, обучения и взаимодействия с окружающей средой. Маркетологи должны создавать рекламные кампании, которые будут способствовать усвоению информации о товаре и его преимуществах.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5570" y="4955619"/>
            <a:ext cx="451842" cy="451842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9278" y="5030867"/>
            <a:ext cx="16442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8068151" y="4955619"/>
            <a:ext cx="3042285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Убеждение и Отношения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068151" y="5389959"/>
            <a:ext cx="5859304" cy="1928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Убеждение - это мысленная характеристика индивидом чего-либо. Отношение - это сложившаяся на основе имеющихся знаний устойчивая оценка индивидом какого-либо объекта или идеи. Маркетологи должны формировать положительные убеждения и отношения к товару у потребителей, чтобы стимулировать их к покупке.</a:t>
            </a:r>
            <a:endParaRPr lang="en-US" sz="15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E3A5CB6-ABF5-42E1-8C15-CFD62275B297}"/>
              </a:ext>
            </a:extLst>
          </p:cNvPr>
          <p:cNvSpPr/>
          <p:nvPr/>
        </p:nvSpPr>
        <p:spPr>
          <a:xfrm>
            <a:off x="12449060" y="7557571"/>
            <a:ext cx="2181340" cy="67202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4155"/>
            <a:ext cx="96369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Мотивация: Потребности и Мотивы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Потребности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71054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Потребности могут быть физиологическими (голод, жажда), социальными (принадлежность, любовь), символическими (самовыражение), когнитивными (знание) и эмпирическими (опыт). Маркетологи должны выявлять и удовлетворять потребности потребителей, чтобы стимулировать их к покупке.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0899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Мотивы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671054"/>
            <a:ext cx="62447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Мотив - это то, ради чего совершается действие. Мотив - это опредмеченная потребность. Например, человек покупает новую обувь, чтобы обуться, но одновременно удовлетворяет другие мотивы: статуса, социального признания, самоудовлетворения. Маркетологи должны учитывать все мотивы, которые могут влиять на покупательское поведение.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CE87565-4367-40CD-B4BA-EE2A2EB3C4F8}"/>
              </a:ext>
            </a:extLst>
          </p:cNvPr>
          <p:cNvSpPr/>
          <p:nvPr/>
        </p:nvSpPr>
        <p:spPr>
          <a:xfrm>
            <a:off x="12449060" y="7557571"/>
            <a:ext cx="2181340" cy="67202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435" y="563523"/>
            <a:ext cx="5679638" cy="55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Измерение Потребностей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35" y="1390055"/>
            <a:ext cx="446723" cy="4467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435" y="2015490"/>
            <a:ext cx="223385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Опросы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25435" y="2401848"/>
            <a:ext cx="3812500" cy="114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Опросы позволяют получить информацию о потребностях, интересах и мнениях потребителей. Они могут быть проведены в онлайн-формате, по телефону или лично.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945" y="1390055"/>
            <a:ext cx="446723" cy="4467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05945" y="2015490"/>
            <a:ext cx="223385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Глубокие Интервью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4705945" y="2401848"/>
            <a:ext cx="3812619" cy="1715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Глубокие интервью позволяют получить более подробную информацию о мотивации потребителей. Они проводятся в индивидуальном формате и позволяют исследователям задавать уточняющие вопросы.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5" y="4653201"/>
            <a:ext cx="446723" cy="4467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5435" y="5278636"/>
            <a:ext cx="223385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Фокус-Группы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25435" y="5664994"/>
            <a:ext cx="3812500" cy="1143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Фокус-группы - это групповые дискуссии, которые позволяют получить информацию о потребностях и мнениях потребителей в контексте группового взаимодействия.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945" y="4653201"/>
            <a:ext cx="446723" cy="4467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05945" y="5278636"/>
            <a:ext cx="3343156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Этнографическое Наблюдение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4705945" y="5664994"/>
            <a:ext cx="3812619" cy="200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Этнографическое наблюдение - это метод исследования, который позволяет наблюдать за поведением потребителей в естественной среде. Это позволяет получить информацию о том, как потребители взаимодействуют с товарами и услугами в реальной жизни.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184" y="802005"/>
            <a:ext cx="9021723" cy="63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Восприятие: Как Человек Видит Мир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770" y="1846302"/>
            <a:ext cx="2178606" cy="18265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9423" y="2799040"/>
            <a:ext cx="109061" cy="407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307092" y="2213015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Внешние Факторы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307092" y="2653784"/>
            <a:ext cx="8406408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Внешние факторы, такие как реклама, упаковка, цена и место продажи, влияют на восприятие товара потребителем.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54216" y="3688675"/>
            <a:ext cx="8712160" cy="11430"/>
          </a:xfrm>
          <a:prstGeom prst="roundRect">
            <a:avLst>
              <a:gd name="adj" fmla="val 748874"/>
            </a:avLst>
          </a:prstGeom>
          <a:solidFill>
            <a:srgbClr val="C7C7D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468" y="3723680"/>
            <a:ext cx="4357330" cy="18265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47636" y="4433054"/>
            <a:ext cx="132755" cy="407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96514" y="4090392"/>
            <a:ext cx="262378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Внутренние Факторы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396514" y="4531162"/>
            <a:ext cx="7316986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Внутренние факторы, такие как убеждения, ценности, взгляды и прошлый опыт, также влияют на восприятие.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43638" y="5566053"/>
            <a:ext cx="7622738" cy="11430"/>
          </a:xfrm>
          <a:prstGeom prst="roundRect">
            <a:avLst>
              <a:gd name="adj" fmla="val 748874"/>
            </a:avLst>
          </a:prstGeom>
          <a:solidFill>
            <a:srgbClr val="C7C7D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65" y="5601057"/>
            <a:ext cx="6535936" cy="18265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45969" y="6310432"/>
            <a:ext cx="136088" cy="407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7485817" y="5804773"/>
            <a:ext cx="254746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Восприятие Товара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7485817" y="6245543"/>
            <a:ext cx="6227683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Восприятие товара - это то, как потребитель видит, слышит, чувствует, пробует и понимает товар. Это формирует его отношение к товару и влияет на его решение о покупке.</a:t>
            </a:r>
            <a:endParaRPr lang="en-US" sz="16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93A8EF4-D266-46D2-B0EF-18314C5AF1DF}"/>
              </a:ext>
            </a:extLst>
          </p:cNvPr>
          <p:cNvSpPr/>
          <p:nvPr/>
        </p:nvSpPr>
        <p:spPr>
          <a:xfrm>
            <a:off x="12449060" y="7557571"/>
            <a:ext cx="2181340" cy="67202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066" y="565190"/>
            <a:ext cx="9236154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Усвоение: Формирование Поведения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8066" y="1616631"/>
            <a:ext cx="2198965" cy="1838206"/>
          </a:xfrm>
          <a:prstGeom prst="roundRect">
            <a:avLst>
              <a:gd name="adj" fmla="val 468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0831" y="2330529"/>
            <a:ext cx="109776" cy="410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22176" y="1821775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Опыт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122176" y="2265283"/>
            <a:ext cx="10585013" cy="98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Опыт - это главный источник усвоения. Он формирует знания, навыки и ценности человека. Потребители усваивают информацию о товарах и услугах через личный опыт, наблюдение за другими людьми и общение.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9544" y="3445312"/>
            <a:ext cx="10790277" cy="11430"/>
          </a:xfrm>
          <a:prstGeom prst="roundRect">
            <a:avLst>
              <a:gd name="adj" fmla="val 753909"/>
            </a:avLst>
          </a:prstGeom>
          <a:solidFill>
            <a:srgbClr val="C7C7D0"/>
          </a:solidFill>
          <a:ln/>
        </p:spPr>
      </p:sp>
      <p:sp>
        <p:nvSpPr>
          <p:cNvPr id="8" name="Shape 6"/>
          <p:cNvSpPr/>
          <p:nvPr/>
        </p:nvSpPr>
        <p:spPr>
          <a:xfrm>
            <a:off x="718066" y="3557349"/>
            <a:ext cx="4398050" cy="1838206"/>
          </a:xfrm>
          <a:prstGeom prst="roundRect">
            <a:avLst>
              <a:gd name="adj" fmla="val 468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0831" y="4271248"/>
            <a:ext cx="133588" cy="410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21260" y="3762494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Обучение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21260" y="4206002"/>
            <a:ext cx="8385929" cy="98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Обучение - это целенаправленный процесс передачи знаний и навыков. Маркетологи могут использовать обучение для того, чтобы потребители узнали больше о товаре и его преимуществах.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8628" y="5386030"/>
            <a:ext cx="8591193" cy="11430"/>
          </a:xfrm>
          <a:prstGeom prst="roundRect">
            <a:avLst>
              <a:gd name="adj" fmla="val 753909"/>
            </a:avLst>
          </a:prstGeom>
          <a:solidFill>
            <a:srgbClr val="C7C7D0"/>
          </a:solidFill>
          <a:ln/>
        </p:spPr>
      </p:sp>
      <p:sp>
        <p:nvSpPr>
          <p:cNvPr id="13" name="Shape 11"/>
          <p:cNvSpPr/>
          <p:nvPr/>
        </p:nvSpPr>
        <p:spPr>
          <a:xfrm>
            <a:off x="718066" y="5498068"/>
            <a:ext cx="6597134" cy="2166342"/>
          </a:xfrm>
          <a:prstGeom prst="roundRect">
            <a:avLst>
              <a:gd name="adj" fmla="val 397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31" y="6376035"/>
            <a:ext cx="136922" cy="410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20345" y="5703213"/>
            <a:ext cx="2564606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Взаимодействие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20345" y="6146721"/>
            <a:ext cx="6186845" cy="131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Взаимодействие с окружающей средой также влияет на усвоение. Потребители усваивают информацию о товарах и услугах через общение с другими людьми, чтение книг, просмотр фильмов и т.д.</a:t>
            </a:r>
            <a:endParaRPr lang="en-US" sz="16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B8CE91F-56DB-408C-A0A9-8AF5A4FF51C9}"/>
              </a:ext>
            </a:extLst>
          </p:cNvPr>
          <p:cNvSpPr/>
          <p:nvPr/>
        </p:nvSpPr>
        <p:spPr>
          <a:xfrm>
            <a:off x="12449060" y="7557571"/>
            <a:ext cx="2181340" cy="67202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0048" y="482679"/>
            <a:ext cx="7916704" cy="109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Убеждение и Отношения: Формирование Мнения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351508" y="1841421"/>
            <a:ext cx="22860" cy="5905500"/>
          </a:xfrm>
          <a:prstGeom prst="roundRect">
            <a:avLst>
              <a:gd name="adj" fmla="val 322137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537305" y="2224326"/>
            <a:ext cx="613648" cy="22860"/>
          </a:xfrm>
          <a:prstGeom prst="roundRect">
            <a:avLst>
              <a:gd name="adj" fmla="val 322137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165711" y="2038588"/>
            <a:ext cx="394454" cy="39445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6562" y="2104311"/>
            <a:ext cx="112633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327225" y="2016681"/>
            <a:ext cx="2191583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Убеждение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27225" y="2395776"/>
            <a:ext cx="6689527" cy="112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Убеждение - это мысленная характеристика индивидом чего-либо. Убеждения формируются на основе опыта, знаний и ценностей. Маркетологи должны формировать положительные убеждения о товаре у потребителей, чтобы стимулировать их к покупке.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37305" y="4251246"/>
            <a:ext cx="613648" cy="22860"/>
          </a:xfrm>
          <a:prstGeom prst="roundRect">
            <a:avLst>
              <a:gd name="adj" fmla="val 322137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165711" y="4065508"/>
            <a:ext cx="394454" cy="39445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4418" y="4131231"/>
            <a:ext cx="137041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7327225" y="4043601"/>
            <a:ext cx="2191583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Отношение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327225" y="4422696"/>
            <a:ext cx="6689527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Отношение - это сложившаяся на основе имеющихся знаний устойчивая оценка индивидом какого-либо объекта или идеи. Отношения могут быть положительными, отрицательными или нейтральными. Маркетологи должны формировать положительные отношения к товару у потребителей, чтобы стимулировать их к покупке.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537305" y="6558677"/>
            <a:ext cx="613648" cy="22860"/>
          </a:xfrm>
          <a:prstGeom prst="roundRect">
            <a:avLst>
              <a:gd name="adj" fmla="val 322137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165711" y="6372939"/>
            <a:ext cx="394454" cy="39445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92632" y="6438662"/>
            <a:ext cx="140494" cy="263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7327225" y="6351032"/>
            <a:ext cx="2191583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Поведение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327225" y="6730127"/>
            <a:ext cx="6689527" cy="84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Убеждения и отношения влияют на поведение потребителей. Потребители, которые имеют положительные убеждения и отношения к товару, с большей вероятностью купят его.</a:t>
            </a:r>
            <a:endParaRPr lang="en-US" sz="13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9AB5883-7826-4A43-A968-55A2E528438B}"/>
              </a:ext>
            </a:extLst>
          </p:cNvPr>
          <p:cNvSpPr/>
          <p:nvPr/>
        </p:nvSpPr>
        <p:spPr>
          <a:xfrm>
            <a:off x="12449060" y="7557571"/>
            <a:ext cx="2181340" cy="67202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387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Заключение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87660"/>
            <a:ext cx="7556421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Внутренние факторы играют важную роль в формировании потребительского поведения. Понимание этих факторов позволяет маркетологам создавать эффективные стратегии, направленные на удовлетворение потребностей целевой аудитории. Маркетологи должны учитывать возраст, экономическое положение, тип личности, мотивацию, восприятие, усвоение, убеждения и отношения потребителей при разработке товаров и услуг, а также при создании рекламных кампаний.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A14A45C-604F-4BB6-AA33-EDA8DDA2BE0B}"/>
              </a:ext>
            </a:extLst>
          </p:cNvPr>
          <p:cNvSpPr/>
          <p:nvPr/>
        </p:nvSpPr>
        <p:spPr>
          <a:xfrm>
            <a:off x="12449060" y="7557571"/>
            <a:ext cx="2181340" cy="67202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1081</Words>
  <Application>Microsoft Office PowerPoint</Application>
  <PresentationFormat>Произвольный</PresentationFormat>
  <Paragraphs>81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Raleway</vt:lpstr>
      <vt:lpstr>Calibri</vt:lpstr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Anny Lutoshkina</cp:lastModifiedBy>
  <cp:revision>2</cp:revision>
  <dcterms:created xsi:type="dcterms:W3CDTF">2025-02-04T19:07:17Z</dcterms:created>
  <dcterms:modified xsi:type="dcterms:W3CDTF">2025-02-04T20:07:13Z</dcterms:modified>
</cp:coreProperties>
</file>