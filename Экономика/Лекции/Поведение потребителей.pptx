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Open Sans" panose="020B0604020202020204" charset="0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1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63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Поведение Потребителей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Поведение потребителей – это деятельность, непосредственно связанная с приобретением, потреблением и избавлением от продуктов, услуг, идей, включая процессы принятия решений, предшествующие этой деятельности и следующие за ней.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30142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Факторы, Влияющие на Принятие Решений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38490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Исследование Поведения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Задачей исследования поведения потребителей является выяснение факторов, влияющих на процесс принятия решения в наибольшей степени.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815715"/>
            <a:ext cx="2973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Фокус на Действиях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968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Поведение потребителей может быть определено как сфера исследований, в центре внимания которой находятся действия потребителей.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D91F2D4-0158-4DB0-A19B-BE4419BF982F}"/>
              </a:ext>
            </a:extLst>
          </p:cNvPr>
          <p:cNvSpPr/>
          <p:nvPr/>
        </p:nvSpPr>
        <p:spPr>
          <a:xfrm>
            <a:off x="12834651" y="7667740"/>
            <a:ext cx="1795749" cy="56186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81207"/>
            <a:ext cx="74870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Эволюция Исследования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2130147"/>
            <a:ext cx="30480" cy="5018127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2625209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23852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56653" y="2470309"/>
            <a:ext cx="12727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2356961"/>
            <a:ext cx="31331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Исторический Фокус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2847380"/>
            <a:ext cx="596872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Исторически изучение потребительского поведения фокусировалось на поведении покупателя, или на том, «почему люди покупают».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88477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46448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3555" y="4729877"/>
            <a:ext cx="17347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4616529"/>
            <a:ext cx="30638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Современный Фокус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7888" y="5106948"/>
            <a:ext cx="596872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так давно исследователи и практики сосредоточились на анализе потребления, который связан не только с тем, почему и как люди осуществляют покупки, но и с тем, почему и как они используют товары.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769F82F-3262-4C2E-B95A-C6F15664DEDC}"/>
              </a:ext>
            </a:extLst>
          </p:cNvPr>
          <p:cNvSpPr/>
          <p:nvPr/>
        </p:nvSpPr>
        <p:spPr>
          <a:xfrm>
            <a:off x="12834651" y="7667740"/>
            <a:ext cx="1795749" cy="56186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046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Ключевое Понятие Маркетинга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62407"/>
            <a:ext cx="3664863" cy="3862507"/>
          </a:xfrm>
          <a:prstGeom prst="roundRect">
            <a:avLst>
              <a:gd name="adj" fmla="val 259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296841"/>
            <a:ext cx="3150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Важность Поведения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787259"/>
            <a:ext cx="319599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Поведению потребителей должно уделяться первоочередное внимание в каждом элементе маркетинговой программы фирмы. Это ключевое понятие маркетинговой концепции.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062407"/>
            <a:ext cx="3664863" cy="3862507"/>
          </a:xfrm>
          <a:prstGeom prst="roundRect">
            <a:avLst>
              <a:gd name="adj" fmla="val 259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296841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Понимание Потребления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414158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Потребление — это ключ к пониманию того, почему потребители покупают товары.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756" y="654129"/>
            <a:ext cx="5120283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Основные Понятия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6756" y="1601391"/>
            <a:ext cx="7710487" cy="5974080"/>
          </a:xfrm>
          <a:prstGeom prst="roundRect">
            <a:avLst>
              <a:gd name="adj" fmla="val 14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4376" y="1609011"/>
            <a:ext cx="7695248" cy="12439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29164" y="1739503"/>
            <a:ext cx="3434239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Нужда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80598" y="1739503"/>
            <a:ext cx="343423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Чувство, что недостаток чего-либо наносит ущерб хозяйству или образу жизни потребителя.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4376" y="2852976"/>
            <a:ext cx="7695248" cy="189928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29164" y="2983468"/>
            <a:ext cx="3434239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Потребность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80598" y="2983468"/>
            <a:ext cx="3434239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Осознанное (принявшее специфическую форму в соответствии с личностью) чувство нужды, необходимости или желание.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4376" y="4752261"/>
            <a:ext cx="7695248" cy="15716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29164" y="4882753"/>
            <a:ext cx="3434239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Потребление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80598" y="4882753"/>
            <a:ext cx="3434239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Процесс использования материальных или духовных благ, услуг для удовлетворения потребностей.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4376" y="6323886"/>
            <a:ext cx="7695248" cy="12439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29164" y="6454378"/>
            <a:ext cx="3434239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Спрос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80598" y="6454378"/>
            <a:ext cx="343423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Потребность, предъявляемая на рынок и подкрепленная деньгами.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5607"/>
            <a:ext cx="83040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Покупатель vs. Потребитель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Покупатель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5250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Физическое или юридическое лицо, осуществляющее оплату деньгами и являющееся приобретателем товара или услуги.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71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Потребитель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852505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Гражданин, имеющий намерение заказать или приобрести, либо заказывающий, приобретающий или использующий товары (работы, услуги) исключительно для личных, семейных, домашних и иных нужд, не связанных с осуществлением предпринимательской деятельности.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533E3CA-5190-4A09-9DB6-CB157B05505B}"/>
              </a:ext>
            </a:extLst>
          </p:cNvPr>
          <p:cNvSpPr/>
          <p:nvPr/>
        </p:nvSpPr>
        <p:spPr>
          <a:xfrm>
            <a:off x="12834651" y="7667740"/>
            <a:ext cx="1795749" cy="56186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377" y="550069"/>
            <a:ext cx="5670113" cy="4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Процесс Принятия Решения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77" y="1342906"/>
            <a:ext cx="773549" cy="1237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46979" y="1497568"/>
            <a:ext cx="2215634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Осознание Проблемы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546979" y="1832015"/>
            <a:ext cx="12542044" cy="49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Покупатель осознает проблему или нужду. Нужда может быть возбуждена внутренними (голод, жажда) и внешними раздражителями (например, проходя мимо булочной, вид и запах свежеиспеченного хлеба возбуждает чувство голода).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77" y="2580561"/>
            <a:ext cx="773549" cy="13860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46979" y="2735223"/>
            <a:ext cx="203644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Поиск Информации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546979" y="3069669"/>
            <a:ext cx="12542044" cy="742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Источниками, с помощью которых потребитель ищет информацию о товарах, предприятиях-изготовителях и др., служат: личные источники (семья, друзья, соседи, знакомые), коммерческие источники (реклама, продавцы, дилеры, упаковка, выставки), общедоступные источники (СМИ, организации, занимающиеся изучением и классификацией потребителей), источники эмпирического опыта (осязание, изучение, использование товара).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77" y="3966567"/>
            <a:ext cx="773549" cy="12376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46979" y="4121229"/>
            <a:ext cx="2517934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Предпокупочная Оценка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546979" y="4455676"/>
            <a:ext cx="12542044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Осуществляется по конкретным признакам: свойства товара, убеждения о марках, функция полезности, оценка.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77" y="5204222"/>
            <a:ext cx="773549" cy="12376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46979" y="5358884"/>
            <a:ext cx="1965246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Решение о Покупке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546979" y="5693331"/>
            <a:ext cx="12542044" cy="494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этом этапе от намерения совершить покупку до принятия решения о покупке на потребителя могут повлиять два фактора: отношения других людей и непредвиденный (внезапный) фактор обстановки.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77" y="6441877"/>
            <a:ext cx="773549" cy="12376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46979" y="6596539"/>
            <a:ext cx="202632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Реакция на Покупку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546979" y="6930985"/>
            <a:ext cx="12542044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Степень удовлетворения потребителя потребленным продуктом (удовлетворён – не удовлетворён).</a:t>
            </a:r>
            <a:endParaRPr lang="en-US" sz="12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17EE2A1-73D7-4CA4-B5A0-C2A66D468F8A}"/>
              </a:ext>
            </a:extLst>
          </p:cNvPr>
          <p:cNvSpPr/>
          <p:nvPr/>
        </p:nvSpPr>
        <p:spPr>
          <a:xfrm>
            <a:off x="12834651" y="7667740"/>
            <a:ext cx="1795749" cy="56186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4822" y="775216"/>
            <a:ext cx="5060156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Типы Покупок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194822" y="1938933"/>
            <a:ext cx="455414" cy="455414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5677" y="2014776"/>
            <a:ext cx="113586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852642" y="1938933"/>
            <a:ext cx="2643307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Первичная Покупка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852642" y="2376607"/>
            <a:ext cx="3104555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у человека впервые появилась неудовлетворенная потребность в определенном товаре, вероятнее всего он начнет активный поиск информации о данном товаре.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9603" y="1938933"/>
            <a:ext cx="455414" cy="455414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09860" y="2014776"/>
            <a:ext cx="154781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10817423" y="1938933"/>
            <a:ext cx="259901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Повторная Покупка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817423" y="2376607"/>
            <a:ext cx="3104555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Повторные покупки, как правило, не отличаются высокой лояльностью потребителя. Если потребитель во второй раз пришел за товаром, это вовсе не означает, что он купит тот же товар, что и в первый раз.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94822" y="5397460"/>
            <a:ext cx="455414" cy="455414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48413" y="5473303"/>
            <a:ext cx="14823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6852642" y="5397460"/>
            <a:ext cx="3158371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Импульсивная Покупка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852642" y="5835134"/>
            <a:ext cx="7069336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Импульсивные покупки отличаются от первых двух типов тем, что они не являются для потребителя запланированными. Например, до прихода в магазин потребитель не испытывал потребности купить шоколад. Однако на витрине он увидел специальное предложение: возможность купить две шоколадки по цене одной.</a:t>
            </a:r>
            <a:endParaRPr lang="en-US" sz="15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EBDCF7-FE67-4EF2-8F38-AE56B9481F7D}"/>
              </a:ext>
            </a:extLst>
          </p:cNvPr>
          <p:cNvSpPr/>
          <p:nvPr/>
        </p:nvSpPr>
        <p:spPr>
          <a:xfrm>
            <a:off x="12834651" y="7667740"/>
            <a:ext cx="1795749" cy="561860"/>
          </a:xfrm>
          <a:prstGeom prst="rect">
            <a:avLst/>
          </a:prstGeom>
          <a:solidFill>
            <a:srgbClr val="FFFC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Office PowerPoint</Application>
  <PresentationFormat>Произвольный</PresentationFormat>
  <Paragraphs>62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Crimson Pro Bold</vt:lpstr>
      <vt:lpstr>Open Sans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Anny Lutoshkina</cp:lastModifiedBy>
  <cp:revision>2</cp:revision>
  <dcterms:created xsi:type="dcterms:W3CDTF">2025-02-04T18:44:39Z</dcterms:created>
  <dcterms:modified xsi:type="dcterms:W3CDTF">2025-02-04T20:05:42Z</dcterms:modified>
</cp:coreProperties>
</file>