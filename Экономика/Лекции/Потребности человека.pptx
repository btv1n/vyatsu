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4630400" cy="8229600"/>
  <p:notesSz cx="8229600" cy="14630400"/>
  <p:embeddedFontLst>
    <p:embeddedFont>
      <p:font typeface="Calibri" panose="020F0502020204030204" pitchFamily="34" charset="0"/>
      <p:regular r:id="rId13"/>
      <p:bold r:id="rId14"/>
      <p:italic r:id="rId15"/>
      <p:boldItalic r:id="rId16"/>
    </p:embeddedFont>
    <p:embeddedFont>
      <p:font typeface="Open Sans" panose="020B0604020202020204" charset="0"/>
      <p:regular r:id="rId17"/>
    </p:embeddedFont>
  </p:embeddedFontLst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67" d="100"/>
          <a:sy n="67" d="100"/>
        </p:scale>
        <p:origin x="613" y="7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4724997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3045976"/>
            <a:ext cx="6986349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403C4E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Потребности человека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793790" y="4094917"/>
            <a:ext cx="7556421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850"/>
              </a:lnSpc>
              <a:buNone/>
            </a:pPr>
            <a:r>
              <a:rPr lang="en-US" sz="1750" dirty="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Потребности - это объективные и осознанные нужды в чем-либо, которые человек испытывает. Они выступают как внутренний побудитель активной деятельности человека.</a:t>
            </a:r>
            <a:endParaRPr lang="en-US" sz="1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880122"/>
            <a:ext cx="9099471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403C4E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Экономические потребности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392906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403C4E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Определение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93790" y="4623554"/>
            <a:ext cx="130428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850"/>
              </a:lnSpc>
              <a:buNone/>
            </a:pPr>
            <a:r>
              <a:rPr lang="en-US" sz="1750" dirty="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Экономические потребности - это часть потребностей общества, для удовлетворения которых необходимо общественное производство.</a:t>
            </a:r>
            <a:endParaRPr lang="en-US" sz="1750" dirty="0"/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D85CEEEE-F6DC-4D44-91C8-6F72CD4C1776}"/>
              </a:ext>
            </a:extLst>
          </p:cNvPr>
          <p:cNvSpPr/>
          <p:nvPr/>
        </p:nvSpPr>
        <p:spPr>
          <a:xfrm>
            <a:off x="12834651" y="7700790"/>
            <a:ext cx="1795749" cy="52881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2800" y="0"/>
            <a:ext cx="36576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1255990"/>
            <a:ext cx="93852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403C4E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Классификация потребностей</a:t>
            </a:r>
            <a:endParaRPr lang="en-US" sz="4450" dirty="0"/>
          </a:p>
        </p:txBody>
      </p:sp>
      <p:sp>
        <p:nvSpPr>
          <p:cNvPr id="4" name="Shape 1"/>
          <p:cNvSpPr/>
          <p:nvPr/>
        </p:nvSpPr>
        <p:spPr>
          <a:xfrm>
            <a:off x="793790" y="3013710"/>
            <a:ext cx="4579263" cy="1685092"/>
          </a:xfrm>
          <a:prstGeom prst="roundRect">
            <a:avLst>
              <a:gd name="adj" fmla="val 5654"/>
            </a:avLst>
          </a:prstGeom>
          <a:solidFill>
            <a:srgbClr val="FFD8CC"/>
          </a:solidFill>
          <a:ln w="7620">
            <a:solidFill>
              <a:srgbClr val="E5BEB2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1028224" y="3248144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403C4E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Первичные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1028224" y="3738563"/>
            <a:ext cx="411039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850"/>
              </a:lnSpc>
              <a:buNone/>
            </a:pPr>
            <a:r>
              <a:rPr lang="en-US" sz="1750" dirty="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Потребности в питании, воде, жилье и т.д.</a:t>
            </a:r>
            <a:endParaRPr lang="en-US" sz="1750" dirty="0"/>
          </a:p>
        </p:txBody>
      </p:sp>
      <p:sp>
        <p:nvSpPr>
          <p:cNvPr id="7" name="Shape 4"/>
          <p:cNvSpPr/>
          <p:nvPr/>
        </p:nvSpPr>
        <p:spPr>
          <a:xfrm>
            <a:off x="5599867" y="3013710"/>
            <a:ext cx="4579263" cy="1685092"/>
          </a:xfrm>
          <a:prstGeom prst="roundRect">
            <a:avLst>
              <a:gd name="adj" fmla="val 5654"/>
            </a:avLst>
          </a:prstGeom>
          <a:solidFill>
            <a:srgbClr val="FFD8CC"/>
          </a:solidFill>
          <a:ln w="7620">
            <a:solidFill>
              <a:srgbClr val="E5BEB2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834301" y="3248144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403C4E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Вторичные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5834301" y="3738563"/>
            <a:ext cx="411039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850"/>
              </a:lnSpc>
              <a:buNone/>
            </a:pPr>
            <a:r>
              <a:rPr lang="en-US" sz="1750" dirty="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Потребности в удовлетворении духовных запросов человека.</a:t>
            </a:r>
            <a:endParaRPr lang="en-US" sz="1750" dirty="0"/>
          </a:p>
        </p:txBody>
      </p:sp>
      <p:sp>
        <p:nvSpPr>
          <p:cNvPr id="10" name="Shape 7"/>
          <p:cNvSpPr/>
          <p:nvPr/>
        </p:nvSpPr>
        <p:spPr>
          <a:xfrm>
            <a:off x="793790" y="4925616"/>
            <a:ext cx="4579263" cy="2047994"/>
          </a:xfrm>
          <a:prstGeom prst="roundRect">
            <a:avLst>
              <a:gd name="adj" fmla="val 4652"/>
            </a:avLst>
          </a:prstGeom>
          <a:solidFill>
            <a:srgbClr val="FFD8CC"/>
          </a:solidFill>
          <a:ln w="7620">
            <a:solidFill>
              <a:srgbClr val="E5BEB2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028224" y="5160050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403C4E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Эластичные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1028224" y="5650468"/>
            <a:ext cx="4110395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850"/>
              </a:lnSpc>
              <a:buNone/>
            </a:pPr>
            <a:r>
              <a:rPr lang="en-US" sz="1750" dirty="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Потребности, от удовлетворения которых можно временно воздержаться.</a:t>
            </a:r>
            <a:endParaRPr lang="en-US" sz="1750" dirty="0"/>
          </a:p>
        </p:txBody>
      </p:sp>
      <p:sp>
        <p:nvSpPr>
          <p:cNvPr id="13" name="Shape 10"/>
          <p:cNvSpPr/>
          <p:nvPr/>
        </p:nvSpPr>
        <p:spPr>
          <a:xfrm>
            <a:off x="5599867" y="4925616"/>
            <a:ext cx="4579263" cy="2047994"/>
          </a:xfrm>
          <a:prstGeom prst="roundRect">
            <a:avLst>
              <a:gd name="adj" fmla="val 4652"/>
            </a:avLst>
          </a:prstGeom>
          <a:solidFill>
            <a:srgbClr val="FFD8CC"/>
          </a:solidFill>
          <a:ln w="7620">
            <a:solidFill>
              <a:srgbClr val="E5BEB2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5834301" y="5160050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403C4E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Неэластичные</a:t>
            </a:r>
            <a:endParaRPr lang="en-US" sz="2200" dirty="0"/>
          </a:p>
        </p:txBody>
      </p:sp>
      <p:sp>
        <p:nvSpPr>
          <p:cNvPr id="15" name="Text 12"/>
          <p:cNvSpPr/>
          <p:nvPr/>
        </p:nvSpPr>
        <p:spPr>
          <a:xfrm>
            <a:off x="5834301" y="5650468"/>
            <a:ext cx="4110395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850"/>
              </a:lnSpc>
              <a:buNone/>
            </a:pPr>
            <a:r>
              <a:rPr lang="en-US" sz="1750" dirty="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Потребности, которые существуют постоянно и быстро снимаются при удовлетворении.</a:t>
            </a:r>
            <a:endParaRPr lang="en-US" sz="1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12232" y="560308"/>
            <a:ext cx="8805029" cy="6360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5000"/>
              </a:lnSpc>
              <a:buNone/>
            </a:pPr>
            <a:r>
              <a:rPr lang="en-US" sz="4000" b="1" dirty="0">
                <a:solidFill>
                  <a:srgbClr val="403C4E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Иерархия потребностей Маслоу</a:t>
            </a:r>
            <a:endParaRPr lang="en-US" sz="40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59944" y="1603296"/>
            <a:ext cx="1307306" cy="117252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955256" y="2131338"/>
            <a:ext cx="116562" cy="4070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3200"/>
              </a:lnSpc>
              <a:buNone/>
            </a:pPr>
            <a:r>
              <a:rPr lang="en-US" sz="2000" b="1" dirty="0">
                <a:solidFill>
                  <a:srgbClr val="403C4E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1</a:t>
            </a:r>
            <a:endParaRPr lang="en-US" sz="2000" dirty="0"/>
          </a:p>
        </p:txBody>
      </p:sp>
      <p:sp>
        <p:nvSpPr>
          <p:cNvPr id="5" name="Text 2"/>
          <p:cNvSpPr/>
          <p:nvPr/>
        </p:nvSpPr>
        <p:spPr>
          <a:xfrm>
            <a:off x="4870728" y="1806773"/>
            <a:ext cx="2659261" cy="3180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b="1" dirty="0">
                <a:solidFill>
                  <a:srgbClr val="403C4E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Самоактуализация</a:t>
            </a:r>
            <a:endParaRPr lang="en-US" sz="2000" dirty="0"/>
          </a:p>
        </p:txBody>
      </p:sp>
      <p:sp>
        <p:nvSpPr>
          <p:cNvPr id="6" name="Text 3"/>
          <p:cNvSpPr/>
          <p:nvPr/>
        </p:nvSpPr>
        <p:spPr>
          <a:xfrm>
            <a:off x="4870728" y="2246828"/>
            <a:ext cx="3181469" cy="3255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00" dirty="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Реализация своего потенциала.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4718090" y="2791658"/>
            <a:ext cx="9149239" cy="11430"/>
          </a:xfrm>
          <a:prstGeom prst="roundRect">
            <a:avLst>
              <a:gd name="adj" fmla="val 747870"/>
            </a:avLst>
          </a:prstGeom>
          <a:solidFill>
            <a:srgbClr val="E5BEB2"/>
          </a:solidFill>
          <a:ln/>
        </p:spPr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06291" y="2826663"/>
            <a:ext cx="2614732" cy="1172528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3936563" y="3209330"/>
            <a:ext cx="153948" cy="4070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3200"/>
              </a:lnSpc>
              <a:buNone/>
            </a:pPr>
            <a:r>
              <a:rPr lang="en-US" sz="2000" b="1" dirty="0">
                <a:solidFill>
                  <a:srgbClr val="403C4E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2</a:t>
            </a:r>
            <a:endParaRPr lang="en-US" sz="2000" dirty="0"/>
          </a:p>
        </p:txBody>
      </p:sp>
      <p:sp>
        <p:nvSpPr>
          <p:cNvPr id="10" name="Text 6"/>
          <p:cNvSpPr/>
          <p:nvPr/>
        </p:nvSpPr>
        <p:spPr>
          <a:xfrm>
            <a:off x="5524500" y="3030141"/>
            <a:ext cx="3236476" cy="3180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b="1" dirty="0">
                <a:solidFill>
                  <a:srgbClr val="403C4E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Уважение и признание</a:t>
            </a:r>
            <a:endParaRPr lang="en-US" sz="2000" dirty="0"/>
          </a:p>
        </p:txBody>
      </p:sp>
      <p:sp>
        <p:nvSpPr>
          <p:cNvPr id="11" name="Text 7"/>
          <p:cNvSpPr/>
          <p:nvPr/>
        </p:nvSpPr>
        <p:spPr>
          <a:xfrm>
            <a:off x="5524500" y="3470196"/>
            <a:ext cx="4627721" cy="3255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00" dirty="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Самоуважение и уважение со стороны других.</a:t>
            </a:r>
            <a:endParaRPr lang="en-US" sz="1600" dirty="0"/>
          </a:p>
        </p:txBody>
      </p:sp>
      <p:sp>
        <p:nvSpPr>
          <p:cNvPr id="12" name="Shape 8"/>
          <p:cNvSpPr/>
          <p:nvPr/>
        </p:nvSpPr>
        <p:spPr>
          <a:xfrm>
            <a:off x="5371862" y="4015026"/>
            <a:ext cx="8495467" cy="11430"/>
          </a:xfrm>
          <a:prstGeom prst="roundRect">
            <a:avLst>
              <a:gd name="adj" fmla="val 747870"/>
            </a:avLst>
          </a:prstGeom>
          <a:solidFill>
            <a:srgbClr val="E5BEB2"/>
          </a:solidFill>
          <a:ln/>
        </p:spPr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052518" y="4050030"/>
            <a:ext cx="3922157" cy="1172528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3941564" y="4432697"/>
            <a:ext cx="143947" cy="4070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3200"/>
              </a:lnSpc>
              <a:buNone/>
            </a:pPr>
            <a:r>
              <a:rPr lang="en-US" sz="2000" b="1" dirty="0">
                <a:solidFill>
                  <a:srgbClr val="403C4E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3</a:t>
            </a:r>
            <a:endParaRPr lang="en-US" sz="2000" dirty="0"/>
          </a:p>
        </p:txBody>
      </p:sp>
      <p:sp>
        <p:nvSpPr>
          <p:cNvPr id="15" name="Text 10"/>
          <p:cNvSpPr/>
          <p:nvPr/>
        </p:nvSpPr>
        <p:spPr>
          <a:xfrm>
            <a:off x="6178153" y="4253508"/>
            <a:ext cx="3586996" cy="3180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b="1" dirty="0">
                <a:solidFill>
                  <a:srgbClr val="403C4E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Социальные потребности</a:t>
            </a:r>
            <a:endParaRPr lang="en-US" sz="2000" dirty="0"/>
          </a:p>
        </p:txBody>
      </p:sp>
      <p:sp>
        <p:nvSpPr>
          <p:cNvPr id="16" name="Text 11"/>
          <p:cNvSpPr/>
          <p:nvPr/>
        </p:nvSpPr>
        <p:spPr>
          <a:xfrm>
            <a:off x="6178153" y="4693563"/>
            <a:ext cx="4401145" cy="3255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00" dirty="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Любовь, привязанность, социальные связи.</a:t>
            </a:r>
            <a:endParaRPr lang="en-US" sz="1600" dirty="0"/>
          </a:p>
        </p:txBody>
      </p:sp>
      <p:sp>
        <p:nvSpPr>
          <p:cNvPr id="17" name="Shape 12"/>
          <p:cNvSpPr/>
          <p:nvPr/>
        </p:nvSpPr>
        <p:spPr>
          <a:xfrm>
            <a:off x="6025515" y="5238393"/>
            <a:ext cx="7841813" cy="11430"/>
          </a:xfrm>
          <a:prstGeom prst="roundRect">
            <a:avLst>
              <a:gd name="adj" fmla="val 747870"/>
            </a:avLst>
          </a:prstGeom>
          <a:solidFill>
            <a:srgbClr val="E5BEB2"/>
          </a:solidFill>
          <a:ln/>
        </p:spPr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398865" y="5273397"/>
            <a:ext cx="5229463" cy="1172528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3929539" y="5656064"/>
            <a:ext cx="168116" cy="4070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3200"/>
              </a:lnSpc>
              <a:buNone/>
            </a:pPr>
            <a:r>
              <a:rPr lang="en-US" sz="2000" b="1" dirty="0">
                <a:solidFill>
                  <a:srgbClr val="403C4E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4</a:t>
            </a:r>
            <a:endParaRPr lang="en-US" sz="2000" dirty="0"/>
          </a:p>
        </p:txBody>
      </p:sp>
      <p:sp>
        <p:nvSpPr>
          <p:cNvPr id="20" name="Text 14"/>
          <p:cNvSpPr/>
          <p:nvPr/>
        </p:nvSpPr>
        <p:spPr>
          <a:xfrm>
            <a:off x="6831806" y="5476875"/>
            <a:ext cx="4313039" cy="3180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b="1" dirty="0">
                <a:solidFill>
                  <a:srgbClr val="403C4E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Безопасность и защищенность</a:t>
            </a:r>
            <a:endParaRPr lang="en-US" sz="2000" dirty="0"/>
          </a:p>
        </p:txBody>
      </p:sp>
      <p:sp>
        <p:nvSpPr>
          <p:cNvPr id="21" name="Text 15"/>
          <p:cNvSpPr/>
          <p:nvPr/>
        </p:nvSpPr>
        <p:spPr>
          <a:xfrm>
            <a:off x="6831806" y="5916930"/>
            <a:ext cx="5002411" cy="3255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00" dirty="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Контроль над жизнью, порядок, предсказуемость.</a:t>
            </a:r>
            <a:endParaRPr lang="en-US" sz="1600" dirty="0"/>
          </a:p>
        </p:txBody>
      </p:sp>
      <p:sp>
        <p:nvSpPr>
          <p:cNvPr id="22" name="Shape 16"/>
          <p:cNvSpPr/>
          <p:nvPr/>
        </p:nvSpPr>
        <p:spPr>
          <a:xfrm>
            <a:off x="6679168" y="6461760"/>
            <a:ext cx="7188160" cy="11430"/>
          </a:xfrm>
          <a:prstGeom prst="roundRect">
            <a:avLst>
              <a:gd name="adj" fmla="val 747870"/>
            </a:avLst>
          </a:prstGeom>
          <a:solidFill>
            <a:srgbClr val="E5BEB2"/>
          </a:solidFill>
          <a:ln/>
        </p:spPr>
      </p:sp>
      <p:pic>
        <p:nvPicPr>
          <p:cNvPr id="23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45212" y="6496764"/>
            <a:ext cx="6536888" cy="1172528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3935730" y="6879431"/>
            <a:ext cx="155734" cy="4070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3200"/>
              </a:lnSpc>
              <a:buNone/>
            </a:pPr>
            <a:r>
              <a:rPr lang="en-US" sz="2000" b="1" dirty="0">
                <a:solidFill>
                  <a:srgbClr val="403C4E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5</a:t>
            </a:r>
            <a:endParaRPr lang="en-US" sz="2000" dirty="0"/>
          </a:p>
        </p:txBody>
      </p:sp>
      <p:sp>
        <p:nvSpPr>
          <p:cNvPr id="25" name="Text 18"/>
          <p:cNvSpPr/>
          <p:nvPr/>
        </p:nvSpPr>
        <p:spPr>
          <a:xfrm>
            <a:off x="7485578" y="6700242"/>
            <a:ext cx="4341733" cy="3180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b="1" dirty="0">
                <a:solidFill>
                  <a:srgbClr val="403C4E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Физиологические потребности</a:t>
            </a:r>
            <a:endParaRPr lang="en-US" sz="2000" dirty="0"/>
          </a:p>
        </p:txBody>
      </p:sp>
      <p:sp>
        <p:nvSpPr>
          <p:cNvPr id="26" name="Text 19"/>
          <p:cNvSpPr/>
          <p:nvPr/>
        </p:nvSpPr>
        <p:spPr>
          <a:xfrm>
            <a:off x="7485578" y="7140297"/>
            <a:ext cx="4341733" cy="3255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00" dirty="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Воздух, еда, вода, сон, одежда, тепло.</a:t>
            </a:r>
            <a:endParaRPr lang="en-US" sz="1600" dirty="0"/>
          </a:p>
        </p:txBody>
      </p:sp>
      <p:sp>
        <p:nvSpPr>
          <p:cNvPr id="27" name="Прямоугольник 26">
            <a:extLst>
              <a:ext uri="{FF2B5EF4-FFF2-40B4-BE49-F238E27FC236}">
                <a16:creationId xmlns:a16="http://schemas.microsoft.com/office/drawing/2014/main" id="{BF476465-A361-4C0E-95FA-46E9A112595E}"/>
              </a:ext>
            </a:extLst>
          </p:cNvPr>
          <p:cNvSpPr/>
          <p:nvPr/>
        </p:nvSpPr>
        <p:spPr>
          <a:xfrm>
            <a:off x="12834651" y="7700790"/>
            <a:ext cx="1795749" cy="52881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1106805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403C4E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Физиологические потребности</a:t>
            </a:r>
            <a:endParaRPr lang="en-US" sz="4450" dirty="0"/>
          </a:p>
        </p:txBody>
      </p:sp>
      <p:sp>
        <p:nvSpPr>
          <p:cNvPr id="4" name="Shape 1"/>
          <p:cNvSpPr/>
          <p:nvPr/>
        </p:nvSpPr>
        <p:spPr>
          <a:xfrm>
            <a:off x="793790" y="3119676"/>
            <a:ext cx="510302" cy="510302"/>
          </a:xfrm>
          <a:prstGeom prst="roundRect">
            <a:avLst>
              <a:gd name="adj" fmla="val 18669"/>
            </a:avLst>
          </a:prstGeom>
          <a:solidFill>
            <a:srgbClr val="FFD8CC"/>
          </a:solidFill>
          <a:ln w="7620">
            <a:solidFill>
              <a:srgbClr val="E5BEB2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970955" y="3204686"/>
            <a:ext cx="155853" cy="3402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650"/>
              </a:lnSpc>
              <a:buNone/>
            </a:pPr>
            <a:r>
              <a:rPr lang="en-US" sz="2650" b="1" dirty="0">
                <a:solidFill>
                  <a:srgbClr val="403C4E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1</a:t>
            </a:r>
            <a:endParaRPr lang="en-US" sz="2650" dirty="0"/>
          </a:p>
        </p:txBody>
      </p:sp>
      <p:sp>
        <p:nvSpPr>
          <p:cNvPr id="6" name="Text 3"/>
          <p:cNvSpPr/>
          <p:nvPr/>
        </p:nvSpPr>
        <p:spPr>
          <a:xfrm>
            <a:off x="1530906" y="3119676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403C4E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Воздух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1530906" y="3610094"/>
            <a:ext cx="2927747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850"/>
              </a:lnSpc>
              <a:buNone/>
            </a:pPr>
            <a:r>
              <a:rPr lang="en-US" sz="1750" dirty="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Необходим для дыхания и выживания.</a:t>
            </a:r>
            <a:endParaRPr lang="en-US" sz="1750" dirty="0"/>
          </a:p>
        </p:txBody>
      </p:sp>
      <p:sp>
        <p:nvSpPr>
          <p:cNvPr id="8" name="Shape 5"/>
          <p:cNvSpPr/>
          <p:nvPr/>
        </p:nvSpPr>
        <p:spPr>
          <a:xfrm>
            <a:off x="4685467" y="3119676"/>
            <a:ext cx="510302" cy="510302"/>
          </a:xfrm>
          <a:prstGeom prst="roundRect">
            <a:avLst>
              <a:gd name="adj" fmla="val 18669"/>
            </a:avLst>
          </a:prstGeom>
          <a:solidFill>
            <a:srgbClr val="FFD8CC"/>
          </a:solidFill>
          <a:ln w="7620">
            <a:solidFill>
              <a:srgbClr val="E5BEB2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837628" y="3204686"/>
            <a:ext cx="205859" cy="3402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650"/>
              </a:lnSpc>
              <a:buNone/>
            </a:pPr>
            <a:r>
              <a:rPr lang="en-US" sz="2650" b="1" dirty="0">
                <a:solidFill>
                  <a:srgbClr val="403C4E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2</a:t>
            </a:r>
            <a:endParaRPr lang="en-US" sz="2650" dirty="0"/>
          </a:p>
        </p:txBody>
      </p:sp>
      <p:sp>
        <p:nvSpPr>
          <p:cNvPr id="10" name="Text 7"/>
          <p:cNvSpPr/>
          <p:nvPr/>
        </p:nvSpPr>
        <p:spPr>
          <a:xfrm>
            <a:off x="5422583" y="3119676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403C4E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Еда</a:t>
            </a:r>
            <a:endParaRPr lang="en-US" sz="2200" dirty="0"/>
          </a:p>
        </p:txBody>
      </p:sp>
      <p:sp>
        <p:nvSpPr>
          <p:cNvPr id="11" name="Text 8"/>
          <p:cNvSpPr/>
          <p:nvPr/>
        </p:nvSpPr>
        <p:spPr>
          <a:xfrm>
            <a:off x="5422583" y="3610094"/>
            <a:ext cx="2927747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850"/>
              </a:lnSpc>
              <a:buNone/>
            </a:pPr>
            <a:r>
              <a:rPr lang="en-US" sz="1750" dirty="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Обеспечивает организм энергией и питательными веществами.</a:t>
            </a:r>
            <a:endParaRPr lang="en-US" sz="1750" dirty="0"/>
          </a:p>
        </p:txBody>
      </p:sp>
      <p:sp>
        <p:nvSpPr>
          <p:cNvPr id="12" name="Shape 9"/>
          <p:cNvSpPr/>
          <p:nvPr/>
        </p:nvSpPr>
        <p:spPr>
          <a:xfrm>
            <a:off x="793790" y="5543669"/>
            <a:ext cx="510302" cy="510302"/>
          </a:xfrm>
          <a:prstGeom prst="roundRect">
            <a:avLst>
              <a:gd name="adj" fmla="val 18669"/>
            </a:avLst>
          </a:prstGeom>
          <a:solidFill>
            <a:srgbClr val="FFD8CC"/>
          </a:solidFill>
          <a:ln w="7620">
            <a:solidFill>
              <a:srgbClr val="E5BEB2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952619" y="5628680"/>
            <a:ext cx="192643" cy="3402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650"/>
              </a:lnSpc>
              <a:buNone/>
            </a:pPr>
            <a:r>
              <a:rPr lang="en-US" sz="2650" b="1" dirty="0">
                <a:solidFill>
                  <a:srgbClr val="403C4E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3</a:t>
            </a:r>
            <a:endParaRPr lang="en-US" sz="2650" dirty="0"/>
          </a:p>
        </p:txBody>
      </p:sp>
      <p:sp>
        <p:nvSpPr>
          <p:cNvPr id="14" name="Text 11"/>
          <p:cNvSpPr/>
          <p:nvPr/>
        </p:nvSpPr>
        <p:spPr>
          <a:xfrm>
            <a:off x="1530906" y="554366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403C4E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Вода</a:t>
            </a:r>
            <a:endParaRPr lang="en-US" sz="2200" dirty="0"/>
          </a:p>
        </p:txBody>
      </p:sp>
      <p:sp>
        <p:nvSpPr>
          <p:cNvPr id="15" name="Text 12"/>
          <p:cNvSpPr/>
          <p:nvPr/>
        </p:nvSpPr>
        <p:spPr>
          <a:xfrm>
            <a:off x="1530906" y="6034088"/>
            <a:ext cx="2927747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850"/>
              </a:lnSpc>
              <a:buNone/>
            </a:pPr>
            <a:r>
              <a:rPr lang="en-US" sz="1750" dirty="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Необходима для гидратации организма.</a:t>
            </a:r>
            <a:endParaRPr lang="en-US" sz="1750" dirty="0"/>
          </a:p>
        </p:txBody>
      </p:sp>
      <p:sp>
        <p:nvSpPr>
          <p:cNvPr id="16" name="Shape 13"/>
          <p:cNvSpPr/>
          <p:nvPr/>
        </p:nvSpPr>
        <p:spPr>
          <a:xfrm>
            <a:off x="4685467" y="5543669"/>
            <a:ext cx="510302" cy="510302"/>
          </a:xfrm>
          <a:prstGeom prst="roundRect">
            <a:avLst>
              <a:gd name="adj" fmla="val 18669"/>
            </a:avLst>
          </a:prstGeom>
          <a:solidFill>
            <a:srgbClr val="FFD8CC"/>
          </a:solidFill>
          <a:ln w="7620">
            <a:solidFill>
              <a:srgbClr val="E5BEB2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4828103" y="5628680"/>
            <a:ext cx="224909" cy="3402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650"/>
              </a:lnSpc>
              <a:buNone/>
            </a:pPr>
            <a:r>
              <a:rPr lang="en-US" sz="2650" b="1" dirty="0">
                <a:solidFill>
                  <a:srgbClr val="403C4E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4</a:t>
            </a:r>
            <a:endParaRPr lang="en-US" sz="2650" dirty="0"/>
          </a:p>
        </p:txBody>
      </p:sp>
      <p:sp>
        <p:nvSpPr>
          <p:cNvPr id="18" name="Text 15"/>
          <p:cNvSpPr/>
          <p:nvPr/>
        </p:nvSpPr>
        <p:spPr>
          <a:xfrm>
            <a:off x="5422583" y="554366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403C4E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Сон</a:t>
            </a:r>
            <a:endParaRPr lang="en-US" sz="2200" dirty="0"/>
          </a:p>
        </p:txBody>
      </p:sp>
      <p:sp>
        <p:nvSpPr>
          <p:cNvPr id="19" name="Text 16"/>
          <p:cNvSpPr/>
          <p:nvPr/>
        </p:nvSpPr>
        <p:spPr>
          <a:xfrm>
            <a:off x="5422583" y="6034088"/>
            <a:ext cx="2927747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850"/>
              </a:lnSpc>
              <a:buNone/>
            </a:pPr>
            <a:r>
              <a:rPr lang="en-US" sz="1750" dirty="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Обеспечивает отдых и восстановление организма.</a:t>
            </a:r>
            <a:endParaRPr lang="en-US" sz="1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544247"/>
            <a:ext cx="9615368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403C4E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Безопасность и защищенность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3820001"/>
            <a:ext cx="3976807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403C4E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Физическая безопасность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93790" y="4401145"/>
            <a:ext cx="3978116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850"/>
              </a:lnSpc>
              <a:buNone/>
            </a:pPr>
            <a:r>
              <a:rPr lang="en-US" sz="1750" dirty="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Отсутствие угроз жизни и здоровью.</a:t>
            </a:r>
            <a:endParaRPr lang="en-US" sz="1750" dirty="0"/>
          </a:p>
        </p:txBody>
      </p:sp>
      <p:sp>
        <p:nvSpPr>
          <p:cNvPr id="5" name="Text 3"/>
          <p:cNvSpPr/>
          <p:nvPr/>
        </p:nvSpPr>
        <p:spPr>
          <a:xfrm>
            <a:off x="5332928" y="3820001"/>
            <a:ext cx="3978116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403C4E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Финансовая безопасность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5332928" y="4755475"/>
            <a:ext cx="3978116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850"/>
              </a:lnSpc>
              <a:buNone/>
            </a:pPr>
            <a:r>
              <a:rPr lang="en-US" sz="1750" dirty="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Стабильный доход, финансовая стабильность.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9872067" y="3820001"/>
            <a:ext cx="3978116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403C4E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Социальная стабильность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9872067" y="4755475"/>
            <a:ext cx="3978116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850"/>
              </a:lnSpc>
              <a:buNone/>
            </a:pPr>
            <a:r>
              <a:rPr lang="en-US" sz="1750" dirty="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Отсутствие социальных потрясений и конфликтов.</a:t>
            </a:r>
            <a:endParaRPr lang="en-US" sz="1750" dirty="0"/>
          </a:p>
        </p:txBody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4000E4BC-E02C-4E3F-A8FE-27C0AF6E6417}"/>
              </a:ext>
            </a:extLst>
          </p:cNvPr>
          <p:cNvSpPr/>
          <p:nvPr/>
        </p:nvSpPr>
        <p:spPr>
          <a:xfrm>
            <a:off x="12834651" y="7700790"/>
            <a:ext cx="1795749" cy="52881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885706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403C4E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Социальные потребности</a:t>
            </a:r>
            <a:endParaRPr lang="en-US" sz="4450" dirty="0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3790" y="2643426"/>
            <a:ext cx="566976" cy="566976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793790" y="3437215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403C4E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Любовь</a:t>
            </a:r>
            <a:endParaRPr lang="en-US" sz="2200" dirty="0"/>
          </a:p>
        </p:txBody>
      </p:sp>
      <p:sp>
        <p:nvSpPr>
          <p:cNvPr id="6" name="Text 2"/>
          <p:cNvSpPr/>
          <p:nvPr/>
        </p:nvSpPr>
        <p:spPr>
          <a:xfrm>
            <a:off x="793790" y="3927634"/>
            <a:ext cx="3608070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Привязанность, забота, близость.</a:t>
            </a:r>
            <a:endParaRPr lang="en-US" sz="1750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42021" y="2643426"/>
            <a:ext cx="566976" cy="566976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4742021" y="3437215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403C4E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Дружба</a:t>
            </a:r>
            <a:endParaRPr lang="en-US" sz="2200" dirty="0"/>
          </a:p>
        </p:txBody>
      </p:sp>
      <p:sp>
        <p:nvSpPr>
          <p:cNvPr id="9" name="Text 4"/>
          <p:cNvSpPr/>
          <p:nvPr/>
        </p:nvSpPr>
        <p:spPr>
          <a:xfrm>
            <a:off x="4742021" y="3927634"/>
            <a:ext cx="360818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Доверие, поддержка, взаимопонимание.</a:t>
            </a:r>
            <a:endParaRPr lang="en-US" sz="1750" dirty="0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3790" y="5333881"/>
            <a:ext cx="566976" cy="566976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793790" y="6127671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403C4E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Семья</a:t>
            </a:r>
            <a:endParaRPr lang="en-US" sz="2200" dirty="0"/>
          </a:p>
        </p:txBody>
      </p:sp>
      <p:sp>
        <p:nvSpPr>
          <p:cNvPr id="12" name="Text 6"/>
          <p:cNvSpPr/>
          <p:nvPr/>
        </p:nvSpPr>
        <p:spPr>
          <a:xfrm>
            <a:off x="793790" y="6618089"/>
            <a:ext cx="3608070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Родственные связи, чувство принадлежности.</a:t>
            </a:r>
            <a:endParaRPr lang="en-US" sz="1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1775817"/>
            <a:ext cx="7215426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403C4E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Уважение и признание</a:t>
            </a:r>
            <a:endParaRPr lang="en-US" sz="4450" dirty="0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0190" y="2824758"/>
            <a:ext cx="1134070" cy="1814513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7754422" y="3051572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403C4E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Самоуважение</a:t>
            </a:r>
            <a:endParaRPr lang="en-US" sz="2200" dirty="0"/>
          </a:p>
        </p:txBody>
      </p:sp>
      <p:sp>
        <p:nvSpPr>
          <p:cNvPr id="6" name="Text 2"/>
          <p:cNvSpPr/>
          <p:nvPr/>
        </p:nvSpPr>
        <p:spPr>
          <a:xfrm>
            <a:off x="7754422" y="3541990"/>
            <a:ext cx="608218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Чувство собственного достоинства, личные достижения.</a:t>
            </a:r>
            <a:endParaRPr lang="en-US" sz="1750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80190" y="4639270"/>
            <a:ext cx="1134070" cy="1814513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7754422" y="4866084"/>
            <a:ext cx="4475083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403C4E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Уважение со стороны других</a:t>
            </a:r>
            <a:endParaRPr lang="en-US" sz="2200" dirty="0"/>
          </a:p>
        </p:txBody>
      </p:sp>
      <p:sp>
        <p:nvSpPr>
          <p:cNvPr id="9" name="Text 4"/>
          <p:cNvSpPr/>
          <p:nvPr/>
        </p:nvSpPr>
        <p:spPr>
          <a:xfrm>
            <a:off x="7754422" y="5356503"/>
            <a:ext cx="608218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Одобрение, успех, признание заслуг.</a:t>
            </a:r>
            <a:endParaRPr lang="en-US" sz="1750" dirty="0"/>
          </a:p>
        </p:txBody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4F65824C-A4BB-4E37-9C0C-CB9756B2E764}"/>
              </a:ext>
            </a:extLst>
          </p:cNvPr>
          <p:cNvSpPr/>
          <p:nvPr/>
        </p:nvSpPr>
        <p:spPr>
          <a:xfrm>
            <a:off x="12834651" y="7700790"/>
            <a:ext cx="1795749" cy="52881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459825"/>
            <a:ext cx="592836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403C4E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Самоактуализация</a:t>
            </a:r>
            <a:endParaRPr lang="en-US" sz="4450" dirty="0"/>
          </a:p>
        </p:txBody>
      </p:sp>
      <p:sp>
        <p:nvSpPr>
          <p:cNvPr id="3" name="Shape 1"/>
          <p:cNvSpPr/>
          <p:nvPr/>
        </p:nvSpPr>
        <p:spPr>
          <a:xfrm>
            <a:off x="793790" y="2622233"/>
            <a:ext cx="2173724" cy="1306949"/>
          </a:xfrm>
          <a:prstGeom prst="roundRect">
            <a:avLst>
              <a:gd name="adj" fmla="val 7289"/>
            </a:avLst>
          </a:prstGeom>
          <a:solidFill>
            <a:srgbClr val="FFD8CC"/>
          </a:solidFill>
          <a:ln w="7620">
            <a:solidFill>
              <a:srgbClr val="E5BEB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28224" y="3048953"/>
            <a:ext cx="129897" cy="4535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3550"/>
              </a:lnSpc>
              <a:buNone/>
            </a:pPr>
            <a:r>
              <a:rPr lang="en-US" sz="2200" b="1" dirty="0">
                <a:solidFill>
                  <a:srgbClr val="403C4E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1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194328" y="2849047"/>
            <a:ext cx="338268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403C4E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Развитие потенциала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3194328" y="3339465"/>
            <a:ext cx="4669750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Заниматься тем, для чего человек создан.</a:t>
            </a:r>
            <a:endParaRPr lang="en-US" sz="1750" dirty="0"/>
          </a:p>
        </p:txBody>
      </p:sp>
      <p:sp>
        <p:nvSpPr>
          <p:cNvPr id="7" name="Shape 5"/>
          <p:cNvSpPr/>
          <p:nvPr/>
        </p:nvSpPr>
        <p:spPr>
          <a:xfrm>
            <a:off x="3080861" y="3913942"/>
            <a:ext cx="10642402" cy="15240"/>
          </a:xfrm>
          <a:prstGeom prst="roundRect">
            <a:avLst>
              <a:gd name="adj" fmla="val 625116"/>
            </a:avLst>
          </a:prstGeom>
          <a:solidFill>
            <a:srgbClr val="E5BEB2"/>
          </a:solidFill>
          <a:ln/>
        </p:spPr>
      </p:sp>
      <p:sp>
        <p:nvSpPr>
          <p:cNvPr id="8" name="Shape 6"/>
          <p:cNvSpPr/>
          <p:nvPr/>
        </p:nvSpPr>
        <p:spPr>
          <a:xfrm>
            <a:off x="793790" y="4042529"/>
            <a:ext cx="4347567" cy="1306949"/>
          </a:xfrm>
          <a:prstGeom prst="roundRect">
            <a:avLst>
              <a:gd name="adj" fmla="val 7289"/>
            </a:avLst>
          </a:prstGeom>
          <a:solidFill>
            <a:srgbClr val="FFD8CC"/>
          </a:solidFill>
          <a:ln w="7620">
            <a:solidFill>
              <a:srgbClr val="E5BEB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28224" y="4469249"/>
            <a:ext cx="171450" cy="4535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3550"/>
              </a:lnSpc>
              <a:buNone/>
            </a:pPr>
            <a:r>
              <a:rPr lang="en-US" sz="2200" b="1" dirty="0">
                <a:solidFill>
                  <a:srgbClr val="403C4E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2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5368171" y="426934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403C4E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Счастье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5368171" y="4759762"/>
            <a:ext cx="578238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Делать то, что приносит радость и удовлетворение.</a:t>
            </a:r>
            <a:endParaRPr lang="en-US" sz="1750" dirty="0"/>
          </a:p>
        </p:txBody>
      </p:sp>
      <p:sp>
        <p:nvSpPr>
          <p:cNvPr id="12" name="Shape 10"/>
          <p:cNvSpPr/>
          <p:nvPr/>
        </p:nvSpPr>
        <p:spPr>
          <a:xfrm>
            <a:off x="5254704" y="5334238"/>
            <a:ext cx="8468558" cy="15240"/>
          </a:xfrm>
          <a:prstGeom prst="roundRect">
            <a:avLst>
              <a:gd name="adj" fmla="val 625116"/>
            </a:avLst>
          </a:prstGeom>
          <a:solidFill>
            <a:srgbClr val="E5BEB2"/>
          </a:solidFill>
          <a:ln/>
        </p:spPr>
      </p:sp>
      <p:sp>
        <p:nvSpPr>
          <p:cNvPr id="13" name="Shape 11"/>
          <p:cNvSpPr/>
          <p:nvPr/>
        </p:nvSpPr>
        <p:spPr>
          <a:xfrm>
            <a:off x="793790" y="5462826"/>
            <a:ext cx="6521410" cy="1306949"/>
          </a:xfrm>
          <a:prstGeom prst="roundRect">
            <a:avLst>
              <a:gd name="adj" fmla="val 7289"/>
            </a:avLst>
          </a:prstGeom>
          <a:solidFill>
            <a:srgbClr val="FFD8CC"/>
          </a:solidFill>
          <a:ln w="7620">
            <a:solidFill>
              <a:srgbClr val="E5BEB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28224" y="5889546"/>
            <a:ext cx="160496" cy="4535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3550"/>
              </a:lnSpc>
              <a:buNone/>
            </a:pPr>
            <a:r>
              <a:rPr lang="en-US" sz="2200" b="1" dirty="0">
                <a:solidFill>
                  <a:srgbClr val="403C4E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3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7542014" y="5689640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403C4E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Личный рост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7542014" y="6180058"/>
            <a:ext cx="586156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Стремление к самосовершенствованию и развитию.</a:t>
            </a:r>
            <a:endParaRPr lang="en-US" sz="1750" dirty="0"/>
          </a:p>
        </p:txBody>
      </p:sp>
      <p:sp>
        <p:nvSpPr>
          <p:cNvPr id="17" name="Прямоугольник 16">
            <a:extLst>
              <a:ext uri="{FF2B5EF4-FFF2-40B4-BE49-F238E27FC236}">
                <a16:creationId xmlns:a16="http://schemas.microsoft.com/office/drawing/2014/main" id="{D824998C-724C-4CA2-8B8C-5A1748C5E904}"/>
              </a:ext>
            </a:extLst>
          </p:cNvPr>
          <p:cNvSpPr/>
          <p:nvPr/>
        </p:nvSpPr>
        <p:spPr>
          <a:xfrm>
            <a:off x="12834651" y="7700790"/>
            <a:ext cx="1795749" cy="52881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2835235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4290655"/>
            <a:ext cx="130428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403C4E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Взаимосвязь потребностей и производства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793790" y="6048375"/>
            <a:ext cx="130428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850"/>
              </a:lnSpc>
              <a:buNone/>
            </a:pPr>
            <a:r>
              <a:rPr lang="en-US" sz="1750" dirty="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Потребности - исходный пункт производства, а производство влияет на изменение потребностей. Потребности безграничны, и их развитие тесно связано с социально-экономическим прогрессом.</a:t>
            </a:r>
            <a:endParaRPr lang="en-US" sz="1750" dirty="0"/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3D56538C-BBE6-47B2-ABDE-838F769238A8}"/>
              </a:ext>
            </a:extLst>
          </p:cNvPr>
          <p:cNvSpPr/>
          <p:nvPr/>
        </p:nvSpPr>
        <p:spPr>
          <a:xfrm>
            <a:off x="12834651" y="7700790"/>
            <a:ext cx="1795749" cy="52881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106</TotalTime>
  <Words>322</Words>
  <Application>Microsoft Office PowerPoint</Application>
  <PresentationFormat>Произвольный</PresentationFormat>
  <Paragraphs>84</Paragraphs>
  <Slides>10</Slides>
  <Notes>10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10</vt:i4>
      </vt:variant>
    </vt:vector>
  </HeadingPairs>
  <TitlesOfParts>
    <vt:vector size="15" baseType="lpstr">
      <vt:lpstr>Open Sans</vt:lpstr>
      <vt:lpstr>Calibri</vt:lpstr>
      <vt:lpstr>Merriweather Bold</vt:lpstr>
      <vt:lpstr>Arial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Anny Lutoshkina</cp:lastModifiedBy>
  <cp:revision>2</cp:revision>
  <dcterms:created xsi:type="dcterms:W3CDTF">2025-02-04T18:15:57Z</dcterms:created>
  <dcterms:modified xsi:type="dcterms:W3CDTF">2025-02-04T20:03:10Z</dcterms:modified>
</cp:coreProperties>
</file>